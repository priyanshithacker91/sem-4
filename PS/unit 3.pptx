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4"/>
  </p:notesMasterIdLst>
  <p:handoutMasterIdLst>
    <p:handoutMasterId r:id="rId185"/>
  </p:handoutMasterIdLst>
  <p:sldIdLst>
    <p:sldId id="256" r:id="rId2"/>
    <p:sldId id="265" r:id="rId3"/>
    <p:sldId id="268" r:id="rId4"/>
    <p:sldId id="856" r:id="rId5"/>
    <p:sldId id="857" r:id="rId6"/>
    <p:sldId id="928" r:id="rId7"/>
    <p:sldId id="858" r:id="rId8"/>
    <p:sldId id="859" r:id="rId9"/>
    <p:sldId id="929" r:id="rId10"/>
    <p:sldId id="930" r:id="rId11"/>
    <p:sldId id="931" r:id="rId12"/>
    <p:sldId id="945" r:id="rId13"/>
    <p:sldId id="946" r:id="rId14"/>
    <p:sldId id="947" r:id="rId15"/>
    <p:sldId id="948" r:id="rId16"/>
    <p:sldId id="949" r:id="rId17"/>
    <p:sldId id="950" r:id="rId18"/>
    <p:sldId id="951" r:id="rId19"/>
    <p:sldId id="952" r:id="rId20"/>
    <p:sldId id="953" r:id="rId21"/>
    <p:sldId id="954" r:id="rId22"/>
    <p:sldId id="955" r:id="rId23"/>
    <p:sldId id="956" r:id="rId24"/>
    <p:sldId id="957" r:id="rId25"/>
    <p:sldId id="958" r:id="rId26"/>
    <p:sldId id="959" r:id="rId27"/>
    <p:sldId id="960" r:id="rId28"/>
    <p:sldId id="961" r:id="rId29"/>
    <p:sldId id="962" r:id="rId30"/>
    <p:sldId id="963" r:id="rId31"/>
    <p:sldId id="964" r:id="rId32"/>
    <p:sldId id="965" r:id="rId33"/>
    <p:sldId id="966" r:id="rId34"/>
    <p:sldId id="967" r:id="rId35"/>
    <p:sldId id="968" r:id="rId36"/>
    <p:sldId id="969" r:id="rId37"/>
    <p:sldId id="970" r:id="rId38"/>
    <p:sldId id="971" r:id="rId39"/>
    <p:sldId id="972" r:id="rId40"/>
    <p:sldId id="973" r:id="rId41"/>
    <p:sldId id="974" r:id="rId42"/>
    <p:sldId id="975" r:id="rId43"/>
    <p:sldId id="976" r:id="rId44"/>
    <p:sldId id="977" r:id="rId45"/>
    <p:sldId id="978" r:id="rId46"/>
    <p:sldId id="979" r:id="rId47"/>
    <p:sldId id="980" r:id="rId48"/>
    <p:sldId id="981" r:id="rId49"/>
    <p:sldId id="982" r:id="rId50"/>
    <p:sldId id="983" r:id="rId51"/>
    <p:sldId id="984" r:id="rId52"/>
    <p:sldId id="985" r:id="rId53"/>
    <p:sldId id="932" r:id="rId54"/>
    <p:sldId id="933" r:id="rId55"/>
    <p:sldId id="1107" r:id="rId56"/>
    <p:sldId id="935" r:id="rId57"/>
    <p:sldId id="934" r:id="rId58"/>
    <p:sldId id="936" r:id="rId59"/>
    <p:sldId id="986" r:id="rId60"/>
    <p:sldId id="988" r:id="rId61"/>
    <p:sldId id="987" r:id="rId62"/>
    <p:sldId id="1006" r:id="rId63"/>
    <p:sldId id="989" r:id="rId64"/>
    <p:sldId id="990" r:id="rId65"/>
    <p:sldId id="991" r:id="rId66"/>
    <p:sldId id="992" r:id="rId67"/>
    <p:sldId id="1007" r:id="rId68"/>
    <p:sldId id="1008" r:id="rId69"/>
    <p:sldId id="993" r:id="rId70"/>
    <p:sldId id="994" r:id="rId71"/>
    <p:sldId id="995" r:id="rId72"/>
    <p:sldId id="996" r:id="rId73"/>
    <p:sldId id="998" r:id="rId74"/>
    <p:sldId id="999" r:id="rId75"/>
    <p:sldId id="1000" r:id="rId76"/>
    <p:sldId id="1001" r:id="rId77"/>
    <p:sldId id="1002" r:id="rId78"/>
    <p:sldId id="1003" r:id="rId79"/>
    <p:sldId id="941" r:id="rId80"/>
    <p:sldId id="938" r:id="rId81"/>
    <p:sldId id="939" r:id="rId82"/>
    <p:sldId id="940" r:id="rId83"/>
    <p:sldId id="942" r:id="rId84"/>
    <p:sldId id="1004" r:id="rId85"/>
    <p:sldId id="1009" r:id="rId86"/>
    <p:sldId id="1010" r:id="rId87"/>
    <p:sldId id="1089" r:id="rId88"/>
    <p:sldId id="1011" r:id="rId89"/>
    <p:sldId id="1012" r:id="rId90"/>
    <p:sldId id="1014" r:id="rId91"/>
    <p:sldId id="1015" r:id="rId92"/>
    <p:sldId id="1016" r:id="rId93"/>
    <p:sldId id="1017" r:id="rId94"/>
    <p:sldId id="1018" r:id="rId95"/>
    <p:sldId id="1019" r:id="rId96"/>
    <p:sldId id="1020" r:id="rId97"/>
    <p:sldId id="1021" r:id="rId98"/>
    <p:sldId id="1022" r:id="rId99"/>
    <p:sldId id="1023" r:id="rId100"/>
    <p:sldId id="1024" r:id="rId101"/>
    <p:sldId id="1025" r:id="rId102"/>
    <p:sldId id="1026" r:id="rId103"/>
    <p:sldId id="1027" r:id="rId104"/>
    <p:sldId id="1028" r:id="rId105"/>
    <p:sldId id="1029" r:id="rId106"/>
    <p:sldId id="1090" r:id="rId107"/>
    <p:sldId id="1030" r:id="rId108"/>
    <p:sldId id="1091" r:id="rId109"/>
    <p:sldId id="937" r:id="rId110"/>
    <p:sldId id="944" r:id="rId111"/>
    <p:sldId id="1031" r:id="rId112"/>
    <p:sldId id="1032" r:id="rId113"/>
    <p:sldId id="1033" r:id="rId114"/>
    <p:sldId id="1034" r:id="rId115"/>
    <p:sldId id="1035" r:id="rId116"/>
    <p:sldId id="1036" r:id="rId117"/>
    <p:sldId id="1037" r:id="rId118"/>
    <p:sldId id="1038" r:id="rId119"/>
    <p:sldId id="1039" r:id="rId120"/>
    <p:sldId id="1040" r:id="rId121"/>
    <p:sldId id="1041" r:id="rId122"/>
    <p:sldId id="1042" r:id="rId123"/>
    <p:sldId id="1043" r:id="rId124"/>
    <p:sldId id="1044" r:id="rId125"/>
    <p:sldId id="1045" r:id="rId126"/>
    <p:sldId id="1046" r:id="rId127"/>
    <p:sldId id="1047" r:id="rId128"/>
    <p:sldId id="1048" r:id="rId129"/>
    <p:sldId id="943" r:id="rId130"/>
    <p:sldId id="1049" r:id="rId131"/>
    <p:sldId id="1050" r:id="rId132"/>
    <p:sldId id="1103" r:id="rId133"/>
    <p:sldId id="1061" r:id="rId134"/>
    <p:sldId id="1092" r:id="rId135"/>
    <p:sldId id="1062" r:id="rId136"/>
    <p:sldId id="1093" r:id="rId137"/>
    <p:sldId id="1051" r:id="rId138"/>
    <p:sldId id="1052" r:id="rId139"/>
    <p:sldId id="1053" r:id="rId140"/>
    <p:sldId id="1054" r:id="rId141"/>
    <p:sldId id="1055" r:id="rId142"/>
    <p:sldId id="1094" r:id="rId143"/>
    <p:sldId id="1056" r:id="rId144"/>
    <p:sldId id="1057" r:id="rId145"/>
    <p:sldId id="1095" r:id="rId146"/>
    <p:sldId id="1058" r:id="rId147"/>
    <p:sldId id="1059" r:id="rId148"/>
    <p:sldId id="1060" r:id="rId149"/>
    <p:sldId id="1078" r:id="rId150"/>
    <p:sldId id="1063" r:id="rId151"/>
    <p:sldId id="1065" r:id="rId152"/>
    <p:sldId id="1064" r:id="rId153"/>
    <p:sldId id="1097" r:id="rId154"/>
    <p:sldId id="1066" r:id="rId155"/>
    <p:sldId id="1067" r:id="rId156"/>
    <p:sldId id="1098" r:id="rId157"/>
    <p:sldId id="1068" r:id="rId158"/>
    <p:sldId id="1069" r:id="rId159"/>
    <p:sldId id="1099" r:id="rId160"/>
    <p:sldId id="1070" r:id="rId161"/>
    <p:sldId id="1071" r:id="rId162"/>
    <p:sldId id="1072" r:id="rId163"/>
    <p:sldId id="1073" r:id="rId164"/>
    <p:sldId id="1100" r:id="rId165"/>
    <p:sldId id="1074" r:id="rId166"/>
    <p:sldId id="1075" r:id="rId167"/>
    <p:sldId id="1101" r:id="rId168"/>
    <p:sldId id="1076" r:id="rId169"/>
    <p:sldId id="1077" r:id="rId170"/>
    <p:sldId id="1079" r:id="rId171"/>
    <p:sldId id="1080" r:id="rId172"/>
    <p:sldId id="1081" r:id="rId173"/>
    <p:sldId id="1102" r:id="rId174"/>
    <p:sldId id="1082" r:id="rId175"/>
    <p:sldId id="1083" r:id="rId176"/>
    <p:sldId id="1084" r:id="rId177"/>
    <p:sldId id="1085" r:id="rId178"/>
    <p:sldId id="1105" r:id="rId179"/>
    <p:sldId id="1086" r:id="rId180"/>
    <p:sldId id="1087" r:id="rId181"/>
    <p:sldId id="1088" r:id="rId182"/>
    <p:sldId id="1108" r:id="rId183"/>
  </p:sldIdLst>
  <p:sldSz cx="12192000" cy="6858000"/>
  <p:notesSz cx="6858000" cy="9144000"/>
  <p:embeddedFontLst>
    <p:embeddedFont>
      <p:font typeface="Calibri" panose="020F0502020204030204" pitchFamily="34" charset="0"/>
      <p:regular r:id="rId186"/>
      <p:bold r:id="rId187"/>
      <p:italic r:id="rId188"/>
      <p:boldItalic r:id="rId189"/>
    </p:embeddedFont>
    <p:embeddedFont>
      <p:font typeface="Cambria" panose="02040503050406030204" pitchFamily="18" charset="0"/>
      <p:regular r:id="rId190"/>
      <p:bold r:id="rId191"/>
      <p:italic r:id="rId192"/>
      <p:boldItalic r:id="rId193"/>
    </p:embeddedFont>
    <p:embeddedFont>
      <p:font typeface="Cambria Math" panose="02040503050406030204" pitchFamily="18" charset="0"/>
      <p:regular r:id="rId194"/>
    </p:embeddedFont>
    <p:embeddedFont>
      <p:font typeface="Roboto Condensed" panose="02000000000000000000" pitchFamily="2" charset="0"/>
      <p:regular r:id="rId195"/>
      <p:bold r:id="rId196"/>
      <p:italic r:id="rId197"/>
      <p:boldItalic r:id="rId198"/>
    </p:embeddedFont>
    <p:embeddedFont>
      <p:font typeface="Roboto Condensed Light" panose="02000000000000000000" pitchFamily="2" charset="0"/>
      <p:regular r:id="rId199"/>
      <p:italic r:id="rId200"/>
    </p:embeddedFont>
    <p:embeddedFont>
      <p:font typeface="Wingdings 3" panose="05040102010807070707" pitchFamily="18" charset="2"/>
      <p:regular r:id="rId20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iBUQ2FN+JmLdQiie9WwoHw==" hashData="7VQGaW/V87VoNHc4E10v4DZANn/5wdeqQrBYAEVxWlg2+hc2INdJWdZ4QP2Pbgu7wLG0DAkahnDXQibNs2d5Gw=="/>
  <p:extLst>
    <p:ext uri="{521415D9-36F7-43E2-AB2F-B90AF26B5E84}">
      <p14:sectionLst xmlns:p14="http://schemas.microsoft.com/office/powerpoint/2010/main">
        <p14:section name="Introduction" id="{4C7717EA-605E-4A53-8581-8E510265544C}">
          <p14:sldIdLst>
            <p14:sldId id="256"/>
            <p14:sldId id="265"/>
            <p14:sldId id="268"/>
            <p14:sldId id="856"/>
            <p14:sldId id="857"/>
            <p14:sldId id="928"/>
            <p14:sldId id="858"/>
            <p14:sldId id="859"/>
            <p14:sldId id="929"/>
            <p14:sldId id="930"/>
            <p14:sldId id="931"/>
            <p14:sldId id="945"/>
            <p14:sldId id="946"/>
            <p14:sldId id="947"/>
            <p14:sldId id="948"/>
            <p14:sldId id="949"/>
            <p14:sldId id="950"/>
            <p14:sldId id="951"/>
            <p14:sldId id="952"/>
            <p14:sldId id="953"/>
            <p14:sldId id="954"/>
            <p14:sldId id="955"/>
            <p14:sldId id="956"/>
            <p14:sldId id="957"/>
            <p14:sldId id="958"/>
            <p14:sldId id="959"/>
            <p14:sldId id="960"/>
            <p14:sldId id="961"/>
            <p14:sldId id="962"/>
            <p14:sldId id="963"/>
            <p14:sldId id="964"/>
            <p14:sldId id="965"/>
            <p14:sldId id="966"/>
            <p14:sldId id="967"/>
            <p14:sldId id="968"/>
            <p14:sldId id="969"/>
            <p14:sldId id="970"/>
            <p14:sldId id="971"/>
            <p14:sldId id="972"/>
            <p14:sldId id="973"/>
            <p14:sldId id="974"/>
            <p14:sldId id="975"/>
            <p14:sldId id="976"/>
            <p14:sldId id="977"/>
            <p14:sldId id="978"/>
            <p14:sldId id="979"/>
            <p14:sldId id="980"/>
            <p14:sldId id="981"/>
            <p14:sldId id="982"/>
            <p14:sldId id="983"/>
            <p14:sldId id="984"/>
            <p14:sldId id="985"/>
            <p14:sldId id="932"/>
            <p14:sldId id="933"/>
            <p14:sldId id="1107"/>
            <p14:sldId id="935"/>
            <p14:sldId id="934"/>
            <p14:sldId id="936"/>
            <p14:sldId id="986"/>
            <p14:sldId id="988"/>
            <p14:sldId id="987"/>
            <p14:sldId id="1006"/>
            <p14:sldId id="989"/>
            <p14:sldId id="990"/>
            <p14:sldId id="991"/>
            <p14:sldId id="992"/>
            <p14:sldId id="1007"/>
            <p14:sldId id="1008"/>
            <p14:sldId id="993"/>
            <p14:sldId id="994"/>
            <p14:sldId id="995"/>
            <p14:sldId id="996"/>
            <p14:sldId id="998"/>
            <p14:sldId id="999"/>
            <p14:sldId id="1000"/>
            <p14:sldId id="1001"/>
            <p14:sldId id="1002"/>
            <p14:sldId id="1003"/>
            <p14:sldId id="941"/>
            <p14:sldId id="938"/>
            <p14:sldId id="939"/>
            <p14:sldId id="940"/>
            <p14:sldId id="942"/>
            <p14:sldId id="1004"/>
            <p14:sldId id="1009"/>
            <p14:sldId id="1010"/>
            <p14:sldId id="1089"/>
            <p14:sldId id="1011"/>
            <p14:sldId id="1012"/>
            <p14:sldId id="1014"/>
            <p14:sldId id="1015"/>
            <p14:sldId id="1016"/>
            <p14:sldId id="1017"/>
            <p14:sldId id="1018"/>
            <p14:sldId id="1019"/>
            <p14:sldId id="1020"/>
            <p14:sldId id="1021"/>
            <p14:sldId id="1022"/>
            <p14:sldId id="1023"/>
            <p14:sldId id="1024"/>
            <p14:sldId id="1025"/>
            <p14:sldId id="1026"/>
            <p14:sldId id="1027"/>
            <p14:sldId id="1028"/>
            <p14:sldId id="1029"/>
            <p14:sldId id="1090"/>
            <p14:sldId id="1030"/>
            <p14:sldId id="1091"/>
            <p14:sldId id="937"/>
            <p14:sldId id="944"/>
            <p14:sldId id="1031"/>
            <p14:sldId id="1032"/>
            <p14:sldId id="1033"/>
            <p14:sldId id="1034"/>
            <p14:sldId id="1035"/>
            <p14:sldId id="1036"/>
            <p14:sldId id="1037"/>
            <p14:sldId id="1038"/>
            <p14:sldId id="1039"/>
            <p14:sldId id="1040"/>
            <p14:sldId id="1041"/>
            <p14:sldId id="1042"/>
            <p14:sldId id="1043"/>
            <p14:sldId id="1044"/>
            <p14:sldId id="1045"/>
            <p14:sldId id="1046"/>
            <p14:sldId id="1047"/>
            <p14:sldId id="1048"/>
            <p14:sldId id="943"/>
            <p14:sldId id="1049"/>
            <p14:sldId id="1050"/>
            <p14:sldId id="1103"/>
            <p14:sldId id="1061"/>
            <p14:sldId id="1092"/>
            <p14:sldId id="1062"/>
            <p14:sldId id="1093"/>
            <p14:sldId id="1051"/>
            <p14:sldId id="1052"/>
            <p14:sldId id="1053"/>
            <p14:sldId id="1054"/>
            <p14:sldId id="1055"/>
            <p14:sldId id="1094"/>
            <p14:sldId id="1056"/>
            <p14:sldId id="1057"/>
            <p14:sldId id="1095"/>
            <p14:sldId id="1058"/>
            <p14:sldId id="1059"/>
            <p14:sldId id="1060"/>
            <p14:sldId id="1078"/>
            <p14:sldId id="1063"/>
            <p14:sldId id="1065"/>
            <p14:sldId id="1064"/>
            <p14:sldId id="1097"/>
            <p14:sldId id="1066"/>
            <p14:sldId id="1067"/>
            <p14:sldId id="1098"/>
            <p14:sldId id="1068"/>
            <p14:sldId id="1069"/>
            <p14:sldId id="1099"/>
            <p14:sldId id="1070"/>
            <p14:sldId id="1071"/>
            <p14:sldId id="1072"/>
            <p14:sldId id="1073"/>
            <p14:sldId id="1100"/>
            <p14:sldId id="1074"/>
            <p14:sldId id="1075"/>
            <p14:sldId id="1101"/>
            <p14:sldId id="1076"/>
            <p14:sldId id="1077"/>
            <p14:sldId id="1079"/>
            <p14:sldId id="1080"/>
            <p14:sldId id="1081"/>
            <p14:sldId id="1102"/>
            <p14:sldId id="1082"/>
            <p14:sldId id="1083"/>
            <p14:sldId id="1084"/>
            <p14:sldId id="1085"/>
            <p14:sldId id="1105"/>
            <p14:sldId id="1086"/>
            <p14:sldId id="1087"/>
            <p14:sldId id="1088"/>
            <p14:sldId id="110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sujain39@gmail.com" initials="v" lastIdx="1" clrIdx="0">
    <p:extLst>
      <p:ext uri="{19B8F6BF-5375-455C-9EA6-DF929625EA0E}">
        <p15:presenceInfo xmlns:p15="http://schemas.microsoft.com/office/powerpoint/2012/main" userId="4e3c4d1726c659f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E5722"/>
    <a:srgbClr val="301B92"/>
    <a:srgbClr val="B14440"/>
    <a:srgbClr val="FF9801"/>
    <a:srgbClr val="0690DF"/>
    <a:srgbClr val="C76765"/>
    <a:srgbClr val="009788"/>
    <a:srgbClr val="B71B1C"/>
    <a:srgbClr val="C259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68" autoAdjust="0"/>
    <p:restoredTop sz="93648" autoAdjust="0"/>
  </p:normalViewPr>
  <p:slideViewPr>
    <p:cSldViewPr snapToGrid="0">
      <p:cViewPr varScale="1">
        <p:scale>
          <a:sx n="63" d="100"/>
          <a:sy n="63" d="100"/>
        </p:scale>
        <p:origin x="1104" y="78"/>
      </p:cViewPr>
      <p:guideLst/>
    </p:cSldViewPr>
  </p:slideViewPr>
  <p:outlineViewPr>
    <p:cViewPr>
      <p:scale>
        <a:sx n="33" d="100"/>
        <a:sy n="33" d="100"/>
      </p:scale>
      <p:origin x="0" y="-228"/>
    </p:cViewPr>
  </p:outlineViewPr>
  <p:notesTextViewPr>
    <p:cViewPr>
      <p:scale>
        <a:sx n="1" d="1"/>
        <a:sy n="1" d="1"/>
      </p:scale>
      <p:origin x="0" y="0"/>
    </p:cViewPr>
  </p:notesTextViewPr>
  <p:sorterViewPr>
    <p:cViewPr>
      <p:scale>
        <a:sx n="100" d="100"/>
        <a:sy n="100" d="100"/>
      </p:scale>
      <p:origin x="0" y="-66"/>
    </p:cViewPr>
  </p:sorterViewPr>
  <p:notesViewPr>
    <p:cSldViewPr snapToGrid="0">
      <p:cViewPr varScale="1">
        <p:scale>
          <a:sx n="47" d="100"/>
          <a:sy n="47" d="100"/>
        </p:scale>
        <p:origin x="2040" y="3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font" Target="fonts/font6.fntdata"/><Relationship Id="rId205"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font" Target="fonts/font7.fntdata"/><Relationship Id="rId206"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font" Target="fonts/font8.fntdata"/><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font" Target="fonts/font9.fntdata"/><Relationship Id="rId199" Type="http://schemas.openxmlformats.org/officeDocument/2006/relationships/font" Target="fonts/font14.fntdata"/><Relationship Id="rId20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189" Type="http://schemas.openxmlformats.org/officeDocument/2006/relationships/font" Target="fonts/font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font" Target="fonts/font10.fntdata"/><Relationship Id="rId190" Type="http://schemas.openxmlformats.org/officeDocument/2006/relationships/font" Target="fonts/font5.fntdata"/><Relationship Id="rId20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font" Target="fonts/font11.fntdata"/><Relationship Id="rId200" Type="http://schemas.openxmlformats.org/officeDocument/2006/relationships/font" Target="fonts/font15.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font" Target="fonts/font1.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font" Target="fonts/font12.fntdata"/><Relationship Id="rId201" Type="http://schemas.openxmlformats.org/officeDocument/2006/relationships/font" Target="fonts/font16.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font" Target="fonts/font2.fntdata"/><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font" Target="fonts/font13.fntdata"/><Relationship Id="rId202" Type="http://schemas.openxmlformats.org/officeDocument/2006/relationships/commentAuthors" Target="commentAuthor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font" Target="fonts/font3.fntdata"/><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1/11/2025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C79BDEF-6165-4E72-B1A6-6E8034CEC248}" type="slidenum">
              <a:rPr lang="en-US" smtClean="0"/>
              <a:t>4</a:t>
            </a:fld>
            <a:endParaRPr lang="en-US"/>
          </a:p>
        </p:txBody>
      </p:sp>
    </p:spTree>
    <p:extLst>
      <p:ext uri="{BB962C8B-B14F-4D97-AF65-F5344CB8AC3E}">
        <p14:creationId xmlns:p14="http://schemas.microsoft.com/office/powerpoint/2010/main" val="22691374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2.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Dr. Parag D. Ajani</a:t>
            </a:r>
          </a:p>
        </p:txBody>
      </p:sp>
      <p:sp>
        <p:nvSpPr>
          <p:cNvPr id="22" name="Footer Placeholder 2">
            <a:extLst>
              <a:ext uri="{FF2B5EF4-FFF2-40B4-BE49-F238E27FC236}">
                <a16:creationId xmlns:a16="http://schemas.microsoft.com/office/drawing/2014/main" id="{DF949A34-812B-4860-89D9-F866C155599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3 – Probability Distribution</a:t>
            </a:r>
          </a:p>
        </p:txBody>
      </p: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3 – Probability Distribution</a:t>
            </a:r>
          </a:p>
        </p:txBody>
      </p:sp>
      <p:sp>
        <p:nvSpPr>
          <p:cNvPr id="13"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Dr. Parag D. Ajani</a:t>
            </a:r>
          </a:p>
        </p:txBody>
      </p: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2">
            <a:extLst>
              <a:ext uri="{FF2B5EF4-FFF2-40B4-BE49-F238E27FC236}">
                <a16:creationId xmlns:a16="http://schemas.microsoft.com/office/drawing/2014/main" id="{9CEFE85F-2151-46C7-9A0F-6DC35B63465B}"/>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3 – Probability Distribution</a:t>
            </a:r>
          </a:p>
        </p:txBody>
      </p:sp>
      <p:sp>
        <p:nvSpPr>
          <p:cNvPr id="13"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Dr. Parag D. Ajani</a:t>
            </a:r>
          </a:p>
        </p:txBody>
      </p: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vert="horz" lIns="91440" tIns="45720" rIns="91440" bIns="45720" rtlCol="0" anchor="b">
            <a:noAutofit/>
          </a:bodyPr>
          <a:lstStyle>
            <a:lvl1pPr>
              <a:defRPr lang="en-US" sz="6000" b="1"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marL="0" lvl="0" indent="0">
              <a:buFont typeface="Arial" panose="020B0604020202020204" pitchFamily="34" charset="0"/>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Footer Placeholder 2">
            <a:extLst>
              <a:ext uri="{FF2B5EF4-FFF2-40B4-BE49-F238E27FC236}">
                <a16:creationId xmlns:a16="http://schemas.microsoft.com/office/drawing/2014/main" id="{509243ED-EF14-4000-8D29-49BD9FDFB6EE}"/>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3 – Probability Distribution</a:t>
            </a:r>
          </a:p>
        </p:txBody>
      </p:sp>
      <p:sp>
        <p:nvSpPr>
          <p:cNvPr id="13"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Dr. Parag D. Ajani</a:t>
            </a:r>
          </a:p>
        </p:txBody>
      </p:sp>
    </p:spTree>
    <p:extLst>
      <p:ext uri="{BB962C8B-B14F-4D97-AF65-F5344CB8AC3E}">
        <p14:creationId xmlns:p14="http://schemas.microsoft.com/office/powerpoint/2010/main" val="297197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Footer Placeholder 2">
            <a:extLst>
              <a:ext uri="{FF2B5EF4-FFF2-40B4-BE49-F238E27FC236}">
                <a16:creationId xmlns:a16="http://schemas.microsoft.com/office/drawing/2014/main" id="{FAE2654C-FB9B-4801-9176-92B28A7821B5}"/>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3 – Probability Distribution</a:t>
            </a:r>
          </a:p>
        </p:txBody>
      </p:sp>
      <p:sp>
        <p:nvSpPr>
          <p:cNvPr id="13"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Dr. Parag D. Ajani</a:t>
            </a:r>
          </a:p>
        </p:txBody>
      </p:sp>
    </p:spTree>
    <p:extLst>
      <p:ext uri="{BB962C8B-B14F-4D97-AF65-F5344CB8AC3E}">
        <p14:creationId xmlns:p14="http://schemas.microsoft.com/office/powerpoint/2010/main" val="320624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1" name="Footer Placeholder 2">
            <a:extLst>
              <a:ext uri="{FF2B5EF4-FFF2-40B4-BE49-F238E27FC236}">
                <a16:creationId xmlns:a16="http://schemas.microsoft.com/office/drawing/2014/main" id="{FC55E61B-6CD2-4079-BDCD-79E4C1452CE4}"/>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2301HS402 (Probability &amp; Statistics)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3 – Probability Distribution</a:t>
            </a:r>
          </a:p>
        </p:txBody>
      </p:sp>
      <p:sp>
        <p:nvSpPr>
          <p:cNvPr id="12" name="Date Placeholder 1">
            <a:extLst>
              <a:ext uri="{FF2B5EF4-FFF2-40B4-BE49-F238E27FC236}">
                <a16:creationId xmlns:a16="http://schemas.microsoft.com/office/drawing/2014/main" id="{BDCCD67D-FD1C-45DA-9071-29F9F47A3494}"/>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Dr. Parag D. Ajani</a:t>
            </a:r>
          </a:p>
        </p:txBody>
      </p:sp>
    </p:spTree>
    <p:extLst>
      <p:ext uri="{BB962C8B-B14F-4D97-AF65-F5344CB8AC3E}">
        <p14:creationId xmlns:p14="http://schemas.microsoft.com/office/powerpoint/2010/main" val="2658572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14"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solidFill>
            <a:schemeClr val="bg1"/>
          </a:solidFill>
          <a:ln>
            <a:solidFill>
              <a:schemeClr val="bg1">
                <a:lumMod val="65000"/>
              </a:schemeClr>
            </a:solidFill>
          </a:ln>
        </p:spPr>
        <p:txBody>
          <a:bodyPr wrap="square">
            <a:noAutofit/>
          </a:bodyPr>
          <a:lstStyle>
            <a:lvl1pPr>
              <a:defRPr sz="1800"/>
            </a:lvl1pPr>
          </a:lstStyle>
          <a:p>
            <a:endParaRPr lang="en-US" dirty="0"/>
          </a:p>
        </p:txBody>
      </p:sp>
      <p:sp>
        <p:nvSpPr>
          <p:cNvPr id="15"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endParaRPr lang="en-US" dirty="0"/>
          </a:p>
        </p:txBody>
      </p:sp>
      <p:sp>
        <p:nvSpPr>
          <p:cNvPr id="18" name="Text Placeholder 2">
            <a:extLst>
              <a:ext uri="{FF2B5EF4-FFF2-40B4-BE49-F238E27FC236}">
                <a16:creationId xmlns:a16="http://schemas.microsoft.com/office/drawing/2014/main" id="{828AA7FF-D902-41DB-A12A-45135201E8C2}"/>
              </a:ext>
            </a:extLst>
          </p:cNvPr>
          <p:cNvSpPr>
            <a:spLocks noGrp="1"/>
          </p:cNvSpPr>
          <p:nvPr>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19" name="Text Placeholder 2">
            <a:extLst>
              <a:ext uri="{FF2B5EF4-FFF2-40B4-BE49-F238E27FC236}">
                <a16:creationId xmlns:a16="http://schemas.microsoft.com/office/drawing/2014/main" id="{F1EDDD62-43C6-4DEE-BBD9-CD0004E7EB03}"/>
              </a:ext>
            </a:extLst>
          </p:cNvPr>
          <p:cNvSpPr>
            <a:spLocks noGrp="1"/>
          </p:cNvSpPr>
          <p:nvPr>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pic>
        <p:nvPicPr>
          <p:cNvPr id="20" name="Picture 19">
            <a:extLst>
              <a:ext uri="{FF2B5EF4-FFF2-40B4-BE49-F238E27FC236}">
                <a16:creationId xmlns:a16="http://schemas.microsoft.com/office/drawing/2014/main" id="{9812EDA6-C656-492A-A9CA-44B03C639132}"/>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1" name="Picture 20">
            <a:extLst>
              <a:ext uri="{FF2B5EF4-FFF2-40B4-BE49-F238E27FC236}">
                <a16:creationId xmlns:a16="http://schemas.microsoft.com/office/drawing/2014/main" id="{627AEF91-6492-4B0C-A844-2296473B58D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34" name="Picture 3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002094" y="1609868"/>
            <a:ext cx="2743200" cy="2743200"/>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1/11/2025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 id="2147483672" r:id="rId5"/>
    <p:sldLayoutId id="2147483689" r:id="rId6"/>
    <p:sldLayoutId id="2147483692" r:id="rId7"/>
    <p:sldLayoutId id="2147483673" r:id="rId8"/>
    <p:sldLayoutId id="2147483691" r:id="rId9"/>
    <p:sldLayoutId id="2147483674" r:id="rId10"/>
    <p:sldLayoutId id="2147483676" r:id="rId11"/>
    <p:sldLayoutId id="2147483677" r:id="rId12"/>
    <p:sldLayoutId id="2147483678" r:id="rId13"/>
    <p:sldLayoutId id="2147483679" r:id="rId14"/>
    <p:sldLayoutId id="2147483681" r:id="rId15"/>
    <p:sldLayoutId id="2147483683" r:id="rId16"/>
    <p:sldLayoutId id="2147483682" r:id="rId17"/>
    <p:sldLayoutId id="2147483684" r:id="rId18"/>
    <p:sldLayoutId id="2147483685" r:id="rId19"/>
    <p:sldLayoutId id="2147483686"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6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610.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image" Target="../media/image15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3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131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741.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811.png"/><Relationship Id="rId2" Type="http://schemas.openxmlformats.org/officeDocument/2006/relationships/image" Target="../media/image801.png"/><Relationship Id="rId1" Type="http://schemas.openxmlformats.org/officeDocument/2006/relationships/slideLayout" Target="../slideLayouts/slideLayout3.xml"/><Relationship Id="rId4" Type="http://schemas.openxmlformats.org/officeDocument/2006/relationships/image" Target="../media/image82.png"/></Relationships>
</file>

<file path=ppt/slides/_rels/slide7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7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310.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7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81.xml.rels><?xml version="1.0" encoding="UTF-8" standalone="yes"?>
<Relationships xmlns="http://schemas.openxmlformats.org/package/2006/relationships"><Relationship Id="rId2" Type="http://schemas.openxmlformats.org/officeDocument/2006/relationships/image" Target="../media/image99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1000.png"/><Relationship Id="rId2" Type="http://schemas.openxmlformats.org/officeDocument/2006/relationships/image" Target="../media/image990.png"/><Relationship Id="rId1" Type="http://schemas.openxmlformats.org/officeDocument/2006/relationships/slideLayout" Target="../slideLayouts/slideLayout3.xml"/><Relationship Id="rId4" Type="http://schemas.openxmlformats.org/officeDocument/2006/relationships/image" Target="../media/image101.png"/></Relationships>
</file>

<file path=ppt/slides/_rels/slide8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0.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76.png"/><Relationship Id="rId5" Type="http://schemas.openxmlformats.org/officeDocument/2006/relationships/image" Target="../media/image116.png"/><Relationship Id="rId4" Type="http://schemas.openxmlformats.org/officeDocument/2006/relationships/image" Target="../media/image115.png"/></Relationships>
</file>

<file path=ppt/slides/_rels/slide93.xml.rels><?xml version="1.0" encoding="UTF-8" standalone="yes"?>
<Relationships xmlns="http://schemas.openxmlformats.org/package/2006/relationships"><Relationship Id="rId3" Type="http://schemas.openxmlformats.org/officeDocument/2006/relationships/image" Target="../media/image1170.png"/><Relationship Id="rId2" Type="http://schemas.openxmlformats.org/officeDocument/2006/relationships/image" Target="../media/image1160.png"/><Relationship Id="rId1" Type="http://schemas.openxmlformats.org/officeDocument/2006/relationships/slideLayout" Target="../slideLayouts/slideLayout3.xml"/><Relationship Id="rId4" Type="http://schemas.openxmlformats.org/officeDocument/2006/relationships/image" Target="../media/image118.png"/></Relationships>
</file>

<file path=ppt/slides/_rels/slide9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95.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3.xml"/><Relationship Id="rId4" Type="http://schemas.openxmlformats.org/officeDocument/2006/relationships/image" Target="../media/image126.png"/></Relationships>
</file>

<file path=ppt/slides/_rels/slide97.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10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3.xml"/><Relationship Id="rId4" Type="http://schemas.openxmlformats.org/officeDocument/2006/relationships/image" Target="../media/image136.png"/></Relationships>
</file>

<file path=ppt/slides/_rels/slide103.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43.png"/><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45.png"/><Relationship Id="rId5" Type="http://schemas.openxmlformats.org/officeDocument/2006/relationships/image" Target="../media/image148.png"/><Relationship Id="rId4" Type="http://schemas.openxmlformats.org/officeDocument/2006/relationships/image" Target="../media/image147.png"/></Relationships>
</file>

<file path=ppt/slides/_rels/slide11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53.png"/><Relationship Id="rId7" Type="http://schemas.openxmlformats.org/officeDocument/2006/relationships/image" Target="../media/image157.png"/><Relationship Id="rId2"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49.png"/></Relationships>
</file>

<file path=ppt/slides/_rels/slide115.xml.rels><?xml version="1.0" encoding="UTF-8" standalone="yes"?>
<Relationships xmlns="http://schemas.openxmlformats.org/package/2006/relationships"><Relationship Id="rId3" Type="http://schemas.openxmlformats.org/officeDocument/2006/relationships/image" Target="../media/image158.png"/><Relationship Id="rId7" Type="http://schemas.openxmlformats.org/officeDocument/2006/relationships/image" Target="../media/image157.png"/><Relationship Id="rId2"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49.png"/></Relationships>
</file>

<file path=ppt/slides/_rels/slide116.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62.png"/><Relationship Id="rId7" Type="http://schemas.openxmlformats.org/officeDocument/2006/relationships/image" Target="../media/image154.png"/><Relationship Id="rId2" Type="http://schemas.openxmlformats.org/officeDocument/2006/relationships/image" Target="../media/image161.png"/><Relationship Id="rId1" Type="http://schemas.openxmlformats.org/officeDocument/2006/relationships/slideLayout" Target="../slideLayouts/slideLayout2.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119.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image" Target="../media/image167.png"/><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image" Target="../media/image166.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s>
</file>

<file path=ppt/slides/_rels/slide120.xml.rels><?xml version="1.0" encoding="UTF-8" standalone="yes"?>
<Relationships xmlns="http://schemas.openxmlformats.org/package/2006/relationships"><Relationship Id="rId8" Type="http://schemas.openxmlformats.org/officeDocument/2006/relationships/image" Target="../media/image182.png"/><Relationship Id="rId3" Type="http://schemas.openxmlformats.org/officeDocument/2006/relationships/image" Target="../media/image177.png"/><Relationship Id="rId7" Type="http://schemas.openxmlformats.org/officeDocument/2006/relationships/image" Target="../media/image181.png"/><Relationship Id="rId2" Type="http://schemas.openxmlformats.org/officeDocument/2006/relationships/image" Target="../media/image176.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9.png"/><Relationship Id="rId10" Type="http://schemas.openxmlformats.org/officeDocument/2006/relationships/image" Target="../media/image166.png"/><Relationship Id="rId4" Type="http://schemas.openxmlformats.org/officeDocument/2006/relationships/image" Target="../media/image178.png"/><Relationship Id="rId9" Type="http://schemas.openxmlformats.org/officeDocument/2006/relationships/image" Target="../media/image183.png"/></Relationships>
</file>

<file path=ppt/slides/_rels/slide121.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5.png"/><Relationship Id="rId7" Type="http://schemas.openxmlformats.org/officeDocument/2006/relationships/image" Target="../media/image189.png"/><Relationship Id="rId2" Type="http://schemas.openxmlformats.org/officeDocument/2006/relationships/image" Target="../media/image184.png"/><Relationship Id="rId1" Type="http://schemas.openxmlformats.org/officeDocument/2006/relationships/slideLayout" Target="../slideLayouts/slideLayout2.xml"/><Relationship Id="rId6" Type="http://schemas.openxmlformats.org/officeDocument/2006/relationships/image" Target="../media/image188.png"/><Relationship Id="rId5" Type="http://schemas.openxmlformats.org/officeDocument/2006/relationships/image" Target="../media/image187.png"/><Relationship Id="rId10" Type="http://schemas.openxmlformats.org/officeDocument/2006/relationships/image" Target="../media/image170.png"/><Relationship Id="rId4" Type="http://schemas.openxmlformats.org/officeDocument/2006/relationships/image" Target="../media/image186.png"/><Relationship Id="rId9" Type="http://schemas.openxmlformats.org/officeDocument/2006/relationships/image" Target="../media/image191.png"/></Relationships>
</file>

<file path=ppt/slides/_rels/slide122.xml.rels><?xml version="1.0" encoding="UTF-8" standalone="yes"?>
<Relationships xmlns="http://schemas.openxmlformats.org/package/2006/relationships"><Relationship Id="rId8" Type="http://schemas.openxmlformats.org/officeDocument/2006/relationships/image" Target="../media/image199.png"/><Relationship Id="rId3" Type="http://schemas.openxmlformats.org/officeDocument/2006/relationships/image" Target="../media/image194.png"/><Relationship Id="rId7" Type="http://schemas.openxmlformats.org/officeDocument/2006/relationships/image" Target="../media/image198.png"/><Relationship Id="rId2" Type="http://schemas.openxmlformats.org/officeDocument/2006/relationships/image" Target="../media/image193.png"/><Relationship Id="rId1" Type="http://schemas.openxmlformats.org/officeDocument/2006/relationships/slideLayout" Target="../slideLayouts/slideLayout2.xml"/><Relationship Id="rId6" Type="http://schemas.openxmlformats.org/officeDocument/2006/relationships/image" Target="../media/image197.png"/><Relationship Id="rId5" Type="http://schemas.openxmlformats.org/officeDocument/2006/relationships/image" Target="../media/image196.png"/><Relationship Id="rId10" Type="http://schemas.openxmlformats.org/officeDocument/2006/relationships/image" Target="../media/image170.png"/><Relationship Id="rId4" Type="http://schemas.openxmlformats.org/officeDocument/2006/relationships/image" Target="../media/image195.png"/><Relationship Id="rId9" Type="http://schemas.openxmlformats.org/officeDocument/2006/relationships/image" Target="../media/image200.png"/></Relationships>
</file>

<file path=ppt/slides/_rels/slide123.xml.rels><?xml version="1.0" encoding="UTF-8" standalone="yes"?>
<Relationships xmlns="http://schemas.openxmlformats.org/package/2006/relationships"><Relationship Id="rId8" Type="http://schemas.openxmlformats.org/officeDocument/2006/relationships/image" Target="../media/image207.png"/><Relationship Id="rId3" Type="http://schemas.openxmlformats.org/officeDocument/2006/relationships/image" Target="../media/image202.png"/><Relationship Id="rId7" Type="http://schemas.openxmlformats.org/officeDocument/2006/relationships/image" Target="../media/image206.png"/><Relationship Id="rId2" Type="http://schemas.openxmlformats.org/officeDocument/2006/relationships/image" Target="../media/image201.png"/><Relationship Id="rId1" Type="http://schemas.openxmlformats.org/officeDocument/2006/relationships/slideLayout" Target="../slideLayouts/slideLayout2.xml"/><Relationship Id="rId6" Type="http://schemas.openxmlformats.org/officeDocument/2006/relationships/image" Target="../media/image205.png"/><Relationship Id="rId5" Type="http://schemas.openxmlformats.org/officeDocument/2006/relationships/image" Target="../media/image192.png"/><Relationship Id="rId4" Type="http://schemas.openxmlformats.org/officeDocument/2006/relationships/image" Target="../media/image203.png"/><Relationship Id="rId9" Type="http://schemas.openxmlformats.org/officeDocument/2006/relationships/image" Target="../media/image208.png"/></Relationships>
</file>

<file path=ppt/slides/_rels/slide124.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image" Target="../media/image2020.png"/><Relationship Id="rId7" Type="http://schemas.openxmlformats.org/officeDocument/2006/relationships/image" Target="../media/image204.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213.png"/><Relationship Id="rId5" Type="http://schemas.openxmlformats.org/officeDocument/2006/relationships/image" Target="../media/image212.png"/><Relationship Id="rId10" Type="http://schemas.openxmlformats.org/officeDocument/2006/relationships/image" Target="../media/image217.png"/><Relationship Id="rId4" Type="http://schemas.openxmlformats.org/officeDocument/2006/relationships/image" Target="../media/image211.png"/><Relationship Id="rId9" Type="http://schemas.openxmlformats.org/officeDocument/2006/relationships/image" Target="../media/image216.png"/></Relationships>
</file>

<file path=ppt/slides/_rels/slide126.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22.png"/><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3" Type="http://schemas.openxmlformats.org/officeDocument/2006/relationships/image" Target="../media/image224.png"/><Relationship Id="rId1" Type="http://schemas.openxmlformats.org/officeDocument/2006/relationships/slideLayout" Target="../slideLayouts/slideLayout3.xml"/><Relationship Id="rId6" Type="http://schemas.openxmlformats.org/officeDocument/2006/relationships/image" Target="../media/image223.png"/><Relationship Id="rId5" Type="http://schemas.openxmlformats.org/officeDocument/2006/relationships/image" Target="../media/image226.png"/><Relationship Id="rId4" Type="http://schemas.openxmlformats.org/officeDocument/2006/relationships/image" Target="../media/image225.png"/></Relationships>
</file>

<file path=ppt/slides/_rels/slide133.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image" Target="../media/image2251.png"/><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3" Type="http://schemas.openxmlformats.org/officeDocument/2006/relationships/image" Target="../media/image2261.png"/><Relationship Id="rId1" Type="http://schemas.openxmlformats.org/officeDocument/2006/relationships/slideLayout" Target="../slideLayouts/slideLayout3.xml"/><Relationship Id="rId6" Type="http://schemas.openxmlformats.org/officeDocument/2006/relationships/image" Target="../media/image229.png"/><Relationship Id="rId5" Type="http://schemas.openxmlformats.org/officeDocument/2006/relationships/image" Target="../media/image228.png"/><Relationship Id="rId4" Type="http://schemas.openxmlformats.org/officeDocument/2006/relationships/image" Target="../media/image2272.png"/></Relationships>
</file>

<file path=ppt/slides/_rels/slide135.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71.png"/><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300.png"/><Relationship Id="rId1" Type="http://schemas.openxmlformats.org/officeDocument/2006/relationships/slideLayout" Target="../slideLayouts/slideLayout3.xml"/><Relationship Id="rId4" Type="http://schemas.openxmlformats.org/officeDocument/2006/relationships/image" Target="../media/image232.png"/></Relationships>
</file>

<file path=ppt/slides/_rels/slide137.xml.rels><?xml version="1.0" encoding="UTF-8" standalone="yes"?>
<Relationships xmlns="http://schemas.openxmlformats.org/package/2006/relationships"><Relationship Id="rId3" Type="http://schemas.openxmlformats.org/officeDocument/2006/relationships/image" Target="../media/image2260.png"/><Relationship Id="rId2" Type="http://schemas.openxmlformats.org/officeDocument/2006/relationships/image" Target="../media/image2250.png"/><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image" Target="../media/image2270.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2331.png"/><Relationship Id="rId2" Type="http://schemas.openxmlformats.org/officeDocument/2006/relationships/image" Target="../media/image2321.png"/><Relationship Id="rId1" Type="http://schemas.openxmlformats.org/officeDocument/2006/relationships/slideLayout" Target="../slideLayouts/slideLayout3.xml"/><Relationship Id="rId5" Type="http://schemas.openxmlformats.org/officeDocument/2006/relationships/image" Target="../media/image223.png"/><Relationship Id="rId4" Type="http://schemas.openxmlformats.org/officeDocument/2006/relationships/image" Target="../media/image234.png"/></Relationships>
</file>

<file path=ppt/slides/_rels/slide140.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image" Target="../media/image237.png"/><Relationship Id="rId1" Type="http://schemas.openxmlformats.org/officeDocument/2006/relationships/slideLayout" Target="../slideLayouts/slideLayout2.xml"/><Relationship Id="rId4" Type="http://schemas.openxmlformats.org/officeDocument/2006/relationships/image" Target="../media/image204.png"/></Relationships>
</file>

<file path=ppt/slides/_rels/slide142.xml.rels><?xml version="1.0" encoding="UTF-8" standalone="yes"?>
<Relationships xmlns="http://schemas.openxmlformats.org/package/2006/relationships"><Relationship Id="rId2" Type="http://schemas.openxmlformats.org/officeDocument/2006/relationships/image" Target="../media/image2311.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2330.png"/><Relationship Id="rId2" Type="http://schemas.openxmlformats.org/officeDocument/2006/relationships/image" Target="../media/image2320.png"/><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4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40.png"/><Relationship Id="rId1" Type="http://schemas.openxmlformats.org/officeDocument/2006/relationships/slideLayout" Target="../slideLayouts/slideLayout2.xml"/><Relationship Id="rId5" Type="http://schemas.openxmlformats.org/officeDocument/2006/relationships/image" Target="../media/image229.png"/><Relationship Id="rId4" Type="http://schemas.openxmlformats.org/officeDocument/2006/relationships/image" Target="../media/image242.png"/></Relationships>
</file>

<file path=ppt/slides/_rels/slide146.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image" Target="../media/image2370.png"/><Relationship Id="rId1" Type="http://schemas.openxmlformats.org/officeDocument/2006/relationships/slideLayout" Target="../slideLayouts/slideLayout2.xml"/><Relationship Id="rId6" Type="http://schemas.openxmlformats.org/officeDocument/2006/relationships/image" Target="../media/image233.emf"/><Relationship Id="rId5" Type="http://schemas.openxmlformats.org/officeDocument/2006/relationships/image" Target="../media/image245.png"/><Relationship Id="rId4" Type="http://schemas.openxmlformats.org/officeDocument/2006/relationships/image" Target="../media/image243.png"/></Relationships>
</file>

<file path=ppt/slides/_rels/slide147.xml.rels><?xml version="1.0" encoding="UTF-8" standalone="yes"?>
<Relationships xmlns="http://schemas.openxmlformats.org/package/2006/relationships"><Relationship Id="rId3" Type="http://schemas.openxmlformats.org/officeDocument/2006/relationships/image" Target="../media/image2390.png"/><Relationship Id="rId2" Type="http://schemas.openxmlformats.org/officeDocument/2006/relationships/image" Target="../media/image2370.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image" Target="../media/image244.png"/><Relationship Id="rId1" Type="http://schemas.openxmlformats.org/officeDocument/2006/relationships/slideLayout" Target="../slideLayouts/slideLayout2.xml"/><Relationship Id="rId5" Type="http://schemas.openxmlformats.org/officeDocument/2006/relationships/image" Target="../media/image229.png"/><Relationship Id="rId4" Type="http://schemas.openxmlformats.org/officeDocument/2006/relationships/image" Target="../media/image247.png"/></Relationships>
</file>

<file path=ppt/slides/_rels/slide149.xml.rels><?xml version="1.0" encoding="UTF-8" standalone="yes"?>
<Relationships xmlns="http://schemas.openxmlformats.org/package/2006/relationships"><Relationship Id="rId3" Type="http://schemas.openxmlformats.org/officeDocument/2006/relationships/image" Target="../media/image2421.png"/><Relationship Id="rId2" Type="http://schemas.openxmlformats.org/officeDocument/2006/relationships/image" Target="../media/image2401.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2410.png"/><Relationship Id="rId2" Type="http://schemas.openxmlformats.org/officeDocument/2006/relationships/image" Target="../media/image2400.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2460.png"/><Relationship Id="rId2" Type="http://schemas.openxmlformats.org/officeDocument/2006/relationships/image" Target="../media/image2420.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image" Target="../media/image2470.png"/><Relationship Id="rId1" Type="http://schemas.openxmlformats.org/officeDocument/2006/relationships/slideLayout" Target="../slideLayouts/slideLayout2.xml"/><Relationship Id="rId5" Type="http://schemas.openxmlformats.org/officeDocument/2006/relationships/image" Target="../media/image223.png"/><Relationship Id="rId4" Type="http://schemas.openxmlformats.org/officeDocument/2006/relationships/image" Target="../media/image2350.png"/></Relationships>
</file>

<file path=ppt/slides/_rels/slide153.xml.rels><?xml version="1.0" encoding="UTF-8" standalone="yes"?>
<Relationships xmlns="http://schemas.openxmlformats.org/package/2006/relationships"><Relationship Id="rId2" Type="http://schemas.openxmlformats.org/officeDocument/2006/relationships/image" Target="../media/image24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50.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0.png"/><Relationship Id="rId1" Type="http://schemas.openxmlformats.org/officeDocument/2006/relationships/slideLayout" Target="../slideLayouts/slideLayout2.xml"/><Relationship Id="rId5" Type="http://schemas.openxmlformats.org/officeDocument/2006/relationships/image" Target="../media/image223.png"/><Relationship Id="rId4" Type="http://schemas.openxmlformats.org/officeDocument/2006/relationships/image" Target="../media/image252.png"/></Relationships>
</file>

<file path=ppt/slides/_rels/slide156.xml.rels><?xml version="1.0" encoding="UTF-8" standalone="yes"?>
<Relationships xmlns="http://schemas.openxmlformats.org/package/2006/relationships"><Relationship Id="rId2" Type="http://schemas.openxmlformats.org/officeDocument/2006/relationships/image" Target="../media/image253.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54.png"/><Relationship Id="rId2" Type="http://schemas.openxmlformats.org/officeDocument/2006/relationships/image" Target="../media/image2480.png"/><Relationship Id="rId1" Type="http://schemas.openxmlformats.org/officeDocument/2006/relationships/slideLayout" Target="../slideLayouts/slideLayout2.xml"/><Relationship Id="rId4" Type="http://schemas.openxmlformats.org/officeDocument/2006/relationships/image" Target="../media/image255.png"/></Relationships>
</file>

<file path=ppt/slides/_rels/slide158.xml.rels><?xml version="1.0" encoding="UTF-8" standalone="yes"?>
<Relationships xmlns="http://schemas.openxmlformats.org/package/2006/relationships"><Relationship Id="rId3" Type="http://schemas.openxmlformats.org/officeDocument/2006/relationships/image" Target="../media/image2551.png"/><Relationship Id="rId2" Type="http://schemas.openxmlformats.org/officeDocument/2006/relationships/image" Target="../media/image2541.png"/><Relationship Id="rId1" Type="http://schemas.openxmlformats.org/officeDocument/2006/relationships/slideLayout" Target="../slideLayouts/slideLayout2.xml"/><Relationship Id="rId4" Type="http://schemas.openxmlformats.org/officeDocument/2006/relationships/image" Target="../media/image234.emf"/></Relationships>
</file>

<file path=ppt/slides/_rels/slide159.xml.rels><?xml version="1.0" encoding="UTF-8" standalone="yes"?>
<Relationships xmlns="http://schemas.openxmlformats.org/package/2006/relationships"><Relationship Id="rId2" Type="http://schemas.openxmlformats.org/officeDocument/2006/relationships/image" Target="../media/image257.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2540.png"/><Relationship Id="rId2" Type="http://schemas.openxmlformats.org/officeDocument/2006/relationships/image" Target="../media/image253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image" Target="../media/image2550.png"/><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163.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591.png"/><Relationship Id="rId1" Type="http://schemas.openxmlformats.org/officeDocument/2006/relationships/slideLayout" Target="../slideLayouts/slideLayout2.xml"/><Relationship Id="rId4" Type="http://schemas.openxmlformats.org/officeDocument/2006/relationships/image" Target="../media/image234.emf"/></Relationships>
</file>

<file path=ppt/slides/_rels/slide164.xml.rels><?xml version="1.0" encoding="UTF-8" standalone="yes"?>
<Relationships xmlns="http://schemas.openxmlformats.org/package/2006/relationships"><Relationship Id="rId2" Type="http://schemas.openxmlformats.org/officeDocument/2006/relationships/image" Target="../media/image2580.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image" Target="../media/image2590.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2600.png"/><Relationship Id="rId2" Type="http://schemas.openxmlformats.org/officeDocument/2006/relationships/image" Target="../media/image2620.png"/><Relationship Id="rId1" Type="http://schemas.openxmlformats.org/officeDocument/2006/relationships/slideLayout" Target="../slideLayouts/slideLayout2.xml"/><Relationship Id="rId4" Type="http://schemas.openxmlformats.org/officeDocument/2006/relationships/image" Target="../media/image229.png"/></Relationships>
</file>

<file path=ppt/slides/_rels/slide167.xml.rels><?xml version="1.0" encoding="UTF-8" standalone="yes"?>
<Relationships xmlns="http://schemas.openxmlformats.org/package/2006/relationships"><Relationship Id="rId2" Type="http://schemas.openxmlformats.org/officeDocument/2006/relationships/image" Target="../media/image263.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0.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image" Target="../media/image265.png"/><Relationship Id="rId1" Type="http://schemas.openxmlformats.org/officeDocument/2006/relationships/slideLayout" Target="../slideLayouts/slideLayout2.xml"/><Relationship Id="rId4" Type="http://schemas.openxmlformats.org/officeDocument/2006/relationships/image" Target="../media/image229.png"/></Relationships>
</file>

<file path=ppt/slides/_rels/slide170.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image" Target="../media/image2660.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image" Target="../media/image268.png"/><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172.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image" Target="../media/image271.png"/><Relationship Id="rId1" Type="http://schemas.openxmlformats.org/officeDocument/2006/relationships/slideLayout" Target="../slideLayouts/slideLayout2.xml"/><Relationship Id="rId4" Type="http://schemas.openxmlformats.org/officeDocument/2006/relationships/image" Target="../media/image234.emf"/></Relationships>
</file>

<file path=ppt/slides/_rels/slide173.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2720.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2730.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4.png"/><Relationship Id="rId1" Type="http://schemas.openxmlformats.org/officeDocument/2006/relationships/slideLayout" Target="../slideLayouts/slideLayout2.xml"/><Relationship Id="rId5" Type="http://schemas.openxmlformats.org/officeDocument/2006/relationships/image" Target="../media/image223.png"/><Relationship Id="rId4" Type="http://schemas.openxmlformats.org/officeDocument/2006/relationships/image" Target="../media/image233.emf"/></Relationships>
</file>

<file path=ppt/slides/_rels/slide177.xml.rels><?xml version="1.0" encoding="UTF-8" standalone="yes"?>
<Relationships xmlns="http://schemas.openxmlformats.org/package/2006/relationships"><Relationship Id="rId3" Type="http://schemas.openxmlformats.org/officeDocument/2006/relationships/image" Target="../media/image277.png"/><Relationship Id="rId2" Type="http://schemas.openxmlformats.org/officeDocument/2006/relationships/image" Target="../media/image276.png"/><Relationship Id="rId1" Type="http://schemas.openxmlformats.org/officeDocument/2006/relationships/slideLayout" Target="../slideLayouts/slideLayout2.xml"/><Relationship Id="rId5" Type="http://schemas.openxmlformats.org/officeDocument/2006/relationships/image" Target="../media/image223.png"/><Relationship Id="rId4" Type="http://schemas.openxmlformats.org/officeDocument/2006/relationships/image" Target="../media/image229.png"/></Relationships>
</file>

<file path=ppt/slides/_rels/slide178.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image" Target="../media/image278.png"/><Relationship Id="rId1" Type="http://schemas.openxmlformats.org/officeDocument/2006/relationships/slideLayout" Target="../slideLayouts/slideLayout2.xml"/><Relationship Id="rId5" Type="http://schemas.openxmlformats.org/officeDocument/2006/relationships/image" Target="../media/image234.emf"/><Relationship Id="rId4" Type="http://schemas.openxmlformats.org/officeDocument/2006/relationships/image" Target="../media/image233.emf"/></Relationships>
</file>

<file path=ppt/slides/_rels/slide179.xml.rels><?xml version="1.0" encoding="UTF-8" standalone="yes"?>
<Relationships xmlns="http://schemas.openxmlformats.org/package/2006/relationships"><Relationship Id="rId2" Type="http://schemas.openxmlformats.org/officeDocument/2006/relationships/image" Target="../media/image2760.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2770.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2790.png"/><Relationship Id="rId2" Type="http://schemas.openxmlformats.org/officeDocument/2006/relationships/image" Target="../media/image2780.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D125B39-4795-4BA6-B9B5-11FFCFC98439}"/>
              </a:ext>
            </a:extLst>
          </p:cNvPr>
          <p:cNvSpPr>
            <a:spLocks noGrp="1"/>
          </p:cNvSpPr>
          <p:nvPr>
            <p:ph type="ctrTitle"/>
          </p:nvPr>
        </p:nvSpPr>
        <p:spPr/>
        <p:txBody>
          <a:bodyPr/>
          <a:lstStyle/>
          <a:p>
            <a:r>
              <a:rPr lang="en-US"/>
              <a:t>Unit – 3</a:t>
            </a:r>
            <a:br>
              <a:rPr lang="en-US"/>
            </a:br>
            <a:r>
              <a:rPr lang="en-IN"/>
              <a:t>Probability Distribution</a:t>
            </a:r>
            <a:endParaRPr lang="en-US" dirty="0"/>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a:t>Department of Humanities &amp; Science</a:t>
            </a:r>
            <a:endParaRPr lang="en-US" dirty="0"/>
          </a:p>
        </p:txBody>
      </p:sp>
      <p:sp>
        <p:nvSpPr>
          <p:cNvPr id="2" name="Text Placeholder 1">
            <a:extLst>
              <a:ext uri="{FF2B5EF4-FFF2-40B4-BE49-F238E27FC236}">
                <a16:creationId xmlns:a16="http://schemas.microsoft.com/office/drawing/2014/main" id="{F12C6FA8-76F5-4F55-873C-76674E986E27}"/>
              </a:ext>
            </a:extLst>
          </p:cNvPr>
          <p:cNvSpPr>
            <a:spLocks noGrp="1"/>
          </p:cNvSpPr>
          <p:nvPr>
            <p:ph type="body" sz="quarter" idx="16"/>
          </p:nvPr>
        </p:nvSpPr>
        <p:spPr/>
        <p:txBody>
          <a:bodyPr/>
          <a:lstStyle/>
          <a:p>
            <a:r>
              <a:rPr lang="en-IN"/>
              <a:t>Probability &amp; Statistics (PS)</a:t>
            </a:r>
          </a:p>
          <a:p>
            <a:r>
              <a:rPr lang="en-IN"/>
              <a:t>DU # 2301HS402</a:t>
            </a:r>
            <a:endParaRPr lang="en-IN" dirty="0"/>
          </a:p>
        </p:txBody>
      </p:sp>
      <p:pic>
        <p:nvPicPr>
          <p:cNvPr id="10" name="Picture Placeholder 9"/>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211251"/>
            <a:ext cx="1353599" cy="1353599"/>
          </a:xfrm>
        </p:spPr>
      </p:pic>
      <p:sp>
        <p:nvSpPr>
          <p:cNvPr id="9" name="Text Placeholder 8"/>
          <p:cNvSpPr>
            <a:spLocks noGrp="1"/>
          </p:cNvSpPr>
          <p:nvPr>
            <p:ph type="body" sz="quarter" idx="14"/>
          </p:nvPr>
        </p:nvSpPr>
        <p:spPr/>
        <p:txBody>
          <a:bodyPr vert="horz" lIns="91440" tIns="45720" rIns="91440" bIns="45720" rtlCol="0" anchor="b">
            <a:noAutofit/>
          </a:bodyPr>
          <a:lstStyle/>
          <a:p>
            <a:r>
              <a:rPr lang="en-IN" dirty="0" err="1">
                <a:gradFill flip="none" rotWithShape="1">
                  <a:gsLst>
                    <a:gs pos="10000">
                      <a:schemeClr val="accent6">
                        <a:lumMod val="50000"/>
                      </a:schemeClr>
                    </a:gs>
                    <a:gs pos="100000">
                      <a:schemeClr val="accent6"/>
                    </a:gs>
                  </a:gsLst>
                  <a:lin ang="0" scaled="1"/>
                  <a:tileRect/>
                </a:gradFill>
              </a:rPr>
              <a:t>Dr.</a:t>
            </a:r>
            <a:r>
              <a:rPr lang="en-IN" dirty="0">
                <a:gradFill flip="none" rotWithShape="1">
                  <a:gsLst>
                    <a:gs pos="10000">
                      <a:schemeClr val="accent6">
                        <a:lumMod val="50000"/>
                      </a:schemeClr>
                    </a:gs>
                    <a:gs pos="100000">
                      <a:schemeClr val="accent6"/>
                    </a:gs>
                  </a:gsLst>
                  <a:lin ang="0" scaled="1"/>
                  <a:tileRect/>
                </a:gradFill>
              </a:rPr>
              <a:t> Parag D. Ajani</a:t>
            </a:r>
          </a:p>
        </p:txBody>
      </p:sp>
      <p:sp>
        <p:nvSpPr>
          <p:cNvPr id="7" name="Text Placeholder 6"/>
          <p:cNvSpPr>
            <a:spLocks noGrp="1"/>
          </p:cNvSpPr>
          <p:nvPr>
            <p:ph type="body" sz="quarter" idx="11"/>
          </p:nvPr>
        </p:nvSpPr>
        <p:spPr/>
        <p:txBody>
          <a:bodyPr/>
          <a:lstStyle/>
          <a:p>
            <a:r>
              <a:rPr lang="en-IN" dirty="0"/>
              <a:t>parag.ajani@darshan.ac.in</a:t>
            </a:r>
          </a:p>
        </p:txBody>
      </p:sp>
      <p:sp>
        <p:nvSpPr>
          <p:cNvPr id="8" name="Text Placeholder 7"/>
          <p:cNvSpPr>
            <a:spLocks noGrp="1"/>
          </p:cNvSpPr>
          <p:nvPr>
            <p:ph type="body" sz="quarter" idx="12"/>
          </p:nvPr>
        </p:nvSpPr>
        <p:spPr/>
        <p:txBody>
          <a:bodyPr/>
          <a:lstStyle/>
          <a:p>
            <a:r>
              <a:rPr lang="en-IN" dirty="0"/>
              <a:t>9909986867</a:t>
            </a:r>
          </a:p>
        </p:txBody>
      </p:sp>
    </p:spTree>
    <p:extLst>
      <p:ext uri="{BB962C8B-B14F-4D97-AF65-F5344CB8AC3E}">
        <p14:creationId xmlns:p14="http://schemas.microsoft.com/office/powerpoint/2010/main" val="127326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2E988DA4-0944-4E8D-969E-D57D8844DC17}"/>
              </a:ext>
            </a:extLst>
          </p:cNvPr>
          <p:cNvCxnSpPr>
            <a:cxnSpLocks/>
            <a:endCxn id="15" idx="0"/>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319061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4" y="560256"/>
            <a:ext cx="5484194" cy="1785104"/>
          </a:xfrm>
          <a:prstGeom prst="rect">
            <a:avLst/>
          </a:prstGeom>
          <a:noFill/>
        </p:spPr>
        <p:txBody>
          <a:bodyPr wrap="none" rtlCol="0">
            <a:spAutoFit/>
          </a:bodyPr>
          <a:lstStyle/>
          <a:p>
            <a:r>
              <a:rPr lang="en-US" sz="2800" b="1" dirty="0">
                <a:solidFill>
                  <a:srgbClr val="FF0000"/>
                </a:solidFill>
              </a:rPr>
              <a:t>Topics of Unit 3</a:t>
            </a:r>
          </a:p>
          <a:p>
            <a:pPr marL="914400" lvl="1" indent="-457200">
              <a:lnSpc>
                <a:spcPct val="150000"/>
              </a:lnSpc>
              <a:spcBef>
                <a:spcPts val="600"/>
              </a:spcBef>
              <a:buFont typeface="Wingdings" panose="05000000000000000000" pitchFamily="2" charset="2"/>
              <a:buChar char="§"/>
            </a:pPr>
            <a:r>
              <a:rPr lang="en-GB" sz="2400" dirty="0">
                <a:solidFill>
                  <a:srgbClr val="002060"/>
                </a:solidFill>
              </a:rPr>
              <a:t>Discrete Probability Distributions</a:t>
            </a:r>
          </a:p>
          <a:p>
            <a:pPr marL="914400" lvl="1" indent="-457200">
              <a:lnSpc>
                <a:spcPct val="150000"/>
              </a:lnSpc>
              <a:spcBef>
                <a:spcPts val="600"/>
              </a:spcBef>
              <a:buFont typeface="Wingdings" panose="05000000000000000000" pitchFamily="2" charset="2"/>
              <a:buChar char="§"/>
            </a:pPr>
            <a:r>
              <a:rPr lang="en-GB" sz="2400" dirty="0">
                <a:solidFill>
                  <a:srgbClr val="002060"/>
                </a:solidFill>
              </a:rPr>
              <a:t>Continuous Probability Distributions</a:t>
            </a:r>
          </a:p>
        </p:txBody>
      </p:sp>
    </p:spTree>
    <p:extLst>
      <p:ext uri="{BB962C8B-B14F-4D97-AF65-F5344CB8AC3E}">
        <p14:creationId xmlns:p14="http://schemas.microsoft.com/office/powerpoint/2010/main" val="169285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854CD797-DE29-41C7-B2F5-D10F1D62CC82}"/>
              </a:ext>
            </a:extLst>
          </p:cNvPr>
          <p:cNvSpPr/>
          <p:nvPr/>
        </p:nvSpPr>
        <p:spPr>
          <a:xfrm>
            <a:off x="954165" y="51145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16" name="TextBox 15">
            <a:extLst>
              <a:ext uri="{FF2B5EF4-FFF2-40B4-BE49-F238E27FC236}">
                <a16:creationId xmlns:a16="http://schemas.microsoft.com/office/drawing/2014/main" id="{0CA37DD2-AB22-447A-B018-EB2E669A682A}"/>
              </a:ext>
            </a:extLst>
          </p:cNvPr>
          <p:cNvSpPr txBox="1"/>
          <p:nvPr/>
        </p:nvSpPr>
        <p:spPr>
          <a:xfrm>
            <a:off x="1527893" y="54868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17" name="Straight Connector 16">
            <a:extLst>
              <a:ext uri="{FF2B5EF4-FFF2-40B4-BE49-F238E27FC236}">
                <a16:creationId xmlns:a16="http://schemas.microsoft.com/office/drawing/2014/main" id="{4F59A2A3-AF1C-4060-BA07-51DF9E55FE5F}"/>
              </a:ext>
            </a:extLst>
          </p:cNvPr>
          <p:cNvCxnSpPr>
            <a:cxnSpLocks/>
          </p:cNvCxnSpPr>
          <p:nvPr/>
        </p:nvCxnSpPr>
        <p:spPr>
          <a:xfrm>
            <a:off x="1191446" y="986018"/>
            <a:ext cx="0" cy="52433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3DE0D8-BF47-4896-BF8F-200F546123CB}"/>
              </a:ext>
            </a:extLst>
          </p:cNvPr>
          <p:cNvSpPr txBox="1"/>
          <p:nvPr/>
        </p:nvSpPr>
        <p:spPr>
          <a:xfrm>
            <a:off x="1458964" y="560256"/>
            <a:ext cx="6021200" cy="4154984"/>
          </a:xfrm>
          <a:prstGeom prst="rect">
            <a:avLst/>
          </a:prstGeom>
          <a:noFill/>
        </p:spPr>
        <p:txBody>
          <a:bodyPr wrap="none" rtlCol="0">
            <a:spAutoFit/>
          </a:bodyPr>
          <a:lstStyle/>
          <a:p>
            <a:r>
              <a:rPr lang="en-US" sz="2800" b="1" dirty="0">
                <a:solidFill>
                  <a:srgbClr val="FF0000"/>
                </a:solidFill>
              </a:rPr>
              <a:t>Outline of Unit 3</a:t>
            </a:r>
          </a:p>
          <a:p>
            <a:pPr marL="914400" lvl="1" indent="-457200">
              <a:lnSpc>
                <a:spcPct val="150000"/>
              </a:lnSpc>
              <a:spcBef>
                <a:spcPts val="600"/>
              </a:spcBef>
              <a:buFont typeface="Wingdings" panose="05000000000000000000" pitchFamily="2" charset="2"/>
              <a:buChar char="§"/>
            </a:pPr>
            <a:r>
              <a:rPr lang="en-GB" sz="2400" dirty="0">
                <a:solidFill>
                  <a:srgbClr val="002060"/>
                </a:solidFill>
              </a:rPr>
              <a:t>Discrete Probability Distributions</a:t>
            </a:r>
          </a:p>
          <a:p>
            <a:pPr marL="1371600" lvl="2" indent="-457200">
              <a:lnSpc>
                <a:spcPct val="150000"/>
              </a:lnSpc>
              <a:spcBef>
                <a:spcPts val="600"/>
              </a:spcBef>
              <a:buFont typeface="Wingdings" panose="05000000000000000000" pitchFamily="2" charset="2"/>
              <a:buChar char="§"/>
            </a:pPr>
            <a:r>
              <a:rPr lang="en-GB" sz="2400" dirty="0">
                <a:solidFill>
                  <a:srgbClr val="002060"/>
                </a:solidFill>
              </a:rPr>
              <a:t>Method 1 – Binomial Distribution</a:t>
            </a:r>
          </a:p>
          <a:p>
            <a:pPr marL="1371600" lvl="2" indent="-457200">
              <a:lnSpc>
                <a:spcPct val="150000"/>
              </a:lnSpc>
              <a:spcBef>
                <a:spcPts val="600"/>
              </a:spcBef>
              <a:buFont typeface="Wingdings" panose="05000000000000000000" pitchFamily="2" charset="2"/>
              <a:buChar char="§"/>
            </a:pPr>
            <a:r>
              <a:rPr lang="en-GB" sz="2400" dirty="0">
                <a:solidFill>
                  <a:srgbClr val="002060"/>
                </a:solidFill>
              </a:rPr>
              <a:t>Method 2 – Poisson Distribution</a:t>
            </a:r>
          </a:p>
          <a:p>
            <a:pPr marL="914400" lvl="1" indent="-457200">
              <a:lnSpc>
                <a:spcPct val="150000"/>
              </a:lnSpc>
              <a:spcBef>
                <a:spcPts val="600"/>
              </a:spcBef>
              <a:buFont typeface="Wingdings" panose="05000000000000000000" pitchFamily="2" charset="2"/>
              <a:buChar char="§"/>
            </a:pPr>
            <a:r>
              <a:rPr lang="en-GB" sz="2400" dirty="0">
                <a:solidFill>
                  <a:srgbClr val="002060"/>
                </a:solidFill>
              </a:rPr>
              <a:t>Continuous Probability Distributions</a:t>
            </a:r>
          </a:p>
          <a:p>
            <a:pPr marL="1371600" lvl="2" indent="-457200">
              <a:lnSpc>
                <a:spcPct val="150000"/>
              </a:lnSpc>
              <a:buFont typeface="Wingdings" panose="05000000000000000000" pitchFamily="2" charset="2"/>
              <a:buChar char="§"/>
            </a:pPr>
            <a:r>
              <a:rPr lang="en-IN" sz="2400" dirty="0">
                <a:solidFill>
                  <a:srgbClr val="002060"/>
                </a:solidFill>
              </a:rPr>
              <a:t>Method 3 – Normal Distribution</a:t>
            </a:r>
            <a:r>
              <a:rPr lang="en-GB" sz="2400" dirty="0">
                <a:solidFill>
                  <a:srgbClr val="002060"/>
                </a:solidFill>
              </a:rPr>
              <a:t> </a:t>
            </a:r>
          </a:p>
          <a:p>
            <a:pPr marL="1371600" lvl="2" indent="-457200">
              <a:lnSpc>
                <a:spcPct val="150000"/>
              </a:lnSpc>
              <a:buFont typeface="Wingdings" panose="05000000000000000000" pitchFamily="2" charset="2"/>
              <a:buChar char="§"/>
            </a:pPr>
            <a:r>
              <a:rPr lang="en-GB" sz="2400" dirty="0">
                <a:solidFill>
                  <a:srgbClr val="002060"/>
                </a:solidFill>
              </a:rPr>
              <a:t>Method 4 – Exponential Distribution</a:t>
            </a:r>
          </a:p>
        </p:txBody>
      </p:sp>
      <p:cxnSp>
        <p:nvCxnSpPr>
          <p:cNvPr id="7" name="Straight Connector 6">
            <a:extLst>
              <a:ext uri="{FF2B5EF4-FFF2-40B4-BE49-F238E27FC236}">
                <a16:creationId xmlns:a16="http://schemas.microsoft.com/office/drawing/2014/main" id="{260783CB-CD6F-42CF-8BA5-118F6020C29C}"/>
              </a:ext>
            </a:extLst>
          </p:cNvPr>
          <p:cNvCxnSpPr>
            <a:cxnSpLocks/>
          </p:cNvCxnSpPr>
          <p:nvPr/>
        </p:nvCxnSpPr>
        <p:spPr>
          <a:xfrm>
            <a:off x="1191446" y="0"/>
            <a:ext cx="0" cy="5114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98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up)">
                                      <p:cBhvr>
                                        <p:cTn id="17" dur="500"/>
                                        <p:tgtEl>
                                          <p:spTgt spid="18"/>
                                        </p:tgtEl>
                                      </p:cBhvr>
                                    </p:animEffect>
                                  </p:childTnLst>
                                </p:cTn>
                              </p:par>
                              <p:par>
                                <p:cTn id="18" presetID="22" presetClass="entr" presetSubtype="1"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up)">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Introduction</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a:spcAft>
                <a:spcPts val="300"/>
              </a:spcAft>
            </a:pPr>
            <a:r>
              <a:rPr lang="en-US" dirty="0"/>
              <a:t>In this chapter we shall study some of the probability distribution that figure most prominently in statistical theory and application. We shall also study their parameters. We shall introduce number of discrete probability distribution that have been successfully applied in a wide variety of decision situations. </a:t>
            </a:r>
            <a:r>
              <a:rPr lang="en-GB" dirty="0"/>
              <a:t> </a:t>
            </a:r>
          </a:p>
          <a:p>
            <a:pPr marL="0" indent="0">
              <a:spcAft>
                <a:spcPts val="300"/>
              </a:spcAft>
              <a:buNone/>
            </a:pPr>
            <a:endParaRPr lang="en-GB" dirty="0"/>
          </a:p>
          <a:p>
            <a:pPr>
              <a:spcAft>
                <a:spcPts val="300"/>
              </a:spcAft>
            </a:pPr>
            <a:r>
              <a:rPr lang="en-US" dirty="0"/>
              <a:t>The purpose of this chapter is to show the types of situations in which these distributions can be applied.</a:t>
            </a:r>
            <a:endParaRPr lang="en-GB" dirty="0"/>
          </a:p>
        </p:txBody>
      </p:sp>
    </p:spTree>
    <p:extLst>
      <p:ext uri="{BB962C8B-B14F-4D97-AF65-F5344CB8AC3E}">
        <p14:creationId xmlns:p14="http://schemas.microsoft.com/office/powerpoint/2010/main" val="24493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Introduction</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a:spcAft>
                <a:spcPts val="300"/>
              </a:spcAft>
            </a:pPr>
            <a:r>
              <a:rPr lang="en-US" dirty="0"/>
              <a:t>Probability function of discrete random variable is known as </a:t>
            </a:r>
            <a:r>
              <a:rPr lang="en-US" dirty="0">
                <a:solidFill>
                  <a:srgbClr val="FF0000"/>
                </a:solidFill>
              </a:rPr>
              <a:t>probability mass function (P.M.F.)</a:t>
            </a:r>
            <a:r>
              <a:rPr lang="en-US" dirty="0"/>
              <a:t> and probability function of continuous random variable is known as </a:t>
            </a:r>
            <a:r>
              <a:rPr lang="en-US" dirty="0">
                <a:solidFill>
                  <a:srgbClr val="FF0000"/>
                </a:solidFill>
              </a:rPr>
              <a:t>probability density function (P.D.F.).</a:t>
            </a:r>
            <a:endParaRPr lang="en-GB" dirty="0">
              <a:solidFill>
                <a:srgbClr val="FF0000"/>
              </a:solidFill>
            </a:endParaRPr>
          </a:p>
          <a:p>
            <a:pPr lvl="0"/>
            <a:r>
              <a:rPr lang="en-US" dirty="0"/>
              <a:t>Some special probability distributions:</a:t>
            </a:r>
            <a:endParaRPr lang="en-IN" dirty="0"/>
          </a:p>
          <a:p>
            <a:pPr marL="0" lvl="0" indent="0">
              <a:buNone/>
            </a:pPr>
            <a:r>
              <a:rPr lang="en-US" dirty="0"/>
              <a:t>	(1) Binomial distribution (P.M.F.)</a:t>
            </a:r>
            <a:endParaRPr lang="en-IN" dirty="0"/>
          </a:p>
          <a:p>
            <a:pPr marL="0" lvl="0" indent="0">
              <a:buNone/>
            </a:pPr>
            <a:r>
              <a:rPr lang="en-US" dirty="0"/>
              <a:t>	(2) Poisson distribution (P.M.F.)</a:t>
            </a:r>
            <a:endParaRPr lang="en-IN" dirty="0"/>
          </a:p>
          <a:p>
            <a:pPr marL="0" lvl="0" indent="0">
              <a:buNone/>
            </a:pPr>
            <a:r>
              <a:rPr lang="en-US" dirty="0"/>
              <a:t>	(3) Normal distribution (P.D.F.)</a:t>
            </a:r>
            <a:endParaRPr lang="en-IN" dirty="0"/>
          </a:p>
          <a:p>
            <a:pPr marL="0" indent="0">
              <a:buNone/>
            </a:pPr>
            <a:r>
              <a:rPr lang="en-US" dirty="0"/>
              <a:t>	(4) Exponential distribution (P.D.F.)</a:t>
            </a:r>
            <a:endParaRPr lang="en-GB" dirty="0"/>
          </a:p>
        </p:txBody>
      </p:sp>
    </p:spTree>
    <p:extLst>
      <p:ext uri="{BB962C8B-B14F-4D97-AF65-F5344CB8AC3E}">
        <p14:creationId xmlns:p14="http://schemas.microsoft.com/office/powerpoint/2010/main" val="324002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1</a:t>
            </a:r>
            <a:br>
              <a:rPr lang="en-IN" dirty="0"/>
            </a:br>
            <a:r>
              <a:rPr lang="en-IN" dirty="0"/>
              <a:t>Binomial Distribution</a:t>
            </a:r>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79039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Bernoulli Trials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Suppose a random experiment has two possible outcomes, which are </a:t>
                </a:r>
                <a:endParaRPr lang="en-IN" dirty="0"/>
              </a:p>
              <a:p>
                <a:pPr marL="0" lvl="0" indent="0">
                  <a:buNone/>
                </a:pPr>
                <a:r>
                  <a:rPr lang="en-US" dirty="0"/>
                  <a:t>	(1) Success (S)</a:t>
                </a:r>
                <a:endParaRPr lang="en-IN" dirty="0"/>
              </a:p>
              <a:p>
                <a:pPr marL="0" indent="0">
                  <a:buNone/>
                </a:pPr>
                <a:r>
                  <a:rPr lang="en-US" dirty="0"/>
                  <a:t>	(2) Failure (F)</a:t>
                </a:r>
              </a:p>
              <a:p>
                <a:r>
                  <a:rPr lang="en-US" dirty="0"/>
                  <a:t>If the probability </a:t>
                </a:r>
                <a14:m>
                  <m:oMath xmlns:m="http://schemas.openxmlformats.org/officeDocument/2006/math">
                    <m:r>
                      <m:rPr>
                        <m:sty m:val="p"/>
                      </m:rPr>
                      <a:rPr lang="en-US" i="0" dirty="0" smtClean="0">
                        <a:latin typeface="Cambria Math" panose="02040503050406030204" pitchFamily="18" charset="0"/>
                      </a:rPr>
                      <m:t>p</m:t>
                    </m:r>
                    <m:r>
                      <a:rPr lang="en-US" i="0" dirty="0" smtClean="0">
                        <a:latin typeface="Cambria Math" panose="02040503050406030204" pitchFamily="18" charset="0"/>
                      </a:rPr>
                      <m:t>(0&lt;</m:t>
                    </m:r>
                    <m:r>
                      <m:rPr>
                        <m:sty m:val="p"/>
                      </m:rPr>
                      <a:rPr lang="en-US" i="0" dirty="0" smtClean="0">
                        <a:latin typeface="Cambria Math" panose="02040503050406030204" pitchFamily="18" charset="0"/>
                      </a:rPr>
                      <m:t>p</m:t>
                    </m:r>
                    <m:r>
                      <a:rPr lang="en-US" i="0" dirty="0" smtClean="0">
                        <a:latin typeface="Cambria Math" panose="02040503050406030204" pitchFamily="18" charset="0"/>
                      </a:rPr>
                      <m:t>&lt;1)</m:t>
                    </m:r>
                  </m:oMath>
                </a14:m>
                <a:r>
                  <a:rPr lang="en-US" dirty="0"/>
                  <a:t> of getting success at each of the </a:t>
                </a:r>
                <a14:m>
                  <m:oMath xmlns:m="http://schemas.openxmlformats.org/officeDocument/2006/math">
                    <m:r>
                      <m:rPr>
                        <m:sty m:val="p"/>
                      </m:rPr>
                      <a:rPr lang="en-US" i="0" dirty="0" smtClean="0">
                        <a:latin typeface="Cambria Math" panose="02040503050406030204" pitchFamily="18" charset="0"/>
                      </a:rPr>
                      <m:t>n</m:t>
                    </m:r>
                  </m:oMath>
                </a14:m>
                <a:r>
                  <a:rPr lang="en-US" dirty="0"/>
                  <a:t> trials of this experiment is constant, then the trials are known as </a:t>
                </a:r>
                <a:r>
                  <a:rPr lang="en-US" dirty="0">
                    <a:solidFill>
                      <a:srgbClr val="FF0000"/>
                    </a:solidFill>
                  </a:rPr>
                  <a:t>Bernoulli trials.</a:t>
                </a:r>
                <a:endParaRPr lang="en-IN" i="1" dirty="0">
                  <a:solidFill>
                    <a:srgbClr val="FF0000"/>
                  </a:solidFill>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13141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Binomial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A </a:t>
                </a:r>
                <a:r>
                  <a:rPr lang="en-US" dirty="0">
                    <a:solidFill>
                      <a:srgbClr val="FF0000"/>
                    </a:solidFill>
                  </a:rPr>
                  <a:t>random experiment</a:t>
                </a:r>
                <a:r>
                  <a:rPr lang="en-US" dirty="0"/>
                  <a:t> consists of </a:t>
                </a:r>
                <a14:m>
                  <m:oMath xmlns:m="http://schemas.openxmlformats.org/officeDocument/2006/math">
                    <m:r>
                      <m:rPr>
                        <m:sty m:val="p"/>
                      </m:rPr>
                      <a:rPr lang="en-US" i="0" dirty="0" smtClean="0">
                        <a:latin typeface="Cambria Math" panose="02040503050406030204" pitchFamily="18" charset="0"/>
                      </a:rPr>
                      <m:t>n</m:t>
                    </m:r>
                  </m:oMath>
                </a14:m>
                <a:r>
                  <a:rPr lang="en-US" dirty="0"/>
                  <a:t> Bernoulli trials such that the trials are independent.</a:t>
                </a:r>
              </a:p>
              <a:p>
                <a:pPr lvl="0"/>
                <a:r>
                  <a:rPr lang="en-US" dirty="0"/>
                  <a:t>Each trial results in only two possible outcomes, labeled as </a:t>
                </a:r>
                <a:r>
                  <a:rPr lang="en-US" dirty="0">
                    <a:solidFill>
                      <a:srgbClr val="FF0000"/>
                    </a:solidFill>
                  </a:rPr>
                  <a:t>success</a:t>
                </a:r>
                <a:r>
                  <a:rPr lang="en-US" dirty="0"/>
                  <a:t> and </a:t>
                </a:r>
                <a:r>
                  <a:rPr lang="en-US" dirty="0">
                    <a:solidFill>
                      <a:srgbClr val="FF0000"/>
                    </a:solidFill>
                  </a:rPr>
                  <a:t>failure</a:t>
                </a:r>
                <a:r>
                  <a:rPr lang="en-US" dirty="0"/>
                  <a:t>.</a:t>
                </a:r>
                <a:endParaRPr lang="en-IN" dirty="0"/>
              </a:p>
              <a:p>
                <a:r>
                  <a:rPr lang="en-US" dirty="0"/>
                  <a:t>The probability of success in each trial remains </a:t>
                </a:r>
                <a:r>
                  <a:rPr lang="en-US" dirty="0">
                    <a:solidFill>
                      <a:srgbClr val="FF0000"/>
                    </a:solidFill>
                  </a:rPr>
                  <a:t>constant</a:t>
                </a:r>
                <a:r>
                  <a:rPr lang="en-US" dirty="0"/>
                  <a:t>.</a:t>
                </a:r>
              </a:p>
              <a:p>
                <a:r>
                  <a:rPr lang="en-US" dirty="0"/>
                  <a:t>The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that equals the number of trials that results in a success is a binomial random variable with parameters, </a:t>
                </a:r>
              </a:p>
              <a:p>
                <a:pPr marL="0" indent="0">
                  <a:buNone/>
                </a:pPr>
                <a:r>
                  <a:rPr lang="en-US" dirty="0"/>
                  <a:t>   </a:t>
                </a:r>
                <a14:m>
                  <m:oMath xmlns:m="http://schemas.openxmlformats.org/officeDocument/2006/math">
                    <m:r>
                      <a:rPr lang="en-US" i="0" dirty="0" smtClean="0">
                        <a:latin typeface="Cambria Math" panose="02040503050406030204" pitchFamily="18" charset="0"/>
                      </a:rPr>
                      <m:t>0&lt;</m:t>
                    </m:r>
                    <m:r>
                      <m:rPr>
                        <m:sty m:val="p"/>
                      </m:rPr>
                      <a:rPr lang="en-US" i="0" dirty="0" smtClean="0">
                        <a:latin typeface="Cambria Math" panose="02040503050406030204" pitchFamily="18" charset="0"/>
                      </a:rPr>
                      <m:t>p</m:t>
                    </m:r>
                    <m:r>
                      <a:rPr lang="en-US" i="0" dirty="0" smtClean="0">
                        <a:latin typeface="Cambria Math" panose="02040503050406030204" pitchFamily="18" charset="0"/>
                      </a:rPr>
                      <m:t>&lt;1,  </m:t>
                    </m:r>
                    <m:r>
                      <m:rPr>
                        <m:sty m:val="p"/>
                      </m:rPr>
                      <a:rPr lang="en-US" i="0" dirty="0" smtClean="0">
                        <a:latin typeface="Cambria Math" panose="02040503050406030204" pitchFamily="18" charset="0"/>
                      </a:rPr>
                      <m:t>q</m:t>
                    </m:r>
                    <m:r>
                      <a:rPr lang="en-US" i="0" dirty="0" smtClean="0">
                        <a:latin typeface="Cambria Math" panose="02040503050406030204" pitchFamily="18" charset="0"/>
                      </a:rPr>
                      <m:t>=1−</m:t>
                    </m:r>
                    <m:r>
                      <m:rPr>
                        <m:sty m:val="p"/>
                      </m:rPr>
                      <a:rPr lang="en-US" i="0" dirty="0" smtClean="0">
                        <a:latin typeface="Cambria Math" panose="02040503050406030204" pitchFamily="18" charset="0"/>
                      </a:rPr>
                      <m:t>p</m:t>
                    </m:r>
                  </m:oMath>
                </a14:m>
                <a:r>
                  <a:rPr lang="en-US" dirty="0"/>
                  <a:t> and    </a:t>
                </a:r>
                <a14:m>
                  <m:oMath xmlns:m="http://schemas.openxmlformats.org/officeDocument/2006/math">
                    <m:r>
                      <m:rPr>
                        <m:sty m:val="p"/>
                      </m:rPr>
                      <a:rPr lang="en-US">
                        <a:latin typeface="Cambria Math" panose="02040503050406030204" pitchFamily="18" charset="0"/>
                      </a:rPr>
                      <m:t>n</m:t>
                    </m:r>
                    <m:r>
                      <a:rPr lang="en-US">
                        <a:latin typeface="Cambria Math" panose="02040503050406030204" pitchFamily="18" charset="0"/>
                      </a:rPr>
                      <m:t>=1, 2, 3, …</m:t>
                    </m:r>
                  </m:oMath>
                </a14:m>
                <a:r>
                  <a:rPr lang="en-US" dirty="0"/>
                  <a:t>.</a:t>
                </a:r>
                <a:endParaRPr lang="en-IN" dirty="0"/>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329226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Binomial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The probability mass function of </a:t>
                </a:r>
                <a14:m>
                  <m:oMath xmlns:m="http://schemas.openxmlformats.org/officeDocument/2006/math">
                    <m:r>
                      <m:rPr>
                        <m:sty m:val="p"/>
                      </m:rPr>
                      <a:rPr lang="en-US" i="0" dirty="0" smtClean="0">
                        <a:latin typeface="Cambria Math" panose="02040503050406030204" pitchFamily="18" charset="0"/>
                      </a:rPr>
                      <m:t>X</m:t>
                    </m:r>
                  </m:oMath>
                </a14:m>
                <a:r>
                  <a:rPr lang="en-US" dirty="0"/>
                  <a:t> is</a:t>
                </a:r>
                <a:endParaRPr lang="en-IN" dirty="0"/>
              </a:p>
              <a:p>
                <a:pPr marL="0" indent="0">
                  <a:buNone/>
                </a:pPr>
                <a14:m>
                  <m:oMathPara xmlns:m="http://schemas.openxmlformats.org/officeDocument/2006/math">
                    <m:oMathParaPr>
                      <m:jc m:val="centerGroup"/>
                    </m:oMathParaPr>
                    <m:oMath xmlns:m="http://schemas.openxmlformats.org/officeDocument/2006/math">
                      <m:r>
                        <a:rPr lang="en-US" b="1" i="0" dirty="0" smtClean="0">
                          <a:solidFill>
                            <a:srgbClr val="FF0000"/>
                          </a:solidFill>
                          <a:latin typeface="Cambria Math" panose="02040503050406030204" pitchFamily="18" charset="0"/>
                        </a:rPr>
                        <m:t>𝐏</m:t>
                      </m:r>
                      <m:d>
                        <m:dPr>
                          <m:ctrlPr>
                            <a:rPr lang="en-IN" b="1" i="1" dirty="0" smtClean="0">
                              <a:solidFill>
                                <a:srgbClr val="FF0000"/>
                              </a:solidFill>
                              <a:latin typeface="Cambria Math" panose="02040503050406030204" pitchFamily="18" charset="0"/>
                            </a:rPr>
                          </m:ctrlPr>
                        </m:dPr>
                        <m:e>
                          <m:r>
                            <a:rPr lang="en-US" b="1" i="0" dirty="0">
                              <a:solidFill>
                                <a:srgbClr val="FF0000"/>
                              </a:solidFill>
                              <a:latin typeface="Cambria Math" panose="02040503050406030204" pitchFamily="18" charset="0"/>
                            </a:rPr>
                            <m:t>𝐗</m:t>
                          </m:r>
                          <m:r>
                            <a:rPr lang="en-US" b="1" i="0" dirty="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𝐱</m:t>
                          </m:r>
                        </m:e>
                      </m:d>
                      <m:r>
                        <a:rPr lang="en-US" b="1" i="0" dirty="0" smtClean="0">
                          <a:solidFill>
                            <a:srgbClr val="FF0000"/>
                          </a:solidFill>
                          <a:latin typeface="Cambria Math" panose="02040503050406030204" pitchFamily="18" charset="0"/>
                        </a:rPr>
                        <m:t>=</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 </m:t>
                          </m:r>
                          <m:f>
                            <m:fPr>
                              <m:type m:val="noBar"/>
                              <m:ctrlPr>
                                <a:rPr lang="en-IN" b="1" i="1">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𝐧</m:t>
                              </m:r>
                            </m:num>
                            <m:den>
                              <m:r>
                                <a:rPr lang="en-IN" b="1" i="0" smtClean="0">
                                  <a:solidFill>
                                    <a:srgbClr val="FF0000"/>
                                  </a:solidFill>
                                  <a:latin typeface="Cambria Math" panose="02040503050406030204" pitchFamily="18" charset="0"/>
                                </a:rPr>
                                <m:t>𝐱</m:t>
                              </m:r>
                            </m:den>
                          </m:f>
                          <m:r>
                            <a:rPr lang="en-US" b="1" i="1">
                              <a:solidFill>
                                <a:srgbClr val="FF0000"/>
                              </a:solidFill>
                              <a:latin typeface="Cambria Math" panose="02040503050406030204" pitchFamily="18" charset="0"/>
                            </a:rPr>
                            <m:t> </m:t>
                          </m:r>
                        </m:e>
                      </m:d>
                      <m:sSup>
                        <m:sSupPr>
                          <m:ctrlPr>
                            <a:rPr lang="en-IN" b="1" i="1" dirty="0" smtClean="0">
                              <a:solidFill>
                                <a:srgbClr val="FF0000"/>
                              </a:solidFill>
                              <a:latin typeface="Cambria Math" panose="02040503050406030204" pitchFamily="18" charset="0"/>
                            </a:rPr>
                          </m:ctrlPr>
                        </m:sSupPr>
                        <m:e>
                          <m:r>
                            <a:rPr lang="en-US" b="1" i="0" dirty="0" smtClean="0">
                              <a:solidFill>
                                <a:srgbClr val="FF0000"/>
                              </a:solidFill>
                              <a:latin typeface="Cambria Math" panose="02040503050406030204" pitchFamily="18" charset="0"/>
                            </a:rPr>
                            <m:t>𝐩</m:t>
                          </m:r>
                        </m:e>
                        <m:sup>
                          <m:r>
                            <a:rPr lang="en-US" b="1" i="0" dirty="0" smtClean="0">
                              <a:solidFill>
                                <a:srgbClr val="FF0000"/>
                              </a:solidFill>
                              <a:latin typeface="Cambria Math" panose="02040503050406030204" pitchFamily="18" charset="0"/>
                            </a:rPr>
                            <m:t>𝐱</m:t>
                          </m:r>
                        </m:sup>
                      </m:sSup>
                      <m:r>
                        <a:rPr lang="en-US" b="1" i="0" dirty="0" smtClean="0">
                          <a:solidFill>
                            <a:srgbClr val="FF0000"/>
                          </a:solidFill>
                          <a:latin typeface="Cambria Math" panose="02040503050406030204" pitchFamily="18" charset="0"/>
                        </a:rPr>
                        <m:t> </m:t>
                      </m:r>
                      <m:sSup>
                        <m:sSupPr>
                          <m:ctrlPr>
                            <a:rPr lang="en-IN" b="1" i="1" dirty="0" smtClean="0">
                              <a:solidFill>
                                <a:srgbClr val="FF0000"/>
                              </a:solidFill>
                              <a:latin typeface="Cambria Math" panose="02040503050406030204" pitchFamily="18" charset="0"/>
                            </a:rPr>
                          </m:ctrlPr>
                        </m:sSupPr>
                        <m:e>
                          <m:r>
                            <a:rPr lang="en-US" b="1" i="0" dirty="0" smtClean="0">
                              <a:solidFill>
                                <a:srgbClr val="FF0000"/>
                              </a:solidFill>
                              <a:latin typeface="Cambria Math" panose="02040503050406030204" pitchFamily="18" charset="0"/>
                            </a:rPr>
                            <m:t>𝐪</m:t>
                          </m:r>
                        </m:e>
                        <m:sup>
                          <m:r>
                            <a:rPr lang="en-US" b="1" i="0" dirty="0" smtClean="0">
                              <a:solidFill>
                                <a:srgbClr val="FF0000"/>
                              </a:solidFill>
                              <a:latin typeface="Cambria Math" panose="02040503050406030204" pitchFamily="18" charset="0"/>
                            </a:rPr>
                            <m:t>𝐧</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𝐱</m:t>
                          </m:r>
                        </m:sup>
                      </m:sSup>
                      <m:r>
                        <a:rPr lang="en-US" b="1" i="0" dirty="0" smtClean="0">
                          <a:solidFill>
                            <a:srgbClr val="FF0000"/>
                          </a:solidFill>
                          <a:latin typeface="Cambria Math" panose="02040503050406030204" pitchFamily="18" charset="0"/>
                        </a:rPr>
                        <m:t> </m:t>
                      </m:r>
                      <m:r>
                        <a:rPr lang="en-IN" b="1" i="0" dirty="0" smtClean="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𝐱</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𝟎</m:t>
                      </m:r>
                      <m:r>
                        <a:rPr lang="en-US" b="1" i="0" dirty="0" smtClean="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𝟏</m:t>
                      </m:r>
                      <m:r>
                        <a:rPr lang="en-US" b="1" i="0" dirty="0" smtClean="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𝟐</m:t>
                      </m:r>
                      <m:r>
                        <a:rPr lang="en-US" b="1" i="0" dirty="0" smtClean="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𝐧</m:t>
                      </m:r>
                    </m:oMath>
                  </m:oMathPara>
                </a14:m>
                <a:endParaRPr lang="en-IN" b="1" dirty="0">
                  <a:solidFill>
                    <a:srgbClr val="FF0000"/>
                  </a:solidFill>
                </a:endParaRPr>
              </a:p>
              <a:p>
                <a:pPr lvl="0"/>
                <a:r>
                  <a:rPr lang="en-US" b="1" dirty="0">
                    <a:solidFill>
                      <a:schemeClr val="accent5">
                        <a:lumMod val="50000"/>
                      </a:schemeClr>
                    </a:solidFill>
                  </a:rPr>
                  <a:t>For Examples:</a:t>
                </a:r>
                <a:endParaRPr lang="en-IN" b="1" dirty="0">
                  <a:solidFill>
                    <a:schemeClr val="accent5">
                      <a:lumMod val="50000"/>
                    </a:schemeClr>
                  </a:solidFill>
                </a:endParaRPr>
              </a:p>
              <a:p>
                <a:pPr marL="544512" lvl="1" indent="0">
                  <a:buNone/>
                </a:pPr>
                <a:r>
                  <a:rPr lang="en-US" dirty="0">
                    <a:solidFill>
                      <a:srgbClr val="002060"/>
                    </a:solidFill>
                  </a:rPr>
                  <a:t>(1) Number of defective bolts in a box containing </a:t>
                </a:r>
                <a14:m>
                  <m:oMath xmlns:m="http://schemas.openxmlformats.org/officeDocument/2006/math">
                    <m:r>
                      <m:rPr>
                        <m:sty m:val="p"/>
                      </m:rPr>
                      <a:rPr lang="en-US" i="0" dirty="0" smtClean="0">
                        <a:solidFill>
                          <a:srgbClr val="002060"/>
                        </a:solidFill>
                        <a:latin typeface="Cambria Math" panose="02040503050406030204" pitchFamily="18" charset="0"/>
                      </a:rPr>
                      <m:t>n</m:t>
                    </m:r>
                  </m:oMath>
                </a14:m>
                <a:r>
                  <a:rPr lang="en-US" dirty="0">
                    <a:solidFill>
                      <a:srgbClr val="002060"/>
                    </a:solidFill>
                  </a:rPr>
                  <a:t> bolts.</a:t>
                </a:r>
                <a:endParaRPr lang="en-IN" dirty="0">
                  <a:solidFill>
                    <a:srgbClr val="002060"/>
                  </a:solidFill>
                </a:endParaRPr>
              </a:p>
              <a:p>
                <a:pPr marL="544512" lvl="1" indent="0" algn="l">
                  <a:buNone/>
                </a:pPr>
                <a:r>
                  <a:rPr lang="en-US" dirty="0">
                    <a:solidFill>
                      <a:srgbClr val="002060"/>
                    </a:solidFill>
                  </a:rPr>
                  <a:t>(2) Number of post-graduates in a group of </a:t>
                </a:r>
                <a14:m>
                  <m:oMath xmlns:m="http://schemas.openxmlformats.org/officeDocument/2006/math">
                    <m:r>
                      <m:rPr>
                        <m:sty m:val="p"/>
                      </m:rPr>
                      <a:rPr lang="en-US" i="0" dirty="0" smtClean="0">
                        <a:solidFill>
                          <a:srgbClr val="002060"/>
                        </a:solidFill>
                        <a:latin typeface="Cambria Math" panose="02040503050406030204" pitchFamily="18" charset="0"/>
                      </a:rPr>
                      <m:t>n</m:t>
                    </m:r>
                  </m:oMath>
                </a14:m>
                <a:r>
                  <a:rPr lang="en-US" dirty="0">
                    <a:solidFill>
                      <a:srgbClr val="002060"/>
                    </a:solidFill>
                  </a:rPr>
                  <a:t> people.</a:t>
                </a:r>
                <a:endParaRPr lang="en-IN" dirty="0">
                  <a:solidFill>
                    <a:srgbClr val="002060"/>
                  </a:solidFill>
                </a:endParaRPr>
              </a:p>
              <a:p>
                <a:pPr marL="544512" lvl="1" indent="0" algn="l">
                  <a:buNone/>
                </a:pPr>
                <a:r>
                  <a:rPr lang="en-US" dirty="0">
                    <a:solidFill>
                      <a:srgbClr val="002060"/>
                    </a:solidFill>
                  </a:rPr>
                  <a:t>(3) Number of oil wells yielding natural gas in a group of </a:t>
                </a:r>
                <a14:m>
                  <m:oMath xmlns:m="http://schemas.openxmlformats.org/officeDocument/2006/math">
                    <m:r>
                      <m:rPr>
                        <m:sty m:val="p"/>
                      </m:rPr>
                      <a:rPr lang="en-US" i="0" dirty="0" smtClean="0">
                        <a:solidFill>
                          <a:srgbClr val="002060"/>
                        </a:solidFill>
                        <a:latin typeface="Cambria Math" panose="02040503050406030204" pitchFamily="18" charset="0"/>
                      </a:rPr>
                      <m:t>n</m:t>
                    </m:r>
                  </m:oMath>
                </a14:m>
                <a:r>
                  <a:rPr lang="en-US" dirty="0">
                    <a:solidFill>
                      <a:srgbClr val="002060"/>
                    </a:solidFill>
                  </a:rPr>
                  <a:t> wells test drilled.</a:t>
                </a:r>
                <a:endParaRPr lang="en-IN" dirty="0">
                  <a:solidFill>
                    <a:srgbClr val="002060"/>
                  </a:solidFill>
                </a:endParaRPr>
              </a:p>
              <a:p>
                <a:pPr marL="544512" lvl="1" indent="0" algn="l">
                  <a:buNone/>
                </a:pPr>
                <a:r>
                  <a:rPr lang="en-US" dirty="0">
                    <a:solidFill>
                      <a:srgbClr val="002060"/>
                    </a:solidFill>
                  </a:rPr>
                  <a:t>(4) In the next </a:t>
                </a:r>
                <a14:m>
                  <m:oMath xmlns:m="http://schemas.openxmlformats.org/officeDocument/2006/math">
                    <m:r>
                      <a:rPr lang="en-US" i="0" dirty="0" smtClean="0">
                        <a:solidFill>
                          <a:srgbClr val="002060"/>
                        </a:solidFill>
                        <a:latin typeface="Cambria Math" panose="02040503050406030204" pitchFamily="18" charset="0"/>
                      </a:rPr>
                      <m:t>20</m:t>
                    </m:r>
                  </m:oMath>
                </a14:m>
                <a:r>
                  <a:rPr lang="en-US" dirty="0">
                    <a:solidFill>
                      <a:srgbClr val="002060"/>
                    </a:solidFill>
                  </a:rPr>
                  <a:t> births at a hospital. Let </a:t>
                </a:r>
                <a14:m>
                  <m:oMath xmlns:m="http://schemas.openxmlformats.org/officeDocument/2006/math">
                    <m:r>
                      <m:rPr>
                        <m:sty m:val="p"/>
                      </m:rPr>
                      <a:rPr lang="en-US" i="0" dirty="0" smtClean="0">
                        <a:solidFill>
                          <a:srgbClr val="002060"/>
                        </a:solidFill>
                        <a:latin typeface="Cambria Math" panose="02040503050406030204" pitchFamily="18" charset="0"/>
                      </a:rPr>
                      <m:t>X</m:t>
                    </m:r>
                  </m:oMath>
                </a14:m>
                <a:r>
                  <a:rPr lang="en-US" dirty="0">
                    <a:solidFill>
                      <a:srgbClr val="002060"/>
                    </a:solidFill>
                  </a:rPr>
                  <a:t> = the number of female births.</a:t>
                </a:r>
                <a:endParaRPr lang="en-IN" dirty="0">
                  <a:solidFill>
                    <a:srgbClr val="002060"/>
                  </a:solidFill>
                </a:endParaRPr>
              </a:p>
              <a:p>
                <a:pPr marL="544512" lvl="1" indent="0" algn="l">
                  <a:buNone/>
                </a:pPr>
                <a:r>
                  <a:rPr lang="en-US" dirty="0">
                    <a:solidFill>
                      <a:srgbClr val="002060"/>
                    </a:solidFill>
                  </a:rPr>
                  <a:t>(5) Flip a coin </a:t>
                </a:r>
                <a14:m>
                  <m:oMath xmlns:m="http://schemas.openxmlformats.org/officeDocument/2006/math">
                    <m:r>
                      <a:rPr lang="en-US" i="0" dirty="0" smtClean="0">
                        <a:solidFill>
                          <a:srgbClr val="002060"/>
                        </a:solidFill>
                        <a:latin typeface="Cambria Math" panose="02040503050406030204" pitchFamily="18" charset="0"/>
                      </a:rPr>
                      <m:t>10</m:t>
                    </m:r>
                  </m:oMath>
                </a14:m>
                <a:r>
                  <a:rPr lang="en-US" dirty="0">
                    <a:solidFill>
                      <a:srgbClr val="002060"/>
                    </a:solidFill>
                  </a:rPr>
                  <a:t> times. Let </a:t>
                </a:r>
                <a14:m>
                  <m:oMath xmlns:m="http://schemas.openxmlformats.org/officeDocument/2006/math">
                    <m:r>
                      <m:rPr>
                        <m:sty m:val="p"/>
                      </m:rPr>
                      <a:rPr lang="en-US" i="0" dirty="0" smtClean="0">
                        <a:solidFill>
                          <a:srgbClr val="002060"/>
                        </a:solidFill>
                        <a:latin typeface="Cambria Math" panose="02040503050406030204" pitchFamily="18" charset="0"/>
                      </a:rPr>
                      <m:t>X</m:t>
                    </m:r>
                  </m:oMath>
                </a14:m>
                <a:r>
                  <a:rPr lang="en-US" dirty="0">
                    <a:solidFill>
                      <a:srgbClr val="002060"/>
                    </a:solidFill>
                  </a:rPr>
                  <a:t> = number of heads obtained.</a:t>
                </a:r>
                <a:endParaRPr lang="en-IN" dirty="0">
                  <a:solidFill>
                    <a:srgbClr val="002060"/>
                  </a:solidFill>
                </a:endParaRPr>
              </a:p>
              <a:p>
                <a:pPr marL="544512" lvl="1" indent="0">
                  <a:buNone/>
                </a:pPr>
                <a:endParaRPr lang="en-US" dirty="0">
                  <a:solidFill>
                    <a:srgbClr val="FF0000"/>
                  </a:solidFill>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blipFill rotWithShape="0">
                <a:blip r:embed="rId2"/>
                <a:stretch>
                  <a:fillRect l="-971" b="-3272"/>
                </a:stretch>
              </a:blipFill>
            </p:spPr>
            <p:txBody>
              <a:bodyPr/>
              <a:lstStyle/>
              <a:p>
                <a:r>
                  <a:rPr lang="en-IN">
                    <a:noFill/>
                  </a:rPr>
                  <a:t> </a:t>
                </a:r>
              </a:p>
            </p:txBody>
          </p:sp>
        </mc:Fallback>
      </mc:AlternateContent>
    </p:spTree>
    <p:extLst>
      <p:ext uri="{BB962C8B-B14F-4D97-AF65-F5344CB8AC3E}">
        <p14:creationId xmlns:p14="http://schemas.microsoft.com/office/powerpoint/2010/main" val="39648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Properties of Binomial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0" y="863444"/>
                <a:ext cx="11929641" cy="5590565"/>
              </a:xfrm>
            </p:spPr>
            <p:txBody>
              <a:bodyPr/>
              <a:lstStyle/>
              <a:p>
                <a:pPr lvl="0"/>
                <a:r>
                  <a:rPr lang="en-US" dirty="0"/>
                  <a:t>The </a:t>
                </a:r>
                <a:r>
                  <a:rPr lang="en-US" dirty="0">
                    <a:solidFill>
                      <a:srgbClr val="FF0000"/>
                    </a:solidFill>
                  </a:rPr>
                  <a:t>mean</a:t>
                </a:r>
                <a:r>
                  <a:rPr lang="en-US" dirty="0"/>
                  <a:t> of binomial distribution is defined as</a:t>
                </a:r>
                <a14:m>
                  <m:oMath xmlns:m="http://schemas.openxmlformats.org/officeDocument/2006/math">
                    <m:r>
                      <a:rPr lang="en-US">
                        <a:latin typeface="Cambria Math" panose="02040503050406030204" pitchFamily="18" charset="0"/>
                      </a:rPr>
                      <m:t> </m:t>
                    </m:r>
                    <m:r>
                      <m:rPr>
                        <m:sty m:val="p"/>
                      </m:rPr>
                      <a:rPr lang="en-US" i="0" dirty="0" smtClean="0">
                        <a:latin typeface="Cambria Math" panose="02040503050406030204" pitchFamily="18" charset="0"/>
                      </a:rPr>
                      <m:t>μ</m:t>
                    </m:r>
                    <m:r>
                      <a:rPr lang="en-US" i="0" dirty="0" smtClean="0">
                        <a:latin typeface="Cambria Math" panose="02040503050406030204" pitchFamily="18" charset="0"/>
                      </a:rPr>
                      <m:t>=</m:t>
                    </m:r>
                    <m:r>
                      <m:rPr>
                        <m:sty m:val="p"/>
                      </m:rPr>
                      <a:rPr lang="en-US" i="0" dirty="0" smtClean="0">
                        <a:latin typeface="Cambria Math" panose="02040503050406030204" pitchFamily="18" charset="0"/>
                      </a:rPr>
                      <m:t>E</m:t>
                    </m:r>
                    <m:r>
                      <a:rPr lang="en-IN" i="0" dirty="0" smtClean="0">
                        <a:latin typeface="Cambria Math" panose="02040503050406030204" pitchFamily="18" charset="0"/>
                      </a:rPr>
                      <m:t>(</m:t>
                    </m:r>
                    <m:r>
                      <m:rPr>
                        <m:sty m:val="p"/>
                      </m:rPr>
                      <a:rPr lang="en-US" i="0" dirty="0">
                        <a:latin typeface="Cambria Math" panose="02040503050406030204" pitchFamily="18" charset="0"/>
                      </a:rPr>
                      <m:t>X</m:t>
                    </m:r>
                    <m:r>
                      <a:rPr lang="en-US" i="0" dirty="0">
                        <a:latin typeface="Cambria Math" panose="02040503050406030204" pitchFamily="18" charset="0"/>
                      </a:rPr>
                      <m:t>)=</m:t>
                    </m:r>
                    <m:r>
                      <m:rPr>
                        <m:sty m:val="p"/>
                      </m:rPr>
                      <a:rPr lang="en-US" i="0" dirty="0" err="1" smtClean="0">
                        <a:latin typeface="Cambria Math" panose="02040503050406030204" pitchFamily="18" charset="0"/>
                      </a:rPr>
                      <m:t>np</m:t>
                    </m:r>
                  </m:oMath>
                </a14:m>
                <a:r>
                  <a:rPr lang="en-US" b="1" dirty="0"/>
                  <a:t>.</a:t>
                </a:r>
                <a:endParaRPr lang="en-IN" dirty="0"/>
              </a:p>
              <a:p>
                <a:pPr lvl="0"/>
                <a:r>
                  <a:rPr lang="en-US" dirty="0"/>
                  <a:t>The </a:t>
                </a:r>
                <a:r>
                  <a:rPr lang="en-US" dirty="0">
                    <a:solidFill>
                      <a:srgbClr val="FF0000"/>
                    </a:solidFill>
                  </a:rPr>
                  <a:t>variance</a:t>
                </a:r>
                <a:r>
                  <a:rPr lang="en-US" dirty="0"/>
                  <a:t> of binomial distribution is defined as </a:t>
                </a:r>
                <a14:m>
                  <m:oMath xmlns:m="http://schemas.openxmlformats.org/officeDocument/2006/math">
                    <m:r>
                      <m:rPr>
                        <m:sty m:val="p"/>
                      </m:rPr>
                      <a:rPr lang="en-US" i="0" dirty="0" smtClean="0">
                        <a:latin typeface="Cambria Math" panose="02040503050406030204" pitchFamily="18" charset="0"/>
                      </a:rPr>
                      <m:t>V</m:t>
                    </m:r>
                    <m:r>
                      <a:rPr lang="en-IN" i="0" dirty="0" smtClean="0">
                        <a:latin typeface="Cambria Math" panose="02040503050406030204" pitchFamily="18" charset="0"/>
                      </a:rPr>
                      <m:t>(</m:t>
                    </m:r>
                    <m:r>
                      <m:rPr>
                        <m:sty m:val="p"/>
                      </m:rPr>
                      <a:rPr lang="en-US" i="0" dirty="0">
                        <a:latin typeface="Cambria Math" panose="02040503050406030204" pitchFamily="18" charset="0"/>
                      </a:rPr>
                      <m:t>X</m:t>
                    </m:r>
                    <m:r>
                      <a:rPr lang="en-US" i="0" dirty="0">
                        <a:latin typeface="Cambria Math" panose="02040503050406030204" pitchFamily="18" charset="0"/>
                      </a:rPr>
                      <m:t>)=</m:t>
                    </m:r>
                    <m:r>
                      <m:rPr>
                        <m:sty m:val="p"/>
                      </m:rPr>
                      <a:rPr lang="en-US" i="0" dirty="0" err="1" smtClean="0">
                        <a:latin typeface="Cambria Math" panose="02040503050406030204" pitchFamily="18" charset="0"/>
                      </a:rPr>
                      <m:t>npq</m:t>
                    </m:r>
                    <m:r>
                      <a:rPr lang="en-US">
                        <a:latin typeface="Cambria Math" panose="02040503050406030204" pitchFamily="18" charset="0"/>
                      </a:rPr>
                      <m:t>.</m:t>
                    </m:r>
                  </m:oMath>
                </a14:m>
                <a:endParaRPr lang="en-IN" dirty="0"/>
              </a:p>
              <a:p>
                <a:r>
                  <a:rPr lang="en-US" dirty="0"/>
                  <a:t>The </a:t>
                </a:r>
                <a:r>
                  <a:rPr lang="en-US" dirty="0">
                    <a:solidFill>
                      <a:srgbClr val="FF0000"/>
                    </a:solidFill>
                  </a:rPr>
                  <a:t>standard deviation</a:t>
                </a:r>
                <a:r>
                  <a:rPr lang="en-US" dirty="0"/>
                  <a:t> of binomial distribution is defined as </a:t>
                </a:r>
                <a14:m>
                  <m:oMath xmlns:m="http://schemas.openxmlformats.org/officeDocument/2006/math">
                    <m:r>
                      <m:rPr>
                        <m:sty m:val="p"/>
                      </m:rPr>
                      <a:rPr lang="en-US" i="0" dirty="0" smtClean="0">
                        <a:latin typeface="Cambria Math" panose="02040503050406030204" pitchFamily="18" charset="0"/>
                      </a:rPr>
                      <m:t>σ</m:t>
                    </m:r>
                    <m:r>
                      <a:rPr lang="en-US" i="0" dirty="0" smtClean="0">
                        <a:latin typeface="Cambria Math" panose="02040503050406030204" pitchFamily="18" charset="0"/>
                      </a:rPr>
                      <m:t>=</m:t>
                    </m:r>
                    <m:rad>
                      <m:radPr>
                        <m:degHide m:val="on"/>
                        <m:ctrlPr>
                          <a:rPr lang="en-US" i="1" dirty="0" smtClean="0">
                            <a:latin typeface="Cambria Math" panose="02040503050406030204" pitchFamily="18" charset="0"/>
                          </a:rPr>
                        </m:ctrlPr>
                      </m:radPr>
                      <m:deg/>
                      <m:e>
                        <m:r>
                          <a:rPr lang="en-IN" b="0" i="0" dirty="0" smtClean="0">
                            <a:latin typeface="Cambria Math" panose="02040503050406030204" pitchFamily="18" charset="0"/>
                          </a:rPr>
                          <m:t>(</m:t>
                        </m:r>
                        <m:r>
                          <m:rPr>
                            <m:sty m:val="p"/>
                          </m:rPr>
                          <a:rPr lang="en-IN" b="0" i="0" dirty="0" smtClean="0">
                            <a:latin typeface="Cambria Math" panose="02040503050406030204" pitchFamily="18" charset="0"/>
                          </a:rPr>
                          <m:t>npq</m:t>
                        </m:r>
                        <m:r>
                          <a:rPr lang="en-IN" b="0" i="0" dirty="0" smtClean="0">
                            <a:latin typeface="Cambria Math" panose="02040503050406030204" pitchFamily="18" charset="0"/>
                          </a:rPr>
                          <m:t>)</m:t>
                        </m:r>
                      </m:e>
                    </m:rad>
                  </m:oMath>
                </a14:m>
                <a:r>
                  <a:rPr lang="en-US" b="1" dirty="0"/>
                  <a:t>.</a:t>
                </a:r>
                <a:endParaRPr lang="en-US" dirty="0">
                  <a:solidFill>
                    <a:srgbClr val="FF0000"/>
                  </a:solidFill>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0" y="863444"/>
                <a:ext cx="11929641" cy="5590565"/>
              </a:xfrm>
              <a:blipFill rotWithShape="0">
                <a:blip r:embed="rId2"/>
                <a:stretch>
                  <a:fillRect l="-971"/>
                </a:stretch>
              </a:blipFill>
            </p:spPr>
            <p:txBody>
              <a:bodyPr/>
              <a:lstStyle/>
              <a:p>
                <a:r>
                  <a:rPr lang="en-IN">
                    <a:noFill/>
                  </a:rPr>
                  <a:t> </a:t>
                </a:r>
              </a:p>
            </p:txBody>
          </p:sp>
        </mc:Fallback>
      </mc:AlternateContent>
    </p:spTree>
    <p:extLst>
      <p:ext uri="{BB962C8B-B14F-4D97-AF65-F5344CB8AC3E}">
        <p14:creationId xmlns:p14="http://schemas.microsoft.com/office/powerpoint/2010/main" val="95899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1</a:t>
            </a:r>
          </a:p>
        </p:txBody>
      </p:sp>
      <p:sp>
        <p:nvSpPr>
          <p:cNvPr id="3" name="Text Placeholder 2"/>
          <p:cNvSpPr>
            <a:spLocks noGrp="1"/>
          </p:cNvSpPr>
          <p:nvPr>
            <p:ph type="body" idx="1"/>
          </p:nvPr>
        </p:nvSpPr>
        <p:spPr>
          <a:xfrm>
            <a:off x="831850" y="4561050"/>
            <a:ext cx="10515600" cy="1500187"/>
          </a:xfrm>
        </p:spPr>
        <p:txBody>
          <a:bodyPr>
            <a:normAutofit/>
          </a:bodyPr>
          <a:lstStyle/>
          <a:p>
            <a:r>
              <a:rPr lang="en-US" sz="2800" dirty="0"/>
              <a:t>Binomial Distribution </a:t>
            </a:r>
          </a:p>
        </p:txBody>
      </p:sp>
    </p:spTree>
    <p:extLst>
      <p:ext uri="{BB962C8B-B14F-4D97-AF65-F5344CB8AC3E}">
        <p14:creationId xmlns:p14="http://schemas.microsoft.com/office/powerpoint/2010/main" val="2974338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19153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For the binomial distribution with </a:t>
                </a:r>
                <a14:m>
                  <m:oMath xmlns:m="http://schemas.openxmlformats.org/officeDocument/2006/math">
                    <m:r>
                      <m:rPr>
                        <m:sty m:val="p"/>
                      </m:rPr>
                      <a:rPr lang="en-US">
                        <a:latin typeface="Cambria Math" panose="02040503050406030204" pitchFamily="18" charset="0"/>
                      </a:rPr>
                      <m:t>n</m:t>
                    </m:r>
                    <m:r>
                      <a:rPr lang="en-US">
                        <a:latin typeface="Cambria Math" panose="02040503050406030204" pitchFamily="18" charset="0"/>
                      </a:rPr>
                      <m:t>=20,</m:t>
                    </m:r>
                    <m:r>
                      <m:rPr>
                        <m:sty m:val="p"/>
                      </m:rPr>
                      <a:rPr lang="en-US">
                        <a:latin typeface="Cambria Math" panose="02040503050406030204" pitchFamily="18" charset="0"/>
                      </a:rPr>
                      <m:t>p</m:t>
                    </m:r>
                    <m:r>
                      <a:rPr lang="en-US">
                        <a:latin typeface="Cambria Math" panose="02040503050406030204" pitchFamily="18" charset="0"/>
                      </a:rPr>
                      <m:t>=0.35</m:t>
                    </m:r>
                  </m:oMath>
                </a14:m>
                <a:r>
                  <a:rPr lang="en-US" dirty="0"/>
                  <a:t>. Find mean, variance and standard deviation.</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191538"/>
              </a:xfrm>
              <a:prstGeom prst="rect">
                <a:avLst/>
              </a:prstGeom>
              <a:blipFill rotWithShape="0">
                <a:blip r:embed="rId2"/>
                <a:stretch>
                  <a:fillRect l="-1074" t="-1026" r="-1074" b="-1641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1</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244768"/>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96209" y="2147038"/>
                <a:ext cx="4820705" cy="267765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Clr>
                    <a:srgbClr val="B84742"/>
                  </a:buClr>
                  <a:buNone/>
                </a:pPr>
                <a:r>
                  <a:rPr lang="en-US" dirty="0">
                    <a:solidFill>
                      <a:schemeClr val="tx2">
                        <a:lumMod val="50000"/>
                      </a:schemeClr>
                    </a:solidFill>
                  </a:rPr>
                  <a:t>Given, </a:t>
                </a:r>
                <a14:m>
                  <m:oMath xmlns:m="http://schemas.openxmlformats.org/officeDocument/2006/math">
                    <m:r>
                      <m:rPr>
                        <m:sty m:val="p"/>
                      </m:rPr>
                      <a:rPr lang="en-US" b="0" i="0" dirty="0" smtClean="0">
                        <a:solidFill>
                          <a:schemeClr val="tx2">
                            <a:lumMod val="50000"/>
                          </a:schemeClr>
                        </a:solidFill>
                        <a:latin typeface="Cambria Math" panose="02040503050406030204" pitchFamily="18" charset="0"/>
                      </a:rPr>
                      <m:t>n</m:t>
                    </m:r>
                    <m:r>
                      <a:rPr lang="en-US" b="0" i="0" dirty="0" smtClean="0">
                        <a:solidFill>
                          <a:schemeClr val="tx2">
                            <a:lumMod val="50000"/>
                          </a:schemeClr>
                        </a:solidFill>
                        <a:latin typeface="Cambria Math" panose="02040503050406030204" pitchFamily="18" charset="0"/>
                      </a:rPr>
                      <m:t>=20,</m:t>
                    </m:r>
                    <m:r>
                      <m:rPr>
                        <m:sty m:val="p"/>
                      </m:rPr>
                      <a:rPr lang="en-US" b="0" i="0" dirty="0" smtClean="0">
                        <a:solidFill>
                          <a:schemeClr val="tx2">
                            <a:lumMod val="50000"/>
                          </a:schemeClr>
                        </a:solidFill>
                        <a:latin typeface="Cambria Math" panose="02040503050406030204" pitchFamily="18" charset="0"/>
                      </a:rPr>
                      <m:t>p</m:t>
                    </m:r>
                    <m:r>
                      <a:rPr lang="en-US" b="0" i="0" dirty="0" smtClean="0">
                        <a:solidFill>
                          <a:schemeClr val="tx2">
                            <a:lumMod val="50000"/>
                          </a:schemeClr>
                        </a:solidFill>
                        <a:latin typeface="Cambria Math" panose="02040503050406030204" pitchFamily="18" charset="0"/>
                      </a:rPr>
                      <m:t>=0.35</m:t>
                    </m:r>
                  </m:oMath>
                </a14:m>
                <a:endParaRPr lang="en-IN" i="0" dirty="0">
                  <a:solidFill>
                    <a:schemeClr val="tx2">
                      <a:lumMod val="50000"/>
                    </a:schemeClr>
                  </a:solidFill>
                  <a:latin typeface="Cambria Math" panose="02040503050406030204" pitchFamily="18" charset="0"/>
                </a:endParaRPr>
              </a:p>
              <a:p>
                <a:pPr marL="0" lvl="0" indent="0" algn="l">
                  <a:lnSpc>
                    <a:spcPct val="150000"/>
                  </a:lnSpc>
                  <a:buClr>
                    <a:srgbClr val="B84742"/>
                  </a:buClr>
                  <a:buNone/>
                </a:pPr>
                <a14:m>
                  <m:oMathPara xmlns:m="http://schemas.openxmlformats.org/officeDocument/2006/math">
                    <m:oMathParaPr>
                      <m:jc m:val="left"/>
                    </m:oMathParaPr>
                    <m:oMath xmlns:m="http://schemas.openxmlformats.org/officeDocument/2006/math">
                      <m:r>
                        <m:rPr>
                          <m:sty m:val="p"/>
                        </m:rPr>
                        <a:rPr lang="en-US" b="0" i="0" dirty="0" smtClean="0">
                          <a:solidFill>
                            <a:schemeClr val="tx2">
                              <a:lumMod val="50000"/>
                            </a:schemeClr>
                          </a:solidFill>
                          <a:latin typeface="Cambria Math" panose="02040503050406030204" pitchFamily="18" charset="0"/>
                        </a:rPr>
                        <m:t>p</m:t>
                      </m:r>
                      <m:r>
                        <a:rPr lang="en-US" b="0" i="0" dirty="0" smtClean="0">
                          <a:solidFill>
                            <a:schemeClr val="tx2">
                              <a:lumMod val="50000"/>
                            </a:schemeClr>
                          </a:solidFill>
                          <a:latin typeface="Cambria Math" panose="02040503050406030204" pitchFamily="18" charset="0"/>
                        </a:rPr>
                        <m:t>=1−</m:t>
                      </m:r>
                      <m:r>
                        <m:rPr>
                          <m:sty m:val="p"/>
                        </m:rPr>
                        <a:rPr lang="en-US" b="0" i="0" dirty="0" smtClean="0">
                          <a:solidFill>
                            <a:schemeClr val="tx2">
                              <a:lumMod val="50000"/>
                            </a:schemeClr>
                          </a:solidFill>
                          <a:latin typeface="Cambria Math" panose="02040503050406030204" pitchFamily="18" charset="0"/>
                        </a:rPr>
                        <m:t>q</m:t>
                      </m:r>
                    </m:oMath>
                  </m:oMathPara>
                </a14:m>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0" i="1" smtClean="0">
                          <a:solidFill>
                            <a:schemeClr val="tx2">
                              <a:lumMod val="50000"/>
                            </a:schemeClr>
                          </a:solidFill>
                          <a:latin typeface="Cambria Math" panose="02040503050406030204" pitchFamily="18" charset="0"/>
                          <a:ea typeface="Cambria Math" panose="02040503050406030204" pitchFamily="18" charset="0"/>
                        </a:rPr>
                        <m:t>⇒</m:t>
                      </m:r>
                      <m:r>
                        <m:rPr>
                          <m:sty m:val="p"/>
                        </m:rPr>
                        <a:rPr lang="en-US" b="0" i="0" dirty="0" smtClean="0">
                          <a:solidFill>
                            <a:schemeClr val="tx2">
                              <a:lumMod val="50000"/>
                            </a:schemeClr>
                          </a:solidFill>
                          <a:latin typeface="Cambria Math" panose="02040503050406030204" pitchFamily="18" charset="0"/>
                        </a:rPr>
                        <m:t>q</m:t>
                      </m:r>
                      <m:r>
                        <a:rPr lang="en-US" b="0" i="0" dirty="0" smtClean="0">
                          <a:solidFill>
                            <a:schemeClr val="tx2">
                              <a:lumMod val="50000"/>
                            </a:schemeClr>
                          </a:solidFill>
                          <a:latin typeface="Cambria Math" panose="02040503050406030204" pitchFamily="18" charset="0"/>
                        </a:rPr>
                        <m:t>=1−</m:t>
                      </m:r>
                      <m:r>
                        <m:rPr>
                          <m:sty m:val="p"/>
                        </m:rPr>
                        <a:rPr lang="en-US" b="0" i="0" dirty="0" smtClean="0">
                          <a:solidFill>
                            <a:schemeClr val="tx2">
                              <a:lumMod val="50000"/>
                            </a:schemeClr>
                          </a:solidFill>
                          <a:latin typeface="Cambria Math" panose="02040503050406030204" pitchFamily="18" charset="0"/>
                        </a:rPr>
                        <m:t>p</m:t>
                      </m:r>
                    </m:oMath>
                  </m:oMathPara>
                </a14:m>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i="1">
                          <a:solidFill>
                            <a:schemeClr val="tx2">
                              <a:lumMod val="50000"/>
                            </a:schemeClr>
                          </a:solidFill>
                          <a:latin typeface="Cambria Math" panose="02040503050406030204" pitchFamily="18" charset="0"/>
                          <a:ea typeface="Cambria Math" panose="02040503050406030204" pitchFamily="18" charset="0"/>
                        </a:rPr>
                        <m:t>⇒</m:t>
                      </m:r>
                      <m:r>
                        <m:rPr>
                          <m:sty m:val="p"/>
                        </m:rPr>
                        <a:rPr lang="en-US" b="0" i="0" dirty="0" smtClean="0">
                          <a:solidFill>
                            <a:schemeClr val="tx2">
                              <a:lumMod val="50000"/>
                            </a:schemeClr>
                          </a:solidFill>
                          <a:latin typeface="Cambria Math" panose="02040503050406030204" pitchFamily="18" charset="0"/>
                        </a:rPr>
                        <m:t>q</m:t>
                      </m:r>
                      <m:r>
                        <a:rPr lang="en-US" b="0" i="0" dirty="0" smtClean="0">
                          <a:solidFill>
                            <a:schemeClr val="tx2">
                              <a:lumMod val="50000"/>
                            </a:schemeClr>
                          </a:solidFill>
                          <a:latin typeface="Cambria Math" panose="02040503050406030204" pitchFamily="18" charset="0"/>
                        </a:rPr>
                        <m:t>=1−0.35=0.65</m:t>
                      </m:r>
                    </m:oMath>
                  </m:oMathPara>
                </a14:m>
                <a:endParaRPr lang="en-US" b="0" dirty="0">
                  <a:solidFill>
                    <a:schemeClr val="tx2">
                      <a:lumMod val="50000"/>
                    </a:schemeClr>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96209" y="2147038"/>
                <a:ext cx="4820705" cy="2677656"/>
              </a:xfrm>
              <a:prstGeom prst="rect">
                <a:avLst/>
              </a:prstGeom>
              <a:blipFill rotWithShape="0">
                <a:blip r:embed="rId3"/>
                <a:stretch>
                  <a:fillRect l="-2528"/>
                </a:stretch>
              </a:blipFill>
            </p:spPr>
            <p:txBody>
              <a:bodyPr/>
              <a:lstStyle/>
              <a:p>
                <a:r>
                  <a:rPr lang="en-IN">
                    <a:noFill/>
                  </a:rPr>
                  <a:t> </a:t>
                </a:r>
              </a:p>
            </p:txBody>
          </p:sp>
        </mc:Fallback>
      </mc:AlternateContent>
    </p:spTree>
    <p:extLst>
      <p:ext uri="{BB962C8B-B14F-4D97-AF65-F5344CB8AC3E}">
        <p14:creationId xmlns:p14="http://schemas.microsoft.com/office/powerpoint/2010/main" val="38851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1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4820705" cy="564770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dirty="0">
                    <a:solidFill>
                      <a:schemeClr val="tx2">
                        <a:lumMod val="50000"/>
                      </a:schemeClr>
                    </a:solidFill>
                  </a:rPr>
                  <a:t>To Find mean, </a:t>
                </a:r>
                <a14:m>
                  <m:oMath xmlns:m="http://schemas.openxmlformats.org/officeDocument/2006/math">
                    <m:r>
                      <m:rPr>
                        <m:sty m:val="p"/>
                      </m:rPr>
                      <a:rPr lang="en-US" b="0" i="1">
                        <a:solidFill>
                          <a:schemeClr val="tx2">
                            <a:lumMod val="50000"/>
                          </a:schemeClr>
                        </a:solidFill>
                        <a:latin typeface="Cambria Math" panose="02040503050406030204" pitchFamily="18" charset="0"/>
                      </a:rPr>
                      <m:t>μ</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E</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np</m:t>
                    </m:r>
                  </m:oMath>
                </a14:m>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μ</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E</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35</m:t>
                      </m:r>
                      <m:r>
                        <a:rPr lang="en-US" b="0">
                          <a:solidFill>
                            <a:schemeClr val="tx2">
                              <a:lumMod val="50000"/>
                            </a:schemeClr>
                          </a:solidFill>
                          <a:latin typeface="Cambria Math" panose="02040503050406030204" pitchFamily="18" charset="0"/>
                        </a:rPr>
                        <m:t>)</m:t>
                      </m:r>
                    </m:oMath>
                  </m:oMathPara>
                </a14:m>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𝛍</m:t>
                      </m:r>
                      <m:r>
                        <a:rPr lang="en-US" b="1" i="0" smtClean="0">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𝐄</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𝟕</m:t>
                      </m:r>
                    </m:oMath>
                  </m:oMathPara>
                </a14:m>
                <a:endParaRPr lang="en-IN" b="1" dirty="0">
                  <a:solidFill>
                    <a:schemeClr val="tx2">
                      <a:lumMod val="50000"/>
                    </a:schemeClr>
                  </a:solidFill>
                </a:endParaRPr>
              </a:p>
              <a:p>
                <a:pPr marL="0" indent="0" algn="l">
                  <a:lnSpc>
                    <a:spcPct val="150000"/>
                  </a:lnSpc>
                  <a:buNone/>
                </a:pPr>
                <a:endParaRPr lang="en-IN" dirty="0">
                  <a:solidFill>
                    <a:schemeClr val="tx2">
                      <a:lumMod val="50000"/>
                    </a:schemeClr>
                  </a:solidFill>
                </a:endParaRPr>
              </a:p>
              <a:p>
                <a:pPr marL="0" indent="0" algn="l">
                  <a:lnSpc>
                    <a:spcPct val="150000"/>
                  </a:lnSpc>
                  <a:buNone/>
                </a:pPr>
                <a:r>
                  <a:rPr lang="en-US" dirty="0">
                    <a:solidFill>
                      <a:schemeClr val="tx2">
                        <a:lumMod val="50000"/>
                      </a:schemeClr>
                    </a:solidFill>
                  </a:rPr>
                  <a:t>To find variance, </a:t>
                </a:r>
                <a14:m>
                  <m:oMath xmlns:m="http://schemas.openxmlformats.org/officeDocument/2006/math">
                    <m:r>
                      <m:rPr>
                        <m:sty m:val="p"/>
                      </m:rPr>
                      <a:rPr lang="en-US">
                        <a:solidFill>
                          <a:schemeClr val="tx2">
                            <a:lumMod val="50000"/>
                          </a:schemeClr>
                        </a:solidFill>
                        <a:latin typeface="Cambria Math" panose="02040503050406030204" pitchFamily="18" charset="0"/>
                      </a:rPr>
                      <m:t>V</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npq</m:t>
                    </m:r>
                  </m:oMath>
                </a14:m>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V</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=(20)(0.35)(0.65)</m:t>
                      </m:r>
                    </m:oMath>
                  </m:oMathPara>
                </a14:m>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1" smtClean="0">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𝟒</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𝟓𝟓</m:t>
                      </m:r>
                    </m:oMath>
                  </m:oMathPara>
                </a14:m>
                <a:endParaRPr lang="en-US" b="1" dirty="0">
                  <a:solidFill>
                    <a:srgbClr val="FF0000"/>
                  </a:solidFill>
                </a:endParaRPr>
              </a:p>
              <a:p>
                <a:pPr marL="0" indent="0" algn="l">
                  <a:lnSpc>
                    <a:spcPct val="150000"/>
                  </a:lnSpc>
                  <a:buNone/>
                </a:pPr>
                <a:endParaRPr lang="en-IN" dirty="0">
                  <a:solidFill>
                    <a:schemeClr val="tx2">
                      <a:lumMod val="50000"/>
                    </a:schemeClr>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4820705" cy="5647700"/>
              </a:xfrm>
              <a:prstGeom prst="rect">
                <a:avLst/>
              </a:prstGeom>
              <a:blipFill rotWithShape="0">
                <a:blip r:embed="rId2"/>
                <a:stretch>
                  <a:fillRect l="-252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371772" y="883820"/>
                <a:ext cx="5631542" cy="2874377"/>
              </a:xfrm>
              <a:prstGeom prst="rect">
                <a:avLst/>
              </a:prstGeom>
            </p:spPr>
            <p:txBody>
              <a:bodyPr wrap="square">
                <a:spAutoFit/>
              </a:bodyPr>
              <a:lstStyle/>
              <a:p>
                <a:pPr>
                  <a:lnSpc>
                    <a:spcPct val="150000"/>
                  </a:lnSpc>
                  <a:spcBef>
                    <a:spcPts val="1000"/>
                  </a:spcBef>
                  <a:spcAft>
                    <a:spcPts val="0"/>
                  </a:spcAft>
                  <a:buClr>
                    <a:schemeClr val="accent6"/>
                  </a:buClr>
                  <a:tabLst>
                    <a:tab pos="447675" algn="l"/>
                    <a:tab pos="457200" algn="l"/>
                  </a:tabLst>
                </a:pPr>
                <a:r>
                  <a:rPr lang="en-US" sz="2800" dirty="0">
                    <a:solidFill>
                      <a:schemeClr val="tx2">
                        <a:lumMod val="50000"/>
                      </a:schemeClr>
                    </a:solidFill>
                  </a:rPr>
                  <a:t>To find standard deviation, </a:t>
                </a:r>
                <a14:m>
                  <m:oMath xmlns:m="http://schemas.openxmlformats.org/officeDocument/2006/math">
                    <m:r>
                      <m:rPr>
                        <m:sty m:val="p"/>
                      </m:rPr>
                      <a:rPr lang="en-US" sz="2800" b="0" i="1">
                        <a:solidFill>
                          <a:schemeClr val="tx2">
                            <a:lumMod val="50000"/>
                          </a:schemeClr>
                        </a:solidFill>
                        <a:latin typeface="Cambria Math" panose="02040503050406030204" pitchFamily="18" charset="0"/>
                      </a:rPr>
                      <m:t>σ</m:t>
                    </m:r>
                    <m:r>
                      <a:rPr lang="en-US" sz="2800" b="0">
                        <a:solidFill>
                          <a:schemeClr val="tx2">
                            <a:lumMod val="50000"/>
                          </a:schemeClr>
                        </a:solidFill>
                        <a:latin typeface="Cambria Math" panose="02040503050406030204" pitchFamily="18" charset="0"/>
                      </a:rPr>
                      <m:t>=</m:t>
                    </m:r>
                    <m:rad>
                      <m:radPr>
                        <m:degHide m:val="on"/>
                        <m:ctrlPr>
                          <a:rPr lang="en-IN" sz="2800" i="1">
                            <a:solidFill>
                              <a:schemeClr val="tx2">
                                <a:lumMod val="50000"/>
                              </a:schemeClr>
                            </a:solidFill>
                            <a:latin typeface="Cambria Math" panose="02040503050406030204" pitchFamily="18" charset="0"/>
                          </a:rPr>
                        </m:ctrlPr>
                      </m:radPr>
                      <m:deg/>
                      <m:e>
                        <m:r>
                          <m:rPr>
                            <m:sty m:val="p"/>
                          </m:rPr>
                          <a:rPr lang="en-US" sz="2800" b="0" i="1">
                            <a:solidFill>
                              <a:schemeClr val="tx2">
                                <a:lumMod val="50000"/>
                              </a:schemeClr>
                            </a:solidFill>
                            <a:latin typeface="Cambria Math" panose="02040503050406030204" pitchFamily="18" charset="0"/>
                          </a:rPr>
                          <m:t>npq</m:t>
                        </m:r>
                        <m:r>
                          <a:rPr lang="en-US" sz="2800" b="0">
                            <a:solidFill>
                              <a:schemeClr val="tx2">
                                <a:lumMod val="50000"/>
                              </a:schemeClr>
                            </a:solidFill>
                            <a:latin typeface="Cambria Math" panose="02040503050406030204" pitchFamily="18" charset="0"/>
                          </a:rPr>
                          <m:t> </m:t>
                        </m:r>
                      </m:e>
                    </m:rad>
                  </m:oMath>
                </a14:m>
                <a:endParaRPr lang="en-IN" sz="2800" dirty="0">
                  <a:solidFill>
                    <a:schemeClr val="tx2">
                      <a:lumMod val="50000"/>
                    </a:schemeClr>
                  </a:solidFill>
                </a:endParaRPr>
              </a:p>
              <a:p>
                <a:pPr>
                  <a:lnSpc>
                    <a:spcPct val="150000"/>
                  </a:lnSpc>
                  <a:spcBef>
                    <a:spcPts val="1000"/>
                  </a:spcBef>
                  <a:spcAft>
                    <a:spcPts val="0"/>
                  </a:spcAft>
                  <a:buClr>
                    <a:schemeClr val="accent6"/>
                  </a:buClr>
                  <a:tabLst>
                    <a:tab pos="447675" algn="l"/>
                    <a:tab pos="457200" algn="l"/>
                  </a:tabLst>
                </a:pPr>
                <a14:m>
                  <m:oMathPara xmlns:m="http://schemas.openxmlformats.org/officeDocument/2006/math">
                    <m:oMathParaPr>
                      <m:jc m:val="left"/>
                    </m:oMathParaPr>
                    <m:oMath xmlns:m="http://schemas.openxmlformats.org/officeDocument/2006/math">
                      <m:r>
                        <m:rPr>
                          <m:sty m:val="p"/>
                        </m:rPr>
                        <a:rPr lang="en-US" sz="2800" i="1">
                          <a:solidFill>
                            <a:schemeClr val="tx2">
                              <a:lumMod val="50000"/>
                            </a:schemeClr>
                          </a:solidFill>
                          <a:latin typeface="Cambria Math" panose="02040503050406030204" pitchFamily="18" charset="0"/>
                        </a:rPr>
                        <m:t>σ</m:t>
                      </m:r>
                      <m:r>
                        <a:rPr lang="en-US" sz="2800">
                          <a:solidFill>
                            <a:schemeClr val="tx2">
                              <a:lumMod val="50000"/>
                            </a:schemeClr>
                          </a:solidFill>
                          <a:latin typeface="Cambria Math" panose="02040503050406030204" pitchFamily="18" charset="0"/>
                        </a:rPr>
                        <m:t>=</m:t>
                      </m:r>
                      <m:rad>
                        <m:radPr>
                          <m:degHide m:val="on"/>
                          <m:ctrlPr>
                            <a:rPr lang="en-IN" sz="2800" i="1">
                              <a:solidFill>
                                <a:schemeClr val="tx2">
                                  <a:lumMod val="50000"/>
                                </a:schemeClr>
                              </a:solidFill>
                              <a:latin typeface="Cambria Math" panose="02040503050406030204" pitchFamily="18" charset="0"/>
                            </a:rPr>
                          </m:ctrlPr>
                        </m:radPr>
                        <m:deg/>
                        <m:e>
                          <m:r>
                            <a:rPr lang="en-IN" sz="2800" b="0" i="1" smtClean="0">
                              <a:solidFill>
                                <a:schemeClr val="tx2">
                                  <a:lumMod val="50000"/>
                                </a:schemeClr>
                              </a:solidFill>
                              <a:latin typeface="Cambria Math" panose="02040503050406030204" pitchFamily="18" charset="0"/>
                            </a:rPr>
                            <m:t>20</m:t>
                          </m:r>
                          <m:r>
                            <a:rPr lang="en-IN" sz="2800" b="0" i="1" smtClean="0">
                              <a:solidFill>
                                <a:schemeClr val="tx2">
                                  <a:lumMod val="50000"/>
                                </a:schemeClr>
                              </a:solidFill>
                              <a:latin typeface="Cambria Math" panose="02040503050406030204" pitchFamily="18" charset="0"/>
                              <a:ea typeface="Cambria Math" panose="02040503050406030204" pitchFamily="18" charset="0"/>
                            </a:rPr>
                            <m:t>×0.35×0.65</m:t>
                          </m:r>
                          <m:r>
                            <a:rPr lang="en-US" sz="2800">
                              <a:solidFill>
                                <a:schemeClr val="tx2">
                                  <a:lumMod val="50000"/>
                                </a:schemeClr>
                              </a:solidFill>
                              <a:latin typeface="Cambria Math" panose="02040503050406030204" pitchFamily="18" charset="0"/>
                            </a:rPr>
                            <m:t> </m:t>
                          </m:r>
                        </m:e>
                      </m:rad>
                    </m:oMath>
                  </m:oMathPara>
                </a14:m>
                <a:endParaRPr lang="en-IN" sz="2800" b="1" dirty="0">
                  <a:solidFill>
                    <a:schemeClr val="tx2">
                      <a:lumMod val="50000"/>
                    </a:schemeClr>
                  </a:solidFill>
                </a:endParaRPr>
              </a:p>
              <a:p>
                <a:pPr>
                  <a:lnSpc>
                    <a:spcPct val="150000"/>
                  </a:lnSpc>
                  <a:spcBef>
                    <a:spcPts val="1000"/>
                  </a:spcBef>
                  <a:spcAft>
                    <a:spcPts val="0"/>
                  </a:spcAft>
                  <a:buClr>
                    <a:schemeClr val="accent6"/>
                  </a:buClr>
                  <a:tabLst>
                    <a:tab pos="447675" algn="l"/>
                    <a:tab pos="457200" algn="l"/>
                  </a:tabLst>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rPr>
                        <m:t>σ</m:t>
                      </m:r>
                      <m:r>
                        <a:rPr lang="en-US" sz="2800" b="0">
                          <a:solidFill>
                            <a:schemeClr val="tx2">
                              <a:lumMod val="50000"/>
                            </a:schemeClr>
                          </a:solidFill>
                          <a:latin typeface="Cambria Math" panose="02040503050406030204" pitchFamily="18" charset="0"/>
                        </a:rPr>
                        <m:t>=</m:t>
                      </m:r>
                      <m:rad>
                        <m:radPr>
                          <m:degHide m:val="on"/>
                          <m:ctrlPr>
                            <a:rPr lang="en-IN" sz="2800" i="1">
                              <a:solidFill>
                                <a:schemeClr val="tx2">
                                  <a:lumMod val="50000"/>
                                </a:schemeClr>
                              </a:solidFill>
                              <a:latin typeface="Cambria Math" panose="02040503050406030204" pitchFamily="18" charset="0"/>
                            </a:rPr>
                          </m:ctrlPr>
                        </m:radPr>
                        <m:deg/>
                        <m:e>
                          <m:r>
                            <a:rPr lang="en-US" sz="2800" b="0" i="1">
                              <a:solidFill>
                                <a:schemeClr val="tx2">
                                  <a:lumMod val="50000"/>
                                </a:schemeClr>
                              </a:solidFill>
                              <a:latin typeface="Cambria Math" panose="02040503050406030204" pitchFamily="18" charset="0"/>
                            </a:rPr>
                            <m:t>4</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55</m:t>
                          </m:r>
                          <m:r>
                            <a:rPr lang="en-US" sz="2800" b="0">
                              <a:solidFill>
                                <a:schemeClr val="tx2">
                                  <a:lumMod val="50000"/>
                                </a:schemeClr>
                              </a:solidFill>
                              <a:latin typeface="Cambria Math" panose="02040503050406030204" pitchFamily="18" charset="0"/>
                            </a:rPr>
                            <m:t> </m:t>
                          </m:r>
                        </m:e>
                      </m:rad>
                    </m:oMath>
                  </m:oMathPara>
                </a14:m>
                <a:endParaRPr lang="en-IN" sz="2800" dirty="0">
                  <a:solidFill>
                    <a:schemeClr val="tx2">
                      <a:lumMod val="50000"/>
                    </a:schemeClr>
                  </a:solidFill>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𝛔</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𝟐</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𝟏𝟑𝟑𝟏</m:t>
                      </m:r>
                    </m:oMath>
                  </m:oMathPara>
                </a14:m>
                <a:endParaRPr lang="en-IN" sz="2800" b="1" dirty="0">
                  <a:solidFill>
                    <a:schemeClr val="tx2">
                      <a:lumMod val="50000"/>
                    </a:schemeClr>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6371772" y="883820"/>
                <a:ext cx="5631542" cy="2874377"/>
              </a:xfrm>
              <a:prstGeom prst="rect">
                <a:avLst/>
              </a:prstGeom>
              <a:blipFill rotWithShape="0">
                <a:blip r:embed="rId3"/>
                <a:stretch>
                  <a:fillRect l="-2165"/>
                </a:stretch>
              </a:blipFill>
            </p:spPr>
            <p:txBody>
              <a:bodyPr/>
              <a:lstStyle/>
              <a:p>
                <a:r>
                  <a:rPr lang="en-IN">
                    <a:noFill/>
                  </a:rPr>
                  <a:t> </a:t>
                </a:r>
              </a:p>
            </p:txBody>
          </p:sp>
        </mc:Fallback>
      </mc:AlternateContent>
      <p:cxnSp>
        <p:nvCxnSpPr>
          <p:cNvPr id="7" name="Straight Connector 6"/>
          <p:cNvCxnSpPr/>
          <p:nvPr/>
        </p:nvCxnSpPr>
        <p:spPr>
          <a:xfrm flipH="1">
            <a:off x="5692462" y="914399"/>
            <a:ext cx="12879" cy="551215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015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119153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Obtain the binomial distribution function for which mean is 10 and variance is 5.</a:t>
            </a:r>
            <a:endParaRPr lang="en-IN" dirty="0"/>
          </a:p>
        </p:txBody>
      </p:sp>
      <p:sp>
        <p:nvSpPr>
          <p:cNvPr id="2" name="Title 1"/>
          <p:cNvSpPr>
            <a:spLocks noGrp="1"/>
          </p:cNvSpPr>
          <p:nvPr>
            <p:ph type="title"/>
          </p:nvPr>
        </p:nvSpPr>
        <p:spPr/>
        <p:txBody>
          <a:bodyPr/>
          <a:lstStyle/>
          <a:p>
            <a:r>
              <a:rPr lang="en-GB" dirty="0"/>
              <a:t>Method 1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244768"/>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96210" y="2172796"/>
                <a:ext cx="3753248" cy="399282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dirty="0">
                    <a:solidFill>
                      <a:schemeClr val="tx2">
                        <a:lumMod val="50000"/>
                      </a:schemeClr>
                    </a:solidFill>
                  </a:rPr>
                  <a:t>Given, </a:t>
                </a:r>
                <a14:m>
                  <m:oMath xmlns:m="http://schemas.openxmlformats.org/officeDocument/2006/math">
                    <m:r>
                      <m:rPr>
                        <m:sty m:val="p"/>
                      </m:rPr>
                      <a:rPr lang="en-US">
                        <a:solidFill>
                          <a:schemeClr val="tx2">
                            <a:lumMod val="50000"/>
                          </a:schemeClr>
                        </a:solidFill>
                        <a:latin typeface="Cambria Math" panose="02040503050406030204" pitchFamily="18" charset="0"/>
                      </a:rPr>
                      <m:t>μ</m:t>
                    </m:r>
                    <m:r>
                      <a:rPr lang="en-US">
                        <a:solidFill>
                          <a:schemeClr val="tx2">
                            <a:lumMod val="50000"/>
                          </a:schemeClr>
                        </a:solidFill>
                        <a:latin typeface="Cambria Math" panose="02040503050406030204" pitchFamily="18" charset="0"/>
                      </a:rPr>
                      <m:t>=10</m:t>
                    </m:r>
                  </m:oMath>
                </a14:m>
                <a:r>
                  <a:rPr lang="en-US" dirty="0">
                    <a:solidFill>
                      <a:schemeClr val="tx2">
                        <a:lumMod val="50000"/>
                      </a:schemeClr>
                    </a:solidFill>
                  </a:rPr>
                  <a:t>, </a:t>
                </a:r>
                <a14:m>
                  <m:oMath xmlns:m="http://schemas.openxmlformats.org/officeDocument/2006/math">
                    <m:r>
                      <m:rPr>
                        <m:sty m:val="p"/>
                      </m:rPr>
                      <a:rPr lang="en-US">
                        <a:solidFill>
                          <a:schemeClr val="tx2">
                            <a:lumMod val="50000"/>
                          </a:schemeClr>
                        </a:solidFill>
                        <a:latin typeface="Cambria Math" panose="02040503050406030204" pitchFamily="18" charset="0"/>
                      </a:rPr>
                      <m:t>V</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=5</m:t>
                    </m:r>
                  </m:oMath>
                </a14:m>
                <a:endParaRPr lang="en-IN" dirty="0">
                  <a:solidFill>
                    <a:schemeClr val="tx2">
                      <a:lumMod val="50000"/>
                    </a:schemeClr>
                  </a:solidFill>
                </a:endParaRPr>
              </a:p>
              <a:p>
                <a:pPr marL="0" indent="0" algn="l">
                  <a:lnSpc>
                    <a:spcPct val="150000"/>
                  </a:lnSpc>
                  <a:buNone/>
                </a:pPr>
                <a14:m>
                  <m:oMath xmlns:m="http://schemas.openxmlformats.org/officeDocument/2006/math">
                    <m:r>
                      <m:rPr>
                        <m:sty m:val="p"/>
                      </m:rPr>
                      <a:rPr lang="en-US">
                        <a:solidFill>
                          <a:schemeClr val="tx2">
                            <a:lumMod val="50000"/>
                          </a:schemeClr>
                        </a:solidFill>
                        <a:latin typeface="Cambria Math" panose="02040503050406030204" pitchFamily="18" charset="0"/>
                      </a:rPr>
                      <m:t>μ</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np</m:t>
                    </m:r>
                    <m:r>
                      <a:rPr lang="en-US">
                        <a:solidFill>
                          <a:schemeClr val="tx2">
                            <a:lumMod val="50000"/>
                          </a:schemeClr>
                        </a:solidFill>
                        <a:latin typeface="Cambria Math" panose="02040503050406030204" pitchFamily="18" charset="0"/>
                      </a:rPr>
                      <m:t>=10</m:t>
                    </m:r>
                  </m:oMath>
                </a14:m>
                <a:r>
                  <a:rPr lang="en-US" dirty="0">
                    <a:solidFill>
                      <a:schemeClr val="tx2">
                        <a:lumMod val="50000"/>
                      </a:schemeClr>
                    </a:solidFill>
                  </a:rPr>
                  <a:t> -------- (1)</a:t>
                </a:r>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V</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npq</m:t>
                      </m:r>
                    </m:oMath>
                  </m:oMathPara>
                </a14:m>
                <a:endParaRPr lang="en-IN" dirty="0">
                  <a:solidFill>
                    <a:schemeClr val="tx2">
                      <a:lumMod val="50000"/>
                    </a:schemeClr>
                  </a:solidFill>
                </a:endParaRPr>
              </a:p>
              <a:p>
                <a:pPr marL="0" indent="0" algn="l">
                  <a:lnSpc>
                    <a:spcPct val="150000"/>
                  </a:lnSpc>
                  <a:buNone/>
                </a:pPr>
                <a14:m>
                  <m:oMath xmlns:m="http://schemas.openxmlformats.org/officeDocument/2006/math">
                    <m:r>
                      <a:rPr lang="en-US">
                        <a:solidFill>
                          <a:schemeClr val="tx2">
                            <a:lumMod val="50000"/>
                          </a:schemeClr>
                        </a:solidFill>
                        <a:latin typeface="Cambria Math" panose="02040503050406030204" pitchFamily="18" charset="0"/>
                      </a:rPr>
                      <m:t>5=</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10</m:t>
                        </m:r>
                      </m:e>
                    </m:d>
                    <m:r>
                      <m:rPr>
                        <m:sty m:val="p"/>
                      </m:rPr>
                      <a:rPr lang="en-US">
                        <a:solidFill>
                          <a:schemeClr val="tx2">
                            <a:lumMod val="50000"/>
                          </a:schemeClr>
                        </a:solidFill>
                        <a:latin typeface="Cambria Math" panose="02040503050406030204" pitchFamily="18" charset="0"/>
                      </a:rPr>
                      <m:t>q</m:t>
                    </m:r>
                  </m:oMath>
                </a14:m>
                <a:r>
                  <a:rPr lang="en-US" dirty="0">
                    <a:solidFill>
                      <a:schemeClr val="tx2">
                        <a:lumMod val="50000"/>
                      </a:schemeClr>
                    </a:solidFill>
                  </a:rPr>
                  <a:t>     (By (1))</a:t>
                </a:r>
                <a:endParaRPr lang="en-IN" dirty="0">
                  <a:solidFill>
                    <a:schemeClr val="tx2">
                      <a:lumMod val="50000"/>
                    </a:schemeClr>
                  </a:solidFill>
                </a:endParaRPr>
              </a:p>
              <a:p>
                <a:pPr marL="0" indent="0" algn="l">
                  <a:lnSpc>
                    <a:spcPct val="150000"/>
                  </a:lnSpc>
                  <a:buNone/>
                </a:pPr>
                <a14:m>
                  <m:oMath xmlns:m="http://schemas.openxmlformats.org/officeDocument/2006/math">
                    <m:r>
                      <a:rPr lang="en-US" b="1" i="1" smtClean="0">
                        <a:solidFill>
                          <a:srgbClr val="FF0000"/>
                        </a:solidFill>
                        <a:latin typeface="Cambria Math" panose="02040503050406030204" pitchFamily="18" charset="0"/>
                      </a:rPr>
                      <m:t>𝐪</m:t>
                    </m:r>
                    <m:r>
                      <a:rPr lang="en-US" b="1">
                        <a:solidFill>
                          <a:srgbClr val="FF0000"/>
                        </a:solidFill>
                        <a:latin typeface="Cambria Math" panose="02040503050406030204" pitchFamily="18" charset="0"/>
                      </a:rPr>
                      <m:t>=</m:t>
                    </m:r>
                    <m:f>
                      <m:fPr>
                        <m:ctrlPr>
                          <a:rPr lang="en-IN" b="1" i="1">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𝟏</m:t>
                        </m:r>
                      </m:num>
                      <m:den>
                        <m:r>
                          <a:rPr lang="en-US" b="1" i="1">
                            <a:solidFill>
                              <a:srgbClr val="FF0000"/>
                            </a:solidFill>
                            <a:latin typeface="Cambria Math" panose="02040503050406030204" pitchFamily="18" charset="0"/>
                          </a:rPr>
                          <m:t>𝟐</m:t>
                        </m:r>
                      </m:den>
                    </m:f>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𝟓</m:t>
                    </m:r>
                  </m:oMath>
                </a14:m>
                <a:r>
                  <a:rPr lang="en-US" b="1" dirty="0">
                    <a:solidFill>
                      <a:srgbClr val="FF0000"/>
                    </a:solidFill>
                  </a:rPr>
                  <a:t> </a:t>
                </a:r>
                <a:endParaRPr lang="en-IN" b="1" dirty="0">
                  <a:solidFill>
                    <a:schemeClr val="tx2">
                      <a:lumMod val="50000"/>
                    </a:schemeClr>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96210" y="2172796"/>
                <a:ext cx="3753248" cy="3992824"/>
              </a:xfrm>
              <a:prstGeom prst="rect">
                <a:avLst/>
              </a:prstGeom>
              <a:blipFill rotWithShape="0">
                <a:blip r:embed="rId2"/>
                <a:stretch>
                  <a:fillRect l="-32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243161" y="2158645"/>
                <a:ext cx="4742518" cy="3933128"/>
              </a:xfrm>
              <a:prstGeom prst="rect">
                <a:avLst/>
              </a:prstGeom>
            </p:spPr>
            <p:txBody>
              <a:bodyPr wrap="square">
                <a:spAutoFit/>
              </a:bodyPr>
              <a:lstStyle/>
              <a:p>
                <a:pPr>
                  <a:lnSpc>
                    <a:spcPct val="150000"/>
                  </a:lnSpc>
                  <a:spcBef>
                    <a:spcPts val="1000"/>
                  </a:spcBef>
                  <a:spcAft>
                    <a:spcPts val="0"/>
                  </a:spcAft>
                  <a:buClr>
                    <a:schemeClr val="accent6"/>
                  </a:buClr>
                  <a:tabLst>
                    <a:tab pos="447675" algn="l"/>
                  </a:tabLst>
                </a:pPr>
                <a:r>
                  <a:rPr lang="en-US" sz="2800" dirty="0">
                    <a:solidFill>
                      <a:schemeClr val="tx2">
                        <a:lumMod val="50000"/>
                      </a:schemeClr>
                    </a:solidFill>
                  </a:rPr>
                  <a:t>we know that, </a:t>
                </a:r>
                <a14:m>
                  <m:oMath xmlns:m="http://schemas.openxmlformats.org/officeDocument/2006/math">
                    <m:r>
                      <m:rPr>
                        <m:sty m:val="p"/>
                      </m:rPr>
                      <a:rPr lang="en-US" sz="2800">
                        <a:solidFill>
                          <a:schemeClr val="tx2">
                            <a:lumMod val="50000"/>
                          </a:schemeClr>
                        </a:solidFill>
                        <a:latin typeface="Cambria Math" panose="02040503050406030204" pitchFamily="18" charset="0"/>
                      </a:rPr>
                      <m:t>p</m:t>
                    </m:r>
                    <m:r>
                      <a:rPr lang="en-US" sz="2800">
                        <a:solidFill>
                          <a:schemeClr val="tx2">
                            <a:lumMod val="50000"/>
                          </a:schemeClr>
                        </a:solidFill>
                        <a:latin typeface="Cambria Math" panose="02040503050406030204" pitchFamily="18" charset="0"/>
                      </a:rPr>
                      <m:t>=1−</m:t>
                    </m:r>
                    <m:r>
                      <m:rPr>
                        <m:sty m:val="p"/>
                      </m:rPr>
                      <a:rPr lang="en-US" sz="2800">
                        <a:solidFill>
                          <a:schemeClr val="tx2">
                            <a:lumMod val="50000"/>
                          </a:schemeClr>
                        </a:solidFill>
                        <a:latin typeface="Cambria Math" panose="02040503050406030204" pitchFamily="18" charset="0"/>
                      </a:rPr>
                      <m:t>q</m:t>
                    </m:r>
                  </m:oMath>
                </a14:m>
                <a:endParaRPr lang="en-IN" sz="2800" dirty="0">
                  <a:solidFill>
                    <a:schemeClr val="tx2">
                      <a:lumMod val="50000"/>
                    </a:schemeClr>
                  </a:solidFill>
                </a:endParaRPr>
              </a:p>
              <a:p>
                <a:pPr algn="ctr">
                  <a:lnSpc>
                    <a:spcPct val="150000"/>
                  </a:lnSpc>
                  <a:spcBef>
                    <a:spcPts val="1000"/>
                  </a:spcBef>
                  <a:spcAft>
                    <a:spcPts val="0"/>
                  </a:spcAft>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p</m:t>
                      </m:r>
                      <m:r>
                        <a:rPr lang="en-US" sz="2800">
                          <a:solidFill>
                            <a:schemeClr val="tx2">
                              <a:lumMod val="50000"/>
                            </a:schemeClr>
                          </a:solidFill>
                          <a:latin typeface="Cambria Math" panose="02040503050406030204" pitchFamily="18" charset="0"/>
                        </a:rPr>
                        <m:t>=1−</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1</m:t>
                          </m:r>
                        </m:num>
                        <m:den>
                          <m:r>
                            <a:rPr lang="en-US" sz="2800">
                              <a:solidFill>
                                <a:schemeClr val="tx2">
                                  <a:lumMod val="50000"/>
                                </a:schemeClr>
                              </a:solidFill>
                              <a:latin typeface="Cambria Math" panose="02040503050406030204" pitchFamily="18" charset="0"/>
                            </a:rPr>
                            <m:t>2</m:t>
                          </m:r>
                        </m:den>
                      </m:f>
                      <m:r>
                        <a:rPr lang="en-US" sz="2800" i="1" smtClean="0">
                          <a:solidFill>
                            <a:schemeClr val="tx2">
                              <a:lumMod val="50000"/>
                            </a:schemeClr>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rPr>
                        <m:t>𝐩</m:t>
                      </m:r>
                      <m:r>
                        <a:rPr lang="en-US" sz="2800" b="1" smtClean="0">
                          <a:solidFill>
                            <a:srgbClr val="FF0000"/>
                          </a:solidFill>
                          <a:latin typeface="Cambria Math" panose="02040503050406030204" pitchFamily="18" charset="0"/>
                        </a:rPr>
                        <m:t>=</m:t>
                      </m:r>
                      <m:f>
                        <m:fPr>
                          <m:ctrlPr>
                            <a:rPr lang="en-IN" sz="2800" b="1" i="1" smtClean="0">
                              <a:solidFill>
                                <a:srgbClr val="FF0000"/>
                              </a:solidFill>
                              <a:latin typeface="Cambria Math" panose="02040503050406030204" pitchFamily="18" charset="0"/>
                            </a:rPr>
                          </m:ctrlPr>
                        </m:fPr>
                        <m:num>
                          <m:r>
                            <a:rPr lang="en-IN" sz="2800" b="1" i="0" smtClean="0">
                              <a:solidFill>
                                <a:srgbClr val="FF0000"/>
                              </a:solidFill>
                              <a:latin typeface="Cambria Math" panose="02040503050406030204" pitchFamily="18" charset="0"/>
                            </a:rPr>
                            <m:t>𝟏</m:t>
                          </m:r>
                        </m:num>
                        <m:den>
                          <m:r>
                            <a:rPr lang="en-IN" sz="2800" b="1" i="0" smtClean="0">
                              <a:solidFill>
                                <a:srgbClr val="FF0000"/>
                              </a:solidFill>
                              <a:latin typeface="Cambria Math" panose="02040503050406030204" pitchFamily="18" charset="0"/>
                            </a:rPr>
                            <m:t>𝟐</m:t>
                          </m:r>
                        </m:den>
                      </m:f>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𝟎</m:t>
                      </m:r>
                      <m:r>
                        <a:rPr lang="en-IN" sz="2800" b="1" i="0" smtClean="0">
                          <a:solidFill>
                            <a:srgbClr val="FF0000"/>
                          </a:solidFill>
                          <a:latin typeface="Cambria Math" panose="02040503050406030204" pitchFamily="18" charset="0"/>
                        </a:rPr>
                        <m:t>.</m:t>
                      </m:r>
                      <m:r>
                        <a:rPr lang="en-IN" sz="2800" b="1" i="0" smtClean="0">
                          <a:solidFill>
                            <a:srgbClr val="FF0000"/>
                          </a:solidFill>
                          <a:latin typeface="Cambria Math" panose="02040503050406030204" pitchFamily="18" charset="0"/>
                        </a:rPr>
                        <m:t>𝟓</m:t>
                      </m:r>
                    </m:oMath>
                  </m:oMathPara>
                </a14:m>
                <a:endParaRPr lang="en-IN" sz="2800" b="1" dirty="0">
                  <a:solidFill>
                    <a:schemeClr val="tx2">
                      <a:lumMod val="50000"/>
                    </a:schemeClr>
                  </a:solidFill>
                </a:endParaRPr>
              </a:p>
              <a:p>
                <a:pPr>
                  <a:lnSpc>
                    <a:spcPct val="150000"/>
                  </a:lnSpc>
                  <a:spcBef>
                    <a:spcPts val="1000"/>
                  </a:spcBef>
                  <a:spcAft>
                    <a:spcPts val="0"/>
                  </a:spcAft>
                  <a:buClr>
                    <a:schemeClr val="accent6"/>
                  </a:buClr>
                  <a:tabLst>
                    <a:tab pos="447675" algn="l"/>
                  </a:tabLst>
                </a:pPr>
                <a:r>
                  <a:rPr lang="en-US" sz="2800" dirty="0">
                    <a:solidFill>
                      <a:schemeClr val="tx2">
                        <a:lumMod val="50000"/>
                      </a:schemeClr>
                    </a:solidFill>
                  </a:rPr>
                  <a:t>From </a:t>
                </a:r>
                <a:r>
                  <a:rPr lang="en-US" sz="2800" dirty="0" err="1">
                    <a:solidFill>
                      <a:schemeClr val="tx2">
                        <a:lumMod val="50000"/>
                      </a:schemeClr>
                    </a:solidFill>
                  </a:rPr>
                  <a:t>eq</a:t>
                </a:r>
                <a:r>
                  <a:rPr lang="en-US" sz="2800" dirty="0">
                    <a:solidFill>
                      <a:schemeClr val="tx2">
                        <a:lumMod val="50000"/>
                      </a:schemeClr>
                    </a:solidFill>
                  </a:rPr>
                  <a:t> (1), </a:t>
                </a:r>
                <a14:m>
                  <m:oMath xmlns:m="http://schemas.openxmlformats.org/officeDocument/2006/math">
                    <m:r>
                      <m:rPr>
                        <m:sty m:val="p"/>
                      </m:rPr>
                      <a:rPr lang="en-US" sz="2800">
                        <a:solidFill>
                          <a:schemeClr val="tx2">
                            <a:lumMod val="50000"/>
                          </a:schemeClr>
                        </a:solidFill>
                        <a:latin typeface="Cambria Math" panose="02040503050406030204" pitchFamily="18" charset="0"/>
                      </a:rPr>
                      <m:t>np</m:t>
                    </m:r>
                    <m:r>
                      <a:rPr lang="en-US" sz="2800">
                        <a:solidFill>
                          <a:schemeClr val="tx2">
                            <a:lumMod val="50000"/>
                          </a:schemeClr>
                        </a:solidFill>
                        <a:latin typeface="Cambria Math" panose="02040503050406030204" pitchFamily="18" charset="0"/>
                      </a:rPr>
                      <m:t>=10</m:t>
                    </m:r>
                  </m:oMath>
                </a14:m>
                <a:endParaRPr lang="en-IN" sz="2800" dirty="0">
                  <a:solidFill>
                    <a:schemeClr val="tx2">
                      <a:lumMod val="50000"/>
                    </a:schemeClr>
                  </a:solidFill>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n</m:t>
                      </m:r>
                      <m:r>
                        <a:rPr lang="en-US" sz="2800" i="1" smtClean="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1</m:t>
                          </m:r>
                        </m:num>
                        <m:den>
                          <m:r>
                            <a:rPr lang="en-US" sz="2800">
                              <a:solidFill>
                                <a:schemeClr val="tx2">
                                  <a:lumMod val="50000"/>
                                </a:schemeClr>
                              </a:solidFill>
                              <a:latin typeface="Cambria Math" panose="02040503050406030204" pitchFamily="18" charset="0"/>
                            </a:rPr>
                            <m:t>2</m:t>
                          </m:r>
                        </m:den>
                      </m:f>
                      <m:r>
                        <a:rPr lang="en-US" sz="2800">
                          <a:solidFill>
                            <a:schemeClr val="tx2">
                              <a:lumMod val="50000"/>
                            </a:schemeClr>
                          </a:solidFill>
                          <a:latin typeface="Cambria Math" panose="02040503050406030204" pitchFamily="18" charset="0"/>
                        </a:rPr>
                        <m:t>=10⟹</m:t>
                      </m:r>
                      <m:r>
                        <a:rPr lang="en-US" sz="2800" b="1" i="1" smtClean="0">
                          <a:solidFill>
                            <a:srgbClr val="FF0000"/>
                          </a:solidFill>
                          <a:latin typeface="Cambria Math" panose="02040503050406030204" pitchFamily="18" charset="0"/>
                        </a:rPr>
                        <m:t>𝐧</m:t>
                      </m:r>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𝟐𝟎</m:t>
                      </m:r>
                    </m:oMath>
                  </m:oMathPara>
                </a14:m>
                <a:endParaRPr lang="en-IN" sz="2800" b="1"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243161" y="2158645"/>
                <a:ext cx="4742518" cy="3933128"/>
              </a:xfrm>
              <a:prstGeom prst="rect">
                <a:avLst/>
              </a:prstGeom>
              <a:blipFill rotWithShape="0">
                <a:blip r:embed="rId3"/>
                <a:stretch>
                  <a:fillRect l="-2571"/>
                </a:stretch>
              </a:blipFill>
            </p:spPr>
            <p:txBody>
              <a:bodyPr/>
              <a:lstStyle/>
              <a:p>
                <a:r>
                  <a:rPr lang="en-IN">
                    <a:noFill/>
                  </a:rPr>
                  <a:t> </a:t>
                </a:r>
              </a:p>
            </p:txBody>
          </p:sp>
        </mc:Fallback>
      </mc:AlternateContent>
      <p:cxnSp>
        <p:nvCxnSpPr>
          <p:cNvPr id="8" name="Straight Connector 7"/>
          <p:cNvCxnSpPr/>
          <p:nvPr/>
        </p:nvCxnSpPr>
        <p:spPr>
          <a:xfrm>
            <a:off x="5730401" y="2158645"/>
            <a:ext cx="77272" cy="4391697"/>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93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up)">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2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33027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IN" dirty="0">
                    <a:solidFill>
                      <a:schemeClr val="tx2">
                        <a:lumMod val="50000"/>
                      </a:schemeClr>
                    </a:solidFill>
                  </a:rPr>
                  <a:t>Binomial distribution function is,</a:t>
                </a: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b="0" i="1">
                                  <a:solidFill>
                                    <a:schemeClr val="tx2">
                                      <a:lumMod val="50000"/>
                                    </a:schemeClr>
                                  </a:solidFill>
                                  <a:latin typeface="Cambria Math" panose="02040503050406030204" pitchFamily="18" charset="0"/>
                                </a:rPr>
                                <m:t>n</m:t>
                              </m:r>
                            </m:num>
                            <m:den>
                              <m:r>
                                <m:rPr>
                                  <m:sty m:val="p"/>
                                </m:rPr>
                                <a:rPr lang="en-US" b="0" i="1">
                                  <a:solidFill>
                                    <a:schemeClr val="tx2">
                                      <a:lumMod val="50000"/>
                                    </a:schemeClr>
                                  </a:solidFill>
                                  <a:latin typeface="Cambria Math" panose="02040503050406030204" pitchFamily="18" charset="0"/>
                                </a:rPr>
                                <m:t>x</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p</m:t>
                          </m:r>
                        </m:e>
                        <m:sup>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q</m:t>
                          </m:r>
                        </m:e>
                        <m:sup>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𝐱</m:t>
                          </m:r>
                        </m:e>
                      </m:d>
                      <m:r>
                        <a:rPr lang="en-US" b="1" i="0">
                          <a:solidFill>
                            <a:srgbClr val="FF0000"/>
                          </a:solidFill>
                          <a:latin typeface="Cambria Math" panose="02040503050406030204" pitchFamily="18" charset="0"/>
                        </a:rPr>
                        <m:t>=</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 </m:t>
                          </m:r>
                          <m:f>
                            <m:fPr>
                              <m:type m:val="noBar"/>
                              <m:ctrlPr>
                                <a:rPr lang="en-IN"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𝟐𝟎</m:t>
                              </m:r>
                            </m:num>
                            <m:den>
                              <m:r>
                                <a:rPr lang="en-US" b="1" i="0">
                                  <a:solidFill>
                                    <a:srgbClr val="FF0000"/>
                                  </a:solidFill>
                                  <a:latin typeface="Cambria Math" panose="02040503050406030204" pitchFamily="18" charset="0"/>
                                </a:rPr>
                                <m:t>𝐱</m:t>
                              </m:r>
                            </m:den>
                          </m:f>
                          <m:r>
                            <a:rPr lang="en-US" b="1" i="0">
                              <a:solidFill>
                                <a:srgbClr val="FF0000"/>
                              </a:solidFill>
                              <a:latin typeface="Cambria Math" panose="02040503050406030204" pitchFamily="18" charset="0"/>
                            </a:rPr>
                            <m:t> </m:t>
                          </m:r>
                        </m:e>
                      </m:d>
                      <m:sSup>
                        <m:sSupPr>
                          <m:ctrlPr>
                            <a:rPr lang="en-IN" b="1" i="1">
                              <a:solidFill>
                                <a:srgbClr val="FF0000"/>
                              </a:solidFill>
                              <a:latin typeface="Cambria Math" panose="02040503050406030204" pitchFamily="18" charset="0"/>
                            </a:rPr>
                          </m:ctrlPr>
                        </m:sSupPr>
                        <m:e>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𝟓</m:t>
                              </m:r>
                            </m:e>
                          </m:d>
                        </m:e>
                        <m:sup>
                          <m:r>
                            <a:rPr lang="en-US" b="1" i="0">
                              <a:solidFill>
                                <a:srgbClr val="FF0000"/>
                              </a:solidFill>
                              <a:latin typeface="Cambria Math" panose="02040503050406030204" pitchFamily="18" charset="0"/>
                            </a:rPr>
                            <m:t>𝐱</m:t>
                          </m:r>
                        </m:sup>
                      </m:sSup>
                      <m:sSup>
                        <m:sSupPr>
                          <m:ctrlPr>
                            <a:rPr lang="en-IN" b="1" i="1">
                              <a:solidFill>
                                <a:srgbClr val="FF0000"/>
                              </a:solidFill>
                              <a:latin typeface="Cambria Math" panose="02040503050406030204" pitchFamily="18" charset="0"/>
                            </a:rPr>
                          </m:ctrlPr>
                        </m:sSupPr>
                        <m:e>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𝟓</m:t>
                              </m:r>
                            </m:e>
                          </m:d>
                        </m:e>
                        <m:sup>
                          <m:r>
                            <a:rPr lang="en-US" b="1" i="0">
                              <a:solidFill>
                                <a:srgbClr val="FF0000"/>
                              </a:solidFill>
                              <a:latin typeface="Cambria Math" panose="02040503050406030204" pitchFamily="18" charset="0"/>
                            </a:rPr>
                            <m:t>𝟐𝟎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𝐱</m:t>
                          </m:r>
                        </m:sup>
                      </m:sSup>
                      <m:r>
                        <a:rPr lang="en-US" b="1" i="0">
                          <a:solidFill>
                            <a:srgbClr val="FF0000"/>
                          </a:solidFill>
                          <a:latin typeface="Cambria Math" panose="02040503050406030204" pitchFamily="18" charset="0"/>
                        </a:rPr>
                        <m:t> ;</m:t>
                      </m:r>
                      <m:r>
                        <a:rPr lang="en-US" b="1" i="0">
                          <a:solidFill>
                            <a:srgbClr val="FF0000"/>
                          </a:solidFill>
                          <a:latin typeface="Cambria Math" panose="02040503050406030204" pitchFamily="18" charset="0"/>
                        </a:rPr>
                        <m:t>𝐱</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𝟏</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𝟐</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𝟐𝟎</m:t>
                      </m:r>
                    </m:oMath>
                  </m:oMathPara>
                </a14:m>
                <a:endParaRPr lang="en-IN" b="1" dirty="0">
                  <a:solidFill>
                    <a:srgbClr val="FF0000"/>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3302764"/>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218664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187411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12% of the tablets produced by a tablet machine are defective. What is the probability that out of a random sample of 20 tablets produced by the machine,       5 are defective?</a:t>
            </a:r>
            <a:endParaRPr lang="en-IN" dirty="0"/>
          </a:p>
        </p:txBody>
      </p:sp>
      <p:sp>
        <p:nvSpPr>
          <p:cNvPr id="2" name="Title 1"/>
          <p:cNvSpPr>
            <a:spLocks noGrp="1"/>
          </p:cNvSpPr>
          <p:nvPr>
            <p:ph type="title"/>
          </p:nvPr>
        </p:nvSpPr>
        <p:spPr/>
        <p:txBody>
          <a:bodyPr/>
          <a:lstStyle/>
          <a:p>
            <a:r>
              <a:rPr lang="en-GB" dirty="0"/>
              <a:t>Method 1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97571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859982" y="2866527"/>
                <a:ext cx="10200837" cy="1513235"/>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Number of samples </a:t>
                </a:r>
                <a14:m>
                  <m:oMath xmlns:m="http://schemas.openxmlformats.org/officeDocument/2006/math">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20</m:t>
                    </m:r>
                  </m:oMath>
                </a14:m>
                <a:endParaRPr lang="en-IN" dirty="0">
                  <a:solidFill>
                    <a:schemeClr val="tx2">
                      <a:lumMod val="50000"/>
                    </a:schemeClr>
                  </a:solidFill>
                </a:endParaRPr>
              </a:p>
              <a:p>
                <a:pPr marL="0" indent="0" algn="l">
                  <a:lnSpc>
                    <a:spcPct val="150000"/>
                  </a:lnSpc>
                  <a:buNone/>
                  <a:tabLst>
                    <a:tab pos="447675" algn="l"/>
                  </a:tabLst>
                </a:pPr>
                <a:r>
                  <a:rPr lang="en-US" dirty="0">
                    <a:solidFill>
                      <a:schemeClr val="tx2">
                        <a:lumMod val="50000"/>
                      </a:schemeClr>
                    </a:solidFill>
                  </a:rPr>
                  <a:t>Number of defective machines </a:t>
                </a:r>
                <a14:m>
                  <m:oMath xmlns:m="http://schemas.openxmlformats.org/officeDocument/2006/math">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5</m:t>
                    </m:r>
                  </m:oMath>
                </a14:m>
                <a:endParaRPr lang="en-IN" dirty="0">
                  <a:solidFill>
                    <a:schemeClr val="tx2">
                      <a:lumMod val="50000"/>
                    </a:schemeClr>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859982" y="2866527"/>
                <a:ext cx="10200837" cy="1513235"/>
              </a:xfrm>
              <a:prstGeom prst="rect">
                <a:avLst/>
              </a:prstGeom>
              <a:blipFill rotWithShape="0">
                <a:blip r:embed="rId2"/>
                <a:stretch>
                  <a:fillRect l="-1195" b="-6048"/>
                </a:stretch>
              </a:blipFill>
            </p:spPr>
            <p:txBody>
              <a:bodyPr/>
              <a:lstStyle/>
              <a:p>
                <a:r>
                  <a:rPr lang="en-IN">
                    <a:noFill/>
                  </a:rPr>
                  <a:t> </a:t>
                </a:r>
              </a:p>
            </p:txBody>
          </p:sp>
        </mc:Fallback>
      </mc:AlternateContent>
      <p:sp>
        <p:nvSpPr>
          <p:cNvPr id="3" name="Rectangle 2"/>
          <p:cNvSpPr/>
          <p:nvPr/>
        </p:nvSpPr>
        <p:spPr>
          <a:xfrm>
            <a:off x="1859982" y="4503089"/>
            <a:ext cx="4334756" cy="738664"/>
          </a:xfrm>
          <a:prstGeom prst="rect">
            <a:avLst/>
          </a:prstGeom>
        </p:spPr>
        <p:txBody>
          <a:bodyPr wrap="square">
            <a:spAutoFit/>
          </a:bodyPr>
          <a:lstStyle/>
          <a:p>
            <a:pPr>
              <a:lnSpc>
                <a:spcPct val="150000"/>
              </a:lnSpc>
              <a:tabLst>
                <a:tab pos="447675" algn="l"/>
              </a:tabLst>
            </a:pPr>
            <a:r>
              <a:rPr lang="en-US" sz="2800" dirty="0">
                <a:solidFill>
                  <a:schemeClr val="tx2">
                    <a:lumMod val="50000"/>
                  </a:schemeClr>
                </a:solidFill>
              </a:rPr>
              <a:t>Success of event : defective, </a:t>
            </a:r>
            <a:endParaRPr lang="en-IN" sz="2800" dirty="0">
              <a:solidFill>
                <a:schemeClr val="tx2">
                  <a:lumMod val="50000"/>
                </a:schemeClr>
              </a:solidFill>
            </a:endParaRPr>
          </a:p>
        </p:txBody>
      </p:sp>
      <p:sp>
        <p:nvSpPr>
          <p:cNvPr id="4" name="Rectangle 3"/>
          <p:cNvSpPr/>
          <p:nvPr/>
        </p:nvSpPr>
        <p:spPr>
          <a:xfrm>
            <a:off x="1859982" y="5661715"/>
            <a:ext cx="4586512" cy="523220"/>
          </a:xfrm>
          <a:prstGeom prst="rect">
            <a:avLst/>
          </a:prstGeom>
        </p:spPr>
        <p:txBody>
          <a:bodyPr wrap="none">
            <a:spAutoFit/>
          </a:bodyPr>
          <a:lstStyle/>
          <a:p>
            <a:r>
              <a:rPr lang="en-US" sz="2800" dirty="0">
                <a:solidFill>
                  <a:schemeClr val="tx2">
                    <a:lumMod val="50000"/>
                  </a:schemeClr>
                </a:solidFill>
              </a:rPr>
              <a:t>Failure of event : not defective,</a:t>
            </a:r>
            <a:r>
              <a:rPr lang="en-IN" dirty="0">
                <a:solidFill>
                  <a:schemeClr val="tx2">
                    <a:lumMod val="50000"/>
                  </a:schemeClr>
                </a:solidFill>
              </a:rPr>
              <a:t> </a:t>
            </a:r>
            <a:endParaRPr lang="en-IN" dirty="0"/>
          </a:p>
        </p:txBody>
      </p:sp>
      <mc:AlternateContent xmlns:mc="http://schemas.openxmlformats.org/markup-compatibility/2006" xmlns:a14="http://schemas.microsoft.com/office/drawing/2010/main">
        <mc:Choice Requires="a14">
          <p:sp>
            <p:nvSpPr>
              <p:cNvPr id="5" name="Rectangle 4"/>
              <p:cNvSpPr/>
              <p:nvPr/>
            </p:nvSpPr>
            <p:spPr>
              <a:xfrm>
                <a:off x="6120770" y="4365262"/>
                <a:ext cx="2714141" cy="901785"/>
              </a:xfrm>
              <a:prstGeom prst="rect">
                <a:avLst/>
              </a:prstGeom>
            </p:spPr>
            <p:txBody>
              <a:bodyPr wrap="none">
                <a:spAutoFit/>
              </a:bodyPr>
              <a:lstStyle/>
              <a:p>
                <a:pPr/>
                <a14:m>
                  <m:oMathPara xmlns:m="http://schemas.openxmlformats.org/officeDocument/2006/math">
                    <m:oMathParaPr>
                      <m:jc m:val="center"/>
                    </m:oMathParaPr>
                    <m:oMath xmlns:m="http://schemas.openxmlformats.org/officeDocument/2006/math">
                      <m:r>
                        <m:rPr>
                          <m:sty m:val="p"/>
                        </m:rPr>
                        <a:rPr lang="en-US" sz="2800" i="1">
                          <a:solidFill>
                            <a:schemeClr val="tx2">
                              <a:lumMod val="50000"/>
                            </a:schemeClr>
                          </a:solidFill>
                          <a:latin typeface="Cambria Math" panose="02040503050406030204" pitchFamily="18" charset="0"/>
                        </a:rPr>
                        <m:t>p</m:t>
                      </m:r>
                      <m:r>
                        <a:rPr lang="en-US" sz="2800">
                          <a:solidFill>
                            <a:schemeClr val="tx2">
                              <a:lumMod val="50000"/>
                            </a:schemeClr>
                          </a:solidFill>
                          <a:latin typeface="Cambria Math" panose="02040503050406030204" pitchFamily="18" charset="0"/>
                        </a:rPr>
                        <m:t>=</m:t>
                      </m:r>
                      <m:r>
                        <a:rPr lang="en-US" sz="2800" i="1">
                          <a:solidFill>
                            <a:schemeClr val="tx2">
                              <a:lumMod val="50000"/>
                            </a:schemeClr>
                          </a:solidFill>
                          <a:latin typeface="Cambria Math" panose="02040503050406030204" pitchFamily="18" charset="0"/>
                        </a:rPr>
                        <m:t>12</m:t>
                      </m:r>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1">
                              <a:solidFill>
                                <a:schemeClr val="tx2">
                                  <a:lumMod val="50000"/>
                                </a:schemeClr>
                              </a:solidFill>
                              <a:latin typeface="Cambria Math" panose="02040503050406030204" pitchFamily="18" charset="0"/>
                            </a:rPr>
                            <m:t>12</m:t>
                          </m:r>
                        </m:num>
                        <m:den>
                          <m:r>
                            <a:rPr lang="en-US" sz="2800" i="1">
                              <a:solidFill>
                                <a:schemeClr val="tx2">
                                  <a:lumMod val="50000"/>
                                </a:schemeClr>
                              </a:solidFill>
                              <a:latin typeface="Cambria Math" panose="02040503050406030204" pitchFamily="18" charset="0"/>
                            </a:rPr>
                            <m:t>100</m:t>
                          </m:r>
                        </m:den>
                      </m:f>
                    </m:oMath>
                  </m:oMathPara>
                </a14:m>
                <a:endParaRPr lang="en-IN" sz="2800" dirty="0"/>
              </a:p>
            </p:txBody>
          </p:sp>
        </mc:Choice>
        <mc:Fallback xmlns="">
          <p:sp>
            <p:nvSpPr>
              <p:cNvPr id="5" name="Rectangle 4"/>
              <p:cNvSpPr>
                <a:spLocks noRot="1" noChangeAspect="1" noMove="1" noResize="1" noEditPoints="1" noAdjustHandles="1" noChangeArrowheads="1" noChangeShapeType="1" noTextEdit="1"/>
              </p:cNvSpPr>
              <p:nvPr/>
            </p:nvSpPr>
            <p:spPr>
              <a:xfrm>
                <a:off x="6120770" y="4365262"/>
                <a:ext cx="2714141" cy="901785"/>
              </a:xfrm>
              <a:prstGeom prst="rect">
                <a:avLst/>
              </a:prstGeom>
              <a:blipFill rotWithShape="0">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304825" y="5420916"/>
                <a:ext cx="3216714"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i="1">
                          <a:solidFill>
                            <a:schemeClr val="tx2">
                              <a:lumMod val="50000"/>
                            </a:schemeClr>
                          </a:solidFill>
                          <a:latin typeface="Cambria Math" panose="02040503050406030204" pitchFamily="18" charset="0"/>
                        </a:rPr>
                        <m:t>q</m:t>
                      </m:r>
                      <m:r>
                        <a:rPr lang="en-US" sz="2800">
                          <a:solidFill>
                            <a:schemeClr val="tx2">
                              <a:lumMod val="50000"/>
                            </a:schemeClr>
                          </a:solidFill>
                          <a:latin typeface="Cambria Math" panose="02040503050406030204" pitchFamily="18" charset="0"/>
                        </a:rPr>
                        <m:t>=</m:t>
                      </m:r>
                      <m:r>
                        <a:rPr lang="en-US" sz="2800" i="1">
                          <a:solidFill>
                            <a:schemeClr val="tx2">
                              <a:lumMod val="50000"/>
                            </a:schemeClr>
                          </a:solidFill>
                          <a:latin typeface="Cambria Math" panose="02040503050406030204" pitchFamily="18" charset="0"/>
                        </a:rPr>
                        <m:t>1</m:t>
                      </m:r>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1">
                              <a:solidFill>
                                <a:schemeClr val="tx2">
                                  <a:lumMod val="50000"/>
                                </a:schemeClr>
                              </a:solidFill>
                              <a:latin typeface="Cambria Math" panose="02040503050406030204" pitchFamily="18" charset="0"/>
                            </a:rPr>
                            <m:t>12</m:t>
                          </m:r>
                        </m:num>
                        <m:den>
                          <m:r>
                            <a:rPr lang="en-US" sz="2800" i="1">
                              <a:solidFill>
                                <a:schemeClr val="tx2">
                                  <a:lumMod val="50000"/>
                                </a:schemeClr>
                              </a:solidFill>
                              <a:latin typeface="Cambria Math" panose="02040503050406030204" pitchFamily="18" charset="0"/>
                            </a:rPr>
                            <m:t>100</m:t>
                          </m:r>
                        </m:den>
                      </m:f>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1">
                              <a:solidFill>
                                <a:schemeClr val="tx2">
                                  <a:lumMod val="50000"/>
                                </a:schemeClr>
                              </a:solidFill>
                              <a:latin typeface="Cambria Math" panose="02040503050406030204" pitchFamily="18" charset="0"/>
                            </a:rPr>
                            <m:t>88</m:t>
                          </m:r>
                        </m:num>
                        <m:den>
                          <m:r>
                            <a:rPr lang="en-US" sz="2800" i="1">
                              <a:solidFill>
                                <a:schemeClr val="tx2">
                                  <a:lumMod val="50000"/>
                                </a:schemeClr>
                              </a:solidFill>
                              <a:latin typeface="Cambria Math" panose="02040503050406030204" pitchFamily="18" charset="0"/>
                            </a:rPr>
                            <m:t>100</m:t>
                          </m:r>
                        </m:den>
                      </m:f>
                    </m:oMath>
                  </m:oMathPara>
                </a14:m>
                <a:endParaRPr lang="en-IN" sz="2800" dirty="0"/>
              </a:p>
            </p:txBody>
          </p:sp>
        </mc:Choice>
        <mc:Fallback xmlns="">
          <p:sp>
            <p:nvSpPr>
              <p:cNvPr id="6" name="Rectangle 5"/>
              <p:cNvSpPr>
                <a:spLocks noRot="1" noChangeAspect="1" noMove="1" noResize="1" noEditPoints="1" noAdjustHandles="1" noChangeArrowheads="1" noChangeShapeType="1" noTextEdit="1"/>
              </p:cNvSpPr>
              <p:nvPr/>
            </p:nvSpPr>
            <p:spPr>
              <a:xfrm>
                <a:off x="6304825" y="5420916"/>
                <a:ext cx="3216714" cy="901785"/>
              </a:xfrm>
              <a:prstGeom prst="rect">
                <a:avLst/>
              </a:prstGeom>
              <a:blipFill rotWithShape="0">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7526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52715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Probability of defective machines is defined as follows,</a:t>
                </a:r>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oMath>
                  </m:oMathPara>
                </a14:m>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=5</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20</m:t>
                              </m:r>
                            </m:num>
                            <m:den>
                              <m:r>
                                <a:rPr lang="en-US">
                                  <a:solidFill>
                                    <a:schemeClr val="tx2">
                                      <a:lumMod val="50000"/>
                                    </a:schemeClr>
                                  </a:solidFill>
                                  <a:latin typeface="Cambria Math" panose="02040503050406030204" pitchFamily="18" charset="0"/>
                                </a:rPr>
                                <m:t>5</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12</m:t>
                                  </m:r>
                                </m:num>
                                <m:den>
                                  <m:r>
                                    <a:rPr lang="en-US">
                                      <a:solidFill>
                                        <a:schemeClr val="tx2">
                                          <a:lumMod val="50000"/>
                                        </a:schemeClr>
                                      </a:solidFill>
                                      <a:latin typeface="Cambria Math" panose="02040503050406030204" pitchFamily="18" charset="0"/>
                                    </a:rPr>
                                    <m:t>100</m:t>
                                  </m:r>
                                </m:den>
                              </m:f>
                            </m:e>
                          </m:d>
                        </m:e>
                        <m:sup>
                          <m:r>
                            <a:rPr lang="en-US">
                              <a:solidFill>
                                <a:schemeClr val="tx2">
                                  <a:lumMod val="50000"/>
                                </a:schemeClr>
                              </a:solidFill>
                              <a:latin typeface="Cambria Math" panose="02040503050406030204" pitchFamily="18" charset="0"/>
                            </a:rPr>
                            <m:t>5</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88</m:t>
                                  </m:r>
                                </m:num>
                                <m:den>
                                  <m:r>
                                    <a:rPr lang="en-US">
                                      <a:solidFill>
                                        <a:schemeClr val="tx2">
                                          <a:lumMod val="50000"/>
                                        </a:schemeClr>
                                      </a:solidFill>
                                      <a:latin typeface="Cambria Math" panose="02040503050406030204" pitchFamily="18" charset="0"/>
                                    </a:rPr>
                                    <m:t>100</m:t>
                                  </m:r>
                                </m:den>
                              </m:f>
                            </m:e>
                          </m:d>
                        </m:e>
                        <m:sup>
                          <m:r>
                            <a:rPr lang="en-US">
                              <a:solidFill>
                                <a:schemeClr val="tx2">
                                  <a:lumMod val="50000"/>
                                </a:schemeClr>
                              </a:solidFill>
                              <a:latin typeface="Cambria Math" panose="02040503050406030204" pitchFamily="18" charset="0"/>
                            </a:rPr>
                            <m:t>20−5</m:t>
                          </m:r>
                        </m:sup>
                      </m:sSup>
                    </m:oMath>
                  </m:oMathPara>
                </a14:m>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=5</m:t>
                          </m:r>
                        </m:e>
                      </m:d>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20!</m:t>
                          </m:r>
                        </m:num>
                        <m:den>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5!</m:t>
                              </m:r>
                            </m:e>
                          </m:d>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15!</m:t>
                              </m:r>
                            </m:e>
                          </m:d>
                        </m:den>
                      </m:f>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0.12</m:t>
                              </m:r>
                            </m:e>
                          </m:d>
                        </m:e>
                        <m:sup>
                          <m:r>
                            <a:rPr lang="en-US">
                              <a:solidFill>
                                <a:schemeClr val="tx2">
                                  <a:lumMod val="50000"/>
                                </a:schemeClr>
                              </a:solidFill>
                              <a:latin typeface="Cambria Math" panose="02040503050406030204" pitchFamily="18" charset="0"/>
                            </a:rPr>
                            <m:t>5</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0.88</m:t>
                              </m:r>
                            </m:e>
                          </m:d>
                        </m:e>
                        <m:sup>
                          <m:r>
                            <a:rPr lang="en-US">
                              <a:solidFill>
                                <a:schemeClr val="tx2">
                                  <a:lumMod val="50000"/>
                                </a:schemeClr>
                              </a:solidFill>
                              <a:latin typeface="Cambria Math" panose="02040503050406030204" pitchFamily="18" charset="0"/>
                            </a:rPr>
                            <m:t>15</m:t>
                          </m:r>
                        </m:sup>
                      </m:sSup>
                    </m:oMath>
                  </m:oMathPara>
                </a14:m>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𝟓</m:t>
                          </m:r>
                        </m:e>
                      </m:d>
                      <m:r>
                        <a:rPr lang="en-US" b="1">
                          <a:solidFill>
                            <a:srgbClr val="FF0000"/>
                          </a:solidFill>
                          <a:latin typeface="Cambria Math" panose="02040503050406030204" pitchFamily="18" charset="0"/>
                        </a:rPr>
                        <m:t>=</m:t>
                      </m:r>
                      <m:r>
                        <a:rPr lang="en-US" b="1" smtClean="0">
                          <a:solidFill>
                            <a:srgbClr val="FF0000"/>
                          </a:solidFill>
                          <a:latin typeface="Cambria Math" panose="02040503050406030204" pitchFamily="18" charset="0"/>
                        </a:rPr>
                        <m:t>𝟎</m:t>
                      </m:r>
                      <m:r>
                        <a:rPr lang="en-US" b="1" smtClean="0">
                          <a:solidFill>
                            <a:srgbClr val="FF0000"/>
                          </a:solidFill>
                          <a:latin typeface="Cambria Math" panose="02040503050406030204" pitchFamily="18" charset="0"/>
                        </a:rPr>
                        <m:t>.</m:t>
                      </m:r>
                      <m:r>
                        <a:rPr lang="en-US" b="1" smtClean="0">
                          <a:solidFill>
                            <a:srgbClr val="FF0000"/>
                          </a:solidFill>
                          <a:latin typeface="Cambria Math" panose="02040503050406030204" pitchFamily="18" charset="0"/>
                        </a:rPr>
                        <m:t>𝟎𝟓𝟔𝟕</m:t>
                      </m:r>
                    </m:oMath>
                  </m:oMathPara>
                </a14:m>
                <a:endParaRPr lang="en-IN" b="1" dirty="0">
                  <a:solidFill>
                    <a:srgbClr val="FF0000"/>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527154"/>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406848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850536"/>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Find probability of getting a sum of 7 at least once in 3 tosses of a pair of dice.</a:t>
            </a:r>
            <a:endParaRPr lang="en-IN" dirty="0"/>
          </a:p>
        </p:txBody>
      </p:sp>
      <p:sp>
        <p:nvSpPr>
          <p:cNvPr id="2" name="Title 1"/>
          <p:cNvSpPr>
            <a:spLocks noGrp="1"/>
          </p:cNvSpPr>
          <p:nvPr>
            <p:ph type="title"/>
          </p:nvPr>
        </p:nvSpPr>
        <p:spPr/>
        <p:txBody>
          <a:bodyPr/>
          <a:lstStyle/>
          <a:p>
            <a:r>
              <a:rPr lang="en-GB" dirty="0"/>
              <a:t>Method 1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187749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36426" y="1756974"/>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Number of tosses </a:t>
                </a:r>
                <a14:m>
                  <m:oMath xmlns:m="http://schemas.openxmlformats.org/officeDocument/2006/math">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3</m:t>
                    </m:r>
                  </m:oMath>
                </a14:m>
                <a:endParaRPr lang="en-IN" dirty="0">
                  <a:solidFill>
                    <a:schemeClr val="tx2">
                      <a:lumMod val="50000"/>
                    </a:schemeClr>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36426" y="1756974"/>
                <a:ext cx="10200837" cy="738664"/>
              </a:xfrm>
              <a:prstGeom prst="rect">
                <a:avLst/>
              </a:prstGeom>
              <a:blipFill rotWithShape="0">
                <a:blip r:embed="rId2"/>
                <a:stretch>
                  <a:fillRect l="-1195"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31176" y="2558600"/>
                <a:ext cx="11929643" cy="3515193"/>
              </a:xfrm>
              <a:prstGeom prst="rect">
                <a:avLst/>
              </a:prstGeom>
            </p:spPr>
            <p:txBody>
              <a:bodyPr wrap="square">
                <a:spAutoFit/>
              </a:bodyPr>
              <a:lstStyle/>
              <a:p>
                <a:pPr>
                  <a:lnSpc>
                    <a:spcPct val="150000"/>
                  </a:lnSpc>
                  <a:spcBef>
                    <a:spcPts val="1000"/>
                  </a:spcBef>
                  <a:buClr>
                    <a:schemeClr val="accent6"/>
                  </a:buClr>
                  <a:tabLst>
                    <a:tab pos="447675" algn="l"/>
                  </a:tabLst>
                </a:pPr>
                <a:r>
                  <a:rPr lang="en-US" sz="2800" dirty="0">
                    <a:solidFill>
                      <a:schemeClr val="tx2">
                        <a:lumMod val="50000"/>
                      </a:schemeClr>
                    </a:solidFill>
                  </a:rPr>
                  <a:t>In a single throw of 2 dice, a sum of 7 can occur in 6 ways out of </a:t>
                </a:r>
                <a14:m>
                  <m:oMath xmlns:m="http://schemas.openxmlformats.org/officeDocument/2006/math">
                    <m:r>
                      <a:rPr lang="en-US" sz="2800" b="0" i="1">
                        <a:solidFill>
                          <a:schemeClr val="tx2">
                            <a:lumMod val="50000"/>
                          </a:schemeClr>
                        </a:solidFill>
                        <a:latin typeface="Cambria Math" panose="02040503050406030204" pitchFamily="18" charset="0"/>
                      </a:rPr>
                      <m:t>6</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6</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36</m:t>
                    </m:r>
                  </m:oMath>
                </a14:m>
                <a:r>
                  <a:rPr lang="en-US" sz="2800" dirty="0">
                    <a:solidFill>
                      <a:schemeClr val="tx2">
                        <a:lumMod val="50000"/>
                      </a:schemeClr>
                    </a:solidFill>
                  </a:rPr>
                  <a:t> ways</a:t>
                </a:r>
                <a:endParaRPr lang="en-IN" sz="2800" dirty="0">
                  <a:solidFill>
                    <a:schemeClr val="tx2">
                      <a:lumMod val="50000"/>
                    </a:schemeClr>
                  </a:solidFill>
                </a:endParaRPr>
              </a:p>
              <a:p>
                <a:pPr>
                  <a:lnSpc>
                    <a:spcPct val="150000"/>
                  </a:lnSpc>
                  <a:spcBef>
                    <a:spcPts val="1000"/>
                  </a:spcBef>
                  <a:buClr>
                    <a:schemeClr val="accent6"/>
                  </a:buClr>
                  <a:tabLst>
                    <a:tab pos="447675" algn="l"/>
                  </a:tabLst>
                </a:pPr>
                <a:r>
                  <a:rPr lang="en-US" sz="2800" dirty="0">
                    <a:solidFill>
                      <a:schemeClr val="tx2">
                        <a:lumMod val="50000"/>
                      </a:schemeClr>
                    </a:solidFill>
                  </a:rPr>
                  <a:t>That is, </a:t>
                </a:r>
                <a14:m>
                  <m:oMath xmlns:m="http://schemas.openxmlformats.org/officeDocument/2006/math">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1</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6</m:t>
                        </m:r>
                      </m:e>
                    </m:d>
                    <m:r>
                      <a:rPr lang="en-US" sz="2800" b="0">
                        <a:solidFill>
                          <a:schemeClr val="tx2">
                            <a:lumMod val="50000"/>
                          </a:schemeClr>
                        </a:solidFill>
                        <a:latin typeface="Cambria Math" panose="02040503050406030204" pitchFamily="18" charset="0"/>
                      </a:rPr>
                      <m:t>, </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6</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1</m:t>
                        </m:r>
                      </m:e>
                    </m:d>
                    <m:r>
                      <a:rPr lang="en-US" sz="2800" b="0">
                        <a:solidFill>
                          <a:schemeClr val="tx2">
                            <a:lumMod val="50000"/>
                          </a:schemeClr>
                        </a:solidFill>
                        <a:latin typeface="Cambria Math" panose="02040503050406030204" pitchFamily="18" charset="0"/>
                      </a:rPr>
                      <m:t>, </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2</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5</m:t>
                        </m:r>
                      </m:e>
                    </m:d>
                    <m:r>
                      <a:rPr lang="en-US" sz="2800" b="0">
                        <a:solidFill>
                          <a:schemeClr val="tx2">
                            <a:lumMod val="50000"/>
                          </a:schemeClr>
                        </a:solidFill>
                        <a:latin typeface="Cambria Math" panose="02040503050406030204" pitchFamily="18" charset="0"/>
                      </a:rPr>
                      <m:t>, </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5</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2</m:t>
                        </m:r>
                      </m:e>
                    </m:d>
                    <m:r>
                      <a:rPr lang="en-US" sz="2800" b="0">
                        <a:solidFill>
                          <a:schemeClr val="tx2">
                            <a:lumMod val="50000"/>
                          </a:schemeClr>
                        </a:solidFill>
                        <a:latin typeface="Cambria Math" panose="02040503050406030204" pitchFamily="18" charset="0"/>
                      </a:rPr>
                      <m:t>, </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3</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4</m:t>
                        </m:r>
                      </m:e>
                    </m:d>
                    <m:r>
                      <a:rPr lang="en-US" sz="2800" b="0">
                        <a:solidFill>
                          <a:schemeClr val="tx2">
                            <a:lumMod val="50000"/>
                          </a:schemeClr>
                        </a:solidFill>
                        <a:latin typeface="Cambria Math" panose="02040503050406030204" pitchFamily="18" charset="0"/>
                      </a:rPr>
                      <m:t>, </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4</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3</m:t>
                        </m:r>
                      </m:e>
                    </m:d>
                  </m:oMath>
                </a14:m>
                <a:endParaRPr lang="en-IN" sz="2800" dirty="0">
                  <a:solidFill>
                    <a:schemeClr val="tx2">
                      <a:lumMod val="50000"/>
                    </a:schemeClr>
                  </a:solidFill>
                </a:endParaRPr>
              </a:p>
              <a:p>
                <a:pPr>
                  <a:lnSpc>
                    <a:spcPct val="150000"/>
                  </a:lnSpc>
                  <a:spcBef>
                    <a:spcPts val="1000"/>
                  </a:spcBef>
                  <a:buClr>
                    <a:schemeClr val="accent6"/>
                  </a:buClr>
                  <a:tabLst>
                    <a:tab pos="447675" algn="l"/>
                  </a:tabLst>
                </a:pPr>
                <a:r>
                  <a:rPr lang="en-US" sz="2800" dirty="0">
                    <a:solidFill>
                      <a:schemeClr val="tx2">
                        <a:lumMod val="50000"/>
                      </a:schemeClr>
                    </a:solidFill>
                  </a:rPr>
                  <a:t>Let </a:t>
                </a:r>
                <a14:m>
                  <m:oMath xmlns:m="http://schemas.openxmlformats.org/officeDocument/2006/math">
                    <m:r>
                      <m:rPr>
                        <m:sty m:val="p"/>
                      </m:rPr>
                      <a:rPr lang="en-US" sz="2800" b="0" i="1">
                        <a:solidFill>
                          <a:schemeClr val="tx2">
                            <a:lumMod val="50000"/>
                          </a:schemeClr>
                        </a:solidFill>
                        <a:latin typeface="Cambria Math" panose="02040503050406030204" pitchFamily="18" charset="0"/>
                      </a:rPr>
                      <m:t>p</m:t>
                    </m:r>
                  </m:oMath>
                </a14:m>
                <a:r>
                  <a:rPr lang="en-US" sz="2800" dirty="0">
                    <a:solidFill>
                      <a:schemeClr val="tx2">
                        <a:lumMod val="50000"/>
                      </a:schemeClr>
                    </a:solidFill>
                  </a:rPr>
                  <a:t> be the probability of getting the sum as </a:t>
                </a:r>
                <a14:m>
                  <m:oMath xmlns:m="http://schemas.openxmlformats.org/officeDocument/2006/math">
                    <m:r>
                      <a:rPr lang="en-US" sz="2800" b="0" i="1">
                        <a:solidFill>
                          <a:schemeClr val="tx2">
                            <a:lumMod val="50000"/>
                          </a:schemeClr>
                        </a:solidFill>
                        <a:latin typeface="Cambria Math" panose="02040503050406030204" pitchFamily="18" charset="0"/>
                      </a:rPr>
                      <m:t>7</m:t>
                    </m:r>
                  </m:oMath>
                </a14:m>
                <a:r>
                  <a:rPr lang="en-US" sz="2800" dirty="0">
                    <a:solidFill>
                      <a:schemeClr val="tx2">
                        <a:lumMod val="50000"/>
                      </a:schemeClr>
                    </a:solidFill>
                  </a:rPr>
                  <a:t> in a single throw of a pair of dice is,</a:t>
                </a:r>
                <a:endParaRPr lang="en-IN" sz="2800" dirty="0">
                  <a:solidFill>
                    <a:schemeClr val="tx2">
                      <a:lumMod val="50000"/>
                    </a:schemeClr>
                  </a:solidFill>
                </a:endParaRPr>
              </a:p>
              <a:p>
                <a:pPr algn="ctr">
                  <a:lnSpc>
                    <a:spcPct val="150000"/>
                  </a:lnSpc>
                  <a:spcBef>
                    <a:spcPts val="10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p</m:t>
                      </m:r>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6</m:t>
                          </m:r>
                        </m:num>
                        <m:den>
                          <m:r>
                            <a:rPr lang="en-US" sz="2800">
                              <a:solidFill>
                                <a:schemeClr val="tx2">
                                  <a:lumMod val="50000"/>
                                </a:schemeClr>
                              </a:solidFill>
                              <a:latin typeface="Cambria Math" panose="02040503050406030204" pitchFamily="18" charset="0"/>
                            </a:rPr>
                            <m:t>36</m:t>
                          </m:r>
                        </m:den>
                      </m:f>
                      <m:r>
                        <a:rPr lang="en-US" sz="2800">
                          <a:solidFill>
                            <a:schemeClr val="tx2">
                              <a:lumMod val="50000"/>
                            </a:schemeClr>
                          </a:solidFill>
                          <a:latin typeface="Cambria Math" panose="02040503050406030204" pitchFamily="18" charset="0"/>
                        </a:rPr>
                        <m:t>=</m:t>
                      </m:r>
                      <m:f>
                        <m:fPr>
                          <m:ctrlPr>
                            <a:rPr lang="en-IN" sz="2800" b="1" i="1">
                              <a:solidFill>
                                <a:schemeClr val="tx2">
                                  <a:lumMod val="50000"/>
                                </a:schemeClr>
                              </a:solidFill>
                              <a:latin typeface="Cambria Math" panose="02040503050406030204" pitchFamily="18" charset="0"/>
                            </a:rPr>
                          </m:ctrlPr>
                        </m:fPr>
                        <m:num>
                          <m:r>
                            <a:rPr lang="en-US" sz="2800" b="1" i="1">
                              <a:solidFill>
                                <a:schemeClr val="tx2">
                                  <a:lumMod val="50000"/>
                                </a:schemeClr>
                              </a:solidFill>
                              <a:latin typeface="Cambria Math" panose="02040503050406030204" pitchFamily="18" charset="0"/>
                            </a:rPr>
                            <m:t>𝟏</m:t>
                          </m:r>
                        </m:num>
                        <m:den>
                          <m:r>
                            <a:rPr lang="en-US" sz="2800" b="1" i="1">
                              <a:solidFill>
                                <a:schemeClr val="tx2">
                                  <a:lumMod val="50000"/>
                                </a:schemeClr>
                              </a:solidFill>
                              <a:latin typeface="Cambria Math" panose="02040503050406030204" pitchFamily="18" charset="0"/>
                            </a:rPr>
                            <m:t>𝟔</m:t>
                          </m:r>
                        </m:den>
                      </m:f>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q</m:t>
                      </m:r>
                      <m:r>
                        <a:rPr lang="en-US" sz="2800">
                          <a:solidFill>
                            <a:schemeClr val="tx2">
                              <a:lumMod val="50000"/>
                            </a:schemeClr>
                          </a:solidFill>
                          <a:latin typeface="Cambria Math" panose="02040503050406030204" pitchFamily="18" charset="0"/>
                        </a:rPr>
                        <m:t>=1−</m:t>
                      </m:r>
                      <m:r>
                        <m:rPr>
                          <m:sty m:val="p"/>
                        </m:rPr>
                        <a:rPr lang="en-US" sz="2800">
                          <a:solidFill>
                            <a:schemeClr val="tx2">
                              <a:lumMod val="50000"/>
                            </a:schemeClr>
                          </a:solidFill>
                          <a:latin typeface="Cambria Math" panose="02040503050406030204" pitchFamily="18" charset="0"/>
                        </a:rPr>
                        <m:t>p</m:t>
                      </m:r>
                      <m:r>
                        <a:rPr lang="en-US" sz="2800">
                          <a:solidFill>
                            <a:schemeClr val="tx2">
                              <a:lumMod val="50000"/>
                            </a:schemeClr>
                          </a:solidFill>
                          <a:latin typeface="Cambria Math" panose="02040503050406030204" pitchFamily="18" charset="0"/>
                        </a:rPr>
                        <m:t>=1−</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1</m:t>
                          </m:r>
                        </m:num>
                        <m:den>
                          <m:r>
                            <a:rPr lang="en-US" sz="2800">
                              <a:solidFill>
                                <a:schemeClr val="tx2">
                                  <a:lumMod val="50000"/>
                                </a:schemeClr>
                              </a:solidFill>
                              <a:latin typeface="Cambria Math" panose="02040503050406030204" pitchFamily="18" charset="0"/>
                            </a:rPr>
                            <m:t>6</m:t>
                          </m:r>
                        </m:den>
                      </m:f>
                      <m:r>
                        <a:rPr lang="en-US" sz="2800">
                          <a:solidFill>
                            <a:schemeClr val="tx2">
                              <a:lumMod val="50000"/>
                            </a:schemeClr>
                          </a:solidFill>
                          <a:latin typeface="Cambria Math" panose="02040503050406030204" pitchFamily="18" charset="0"/>
                        </a:rPr>
                        <m:t>=</m:t>
                      </m:r>
                      <m:f>
                        <m:fPr>
                          <m:ctrlPr>
                            <a:rPr lang="en-IN" sz="2800" b="1" i="1">
                              <a:solidFill>
                                <a:schemeClr val="tx2">
                                  <a:lumMod val="50000"/>
                                </a:schemeClr>
                              </a:solidFill>
                              <a:latin typeface="Cambria Math" panose="02040503050406030204" pitchFamily="18" charset="0"/>
                            </a:rPr>
                          </m:ctrlPr>
                        </m:fPr>
                        <m:num>
                          <m:r>
                            <a:rPr lang="en-US" sz="2800" b="1" i="1">
                              <a:solidFill>
                                <a:schemeClr val="tx2">
                                  <a:lumMod val="50000"/>
                                </a:schemeClr>
                              </a:solidFill>
                              <a:latin typeface="Cambria Math" panose="02040503050406030204" pitchFamily="18" charset="0"/>
                            </a:rPr>
                            <m:t>𝟓</m:t>
                          </m:r>
                        </m:num>
                        <m:den>
                          <m:r>
                            <a:rPr lang="en-US" sz="2800" b="1" i="1">
                              <a:solidFill>
                                <a:schemeClr val="tx2">
                                  <a:lumMod val="50000"/>
                                </a:schemeClr>
                              </a:solidFill>
                              <a:latin typeface="Cambria Math" panose="02040503050406030204" pitchFamily="18" charset="0"/>
                            </a:rPr>
                            <m:t>𝟔</m:t>
                          </m:r>
                        </m:den>
                      </m:f>
                    </m:oMath>
                  </m:oMathPara>
                </a14:m>
                <a:endParaRPr lang="en-IN" sz="2800" b="1" dirty="0">
                  <a:solidFill>
                    <a:schemeClr val="tx2">
                      <a:lumMod val="50000"/>
                    </a:schemeClr>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6" y="2558600"/>
                <a:ext cx="11929643" cy="3515193"/>
              </a:xfrm>
              <a:prstGeom prst="rect">
                <a:avLst/>
              </a:prstGeom>
              <a:blipFill rotWithShape="0">
                <a:blip r:embed="rId3"/>
                <a:stretch>
                  <a:fillRect l="-1074"/>
                </a:stretch>
              </a:blipFill>
            </p:spPr>
            <p:txBody>
              <a:bodyPr/>
              <a:lstStyle/>
              <a:p>
                <a:r>
                  <a:rPr lang="en-IN">
                    <a:noFill/>
                  </a:rPr>
                  <a:t> </a:t>
                </a:r>
              </a:p>
            </p:txBody>
          </p:sp>
        </mc:Fallback>
      </mc:AlternateContent>
    </p:spTree>
    <p:extLst>
      <p:ext uri="{BB962C8B-B14F-4D97-AF65-F5344CB8AC3E}">
        <p14:creationId xmlns:p14="http://schemas.microsoft.com/office/powerpoint/2010/main" val="253105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421205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Probability of getting the sum </a:t>
                </a:r>
                <a14:m>
                  <m:oMath xmlns:m="http://schemas.openxmlformats.org/officeDocument/2006/math">
                    <m:r>
                      <m:rPr>
                        <m:sty m:val="p"/>
                      </m:rPr>
                      <a:rPr lang="en-US" b="0" i="1">
                        <a:solidFill>
                          <a:schemeClr val="tx2">
                            <a:lumMod val="50000"/>
                          </a:schemeClr>
                        </a:solidFill>
                        <a:latin typeface="Cambria Math" panose="02040503050406030204" pitchFamily="18" charset="0"/>
                      </a:rPr>
                      <m:t>x</m:t>
                    </m:r>
                  </m:oMath>
                </a14:m>
                <a:r>
                  <a:rPr lang="en-US" dirty="0">
                    <a:solidFill>
                      <a:schemeClr val="tx2">
                        <a:lumMod val="50000"/>
                      </a:schemeClr>
                    </a:solidFill>
                  </a:rPr>
                  <a:t> times in 3 tosses of a pair of dice</a:t>
                </a:r>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b="0" i="1">
                                  <a:solidFill>
                                    <a:schemeClr val="tx2">
                                      <a:lumMod val="50000"/>
                                    </a:schemeClr>
                                  </a:solidFill>
                                  <a:latin typeface="Cambria Math" panose="02040503050406030204" pitchFamily="18" charset="0"/>
                                </a:rPr>
                                <m:t>n</m:t>
                              </m:r>
                            </m:num>
                            <m:den>
                              <m:r>
                                <m:rPr>
                                  <m:sty m:val="p"/>
                                </m:rPr>
                                <a:rPr lang="en-US" b="0" i="1">
                                  <a:solidFill>
                                    <a:schemeClr val="tx2">
                                      <a:lumMod val="50000"/>
                                    </a:schemeClr>
                                  </a:solidFill>
                                  <a:latin typeface="Cambria Math" panose="02040503050406030204" pitchFamily="18" charset="0"/>
                                </a:rPr>
                                <m:t>x</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p</m:t>
                          </m:r>
                        </m:e>
                        <m:sup>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q</m:t>
                          </m:r>
                        </m:e>
                        <m:sup>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smtClean="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3</m:t>
                              </m:r>
                            </m:num>
                            <m:den>
                              <m:r>
                                <m:rPr>
                                  <m:sty m:val="p"/>
                                </m:rPr>
                                <a:rPr lang="en-US" b="0" i="0">
                                  <a:solidFill>
                                    <a:schemeClr val="tx2">
                                      <a:lumMod val="50000"/>
                                    </a:schemeClr>
                                  </a:solidFill>
                                  <a:latin typeface="Cambria Math" panose="02040503050406030204" pitchFamily="18" charset="0"/>
                                </a:rPr>
                                <m:t>x</m:t>
                              </m:r>
                            </m:den>
                          </m:f>
                          <m:r>
                            <a:rPr lang="en-US" b="0" i="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6</m:t>
                                  </m:r>
                                </m:den>
                              </m:f>
                            </m:e>
                          </m:d>
                        </m:e>
                        <m:sup>
                          <m:r>
                            <m:rPr>
                              <m:sty m:val="p"/>
                            </m:rPr>
                            <a:rPr lang="en-US" b="0" i="0">
                              <a:solidFill>
                                <a:schemeClr val="tx2">
                                  <a:lumMod val="50000"/>
                                </a:schemeClr>
                              </a:solidFill>
                              <a:latin typeface="Cambria Math" panose="02040503050406030204" pitchFamily="18" charset="0"/>
                            </a:rPr>
                            <m:t>x</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5</m:t>
                                  </m:r>
                                </m:num>
                                <m:den>
                                  <m:r>
                                    <a:rPr lang="en-US" b="0" i="0">
                                      <a:solidFill>
                                        <a:schemeClr val="tx2">
                                          <a:lumMod val="50000"/>
                                        </a:schemeClr>
                                      </a:solidFill>
                                      <a:latin typeface="Cambria Math" panose="02040503050406030204" pitchFamily="18" charset="0"/>
                                    </a:rPr>
                                    <m:t>6</m:t>
                                  </m:r>
                                </m:den>
                              </m:f>
                            </m:e>
                          </m:d>
                        </m:e>
                        <m:sup>
                          <m:r>
                            <a:rPr lang="en-US" b="0" i="0">
                              <a:solidFill>
                                <a:schemeClr val="tx2">
                                  <a:lumMod val="50000"/>
                                </a:schemeClr>
                              </a:solidFill>
                              <a:latin typeface="Cambria Math" panose="02040503050406030204" pitchFamily="18" charset="0"/>
                            </a:rPr>
                            <m:t>3−</m:t>
                          </m:r>
                          <m:r>
                            <m:rPr>
                              <m:sty m:val="p"/>
                            </m:rPr>
                            <a:rPr lang="en-US" b="0" i="0">
                              <a:solidFill>
                                <a:schemeClr val="tx2">
                                  <a:lumMod val="50000"/>
                                </a:schemeClr>
                              </a:solidFill>
                              <a:latin typeface="Cambria Math" panose="02040503050406030204" pitchFamily="18" charset="0"/>
                            </a:rPr>
                            <m:t>x</m:t>
                          </m:r>
                        </m:sup>
                      </m:sSup>
                      <m:r>
                        <m:rPr>
                          <m:nor/>
                        </m:rPr>
                        <a:rPr lang="en-IN" dirty="0">
                          <a:solidFill>
                            <a:schemeClr val="tx2">
                              <a:lumMod val="50000"/>
                            </a:schemeClr>
                          </a:solidFill>
                        </a:rPr>
                        <m:t>−−−−−−−−−−−−−−−−−−−− (1)</m:t>
                      </m:r>
                    </m:oMath>
                  </m:oMathPara>
                </a14:m>
                <a:endParaRPr lang="en-IN" dirty="0">
                  <a:solidFill>
                    <a:schemeClr val="tx2">
                      <a:lumMod val="50000"/>
                    </a:schemeClr>
                  </a:solidFill>
                </a:endParaRPr>
              </a:p>
              <a:p>
                <a:pPr marL="0" indent="0" algn="l">
                  <a:lnSpc>
                    <a:spcPct val="150000"/>
                  </a:lnSpc>
                  <a:buNone/>
                  <a:tabLst>
                    <a:tab pos="447675" algn="l"/>
                  </a:tabLst>
                </a:pPr>
                <a:endParaRPr lang="en-IN" dirty="0">
                  <a:solidFill>
                    <a:schemeClr val="tx2">
                      <a:lumMod val="50000"/>
                    </a:schemeClr>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4212050"/>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139617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454214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rgbClr val="002060"/>
                    </a:solidFill>
                  </a:rPr>
                  <a:t>Probability of getting the sum as </a:t>
                </a:r>
                <a14:m>
                  <m:oMath xmlns:m="http://schemas.openxmlformats.org/officeDocument/2006/math">
                    <m:r>
                      <a:rPr lang="en-US">
                        <a:solidFill>
                          <a:srgbClr val="002060"/>
                        </a:solidFill>
                        <a:latin typeface="Cambria Math" panose="02040503050406030204" pitchFamily="18" charset="0"/>
                      </a:rPr>
                      <m:t>𝟕</m:t>
                    </m:r>
                  </m:oMath>
                </a14:m>
                <a:r>
                  <a:rPr lang="en-US" dirty="0">
                    <a:solidFill>
                      <a:srgbClr val="002060"/>
                    </a:solidFill>
                  </a:rPr>
                  <a:t> at least once in 3 tosses of a pair of dice</a:t>
                </a:r>
                <a:endParaRPr lang="en-IN" dirty="0">
                  <a:solidFill>
                    <a:srgbClr val="00206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rgbClr val="002060"/>
                          </a:solidFill>
                          <a:latin typeface="Cambria Math" panose="02040503050406030204" pitchFamily="18" charset="0"/>
                        </a:rPr>
                        <m:t>P</m:t>
                      </m:r>
                      <m:d>
                        <m:dPr>
                          <m:ctrlPr>
                            <a:rPr lang="en-IN" i="1">
                              <a:solidFill>
                                <a:srgbClr val="002060"/>
                              </a:solidFill>
                              <a:latin typeface="Cambria Math" panose="02040503050406030204" pitchFamily="18" charset="0"/>
                            </a:rPr>
                          </m:ctrlPr>
                        </m:dPr>
                        <m:e>
                          <m:r>
                            <m:rPr>
                              <m:sty m:val="p"/>
                            </m:rPr>
                            <a:rPr lang="en-US">
                              <a:solidFill>
                                <a:srgbClr val="002060"/>
                              </a:solidFill>
                              <a:latin typeface="Cambria Math" panose="02040503050406030204" pitchFamily="18" charset="0"/>
                            </a:rPr>
                            <m:t>X</m:t>
                          </m:r>
                          <m:r>
                            <a:rPr lang="en-US">
                              <a:solidFill>
                                <a:srgbClr val="002060"/>
                              </a:solidFill>
                              <a:latin typeface="Cambria Math" panose="02040503050406030204" pitchFamily="18" charset="0"/>
                            </a:rPr>
                            <m:t>≥1</m:t>
                          </m:r>
                        </m:e>
                      </m:d>
                      <m:r>
                        <a:rPr lang="en-US">
                          <a:solidFill>
                            <a:srgbClr val="002060"/>
                          </a:solidFill>
                          <a:latin typeface="Cambria Math" panose="02040503050406030204" pitchFamily="18" charset="0"/>
                        </a:rPr>
                        <m:t>=1−</m:t>
                      </m:r>
                      <m:r>
                        <m:rPr>
                          <m:sty m:val="p"/>
                        </m:rPr>
                        <a:rPr lang="en-US">
                          <a:solidFill>
                            <a:srgbClr val="002060"/>
                          </a:solidFill>
                          <a:latin typeface="Cambria Math" panose="02040503050406030204" pitchFamily="18" charset="0"/>
                        </a:rPr>
                        <m:t>P</m:t>
                      </m:r>
                      <m:r>
                        <a:rPr lang="en-US">
                          <a:solidFill>
                            <a:srgbClr val="002060"/>
                          </a:solidFill>
                          <a:latin typeface="Cambria Math" panose="02040503050406030204" pitchFamily="18" charset="0"/>
                        </a:rPr>
                        <m:t>(</m:t>
                      </m:r>
                      <m:r>
                        <m:rPr>
                          <m:sty m:val="p"/>
                        </m:rPr>
                        <a:rPr lang="en-US">
                          <a:solidFill>
                            <a:srgbClr val="002060"/>
                          </a:solidFill>
                          <a:latin typeface="Cambria Math" panose="02040503050406030204" pitchFamily="18" charset="0"/>
                        </a:rPr>
                        <m:t>X</m:t>
                      </m:r>
                      <m:r>
                        <a:rPr lang="en-US">
                          <a:solidFill>
                            <a:srgbClr val="002060"/>
                          </a:solidFill>
                          <a:latin typeface="Cambria Math" panose="02040503050406030204" pitchFamily="18" charset="0"/>
                        </a:rPr>
                        <m:t>=0)</m:t>
                      </m:r>
                    </m:oMath>
                  </m:oMathPara>
                </a14:m>
                <a:endParaRPr lang="en-IN" dirty="0">
                  <a:solidFill>
                    <a:srgbClr val="00206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rgbClr val="002060"/>
                          </a:solidFill>
                          <a:latin typeface="Cambria Math" panose="02040503050406030204" pitchFamily="18" charset="0"/>
                        </a:rPr>
                        <m:t>P</m:t>
                      </m:r>
                      <m:d>
                        <m:dPr>
                          <m:ctrlPr>
                            <a:rPr lang="en-IN" i="1">
                              <a:solidFill>
                                <a:srgbClr val="002060"/>
                              </a:solidFill>
                              <a:latin typeface="Cambria Math" panose="02040503050406030204" pitchFamily="18" charset="0"/>
                            </a:rPr>
                          </m:ctrlPr>
                        </m:dPr>
                        <m:e>
                          <m:r>
                            <m:rPr>
                              <m:sty m:val="p"/>
                            </m:rPr>
                            <a:rPr lang="en-US">
                              <a:solidFill>
                                <a:srgbClr val="002060"/>
                              </a:solidFill>
                              <a:latin typeface="Cambria Math" panose="02040503050406030204" pitchFamily="18" charset="0"/>
                            </a:rPr>
                            <m:t>X</m:t>
                          </m:r>
                          <m:r>
                            <a:rPr lang="en-US">
                              <a:solidFill>
                                <a:srgbClr val="002060"/>
                              </a:solidFill>
                              <a:latin typeface="Cambria Math" panose="02040503050406030204" pitchFamily="18" charset="0"/>
                            </a:rPr>
                            <m:t>≥1</m:t>
                          </m:r>
                        </m:e>
                      </m:d>
                      <m:r>
                        <a:rPr lang="en-US">
                          <a:solidFill>
                            <a:srgbClr val="002060"/>
                          </a:solidFill>
                          <a:latin typeface="Cambria Math" panose="02040503050406030204" pitchFamily="18" charset="0"/>
                        </a:rPr>
                        <m:t>=1−</m:t>
                      </m:r>
                      <m:d>
                        <m:dPr>
                          <m:begChr m:val="["/>
                          <m:endChr m:val="]"/>
                          <m:ctrlPr>
                            <a:rPr lang="en-IN" b="0" i="1" smtClean="0">
                              <a:solidFill>
                                <a:srgbClr val="002060"/>
                              </a:solidFill>
                              <a:latin typeface="Cambria Math" panose="02040503050406030204" pitchFamily="18" charset="0"/>
                            </a:rPr>
                          </m:ctrlPr>
                        </m:dPr>
                        <m:e>
                          <m:d>
                            <m:dPr>
                              <m:ctrlPr>
                                <a:rPr lang="en-IN" i="1">
                                  <a:solidFill>
                                    <a:srgbClr val="002060"/>
                                  </a:solidFill>
                                  <a:latin typeface="Cambria Math" panose="02040503050406030204" pitchFamily="18" charset="0"/>
                                </a:rPr>
                              </m:ctrlPr>
                            </m:dPr>
                            <m:e>
                              <m:r>
                                <a:rPr lang="en-US">
                                  <a:solidFill>
                                    <a:srgbClr val="002060"/>
                                  </a:solidFill>
                                  <a:latin typeface="Cambria Math" panose="02040503050406030204" pitchFamily="18" charset="0"/>
                                </a:rPr>
                                <m:t> </m:t>
                              </m:r>
                              <m:f>
                                <m:fPr>
                                  <m:type m:val="noBar"/>
                                  <m:ctrlPr>
                                    <a:rPr lang="en-IN" i="1">
                                      <a:solidFill>
                                        <a:srgbClr val="002060"/>
                                      </a:solidFill>
                                      <a:latin typeface="Cambria Math" panose="02040503050406030204" pitchFamily="18" charset="0"/>
                                    </a:rPr>
                                  </m:ctrlPr>
                                </m:fPr>
                                <m:num>
                                  <m:r>
                                    <a:rPr lang="en-US">
                                      <a:solidFill>
                                        <a:srgbClr val="002060"/>
                                      </a:solidFill>
                                      <a:latin typeface="Cambria Math" panose="02040503050406030204" pitchFamily="18" charset="0"/>
                                    </a:rPr>
                                    <m:t>3</m:t>
                                  </m:r>
                                </m:num>
                                <m:den>
                                  <m:r>
                                    <a:rPr lang="en-US">
                                      <a:solidFill>
                                        <a:srgbClr val="002060"/>
                                      </a:solidFill>
                                      <a:latin typeface="Cambria Math" panose="02040503050406030204" pitchFamily="18" charset="0"/>
                                    </a:rPr>
                                    <m:t>0</m:t>
                                  </m:r>
                                </m:den>
                              </m:f>
                              <m:r>
                                <a:rPr lang="en-US">
                                  <a:solidFill>
                                    <a:srgbClr val="002060"/>
                                  </a:solidFill>
                                  <a:latin typeface="Cambria Math" panose="02040503050406030204" pitchFamily="18" charset="0"/>
                                </a:rPr>
                                <m:t> </m:t>
                              </m:r>
                            </m:e>
                          </m:d>
                          <m:sSup>
                            <m:sSupPr>
                              <m:ctrlPr>
                                <a:rPr lang="en-IN" i="1">
                                  <a:solidFill>
                                    <a:srgbClr val="002060"/>
                                  </a:solidFill>
                                  <a:latin typeface="Cambria Math" panose="02040503050406030204" pitchFamily="18" charset="0"/>
                                </a:rPr>
                              </m:ctrlPr>
                            </m:sSupPr>
                            <m:e>
                              <m:d>
                                <m:dPr>
                                  <m:ctrlPr>
                                    <a:rPr lang="en-IN" i="1">
                                      <a:solidFill>
                                        <a:srgbClr val="002060"/>
                                      </a:solidFill>
                                      <a:latin typeface="Cambria Math" panose="02040503050406030204" pitchFamily="18" charset="0"/>
                                    </a:rPr>
                                  </m:ctrlPr>
                                </m:dPr>
                                <m:e>
                                  <m:f>
                                    <m:fPr>
                                      <m:ctrlPr>
                                        <a:rPr lang="en-IN" i="1">
                                          <a:solidFill>
                                            <a:srgbClr val="002060"/>
                                          </a:solidFill>
                                          <a:latin typeface="Cambria Math" panose="02040503050406030204" pitchFamily="18" charset="0"/>
                                        </a:rPr>
                                      </m:ctrlPr>
                                    </m:fPr>
                                    <m:num>
                                      <m:r>
                                        <a:rPr lang="en-US">
                                          <a:solidFill>
                                            <a:srgbClr val="002060"/>
                                          </a:solidFill>
                                          <a:latin typeface="Cambria Math" panose="02040503050406030204" pitchFamily="18" charset="0"/>
                                        </a:rPr>
                                        <m:t>1</m:t>
                                      </m:r>
                                    </m:num>
                                    <m:den>
                                      <m:r>
                                        <a:rPr lang="en-US">
                                          <a:solidFill>
                                            <a:srgbClr val="002060"/>
                                          </a:solidFill>
                                          <a:latin typeface="Cambria Math" panose="02040503050406030204" pitchFamily="18" charset="0"/>
                                        </a:rPr>
                                        <m:t>6</m:t>
                                      </m:r>
                                    </m:den>
                                  </m:f>
                                </m:e>
                              </m:d>
                            </m:e>
                            <m:sup>
                              <m:r>
                                <a:rPr lang="en-US">
                                  <a:solidFill>
                                    <a:srgbClr val="002060"/>
                                  </a:solidFill>
                                  <a:latin typeface="Cambria Math" panose="02040503050406030204" pitchFamily="18" charset="0"/>
                                </a:rPr>
                                <m:t>0</m:t>
                              </m:r>
                            </m:sup>
                          </m:sSup>
                          <m:r>
                            <a:rPr lang="en-US">
                              <a:solidFill>
                                <a:srgbClr val="002060"/>
                              </a:solidFill>
                              <a:latin typeface="Cambria Math" panose="02040503050406030204" pitchFamily="18" charset="0"/>
                            </a:rPr>
                            <m:t> </m:t>
                          </m:r>
                          <m:sSup>
                            <m:sSupPr>
                              <m:ctrlPr>
                                <a:rPr lang="en-IN" i="1">
                                  <a:solidFill>
                                    <a:srgbClr val="002060"/>
                                  </a:solidFill>
                                  <a:latin typeface="Cambria Math" panose="02040503050406030204" pitchFamily="18" charset="0"/>
                                </a:rPr>
                              </m:ctrlPr>
                            </m:sSupPr>
                            <m:e>
                              <m:d>
                                <m:dPr>
                                  <m:ctrlPr>
                                    <a:rPr lang="en-IN" i="1">
                                      <a:solidFill>
                                        <a:srgbClr val="002060"/>
                                      </a:solidFill>
                                      <a:latin typeface="Cambria Math" panose="02040503050406030204" pitchFamily="18" charset="0"/>
                                    </a:rPr>
                                  </m:ctrlPr>
                                </m:dPr>
                                <m:e>
                                  <m:f>
                                    <m:fPr>
                                      <m:ctrlPr>
                                        <a:rPr lang="en-IN" i="1">
                                          <a:solidFill>
                                            <a:srgbClr val="002060"/>
                                          </a:solidFill>
                                          <a:latin typeface="Cambria Math" panose="02040503050406030204" pitchFamily="18" charset="0"/>
                                        </a:rPr>
                                      </m:ctrlPr>
                                    </m:fPr>
                                    <m:num>
                                      <m:r>
                                        <a:rPr lang="en-US">
                                          <a:solidFill>
                                            <a:srgbClr val="002060"/>
                                          </a:solidFill>
                                          <a:latin typeface="Cambria Math" panose="02040503050406030204" pitchFamily="18" charset="0"/>
                                        </a:rPr>
                                        <m:t>5</m:t>
                                      </m:r>
                                    </m:num>
                                    <m:den>
                                      <m:r>
                                        <a:rPr lang="en-US">
                                          <a:solidFill>
                                            <a:srgbClr val="002060"/>
                                          </a:solidFill>
                                          <a:latin typeface="Cambria Math" panose="02040503050406030204" pitchFamily="18" charset="0"/>
                                        </a:rPr>
                                        <m:t>6</m:t>
                                      </m:r>
                                    </m:den>
                                  </m:f>
                                </m:e>
                              </m:d>
                            </m:e>
                            <m:sup>
                              <m:r>
                                <a:rPr lang="en-US">
                                  <a:solidFill>
                                    <a:srgbClr val="002060"/>
                                  </a:solidFill>
                                  <a:latin typeface="Cambria Math" panose="02040503050406030204" pitchFamily="18" charset="0"/>
                                </a:rPr>
                                <m:t>3−0</m:t>
                              </m:r>
                            </m:sup>
                          </m:sSup>
                        </m:e>
                      </m:d>
                      <m:r>
                        <a:rPr lang="en-IN" b="0" i="1" smtClean="0">
                          <a:solidFill>
                            <a:srgbClr val="002060"/>
                          </a:solidFill>
                          <a:latin typeface="Cambria Math" panose="02040503050406030204" pitchFamily="18" charset="0"/>
                        </a:rPr>
                        <m:t>   </m:t>
                      </m:r>
                      <m:r>
                        <m:rPr>
                          <m:nor/>
                        </m:rPr>
                        <a:rPr lang="en-US" dirty="0">
                          <a:solidFill>
                            <a:srgbClr val="002060"/>
                          </a:solidFill>
                        </a:rPr>
                        <m:t>(</m:t>
                      </m:r>
                      <m:r>
                        <m:rPr>
                          <m:nor/>
                        </m:rPr>
                        <a:rPr lang="en-US" dirty="0">
                          <a:solidFill>
                            <a:srgbClr val="002060"/>
                          </a:solidFill>
                        </a:rPr>
                        <m:t>By</m:t>
                      </m:r>
                      <m:r>
                        <m:rPr>
                          <m:nor/>
                        </m:rPr>
                        <a:rPr lang="en-US" dirty="0">
                          <a:solidFill>
                            <a:srgbClr val="002060"/>
                          </a:solidFill>
                        </a:rPr>
                        <m:t> </m:t>
                      </m:r>
                      <m:r>
                        <m:rPr>
                          <m:nor/>
                        </m:rPr>
                        <a:rPr lang="en-US" dirty="0">
                          <a:solidFill>
                            <a:srgbClr val="002060"/>
                          </a:solidFill>
                        </a:rPr>
                        <m:t>eq</m:t>
                      </m:r>
                      <m:r>
                        <m:rPr>
                          <m:nor/>
                        </m:rPr>
                        <a:rPr lang="en-US" dirty="0">
                          <a:solidFill>
                            <a:srgbClr val="002060"/>
                          </a:solidFill>
                        </a:rPr>
                        <m:t> − 1)</m:t>
                      </m:r>
                    </m:oMath>
                  </m:oMathPara>
                </a14:m>
                <a:endParaRPr lang="en-IN" dirty="0">
                  <a:solidFill>
                    <a:srgbClr val="002060"/>
                  </a:solidFill>
                </a:endParaRPr>
              </a:p>
              <a:p>
                <a:pPr marL="0" indent="0" algn="ctr">
                  <a:lnSpc>
                    <a:spcPct val="150000"/>
                  </a:lnSpc>
                  <a:buNone/>
                </a:pPr>
                <a14:m>
                  <m:oMathPara xmlns:m="http://schemas.openxmlformats.org/officeDocument/2006/math">
                    <m:oMathParaPr>
                      <m:jc m:val="left"/>
                    </m:oMathParaPr>
                    <m:oMath xmlns:m="http://schemas.openxmlformats.org/officeDocument/2006/math">
                      <m:r>
                        <m:rPr>
                          <m:sty m:val="p"/>
                        </m:rPr>
                        <a:rPr lang="en-US" b="0" i="0">
                          <a:solidFill>
                            <a:srgbClr val="002060"/>
                          </a:solidFill>
                          <a:latin typeface="Cambria Math" panose="02040503050406030204" pitchFamily="18" charset="0"/>
                        </a:rPr>
                        <m:t>P</m:t>
                      </m:r>
                      <m:d>
                        <m:dPr>
                          <m:ctrlPr>
                            <a:rPr lang="en-IN" i="1">
                              <a:solidFill>
                                <a:srgbClr val="002060"/>
                              </a:solidFill>
                              <a:latin typeface="Cambria Math" panose="02040503050406030204" pitchFamily="18" charset="0"/>
                            </a:rPr>
                          </m:ctrlPr>
                        </m:dPr>
                        <m:e>
                          <m:r>
                            <m:rPr>
                              <m:sty m:val="p"/>
                            </m:rPr>
                            <a:rPr lang="en-US" b="0" i="0">
                              <a:solidFill>
                                <a:srgbClr val="002060"/>
                              </a:solidFill>
                              <a:latin typeface="Cambria Math" panose="02040503050406030204" pitchFamily="18" charset="0"/>
                            </a:rPr>
                            <m:t>X</m:t>
                          </m:r>
                          <m:r>
                            <a:rPr lang="en-US" b="0" i="0">
                              <a:solidFill>
                                <a:srgbClr val="002060"/>
                              </a:solidFill>
                              <a:latin typeface="Cambria Math" panose="02040503050406030204" pitchFamily="18" charset="0"/>
                            </a:rPr>
                            <m:t>≥1</m:t>
                          </m:r>
                        </m:e>
                      </m:d>
                      <m:r>
                        <a:rPr lang="en-US" b="0" i="0">
                          <a:solidFill>
                            <a:srgbClr val="002060"/>
                          </a:solidFill>
                          <a:latin typeface="Cambria Math" panose="02040503050406030204" pitchFamily="18" charset="0"/>
                        </a:rPr>
                        <m:t>=1−</m:t>
                      </m:r>
                      <m:d>
                        <m:dPr>
                          <m:begChr m:val="["/>
                          <m:endChr m:val="]"/>
                          <m:ctrlPr>
                            <a:rPr lang="en-IN" i="1">
                              <a:solidFill>
                                <a:srgbClr val="002060"/>
                              </a:solidFill>
                              <a:latin typeface="Cambria Math" panose="02040503050406030204" pitchFamily="18" charset="0"/>
                            </a:rPr>
                          </m:ctrlPr>
                        </m:dPr>
                        <m:e>
                          <m:d>
                            <m:dPr>
                              <m:ctrlPr>
                                <a:rPr lang="en-IN" i="1">
                                  <a:solidFill>
                                    <a:srgbClr val="002060"/>
                                  </a:solidFill>
                                  <a:latin typeface="Cambria Math" panose="02040503050406030204" pitchFamily="18" charset="0"/>
                                </a:rPr>
                              </m:ctrlPr>
                            </m:dPr>
                            <m:e>
                              <m:f>
                                <m:fPr>
                                  <m:ctrlPr>
                                    <a:rPr lang="en-IN" i="1">
                                      <a:solidFill>
                                        <a:srgbClr val="002060"/>
                                      </a:solidFill>
                                      <a:latin typeface="Cambria Math" panose="02040503050406030204" pitchFamily="18" charset="0"/>
                                    </a:rPr>
                                  </m:ctrlPr>
                                </m:fPr>
                                <m:num>
                                  <m:r>
                                    <a:rPr lang="en-US" b="0" i="0">
                                      <a:solidFill>
                                        <a:srgbClr val="002060"/>
                                      </a:solidFill>
                                      <a:latin typeface="Cambria Math" panose="02040503050406030204" pitchFamily="18" charset="0"/>
                                    </a:rPr>
                                    <m:t>3!</m:t>
                                  </m:r>
                                </m:num>
                                <m:den>
                                  <m:d>
                                    <m:dPr>
                                      <m:ctrlPr>
                                        <a:rPr lang="en-IN" i="1">
                                          <a:solidFill>
                                            <a:srgbClr val="002060"/>
                                          </a:solidFill>
                                          <a:latin typeface="Cambria Math" panose="02040503050406030204" pitchFamily="18" charset="0"/>
                                        </a:rPr>
                                      </m:ctrlPr>
                                    </m:dPr>
                                    <m:e>
                                      <m:r>
                                        <a:rPr lang="en-US" b="0" i="0">
                                          <a:solidFill>
                                            <a:srgbClr val="002060"/>
                                          </a:solidFill>
                                          <a:latin typeface="Cambria Math" panose="02040503050406030204" pitchFamily="18" charset="0"/>
                                        </a:rPr>
                                        <m:t>0!</m:t>
                                      </m:r>
                                    </m:e>
                                  </m:d>
                                  <m:d>
                                    <m:dPr>
                                      <m:ctrlPr>
                                        <a:rPr lang="en-IN" i="1">
                                          <a:solidFill>
                                            <a:srgbClr val="002060"/>
                                          </a:solidFill>
                                          <a:latin typeface="Cambria Math" panose="02040503050406030204" pitchFamily="18" charset="0"/>
                                        </a:rPr>
                                      </m:ctrlPr>
                                    </m:dPr>
                                    <m:e>
                                      <m:r>
                                        <a:rPr lang="en-US" b="0" i="0">
                                          <a:solidFill>
                                            <a:srgbClr val="002060"/>
                                          </a:solidFill>
                                          <a:latin typeface="Cambria Math" panose="02040503050406030204" pitchFamily="18" charset="0"/>
                                        </a:rPr>
                                        <m:t>3!</m:t>
                                      </m:r>
                                    </m:e>
                                  </m:d>
                                </m:den>
                              </m:f>
                            </m:e>
                          </m:d>
                          <m:r>
                            <a:rPr lang="en-US" b="0" i="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r>
                                <a:rPr lang="en-US" b="0" i="0">
                                  <a:solidFill>
                                    <a:srgbClr val="002060"/>
                                  </a:solidFill>
                                  <a:latin typeface="Cambria Math" panose="02040503050406030204" pitchFamily="18" charset="0"/>
                                </a:rPr>
                                <m:t>1</m:t>
                              </m:r>
                            </m:e>
                          </m:d>
                          <m:r>
                            <a:rPr lang="en-US" b="0" i="0">
                              <a:solidFill>
                                <a:srgbClr val="002060"/>
                              </a:solidFill>
                              <a:latin typeface="Cambria Math" panose="02040503050406030204" pitchFamily="18" charset="0"/>
                            </a:rPr>
                            <m:t> </m:t>
                          </m:r>
                          <m:d>
                            <m:dPr>
                              <m:ctrlPr>
                                <a:rPr lang="en-IN" i="1">
                                  <a:solidFill>
                                    <a:srgbClr val="002060"/>
                                  </a:solidFill>
                                  <a:latin typeface="Cambria Math" panose="02040503050406030204" pitchFamily="18" charset="0"/>
                                </a:rPr>
                              </m:ctrlPr>
                            </m:dPr>
                            <m:e>
                              <m:f>
                                <m:fPr>
                                  <m:ctrlPr>
                                    <a:rPr lang="en-IN" i="1">
                                      <a:solidFill>
                                        <a:srgbClr val="002060"/>
                                      </a:solidFill>
                                      <a:latin typeface="Cambria Math" panose="02040503050406030204" pitchFamily="18" charset="0"/>
                                    </a:rPr>
                                  </m:ctrlPr>
                                </m:fPr>
                                <m:num>
                                  <m:sSup>
                                    <m:sSupPr>
                                      <m:ctrlPr>
                                        <a:rPr lang="en-IN" i="1">
                                          <a:solidFill>
                                            <a:srgbClr val="002060"/>
                                          </a:solidFill>
                                          <a:latin typeface="Cambria Math" panose="02040503050406030204" pitchFamily="18" charset="0"/>
                                        </a:rPr>
                                      </m:ctrlPr>
                                    </m:sSupPr>
                                    <m:e>
                                      <m:r>
                                        <a:rPr lang="en-US" b="0" i="0">
                                          <a:solidFill>
                                            <a:srgbClr val="002060"/>
                                          </a:solidFill>
                                          <a:latin typeface="Cambria Math" panose="02040503050406030204" pitchFamily="18" charset="0"/>
                                        </a:rPr>
                                        <m:t>5</m:t>
                                      </m:r>
                                    </m:e>
                                    <m:sup>
                                      <m:r>
                                        <a:rPr lang="en-US" b="0" i="0">
                                          <a:solidFill>
                                            <a:srgbClr val="002060"/>
                                          </a:solidFill>
                                          <a:latin typeface="Cambria Math" panose="02040503050406030204" pitchFamily="18" charset="0"/>
                                        </a:rPr>
                                        <m:t>3</m:t>
                                      </m:r>
                                    </m:sup>
                                  </m:sSup>
                                </m:num>
                                <m:den>
                                  <m:sSup>
                                    <m:sSupPr>
                                      <m:ctrlPr>
                                        <a:rPr lang="en-IN" i="1">
                                          <a:solidFill>
                                            <a:srgbClr val="002060"/>
                                          </a:solidFill>
                                          <a:latin typeface="Cambria Math" panose="02040503050406030204" pitchFamily="18" charset="0"/>
                                        </a:rPr>
                                      </m:ctrlPr>
                                    </m:sSupPr>
                                    <m:e>
                                      <m:r>
                                        <a:rPr lang="en-US" b="0" i="0">
                                          <a:solidFill>
                                            <a:srgbClr val="002060"/>
                                          </a:solidFill>
                                          <a:latin typeface="Cambria Math" panose="02040503050406030204" pitchFamily="18" charset="0"/>
                                        </a:rPr>
                                        <m:t>6</m:t>
                                      </m:r>
                                    </m:e>
                                    <m:sup>
                                      <m:r>
                                        <a:rPr lang="en-US" b="0" i="0">
                                          <a:solidFill>
                                            <a:srgbClr val="002060"/>
                                          </a:solidFill>
                                          <a:latin typeface="Cambria Math" panose="02040503050406030204" pitchFamily="18" charset="0"/>
                                        </a:rPr>
                                        <m:t>3</m:t>
                                      </m:r>
                                    </m:sup>
                                  </m:sSup>
                                </m:den>
                              </m:f>
                            </m:e>
                          </m:d>
                        </m:e>
                      </m:d>
                    </m:oMath>
                  </m:oMathPara>
                </a14:m>
                <a:endParaRPr lang="en-IN" dirty="0">
                  <a:solidFill>
                    <a:srgbClr val="002060"/>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4542141"/>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256670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67623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smtClean="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3!</m:t>
                                  </m:r>
                                </m:num>
                                <m:den>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m:t>
                                      </m:r>
                                    </m:e>
                                  </m:d>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3!</m:t>
                                      </m:r>
                                    </m:e>
                                  </m:d>
                                </m:den>
                              </m:f>
                            </m:e>
                          </m:d>
                          <m:r>
                            <a:rPr lang="en-US">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5</m:t>
                                      </m:r>
                                    </m:e>
                                    <m:sup>
                                      <m:r>
                                        <a:rPr lang="en-US">
                                          <a:solidFill>
                                            <a:schemeClr val="tx2">
                                              <a:lumMod val="50000"/>
                                            </a:schemeClr>
                                          </a:solidFill>
                                          <a:latin typeface="Cambria Math" panose="02040503050406030204" pitchFamily="18" charset="0"/>
                                        </a:rPr>
                                        <m:t>3</m:t>
                                      </m:r>
                                    </m:sup>
                                  </m:sSup>
                                </m:num>
                                <m:den>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6</m:t>
                                      </m:r>
                                    </m:e>
                                    <m:sup>
                                      <m:r>
                                        <a:rPr lang="en-US">
                                          <a:solidFill>
                                            <a:schemeClr val="tx2">
                                              <a:lumMod val="50000"/>
                                            </a:schemeClr>
                                          </a:solidFill>
                                          <a:latin typeface="Cambria Math" panose="02040503050406030204" pitchFamily="18" charset="0"/>
                                        </a:rPr>
                                        <m:t>3</m:t>
                                      </m:r>
                                    </m:sup>
                                  </m:sSup>
                                </m:den>
                              </m:f>
                            </m:e>
                          </m:d>
                        </m:e>
                      </m:d>
                    </m:oMath>
                  </m:oMathPara>
                </a14:m>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125</m:t>
                                  </m:r>
                                </m:num>
                                <m:den>
                                  <m:r>
                                    <a:rPr lang="en-US">
                                      <a:solidFill>
                                        <a:schemeClr val="tx2">
                                          <a:lumMod val="50000"/>
                                        </a:schemeClr>
                                      </a:solidFill>
                                      <a:latin typeface="Cambria Math" panose="02040503050406030204" pitchFamily="18" charset="0"/>
                                    </a:rPr>
                                    <m:t>216</m:t>
                                  </m:r>
                                </m:den>
                              </m:f>
                            </m:e>
                          </m:d>
                        </m:e>
                      </m:d>
                    </m:oMath>
                  </m:oMathPara>
                </a14:m>
                <a:endParaRPr lang="en-IN" dirty="0">
                  <a:solidFill>
                    <a:schemeClr val="tx2">
                      <a:lumMod val="50000"/>
                    </a:schemeClr>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125</m:t>
                                  </m:r>
                                </m:num>
                                <m:den>
                                  <m:r>
                                    <a:rPr lang="en-US">
                                      <a:solidFill>
                                        <a:schemeClr val="tx2">
                                          <a:lumMod val="50000"/>
                                        </a:schemeClr>
                                      </a:solidFill>
                                      <a:latin typeface="Cambria Math" panose="02040503050406030204" pitchFamily="18" charset="0"/>
                                    </a:rPr>
                                    <m:t>216</m:t>
                                  </m:r>
                                </m:den>
                              </m:f>
                            </m:e>
                          </m:d>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smtClean="0">
                          <a:solidFill>
                            <a:srgbClr val="FF0000"/>
                          </a:solidFill>
                          <a:latin typeface="Cambria Math" panose="02040503050406030204" pitchFamily="18" charset="0"/>
                        </a:rPr>
                        <m:t>𝐏</m:t>
                      </m:r>
                      <m:d>
                        <m:dPr>
                          <m:ctrlPr>
                            <a:rPr lang="en-IN" i="1">
                              <a:solidFill>
                                <a:srgbClr val="FF0000"/>
                              </a:solidFill>
                              <a:latin typeface="Cambria Math" panose="02040503050406030204" pitchFamily="18" charset="0"/>
                            </a:rPr>
                          </m:ctrlPr>
                        </m:dPr>
                        <m:e>
                          <m:r>
                            <a:rPr lang="en-US">
                              <a:solidFill>
                                <a:srgbClr val="FF0000"/>
                              </a:solidFill>
                              <a:latin typeface="Cambria Math" panose="02040503050406030204" pitchFamily="18" charset="0"/>
                            </a:rPr>
                            <m:t>𝐗</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𝟏</m:t>
                          </m:r>
                        </m:e>
                      </m:d>
                      <m:r>
                        <a:rPr lang="en-US">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US">
                              <a:solidFill>
                                <a:srgbClr val="FF0000"/>
                              </a:solidFill>
                              <a:latin typeface="Cambria Math" panose="02040503050406030204" pitchFamily="18" charset="0"/>
                            </a:rPr>
                            <m:t>𝟗𝟏</m:t>
                          </m:r>
                        </m:num>
                        <m:den>
                          <m:r>
                            <a:rPr lang="en-US">
                              <a:solidFill>
                                <a:srgbClr val="FF0000"/>
                              </a:solidFill>
                              <a:latin typeface="Cambria Math" panose="02040503050406030204" pitchFamily="18" charset="0"/>
                            </a:rPr>
                            <m:t>𝟐𝟏𝟔</m:t>
                          </m:r>
                        </m:den>
                      </m:f>
                    </m:oMath>
                  </m:oMathPara>
                </a14:m>
                <a:endParaRPr lang="en-IN" dirty="0">
                  <a:solidFill>
                    <a:schemeClr val="tx2">
                      <a:lumMod val="50000"/>
                    </a:schemeClr>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676234"/>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0531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282770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probability that India wins a cricket test match against Australia is given to be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3</m:t>
                        </m:r>
                      </m:den>
                    </m:f>
                    <m:r>
                      <a:rPr lang="en-US">
                        <a:latin typeface="Cambria Math" panose="02040503050406030204" pitchFamily="18" charset="0"/>
                      </a:rPr>
                      <m:t>. </m:t>
                    </m:r>
                  </m:oMath>
                </a14:m>
                <a:r>
                  <a:rPr lang="en-IN" dirty="0"/>
                  <a:t>If India and Australia play 3 test matches, what is the probability</a:t>
                </a:r>
              </a:p>
              <a:p>
                <a:r>
                  <a:rPr lang="en-US" dirty="0"/>
                  <a:t>(a)   India will lose all the three test matches?</a:t>
                </a:r>
                <a:endParaRPr lang="en-IN" dirty="0"/>
              </a:p>
              <a:p>
                <a:r>
                  <a:rPr lang="en-US" dirty="0"/>
                  <a:t>(b)   India will win at least one test match?</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2827708"/>
              </a:xfrm>
              <a:prstGeom prst="rect">
                <a:avLst/>
              </a:prstGeom>
              <a:blipFill rotWithShape="0">
                <a:blip r:embed="rId2"/>
                <a:stretch>
                  <a:fillRect l="-1074" r="-1074" b="-540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5</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85938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808702" y="3811064"/>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rgbClr val="FF0000"/>
                </a:solidFill>
              </a:rPr>
              <a:t>(a) Method – 1 Success : Lose all three test match</a:t>
            </a:r>
            <a:endParaRPr lang="en-IN" dirty="0">
              <a:solidFill>
                <a:srgbClr val="FF0000"/>
              </a:solidFill>
            </a:endParaRPr>
          </a:p>
        </p:txBody>
      </p:sp>
      <mc:AlternateContent xmlns:mc="http://schemas.openxmlformats.org/markup-compatibility/2006" xmlns:a14="http://schemas.microsoft.com/office/drawing/2010/main">
        <mc:Choice Requires="a14">
          <p:sp>
            <p:nvSpPr>
              <p:cNvPr id="3" name="Rectangle 2"/>
              <p:cNvSpPr/>
              <p:nvPr/>
            </p:nvSpPr>
            <p:spPr>
              <a:xfrm>
                <a:off x="131177" y="4574858"/>
                <a:ext cx="11929643" cy="1306512"/>
              </a:xfrm>
              <a:prstGeom prst="rect">
                <a:avLst/>
              </a:prstGeom>
            </p:spPr>
            <p:txBody>
              <a:bodyPr wrap="square">
                <a:spAutoFit/>
              </a:bodyPr>
              <a:lstStyle/>
              <a:p>
                <a:pPr>
                  <a:lnSpc>
                    <a:spcPct val="150000"/>
                  </a:lnSpc>
                  <a:spcBef>
                    <a:spcPts val="10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rPr>
                        <m:t>p</m:t>
                      </m:r>
                      <m:r>
                        <a:rPr lang="en-US" sz="2800" b="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b="0" i="1">
                              <a:solidFill>
                                <a:schemeClr val="tx2">
                                  <a:lumMod val="50000"/>
                                </a:schemeClr>
                              </a:solidFill>
                              <a:latin typeface="Cambria Math" panose="02040503050406030204" pitchFamily="18" charset="0"/>
                            </a:rPr>
                            <m:t>2</m:t>
                          </m:r>
                        </m:num>
                        <m:den>
                          <m:r>
                            <a:rPr lang="en-US" sz="2800" b="0" i="1">
                              <a:solidFill>
                                <a:schemeClr val="tx2">
                                  <a:lumMod val="50000"/>
                                </a:schemeClr>
                              </a:solidFill>
                              <a:latin typeface="Cambria Math" panose="02040503050406030204" pitchFamily="18" charset="0"/>
                            </a:rPr>
                            <m:t>3</m:t>
                          </m:r>
                        </m:den>
                      </m:f>
                      <m:r>
                        <a:rPr lang="en-US" sz="2800" b="0">
                          <a:solidFill>
                            <a:schemeClr val="tx2">
                              <a:lumMod val="50000"/>
                            </a:schemeClr>
                          </a:solidFill>
                          <a:latin typeface="Cambria Math" panose="02040503050406030204" pitchFamily="18" charset="0"/>
                        </a:rPr>
                        <m:t> &amp; </m:t>
                      </m:r>
                      <m:r>
                        <m:rPr>
                          <m:sty m:val="p"/>
                        </m:rPr>
                        <a:rPr lang="en-US" sz="2800" b="0" i="1">
                          <a:solidFill>
                            <a:schemeClr val="tx2">
                              <a:lumMod val="50000"/>
                            </a:schemeClr>
                          </a:solidFill>
                          <a:latin typeface="Cambria Math" panose="02040503050406030204" pitchFamily="18" charset="0"/>
                        </a:rPr>
                        <m:t>q</m:t>
                      </m:r>
                      <m:r>
                        <a:rPr lang="en-US" sz="2800" b="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b="0" i="1">
                              <a:solidFill>
                                <a:schemeClr val="tx2">
                                  <a:lumMod val="50000"/>
                                </a:schemeClr>
                              </a:solidFill>
                              <a:latin typeface="Cambria Math" panose="02040503050406030204" pitchFamily="18" charset="0"/>
                            </a:rPr>
                            <m:t>1</m:t>
                          </m:r>
                        </m:num>
                        <m:den>
                          <m:r>
                            <a:rPr lang="en-US" sz="2800" b="0" i="1">
                              <a:solidFill>
                                <a:schemeClr val="tx2">
                                  <a:lumMod val="50000"/>
                                </a:schemeClr>
                              </a:solidFill>
                              <a:latin typeface="Cambria Math" panose="02040503050406030204" pitchFamily="18" charset="0"/>
                            </a:rPr>
                            <m:t>3</m:t>
                          </m:r>
                        </m:den>
                      </m:f>
                      <m:r>
                        <a:rPr lang="en-US" sz="2800" b="0">
                          <a:solidFill>
                            <a:schemeClr val="tx2">
                              <a:lumMod val="50000"/>
                            </a:schemeClr>
                          </a:solidFill>
                          <a:latin typeface="Cambria Math" panose="02040503050406030204" pitchFamily="18" charset="0"/>
                        </a:rPr>
                        <m:t>, </m:t>
                      </m:r>
                      <m:r>
                        <m:rPr>
                          <m:sty m:val="p"/>
                        </m:rPr>
                        <a:rPr lang="en-US" sz="2800" b="0" i="1">
                          <a:solidFill>
                            <a:schemeClr val="tx2">
                              <a:lumMod val="50000"/>
                            </a:schemeClr>
                          </a:solidFill>
                          <a:latin typeface="Cambria Math" panose="02040503050406030204" pitchFamily="18" charset="0"/>
                        </a:rPr>
                        <m:t>x</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3</m:t>
                      </m:r>
                      <m:r>
                        <a:rPr lang="en-US" sz="2800" b="0">
                          <a:solidFill>
                            <a:schemeClr val="tx2">
                              <a:lumMod val="50000"/>
                            </a:schemeClr>
                          </a:solidFill>
                          <a:latin typeface="Cambria Math" panose="02040503050406030204" pitchFamily="18" charset="0"/>
                        </a:rPr>
                        <m:t>, </m:t>
                      </m:r>
                      <m:r>
                        <m:rPr>
                          <m:sty m:val="p"/>
                        </m:rPr>
                        <a:rPr lang="en-US" sz="2800" b="0" i="1">
                          <a:solidFill>
                            <a:schemeClr val="tx2">
                              <a:lumMod val="50000"/>
                            </a:schemeClr>
                          </a:solidFill>
                          <a:latin typeface="Cambria Math" panose="02040503050406030204" pitchFamily="18" charset="0"/>
                        </a:rPr>
                        <m:t>n</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3</m:t>
                      </m:r>
                    </m:oMath>
                  </m:oMathPara>
                </a14:m>
                <a:endParaRPr lang="en-IN" sz="2800" dirty="0">
                  <a:solidFill>
                    <a:schemeClr val="tx2">
                      <a:lumMod val="50000"/>
                    </a:schemeClr>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7" y="4574858"/>
                <a:ext cx="11929643" cy="1306512"/>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5947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45065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smtClean="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=3</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3</m:t>
                              </m:r>
                            </m:num>
                            <m:den>
                              <m:r>
                                <a:rPr lang="en-US">
                                  <a:solidFill>
                                    <a:schemeClr val="tx2">
                                      <a:lumMod val="50000"/>
                                    </a:schemeClr>
                                  </a:solidFill>
                                  <a:latin typeface="Cambria Math" panose="02040503050406030204" pitchFamily="18" charset="0"/>
                                </a:rPr>
                                <m:t>3</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2</m:t>
                                  </m:r>
                                </m:num>
                                <m:den>
                                  <m:r>
                                    <a:rPr lang="en-US">
                                      <a:solidFill>
                                        <a:schemeClr val="tx2">
                                          <a:lumMod val="50000"/>
                                        </a:schemeClr>
                                      </a:solidFill>
                                      <a:latin typeface="Cambria Math" panose="02040503050406030204" pitchFamily="18" charset="0"/>
                                    </a:rPr>
                                    <m:t>3</m:t>
                                  </m:r>
                                </m:den>
                              </m:f>
                            </m:e>
                          </m:d>
                        </m:e>
                        <m:sup>
                          <m:r>
                            <a:rPr lang="en-US">
                              <a:solidFill>
                                <a:schemeClr val="tx2">
                                  <a:lumMod val="50000"/>
                                </a:schemeClr>
                              </a:solidFill>
                              <a:latin typeface="Cambria Math" panose="02040503050406030204" pitchFamily="18" charset="0"/>
                            </a:rPr>
                            <m:t>3</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a:rPr lang="en-US">
                                      <a:solidFill>
                                        <a:schemeClr val="tx2">
                                          <a:lumMod val="50000"/>
                                        </a:schemeClr>
                                      </a:solidFill>
                                      <a:latin typeface="Cambria Math" panose="02040503050406030204" pitchFamily="18" charset="0"/>
                                    </a:rPr>
                                    <m:t>3</m:t>
                                  </m:r>
                                </m:den>
                              </m:f>
                            </m:e>
                          </m:d>
                        </m:e>
                        <m:sup>
                          <m:r>
                            <a:rPr lang="en-US">
                              <a:solidFill>
                                <a:schemeClr val="tx2">
                                  <a:lumMod val="50000"/>
                                </a:schemeClr>
                              </a:solidFill>
                              <a:latin typeface="Cambria Math" panose="02040503050406030204" pitchFamily="18" charset="0"/>
                            </a:rPr>
                            <m:t>0</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=3</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3!</m:t>
                              </m:r>
                            </m:num>
                            <m:den>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3!</m:t>
                                  </m:r>
                                </m:e>
                              </m:d>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m:t>
                                  </m:r>
                                </m:e>
                              </m:d>
                            </m:den>
                          </m:f>
                        </m:e>
                      </m:d>
                      <m:r>
                        <a:rPr lang="en-US">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2</m:t>
                                  </m:r>
                                </m:e>
                                <m:sup>
                                  <m:r>
                                    <a:rPr lang="en-US">
                                      <a:solidFill>
                                        <a:schemeClr val="tx2">
                                          <a:lumMod val="50000"/>
                                        </a:schemeClr>
                                      </a:solidFill>
                                      <a:latin typeface="Cambria Math" panose="02040503050406030204" pitchFamily="18" charset="0"/>
                                    </a:rPr>
                                    <m:t>3</m:t>
                                  </m:r>
                                </m:sup>
                              </m:sSup>
                            </m:num>
                            <m:den>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3</m:t>
                                  </m:r>
                                </m:e>
                                <m:sup>
                                  <m:r>
                                    <a:rPr lang="en-US">
                                      <a:solidFill>
                                        <a:schemeClr val="tx2">
                                          <a:lumMod val="50000"/>
                                        </a:schemeClr>
                                      </a:solidFill>
                                      <a:latin typeface="Cambria Math" panose="02040503050406030204" pitchFamily="18" charset="0"/>
                                    </a:rPr>
                                    <m:t>3</m:t>
                                  </m:r>
                                </m:sup>
                              </m:sSup>
                            </m:den>
                          </m:f>
                        </m:e>
                      </m:d>
                      <m:r>
                        <a:rPr lang="en-US">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1</m:t>
                                  </m:r>
                                </m:e>
                                <m:sup>
                                  <m:r>
                                    <a:rPr lang="en-US">
                                      <a:solidFill>
                                        <a:schemeClr val="tx2">
                                          <a:lumMod val="50000"/>
                                        </a:schemeClr>
                                      </a:solidFill>
                                      <a:latin typeface="Cambria Math" panose="02040503050406030204" pitchFamily="18" charset="0"/>
                                    </a:rPr>
                                    <m:t>0</m:t>
                                  </m:r>
                                </m:sup>
                              </m:sSup>
                            </m:num>
                            <m:den>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3</m:t>
                                  </m:r>
                                </m:e>
                                <m:sup>
                                  <m:r>
                                    <a:rPr lang="en-US">
                                      <a:solidFill>
                                        <a:schemeClr val="tx2">
                                          <a:lumMod val="50000"/>
                                        </a:schemeClr>
                                      </a:solidFill>
                                      <a:latin typeface="Cambria Math" panose="02040503050406030204" pitchFamily="18" charset="0"/>
                                    </a:rPr>
                                    <m:t>0</m:t>
                                  </m:r>
                                </m:sup>
                              </m:sSup>
                            </m:den>
                          </m:f>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smtClean="0">
                          <a:solidFill>
                            <a:srgbClr val="FF0000"/>
                          </a:solidFill>
                          <a:latin typeface="Cambria Math" panose="02040503050406030204" pitchFamily="18" charset="0"/>
                        </a:rPr>
                        <m:t>𝐏</m:t>
                      </m:r>
                      <m:d>
                        <m:dPr>
                          <m:ctrlPr>
                            <a:rPr lang="en-IN" i="1">
                              <a:solidFill>
                                <a:srgbClr val="FF0000"/>
                              </a:solidFill>
                              <a:latin typeface="Cambria Math" panose="02040503050406030204" pitchFamily="18" charset="0"/>
                            </a:rPr>
                          </m:ctrlPr>
                        </m:dPr>
                        <m:e>
                          <m:r>
                            <a:rPr lang="en-US">
                              <a:solidFill>
                                <a:srgbClr val="FF0000"/>
                              </a:solidFill>
                              <a:latin typeface="Cambria Math" panose="02040503050406030204" pitchFamily="18" charset="0"/>
                            </a:rPr>
                            <m:t>𝐗</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𝟑</m:t>
                          </m:r>
                        </m:e>
                      </m:d>
                      <m:r>
                        <a:rPr lang="en-US">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US">
                              <a:solidFill>
                                <a:srgbClr val="FF0000"/>
                              </a:solidFill>
                              <a:latin typeface="Cambria Math" panose="02040503050406030204" pitchFamily="18" charset="0"/>
                            </a:rPr>
                            <m:t>𝟖</m:t>
                          </m:r>
                        </m:num>
                        <m:den>
                          <m:r>
                            <a:rPr lang="en-US">
                              <a:solidFill>
                                <a:srgbClr val="FF0000"/>
                              </a:solidFill>
                              <a:latin typeface="Cambria Math" panose="02040503050406030204" pitchFamily="18" charset="0"/>
                            </a:rPr>
                            <m:t>𝟐𝟕</m:t>
                          </m:r>
                        </m:den>
                      </m:f>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𝟎</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𝟐𝟗𝟔𝟑</m:t>
                      </m:r>
                    </m:oMath>
                  </m:oMathPara>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450659"/>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1011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49686" y="669495"/>
                <a:ext cx="11284978" cy="610032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rgbClr val="FF0000"/>
                    </a:solidFill>
                  </a:rPr>
                  <a:t>(a) Method – 2 Success : win zero test match</a:t>
                </a:r>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r>
                        <a:rPr lang="en-US" i="1">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3</m:t>
                          </m:r>
                        </m:den>
                      </m:f>
                      <m:r>
                        <a:rPr lang="en-US" i="1">
                          <a:solidFill>
                            <a:schemeClr val="tx2">
                              <a:lumMod val="50000"/>
                            </a:schemeClr>
                          </a:solidFill>
                          <a:latin typeface="Cambria Math" panose="02040503050406030204" pitchFamily="18" charset="0"/>
                        </a:rPr>
                        <m:t> &amp; </m:t>
                      </m:r>
                      <m:r>
                        <m:rPr>
                          <m:sty m:val="p"/>
                        </m:rPr>
                        <a:rPr lang="en-US" i="1">
                          <a:solidFill>
                            <a:schemeClr val="tx2">
                              <a:lumMod val="50000"/>
                            </a:schemeClr>
                          </a:solidFill>
                          <a:latin typeface="Cambria Math" panose="02040503050406030204" pitchFamily="18" charset="0"/>
                        </a:rPr>
                        <m:t>q</m:t>
                      </m:r>
                      <m:r>
                        <a:rPr lang="en-US" i="1">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2</m:t>
                          </m:r>
                        </m:num>
                        <m:den>
                          <m:r>
                            <a:rPr lang="en-US" i="1">
                              <a:solidFill>
                                <a:schemeClr val="tx2">
                                  <a:lumMod val="50000"/>
                                </a:schemeClr>
                              </a:solidFill>
                              <a:latin typeface="Cambria Math" panose="02040503050406030204" pitchFamily="18" charset="0"/>
                            </a:rPr>
                            <m:t>3</m:t>
                          </m:r>
                        </m:den>
                      </m:f>
                      <m:r>
                        <a:rPr lang="en-US" i="1">
                          <a:solidFill>
                            <a:schemeClr val="tx2">
                              <a:lumMod val="50000"/>
                            </a:schemeClr>
                          </a:solidFill>
                          <a:latin typeface="Cambria Math" panose="02040503050406030204" pitchFamily="18" charset="0"/>
                        </a:rPr>
                        <m:t>, </m:t>
                      </m:r>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=0, </m:t>
                      </m:r>
                      <m:r>
                        <m:rPr>
                          <m:sty m:val="p"/>
                        </m:rPr>
                        <a:rPr lang="en-US" i="1">
                          <a:solidFill>
                            <a:schemeClr val="tx2">
                              <a:lumMod val="50000"/>
                            </a:schemeClr>
                          </a:solidFill>
                          <a:latin typeface="Cambria Math" panose="02040503050406030204" pitchFamily="18" charset="0"/>
                        </a:rPr>
                        <m:t>n</m:t>
                      </m:r>
                      <m:r>
                        <a:rPr lang="en-US" i="1">
                          <a:solidFill>
                            <a:schemeClr val="tx2">
                              <a:lumMod val="50000"/>
                            </a:schemeClr>
                          </a:solidFill>
                          <a:latin typeface="Cambria Math" panose="02040503050406030204" pitchFamily="18" charset="0"/>
                        </a:rPr>
                        <m:t>=3</m:t>
                      </m:r>
                    </m:oMath>
                  </m:oMathPara>
                </a14:m>
                <a:endParaRPr lang="en-US"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x</m:t>
                          </m:r>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i="1">
                                  <a:solidFill>
                                    <a:schemeClr val="tx2">
                                      <a:lumMod val="50000"/>
                                    </a:schemeClr>
                                  </a:solidFill>
                                  <a:latin typeface="Cambria Math" panose="02040503050406030204" pitchFamily="18" charset="0"/>
                                </a:rPr>
                                <m:t>n</m:t>
                              </m:r>
                            </m:num>
                            <m:den>
                              <m:r>
                                <m:rPr>
                                  <m:sty m:val="p"/>
                                </m:rPr>
                                <a:rPr lang="en-US" i="1">
                                  <a:solidFill>
                                    <a:schemeClr val="tx2">
                                      <a:lumMod val="50000"/>
                                    </a:schemeClr>
                                  </a:solidFill>
                                  <a:latin typeface="Cambria Math" panose="02040503050406030204" pitchFamily="18" charset="0"/>
                                </a:rPr>
                                <m:t>x</m:t>
                              </m:r>
                            </m:den>
                          </m:f>
                          <m:r>
                            <a:rPr lang="en-US" i="1">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i="1">
                              <a:solidFill>
                                <a:schemeClr val="tx2">
                                  <a:lumMod val="50000"/>
                                </a:schemeClr>
                              </a:solidFill>
                              <a:latin typeface="Cambria Math" panose="02040503050406030204" pitchFamily="18" charset="0"/>
                            </a:rPr>
                            <m:t>p</m:t>
                          </m:r>
                        </m:e>
                        <m:sup>
                          <m:r>
                            <m:rPr>
                              <m:sty m:val="p"/>
                            </m:rPr>
                            <a:rPr lang="en-US" i="1">
                              <a:solidFill>
                                <a:schemeClr val="tx2">
                                  <a:lumMod val="50000"/>
                                </a:schemeClr>
                              </a:solidFill>
                              <a:latin typeface="Cambria Math" panose="02040503050406030204" pitchFamily="18" charset="0"/>
                            </a:rPr>
                            <m:t>x</m:t>
                          </m:r>
                        </m:sup>
                      </m:sSup>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1">
                              <a:solidFill>
                                <a:schemeClr val="tx2">
                                  <a:lumMod val="50000"/>
                                </a:schemeClr>
                              </a:solidFill>
                              <a:latin typeface="Cambria Math" panose="02040503050406030204" pitchFamily="18" charset="0"/>
                            </a:rPr>
                            <m:t>q</m:t>
                          </m:r>
                        </m:e>
                        <m:sup>
                          <m:r>
                            <m:rPr>
                              <m:sty m:val="p"/>
                            </m:rPr>
                            <a:rPr lang="en-US" i="1">
                              <a:solidFill>
                                <a:schemeClr val="tx2">
                                  <a:lumMod val="50000"/>
                                </a:schemeClr>
                              </a:solidFill>
                              <a:latin typeface="Cambria Math" panose="02040503050406030204" pitchFamily="18" charset="0"/>
                            </a:rPr>
                            <m:t>n</m:t>
                          </m:r>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x</m:t>
                          </m:r>
                        </m:sup>
                      </m:sSup>
                      <m:r>
                        <a:rPr lang="en-US" i="1">
                          <a:solidFill>
                            <a:schemeClr val="tx2">
                              <a:lumMod val="50000"/>
                            </a:schemeClr>
                          </a:solidFill>
                          <a:latin typeface="Cambria Math" panose="02040503050406030204" pitchFamily="18" charset="0"/>
                        </a:rPr>
                        <m:t>  ;</m:t>
                      </m:r>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=0, 1, 2,…, </m:t>
                      </m:r>
                      <m:r>
                        <m:rPr>
                          <m:sty m:val="p"/>
                        </m:rPr>
                        <a:rPr lang="en-US" i="1">
                          <a:solidFill>
                            <a:schemeClr val="tx2">
                              <a:lumMod val="50000"/>
                            </a:schemeClr>
                          </a:solidFill>
                          <a:latin typeface="Cambria Math" panose="02040503050406030204" pitchFamily="18" charset="0"/>
                        </a:rPr>
                        <m:t>n</m:t>
                      </m:r>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=0</m:t>
                          </m:r>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3</m:t>
                              </m:r>
                            </m:num>
                            <m:den>
                              <m:r>
                                <a:rPr lang="en-US" i="1">
                                  <a:solidFill>
                                    <a:schemeClr val="tx2">
                                      <a:lumMod val="50000"/>
                                    </a:schemeClr>
                                  </a:solidFill>
                                  <a:latin typeface="Cambria Math" panose="02040503050406030204" pitchFamily="18" charset="0"/>
                                </a:rPr>
                                <m:t>0</m:t>
                              </m:r>
                            </m:den>
                          </m:f>
                          <m:r>
                            <a:rPr lang="en-US" i="1">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3</m:t>
                                  </m:r>
                                </m:den>
                              </m:f>
                            </m:e>
                          </m:d>
                        </m:e>
                        <m:sup>
                          <m:r>
                            <a:rPr lang="en-US" i="1">
                              <a:solidFill>
                                <a:schemeClr val="tx2">
                                  <a:lumMod val="50000"/>
                                </a:schemeClr>
                              </a:solidFill>
                              <a:latin typeface="Cambria Math" panose="02040503050406030204" pitchFamily="18" charset="0"/>
                            </a:rPr>
                            <m:t>0</m:t>
                          </m:r>
                        </m:sup>
                      </m:sSup>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2</m:t>
                                  </m:r>
                                </m:num>
                                <m:den>
                                  <m:r>
                                    <a:rPr lang="en-US" i="1">
                                      <a:solidFill>
                                        <a:schemeClr val="tx2">
                                          <a:lumMod val="50000"/>
                                        </a:schemeClr>
                                      </a:solidFill>
                                      <a:latin typeface="Cambria Math" panose="02040503050406030204" pitchFamily="18" charset="0"/>
                                    </a:rPr>
                                    <m:t>3</m:t>
                                  </m:r>
                                </m:den>
                              </m:f>
                            </m:e>
                          </m:d>
                        </m:e>
                        <m:sup>
                          <m:r>
                            <a:rPr lang="en-US" i="1">
                              <a:solidFill>
                                <a:schemeClr val="tx2">
                                  <a:lumMod val="50000"/>
                                </a:schemeClr>
                              </a:solidFill>
                              <a:latin typeface="Cambria Math" panose="02040503050406030204" pitchFamily="18" charset="0"/>
                            </a:rPr>
                            <m:t>3</m:t>
                          </m:r>
                        </m:sup>
                      </m:sSup>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3!</m:t>
                              </m:r>
                            </m:num>
                            <m:den>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3!</m:t>
                                  </m:r>
                                </m:e>
                              </m:d>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0!</m:t>
                                  </m:r>
                                </m:e>
                              </m:d>
                            </m:den>
                          </m:f>
                        </m:e>
                      </m:d>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1</m:t>
                                  </m:r>
                                </m:e>
                                <m:sup>
                                  <m:r>
                                    <a:rPr lang="en-US" b="0" i="0">
                                      <a:solidFill>
                                        <a:schemeClr val="tx2">
                                          <a:lumMod val="50000"/>
                                        </a:schemeClr>
                                      </a:solidFill>
                                      <a:latin typeface="Cambria Math" panose="02040503050406030204" pitchFamily="18" charset="0"/>
                                    </a:rPr>
                                    <m:t>0</m:t>
                                  </m:r>
                                </m:sup>
                              </m:sSup>
                            </m:num>
                            <m:den>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3</m:t>
                                  </m:r>
                                </m:e>
                                <m:sup>
                                  <m:r>
                                    <a:rPr lang="en-US" b="0" i="0">
                                      <a:solidFill>
                                        <a:schemeClr val="tx2">
                                          <a:lumMod val="50000"/>
                                        </a:schemeClr>
                                      </a:solidFill>
                                      <a:latin typeface="Cambria Math" panose="02040503050406030204" pitchFamily="18" charset="0"/>
                                    </a:rPr>
                                    <m:t>0</m:t>
                                  </m:r>
                                </m:sup>
                              </m:sSup>
                            </m:den>
                          </m:f>
                        </m:e>
                      </m:d>
                      <m:r>
                        <a:rPr lang="en-US" b="0" i="0">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2</m:t>
                                  </m:r>
                                </m:e>
                                <m:sup>
                                  <m:r>
                                    <a:rPr lang="en-US" b="0" i="0">
                                      <a:solidFill>
                                        <a:schemeClr val="tx2">
                                          <a:lumMod val="50000"/>
                                        </a:schemeClr>
                                      </a:solidFill>
                                      <a:latin typeface="Cambria Math" panose="02040503050406030204" pitchFamily="18" charset="0"/>
                                    </a:rPr>
                                    <m:t>3</m:t>
                                  </m:r>
                                </m:sup>
                              </m:sSup>
                            </m:num>
                            <m:den>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3</m:t>
                                  </m:r>
                                </m:e>
                                <m:sup>
                                  <m:r>
                                    <a:rPr lang="en-US" b="0" i="0">
                                      <a:solidFill>
                                        <a:schemeClr val="tx2">
                                          <a:lumMod val="50000"/>
                                        </a:schemeClr>
                                      </a:solidFill>
                                      <a:latin typeface="Cambria Math" panose="02040503050406030204" pitchFamily="18" charset="0"/>
                                    </a:rPr>
                                    <m:t>3</m:t>
                                  </m:r>
                                </m:sup>
                              </m:sSup>
                            </m:den>
                          </m:f>
                        </m:e>
                      </m:d>
                      <m:r>
                        <a:rPr lang="en-IN" b="0" i="0" smtClean="0">
                          <a:solidFill>
                            <a:schemeClr val="tx2">
                              <a:lumMod val="50000"/>
                            </a:schemeClr>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US">
                              <a:solidFill>
                                <a:srgbClr val="FF0000"/>
                              </a:solidFill>
                              <a:latin typeface="Cambria Math" panose="02040503050406030204" pitchFamily="18" charset="0"/>
                            </a:rPr>
                            <m:t>𝟖</m:t>
                          </m:r>
                        </m:num>
                        <m:den>
                          <m:r>
                            <a:rPr lang="en-US">
                              <a:solidFill>
                                <a:srgbClr val="FF0000"/>
                              </a:solidFill>
                              <a:latin typeface="Cambria Math" panose="02040503050406030204" pitchFamily="18" charset="0"/>
                            </a:rPr>
                            <m:t>𝟐𝟕</m:t>
                          </m:r>
                        </m:den>
                      </m:f>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𝟎</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𝟐𝟗𝟔𝟑</m:t>
                      </m:r>
                    </m:oMath>
                  </m:oMathPara>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49686" y="669495"/>
                <a:ext cx="11284978" cy="6100324"/>
              </a:xfrm>
              <a:prstGeom prst="rect">
                <a:avLst/>
              </a:prstGeom>
              <a:blipFill rotWithShape="0">
                <a:blip r:embed="rId2"/>
                <a:stretch>
                  <a:fillRect l="-1135"/>
                </a:stretch>
              </a:blipFill>
            </p:spPr>
            <p:txBody>
              <a:bodyPr/>
              <a:lstStyle/>
              <a:p>
                <a:r>
                  <a:rPr lang="en-IN">
                    <a:noFill/>
                  </a:rPr>
                  <a:t> </a:t>
                </a:r>
              </a:p>
            </p:txBody>
          </p:sp>
        </mc:Fallback>
      </mc:AlternateContent>
    </p:spTree>
    <p:extLst>
      <p:ext uri="{BB962C8B-B14F-4D97-AF65-F5344CB8AC3E}">
        <p14:creationId xmlns:p14="http://schemas.microsoft.com/office/powerpoint/2010/main" val="33862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05112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pPr>
                <a:r>
                  <a:rPr lang="en-US" dirty="0">
                    <a:solidFill>
                      <a:srgbClr val="FF0000"/>
                    </a:solidFill>
                  </a:rPr>
                  <a:t>(b) Success: win at least one test match</a:t>
                </a:r>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3</m:t>
                          </m:r>
                        </m:den>
                      </m:f>
                      <m:r>
                        <a:rPr lang="en-US" b="0" i="0">
                          <a:solidFill>
                            <a:schemeClr val="tx2">
                              <a:lumMod val="50000"/>
                            </a:schemeClr>
                          </a:solidFill>
                          <a:latin typeface="Cambria Math" panose="02040503050406030204" pitchFamily="18" charset="0"/>
                        </a:rPr>
                        <m:t> &amp; </m:t>
                      </m:r>
                      <m:r>
                        <m:rPr>
                          <m:sty m:val="p"/>
                        </m:rPr>
                        <a:rPr lang="en-US" b="0" i="0">
                          <a:solidFill>
                            <a:schemeClr val="tx2">
                              <a:lumMod val="50000"/>
                            </a:schemeClr>
                          </a:solidFill>
                          <a:latin typeface="Cambria Math" panose="02040503050406030204" pitchFamily="18" charset="0"/>
                        </a:rPr>
                        <m:t>q</m:t>
                      </m:r>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2</m:t>
                          </m:r>
                        </m:num>
                        <m:den>
                          <m:r>
                            <a:rPr lang="en-US" b="0" i="0">
                              <a:solidFill>
                                <a:schemeClr val="tx2">
                                  <a:lumMod val="50000"/>
                                </a:schemeClr>
                              </a:solidFill>
                              <a:latin typeface="Cambria Math" panose="02040503050406030204" pitchFamily="18" charset="0"/>
                            </a:rPr>
                            <m:t>3</m:t>
                          </m:r>
                        </m:den>
                      </m:f>
                      <m:r>
                        <a:rPr lang="en-US" b="0" i="0">
                          <a:solidFill>
                            <a:schemeClr val="tx2">
                              <a:lumMod val="50000"/>
                            </a:schemeClr>
                          </a:solidFill>
                          <a:latin typeface="Cambria Math" panose="02040503050406030204" pitchFamily="18" charset="0"/>
                        </a:rPr>
                        <m:t>, </m:t>
                      </m:r>
                      <m:r>
                        <m:rPr>
                          <m:sty m:val="p"/>
                        </m:rPr>
                        <a:rPr lang="en-US" b="0" i="0">
                          <a:solidFill>
                            <a:schemeClr val="tx2">
                              <a:lumMod val="50000"/>
                            </a:schemeClr>
                          </a:solidFill>
                          <a:latin typeface="Cambria Math" panose="02040503050406030204" pitchFamily="18" charset="0"/>
                        </a:rPr>
                        <m:t>n</m:t>
                      </m:r>
                      <m:r>
                        <a:rPr lang="en-US" b="0" i="0">
                          <a:solidFill>
                            <a:schemeClr val="tx2">
                              <a:lumMod val="50000"/>
                            </a:schemeClr>
                          </a:solidFill>
                          <a:latin typeface="Cambria Math" panose="02040503050406030204" pitchFamily="18" charset="0"/>
                        </a:rPr>
                        <m:t>=3, </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=1,2,3</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(3)</m:t>
                    </m:r>
                  </m:oMath>
                </a14:m>
                <a:r>
                  <a:rPr lang="en-US" dirty="0">
                    <a:solidFill>
                      <a:schemeClr val="tx2">
                        <a:lumMod val="50000"/>
                      </a:schemeClr>
                    </a:solidFill>
                    <a:latin typeface="Cambria Math" panose="02040503050406030204" pitchFamily="18" charset="0"/>
                  </a:rPr>
                  <a:t>  </a:t>
                </a:r>
                <a:r>
                  <a:rPr lang="en-US" b="1" dirty="0">
                    <a:solidFill>
                      <a:schemeClr val="tx2">
                        <a:lumMod val="50000"/>
                      </a:schemeClr>
                    </a:solidFill>
                    <a:latin typeface="Cambria Math" panose="02040503050406030204" pitchFamily="18" charset="0"/>
                  </a:rPr>
                  <a:t>OR</a:t>
                </a:r>
                <a:endParaRPr lang="en-IN" b="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=1−</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&lt;1)</m:t>
                    </m:r>
                  </m:oMath>
                </a14:m>
                <a:r>
                  <a:rPr lang="en-US" dirty="0">
                    <a:solidFill>
                      <a:schemeClr val="tx2">
                        <a:lumMod val="50000"/>
                      </a:schemeClr>
                    </a:solidFill>
                    <a:latin typeface="Cambria Math" panose="02040503050406030204" pitchFamily="18" charset="0"/>
                  </a:rPr>
                  <a:t> </a:t>
                </a:r>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=1−</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(0)</m:t>
                    </m:r>
                  </m:oMath>
                </a14:m>
                <a:r>
                  <a:rPr lang="en-US" dirty="0">
                    <a:solidFill>
                      <a:schemeClr val="tx2">
                        <a:lumMod val="50000"/>
                      </a:schemeClr>
                    </a:solidFill>
                    <a:latin typeface="Cambria Math" panose="02040503050406030204" pitchFamily="18" charset="0"/>
                  </a:rPr>
                  <a:t> </a:t>
                </a:r>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=1−0.2963=</m:t>
                    </m:r>
                    <m:r>
                      <a:rPr lang="en-US" b="1" i="0" smtClean="0">
                        <a:solidFill>
                          <a:srgbClr val="FF0000"/>
                        </a:solidFill>
                        <a:latin typeface="Cambria Math" panose="02040503050406030204" pitchFamily="18" charset="0"/>
                      </a:rPr>
                      <m:t>𝟎</m:t>
                    </m:r>
                    <m:r>
                      <a:rPr lang="en-US" b="1" i="0" smtClean="0">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𝟕𝟎𝟑𝟕</m:t>
                    </m:r>
                  </m:oMath>
                </a14:m>
                <a:r>
                  <a:rPr lang="en-US" dirty="0">
                    <a:solidFill>
                      <a:schemeClr val="tx2">
                        <a:lumMod val="50000"/>
                      </a:schemeClr>
                    </a:solidFill>
                    <a:latin typeface="Cambria Math" panose="02040503050406030204" pitchFamily="18" charset="0"/>
                  </a:rPr>
                  <a:t> </a:t>
                </a: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051126"/>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157898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2"/>
                <a:ext cx="11929643" cy="1792231"/>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probability that in a university, a student will be a post-graduate is </a:t>
                </a:r>
                <a14:m>
                  <m:oMath xmlns:m="http://schemas.openxmlformats.org/officeDocument/2006/math">
                    <m:r>
                      <a:rPr lang="en-US">
                        <a:latin typeface="Cambria Math" panose="02040503050406030204" pitchFamily="18" charset="0"/>
                      </a:rPr>
                      <m:t>0.6.</m:t>
                    </m:r>
                  </m:oMath>
                </a14:m>
                <a:r>
                  <a:rPr lang="en-US" dirty="0"/>
                  <a:t> Determine probability that out of 8 students none, two and at least two will be post-graduate.</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2"/>
                <a:ext cx="11929643" cy="1792231"/>
              </a:xfrm>
              <a:prstGeom prst="rect">
                <a:avLst/>
              </a:prstGeom>
              <a:blipFill rotWithShape="0">
                <a:blip r:embed="rId2"/>
                <a:stretch>
                  <a:fillRect l="-1074" t="-1701" r="-1074" b="-11905"/>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1 ⇝ Example 6</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89557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808702" y="2792667"/>
            <a:ext cx="10200837" cy="66684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Success of event = Student will be a post graduate</a:t>
            </a:r>
            <a:endParaRPr lang="en-IN" dirty="0">
              <a:solidFill>
                <a:schemeClr val="tx2">
                  <a:lumMod val="50000"/>
                </a:schemeClr>
              </a:solidFill>
            </a:endParaRPr>
          </a:p>
        </p:txBody>
      </p:sp>
      <mc:AlternateContent xmlns:mc="http://schemas.openxmlformats.org/markup-compatibility/2006" xmlns:a14="http://schemas.microsoft.com/office/drawing/2010/main">
        <mc:Choice Requires="a14">
          <p:sp>
            <p:nvSpPr>
              <p:cNvPr id="3" name="Rectangle 2"/>
              <p:cNvSpPr/>
              <p:nvPr/>
            </p:nvSpPr>
            <p:spPr>
              <a:xfrm>
                <a:off x="131177" y="3556590"/>
                <a:ext cx="11929643" cy="738664"/>
              </a:xfrm>
              <a:prstGeom prst="rect">
                <a:avLst/>
              </a:prstGeom>
            </p:spPr>
            <p:txBody>
              <a:bodyPr wrap="square">
                <a:spAutoFit/>
              </a:bodyPr>
              <a:lstStyle/>
              <a:p>
                <a:pPr>
                  <a:lnSpc>
                    <a:spcPct val="150000"/>
                  </a:lnSpc>
                  <a:spcBef>
                    <a:spcPts val="10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i="1" smtClean="0">
                          <a:solidFill>
                            <a:schemeClr val="tx2">
                              <a:lumMod val="50000"/>
                            </a:schemeClr>
                          </a:solidFill>
                          <a:latin typeface="Cambria Math" panose="02040503050406030204" pitchFamily="18" charset="0"/>
                        </a:rPr>
                        <m:t>n</m:t>
                      </m:r>
                      <m:r>
                        <a:rPr lang="en-US" sz="2800">
                          <a:solidFill>
                            <a:schemeClr val="tx2">
                              <a:lumMod val="50000"/>
                            </a:schemeClr>
                          </a:solidFill>
                          <a:latin typeface="Cambria Math" panose="02040503050406030204" pitchFamily="18" charset="0"/>
                        </a:rPr>
                        <m:t>=</m:t>
                      </m:r>
                      <m:r>
                        <a:rPr lang="en-US" sz="2800" i="1">
                          <a:solidFill>
                            <a:schemeClr val="tx2">
                              <a:lumMod val="50000"/>
                            </a:schemeClr>
                          </a:solidFill>
                          <a:latin typeface="Cambria Math" panose="02040503050406030204" pitchFamily="18" charset="0"/>
                        </a:rPr>
                        <m:t>8</m:t>
                      </m:r>
                      <m:r>
                        <a:rPr lang="en-IN" sz="2800" b="0" i="1" smtClean="0">
                          <a:solidFill>
                            <a:schemeClr val="tx2">
                              <a:lumMod val="50000"/>
                            </a:schemeClr>
                          </a:solidFill>
                          <a:latin typeface="Cambria Math" panose="02040503050406030204" pitchFamily="18" charset="0"/>
                        </a:rPr>
                        <m:t>, </m:t>
                      </m:r>
                      <m:r>
                        <m:rPr>
                          <m:sty m:val="p"/>
                        </m:rPr>
                        <a:rPr lang="en-US" sz="2800" b="0" i="1">
                          <a:solidFill>
                            <a:schemeClr val="tx2">
                              <a:lumMod val="50000"/>
                            </a:schemeClr>
                          </a:solidFill>
                          <a:latin typeface="Cambria Math" panose="02040503050406030204" pitchFamily="18" charset="0"/>
                        </a:rPr>
                        <m:t>p</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6</m:t>
                      </m:r>
                      <m:r>
                        <a:rPr lang="en-IN" sz="2800" b="0" i="0" smtClean="0">
                          <a:solidFill>
                            <a:schemeClr val="tx2">
                              <a:lumMod val="50000"/>
                            </a:schemeClr>
                          </a:solidFill>
                          <a:latin typeface="Cambria Math" panose="02040503050406030204" pitchFamily="18" charset="0"/>
                        </a:rPr>
                        <m:t> &amp; </m:t>
                      </m:r>
                      <m:r>
                        <m:rPr>
                          <m:sty m:val="p"/>
                        </m:rPr>
                        <a:rPr lang="en-US" sz="2800" b="0" i="1">
                          <a:solidFill>
                            <a:schemeClr val="tx2">
                              <a:lumMod val="50000"/>
                            </a:schemeClr>
                          </a:solidFill>
                          <a:latin typeface="Cambria Math" panose="02040503050406030204" pitchFamily="18" charset="0"/>
                        </a:rPr>
                        <m:t>q</m:t>
                      </m:r>
                      <m:r>
                        <a:rPr lang="en-US" sz="2800" b="0">
                          <a:solidFill>
                            <a:schemeClr val="tx2">
                              <a:lumMod val="50000"/>
                            </a:schemeClr>
                          </a:solidFill>
                          <a:latin typeface="Cambria Math" panose="02040503050406030204" pitchFamily="18" charset="0"/>
                        </a:rPr>
                        <m:t>=</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1</m:t>
                          </m:r>
                          <m:r>
                            <a:rPr lang="en-US" sz="2800" b="0">
                              <a:solidFill>
                                <a:schemeClr val="tx2">
                                  <a:lumMod val="50000"/>
                                </a:schemeClr>
                              </a:solidFill>
                              <a:latin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rPr>
                            <m:t>p</m:t>
                          </m:r>
                        </m:e>
                      </m:d>
                      <m:r>
                        <a:rPr lang="en-US" sz="2800" b="0">
                          <a:solidFill>
                            <a:schemeClr val="tx2">
                              <a:lumMod val="50000"/>
                            </a:schemeClr>
                          </a:solidFill>
                          <a:latin typeface="Cambria Math" panose="02040503050406030204" pitchFamily="18" charset="0"/>
                        </a:rPr>
                        <m:t>=</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1</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6</m:t>
                          </m:r>
                        </m:e>
                      </m:d>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4</m:t>
                      </m:r>
                    </m:oMath>
                  </m:oMathPara>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7" y="3556590"/>
                <a:ext cx="11929643" cy="738664"/>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2324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6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3939668"/>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(a) Probability that out of 8 students nobody will be post-graduate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0">
                        <a:solidFill>
                          <a:srgbClr val="FF0000"/>
                        </a:solidFill>
                        <a:latin typeface="Cambria Math" panose="02040503050406030204" pitchFamily="18" charset="0"/>
                      </a:rPr>
                      <m:t>=0</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8</m:t>
                              </m:r>
                            </m:num>
                            <m:den>
                              <m:r>
                                <a:rPr lang="en-US">
                                  <a:solidFill>
                                    <a:schemeClr val="tx2">
                                      <a:lumMod val="50000"/>
                                    </a:schemeClr>
                                  </a:solidFill>
                                  <a:latin typeface="Cambria Math" panose="02040503050406030204" pitchFamily="18" charset="0"/>
                                </a:rPr>
                                <m:t>0</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0.6</m:t>
                              </m:r>
                            </m:e>
                          </m:d>
                        </m:e>
                        <m:sup>
                          <m:r>
                            <a:rPr lang="en-US">
                              <a:solidFill>
                                <a:schemeClr val="tx2">
                                  <a:lumMod val="50000"/>
                                </a:schemeClr>
                              </a:solidFill>
                              <a:latin typeface="Cambria Math" panose="02040503050406030204" pitchFamily="18" charset="0"/>
                            </a:rPr>
                            <m:t>0</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0.4</m:t>
                              </m:r>
                            </m:e>
                          </m:d>
                        </m:e>
                        <m:sup>
                          <m:r>
                            <a:rPr lang="en-US">
                              <a:solidFill>
                                <a:schemeClr val="tx2">
                                  <a:lumMod val="50000"/>
                                </a:schemeClr>
                              </a:solidFill>
                              <a:latin typeface="Cambria Math" panose="02040503050406030204" pitchFamily="18" charset="0"/>
                            </a:rPr>
                            <m:t>8</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𝟎𝟎𝟎𝟕</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3939668"/>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406060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6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3939668"/>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(b) Probability that out of 8 students 2 will be post-graduate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0">
                        <a:solidFill>
                          <a:srgbClr val="FF0000"/>
                        </a:solidFill>
                        <a:latin typeface="Cambria Math" panose="02040503050406030204" pitchFamily="18" charset="0"/>
                      </a:rPr>
                      <m:t>=</m:t>
                    </m:r>
                    <m:r>
                      <a:rPr lang="en-IN" b="0" i="0" smtClean="0">
                        <a:solidFill>
                          <a:srgbClr val="FF0000"/>
                        </a:solidFill>
                        <a:latin typeface="Cambria Math" panose="02040503050406030204" pitchFamily="18" charset="0"/>
                      </a:rPr>
                      <m:t>2</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=2</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8</m:t>
                              </m:r>
                            </m:num>
                            <m:den>
                              <m:r>
                                <a:rPr lang="en-IN" b="0" i="0" smtClean="0">
                                  <a:solidFill>
                                    <a:schemeClr val="tx2">
                                      <a:lumMod val="50000"/>
                                    </a:schemeClr>
                                  </a:solidFill>
                                  <a:latin typeface="Cambria Math" panose="02040503050406030204" pitchFamily="18" charset="0"/>
                                </a:rPr>
                                <m:t>2</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0.6</m:t>
                              </m:r>
                            </m:e>
                          </m:d>
                        </m:e>
                        <m:sup>
                          <m:r>
                            <a:rPr lang="en-IN" b="0" i="0" smtClean="0">
                              <a:solidFill>
                                <a:schemeClr val="tx2">
                                  <a:lumMod val="50000"/>
                                </a:schemeClr>
                              </a:solidFill>
                              <a:latin typeface="Cambria Math" panose="02040503050406030204" pitchFamily="18" charset="0"/>
                            </a:rPr>
                            <m:t>2</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0.4</m:t>
                              </m:r>
                            </m:e>
                          </m:d>
                        </m:e>
                        <m:sup>
                          <m:r>
                            <a:rPr lang="en-IN" b="0" i="0" smtClean="0">
                              <a:solidFill>
                                <a:schemeClr val="tx2">
                                  <a:lumMod val="50000"/>
                                </a:schemeClr>
                              </a:solidFill>
                              <a:latin typeface="Cambria Math" panose="02040503050406030204" pitchFamily="18" charset="0"/>
                            </a:rPr>
                            <m:t>6</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𝐗</m:t>
                          </m:r>
                          <m:r>
                            <a:rPr lang="en-US" b="1">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𝟐</m:t>
                          </m:r>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r>
                        <a:rPr lang="en-IN" b="1" i="1" smtClean="0">
                          <a:solidFill>
                            <a:srgbClr val="FF0000"/>
                          </a:solidFill>
                          <a:latin typeface="Cambria Math" panose="02040503050406030204" pitchFamily="18" charset="0"/>
                        </a:rPr>
                        <m:t>𝟒𝟏𝟑</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3939668"/>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233874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6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48881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(c) Probability that out of 8 students at least 2 will be post-graduate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1" smtClean="0">
                        <a:solidFill>
                          <a:srgbClr val="FF0000"/>
                        </a:solidFill>
                        <a:latin typeface="Cambria Math" panose="02040503050406030204" pitchFamily="18" charset="0"/>
                        <a:ea typeface="Cambria Math" panose="02040503050406030204" pitchFamily="18" charset="0"/>
                      </a:rPr>
                      <m:t>≥</m:t>
                    </m:r>
                    <m:r>
                      <a:rPr lang="en-IN" b="0" i="0" smtClean="0">
                        <a:solidFill>
                          <a:srgbClr val="FF0000"/>
                        </a:solidFill>
                        <a:latin typeface="Cambria Math" panose="02040503050406030204" pitchFamily="18" charset="0"/>
                      </a:rPr>
                      <m:t>2</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&lt;</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e>
                    </m:d>
                  </m:oMath>
                </a14:m>
                <a:r>
                  <a:rPr lang="en-US" dirty="0">
                    <a:solidFill>
                      <a:schemeClr val="tx2">
                        <a:lumMod val="50000"/>
                      </a:schemeClr>
                    </a:solidFill>
                    <a:latin typeface="Cambria Math" panose="02040503050406030204" pitchFamily="18" charset="0"/>
                  </a:rPr>
                  <a:t>   ---------- (1)</a:t>
                </a:r>
              </a:p>
              <a:p>
                <a:pPr marL="0" indent="0" algn="l">
                  <a:lnSpc>
                    <a:spcPct val="150000"/>
                  </a:lnSpc>
                  <a:buNone/>
                  <a:tabLst>
                    <a:tab pos="447675" algn="l"/>
                  </a:tabLst>
                </a:pPr>
                <a:r>
                  <a:rPr lang="en-US" dirty="0">
                    <a:solidFill>
                      <a:srgbClr val="FF0000"/>
                    </a:solidFill>
                  </a:rPr>
                  <a:t>To find Probability that out of 8 students 1 will be post-graduate </a:t>
                </a:r>
                <a14:m>
                  <m:oMath xmlns:m="http://schemas.openxmlformats.org/officeDocument/2006/math">
                    <m:r>
                      <m:rPr>
                        <m:sty m:val="p"/>
                      </m:rPr>
                      <a:rPr lang="en-US">
                        <a:solidFill>
                          <a:srgbClr val="FF0000"/>
                        </a:solidFill>
                        <a:latin typeface="Cambria Math" panose="02040503050406030204" pitchFamily="18" charset="0"/>
                      </a:rPr>
                      <m:t>x</m:t>
                    </m:r>
                    <m:r>
                      <a:rPr lang="en-IN" b="0" i="1" smtClean="0">
                        <a:solidFill>
                          <a:srgbClr val="FF0000"/>
                        </a:solidFill>
                        <a:latin typeface="Cambria Math" panose="02040503050406030204" pitchFamily="18" charset="0"/>
                        <a:ea typeface="Cambria Math" panose="02040503050406030204" pitchFamily="18" charset="0"/>
                      </a:rPr>
                      <m:t>=1</m:t>
                    </m:r>
                  </m:oMath>
                </a14:m>
                <a:endParaRPr lang="en-IN" dirty="0">
                  <a:solidFill>
                    <a:srgbClr val="FF0000"/>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8</m:t>
                              </m:r>
                            </m:num>
                            <m:den>
                              <m:r>
                                <a:rPr lang="en-US" b="0" i="1">
                                  <a:solidFill>
                                    <a:schemeClr val="tx2">
                                      <a:lumMod val="50000"/>
                                    </a:schemeClr>
                                  </a:solidFill>
                                  <a:latin typeface="Cambria Math" panose="02040503050406030204" pitchFamily="18" charset="0"/>
                                </a:rPr>
                                <m:t>1</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6</m:t>
                              </m:r>
                            </m:e>
                          </m:d>
                        </m:e>
                        <m:sup>
                          <m:r>
                            <a:rPr lang="en-US" b="0" i="1">
                              <a:solidFill>
                                <a:schemeClr val="tx2">
                                  <a:lumMod val="50000"/>
                                </a:schemeClr>
                              </a:solidFill>
                              <a:latin typeface="Cambria Math" panose="02040503050406030204" pitchFamily="18" charset="0"/>
                            </a:rPr>
                            <m:t>1</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4</m:t>
                              </m:r>
                            </m:e>
                          </m:d>
                        </m:e>
                        <m:sup>
                          <m:r>
                            <a:rPr lang="en-US" b="0" i="1">
                              <a:solidFill>
                                <a:schemeClr val="tx2">
                                  <a:lumMod val="50000"/>
                                </a:schemeClr>
                              </a:solidFill>
                              <a:latin typeface="Cambria Math" panose="02040503050406030204" pitchFamily="18" charset="0"/>
                            </a:rPr>
                            <m:t>7</m:t>
                          </m:r>
                        </m:sup>
                      </m:sSup>
                      <m:r>
                        <a:rPr lang="en-IN" b="0" i="0" smtClean="0">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𝟎</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𝟎𝟎𝟕𝟗</m:t>
                      </m:r>
                    </m:oMath>
                  </m:oMathPara>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488810"/>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3029825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6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33239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IN" dirty="0">
                    <a:solidFill>
                      <a:srgbClr val="FF0000"/>
                    </a:solidFill>
                  </a:rPr>
                  <a:t>From equation – 1  </a:t>
                </a: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≥2</m:t>
                          </m:r>
                        </m:e>
                      </m:d>
                      <m:r>
                        <a:rPr lang="en-US">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m:t>
                              </m:r>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r>
                            <a:rPr lang="en-US">
                              <a:solidFill>
                                <a:schemeClr val="tx2">
                                  <a:lumMod val="50000"/>
                                </a:schemeClr>
                              </a:solidFill>
                              <a:latin typeface="Cambria Math" panose="02040503050406030204" pitchFamily="18" charset="0"/>
                            </a:rPr>
                            <m:t>(1)</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≥2</m:t>
                          </m:r>
                        </m:e>
                      </m:d>
                      <m:r>
                        <a:rPr lang="en-US">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0.000</m:t>
                          </m:r>
                          <m:r>
                            <a:rPr lang="en-IN" b="0" i="0" smtClean="0">
                              <a:solidFill>
                                <a:schemeClr val="tx2">
                                  <a:lumMod val="50000"/>
                                </a:schemeClr>
                              </a:solidFill>
                              <a:latin typeface="Cambria Math" panose="02040503050406030204" pitchFamily="18" charset="0"/>
                            </a:rPr>
                            <m:t>7</m:t>
                          </m:r>
                          <m:r>
                            <a:rPr lang="en-US">
                              <a:solidFill>
                                <a:schemeClr val="tx2">
                                  <a:lumMod val="50000"/>
                                </a:schemeClr>
                              </a:solidFill>
                              <a:latin typeface="Cambria Math" panose="02040503050406030204" pitchFamily="18" charset="0"/>
                            </a:rPr>
                            <m:t>+0.0</m:t>
                          </m:r>
                          <m:r>
                            <a:rPr lang="en-IN" b="0" i="0" smtClean="0">
                              <a:solidFill>
                                <a:schemeClr val="tx2">
                                  <a:lumMod val="50000"/>
                                </a:schemeClr>
                              </a:solidFill>
                              <a:latin typeface="Cambria Math" panose="02040503050406030204" pitchFamily="18" charset="0"/>
                            </a:rPr>
                            <m:t>079</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≥2</m:t>
                          </m:r>
                        </m:e>
                      </m:d>
                      <m:r>
                        <a:rPr lang="en-US">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0.008</m:t>
                          </m:r>
                          <m:r>
                            <a:rPr lang="en-IN" b="0" i="1" smtClean="0">
                              <a:solidFill>
                                <a:schemeClr val="tx2">
                                  <a:lumMod val="50000"/>
                                </a:schemeClr>
                              </a:solidFill>
                              <a:latin typeface="Cambria Math" panose="02040503050406030204" pitchFamily="18" charset="0"/>
                            </a:rPr>
                            <m:t>6</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smtClean="0">
                          <a:solidFill>
                            <a:srgbClr val="FF0000"/>
                          </a:solidFill>
                          <a:latin typeface="Cambria Math" panose="02040503050406030204" pitchFamily="18" charset="0"/>
                        </a:rPr>
                        <m:t>𝐏</m:t>
                      </m:r>
                      <m:d>
                        <m:dPr>
                          <m:ctrlPr>
                            <a:rPr lang="en-IN" i="1">
                              <a:solidFill>
                                <a:srgbClr val="FF0000"/>
                              </a:solidFill>
                              <a:latin typeface="Cambria Math" panose="02040503050406030204" pitchFamily="18" charset="0"/>
                            </a:rPr>
                          </m:ctrlPr>
                        </m:dPr>
                        <m:e>
                          <m:r>
                            <a:rPr lang="en-US">
                              <a:solidFill>
                                <a:srgbClr val="FF0000"/>
                              </a:solidFill>
                              <a:latin typeface="Cambria Math" panose="02040503050406030204" pitchFamily="18" charset="0"/>
                            </a:rPr>
                            <m:t>𝐗</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𝟐</m:t>
                          </m:r>
                        </m:e>
                      </m:d>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𝟎</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𝟗𝟗𝟏𝟒</m:t>
                      </m:r>
                    </m:oMath>
                  </m:oMathPara>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3323987"/>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385935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244078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probability that an infection is cured by a particular antibiotic drug within 5 days is 0.75. Suppose 4 patients are treated by this antibiotic drug. What is the probability that no patient, exactly two patients, and at least two patients, are cured?</a:t>
            </a:r>
            <a:endParaRPr lang="en-IN" dirty="0"/>
          </a:p>
        </p:txBody>
      </p:sp>
      <p:sp>
        <p:nvSpPr>
          <p:cNvPr id="2" name="Title 1"/>
          <p:cNvSpPr>
            <a:spLocks noGrp="1"/>
          </p:cNvSpPr>
          <p:nvPr>
            <p:ph type="title"/>
          </p:nvPr>
        </p:nvSpPr>
        <p:spPr/>
        <p:txBody>
          <a:bodyPr/>
          <a:lstStyle/>
          <a:p>
            <a:r>
              <a:rPr lang="en-GB" dirty="0"/>
              <a:t>Method 1 ⇝ Example 7</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48800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7" y="3391536"/>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Success of event = Infection is cured</a:t>
            </a:r>
            <a:endParaRPr lang="en-IN" dirty="0">
              <a:solidFill>
                <a:schemeClr val="tx2">
                  <a:lumMod val="50000"/>
                </a:schemeClr>
              </a:solidFill>
            </a:endParaRPr>
          </a:p>
        </p:txBody>
      </p:sp>
      <mc:AlternateContent xmlns:mc="http://schemas.openxmlformats.org/markup-compatibility/2006" xmlns:a14="http://schemas.microsoft.com/office/drawing/2010/main">
        <mc:Choice Requires="a14">
          <p:sp>
            <p:nvSpPr>
              <p:cNvPr id="3" name="Rectangle 2"/>
              <p:cNvSpPr/>
              <p:nvPr/>
            </p:nvSpPr>
            <p:spPr>
              <a:xfrm>
                <a:off x="131176" y="4161891"/>
                <a:ext cx="11929643" cy="738664"/>
              </a:xfrm>
              <a:prstGeom prst="rect">
                <a:avLst/>
              </a:prstGeom>
            </p:spPr>
            <p:txBody>
              <a:bodyPr wrap="square">
                <a:spAutoFit/>
              </a:bodyPr>
              <a:lstStyle/>
              <a:p>
                <a:pPr>
                  <a:lnSpc>
                    <a:spcPct val="150000"/>
                  </a:lnSpc>
                  <a:spcBef>
                    <a:spcPts val="10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i="1" smtClean="0">
                          <a:solidFill>
                            <a:schemeClr val="tx2">
                              <a:lumMod val="50000"/>
                            </a:schemeClr>
                          </a:solidFill>
                          <a:latin typeface="Cambria Math" panose="02040503050406030204" pitchFamily="18" charset="0"/>
                        </a:rPr>
                        <m:t>n</m:t>
                      </m:r>
                      <m:r>
                        <a:rPr lang="en-US" sz="2800">
                          <a:solidFill>
                            <a:schemeClr val="tx2">
                              <a:lumMod val="50000"/>
                            </a:schemeClr>
                          </a:solidFill>
                          <a:latin typeface="Cambria Math" panose="02040503050406030204" pitchFamily="18" charset="0"/>
                        </a:rPr>
                        <m:t>=</m:t>
                      </m:r>
                      <m:r>
                        <a:rPr lang="en-IN" sz="2800" b="0" i="1" smtClean="0">
                          <a:solidFill>
                            <a:schemeClr val="tx2">
                              <a:lumMod val="50000"/>
                            </a:schemeClr>
                          </a:solidFill>
                          <a:latin typeface="Cambria Math" panose="02040503050406030204" pitchFamily="18" charset="0"/>
                        </a:rPr>
                        <m:t>4, </m:t>
                      </m:r>
                      <m:r>
                        <m:rPr>
                          <m:sty m:val="p"/>
                        </m:rPr>
                        <a:rPr lang="en-US" sz="2800" b="0" i="1">
                          <a:solidFill>
                            <a:schemeClr val="tx2">
                              <a:lumMod val="50000"/>
                            </a:schemeClr>
                          </a:solidFill>
                          <a:latin typeface="Cambria Math" panose="02040503050406030204" pitchFamily="18" charset="0"/>
                        </a:rPr>
                        <m:t>p</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m:t>
                      </m:r>
                      <m:r>
                        <a:rPr lang="en-IN" sz="2800" b="0" i="1" smtClean="0">
                          <a:solidFill>
                            <a:schemeClr val="tx2">
                              <a:lumMod val="50000"/>
                            </a:schemeClr>
                          </a:solidFill>
                          <a:latin typeface="Cambria Math" panose="02040503050406030204" pitchFamily="18" charset="0"/>
                        </a:rPr>
                        <m:t>75</m:t>
                      </m:r>
                      <m:r>
                        <a:rPr lang="en-IN" sz="2800" b="0" i="0" smtClean="0">
                          <a:solidFill>
                            <a:schemeClr val="tx2">
                              <a:lumMod val="50000"/>
                            </a:schemeClr>
                          </a:solidFill>
                          <a:latin typeface="Cambria Math" panose="02040503050406030204" pitchFamily="18" charset="0"/>
                        </a:rPr>
                        <m:t> &amp; </m:t>
                      </m:r>
                      <m:r>
                        <m:rPr>
                          <m:sty m:val="p"/>
                        </m:rPr>
                        <a:rPr lang="en-US" sz="2800" b="0" i="1">
                          <a:solidFill>
                            <a:schemeClr val="tx2">
                              <a:lumMod val="50000"/>
                            </a:schemeClr>
                          </a:solidFill>
                          <a:latin typeface="Cambria Math" panose="02040503050406030204" pitchFamily="18" charset="0"/>
                        </a:rPr>
                        <m:t>q</m:t>
                      </m:r>
                      <m:r>
                        <a:rPr lang="en-US" sz="2800" b="0">
                          <a:solidFill>
                            <a:schemeClr val="tx2">
                              <a:lumMod val="50000"/>
                            </a:schemeClr>
                          </a:solidFill>
                          <a:latin typeface="Cambria Math" panose="02040503050406030204" pitchFamily="18" charset="0"/>
                        </a:rPr>
                        <m:t>=</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1</m:t>
                          </m:r>
                          <m:r>
                            <a:rPr lang="en-US" sz="2800" b="0">
                              <a:solidFill>
                                <a:schemeClr val="tx2">
                                  <a:lumMod val="50000"/>
                                </a:schemeClr>
                              </a:solidFill>
                              <a:latin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rPr>
                            <m:t>p</m:t>
                          </m:r>
                        </m:e>
                      </m:d>
                      <m:r>
                        <a:rPr lang="en-US" sz="2800" b="0">
                          <a:solidFill>
                            <a:schemeClr val="tx2">
                              <a:lumMod val="50000"/>
                            </a:schemeClr>
                          </a:solidFill>
                          <a:latin typeface="Cambria Math" panose="02040503050406030204" pitchFamily="18" charset="0"/>
                        </a:rPr>
                        <m:t>=</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1</m:t>
                          </m:r>
                          <m:r>
                            <a:rPr lang="en-US" sz="2800" b="0">
                              <a:solidFill>
                                <a:schemeClr val="tx2">
                                  <a:lumMod val="50000"/>
                                </a:schemeClr>
                              </a:solidFill>
                              <a:latin typeface="Cambria Math" panose="02040503050406030204" pitchFamily="18" charset="0"/>
                            </a:rPr>
                            <m:t>−</m:t>
                          </m:r>
                          <m:r>
                            <a:rPr lang="en-IN" sz="2800" b="0" i="1" smtClean="0">
                              <a:solidFill>
                                <a:schemeClr val="tx2">
                                  <a:lumMod val="50000"/>
                                </a:schemeClr>
                              </a:solidFill>
                              <a:latin typeface="Cambria Math" panose="02040503050406030204" pitchFamily="18" charset="0"/>
                            </a:rPr>
                            <m:t>0.75</m:t>
                          </m:r>
                        </m:e>
                      </m:d>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m:t>
                      </m:r>
                      <m:r>
                        <a:rPr lang="en-IN" sz="2800" b="0" i="1" smtClean="0">
                          <a:solidFill>
                            <a:schemeClr val="tx2">
                              <a:lumMod val="50000"/>
                            </a:schemeClr>
                          </a:solidFill>
                          <a:latin typeface="Cambria Math" panose="02040503050406030204" pitchFamily="18" charset="0"/>
                        </a:rPr>
                        <m:t>25</m:t>
                      </m:r>
                    </m:oMath>
                  </m:oMathPara>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6" y="4161891"/>
                <a:ext cx="11929643" cy="738664"/>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04942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7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01618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(a) Probability that out of 4 patients nobody will be cured,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0">
                        <a:solidFill>
                          <a:srgbClr val="FF0000"/>
                        </a:solidFill>
                        <a:latin typeface="Cambria Math" panose="02040503050406030204" pitchFamily="18" charset="0"/>
                      </a:rPr>
                      <m:t>=0</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4</m:t>
                              </m:r>
                            </m:num>
                            <m:den>
                              <m:r>
                                <a:rPr lang="en-US" b="0" i="0">
                                  <a:solidFill>
                                    <a:schemeClr val="tx2">
                                      <a:lumMod val="50000"/>
                                    </a:schemeClr>
                                  </a:solidFill>
                                  <a:latin typeface="Cambria Math" panose="02040503050406030204" pitchFamily="18" charset="0"/>
                                </a:rPr>
                                <m:t>0</m:t>
                              </m:r>
                            </m:den>
                          </m:f>
                          <m:r>
                            <a:rPr lang="en-US" b="0" i="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0.75</m:t>
                              </m:r>
                            </m:e>
                          </m:d>
                        </m:e>
                        <m:sup>
                          <m:r>
                            <a:rPr lang="en-US" b="0" i="0">
                              <a:solidFill>
                                <a:schemeClr val="tx2">
                                  <a:lumMod val="50000"/>
                                </a:schemeClr>
                              </a:solidFill>
                              <a:latin typeface="Cambria Math" panose="02040503050406030204" pitchFamily="18" charset="0"/>
                            </a:rPr>
                            <m:t>0</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0.25</m:t>
                              </m:r>
                            </m:e>
                          </m:d>
                        </m:e>
                        <m:sup>
                          <m:r>
                            <a:rPr lang="en-US" b="0" i="0">
                              <a:solidFill>
                                <a:schemeClr val="tx2">
                                  <a:lumMod val="50000"/>
                                </a:schemeClr>
                              </a:solidFill>
                              <a:latin typeface="Cambria Math" panose="02040503050406030204" pitchFamily="18" charset="0"/>
                            </a:rPr>
                            <m:t>4</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4!</m:t>
                              </m:r>
                            </m:num>
                            <m:den>
                              <m:r>
                                <a:rPr lang="en-US" b="0" i="0">
                                  <a:solidFill>
                                    <a:schemeClr val="tx2">
                                      <a:lumMod val="50000"/>
                                    </a:schemeClr>
                                  </a:solidFill>
                                  <a:latin typeface="Cambria Math" panose="02040503050406030204" pitchFamily="18" charset="0"/>
                                </a:rPr>
                                <m:t>0!∙</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4−0</m:t>
                                  </m:r>
                                </m:e>
                              </m:d>
                              <m:r>
                                <a:rPr lang="en-US" b="0" i="0">
                                  <a:solidFill>
                                    <a:schemeClr val="tx2">
                                      <a:lumMod val="50000"/>
                                    </a:schemeClr>
                                  </a:solidFill>
                                  <a:latin typeface="Cambria Math" panose="02040503050406030204" pitchFamily="18" charset="0"/>
                                </a:rPr>
                                <m:t>!</m:t>
                              </m:r>
                            </m:den>
                          </m:f>
                        </m:e>
                      </m:d>
                      <m:r>
                        <a:rPr lang="en-US" b="0" i="0">
                          <a:solidFill>
                            <a:schemeClr val="tx2">
                              <a:lumMod val="50000"/>
                            </a:schemeClr>
                          </a:solidFill>
                          <a:latin typeface="Cambria Math" panose="02040503050406030204" pitchFamily="18" charset="0"/>
                        </a:rPr>
                        <m:t> ∙</m:t>
                      </m:r>
                      <m:d>
                        <m:dPr>
                          <m:ctrlPr>
                            <a:rPr lang="en-US" b="0"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i="0">
                                  <a:solidFill>
                                    <a:schemeClr val="tx2">
                                      <a:lumMod val="50000"/>
                                    </a:schemeClr>
                                  </a:solidFill>
                                  <a:latin typeface="Cambria Math" panose="02040503050406030204" pitchFamily="18" charset="0"/>
                                </a:rPr>
                                <m:t>0.25</m:t>
                              </m:r>
                            </m:e>
                          </m:d>
                        </m:e>
                        <m:sup>
                          <m:r>
                            <a:rPr lang="en-US" i="0">
                              <a:solidFill>
                                <a:schemeClr val="tx2">
                                  <a:lumMod val="50000"/>
                                </a:schemeClr>
                              </a:solidFill>
                              <a:latin typeface="Cambria Math" panose="02040503050406030204" pitchFamily="18" charset="0"/>
                            </a:rPr>
                            <m:t>4</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𝟎𝟎𝟑𝟗</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016181"/>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1626850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7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01618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(b) Probability that out of 4 patients 2 will be cured,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0">
                        <a:solidFill>
                          <a:srgbClr val="FF0000"/>
                        </a:solidFill>
                        <a:latin typeface="Cambria Math" panose="02040503050406030204" pitchFamily="18" charset="0"/>
                      </a:rPr>
                      <m:t>=</m:t>
                    </m:r>
                    <m:r>
                      <a:rPr lang="en-IN" b="0" i="0" smtClean="0">
                        <a:solidFill>
                          <a:srgbClr val="FF0000"/>
                        </a:solidFill>
                        <a:latin typeface="Cambria Math" panose="02040503050406030204" pitchFamily="18" charset="0"/>
                      </a:rPr>
                      <m:t>2</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4</m:t>
                              </m:r>
                            </m:num>
                            <m:den>
                              <m:r>
                                <a:rPr lang="en-IN" b="0" i="0" smtClean="0">
                                  <a:solidFill>
                                    <a:schemeClr val="tx2">
                                      <a:lumMod val="50000"/>
                                    </a:schemeClr>
                                  </a:solidFill>
                                  <a:latin typeface="Cambria Math" panose="02040503050406030204" pitchFamily="18" charset="0"/>
                                </a:rPr>
                                <m:t>2</m:t>
                              </m:r>
                            </m:den>
                          </m:f>
                          <m:r>
                            <a:rPr lang="en-US" b="0" i="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0.75</m:t>
                              </m:r>
                            </m:e>
                          </m:d>
                        </m:e>
                        <m:sup>
                          <m:r>
                            <a:rPr lang="en-IN" b="0" i="0" smtClean="0">
                              <a:solidFill>
                                <a:schemeClr val="tx2">
                                  <a:lumMod val="50000"/>
                                </a:schemeClr>
                              </a:solidFill>
                              <a:latin typeface="Cambria Math" panose="02040503050406030204" pitchFamily="18" charset="0"/>
                            </a:rPr>
                            <m:t>2</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0.25</m:t>
                              </m:r>
                            </m:e>
                          </m:d>
                        </m:e>
                        <m:sup>
                          <m:r>
                            <a:rPr lang="en-IN" b="0" i="0" smtClean="0">
                              <a:solidFill>
                                <a:schemeClr val="tx2">
                                  <a:lumMod val="50000"/>
                                </a:schemeClr>
                              </a:solidFill>
                              <a:latin typeface="Cambria Math" panose="02040503050406030204" pitchFamily="18" charset="0"/>
                            </a:rPr>
                            <m:t>2</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4!</m:t>
                              </m:r>
                            </m:num>
                            <m:den>
                              <m:r>
                                <a:rPr lang="en-IN" b="0" i="0" smtClean="0">
                                  <a:solidFill>
                                    <a:schemeClr val="tx2">
                                      <a:lumMod val="50000"/>
                                    </a:schemeClr>
                                  </a:solidFill>
                                  <a:latin typeface="Cambria Math" panose="02040503050406030204" pitchFamily="18" charset="0"/>
                                </a:rPr>
                                <m:t>2</m:t>
                              </m:r>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4−</m:t>
                                  </m:r>
                                  <m:r>
                                    <a:rPr lang="en-IN" b="0" i="0" smtClean="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den>
                          </m:f>
                        </m:e>
                      </m:d>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0.75</m:t>
                              </m:r>
                            </m:e>
                          </m:d>
                        </m:e>
                        <m:sup>
                          <m:r>
                            <a:rPr lang="en-IN">
                              <a:solidFill>
                                <a:schemeClr val="tx2">
                                  <a:lumMod val="50000"/>
                                </a:schemeClr>
                              </a:solidFill>
                              <a:latin typeface="Cambria Math" panose="02040503050406030204" pitchFamily="18" charset="0"/>
                            </a:rPr>
                            <m:t>2</m:t>
                          </m:r>
                        </m:sup>
                      </m:sSup>
                      <m:r>
                        <a:rPr lang="en-US" b="0" i="0">
                          <a:solidFill>
                            <a:schemeClr val="tx2">
                              <a:lumMod val="50000"/>
                            </a:schemeClr>
                          </a:solidFill>
                          <a:latin typeface="Cambria Math" panose="02040503050406030204" pitchFamily="18" charset="0"/>
                        </a:rPr>
                        <m:t>∙</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i="0">
                                  <a:solidFill>
                                    <a:schemeClr val="tx2">
                                      <a:lumMod val="50000"/>
                                    </a:schemeClr>
                                  </a:solidFill>
                                  <a:latin typeface="Cambria Math" panose="02040503050406030204" pitchFamily="18" charset="0"/>
                                </a:rPr>
                                <m:t>0.25</m:t>
                              </m:r>
                            </m:e>
                          </m:d>
                        </m:e>
                        <m:sup>
                          <m:r>
                            <a:rPr lang="en-IN" b="0" i="0" smtClean="0">
                              <a:solidFill>
                                <a:schemeClr val="tx2">
                                  <a:lumMod val="50000"/>
                                </a:schemeClr>
                              </a:solidFill>
                              <a:latin typeface="Cambria Math" panose="02040503050406030204" pitchFamily="18" charset="0"/>
                            </a:rPr>
                            <m:t>2</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𝟐</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𝟐𝟏𝟎𝟗</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016181"/>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426237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7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5262082"/>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(c) Probability that out of 4 patients at least 2 will be cured,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1" smtClean="0">
                        <a:solidFill>
                          <a:srgbClr val="FF0000"/>
                        </a:solidFill>
                        <a:latin typeface="Cambria Math" panose="02040503050406030204" pitchFamily="18" charset="0"/>
                        <a:ea typeface="Cambria Math" panose="02040503050406030204" pitchFamily="18" charset="0"/>
                      </a:rPr>
                      <m:t>≥</m:t>
                    </m:r>
                    <m:r>
                      <a:rPr lang="en-IN" b="0" i="0" smtClean="0">
                        <a:solidFill>
                          <a:srgbClr val="FF0000"/>
                        </a:solidFill>
                        <a:latin typeface="Cambria Math" panose="02040503050406030204" pitchFamily="18" charset="0"/>
                      </a:rPr>
                      <m:t>2</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≥2</m:t>
                          </m:r>
                        </m:e>
                      </m:d>
                      <m:r>
                        <a:rPr lang="en-US">
                          <a:solidFill>
                            <a:schemeClr val="tx2">
                              <a:lumMod val="50000"/>
                            </a:schemeClr>
                          </a:solidFill>
                          <a:latin typeface="Cambria Math" panose="02040503050406030204" pitchFamily="18" charset="0"/>
                        </a:rPr>
                        <m:t>=1−</m:t>
                      </m:r>
                      <m:r>
                        <m:rPr>
                          <m:sty m:val="p"/>
                        </m:rPr>
                        <a:rPr lang="en-US">
                          <a:solidFill>
                            <a:schemeClr val="tx2">
                              <a:lumMod val="50000"/>
                            </a:schemeClr>
                          </a:solidFill>
                          <a:latin typeface="Cambria Math" panose="02040503050406030204" pitchFamily="18" charset="0"/>
                        </a:rPr>
                        <m:t>P</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&lt;2)</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e>
                    </m:d>
                  </m:oMath>
                </a14:m>
                <a:r>
                  <a:rPr lang="en-US" dirty="0">
                    <a:solidFill>
                      <a:schemeClr val="tx2">
                        <a:lumMod val="50000"/>
                      </a:schemeClr>
                    </a:solidFill>
                    <a:latin typeface="Cambria Math" panose="02040503050406030204" pitchFamily="18" charset="0"/>
                  </a:rPr>
                  <a:t>   ---------- (1)</a:t>
                </a:r>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r>
                  <a:rPr lang="en-US" dirty="0">
                    <a:solidFill>
                      <a:schemeClr val="tx2">
                        <a:lumMod val="50000"/>
                      </a:schemeClr>
                    </a:solidFill>
                  </a:rPr>
                  <a:t>To find probability that out of 4 patients 1 will be cured </a:t>
                </a:r>
                <a14:m>
                  <m:oMath xmlns:m="http://schemas.openxmlformats.org/officeDocument/2006/math">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4</m:t>
                              </m:r>
                            </m:num>
                            <m:den>
                              <m:r>
                                <a:rPr lang="en-US">
                                  <a:solidFill>
                                    <a:schemeClr val="tx2">
                                      <a:lumMod val="50000"/>
                                    </a:schemeClr>
                                  </a:solidFill>
                                  <a:latin typeface="Cambria Math" panose="02040503050406030204" pitchFamily="18" charset="0"/>
                                </a:rPr>
                                <m:t>1</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0.75</m:t>
                              </m:r>
                            </m:e>
                          </m:d>
                        </m:e>
                        <m:sup>
                          <m:r>
                            <a:rPr lang="en-US">
                              <a:solidFill>
                                <a:schemeClr val="tx2">
                                  <a:lumMod val="50000"/>
                                </a:schemeClr>
                              </a:solidFill>
                              <a:latin typeface="Cambria Math" panose="02040503050406030204" pitchFamily="18" charset="0"/>
                            </a:rPr>
                            <m:t>1</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0.25</m:t>
                              </m:r>
                            </m:e>
                          </m:d>
                        </m:e>
                        <m:sup>
                          <m:r>
                            <a:rPr lang="en-US">
                              <a:solidFill>
                                <a:schemeClr val="tx2">
                                  <a:lumMod val="50000"/>
                                </a:schemeClr>
                              </a:solidFill>
                              <a:latin typeface="Cambria Math" panose="02040503050406030204" pitchFamily="18" charset="0"/>
                            </a:rPr>
                            <m:t>3</m:t>
                          </m:r>
                        </m:sup>
                      </m:sSup>
                      <m:r>
                        <a:rPr lang="en-IN" b="0" i="0" smtClean="0">
                          <a:solidFill>
                            <a:schemeClr val="tx2">
                              <a:lumMod val="50000"/>
                            </a:schemeClr>
                          </a:solidFill>
                          <a:latin typeface="Cambria Math" panose="02040503050406030204" pitchFamily="18" charset="0"/>
                        </a:rPr>
                        <m:t>=</m:t>
                      </m:r>
                      <m:r>
                        <a:rPr lang="en-IN" b="1" i="0" smtClean="0">
                          <a:solidFill>
                            <a:srgbClr val="FF0000"/>
                          </a:solidFill>
                          <a:latin typeface="Cambria Math" panose="02040503050406030204" pitchFamily="18" charset="0"/>
                        </a:rPr>
                        <m:t>𝟎</m:t>
                      </m:r>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𝟎𝟒𝟔𝟗</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5262082"/>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1654196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7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88323" y="798285"/>
                <a:ext cx="11284978" cy="33239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dirty="0">
                    <a:solidFill>
                      <a:srgbClr val="FF0000"/>
                    </a:solidFill>
                  </a:rPr>
                  <a:t>From equation – 1</a:t>
                </a:r>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r>
                            <a:rPr lang="en-US" i="1">
                              <a:solidFill>
                                <a:schemeClr val="tx2">
                                  <a:lumMod val="50000"/>
                                </a:schemeClr>
                              </a:solidFill>
                              <a:latin typeface="Cambria Math" panose="02040503050406030204" pitchFamily="18" charset="0"/>
                            </a:rPr>
                            <m:t>(1)</m:t>
                          </m:r>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0.0039+0.0469</m:t>
                          </m:r>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0.0508</m:t>
                          </m:r>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𝟐</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𝟗𝟒𝟗𝟐</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88323" y="798285"/>
                <a:ext cx="11284978" cy="3323987"/>
              </a:xfrm>
              <a:prstGeom prst="rect">
                <a:avLst/>
              </a:prstGeom>
              <a:blipFill rotWithShape="0">
                <a:blip r:embed="rId2"/>
                <a:stretch>
                  <a:fillRect l="-1080"/>
                </a:stretch>
              </a:blipFill>
            </p:spPr>
            <p:txBody>
              <a:bodyPr/>
              <a:lstStyle/>
              <a:p>
                <a:r>
                  <a:rPr lang="en-IN">
                    <a:noFill/>
                  </a:rPr>
                  <a:t> </a:t>
                </a:r>
              </a:p>
            </p:txBody>
          </p:sp>
        </mc:Fallback>
      </mc:AlternateContent>
    </p:spTree>
    <p:extLst>
      <p:ext uri="{BB962C8B-B14F-4D97-AF65-F5344CB8AC3E}">
        <p14:creationId xmlns:p14="http://schemas.microsoft.com/office/powerpoint/2010/main" val="220553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2589736"/>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By assuming equal probabilities for boys and girls. Out of 800 families with 4 children each, how many would you expect to have</a:t>
            </a:r>
            <a:endParaRPr lang="en-IN" dirty="0"/>
          </a:p>
          <a:p>
            <a:r>
              <a:rPr lang="en-US" dirty="0"/>
              <a:t>(a)   2 boys and 2 girls? 		(b)   at least 1 boy?</a:t>
            </a:r>
            <a:endParaRPr lang="en-IN" dirty="0"/>
          </a:p>
          <a:p>
            <a:r>
              <a:rPr lang="en-US" dirty="0"/>
              <a:t>(c)   at most 2 girls? 		(d)   no girl?</a:t>
            </a:r>
            <a:endParaRPr lang="en-IN" dirty="0"/>
          </a:p>
        </p:txBody>
      </p:sp>
      <p:sp>
        <p:nvSpPr>
          <p:cNvPr id="2" name="Title 1"/>
          <p:cNvSpPr>
            <a:spLocks noGrp="1"/>
          </p:cNvSpPr>
          <p:nvPr>
            <p:ph type="title"/>
          </p:nvPr>
        </p:nvSpPr>
        <p:spPr/>
        <p:txBody>
          <a:bodyPr/>
          <a:lstStyle/>
          <a:p>
            <a:r>
              <a:rPr lang="en-GB" dirty="0"/>
              <a:t>Method 1 ⇝ Example 8</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60727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7" y="3467267"/>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Assuming equal probabilities for boys and girls, </a:t>
            </a:r>
            <a:endParaRPr lang="en-IN" dirty="0">
              <a:solidFill>
                <a:schemeClr val="tx2">
                  <a:lumMod val="50000"/>
                </a:schemeClr>
              </a:solidFill>
            </a:endParaRPr>
          </a:p>
        </p:txBody>
      </p:sp>
      <mc:AlternateContent xmlns:mc="http://schemas.openxmlformats.org/markup-compatibility/2006" xmlns:a14="http://schemas.microsoft.com/office/drawing/2010/main">
        <mc:Choice Requires="a14">
          <p:sp>
            <p:nvSpPr>
              <p:cNvPr id="3" name="Rectangle 2"/>
              <p:cNvSpPr/>
              <p:nvPr/>
            </p:nvSpPr>
            <p:spPr>
              <a:xfrm>
                <a:off x="160204" y="4762660"/>
                <a:ext cx="11929643" cy="1302280"/>
              </a:xfrm>
              <a:prstGeom prst="rect">
                <a:avLst/>
              </a:prstGeom>
            </p:spPr>
            <p:txBody>
              <a:bodyPr wrap="square">
                <a:spAutoFit/>
              </a:bodyPr>
              <a:lstStyle/>
              <a:p>
                <a:pPr>
                  <a:lnSpc>
                    <a:spcPct val="150000"/>
                  </a:lnSpc>
                  <a:spcBef>
                    <a:spcPts val="10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i="1" smtClean="0">
                          <a:solidFill>
                            <a:schemeClr val="tx2">
                              <a:lumMod val="50000"/>
                            </a:schemeClr>
                          </a:solidFill>
                          <a:latin typeface="Cambria Math" panose="02040503050406030204" pitchFamily="18" charset="0"/>
                        </a:rPr>
                        <m:t>n</m:t>
                      </m:r>
                      <m:r>
                        <a:rPr lang="en-US" sz="2800">
                          <a:solidFill>
                            <a:schemeClr val="tx2">
                              <a:lumMod val="50000"/>
                            </a:schemeClr>
                          </a:solidFill>
                          <a:latin typeface="Cambria Math" panose="02040503050406030204" pitchFamily="18" charset="0"/>
                        </a:rPr>
                        <m:t>=</m:t>
                      </m:r>
                      <m:r>
                        <a:rPr lang="en-IN" sz="2800" b="0" i="1" smtClean="0">
                          <a:solidFill>
                            <a:schemeClr val="tx2">
                              <a:lumMod val="50000"/>
                            </a:schemeClr>
                          </a:solidFill>
                          <a:latin typeface="Cambria Math" panose="02040503050406030204" pitchFamily="18" charset="0"/>
                        </a:rPr>
                        <m:t>4, </m:t>
                      </m:r>
                      <m:r>
                        <m:rPr>
                          <m:sty m:val="p"/>
                        </m:rPr>
                        <a:rPr lang="en-US" sz="2800" b="0" i="1">
                          <a:solidFill>
                            <a:schemeClr val="tx2">
                              <a:lumMod val="50000"/>
                            </a:schemeClr>
                          </a:solidFill>
                          <a:latin typeface="Cambria Math" panose="02040503050406030204" pitchFamily="18" charset="0"/>
                        </a:rPr>
                        <m:t>p</m:t>
                      </m:r>
                      <m:r>
                        <a:rPr lang="en-US" sz="2800" b="0">
                          <a:solidFill>
                            <a:schemeClr val="tx2">
                              <a:lumMod val="50000"/>
                            </a:schemeClr>
                          </a:solidFill>
                          <a:latin typeface="Cambria Math" panose="02040503050406030204" pitchFamily="18" charset="0"/>
                        </a:rPr>
                        <m:t>=</m:t>
                      </m:r>
                      <m:f>
                        <m:fPr>
                          <m:ctrlPr>
                            <a:rPr lang="en-IN" sz="2800" b="0" i="1" smtClean="0">
                              <a:solidFill>
                                <a:schemeClr val="tx2">
                                  <a:lumMod val="50000"/>
                                </a:schemeClr>
                              </a:solidFill>
                              <a:latin typeface="Cambria Math" panose="02040503050406030204" pitchFamily="18" charset="0"/>
                            </a:rPr>
                          </m:ctrlPr>
                        </m:fPr>
                        <m:num>
                          <m:r>
                            <a:rPr lang="en-IN" sz="2800" b="0" i="1" smtClean="0">
                              <a:solidFill>
                                <a:schemeClr val="tx2">
                                  <a:lumMod val="50000"/>
                                </a:schemeClr>
                              </a:solidFill>
                              <a:latin typeface="Cambria Math" panose="02040503050406030204" pitchFamily="18" charset="0"/>
                            </a:rPr>
                            <m:t>1</m:t>
                          </m:r>
                        </m:num>
                        <m:den>
                          <m:r>
                            <a:rPr lang="en-IN" sz="2800" b="0" i="1" smtClean="0">
                              <a:solidFill>
                                <a:schemeClr val="tx2">
                                  <a:lumMod val="50000"/>
                                </a:schemeClr>
                              </a:solidFill>
                              <a:latin typeface="Cambria Math" panose="02040503050406030204" pitchFamily="18" charset="0"/>
                            </a:rPr>
                            <m:t>2</m:t>
                          </m:r>
                        </m:den>
                      </m:f>
                      <m:r>
                        <a:rPr lang="en-IN" sz="2800" b="0" i="0" smtClean="0">
                          <a:solidFill>
                            <a:schemeClr val="tx2">
                              <a:lumMod val="50000"/>
                            </a:schemeClr>
                          </a:solidFill>
                          <a:latin typeface="Cambria Math" panose="02040503050406030204" pitchFamily="18" charset="0"/>
                        </a:rPr>
                        <m:t> &amp; </m:t>
                      </m:r>
                      <m:r>
                        <m:rPr>
                          <m:sty m:val="p"/>
                        </m:rPr>
                        <a:rPr lang="en-US" sz="2800" b="0" i="1">
                          <a:solidFill>
                            <a:schemeClr val="tx2">
                              <a:lumMod val="50000"/>
                            </a:schemeClr>
                          </a:solidFill>
                          <a:latin typeface="Cambria Math" panose="02040503050406030204" pitchFamily="18" charset="0"/>
                        </a:rPr>
                        <m:t>q</m:t>
                      </m:r>
                      <m:r>
                        <a:rPr lang="en-US" sz="2800" b="0">
                          <a:solidFill>
                            <a:schemeClr val="tx2">
                              <a:lumMod val="50000"/>
                            </a:schemeClr>
                          </a:solidFill>
                          <a:latin typeface="Cambria Math" panose="02040503050406030204" pitchFamily="18" charset="0"/>
                        </a:rPr>
                        <m:t>=</m:t>
                      </m:r>
                      <m:f>
                        <m:fPr>
                          <m:ctrlPr>
                            <a:rPr lang="en-IN" sz="2800" b="0" i="1" smtClean="0">
                              <a:solidFill>
                                <a:schemeClr val="tx2">
                                  <a:lumMod val="50000"/>
                                </a:schemeClr>
                              </a:solidFill>
                              <a:latin typeface="Cambria Math" panose="02040503050406030204" pitchFamily="18" charset="0"/>
                            </a:rPr>
                          </m:ctrlPr>
                        </m:fPr>
                        <m:num>
                          <m:r>
                            <a:rPr lang="en-IN" sz="2800" i="1" smtClean="0">
                              <a:solidFill>
                                <a:schemeClr val="tx2">
                                  <a:lumMod val="50000"/>
                                </a:schemeClr>
                              </a:solidFill>
                              <a:latin typeface="Cambria Math" panose="02040503050406030204" pitchFamily="18" charset="0"/>
                            </a:rPr>
                            <m:t>1</m:t>
                          </m:r>
                        </m:num>
                        <m:den>
                          <m:r>
                            <a:rPr lang="en-IN" sz="2800" b="0" i="1" smtClean="0">
                              <a:solidFill>
                                <a:schemeClr val="tx2">
                                  <a:lumMod val="50000"/>
                                </a:schemeClr>
                              </a:solidFill>
                              <a:latin typeface="Cambria Math" panose="02040503050406030204" pitchFamily="18" charset="0"/>
                            </a:rPr>
                            <m:t>2</m:t>
                          </m:r>
                        </m:den>
                      </m:f>
                    </m:oMath>
                  </m:oMathPara>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60204" y="4762660"/>
                <a:ext cx="11929643" cy="1302280"/>
              </a:xfrm>
              <a:prstGeom prst="rect">
                <a:avLst/>
              </a:prstGeom>
              <a:blipFill rotWithShape="0">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0C88CCD-ABF6-487A-A003-269BE830EF70}"/>
                  </a:ext>
                </a:extLst>
              </p:cNvPr>
              <p:cNvSpPr txBox="1">
                <a:spLocks/>
              </p:cNvSpPr>
              <p:nvPr/>
            </p:nvSpPr>
            <p:spPr>
              <a:xfrm>
                <a:off x="116662" y="4243408"/>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Since, Total Probability </a:t>
                </a:r>
                <a14:m>
                  <m:oMath xmlns:m="http://schemas.openxmlformats.org/officeDocument/2006/math">
                    <m:r>
                      <a:rPr lang="en-IN" b="0" i="1" smtClean="0">
                        <a:solidFill>
                          <a:schemeClr val="tx2">
                            <a:lumMod val="50000"/>
                          </a:schemeClr>
                        </a:solidFill>
                        <a:latin typeface="Cambria Math" panose="02040503050406030204" pitchFamily="18" charset="0"/>
                      </a:rPr>
                      <m:t>=1</m:t>
                    </m:r>
                  </m:oMath>
                </a14:m>
                <a:r>
                  <a:rPr lang="en-US" dirty="0">
                    <a:solidFill>
                      <a:schemeClr val="tx2">
                        <a:lumMod val="50000"/>
                      </a:schemeClr>
                    </a:solidFill>
                  </a:rPr>
                  <a:t> </a:t>
                </a:r>
                <a:endParaRPr lang="en-IN" dirty="0">
                  <a:solidFill>
                    <a:schemeClr val="tx2">
                      <a:lumMod val="50000"/>
                    </a:schemeClr>
                  </a:solidFill>
                </a:endParaRPr>
              </a:p>
            </p:txBody>
          </p:sp>
        </mc:Choice>
        <mc:Fallback xmlns="">
          <p:sp>
            <p:nvSpPr>
              <p:cNvPr id="7"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16662" y="4243408"/>
                <a:ext cx="10200837" cy="738664"/>
              </a:xfrm>
              <a:prstGeom prst="rect">
                <a:avLst/>
              </a:prstGeom>
              <a:blipFill rotWithShape="0">
                <a:blip r:embed="rId3"/>
                <a:stretch>
                  <a:fillRect l="-1195" b="-13223"/>
                </a:stretch>
              </a:blipFill>
            </p:spPr>
            <p:txBody>
              <a:bodyPr/>
              <a:lstStyle/>
              <a:p>
                <a:r>
                  <a:rPr lang="en-IN">
                    <a:noFill/>
                  </a:rPr>
                  <a:t> </a:t>
                </a:r>
              </a:p>
            </p:txBody>
          </p:sp>
        </mc:Fallback>
      </mc:AlternateContent>
    </p:spTree>
    <p:extLst>
      <p:ext uri="{BB962C8B-B14F-4D97-AF65-F5344CB8AC3E}">
        <p14:creationId xmlns:p14="http://schemas.microsoft.com/office/powerpoint/2010/main" val="376117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P spid="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23965" y="733890"/>
                <a:ext cx="11758534" cy="5647765"/>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(a) Probability that out of 4 children expect to have 2 boys &amp; 2 girls, </a:t>
                </a:r>
                <a14:m>
                  <m:oMath xmlns:m="http://schemas.openxmlformats.org/officeDocument/2006/math">
                    <m:r>
                      <a:rPr lang="en-IN" b="0" i="0"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x</m:t>
                    </m:r>
                    <m:r>
                      <a:rPr lang="en-US" b="0" i="0">
                        <a:solidFill>
                          <a:srgbClr val="FF0000"/>
                        </a:solidFill>
                        <a:latin typeface="Cambria Math" panose="02040503050406030204" pitchFamily="18" charset="0"/>
                      </a:rPr>
                      <m:t>=</m:t>
                    </m:r>
                    <m:r>
                      <a:rPr lang="en-IN" b="0" i="0" smtClean="0">
                        <a:solidFill>
                          <a:srgbClr val="FF0000"/>
                        </a:solidFill>
                        <a:latin typeface="Cambria Math" panose="02040503050406030204" pitchFamily="18" charset="0"/>
                      </a:rPr>
                      <m:t>2)</m:t>
                    </m:r>
                  </m:oMath>
                </a14:m>
                <a:endParaRPr lang="en-IN" dirty="0">
                  <a:solidFill>
                    <a:srgbClr val="FF0000"/>
                  </a:solidFill>
                </a:endParaRPr>
              </a:p>
              <a:p>
                <a:pPr marL="0" indent="0" algn="l">
                  <a:lnSpc>
                    <a:spcPct val="150000"/>
                  </a:lnSpc>
                  <a:buNone/>
                  <a:tabLst>
                    <a:tab pos="447675" algn="l"/>
                  </a:tabLst>
                </a:pPr>
                <a:r>
                  <a:rPr lang="en-US" dirty="0">
                    <a:solidFill>
                      <a:schemeClr val="tx2">
                        <a:lumMod val="50000"/>
                      </a:schemeClr>
                    </a:solidFill>
                  </a:rPr>
                  <a:t>Success of event: Boy (or Girl)</a:t>
                </a:r>
                <a:endParaRPr lang="en-US"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4</m:t>
                              </m:r>
                            </m:num>
                            <m:den>
                              <m:r>
                                <a:rPr lang="en-US" i="1">
                                  <a:solidFill>
                                    <a:schemeClr val="tx2">
                                      <a:lumMod val="50000"/>
                                    </a:schemeClr>
                                  </a:solidFill>
                                  <a:latin typeface="Cambria Math" panose="02040503050406030204" pitchFamily="18" charset="0"/>
                                </a:rPr>
                                <m:t>2</m:t>
                              </m:r>
                            </m:den>
                          </m:f>
                          <m:r>
                            <a:rPr lang="en-US" i="1">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2</m:t>
                                  </m:r>
                                </m:den>
                              </m:f>
                            </m:e>
                          </m:d>
                        </m:e>
                        <m:sup>
                          <m:r>
                            <a:rPr lang="en-US" i="1">
                              <a:solidFill>
                                <a:schemeClr val="tx2">
                                  <a:lumMod val="50000"/>
                                </a:schemeClr>
                              </a:solidFill>
                              <a:latin typeface="Cambria Math" panose="02040503050406030204" pitchFamily="18" charset="0"/>
                            </a:rPr>
                            <m:t>2</m:t>
                          </m:r>
                        </m:sup>
                      </m:sSup>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2</m:t>
                                  </m:r>
                                </m:den>
                              </m:f>
                            </m:e>
                          </m:d>
                        </m:e>
                        <m:sup>
                          <m:r>
                            <a:rPr lang="en-US" i="1">
                              <a:solidFill>
                                <a:schemeClr val="tx2">
                                  <a:lumMod val="50000"/>
                                </a:schemeClr>
                              </a:solidFill>
                              <a:latin typeface="Cambria Math" panose="02040503050406030204" pitchFamily="18" charset="0"/>
                            </a:rPr>
                            <m:t>2</m:t>
                          </m:r>
                        </m:sup>
                      </m:sSup>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4!</m:t>
                              </m:r>
                            </m:num>
                            <m:den>
                              <m:r>
                                <a:rPr lang="en-US" b="0" i="0">
                                  <a:solidFill>
                                    <a:schemeClr val="tx2">
                                      <a:lumMod val="50000"/>
                                    </a:schemeClr>
                                  </a:solidFill>
                                  <a:latin typeface="Cambria Math" panose="02040503050406030204" pitchFamily="18" charset="0"/>
                                </a:rPr>
                                <m:t>2!∙</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4−2</m:t>
                                  </m:r>
                                </m:e>
                              </m:d>
                              <m:r>
                                <a:rPr lang="en-US" b="0" i="0">
                                  <a:solidFill>
                                    <a:schemeClr val="tx2">
                                      <a:lumMod val="50000"/>
                                    </a:schemeClr>
                                  </a:solidFill>
                                  <a:latin typeface="Cambria Math" panose="02040503050406030204" pitchFamily="18" charset="0"/>
                                </a:rPr>
                                <m:t>!</m:t>
                              </m:r>
                            </m:den>
                          </m:f>
                        </m:e>
                      </m:d>
                      <m:r>
                        <a:rPr lang="en-US" b="0" i="0">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4</m:t>
                              </m:r>
                            </m:den>
                          </m:f>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4</m:t>
                              </m:r>
                            </m:den>
                          </m:f>
                        </m:e>
                      </m:d>
                    </m:oMath>
                  </m:oMathPara>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23965" y="733890"/>
                <a:ext cx="11758534" cy="5647765"/>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271386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21134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4!</m:t>
                              </m:r>
                            </m:num>
                            <m:den>
                              <m:r>
                                <a:rPr lang="en-US" i="1">
                                  <a:solidFill>
                                    <a:schemeClr val="tx2">
                                      <a:lumMod val="50000"/>
                                    </a:schemeClr>
                                  </a:solidFill>
                                  <a:latin typeface="Cambria Math" panose="02040503050406030204" pitchFamily="18" charset="0"/>
                                </a:rPr>
                                <m:t>2!∙</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4−2</m:t>
                                  </m:r>
                                </m:e>
                              </m:d>
                              <m:r>
                                <a:rPr lang="en-US" i="1">
                                  <a:solidFill>
                                    <a:schemeClr val="tx2">
                                      <a:lumMod val="50000"/>
                                    </a:schemeClr>
                                  </a:solidFill>
                                  <a:latin typeface="Cambria Math" panose="02040503050406030204" pitchFamily="18" charset="0"/>
                                </a:rPr>
                                <m:t>!</m:t>
                              </m:r>
                            </m:den>
                          </m:f>
                        </m:e>
                      </m:d>
                      <m:r>
                        <a:rPr lang="en-US" i="1">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4</m:t>
                              </m:r>
                            </m:den>
                          </m:f>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4</m:t>
                              </m:r>
                            </m:den>
                          </m:f>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4∙3∙2!</m:t>
                              </m:r>
                            </m:num>
                            <m:den>
                              <m:r>
                                <a:rPr lang="en-US" i="1">
                                  <a:solidFill>
                                    <a:schemeClr val="tx2">
                                      <a:lumMod val="50000"/>
                                    </a:schemeClr>
                                  </a:solidFill>
                                  <a:latin typeface="Cambria Math" panose="02040503050406030204" pitchFamily="18" charset="0"/>
                                </a:rPr>
                                <m:t>2!.2!</m:t>
                              </m:r>
                            </m:den>
                          </m:f>
                        </m:e>
                      </m:d>
                      <m:r>
                        <a:rPr lang="en-US" i="1">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4</m:t>
                              </m:r>
                            </m:den>
                          </m:f>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US" i="1">
                                  <a:solidFill>
                                    <a:schemeClr val="tx2">
                                      <a:lumMod val="50000"/>
                                    </a:schemeClr>
                                  </a:solidFill>
                                  <a:latin typeface="Cambria Math" panose="02040503050406030204" pitchFamily="18" charset="0"/>
                                </a:rPr>
                                <m:t>4</m:t>
                              </m:r>
                            </m:den>
                          </m:f>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𝟐</m:t>
                          </m:r>
                        </m:e>
                      </m:d>
                      <m:r>
                        <a:rPr lang="en-US" b="1" i="0">
                          <a:solidFill>
                            <a:srgbClr val="FF0000"/>
                          </a:solidFill>
                          <a:latin typeface="Cambria Math" panose="02040503050406030204" pitchFamily="18" charset="0"/>
                        </a:rPr>
                        <m:t>=</m:t>
                      </m:r>
                      <m:f>
                        <m:fPr>
                          <m:ctrlPr>
                            <a:rPr lang="en-IN" b="1" i="1">
                              <a:solidFill>
                                <a:srgbClr val="FF0000"/>
                              </a:solidFill>
                              <a:latin typeface="Cambria Math" panose="02040503050406030204" pitchFamily="18" charset="0"/>
                            </a:rPr>
                          </m:ctrlPr>
                        </m:fPr>
                        <m:num>
                          <m:r>
                            <a:rPr lang="en-US" b="1">
                              <a:solidFill>
                                <a:srgbClr val="FF0000"/>
                              </a:solidFill>
                              <a:latin typeface="Cambria Math" panose="02040503050406030204" pitchFamily="18" charset="0"/>
                            </a:rPr>
                            <m:t>𝟑</m:t>
                          </m:r>
                        </m:num>
                        <m:den>
                          <m:r>
                            <a:rPr lang="en-US" b="1">
                              <a:solidFill>
                                <a:srgbClr val="FF0000"/>
                              </a:solidFill>
                              <a:latin typeface="Cambria Math" panose="02040503050406030204" pitchFamily="18" charset="0"/>
                            </a:rPr>
                            <m:t>𝟖</m:t>
                          </m:r>
                        </m:den>
                      </m:f>
                    </m:oMath>
                  </m:oMathPara>
                </a14:m>
                <a:endParaRPr lang="en-IN" b="1"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211346"/>
              </a:xfrm>
              <a:prstGeom prst="rect">
                <a:avLst/>
              </a:prstGeom>
              <a:blipFill rotWithShape="0">
                <a:blip r:embed="rId2"/>
                <a:stretch>
                  <a:fillRect/>
                </a:stretch>
              </a:blipFill>
            </p:spPr>
            <p:txBody>
              <a:bodyPr/>
              <a:lstStyle/>
              <a:p>
                <a:r>
                  <a:rPr lang="en-IN">
                    <a:noFill/>
                  </a:rPr>
                  <a:t> </a:t>
                </a:r>
              </a:p>
            </p:txBody>
          </p:sp>
        </mc:Fallback>
      </mc:AlternateContent>
      <p:sp>
        <p:nvSpPr>
          <p:cNvPr id="3" name="Rectangle 2"/>
          <p:cNvSpPr/>
          <p:nvPr/>
        </p:nvSpPr>
        <p:spPr>
          <a:xfrm>
            <a:off x="201239" y="5229279"/>
            <a:ext cx="2895344" cy="665182"/>
          </a:xfrm>
          <a:prstGeom prst="rect">
            <a:avLst/>
          </a:prstGeom>
        </p:spPr>
        <p:txBody>
          <a:bodyPr wrap="none">
            <a:spAutoFit/>
          </a:bodyPr>
          <a:lstStyle/>
          <a:p>
            <a:pPr>
              <a:lnSpc>
                <a:spcPct val="150000"/>
              </a:lnSpc>
              <a:tabLst>
                <a:tab pos="447675" algn="l"/>
              </a:tabLst>
            </a:pPr>
            <a:r>
              <a:rPr lang="en-US" sz="2800" dirty="0">
                <a:solidFill>
                  <a:schemeClr val="tx2">
                    <a:lumMod val="50000"/>
                  </a:schemeClr>
                </a:solidFill>
              </a:rPr>
              <a:t>Number of families</a:t>
            </a:r>
            <a:endParaRPr lang="en-IN" sz="2800" b="1" dirty="0">
              <a:solidFill>
                <a:schemeClr val="tx2">
                  <a:lumMod val="50000"/>
                </a:schemeClr>
              </a:solidFill>
              <a:latin typeface="Cambria Math" panose="02040503050406030204"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2916277" y="5165341"/>
                <a:ext cx="4634987"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a:solidFill>
                            <a:schemeClr val="tx2">
                              <a:lumMod val="50000"/>
                            </a:schemeClr>
                          </a:solidFill>
                          <a:latin typeface="Cambria Math" panose="02040503050406030204" pitchFamily="18" charset="0"/>
                        </a:rPr>
                        <m:t>=800×</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3</m:t>
                          </m:r>
                        </m:num>
                        <m:den>
                          <m:r>
                            <a:rPr lang="en-US" sz="2800">
                              <a:solidFill>
                                <a:schemeClr val="tx2">
                                  <a:lumMod val="50000"/>
                                </a:schemeClr>
                              </a:solidFill>
                              <a:latin typeface="Cambria Math" panose="02040503050406030204" pitchFamily="18" charset="0"/>
                            </a:rPr>
                            <m:t>8</m:t>
                          </m:r>
                        </m:den>
                      </m:f>
                      <m:r>
                        <a:rPr lang="en-US" sz="2800">
                          <a:solidFill>
                            <a:schemeClr val="tx2">
                              <a:lumMod val="50000"/>
                            </a:schemeClr>
                          </a:solidFill>
                          <a:latin typeface="Cambria Math" panose="02040503050406030204" pitchFamily="18" charset="0"/>
                        </a:rPr>
                        <m:t>=100×3=</m:t>
                      </m:r>
                      <m:r>
                        <a:rPr lang="en-US" sz="2800" b="1">
                          <a:solidFill>
                            <a:srgbClr val="FF0000"/>
                          </a:solidFill>
                          <a:latin typeface="Cambria Math" panose="02040503050406030204" pitchFamily="18" charset="0"/>
                        </a:rPr>
                        <m:t>𝟑𝟎𝟎</m:t>
                      </m:r>
                    </m:oMath>
                  </m:oMathPara>
                </a14:m>
                <a:endParaRPr lang="en-IN" sz="2800" dirty="0"/>
              </a:p>
            </p:txBody>
          </p:sp>
        </mc:Choice>
        <mc:Fallback xmlns="">
          <p:sp>
            <p:nvSpPr>
              <p:cNvPr id="4" name="Rectangle 3"/>
              <p:cNvSpPr>
                <a:spLocks noRot="1" noChangeAspect="1" noMove="1" noResize="1" noEditPoints="1" noAdjustHandles="1" noChangeArrowheads="1" noChangeShapeType="1" noTextEdit="1"/>
              </p:cNvSpPr>
              <p:nvPr/>
            </p:nvSpPr>
            <p:spPr>
              <a:xfrm>
                <a:off x="2916277" y="5165341"/>
                <a:ext cx="4634987" cy="901785"/>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3827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P spid="3"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144083"/>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(b) Probability that out of 4 children expect to have at least 1 boy, </a:t>
                </a:r>
                <a14:m>
                  <m:oMath xmlns:m="http://schemas.openxmlformats.org/officeDocument/2006/math">
                    <m:r>
                      <a:rPr lang="en-IN">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x</m:t>
                    </m:r>
                    <m:r>
                      <a:rPr lang="en-US" i="1" smtClean="0">
                        <a:solidFill>
                          <a:srgbClr val="FF0000"/>
                        </a:solidFill>
                        <a:latin typeface="Cambria Math" panose="02040503050406030204" pitchFamily="18" charset="0"/>
                        <a:ea typeface="Cambria Math" panose="02040503050406030204" pitchFamily="18" charset="0"/>
                      </a:rPr>
                      <m:t>≥</m:t>
                    </m:r>
                    <m:r>
                      <a:rPr lang="en-IN" b="0" i="1" smtClean="0">
                        <a:solidFill>
                          <a:srgbClr val="FF0000"/>
                        </a:solidFill>
                        <a:latin typeface="Cambria Math" panose="02040503050406030204" pitchFamily="18" charset="0"/>
                        <a:ea typeface="Cambria Math" panose="02040503050406030204" pitchFamily="18" charset="0"/>
                      </a:rPr>
                      <m:t>1</m:t>
                    </m:r>
                    <m:r>
                      <a:rPr lang="en-IN">
                        <a:solidFill>
                          <a:srgbClr val="FF0000"/>
                        </a:solidFill>
                        <a:latin typeface="Cambria Math" panose="02040503050406030204" pitchFamily="18" charset="0"/>
                      </a:rPr>
                      <m:t>)</m:t>
                    </m:r>
                  </m:oMath>
                </a14:m>
                <a:endParaRPr lang="en-IN" dirty="0">
                  <a:solidFill>
                    <a:srgbClr val="FF0000"/>
                  </a:solidFill>
                </a:endParaRPr>
              </a:p>
              <a:p>
                <a:pPr marL="0" indent="0">
                  <a:lnSpc>
                    <a:spcPct val="150000"/>
                  </a:lnSpc>
                  <a:buNone/>
                </a:pPr>
                <a:r>
                  <a:rPr lang="en-US" dirty="0">
                    <a:solidFill>
                      <a:schemeClr val="tx2">
                        <a:lumMod val="50000"/>
                      </a:schemeClr>
                    </a:solidFill>
                  </a:rPr>
                  <a:t>Success of event: Boy</a:t>
                </a:r>
              </a:p>
              <a:p>
                <a:pPr marL="0" indent="0" algn="ctr">
                  <a:lnSpc>
                    <a:spcPct val="150000"/>
                  </a:lnSpc>
                  <a:buNone/>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a:rPr lang="en-US">
                              <a:solidFill>
                                <a:schemeClr val="tx2">
                                  <a:lumMod val="50000"/>
                                </a:schemeClr>
                              </a:solidFill>
                              <a:latin typeface="Cambria Math" panose="02040503050406030204" pitchFamily="18" charset="0"/>
                            </a:rPr>
                            <m:t>2</m:t>
                          </m:r>
                        </m:den>
                      </m:f>
                      <m:r>
                        <a:rPr lang="en-US">
                          <a:solidFill>
                            <a:schemeClr val="tx2">
                              <a:lumMod val="50000"/>
                            </a:schemeClr>
                          </a:solidFill>
                          <a:latin typeface="Cambria Math" panose="02040503050406030204" pitchFamily="18" charset="0"/>
                        </a:rPr>
                        <m:t> , </m:t>
                      </m:r>
                      <m:r>
                        <m:rPr>
                          <m:sty m:val="p"/>
                        </m:rPr>
                        <a:rPr lang="en-US">
                          <a:solidFill>
                            <a:schemeClr val="tx2">
                              <a:lumMod val="50000"/>
                            </a:schemeClr>
                          </a:solidFill>
                          <a:latin typeface="Cambria Math" panose="02040503050406030204" pitchFamily="18" charset="0"/>
                        </a:rPr>
                        <m:t>q</m:t>
                      </m:r>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a:rPr lang="en-US">
                              <a:solidFill>
                                <a:schemeClr val="tx2">
                                  <a:lumMod val="50000"/>
                                </a:schemeClr>
                              </a:solidFill>
                              <a:latin typeface="Cambria Math" panose="02040503050406030204" pitchFamily="18" charset="0"/>
                            </a:rPr>
                            <m:t>2</m:t>
                          </m:r>
                        </m:den>
                      </m:f>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=4,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   (</m:t>
                      </m:r>
                      <m:r>
                        <m:rPr>
                          <m:sty m:val="p"/>
                        </m:rPr>
                        <a:rPr lang="en-US" smtClean="0">
                          <a:solidFill>
                            <a:schemeClr val="tx2">
                              <a:lumMod val="50000"/>
                            </a:schemeClr>
                          </a:solidFill>
                          <a:latin typeface="Cambria Math" panose="02040503050406030204" pitchFamily="18" charset="0"/>
                        </a:rPr>
                        <m:t>at</m:t>
                      </m:r>
                      <m:r>
                        <a:rPr lang="en-US" smtClean="0">
                          <a:solidFill>
                            <a:schemeClr val="tx2">
                              <a:lumMod val="50000"/>
                            </a:schemeClr>
                          </a:solidFill>
                          <a:latin typeface="Cambria Math" panose="02040503050406030204" pitchFamily="18" charset="0"/>
                        </a:rPr>
                        <m:t> </m:t>
                      </m:r>
                      <m:r>
                        <m:rPr>
                          <m:sty m:val="p"/>
                        </m:rPr>
                        <a:rPr lang="en-US" smtClean="0">
                          <a:solidFill>
                            <a:schemeClr val="tx2">
                              <a:lumMod val="50000"/>
                            </a:schemeClr>
                          </a:solidFill>
                          <a:latin typeface="Cambria Math" panose="02040503050406030204" pitchFamily="18" charset="0"/>
                        </a:rPr>
                        <m:t>least</m:t>
                      </m:r>
                      <m:r>
                        <a:rPr lang="en-US" smtClean="0">
                          <a:solidFill>
                            <a:schemeClr val="tx2">
                              <a:lumMod val="50000"/>
                            </a:schemeClr>
                          </a:solidFill>
                          <a:latin typeface="Cambria Math" panose="02040503050406030204" pitchFamily="18" charset="0"/>
                        </a:rPr>
                        <m:t> </m:t>
                      </m:r>
                      <m:r>
                        <m:rPr>
                          <m:sty m:val="p"/>
                        </m:rPr>
                        <a:rPr lang="en-US" smtClean="0">
                          <a:solidFill>
                            <a:schemeClr val="tx2">
                              <a:lumMod val="50000"/>
                            </a:schemeClr>
                          </a:solidFill>
                          <a:latin typeface="Cambria Math" panose="02040503050406030204" pitchFamily="18" charset="0"/>
                        </a:rPr>
                        <m:t>one</m:t>
                      </m:r>
                      <m:r>
                        <a:rPr lang="en-US" smtClean="0">
                          <a:solidFill>
                            <a:schemeClr val="tx2">
                              <a:lumMod val="50000"/>
                            </a:schemeClr>
                          </a:solidFill>
                          <a:latin typeface="Cambria Math" panose="02040503050406030204" pitchFamily="18" charset="0"/>
                        </a:rPr>
                        <m:t> </m:t>
                      </m:r>
                      <m:r>
                        <m:rPr>
                          <m:sty m:val="p"/>
                        </m:rPr>
                        <a:rPr lang="en-US" smtClean="0">
                          <a:solidFill>
                            <a:schemeClr val="tx2">
                              <a:lumMod val="50000"/>
                            </a:schemeClr>
                          </a:solidFill>
                          <a:latin typeface="Cambria Math" panose="02040503050406030204" pitchFamily="18" charset="0"/>
                        </a:rPr>
                        <m:t>boy</m:t>
                      </m:r>
                      <m:r>
                        <a:rPr lang="en-US" smtClean="0">
                          <a:solidFill>
                            <a:schemeClr val="tx2">
                              <a:lumMod val="50000"/>
                            </a:schemeClr>
                          </a:solidFill>
                          <a:latin typeface="Cambria Math" panose="02040503050406030204" pitchFamily="18" charset="0"/>
                        </a:rPr>
                        <m:t>)</m:t>
                      </m:r>
                    </m:oMath>
                  </m:oMathPara>
                </a14:m>
                <a:endParaRPr lang="en-IN" b="1" dirty="0"/>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=1−</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&lt;1)</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=1−</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oMath>
                </a14:m>
                <a:r>
                  <a:rPr lang="en-US" dirty="0">
                    <a:solidFill>
                      <a:schemeClr val="tx2">
                        <a:lumMod val="50000"/>
                      </a:schemeClr>
                    </a:solidFill>
                    <a:latin typeface="Cambria Math" panose="02040503050406030204" pitchFamily="18" charset="0"/>
                  </a:rPr>
                  <a:t> ----- (1)</a:t>
                </a: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144083"/>
              </a:xfrm>
              <a:prstGeom prst="rect">
                <a:avLst/>
              </a:prstGeom>
              <a:blipFill rotWithShape="0">
                <a:blip r:embed="rId2"/>
                <a:stretch>
                  <a:fillRect l="-1037" b="-1176"/>
                </a:stretch>
              </a:blipFill>
            </p:spPr>
            <p:txBody>
              <a:bodyPr/>
              <a:lstStyle/>
              <a:p>
                <a:r>
                  <a:rPr lang="en-IN">
                    <a:noFill/>
                  </a:rPr>
                  <a:t> </a:t>
                </a:r>
              </a:p>
            </p:txBody>
          </p:sp>
        </mc:Fallback>
      </mc:AlternateContent>
    </p:spTree>
    <p:extLst>
      <p:ext uri="{BB962C8B-B14F-4D97-AF65-F5344CB8AC3E}">
        <p14:creationId xmlns:p14="http://schemas.microsoft.com/office/powerpoint/2010/main" val="67305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87319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ea typeface="Cambria Math" panose="02040503050406030204" pitchFamily="18" charset="0"/>
                  </a:rPr>
                  <a:t>To find </a:t>
                </a:r>
                <a14:m>
                  <m:oMath xmlns:m="http://schemas.openxmlformats.org/officeDocument/2006/math">
                    <m:r>
                      <m:rPr>
                        <m:sty m:val="p"/>
                      </m:rPr>
                      <a:rPr lang="en-US" b="0" i="1">
                        <a:solidFill>
                          <a:schemeClr val="tx2">
                            <a:lumMod val="50000"/>
                          </a:schemeClr>
                        </a:solidFill>
                        <a:latin typeface="Cambria Math" panose="02040503050406030204" pitchFamily="18" charset="0"/>
                      </a:rPr>
                      <m:t>P</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oMath>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b="0" i="1">
                                  <a:solidFill>
                                    <a:schemeClr val="tx2">
                                      <a:lumMod val="50000"/>
                                    </a:schemeClr>
                                  </a:solidFill>
                                  <a:latin typeface="Cambria Math" panose="02040503050406030204" pitchFamily="18" charset="0"/>
                                </a:rPr>
                                <m:t>n</m:t>
                              </m:r>
                            </m:num>
                            <m:den>
                              <m:r>
                                <m:rPr>
                                  <m:sty m:val="p"/>
                                </m:rPr>
                                <a:rPr lang="en-US" b="0" i="1">
                                  <a:solidFill>
                                    <a:schemeClr val="tx2">
                                      <a:lumMod val="50000"/>
                                    </a:schemeClr>
                                  </a:solidFill>
                                  <a:latin typeface="Cambria Math" panose="02040503050406030204" pitchFamily="18" charset="0"/>
                                </a:rPr>
                                <m:t>x</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p</m:t>
                          </m:r>
                        </m:e>
                        <m:sup>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q</m:t>
                          </m:r>
                        </m:e>
                        <m:sup>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4</m:t>
                              </m:r>
                            </m:num>
                            <m:den>
                              <m:r>
                                <a:rPr lang="en-US" b="0" i="1">
                                  <a:solidFill>
                                    <a:schemeClr val="tx2">
                                      <a:lumMod val="50000"/>
                                    </a:schemeClr>
                                  </a:solidFill>
                                  <a:latin typeface="Cambria Math" panose="02040503050406030204" pitchFamily="18" charset="0"/>
                                </a:rPr>
                                <m:t>0</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2</m:t>
                                  </m:r>
                                </m:den>
                              </m:f>
                            </m:e>
                          </m:d>
                        </m:e>
                        <m:sup>
                          <m:r>
                            <a:rPr lang="en-US" b="0" i="1">
                              <a:solidFill>
                                <a:schemeClr val="tx2">
                                  <a:lumMod val="50000"/>
                                </a:schemeClr>
                              </a:solidFill>
                              <a:latin typeface="Cambria Math" panose="02040503050406030204" pitchFamily="18" charset="0"/>
                            </a:rPr>
                            <m:t>0</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2</m:t>
                                  </m:r>
                                </m:den>
                              </m:f>
                            </m:e>
                          </m:d>
                        </m:e>
                        <m:sup>
                          <m:r>
                            <a:rPr lang="en-US" b="0" i="1">
                              <a:solidFill>
                                <a:schemeClr val="tx2">
                                  <a:lumMod val="50000"/>
                                </a:schemeClr>
                              </a:solidFill>
                              <a:latin typeface="Cambria Math" panose="02040503050406030204" pitchFamily="18" charset="0"/>
                            </a:rPr>
                            <m:t>4</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4</m:t>
                              </m:r>
                              <m:r>
                                <a:rPr lang="en-US" b="0">
                                  <a:solidFill>
                                    <a:schemeClr val="tx2">
                                      <a:lumMod val="50000"/>
                                    </a:schemeClr>
                                  </a:solidFill>
                                  <a:latin typeface="Cambria Math" panose="02040503050406030204" pitchFamily="18" charset="0"/>
                                </a:rPr>
                                <m:t>!</m:t>
                              </m:r>
                            </m:num>
                            <m:den>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4</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den>
                          </m:f>
                        </m:e>
                      </m:d>
                      <m:r>
                        <a:rPr lang="en-US" b="0">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16</m:t>
                              </m:r>
                            </m:den>
                          </m:f>
                        </m:e>
                      </m:d>
                      <m:r>
                        <a:rPr lang="en-IN" b="0" i="0" smtClean="0">
                          <a:solidFill>
                            <a:schemeClr val="tx2">
                              <a:lumMod val="50000"/>
                            </a:schemeClr>
                          </a:solidFill>
                          <a:latin typeface="Cambria Math" panose="02040503050406030204" pitchFamily="18" charset="0"/>
                        </a:rPr>
                        <m:t>=</m:t>
                      </m:r>
                      <m:f>
                        <m:fPr>
                          <m:ctrlPr>
                            <a:rPr lang="en-IN" b="1" i="1" smtClean="0">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𝟏</m:t>
                          </m:r>
                        </m:num>
                        <m:den>
                          <m:r>
                            <a:rPr lang="en-US" b="1" i="1">
                              <a:solidFill>
                                <a:srgbClr val="FF0000"/>
                              </a:solidFill>
                              <a:latin typeface="Cambria Math" panose="02040503050406030204" pitchFamily="18" charset="0"/>
                            </a:rPr>
                            <m:t>𝟏𝟔</m:t>
                          </m:r>
                        </m:den>
                      </m:f>
                    </m:oMath>
                  </m:oMathPara>
                </a14:m>
                <a:endParaRPr lang="en-IN" b="1"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873194"/>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91915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06463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ea typeface="Cambria Math" panose="02040503050406030204" pitchFamily="18" charset="0"/>
                  </a:rPr>
                  <a:t>From equation </a:t>
                </a:r>
                <a:r>
                  <a:rPr lang="en-US" dirty="0">
                    <a:solidFill>
                      <a:schemeClr val="tx2">
                        <a:lumMod val="50000"/>
                      </a:schemeClr>
                    </a:solidFill>
                    <a:latin typeface="Cambria Math" panose="02040503050406030204" pitchFamily="18" charset="0"/>
                    <a:ea typeface="Cambria Math" panose="02040503050406030204" pitchFamily="18" charset="0"/>
                  </a:rPr>
                  <a:t>(1)</a:t>
                </a:r>
                <a:endParaRPr lang="en-IN" dirty="0">
                  <a:solidFill>
                    <a:schemeClr val="tx2">
                      <a:lumMod val="50000"/>
                    </a:schemeClr>
                  </a:solidFill>
                  <a:latin typeface="Cambria Math" panose="02040503050406030204" pitchFamily="18" charset="0"/>
                  <a:ea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=1−</m:t>
                      </m:r>
                      <m:r>
                        <m:rPr>
                          <m:sty m:val="p"/>
                        </m:rPr>
                        <a:rPr lang="en-US">
                          <a:solidFill>
                            <a:schemeClr val="tx2">
                              <a:lumMod val="50000"/>
                            </a:schemeClr>
                          </a:solidFill>
                          <a:latin typeface="Cambria Math" panose="02040503050406030204" pitchFamily="18" charset="0"/>
                        </a:rPr>
                        <m:t>P</m:t>
                      </m:r>
                      <m:r>
                        <a:rPr lang="en-US">
                          <a:solidFill>
                            <a:schemeClr val="tx2">
                              <a:lumMod val="50000"/>
                            </a:schemeClr>
                          </a:solidFill>
                          <a:latin typeface="Cambria Math" panose="02040503050406030204" pitchFamily="18" charset="0"/>
                        </a:rPr>
                        <m:t>(0)</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=1−</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a:rPr lang="en-US">
                                  <a:solidFill>
                                    <a:schemeClr val="tx2">
                                      <a:lumMod val="50000"/>
                                    </a:schemeClr>
                                  </a:solidFill>
                                  <a:latin typeface="Cambria Math" panose="02040503050406030204" pitchFamily="18" charset="0"/>
                                </a:rPr>
                                <m:t>16</m:t>
                              </m:r>
                            </m:den>
                          </m:f>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15</m:t>
                          </m:r>
                        </m:num>
                        <m:den>
                          <m:r>
                            <a:rPr lang="en-US">
                              <a:solidFill>
                                <a:schemeClr val="tx2">
                                  <a:lumMod val="50000"/>
                                </a:schemeClr>
                              </a:solidFill>
                              <a:latin typeface="Cambria Math" panose="02040503050406030204" pitchFamily="18" charset="0"/>
                            </a:rPr>
                            <m:t>16</m:t>
                          </m:r>
                        </m:den>
                      </m:f>
                    </m:oMath>
                  </m:oMathPara>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064639"/>
              </a:xfrm>
              <a:prstGeom prst="rect">
                <a:avLst/>
              </a:prstGeom>
              <a:blipFill rotWithShape="0">
                <a:blip r:embed="rId2"/>
                <a:stretch>
                  <a:fillRect l="-1037"/>
                </a:stretch>
              </a:blipFill>
            </p:spPr>
            <p:txBody>
              <a:bodyPr/>
              <a:lstStyle/>
              <a:p>
                <a:r>
                  <a:rPr lang="en-IN">
                    <a:noFill/>
                  </a:rPr>
                  <a:t> </a:t>
                </a:r>
              </a:p>
            </p:txBody>
          </p:sp>
        </mc:Fallback>
      </mc:AlternateContent>
      <p:sp>
        <p:nvSpPr>
          <p:cNvPr id="4" name="Rectangle 3"/>
          <p:cNvSpPr/>
          <p:nvPr/>
        </p:nvSpPr>
        <p:spPr>
          <a:xfrm>
            <a:off x="201238" y="4950008"/>
            <a:ext cx="2928327" cy="738664"/>
          </a:xfrm>
          <a:prstGeom prst="rect">
            <a:avLst/>
          </a:prstGeom>
        </p:spPr>
        <p:txBody>
          <a:bodyPr wrap="square">
            <a:spAutoFit/>
          </a:bodyPr>
          <a:lstStyle/>
          <a:p>
            <a:pPr>
              <a:lnSpc>
                <a:spcPct val="150000"/>
              </a:lnSpc>
              <a:tabLst>
                <a:tab pos="447675" algn="l"/>
              </a:tabLst>
            </a:pPr>
            <a:r>
              <a:rPr lang="en-US" sz="2800" dirty="0">
                <a:solidFill>
                  <a:schemeClr val="tx2">
                    <a:lumMod val="50000"/>
                  </a:schemeClr>
                </a:solidFill>
                <a:ea typeface="Cambria Math" panose="02040503050406030204" pitchFamily="18" charset="0"/>
              </a:rPr>
              <a:t>Number of families</a:t>
            </a:r>
            <a:endParaRPr lang="en-IN" sz="2800" b="1" dirty="0">
              <a:solidFill>
                <a:schemeClr val="tx2">
                  <a:lumMod val="50000"/>
                </a:schemeClr>
              </a:solidFill>
              <a:latin typeface="Cambria Math" panose="02040503050406030204" pitchFamily="18" charset="0"/>
            </a:endParaRPr>
          </a:p>
        </p:txBody>
      </p:sp>
      <mc:AlternateContent xmlns:mc="http://schemas.openxmlformats.org/markup-compatibility/2006" xmlns:a14="http://schemas.microsoft.com/office/drawing/2010/main">
        <mc:Choice Requires="a14">
          <p:sp>
            <p:nvSpPr>
              <p:cNvPr id="5" name="Rectangle 4"/>
              <p:cNvSpPr/>
              <p:nvPr/>
            </p:nvSpPr>
            <p:spPr>
              <a:xfrm>
                <a:off x="2174584" y="4880324"/>
                <a:ext cx="6273957" cy="9105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a:solidFill>
                            <a:schemeClr val="tx2">
                              <a:lumMod val="50000"/>
                            </a:schemeClr>
                          </a:solidFill>
                          <a:latin typeface="Cambria Math" panose="02040503050406030204" pitchFamily="18" charset="0"/>
                        </a:rPr>
                        <m:t>=800×</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15</m:t>
                          </m:r>
                        </m:num>
                        <m:den>
                          <m:r>
                            <a:rPr lang="en-US" sz="2800">
                              <a:solidFill>
                                <a:schemeClr val="tx2">
                                  <a:lumMod val="50000"/>
                                </a:schemeClr>
                              </a:solidFill>
                              <a:latin typeface="Cambria Math" panose="02040503050406030204" pitchFamily="18" charset="0"/>
                            </a:rPr>
                            <m:t>16</m:t>
                          </m:r>
                        </m:den>
                      </m:f>
                      <m:r>
                        <a:rPr lang="en-US" sz="2800">
                          <a:solidFill>
                            <a:schemeClr val="tx2">
                              <a:lumMod val="50000"/>
                            </a:schemeClr>
                          </a:solidFill>
                          <a:latin typeface="Cambria Math" panose="02040503050406030204" pitchFamily="18" charset="0"/>
                        </a:rPr>
                        <m:t>=50×15=</m:t>
                      </m:r>
                      <m:r>
                        <a:rPr lang="en-US" sz="2800" b="1" i="1">
                          <a:solidFill>
                            <a:srgbClr val="FF0000"/>
                          </a:solidFill>
                          <a:latin typeface="Cambria Math" panose="02040503050406030204" pitchFamily="18" charset="0"/>
                        </a:rPr>
                        <m:t>𝟕𝟓𝟎</m:t>
                      </m:r>
                    </m:oMath>
                  </m:oMathPara>
                </a14:m>
                <a:endParaRPr lang="en-IN" sz="2800" dirty="0"/>
              </a:p>
            </p:txBody>
          </p:sp>
        </mc:Choice>
        <mc:Fallback xmlns="">
          <p:sp>
            <p:nvSpPr>
              <p:cNvPr id="5" name="Rectangle 4"/>
              <p:cNvSpPr>
                <a:spLocks noRot="1" noChangeAspect="1" noMove="1" noResize="1" noEditPoints="1" noAdjustHandles="1" noChangeArrowheads="1" noChangeShapeType="1" noTextEdit="1"/>
              </p:cNvSpPr>
              <p:nvPr/>
            </p:nvSpPr>
            <p:spPr>
              <a:xfrm>
                <a:off x="2174584" y="4880324"/>
                <a:ext cx="6273957" cy="910570"/>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59955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3497752"/>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(c) Probability that out of 4 children expect to have at most 2 girls, </a:t>
                </a:r>
                <a14:m>
                  <m:oMath xmlns:m="http://schemas.openxmlformats.org/officeDocument/2006/math">
                    <m:r>
                      <a:rPr lang="en-IN">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x</m:t>
                    </m:r>
                    <m:r>
                      <a:rPr lang="en-US" i="1" smtClean="0">
                        <a:solidFill>
                          <a:srgbClr val="FF0000"/>
                        </a:solidFill>
                        <a:latin typeface="Cambria Math" panose="02040503050406030204" pitchFamily="18" charset="0"/>
                        <a:ea typeface="Cambria Math" panose="02040503050406030204" pitchFamily="18" charset="0"/>
                      </a:rPr>
                      <m:t>≤</m:t>
                    </m:r>
                    <m:r>
                      <a:rPr lang="en-IN">
                        <a:solidFill>
                          <a:srgbClr val="FF0000"/>
                        </a:solidFill>
                        <a:latin typeface="Cambria Math" panose="02040503050406030204" pitchFamily="18" charset="0"/>
                      </a:rPr>
                      <m:t>2)</m:t>
                    </m:r>
                  </m:oMath>
                </a14:m>
                <a:endParaRPr lang="en-IN" dirty="0">
                  <a:solidFill>
                    <a:srgbClr val="FF0000"/>
                  </a:solidFill>
                </a:endParaRPr>
              </a:p>
              <a:p>
                <a:pPr marL="0" indent="0">
                  <a:lnSpc>
                    <a:spcPct val="150000"/>
                  </a:lnSpc>
                  <a:buNone/>
                </a:pPr>
                <a:r>
                  <a:rPr lang="en-US" dirty="0">
                    <a:solidFill>
                      <a:schemeClr val="tx2">
                        <a:lumMod val="50000"/>
                      </a:schemeClr>
                    </a:solidFill>
                  </a:rPr>
                  <a:t>Success of event: Girl</a:t>
                </a:r>
              </a:p>
              <a:p>
                <a:pPr marL="0" indent="0">
                  <a:lnSpc>
                    <a:spcPct val="150000"/>
                  </a:lnSpc>
                  <a:buNone/>
                </a:pPr>
                <a14:m>
                  <m:oMathPara xmlns:m="http://schemas.openxmlformats.org/officeDocument/2006/math">
                    <m:oMathParaPr>
                      <m:jc m:val="left"/>
                    </m:oMathParaPr>
                    <m:oMath xmlns:m="http://schemas.openxmlformats.org/officeDocument/2006/math">
                      <m:r>
                        <m:rPr>
                          <m:sty m:val="p"/>
                        </m:rPr>
                        <a:rPr lang="en-IN" b="0" i="0" smtClean="0">
                          <a:solidFill>
                            <a:schemeClr val="tx2">
                              <a:lumMod val="50000"/>
                            </a:schemeClr>
                          </a:solidFill>
                          <a:latin typeface="Cambria Math" panose="02040503050406030204" pitchFamily="18" charset="0"/>
                        </a:rPr>
                        <m:t>So</m:t>
                      </m:r>
                      <m:r>
                        <a:rPr lang="en-IN" b="0" i="0" smtClean="0">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p</m:t>
                      </m:r>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a:rPr lang="en-US">
                              <a:solidFill>
                                <a:schemeClr val="tx2">
                                  <a:lumMod val="50000"/>
                                </a:schemeClr>
                              </a:solidFill>
                              <a:latin typeface="Cambria Math" panose="02040503050406030204" pitchFamily="18" charset="0"/>
                            </a:rPr>
                            <m:t>2</m:t>
                          </m:r>
                        </m:den>
                      </m:f>
                      <m:r>
                        <a:rPr lang="en-US">
                          <a:solidFill>
                            <a:schemeClr val="tx2">
                              <a:lumMod val="50000"/>
                            </a:schemeClr>
                          </a:solidFill>
                          <a:latin typeface="Cambria Math" panose="02040503050406030204" pitchFamily="18" charset="0"/>
                        </a:rPr>
                        <m:t> , </m:t>
                      </m:r>
                      <m:r>
                        <m:rPr>
                          <m:sty m:val="p"/>
                        </m:rPr>
                        <a:rPr lang="en-US">
                          <a:solidFill>
                            <a:schemeClr val="tx2">
                              <a:lumMod val="50000"/>
                            </a:schemeClr>
                          </a:solidFill>
                          <a:latin typeface="Cambria Math" panose="02040503050406030204" pitchFamily="18" charset="0"/>
                        </a:rPr>
                        <m:t>q</m:t>
                      </m:r>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a:rPr lang="en-US">
                              <a:solidFill>
                                <a:schemeClr val="tx2">
                                  <a:lumMod val="50000"/>
                                </a:schemeClr>
                              </a:solidFill>
                              <a:latin typeface="Cambria Math" panose="02040503050406030204" pitchFamily="18" charset="0"/>
                            </a:rPr>
                            <m:t>2</m:t>
                          </m:r>
                        </m:den>
                      </m:f>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=4, </m:t>
                      </m:r>
                      <m:r>
                        <m:rPr>
                          <m:sty m:val="p"/>
                        </m:rPr>
                        <a:rPr lang="en-US">
                          <a:solidFill>
                            <a:schemeClr val="tx2">
                              <a:lumMod val="50000"/>
                            </a:schemeClr>
                          </a:solidFill>
                          <a:latin typeface="Cambria Math" panose="02040503050406030204" pitchFamily="18" charset="0"/>
                        </a:rPr>
                        <m:t>x</m:t>
                      </m:r>
                      <m:r>
                        <a:rPr lang="en-US" i="1" smtClean="0">
                          <a:solidFill>
                            <a:schemeClr val="tx2">
                              <a:lumMod val="50000"/>
                            </a:schemeClr>
                          </a:solidFill>
                          <a:latin typeface="Cambria Math" panose="02040503050406030204" pitchFamily="18" charset="0"/>
                          <a:ea typeface="Cambria Math" panose="02040503050406030204" pitchFamily="18" charset="0"/>
                        </a:rPr>
                        <m:t>≤</m:t>
                      </m:r>
                      <m:r>
                        <a:rPr lang="en-IN" b="0" i="0" smtClean="0">
                          <a:solidFill>
                            <a:schemeClr val="tx2">
                              <a:lumMod val="50000"/>
                            </a:schemeClr>
                          </a:solidFill>
                          <a:latin typeface="Cambria Math" panose="02040503050406030204" pitchFamily="18" charset="0"/>
                        </a:rPr>
                        <m:t>2</m:t>
                      </m:r>
                      <m:r>
                        <a:rPr lang="en-US">
                          <a:solidFill>
                            <a:schemeClr val="tx2">
                              <a:lumMod val="50000"/>
                            </a:schemeClr>
                          </a:solidFill>
                          <a:latin typeface="Cambria Math" panose="02040503050406030204" pitchFamily="18" charset="0"/>
                        </a:rPr>
                        <m:t> </m:t>
                      </m:r>
                      <m:d>
                        <m:dPr>
                          <m:ctrlPr>
                            <a:rPr lang="en-US" b="0"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at</m:t>
                          </m:r>
                          <m:r>
                            <a:rPr lang="en-IN" b="0" i="0" smtClean="0">
                              <a:solidFill>
                                <a:schemeClr val="tx2">
                                  <a:lumMod val="50000"/>
                                </a:schemeClr>
                              </a:solidFill>
                              <a:latin typeface="Cambria Math" panose="02040503050406030204" pitchFamily="18" charset="0"/>
                            </a:rPr>
                            <m:t> </m:t>
                          </m:r>
                          <m:r>
                            <m:rPr>
                              <m:sty m:val="p"/>
                            </m:rPr>
                            <a:rPr lang="en-IN" b="0" i="0" smtClean="0">
                              <a:solidFill>
                                <a:schemeClr val="tx2">
                                  <a:lumMod val="50000"/>
                                </a:schemeClr>
                              </a:solidFill>
                              <a:latin typeface="Cambria Math" panose="02040503050406030204" pitchFamily="18" charset="0"/>
                            </a:rPr>
                            <m:t>most</m:t>
                          </m:r>
                          <m:r>
                            <a:rPr lang="en-IN" b="0" i="0" smtClean="0">
                              <a:solidFill>
                                <a:schemeClr val="tx2">
                                  <a:lumMod val="50000"/>
                                </a:schemeClr>
                              </a:solidFill>
                              <a:latin typeface="Cambria Math" panose="02040503050406030204" pitchFamily="18" charset="0"/>
                            </a:rPr>
                            <m:t> 2 </m:t>
                          </m:r>
                          <m:r>
                            <m:rPr>
                              <m:sty m:val="p"/>
                            </m:rPr>
                            <a:rPr lang="en-IN" b="0" i="0" smtClean="0">
                              <a:solidFill>
                                <a:schemeClr val="tx2">
                                  <a:lumMod val="50000"/>
                                </a:schemeClr>
                              </a:solidFill>
                              <a:latin typeface="Cambria Math" panose="02040503050406030204" pitchFamily="18" charset="0"/>
                            </a:rPr>
                            <m:t>girls</m:t>
                          </m:r>
                        </m:e>
                      </m:d>
                    </m:oMath>
                  </m:oMathPara>
                </a14:m>
                <a:endParaRPr lang="en-IN" dirty="0">
                  <a:solidFill>
                    <a:schemeClr val="tx2">
                      <a:lumMod val="50000"/>
                    </a:schemeClr>
                  </a:solidFill>
                  <a:latin typeface="Cambria Math" panose="02040503050406030204" pitchFamily="18" charset="0"/>
                </a:endParaRPr>
              </a:p>
              <a:p>
                <a:pPr marL="0" indent="0">
                  <a:lnSpc>
                    <a:spcPct val="150000"/>
                  </a:lnSpc>
                  <a:buNone/>
                </a:pPr>
                <a14:m>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≤2</m:t>
                        </m:r>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m:t>
                        </m:r>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=2)</m:t>
                    </m:r>
                  </m:oMath>
                </a14:m>
                <a:r>
                  <a:rPr lang="en-US" dirty="0">
                    <a:solidFill>
                      <a:schemeClr val="tx2">
                        <a:lumMod val="50000"/>
                      </a:schemeClr>
                    </a:solidFill>
                    <a:latin typeface="Cambria Math" panose="02040503050406030204" pitchFamily="18" charset="0"/>
                  </a:rPr>
                  <a:t> ----- (2)</a:t>
                </a: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3497752"/>
              </a:xfrm>
              <a:prstGeom prst="rect">
                <a:avLst/>
              </a:prstGeom>
              <a:blipFill rotWithShape="0">
                <a:blip r:embed="rId2"/>
                <a:stretch>
                  <a:fillRect l="-1037" b="-1568"/>
                </a:stretch>
              </a:blipFill>
            </p:spPr>
            <p:txBody>
              <a:bodyPr/>
              <a:lstStyle/>
              <a:p>
                <a:r>
                  <a:rPr lang="en-IN">
                    <a:noFill/>
                  </a:rPr>
                  <a:t> </a:t>
                </a:r>
              </a:p>
            </p:txBody>
          </p:sp>
        </mc:Fallback>
      </mc:AlternateContent>
    </p:spTree>
    <p:extLst>
      <p:ext uri="{BB962C8B-B14F-4D97-AF65-F5344CB8AC3E}">
        <p14:creationId xmlns:p14="http://schemas.microsoft.com/office/powerpoint/2010/main" val="2682392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87319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ea typeface="Cambria Math" panose="02040503050406030204" pitchFamily="18" charset="0"/>
                  </a:rPr>
                  <a:t>To find </a:t>
                </a:r>
                <a14:m>
                  <m:oMath xmlns:m="http://schemas.openxmlformats.org/officeDocument/2006/math">
                    <m:r>
                      <m:rPr>
                        <m:sty m:val="p"/>
                      </m:rPr>
                      <a:rPr lang="en-US" b="0" i="1">
                        <a:solidFill>
                          <a:schemeClr val="tx2">
                            <a:lumMod val="50000"/>
                          </a:schemeClr>
                        </a:solidFill>
                        <a:latin typeface="Cambria Math" panose="02040503050406030204" pitchFamily="18" charset="0"/>
                      </a:rPr>
                      <m:t>P</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oMath>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b="0" i="1">
                                  <a:solidFill>
                                    <a:schemeClr val="tx2">
                                      <a:lumMod val="50000"/>
                                    </a:schemeClr>
                                  </a:solidFill>
                                  <a:latin typeface="Cambria Math" panose="02040503050406030204" pitchFamily="18" charset="0"/>
                                </a:rPr>
                                <m:t>n</m:t>
                              </m:r>
                            </m:num>
                            <m:den>
                              <m:r>
                                <m:rPr>
                                  <m:sty m:val="p"/>
                                </m:rPr>
                                <a:rPr lang="en-US" b="0" i="1">
                                  <a:solidFill>
                                    <a:schemeClr val="tx2">
                                      <a:lumMod val="50000"/>
                                    </a:schemeClr>
                                  </a:solidFill>
                                  <a:latin typeface="Cambria Math" panose="02040503050406030204" pitchFamily="18" charset="0"/>
                                </a:rPr>
                                <m:t>x</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p</m:t>
                          </m:r>
                        </m:e>
                        <m:sup>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q</m:t>
                          </m:r>
                        </m:e>
                        <m:sup>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4</m:t>
                              </m:r>
                            </m:num>
                            <m:den>
                              <m:r>
                                <a:rPr lang="en-IN" b="0" i="1" smtClean="0">
                                  <a:solidFill>
                                    <a:schemeClr val="tx2">
                                      <a:lumMod val="50000"/>
                                    </a:schemeClr>
                                  </a:solidFill>
                                  <a:latin typeface="Cambria Math" panose="02040503050406030204" pitchFamily="18" charset="0"/>
                                </a:rPr>
                                <m:t>1</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2</m:t>
                                  </m:r>
                                </m:den>
                              </m:f>
                            </m:e>
                          </m:d>
                        </m:e>
                        <m:sup>
                          <m:r>
                            <a:rPr lang="en-IN" b="0" i="1" smtClean="0">
                              <a:solidFill>
                                <a:schemeClr val="tx2">
                                  <a:lumMod val="50000"/>
                                </a:schemeClr>
                              </a:solidFill>
                              <a:latin typeface="Cambria Math" panose="02040503050406030204" pitchFamily="18" charset="0"/>
                            </a:rPr>
                            <m:t>1</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2</m:t>
                                  </m:r>
                                </m:den>
                              </m:f>
                            </m:e>
                          </m:d>
                        </m:e>
                        <m:sup>
                          <m:r>
                            <a:rPr lang="en-IN" b="0" i="1" smtClean="0">
                              <a:solidFill>
                                <a:schemeClr val="tx2">
                                  <a:lumMod val="50000"/>
                                </a:schemeClr>
                              </a:solidFill>
                              <a:latin typeface="Cambria Math" panose="02040503050406030204" pitchFamily="18" charset="0"/>
                            </a:rPr>
                            <m:t>3</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4</m:t>
                              </m:r>
                              <m:r>
                                <a:rPr lang="en-US" b="0">
                                  <a:solidFill>
                                    <a:schemeClr val="tx2">
                                      <a:lumMod val="50000"/>
                                    </a:schemeClr>
                                  </a:solidFill>
                                  <a:latin typeface="Cambria Math" panose="02040503050406030204" pitchFamily="18" charset="0"/>
                                </a:rPr>
                                <m:t>!</m:t>
                              </m:r>
                            </m:num>
                            <m:den>
                              <m:r>
                                <a:rPr lang="en-IN" b="0" i="1" smtClean="0">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4</m:t>
                                  </m:r>
                                  <m:r>
                                    <a:rPr lang="en-US" b="0">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den>
                          </m:f>
                        </m:e>
                      </m:d>
                      <m:r>
                        <a:rPr lang="en-US" b="0">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b="0" i="1" smtClean="0">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IN" b="0" i="1" smtClean="0">
                                  <a:solidFill>
                                    <a:schemeClr val="tx2">
                                      <a:lumMod val="50000"/>
                                    </a:schemeClr>
                                  </a:solidFill>
                                  <a:latin typeface="Cambria Math" panose="02040503050406030204" pitchFamily="18" charset="0"/>
                                </a:rPr>
                                <m:t>2</m:t>
                              </m:r>
                            </m:den>
                          </m:f>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IN" b="0" i="1" smtClean="0">
                                  <a:solidFill>
                                    <a:schemeClr val="tx2">
                                      <a:lumMod val="50000"/>
                                    </a:schemeClr>
                                  </a:solidFill>
                                  <a:latin typeface="Cambria Math" panose="02040503050406030204" pitchFamily="18" charset="0"/>
                                </a:rPr>
                                <m:t>8</m:t>
                              </m:r>
                            </m:den>
                          </m:f>
                        </m:e>
                      </m:d>
                      <m:r>
                        <a:rPr lang="en-IN" b="0" i="0" smtClean="0">
                          <a:solidFill>
                            <a:schemeClr val="tx2">
                              <a:lumMod val="50000"/>
                            </a:schemeClr>
                          </a:solidFill>
                          <a:latin typeface="Cambria Math" panose="02040503050406030204" pitchFamily="18" charset="0"/>
                        </a:rPr>
                        <m:t>=</m:t>
                      </m:r>
                      <m:f>
                        <m:fPr>
                          <m:ctrlPr>
                            <a:rPr lang="en-IN" b="1" i="1" smtClean="0">
                              <a:solidFill>
                                <a:srgbClr val="FF0000"/>
                              </a:solidFill>
                              <a:latin typeface="Cambria Math" panose="02040503050406030204" pitchFamily="18" charset="0"/>
                            </a:rPr>
                          </m:ctrlPr>
                        </m:fPr>
                        <m:num>
                          <m:r>
                            <a:rPr lang="en-US" b="1" i="1">
                              <a:solidFill>
                                <a:srgbClr val="FF0000"/>
                              </a:solidFill>
                              <a:latin typeface="Cambria Math" panose="02040503050406030204" pitchFamily="18" charset="0"/>
                            </a:rPr>
                            <m:t>𝟏</m:t>
                          </m:r>
                        </m:num>
                        <m:den>
                          <m:r>
                            <a:rPr lang="en-IN" b="1" i="1" smtClean="0">
                              <a:solidFill>
                                <a:srgbClr val="FF0000"/>
                              </a:solidFill>
                              <a:latin typeface="Cambria Math" panose="02040503050406030204" pitchFamily="18" charset="0"/>
                            </a:rPr>
                            <m:t>𝟒</m:t>
                          </m:r>
                        </m:den>
                      </m:f>
                    </m:oMath>
                  </m:oMathPara>
                </a14:m>
                <a:endParaRPr lang="en-IN" b="1"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873194"/>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42411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3813352"/>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ea typeface="Cambria Math" panose="02040503050406030204" pitchFamily="18" charset="0"/>
                  </a:rPr>
                  <a:t>From equation </a:t>
                </a:r>
                <a:r>
                  <a:rPr lang="en-US" dirty="0">
                    <a:solidFill>
                      <a:schemeClr val="tx2">
                        <a:lumMod val="50000"/>
                      </a:schemeClr>
                    </a:solidFill>
                    <a:latin typeface="Cambria Math" panose="02040503050406030204" pitchFamily="18" charset="0"/>
                    <a:ea typeface="Cambria Math" panose="02040503050406030204" pitchFamily="18" charset="0"/>
                  </a:rPr>
                  <a:t>(2)</a:t>
                </a:r>
                <a:endParaRPr lang="en-IN" dirty="0">
                  <a:solidFill>
                    <a:schemeClr val="tx2">
                      <a:lumMod val="50000"/>
                    </a:schemeClr>
                  </a:solidFill>
                  <a:latin typeface="Cambria Math" panose="02040503050406030204" pitchFamily="18" charset="0"/>
                  <a:ea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16</m:t>
                          </m:r>
                        </m:den>
                      </m:f>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4</m:t>
                          </m:r>
                        </m:den>
                      </m:f>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3</m:t>
                          </m:r>
                        </m:num>
                        <m:den>
                          <m:r>
                            <a:rPr lang="en-US" b="0" i="0">
                              <a:solidFill>
                                <a:schemeClr val="tx2">
                                  <a:lumMod val="50000"/>
                                </a:schemeClr>
                              </a:solidFill>
                              <a:latin typeface="Cambria Math" panose="02040503050406030204" pitchFamily="18" charset="0"/>
                            </a:rPr>
                            <m:t>8</m:t>
                          </m:r>
                        </m:den>
                      </m:f>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11</m:t>
                          </m:r>
                        </m:num>
                        <m:den>
                          <m:r>
                            <a:rPr lang="en-US" b="0" i="0">
                              <a:solidFill>
                                <a:schemeClr val="tx2">
                                  <a:lumMod val="50000"/>
                                </a:schemeClr>
                              </a:solidFill>
                              <a:latin typeface="Cambria Math" panose="02040503050406030204" pitchFamily="18" charset="0"/>
                            </a:rPr>
                            <m:t>16</m:t>
                          </m:r>
                        </m:den>
                      </m:f>
                    </m:oMath>
                  </m:oMathPara>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3813352"/>
              </a:xfrm>
              <a:prstGeom prst="rect">
                <a:avLst/>
              </a:prstGeom>
              <a:blipFill rotWithShape="0">
                <a:blip r:embed="rId2"/>
                <a:stretch>
                  <a:fillRect l="-1037"/>
                </a:stretch>
              </a:blipFill>
            </p:spPr>
            <p:txBody>
              <a:bodyPr/>
              <a:lstStyle/>
              <a:p>
                <a:r>
                  <a:rPr lang="en-IN">
                    <a:noFill/>
                  </a:rPr>
                  <a:t> </a:t>
                </a:r>
              </a:p>
            </p:txBody>
          </p:sp>
        </mc:Fallback>
      </mc:AlternateContent>
      <p:sp>
        <p:nvSpPr>
          <p:cNvPr id="3" name="Rectangle 2"/>
          <p:cNvSpPr/>
          <p:nvPr/>
        </p:nvSpPr>
        <p:spPr>
          <a:xfrm>
            <a:off x="201239" y="4611637"/>
            <a:ext cx="2889691" cy="738664"/>
          </a:xfrm>
          <a:prstGeom prst="rect">
            <a:avLst/>
          </a:prstGeom>
        </p:spPr>
        <p:txBody>
          <a:bodyPr wrap="square">
            <a:spAutoFit/>
          </a:bodyPr>
          <a:lstStyle/>
          <a:p>
            <a:pPr>
              <a:lnSpc>
                <a:spcPct val="150000"/>
              </a:lnSpc>
              <a:tabLst>
                <a:tab pos="447675" algn="l"/>
              </a:tabLst>
            </a:pPr>
            <a:r>
              <a:rPr lang="en-US" sz="2800" dirty="0">
                <a:solidFill>
                  <a:schemeClr val="tx2">
                    <a:lumMod val="50000"/>
                  </a:schemeClr>
                </a:solidFill>
                <a:ea typeface="Cambria Math" panose="02040503050406030204" pitchFamily="18" charset="0"/>
              </a:rPr>
              <a:t>Number of families</a:t>
            </a:r>
            <a:endParaRPr lang="en-IN" sz="2800" b="1" dirty="0">
              <a:solidFill>
                <a:schemeClr val="tx2">
                  <a:lumMod val="50000"/>
                </a:schemeClr>
              </a:solidFill>
              <a:latin typeface="Cambria Math" panose="02040503050406030204" pitchFamily="18" charset="0"/>
            </a:endParaRPr>
          </a:p>
        </p:txBody>
      </p:sp>
      <mc:AlternateContent xmlns:mc="http://schemas.openxmlformats.org/markup-compatibility/2006" xmlns:a14="http://schemas.microsoft.com/office/drawing/2010/main">
        <mc:Choice Requires="a14">
          <p:sp>
            <p:nvSpPr>
              <p:cNvPr id="4" name="Rectangle 3"/>
              <p:cNvSpPr/>
              <p:nvPr/>
            </p:nvSpPr>
            <p:spPr>
              <a:xfrm>
                <a:off x="2792769" y="4530077"/>
                <a:ext cx="5140617" cy="9017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a:solidFill>
                            <a:schemeClr val="tx2">
                              <a:lumMod val="50000"/>
                            </a:schemeClr>
                          </a:solidFill>
                          <a:latin typeface="Cambria Math" panose="02040503050406030204" pitchFamily="18" charset="0"/>
                        </a:rPr>
                        <m:t>=800×</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1</m:t>
                          </m:r>
                          <m:r>
                            <a:rPr lang="en-IN" sz="2800">
                              <a:solidFill>
                                <a:schemeClr val="tx2">
                                  <a:lumMod val="50000"/>
                                </a:schemeClr>
                              </a:solidFill>
                              <a:latin typeface="Cambria Math" panose="02040503050406030204" pitchFamily="18" charset="0"/>
                            </a:rPr>
                            <m:t>1</m:t>
                          </m:r>
                        </m:num>
                        <m:den>
                          <m:r>
                            <a:rPr lang="en-US" sz="2800">
                              <a:solidFill>
                                <a:schemeClr val="tx2">
                                  <a:lumMod val="50000"/>
                                </a:schemeClr>
                              </a:solidFill>
                              <a:latin typeface="Cambria Math" panose="02040503050406030204" pitchFamily="18" charset="0"/>
                            </a:rPr>
                            <m:t>16</m:t>
                          </m:r>
                        </m:den>
                      </m:f>
                      <m:r>
                        <a:rPr lang="en-US" sz="2800">
                          <a:solidFill>
                            <a:schemeClr val="tx2">
                              <a:lumMod val="50000"/>
                            </a:schemeClr>
                          </a:solidFill>
                          <a:latin typeface="Cambria Math" panose="02040503050406030204" pitchFamily="18" charset="0"/>
                        </a:rPr>
                        <m:t>=50×1</m:t>
                      </m:r>
                      <m:r>
                        <a:rPr lang="en-IN" sz="2800">
                          <a:solidFill>
                            <a:schemeClr val="tx2">
                              <a:lumMod val="50000"/>
                            </a:schemeClr>
                          </a:solidFill>
                          <a:latin typeface="Cambria Math" panose="02040503050406030204" pitchFamily="18" charset="0"/>
                        </a:rPr>
                        <m:t>1</m:t>
                      </m:r>
                      <m:r>
                        <a:rPr lang="en-US" sz="2800">
                          <a:solidFill>
                            <a:schemeClr val="tx2">
                              <a:lumMod val="50000"/>
                            </a:schemeClr>
                          </a:solidFill>
                          <a:latin typeface="Cambria Math" panose="02040503050406030204" pitchFamily="18" charset="0"/>
                        </a:rPr>
                        <m:t>=</m:t>
                      </m:r>
                      <m:r>
                        <a:rPr lang="en-IN" sz="2800" b="1" i="1">
                          <a:solidFill>
                            <a:srgbClr val="FF0000"/>
                          </a:solidFill>
                          <a:latin typeface="Cambria Math" panose="02040503050406030204" pitchFamily="18" charset="0"/>
                        </a:rPr>
                        <m:t>𝟓</m:t>
                      </m:r>
                      <m:r>
                        <a:rPr lang="en-US" sz="2800" b="1" i="1">
                          <a:solidFill>
                            <a:srgbClr val="FF0000"/>
                          </a:solidFill>
                          <a:latin typeface="Cambria Math" panose="02040503050406030204" pitchFamily="18" charset="0"/>
                        </a:rPr>
                        <m:t>𝟓𝟎</m:t>
                      </m:r>
                    </m:oMath>
                  </m:oMathPara>
                </a14:m>
                <a:endParaRPr lang="en-IN" sz="2800" dirty="0"/>
              </a:p>
            </p:txBody>
          </p:sp>
        </mc:Choice>
        <mc:Fallback xmlns="">
          <p:sp>
            <p:nvSpPr>
              <p:cNvPr id="4" name="Rectangle 3"/>
              <p:cNvSpPr>
                <a:spLocks noRot="1" noChangeAspect="1" noMove="1" noResize="1" noEditPoints="1" noAdjustHandles="1" noChangeArrowheads="1" noChangeShapeType="1" noTextEdit="1"/>
              </p:cNvSpPr>
              <p:nvPr/>
            </p:nvSpPr>
            <p:spPr>
              <a:xfrm>
                <a:off x="2792769" y="4530077"/>
                <a:ext cx="5140617" cy="901785"/>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4622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8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4990" y="653298"/>
                <a:ext cx="6711248" cy="6008633"/>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(d) Probability that out of 4 children expect to have no girls, </a:t>
                </a:r>
                <a14:m>
                  <m:oMath xmlns:m="http://schemas.openxmlformats.org/officeDocument/2006/math">
                    <m:r>
                      <a:rPr lang="en-IN">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x</m:t>
                    </m:r>
                    <m:r>
                      <a:rPr lang="en-US">
                        <a:solidFill>
                          <a:srgbClr val="FF0000"/>
                        </a:solidFill>
                        <a:latin typeface="Cambria Math" panose="02040503050406030204" pitchFamily="18" charset="0"/>
                      </a:rPr>
                      <m:t>=0)</m:t>
                    </m:r>
                  </m:oMath>
                </a14:m>
                <a:endParaRPr lang="en-IN" dirty="0">
                  <a:solidFill>
                    <a:srgbClr val="FF0000"/>
                  </a:solidFill>
                </a:endParaRPr>
              </a:p>
              <a:p>
                <a:pPr marL="0" indent="0">
                  <a:lnSpc>
                    <a:spcPct val="150000"/>
                  </a:lnSpc>
                  <a:buNone/>
                </a:pPr>
                <a:r>
                  <a:rPr lang="en-US" dirty="0">
                    <a:solidFill>
                      <a:schemeClr val="tx2">
                        <a:lumMod val="50000"/>
                      </a:schemeClr>
                    </a:solidFill>
                  </a:rPr>
                  <a:t>Success of event: Girls</a:t>
                </a:r>
                <a:endParaRPr lang="en-IN" dirty="0">
                  <a:solidFill>
                    <a:schemeClr val="tx2">
                      <a:lumMod val="50000"/>
                    </a:schemeClr>
                  </a:solidFill>
                </a:endParaRPr>
              </a:p>
              <a:p>
                <a:pPr marL="0" indent="0">
                  <a:lnSpc>
                    <a:spcPct val="150000"/>
                  </a:lnSpc>
                  <a:buNone/>
                </a:pPr>
                <a14:m>
                  <m:oMathPara xmlns:m="http://schemas.openxmlformats.org/officeDocument/2006/math">
                    <m:oMathParaPr>
                      <m:jc m:val="left"/>
                    </m:oMathParaPr>
                    <m:oMath xmlns:m="http://schemas.openxmlformats.org/officeDocument/2006/math">
                      <m:r>
                        <m:rPr>
                          <m:sty m:val="p"/>
                        </m:rPr>
                        <a:rPr lang="en-IN" sz="2750" b="0" i="0" smtClean="0">
                          <a:solidFill>
                            <a:schemeClr val="tx2">
                              <a:lumMod val="50000"/>
                            </a:schemeClr>
                          </a:solidFill>
                          <a:latin typeface="Cambria Math" panose="02040503050406030204" pitchFamily="18" charset="0"/>
                        </a:rPr>
                        <m:t>So</m:t>
                      </m:r>
                      <m:r>
                        <a:rPr lang="en-IN" sz="2750" b="0" i="0" smtClean="0">
                          <a:solidFill>
                            <a:schemeClr val="tx2">
                              <a:lumMod val="50000"/>
                            </a:schemeClr>
                          </a:solidFill>
                          <a:latin typeface="Cambria Math" panose="02040503050406030204" pitchFamily="18" charset="0"/>
                        </a:rPr>
                        <m:t>,</m:t>
                      </m:r>
                      <m:r>
                        <m:rPr>
                          <m:sty m:val="p"/>
                        </m:rPr>
                        <a:rPr lang="en-US" sz="2750">
                          <a:solidFill>
                            <a:schemeClr val="tx2">
                              <a:lumMod val="50000"/>
                            </a:schemeClr>
                          </a:solidFill>
                          <a:latin typeface="Cambria Math" panose="02040503050406030204" pitchFamily="18" charset="0"/>
                        </a:rPr>
                        <m:t>p</m:t>
                      </m:r>
                      <m:r>
                        <a:rPr lang="en-US" sz="2750">
                          <a:solidFill>
                            <a:schemeClr val="tx2">
                              <a:lumMod val="50000"/>
                            </a:schemeClr>
                          </a:solidFill>
                          <a:latin typeface="Cambria Math" panose="02040503050406030204" pitchFamily="18" charset="0"/>
                        </a:rPr>
                        <m:t>=</m:t>
                      </m:r>
                      <m:f>
                        <m:fPr>
                          <m:ctrlPr>
                            <a:rPr lang="en-IN" sz="2750" i="1">
                              <a:solidFill>
                                <a:schemeClr val="tx2">
                                  <a:lumMod val="50000"/>
                                </a:schemeClr>
                              </a:solidFill>
                              <a:latin typeface="Cambria Math" panose="02040503050406030204" pitchFamily="18" charset="0"/>
                            </a:rPr>
                          </m:ctrlPr>
                        </m:fPr>
                        <m:num>
                          <m:r>
                            <a:rPr lang="en-US" sz="2750">
                              <a:solidFill>
                                <a:schemeClr val="tx2">
                                  <a:lumMod val="50000"/>
                                </a:schemeClr>
                              </a:solidFill>
                              <a:latin typeface="Cambria Math" panose="02040503050406030204" pitchFamily="18" charset="0"/>
                            </a:rPr>
                            <m:t>1</m:t>
                          </m:r>
                        </m:num>
                        <m:den>
                          <m:r>
                            <a:rPr lang="en-US" sz="2750">
                              <a:solidFill>
                                <a:schemeClr val="tx2">
                                  <a:lumMod val="50000"/>
                                </a:schemeClr>
                              </a:solidFill>
                              <a:latin typeface="Cambria Math" panose="02040503050406030204" pitchFamily="18" charset="0"/>
                            </a:rPr>
                            <m:t>2</m:t>
                          </m:r>
                        </m:den>
                      </m:f>
                      <m:r>
                        <a:rPr lang="en-US" sz="2750">
                          <a:solidFill>
                            <a:schemeClr val="tx2">
                              <a:lumMod val="50000"/>
                            </a:schemeClr>
                          </a:solidFill>
                          <a:latin typeface="Cambria Math" panose="02040503050406030204" pitchFamily="18" charset="0"/>
                        </a:rPr>
                        <m:t> , </m:t>
                      </m:r>
                      <m:r>
                        <m:rPr>
                          <m:sty m:val="p"/>
                        </m:rPr>
                        <a:rPr lang="en-US" sz="2750">
                          <a:solidFill>
                            <a:schemeClr val="tx2">
                              <a:lumMod val="50000"/>
                            </a:schemeClr>
                          </a:solidFill>
                          <a:latin typeface="Cambria Math" panose="02040503050406030204" pitchFamily="18" charset="0"/>
                        </a:rPr>
                        <m:t>q</m:t>
                      </m:r>
                      <m:r>
                        <a:rPr lang="en-US" sz="2750">
                          <a:solidFill>
                            <a:schemeClr val="tx2">
                              <a:lumMod val="50000"/>
                            </a:schemeClr>
                          </a:solidFill>
                          <a:latin typeface="Cambria Math" panose="02040503050406030204" pitchFamily="18" charset="0"/>
                        </a:rPr>
                        <m:t>=</m:t>
                      </m:r>
                      <m:f>
                        <m:fPr>
                          <m:ctrlPr>
                            <a:rPr lang="en-IN" sz="2750" i="1">
                              <a:solidFill>
                                <a:schemeClr val="tx2">
                                  <a:lumMod val="50000"/>
                                </a:schemeClr>
                              </a:solidFill>
                              <a:latin typeface="Cambria Math" panose="02040503050406030204" pitchFamily="18" charset="0"/>
                            </a:rPr>
                          </m:ctrlPr>
                        </m:fPr>
                        <m:num>
                          <m:r>
                            <a:rPr lang="en-US" sz="2750">
                              <a:solidFill>
                                <a:schemeClr val="tx2">
                                  <a:lumMod val="50000"/>
                                </a:schemeClr>
                              </a:solidFill>
                              <a:latin typeface="Cambria Math" panose="02040503050406030204" pitchFamily="18" charset="0"/>
                            </a:rPr>
                            <m:t>1</m:t>
                          </m:r>
                        </m:num>
                        <m:den>
                          <m:r>
                            <a:rPr lang="en-US" sz="2750">
                              <a:solidFill>
                                <a:schemeClr val="tx2">
                                  <a:lumMod val="50000"/>
                                </a:schemeClr>
                              </a:solidFill>
                              <a:latin typeface="Cambria Math" panose="02040503050406030204" pitchFamily="18" charset="0"/>
                            </a:rPr>
                            <m:t>2</m:t>
                          </m:r>
                        </m:den>
                      </m:f>
                      <m:r>
                        <a:rPr lang="en-US" sz="2750">
                          <a:solidFill>
                            <a:schemeClr val="tx2">
                              <a:lumMod val="50000"/>
                            </a:schemeClr>
                          </a:solidFill>
                          <a:latin typeface="Cambria Math" panose="02040503050406030204" pitchFamily="18" charset="0"/>
                        </a:rPr>
                        <m:t>, </m:t>
                      </m:r>
                      <m:r>
                        <m:rPr>
                          <m:sty m:val="p"/>
                        </m:rPr>
                        <a:rPr lang="en-US" sz="2750">
                          <a:solidFill>
                            <a:schemeClr val="tx2">
                              <a:lumMod val="50000"/>
                            </a:schemeClr>
                          </a:solidFill>
                          <a:latin typeface="Cambria Math" panose="02040503050406030204" pitchFamily="18" charset="0"/>
                        </a:rPr>
                        <m:t>n</m:t>
                      </m:r>
                      <m:r>
                        <a:rPr lang="en-US" sz="2750">
                          <a:solidFill>
                            <a:schemeClr val="tx2">
                              <a:lumMod val="50000"/>
                            </a:schemeClr>
                          </a:solidFill>
                          <a:latin typeface="Cambria Math" panose="02040503050406030204" pitchFamily="18" charset="0"/>
                        </a:rPr>
                        <m:t>=4, </m:t>
                      </m:r>
                      <m:r>
                        <m:rPr>
                          <m:sty m:val="p"/>
                        </m:rPr>
                        <a:rPr lang="en-US" sz="2750">
                          <a:solidFill>
                            <a:schemeClr val="tx2">
                              <a:lumMod val="50000"/>
                            </a:schemeClr>
                          </a:solidFill>
                          <a:latin typeface="Cambria Math" panose="02040503050406030204" pitchFamily="18" charset="0"/>
                        </a:rPr>
                        <m:t>x</m:t>
                      </m:r>
                      <m:r>
                        <a:rPr lang="en-IN" sz="2750" i="1" smtClean="0">
                          <a:solidFill>
                            <a:schemeClr val="tx2">
                              <a:lumMod val="50000"/>
                            </a:schemeClr>
                          </a:solidFill>
                          <a:latin typeface="Cambria Math" panose="02040503050406030204" pitchFamily="18" charset="0"/>
                          <a:ea typeface="Cambria Math" panose="02040503050406030204" pitchFamily="18" charset="0"/>
                        </a:rPr>
                        <m:t>=</m:t>
                      </m:r>
                      <m:r>
                        <a:rPr lang="en-IN" sz="2750" b="0" i="1" smtClean="0">
                          <a:solidFill>
                            <a:schemeClr val="tx2">
                              <a:lumMod val="50000"/>
                            </a:schemeClr>
                          </a:solidFill>
                          <a:latin typeface="Cambria Math" panose="02040503050406030204" pitchFamily="18" charset="0"/>
                          <a:ea typeface="Cambria Math" panose="02040503050406030204" pitchFamily="18" charset="0"/>
                        </a:rPr>
                        <m:t>0</m:t>
                      </m:r>
                      <m:r>
                        <a:rPr lang="en-US" sz="2750">
                          <a:solidFill>
                            <a:schemeClr val="tx2">
                              <a:lumMod val="50000"/>
                            </a:schemeClr>
                          </a:solidFill>
                          <a:latin typeface="Cambria Math" panose="02040503050406030204" pitchFamily="18" charset="0"/>
                        </a:rPr>
                        <m:t> </m:t>
                      </m:r>
                      <m:d>
                        <m:dPr>
                          <m:ctrlPr>
                            <a:rPr lang="en-US" sz="2750" b="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IN" sz="2750" i="0" smtClean="0">
                              <a:solidFill>
                                <a:schemeClr val="tx2">
                                  <a:lumMod val="50000"/>
                                </a:schemeClr>
                              </a:solidFill>
                              <a:latin typeface="Cambria Math" panose="02040503050406030204" pitchFamily="18" charset="0"/>
                              <a:ea typeface="Cambria Math" panose="02040503050406030204" pitchFamily="18" charset="0"/>
                            </a:rPr>
                            <m:t>n</m:t>
                          </m:r>
                          <m:r>
                            <m:rPr>
                              <m:sty m:val="p"/>
                            </m:rPr>
                            <a:rPr lang="en-IN" sz="2750" b="0" i="0" smtClean="0">
                              <a:solidFill>
                                <a:schemeClr val="tx2">
                                  <a:lumMod val="50000"/>
                                </a:schemeClr>
                              </a:solidFill>
                              <a:latin typeface="Cambria Math" panose="02040503050406030204" pitchFamily="18" charset="0"/>
                              <a:ea typeface="Cambria Math" panose="02040503050406030204" pitchFamily="18" charset="0"/>
                            </a:rPr>
                            <m:t>o</m:t>
                          </m:r>
                          <m:r>
                            <a:rPr lang="en-IN" sz="2750" b="0" i="0" smtClean="0">
                              <a:solidFill>
                                <a:schemeClr val="tx2">
                                  <a:lumMod val="50000"/>
                                </a:schemeClr>
                              </a:solidFill>
                              <a:latin typeface="Cambria Math" panose="02040503050406030204" pitchFamily="18" charset="0"/>
                              <a:ea typeface="Cambria Math" panose="02040503050406030204" pitchFamily="18" charset="0"/>
                            </a:rPr>
                            <m:t> </m:t>
                          </m:r>
                          <m:r>
                            <m:rPr>
                              <m:sty m:val="p"/>
                            </m:rPr>
                            <a:rPr lang="en-IN" sz="2750" b="0" i="0" smtClean="0">
                              <a:solidFill>
                                <a:schemeClr val="tx2">
                                  <a:lumMod val="50000"/>
                                </a:schemeClr>
                              </a:solidFill>
                              <a:latin typeface="Cambria Math" panose="02040503050406030204" pitchFamily="18" charset="0"/>
                              <a:ea typeface="Cambria Math" panose="02040503050406030204" pitchFamily="18" charset="0"/>
                            </a:rPr>
                            <m:t>girls</m:t>
                          </m:r>
                        </m:e>
                      </m:d>
                    </m:oMath>
                  </m:oMathPara>
                </a14:m>
                <a:endParaRPr lang="en-IN" sz="2750" dirty="0">
                  <a:solidFill>
                    <a:schemeClr val="tx2">
                      <a:lumMod val="50000"/>
                    </a:schemeClr>
                  </a:solidFill>
                  <a:ea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b="0" i="1">
                                  <a:solidFill>
                                    <a:schemeClr val="tx2">
                                      <a:lumMod val="50000"/>
                                    </a:schemeClr>
                                  </a:solidFill>
                                  <a:latin typeface="Cambria Math" panose="02040503050406030204" pitchFamily="18" charset="0"/>
                                </a:rPr>
                                <m:t>n</m:t>
                              </m:r>
                            </m:num>
                            <m:den>
                              <m:r>
                                <m:rPr>
                                  <m:sty m:val="p"/>
                                </m:rPr>
                                <a:rPr lang="en-US" b="0" i="1">
                                  <a:solidFill>
                                    <a:schemeClr val="tx2">
                                      <a:lumMod val="50000"/>
                                    </a:schemeClr>
                                  </a:solidFill>
                                  <a:latin typeface="Cambria Math" panose="02040503050406030204" pitchFamily="18" charset="0"/>
                                </a:rPr>
                                <m:t>x</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p</m:t>
                          </m:r>
                        </m:e>
                        <m:sup>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q</m:t>
                          </m:r>
                        </m:e>
                        <m:sup>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4</m:t>
                              </m:r>
                            </m:num>
                            <m:den>
                              <m:r>
                                <a:rPr lang="en-US" b="0" i="1">
                                  <a:solidFill>
                                    <a:schemeClr val="tx2">
                                      <a:lumMod val="50000"/>
                                    </a:schemeClr>
                                  </a:solidFill>
                                  <a:latin typeface="Cambria Math" panose="02040503050406030204" pitchFamily="18" charset="0"/>
                                </a:rPr>
                                <m:t>0</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2</m:t>
                                  </m:r>
                                </m:den>
                              </m:f>
                            </m:e>
                          </m:d>
                        </m:e>
                        <m:sup>
                          <m:r>
                            <a:rPr lang="en-US" b="0" i="1">
                              <a:solidFill>
                                <a:schemeClr val="tx2">
                                  <a:lumMod val="50000"/>
                                </a:schemeClr>
                              </a:solidFill>
                              <a:latin typeface="Cambria Math" panose="02040503050406030204" pitchFamily="18" charset="0"/>
                            </a:rPr>
                            <m:t>0</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2</m:t>
                                  </m:r>
                                </m:den>
                              </m:f>
                            </m:e>
                          </m:d>
                        </m:e>
                        <m:sup>
                          <m:r>
                            <a:rPr lang="en-US" b="0" i="1">
                              <a:solidFill>
                                <a:schemeClr val="tx2">
                                  <a:lumMod val="50000"/>
                                </a:schemeClr>
                              </a:solidFill>
                              <a:latin typeface="Cambria Math" panose="02040503050406030204" pitchFamily="18" charset="0"/>
                            </a:rPr>
                            <m:t>4</m:t>
                          </m:r>
                        </m:sup>
                      </m:sSup>
                    </m:oMath>
                  </m:oMathPara>
                </a14:m>
                <a:endParaRPr lang="en-IN" b="1"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4990" y="653298"/>
                <a:ext cx="6711248" cy="6008633"/>
              </a:xfrm>
              <a:prstGeom prst="rect">
                <a:avLst/>
              </a:prstGeom>
              <a:blipFill rotWithShape="0">
                <a:blip r:embed="rId2"/>
                <a:stretch>
                  <a:fillRect l="-1817" r="-4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0C88CCD-ABF6-487A-A003-269BE830EF70}"/>
                  </a:ext>
                </a:extLst>
              </p:cNvPr>
              <p:cNvSpPr txBox="1">
                <a:spLocks/>
              </p:cNvSpPr>
              <p:nvPr/>
            </p:nvSpPr>
            <p:spPr>
              <a:xfrm>
                <a:off x="7000404" y="726191"/>
                <a:ext cx="5081665" cy="5556073"/>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00000"/>
                  </a:lnSpc>
                  <a:buNone/>
                  <a:tabLst>
                    <a:tab pos="447675" algn="l"/>
                  </a:tabLst>
                </a:pPr>
                <a14:m>
                  <m:oMathPara xmlns:m="http://schemas.openxmlformats.org/officeDocument/2006/math">
                    <m:oMathParaPr>
                      <m:jc m:val="centerGroup"/>
                    </m:oMathParaPr>
                    <m:oMath xmlns:m="http://schemas.openxmlformats.org/officeDocument/2006/math">
                      <m:r>
                        <m:rPr>
                          <m:sty m:val="p"/>
                        </m:rPr>
                        <a:rPr lang="en-US" smtClean="0">
                          <a:solidFill>
                            <a:srgbClr val="002060"/>
                          </a:solidFill>
                          <a:latin typeface="Cambria Math" panose="02040503050406030204" pitchFamily="18" charset="0"/>
                        </a:rPr>
                        <m:t>P</m:t>
                      </m:r>
                      <m:d>
                        <m:dPr>
                          <m:ctrlPr>
                            <a:rPr lang="en-IN" b="1" i="1">
                              <a:solidFill>
                                <a:srgbClr val="002060"/>
                              </a:solidFill>
                              <a:latin typeface="Cambria Math" panose="02040503050406030204" pitchFamily="18" charset="0"/>
                            </a:rPr>
                          </m:ctrlPr>
                        </m:dPr>
                        <m:e>
                          <m:r>
                            <m:rPr>
                              <m:sty m:val="p"/>
                            </m:rPr>
                            <a:rPr lang="en-US">
                              <a:solidFill>
                                <a:srgbClr val="002060"/>
                              </a:solidFill>
                              <a:latin typeface="Cambria Math" panose="02040503050406030204" pitchFamily="18" charset="0"/>
                            </a:rPr>
                            <m:t>X</m:t>
                          </m:r>
                          <m:r>
                            <a:rPr lang="en-US">
                              <a:solidFill>
                                <a:srgbClr val="002060"/>
                              </a:solidFill>
                              <a:latin typeface="Cambria Math" panose="02040503050406030204" pitchFamily="18" charset="0"/>
                            </a:rPr>
                            <m:t>=0</m:t>
                          </m:r>
                        </m:e>
                      </m:d>
                      <m:r>
                        <a:rPr lang="en-US">
                          <a:solidFill>
                            <a:srgbClr val="002060"/>
                          </a:solidFill>
                          <a:latin typeface="Cambria Math" panose="02040503050406030204" pitchFamily="18" charset="0"/>
                        </a:rPr>
                        <m:t>=</m:t>
                      </m:r>
                      <m:d>
                        <m:dPr>
                          <m:ctrlPr>
                            <a:rPr lang="en-IN" b="1" i="1">
                              <a:solidFill>
                                <a:srgbClr val="002060"/>
                              </a:solidFill>
                              <a:latin typeface="Cambria Math" panose="02040503050406030204" pitchFamily="18" charset="0"/>
                            </a:rPr>
                          </m:ctrlPr>
                        </m:dPr>
                        <m:e>
                          <m:f>
                            <m:fPr>
                              <m:ctrlPr>
                                <a:rPr lang="en-IN" b="1" i="1">
                                  <a:solidFill>
                                    <a:srgbClr val="002060"/>
                                  </a:solidFill>
                                  <a:latin typeface="Cambria Math" panose="02040503050406030204" pitchFamily="18" charset="0"/>
                                </a:rPr>
                              </m:ctrlPr>
                            </m:fPr>
                            <m:num>
                              <m:r>
                                <a:rPr lang="en-US" i="1">
                                  <a:solidFill>
                                    <a:srgbClr val="002060"/>
                                  </a:solidFill>
                                  <a:latin typeface="Cambria Math" panose="02040503050406030204" pitchFamily="18" charset="0"/>
                                </a:rPr>
                                <m:t>4!</m:t>
                              </m:r>
                            </m:num>
                            <m:den>
                              <m:r>
                                <a:rPr lang="en-US" i="1">
                                  <a:solidFill>
                                    <a:srgbClr val="002060"/>
                                  </a:solidFill>
                                  <a:latin typeface="Cambria Math" panose="02040503050406030204" pitchFamily="18" charset="0"/>
                                </a:rPr>
                                <m:t>1∙4!</m:t>
                              </m:r>
                            </m:den>
                          </m:f>
                        </m:e>
                      </m:d>
                      <m:r>
                        <a:rPr lang="en-US">
                          <a:solidFill>
                            <a:srgbClr val="002060"/>
                          </a:solidFill>
                          <a:latin typeface="Cambria Math" panose="02040503050406030204" pitchFamily="18" charset="0"/>
                        </a:rPr>
                        <m:t> ∙</m:t>
                      </m:r>
                      <m:d>
                        <m:dPr>
                          <m:ctrlPr>
                            <a:rPr lang="en-IN" b="1" i="1">
                              <a:solidFill>
                                <a:srgbClr val="002060"/>
                              </a:solidFill>
                              <a:latin typeface="Cambria Math" panose="02040503050406030204" pitchFamily="18" charset="0"/>
                            </a:rPr>
                          </m:ctrlPr>
                        </m:dPr>
                        <m:e>
                          <m:r>
                            <a:rPr lang="en-US">
                              <a:solidFill>
                                <a:srgbClr val="002060"/>
                              </a:solidFill>
                              <a:latin typeface="Cambria Math" panose="02040503050406030204" pitchFamily="18" charset="0"/>
                            </a:rPr>
                            <m:t>1</m:t>
                          </m:r>
                        </m:e>
                      </m:d>
                      <m:r>
                        <a:rPr lang="en-US">
                          <a:solidFill>
                            <a:srgbClr val="002060"/>
                          </a:solidFill>
                          <a:latin typeface="Cambria Math" panose="02040503050406030204" pitchFamily="18" charset="0"/>
                        </a:rPr>
                        <m:t>∙</m:t>
                      </m:r>
                      <m:d>
                        <m:dPr>
                          <m:ctrlPr>
                            <a:rPr lang="en-IN" b="1" i="1">
                              <a:solidFill>
                                <a:srgbClr val="002060"/>
                              </a:solidFill>
                              <a:latin typeface="Cambria Math" panose="02040503050406030204" pitchFamily="18" charset="0"/>
                            </a:rPr>
                          </m:ctrlPr>
                        </m:dPr>
                        <m:e>
                          <m:f>
                            <m:fPr>
                              <m:ctrlPr>
                                <a:rPr lang="en-IN" i="1">
                                  <a:solidFill>
                                    <a:srgbClr val="002060"/>
                                  </a:solidFill>
                                  <a:latin typeface="Cambria Math" panose="02040503050406030204" pitchFamily="18" charset="0"/>
                                </a:rPr>
                              </m:ctrlPr>
                            </m:fPr>
                            <m:num>
                              <m:r>
                                <a:rPr lang="en-US" i="1">
                                  <a:solidFill>
                                    <a:srgbClr val="002060"/>
                                  </a:solidFill>
                                  <a:latin typeface="Cambria Math" panose="02040503050406030204" pitchFamily="18" charset="0"/>
                                </a:rPr>
                                <m:t>1</m:t>
                              </m:r>
                            </m:num>
                            <m:den>
                              <m:r>
                                <a:rPr lang="en-US" i="1">
                                  <a:solidFill>
                                    <a:srgbClr val="002060"/>
                                  </a:solidFill>
                                  <a:latin typeface="Cambria Math" panose="02040503050406030204" pitchFamily="18" charset="0"/>
                                </a:rPr>
                                <m:t>16</m:t>
                              </m:r>
                            </m:den>
                          </m:f>
                        </m:e>
                      </m:d>
                    </m:oMath>
                  </m:oMathPara>
                </a14:m>
                <a:endParaRPr lang="en-US" dirty="0">
                  <a:solidFill>
                    <a:srgbClr val="002060"/>
                  </a:solidFill>
                </a:endParaRPr>
              </a:p>
              <a:p>
                <a:pPr marL="0" lv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rgbClr val="002060"/>
                          </a:solidFill>
                          <a:latin typeface="Cambria Math" panose="02040503050406030204" pitchFamily="18" charset="0"/>
                        </a:rPr>
                        <m:t>P</m:t>
                      </m:r>
                      <m:d>
                        <m:dPr>
                          <m:ctrlPr>
                            <a:rPr lang="en-IN" b="1" i="1">
                              <a:solidFill>
                                <a:srgbClr val="002060"/>
                              </a:solidFill>
                              <a:latin typeface="Cambria Math" panose="02040503050406030204" pitchFamily="18" charset="0"/>
                            </a:rPr>
                          </m:ctrlPr>
                        </m:dPr>
                        <m:e>
                          <m:r>
                            <m:rPr>
                              <m:sty m:val="p"/>
                            </m:rPr>
                            <a:rPr lang="en-US">
                              <a:solidFill>
                                <a:srgbClr val="002060"/>
                              </a:solidFill>
                              <a:latin typeface="Cambria Math" panose="02040503050406030204" pitchFamily="18" charset="0"/>
                            </a:rPr>
                            <m:t>X</m:t>
                          </m:r>
                          <m:r>
                            <a:rPr lang="en-US">
                              <a:solidFill>
                                <a:srgbClr val="002060"/>
                              </a:solidFill>
                              <a:latin typeface="Cambria Math" panose="02040503050406030204" pitchFamily="18" charset="0"/>
                            </a:rPr>
                            <m:t>=0</m:t>
                          </m:r>
                        </m:e>
                      </m:d>
                      <m:r>
                        <a:rPr lang="en-IN">
                          <a:solidFill>
                            <a:srgbClr val="002060"/>
                          </a:solidFill>
                          <a:latin typeface="Cambria Math" panose="02040503050406030204" pitchFamily="18" charset="0"/>
                        </a:rPr>
                        <m:t>=</m:t>
                      </m:r>
                      <m:f>
                        <m:fPr>
                          <m:ctrlPr>
                            <a:rPr lang="en-IN" b="1" i="1" smtClean="0">
                              <a:solidFill>
                                <a:srgbClr val="FF0000"/>
                              </a:solidFill>
                              <a:latin typeface="Cambria Math" panose="02040503050406030204" pitchFamily="18" charset="0"/>
                            </a:rPr>
                          </m:ctrlPr>
                        </m:fPr>
                        <m:num>
                          <m:r>
                            <a:rPr lang="en-IN" b="1">
                              <a:solidFill>
                                <a:srgbClr val="FF0000"/>
                              </a:solidFill>
                              <a:latin typeface="Cambria Math" panose="02040503050406030204" pitchFamily="18" charset="0"/>
                            </a:rPr>
                            <m:t>𝟏</m:t>
                          </m:r>
                        </m:num>
                        <m:den>
                          <m:r>
                            <a:rPr lang="en-IN" b="1">
                              <a:solidFill>
                                <a:srgbClr val="FF0000"/>
                              </a:solidFill>
                              <a:latin typeface="Cambria Math" panose="02040503050406030204" pitchFamily="18" charset="0"/>
                            </a:rPr>
                            <m:t>𝟏𝟔</m:t>
                          </m:r>
                        </m:den>
                      </m:f>
                    </m:oMath>
                  </m:oMathPara>
                </a14:m>
                <a:endParaRPr lang="en-US" dirty="0">
                  <a:solidFill>
                    <a:srgbClr val="002060"/>
                  </a:solidFill>
                </a:endParaRPr>
              </a:p>
              <a:p>
                <a:pPr marL="0" lvl="0" indent="0" algn="l">
                  <a:lnSpc>
                    <a:spcPct val="150000"/>
                  </a:lnSpc>
                  <a:buNone/>
                  <a:tabLst>
                    <a:tab pos="447675" algn="l"/>
                  </a:tabLst>
                </a:pPr>
                <a:r>
                  <a:rPr lang="en-US" dirty="0">
                    <a:solidFill>
                      <a:srgbClr val="002060"/>
                    </a:solidFill>
                  </a:rPr>
                  <a:t>Number of families </a:t>
                </a:r>
              </a:p>
              <a:p>
                <a:pPr marL="0" lv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i="1">
                          <a:solidFill>
                            <a:srgbClr val="002060"/>
                          </a:solidFill>
                          <a:latin typeface="Cambria Math" panose="02040503050406030204" pitchFamily="18" charset="0"/>
                        </a:rPr>
                        <m:t>=800×</m:t>
                      </m:r>
                      <m:f>
                        <m:fPr>
                          <m:ctrlPr>
                            <a:rPr lang="en-IN" i="1">
                              <a:solidFill>
                                <a:srgbClr val="002060"/>
                              </a:solidFill>
                              <a:latin typeface="Cambria Math" panose="02040503050406030204" pitchFamily="18" charset="0"/>
                            </a:rPr>
                          </m:ctrlPr>
                        </m:fPr>
                        <m:num>
                          <m:r>
                            <a:rPr lang="en-US" i="1">
                              <a:solidFill>
                                <a:srgbClr val="002060"/>
                              </a:solidFill>
                              <a:latin typeface="Cambria Math" panose="02040503050406030204" pitchFamily="18" charset="0"/>
                            </a:rPr>
                            <m:t>1</m:t>
                          </m:r>
                        </m:num>
                        <m:den>
                          <m:r>
                            <a:rPr lang="en-US" i="1">
                              <a:solidFill>
                                <a:srgbClr val="002060"/>
                              </a:solidFill>
                              <a:latin typeface="Cambria Math" panose="02040503050406030204" pitchFamily="18" charset="0"/>
                            </a:rPr>
                            <m:t>16</m:t>
                          </m:r>
                        </m:den>
                      </m:f>
                    </m:oMath>
                  </m:oMathPara>
                </a14:m>
                <a:endParaRPr lang="en-IN" i="1" dirty="0">
                  <a:solidFill>
                    <a:srgbClr val="002060"/>
                  </a:solidFill>
                </a:endParaRPr>
              </a:p>
              <a:p>
                <a:pPr marL="0" lv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i="1">
                          <a:solidFill>
                            <a:srgbClr val="002060"/>
                          </a:solidFill>
                          <a:latin typeface="Cambria Math" panose="02040503050406030204" pitchFamily="18" charset="0"/>
                        </a:rPr>
                        <m:t>=50×1</m:t>
                      </m:r>
                    </m:oMath>
                  </m:oMathPara>
                </a14:m>
                <a:endParaRPr lang="en-IN" i="1" dirty="0"/>
              </a:p>
              <a:p>
                <a:pPr marL="0" lv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𝟓𝟎</m:t>
                      </m:r>
                    </m:oMath>
                  </m:oMathPara>
                </a14:m>
                <a:endParaRPr lang="en-IN" b="1" dirty="0">
                  <a:solidFill>
                    <a:srgbClr val="FF0000"/>
                  </a:solidFill>
                  <a:latin typeface="Cambria Math" panose="02040503050406030204" pitchFamily="18" charset="0"/>
                </a:endParaRPr>
              </a:p>
            </p:txBody>
          </p:sp>
        </mc:Choice>
        <mc:Fallback xmlns="">
          <p:sp>
            <p:nvSpPr>
              <p:cNvPr id="4"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7000404" y="726191"/>
                <a:ext cx="5081665" cy="5556073"/>
              </a:xfrm>
              <a:prstGeom prst="rect">
                <a:avLst/>
              </a:prstGeom>
              <a:blipFill rotWithShape="0">
                <a:blip r:embed="rId3"/>
                <a:stretch>
                  <a:fillRect l="-2398"/>
                </a:stretch>
              </a:blipFill>
            </p:spPr>
            <p:txBody>
              <a:bodyPr/>
              <a:lstStyle/>
              <a:p>
                <a:r>
                  <a:rPr lang="en-IN">
                    <a:noFill/>
                  </a:rPr>
                  <a:t> </a:t>
                </a:r>
              </a:p>
            </p:txBody>
          </p:sp>
        </mc:Fallback>
      </mc:AlternateContent>
      <p:cxnSp>
        <p:nvCxnSpPr>
          <p:cNvPr id="6" name="Straight Connector 5"/>
          <p:cNvCxnSpPr/>
          <p:nvPr/>
        </p:nvCxnSpPr>
        <p:spPr>
          <a:xfrm>
            <a:off x="6726238" y="726191"/>
            <a:ext cx="0" cy="580974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07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4"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2"/>
            <a:ext cx="11929643" cy="115459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Find the probability that in five tosses of a fair die, 3 will appear twice, at most once, at least two times.</a:t>
            </a:r>
            <a:endParaRPr lang="en-IN" dirty="0"/>
          </a:p>
        </p:txBody>
      </p:sp>
      <p:sp>
        <p:nvSpPr>
          <p:cNvPr id="2" name="Title 1"/>
          <p:cNvSpPr>
            <a:spLocks noGrp="1"/>
          </p:cNvSpPr>
          <p:nvPr>
            <p:ph type="title"/>
          </p:nvPr>
        </p:nvSpPr>
        <p:spPr/>
        <p:txBody>
          <a:bodyPr/>
          <a:lstStyle/>
          <a:p>
            <a:r>
              <a:rPr lang="en-GB" dirty="0"/>
              <a:t>Method 1 ⇝ Example 9</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183216"/>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7" y="2043210"/>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Success of the event: 3 will appear </a:t>
            </a:r>
            <a:endParaRPr lang="en-IN" dirty="0">
              <a:solidFill>
                <a:schemeClr val="tx2">
                  <a:lumMod val="50000"/>
                </a:schemeClr>
              </a:solidFill>
            </a:endParaRPr>
          </a:p>
        </p:txBody>
      </p:sp>
      <mc:AlternateContent xmlns:mc="http://schemas.openxmlformats.org/markup-compatibility/2006" xmlns:a14="http://schemas.microsoft.com/office/drawing/2010/main">
        <mc:Choice Requires="a14">
          <p:sp>
            <p:nvSpPr>
              <p:cNvPr id="3" name="Rectangle 2"/>
              <p:cNvSpPr/>
              <p:nvPr/>
            </p:nvSpPr>
            <p:spPr>
              <a:xfrm>
                <a:off x="160204" y="3338603"/>
                <a:ext cx="11929643" cy="1319720"/>
              </a:xfrm>
              <a:prstGeom prst="rect">
                <a:avLst/>
              </a:prstGeom>
            </p:spPr>
            <p:txBody>
              <a:bodyPr wrap="square">
                <a:spAutoFit/>
              </a:bodyPr>
              <a:lstStyle/>
              <a:p>
                <a:pPr>
                  <a:lnSpc>
                    <a:spcPct val="150000"/>
                  </a:lnSpc>
                  <a:spcBef>
                    <a:spcPts val="10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i="1" smtClean="0">
                          <a:solidFill>
                            <a:schemeClr val="tx2">
                              <a:lumMod val="50000"/>
                            </a:schemeClr>
                          </a:solidFill>
                          <a:latin typeface="Cambria Math" panose="02040503050406030204" pitchFamily="18" charset="0"/>
                        </a:rPr>
                        <m:t>n</m:t>
                      </m:r>
                      <m:r>
                        <a:rPr lang="en-US" sz="2800">
                          <a:solidFill>
                            <a:schemeClr val="tx2">
                              <a:lumMod val="50000"/>
                            </a:schemeClr>
                          </a:solidFill>
                          <a:latin typeface="Cambria Math" panose="02040503050406030204" pitchFamily="18" charset="0"/>
                        </a:rPr>
                        <m:t>=</m:t>
                      </m:r>
                      <m:r>
                        <a:rPr lang="en-IN" sz="2800" b="0" i="1" smtClean="0">
                          <a:solidFill>
                            <a:schemeClr val="tx2">
                              <a:lumMod val="50000"/>
                            </a:schemeClr>
                          </a:solidFill>
                          <a:latin typeface="Cambria Math" panose="02040503050406030204" pitchFamily="18" charset="0"/>
                        </a:rPr>
                        <m:t>5, </m:t>
                      </m:r>
                      <m:r>
                        <m:rPr>
                          <m:sty m:val="p"/>
                        </m:rPr>
                        <a:rPr lang="en-US" sz="2800" b="0" i="1">
                          <a:solidFill>
                            <a:schemeClr val="tx2">
                              <a:lumMod val="50000"/>
                            </a:schemeClr>
                          </a:solidFill>
                          <a:latin typeface="Cambria Math" panose="02040503050406030204" pitchFamily="18" charset="0"/>
                        </a:rPr>
                        <m:t>p</m:t>
                      </m:r>
                      <m:r>
                        <a:rPr lang="en-US" sz="2800" b="0">
                          <a:solidFill>
                            <a:schemeClr val="tx2">
                              <a:lumMod val="50000"/>
                            </a:schemeClr>
                          </a:solidFill>
                          <a:latin typeface="Cambria Math" panose="02040503050406030204" pitchFamily="18" charset="0"/>
                        </a:rPr>
                        <m:t>=</m:t>
                      </m:r>
                      <m:f>
                        <m:fPr>
                          <m:ctrlPr>
                            <a:rPr lang="en-IN" sz="2800" b="0" i="1" smtClean="0">
                              <a:solidFill>
                                <a:schemeClr val="tx2">
                                  <a:lumMod val="50000"/>
                                </a:schemeClr>
                              </a:solidFill>
                              <a:latin typeface="Cambria Math" panose="02040503050406030204" pitchFamily="18" charset="0"/>
                            </a:rPr>
                          </m:ctrlPr>
                        </m:fPr>
                        <m:num>
                          <m:r>
                            <a:rPr lang="en-IN" sz="2800" b="0" i="1" smtClean="0">
                              <a:solidFill>
                                <a:schemeClr val="tx2">
                                  <a:lumMod val="50000"/>
                                </a:schemeClr>
                              </a:solidFill>
                              <a:latin typeface="Cambria Math" panose="02040503050406030204" pitchFamily="18" charset="0"/>
                            </a:rPr>
                            <m:t>1</m:t>
                          </m:r>
                        </m:num>
                        <m:den>
                          <m:r>
                            <a:rPr lang="en-IN" sz="2800" b="0" i="1" smtClean="0">
                              <a:solidFill>
                                <a:schemeClr val="tx2">
                                  <a:lumMod val="50000"/>
                                </a:schemeClr>
                              </a:solidFill>
                              <a:latin typeface="Cambria Math" panose="02040503050406030204" pitchFamily="18" charset="0"/>
                            </a:rPr>
                            <m:t>6</m:t>
                          </m:r>
                        </m:den>
                      </m:f>
                      <m:r>
                        <a:rPr lang="en-IN" sz="2800" b="0" i="0" smtClean="0">
                          <a:solidFill>
                            <a:schemeClr val="tx2">
                              <a:lumMod val="50000"/>
                            </a:schemeClr>
                          </a:solidFill>
                          <a:latin typeface="Cambria Math" panose="02040503050406030204" pitchFamily="18" charset="0"/>
                        </a:rPr>
                        <m:t> &amp; </m:t>
                      </m:r>
                      <m:r>
                        <m:rPr>
                          <m:sty m:val="p"/>
                        </m:rPr>
                        <a:rPr lang="en-US" sz="2800" b="0" i="1">
                          <a:solidFill>
                            <a:schemeClr val="tx2">
                              <a:lumMod val="50000"/>
                            </a:schemeClr>
                          </a:solidFill>
                          <a:latin typeface="Cambria Math" panose="02040503050406030204" pitchFamily="18" charset="0"/>
                        </a:rPr>
                        <m:t>q</m:t>
                      </m:r>
                      <m:r>
                        <a:rPr lang="en-IN" sz="2800" b="0" i="1" smtClean="0">
                          <a:solidFill>
                            <a:schemeClr val="tx2">
                              <a:lumMod val="50000"/>
                            </a:schemeClr>
                          </a:solidFill>
                          <a:latin typeface="Cambria Math" panose="02040503050406030204" pitchFamily="18" charset="0"/>
                        </a:rPr>
                        <m:t>=</m:t>
                      </m:r>
                      <m:d>
                        <m:dPr>
                          <m:ctrlPr>
                            <a:rPr lang="en-IN" sz="2800" b="0" i="1" smtClean="0">
                              <a:solidFill>
                                <a:schemeClr val="tx2">
                                  <a:lumMod val="50000"/>
                                </a:schemeClr>
                              </a:solidFill>
                              <a:latin typeface="Cambria Math" panose="02040503050406030204" pitchFamily="18" charset="0"/>
                            </a:rPr>
                          </m:ctrlPr>
                        </m:dPr>
                        <m:e>
                          <m:r>
                            <a:rPr lang="en-IN" sz="2800" b="0" i="0" smtClean="0">
                              <a:solidFill>
                                <a:schemeClr val="tx2">
                                  <a:lumMod val="50000"/>
                                </a:schemeClr>
                              </a:solidFill>
                              <a:latin typeface="Cambria Math" panose="02040503050406030204" pitchFamily="18" charset="0"/>
                            </a:rPr>
                            <m:t>1−</m:t>
                          </m:r>
                          <m:r>
                            <m:rPr>
                              <m:sty m:val="p"/>
                            </m:rPr>
                            <a:rPr lang="en-IN" sz="2800" b="0" i="0" smtClean="0">
                              <a:solidFill>
                                <a:schemeClr val="tx2">
                                  <a:lumMod val="50000"/>
                                </a:schemeClr>
                              </a:solidFill>
                              <a:latin typeface="Cambria Math" panose="02040503050406030204" pitchFamily="18" charset="0"/>
                            </a:rPr>
                            <m:t>p</m:t>
                          </m:r>
                        </m:e>
                      </m:d>
                      <m:r>
                        <a:rPr lang="en-IN" sz="2800" b="0" i="1" smtClean="0">
                          <a:solidFill>
                            <a:schemeClr val="tx2">
                              <a:lumMod val="50000"/>
                            </a:schemeClr>
                          </a:solidFill>
                          <a:latin typeface="Cambria Math" panose="02040503050406030204" pitchFamily="18" charset="0"/>
                        </a:rPr>
                        <m:t>=1−</m:t>
                      </m:r>
                      <m:f>
                        <m:fPr>
                          <m:ctrlPr>
                            <a:rPr lang="en-IN" sz="2800" b="0" i="1" smtClean="0">
                              <a:solidFill>
                                <a:schemeClr val="tx2">
                                  <a:lumMod val="50000"/>
                                </a:schemeClr>
                              </a:solidFill>
                              <a:latin typeface="Cambria Math" panose="02040503050406030204" pitchFamily="18" charset="0"/>
                            </a:rPr>
                          </m:ctrlPr>
                        </m:fPr>
                        <m:num>
                          <m:r>
                            <a:rPr lang="en-IN" sz="2800" b="0" i="1" smtClean="0">
                              <a:solidFill>
                                <a:schemeClr val="tx2">
                                  <a:lumMod val="50000"/>
                                </a:schemeClr>
                              </a:solidFill>
                              <a:latin typeface="Cambria Math" panose="02040503050406030204" pitchFamily="18" charset="0"/>
                            </a:rPr>
                            <m:t>1</m:t>
                          </m:r>
                        </m:num>
                        <m:den>
                          <m:r>
                            <a:rPr lang="en-IN" sz="2800" b="0" i="0" smtClean="0">
                              <a:solidFill>
                                <a:schemeClr val="tx2">
                                  <a:lumMod val="50000"/>
                                </a:schemeClr>
                              </a:solidFill>
                              <a:latin typeface="Cambria Math" panose="02040503050406030204" pitchFamily="18" charset="0"/>
                            </a:rPr>
                            <m:t>6</m:t>
                          </m:r>
                        </m:den>
                      </m:f>
                      <m:r>
                        <a:rPr lang="en-US" sz="2800" b="0">
                          <a:solidFill>
                            <a:schemeClr val="tx2">
                              <a:lumMod val="50000"/>
                            </a:schemeClr>
                          </a:solidFill>
                          <a:latin typeface="Cambria Math" panose="02040503050406030204" pitchFamily="18" charset="0"/>
                        </a:rPr>
                        <m:t>=</m:t>
                      </m:r>
                      <m:f>
                        <m:fPr>
                          <m:ctrlPr>
                            <a:rPr lang="en-IN" sz="2800" b="0" i="1" smtClean="0">
                              <a:solidFill>
                                <a:schemeClr val="tx2">
                                  <a:lumMod val="50000"/>
                                </a:schemeClr>
                              </a:solidFill>
                              <a:latin typeface="Cambria Math" panose="02040503050406030204" pitchFamily="18" charset="0"/>
                            </a:rPr>
                          </m:ctrlPr>
                        </m:fPr>
                        <m:num>
                          <m:r>
                            <a:rPr lang="en-IN" sz="2800" b="0" i="1" smtClean="0">
                              <a:solidFill>
                                <a:schemeClr val="tx2">
                                  <a:lumMod val="50000"/>
                                </a:schemeClr>
                              </a:solidFill>
                              <a:latin typeface="Cambria Math" panose="02040503050406030204" pitchFamily="18" charset="0"/>
                            </a:rPr>
                            <m:t>5</m:t>
                          </m:r>
                        </m:num>
                        <m:den>
                          <m:r>
                            <a:rPr lang="en-IN" sz="2800" b="0" i="1" smtClean="0">
                              <a:solidFill>
                                <a:schemeClr val="tx2">
                                  <a:lumMod val="50000"/>
                                </a:schemeClr>
                              </a:solidFill>
                              <a:latin typeface="Cambria Math" panose="02040503050406030204" pitchFamily="18" charset="0"/>
                            </a:rPr>
                            <m:t>6</m:t>
                          </m:r>
                        </m:den>
                      </m:f>
                    </m:oMath>
                  </m:oMathPara>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60204" y="3338603"/>
                <a:ext cx="11929643" cy="1319720"/>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22965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9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87319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(a) Probability that in five tosses of a fair die 3 will appear twice,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0">
                        <a:solidFill>
                          <a:srgbClr val="FF0000"/>
                        </a:solidFill>
                        <a:latin typeface="Cambria Math" panose="02040503050406030204" pitchFamily="18" charset="0"/>
                      </a:rPr>
                      <m:t>=</m:t>
                    </m:r>
                    <m:r>
                      <a:rPr lang="en-IN" b="0" i="0" smtClean="0">
                        <a:solidFill>
                          <a:srgbClr val="FF0000"/>
                        </a:solidFill>
                        <a:latin typeface="Cambria Math" panose="02040503050406030204" pitchFamily="18" charset="0"/>
                      </a:rPr>
                      <m:t>2</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e>
                      </m:d>
                      <m:r>
                        <a:rPr lang="en-US">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a:solidFill>
                                    <a:schemeClr val="tx2">
                                      <a:lumMod val="50000"/>
                                    </a:schemeClr>
                                  </a:solidFill>
                                  <a:latin typeface="Cambria Math" panose="02040503050406030204" pitchFamily="18" charset="0"/>
                                </a:rPr>
                                <m:t>n</m:t>
                              </m:r>
                            </m:num>
                            <m:den>
                              <m:r>
                                <m:rPr>
                                  <m:sty m:val="p"/>
                                </m:rPr>
                                <a:rPr lang="en-US">
                                  <a:solidFill>
                                    <a:schemeClr val="tx2">
                                      <a:lumMod val="50000"/>
                                    </a:schemeClr>
                                  </a:solidFill>
                                  <a:latin typeface="Cambria Math" panose="02040503050406030204" pitchFamily="18" charset="0"/>
                                </a:rPr>
                                <m:t>x</m:t>
                              </m:r>
                            </m:den>
                          </m:f>
                          <m:r>
                            <a:rPr lang="en-US">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p</m:t>
                          </m:r>
                        </m:e>
                        <m:sup>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q</m:t>
                          </m:r>
                        </m:e>
                        <m:sup>
                          <m:r>
                            <m:rPr>
                              <m:sty m:val="p"/>
                            </m:rPr>
                            <a:rPr lang="en-US">
                              <a:solidFill>
                                <a:schemeClr val="tx2">
                                  <a:lumMod val="50000"/>
                                </a:schemeClr>
                              </a:solidFill>
                              <a:latin typeface="Cambria Math" panose="02040503050406030204" pitchFamily="18" charset="0"/>
                            </a:rPr>
                            <m:t>n</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x</m:t>
                          </m:r>
                        </m:sup>
                      </m:sSup>
                      <m:r>
                        <a:rPr lang="en-US">
                          <a:solidFill>
                            <a:schemeClr val="tx2">
                              <a:lumMod val="50000"/>
                            </a:schemeClr>
                          </a:solidFill>
                          <a:latin typeface="Cambria Math" panose="02040503050406030204" pitchFamily="18" charset="0"/>
                        </a:rPr>
                        <m:t>  ;</m:t>
                      </m:r>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 1, 2,…, </m:t>
                      </m:r>
                      <m:r>
                        <m:rPr>
                          <m:sty m:val="p"/>
                        </m:rPr>
                        <a:rPr lang="en-US">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IN" b="0" i="1" smtClean="0">
                                  <a:solidFill>
                                    <a:schemeClr val="tx2">
                                      <a:lumMod val="50000"/>
                                    </a:schemeClr>
                                  </a:solidFill>
                                  <a:latin typeface="Cambria Math" panose="02040503050406030204" pitchFamily="18" charset="0"/>
                                </a:rPr>
                                <m:t>5</m:t>
                              </m:r>
                            </m:num>
                            <m:den>
                              <m:r>
                                <a:rPr lang="en-US" i="1">
                                  <a:solidFill>
                                    <a:schemeClr val="tx2">
                                      <a:lumMod val="50000"/>
                                    </a:schemeClr>
                                  </a:solidFill>
                                  <a:latin typeface="Cambria Math" panose="02040503050406030204" pitchFamily="18" charset="0"/>
                                </a:rPr>
                                <m:t>2</m:t>
                              </m:r>
                            </m:den>
                          </m:f>
                          <m:r>
                            <a:rPr lang="en-US" i="1">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1</m:t>
                                  </m:r>
                                </m:num>
                                <m:den>
                                  <m:r>
                                    <a:rPr lang="en-IN" b="0" i="1" smtClean="0">
                                      <a:solidFill>
                                        <a:schemeClr val="tx2">
                                          <a:lumMod val="50000"/>
                                        </a:schemeClr>
                                      </a:solidFill>
                                      <a:latin typeface="Cambria Math" panose="02040503050406030204" pitchFamily="18" charset="0"/>
                                    </a:rPr>
                                    <m:t>6</m:t>
                                  </m:r>
                                </m:den>
                              </m:f>
                            </m:e>
                          </m:d>
                        </m:e>
                        <m:sup>
                          <m:r>
                            <a:rPr lang="en-US" i="1">
                              <a:solidFill>
                                <a:schemeClr val="tx2">
                                  <a:lumMod val="50000"/>
                                </a:schemeClr>
                              </a:solidFill>
                              <a:latin typeface="Cambria Math" panose="02040503050406030204" pitchFamily="18" charset="0"/>
                            </a:rPr>
                            <m:t>2</m:t>
                          </m:r>
                        </m:sup>
                      </m:sSup>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smtClean="0">
                                      <a:solidFill>
                                        <a:schemeClr val="tx2">
                                          <a:lumMod val="50000"/>
                                        </a:schemeClr>
                                      </a:solidFill>
                                      <a:latin typeface="Cambria Math" panose="02040503050406030204" pitchFamily="18" charset="0"/>
                                    </a:rPr>
                                  </m:ctrlPr>
                                </m:fPr>
                                <m:num>
                                  <m:r>
                                    <a:rPr lang="en-IN" b="0" i="1" smtClean="0">
                                      <a:solidFill>
                                        <a:schemeClr val="tx2">
                                          <a:lumMod val="50000"/>
                                        </a:schemeClr>
                                      </a:solidFill>
                                      <a:latin typeface="Cambria Math" panose="02040503050406030204" pitchFamily="18" charset="0"/>
                                    </a:rPr>
                                    <m:t>5</m:t>
                                  </m:r>
                                </m:num>
                                <m:den>
                                  <m:r>
                                    <a:rPr lang="en-IN" b="0" i="1" smtClean="0">
                                      <a:solidFill>
                                        <a:schemeClr val="tx2">
                                          <a:lumMod val="50000"/>
                                        </a:schemeClr>
                                      </a:solidFill>
                                      <a:latin typeface="Cambria Math" panose="02040503050406030204" pitchFamily="18" charset="0"/>
                                    </a:rPr>
                                    <m:t>6</m:t>
                                  </m:r>
                                </m:den>
                              </m:f>
                            </m:e>
                          </m:d>
                        </m:e>
                        <m:sup>
                          <m:r>
                            <a:rPr lang="en-IN" b="0" i="1" smtClean="0">
                              <a:solidFill>
                                <a:schemeClr val="tx2">
                                  <a:lumMod val="50000"/>
                                </a:schemeClr>
                              </a:solidFill>
                              <a:latin typeface="Cambria Math" panose="02040503050406030204" pitchFamily="18" charset="0"/>
                            </a:rPr>
                            <m:t>3</m:t>
                          </m:r>
                        </m:sup>
                      </m:sSup>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IN" b="0" i="0" smtClean="0">
                                  <a:solidFill>
                                    <a:schemeClr val="tx2">
                                      <a:lumMod val="50000"/>
                                    </a:schemeClr>
                                  </a:solidFill>
                                  <a:latin typeface="Cambria Math" panose="02040503050406030204" pitchFamily="18" charset="0"/>
                                </a:rPr>
                                <m:t>5</m:t>
                              </m:r>
                              <m:r>
                                <a:rPr lang="en-US" b="0" i="0">
                                  <a:solidFill>
                                    <a:schemeClr val="tx2">
                                      <a:lumMod val="50000"/>
                                    </a:schemeClr>
                                  </a:solidFill>
                                  <a:latin typeface="Cambria Math" panose="02040503050406030204" pitchFamily="18" charset="0"/>
                                </a:rPr>
                                <m:t>!</m:t>
                              </m:r>
                            </m:num>
                            <m:den>
                              <m:r>
                                <a:rPr lang="en-US" b="0" i="0">
                                  <a:solidFill>
                                    <a:schemeClr val="tx2">
                                      <a:lumMod val="50000"/>
                                    </a:schemeClr>
                                  </a:solidFill>
                                  <a:latin typeface="Cambria Math" panose="02040503050406030204" pitchFamily="18" charset="0"/>
                                </a:rPr>
                                <m:t>2!∙</m:t>
                              </m:r>
                              <m:r>
                                <a:rPr lang="en-IN" i="1" smtClean="0">
                                  <a:solidFill>
                                    <a:schemeClr val="tx2">
                                      <a:lumMod val="50000"/>
                                    </a:schemeClr>
                                  </a:solidFill>
                                  <a:latin typeface="Cambria Math" panose="02040503050406030204" pitchFamily="18" charset="0"/>
                                </a:rPr>
                                <m:t>3</m:t>
                              </m:r>
                              <m:r>
                                <a:rPr lang="en-US" b="0" i="0">
                                  <a:solidFill>
                                    <a:schemeClr val="tx2">
                                      <a:lumMod val="50000"/>
                                    </a:schemeClr>
                                  </a:solidFill>
                                  <a:latin typeface="Cambria Math" panose="02040503050406030204" pitchFamily="18" charset="0"/>
                                </a:rPr>
                                <m:t>!</m:t>
                              </m:r>
                            </m:den>
                          </m:f>
                        </m:e>
                      </m:d>
                      <m:r>
                        <a:rPr lang="en-US" b="0" i="0">
                          <a:solidFill>
                            <a:schemeClr val="tx2">
                              <a:lumMod val="50000"/>
                            </a:schemeClr>
                          </a:solidFill>
                          <a:latin typeface="Cambria Math" panose="02040503050406030204" pitchFamily="18" charset="0"/>
                        </a:rPr>
                        <m:t> ∙</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IN" b="0" i="0" smtClean="0">
                                  <a:solidFill>
                                    <a:schemeClr val="tx2">
                                      <a:lumMod val="50000"/>
                                    </a:schemeClr>
                                  </a:solidFill>
                                  <a:latin typeface="Cambria Math" panose="02040503050406030204" pitchFamily="18" charset="0"/>
                                </a:rPr>
                                <m:t>36</m:t>
                              </m:r>
                            </m:den>
                          </m:f>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IN" b="0" i="0" smtClean="0">
                                  <a:solidFill>
                                    <a:schemeClr val="tx2">
                                      <a:lumMod val="50000"/>
                                    </a:schemeClr>
                                  </a:solidFill>
                                  <a:latin typeface="Cambria Math" panose="02040503050406030204" pitchFamily="18" charset="0"/>
                                </a:rPr>
                                <m:t>216</m:t>
                              </m:r>
                            </m:den>
                          </m:f>
                        </m:e>
                      </m:d>
                      <m:r>
                        <a:rPr lang="en-IN" b="0" i="1" smtClean="0">
                          <a:solidFill>
                            <a:schemeClr val="tx2">
                              <a:lumMod val="50000"/>
                            </a:schemeClr>
                          </a:solidFill>
                          <a:latin typeface="Cambria Math" panose="02040503050406030204" pitchFamily="18" charset="0"/>
                        </a:rPr>
                        <m:t>=</m:t>
                      </m:r>
                      <m:f>
                        <m:fPr>
                          <m:ctrlPr>
                            <a:rPr lang="en-IN" b="1" i="1" smtClean="0">
                              <a:solidFill>
                                <a:srgbClr val="FF0000"/>
                              </a:solidFill>
                              <a:latin typeface="Cambria Math" panose="02040503050406030204" pitchFamily="18" charset="0"/>
                            </a:rPr>
                          </m:ctrlPr>
                        </m:fPr>
                        <m:num>
                          <m:r>
                            <a:rPr lang="en-IN" b="1" i="1" smtClean="0">
                              <a:solidFill>
                                <a:srgbClr val="FF0000"/>
                              </a:solidFill>
                              <a:latin typeface="Cambria Math" panose="02040503050406030204" pitchFamily="18" charset="0"/>
                            </a:rPr>
                            <m:t>𝟔𝟐𝟓</m:t>
                          </m:r>
                        </m:num>
                        <m:den>
                          <m:r>
                            <a:rPr lang="en-IN" b="1" i="1" smtClean="0">
                              <a:solidFill>
                                <a:srgbClr val="FF0000"/>
                              </a:solidFill>
                              <a:latin typeface="Cambria Math" panose="02040503050406030204" pitchFamily="18" charset="0"/>
                            </a:rPr>
                            <m:t>𝟑𝟖𝟖𝟖</m:t>
                          </m:r>
                        </m:den>
                      </m:f>
                      <m:r>
                        <a:rPr lang="en-IN" b="1" i="1" smtClean="0">
                          <a:solidFill>
                            <a:srgbClr val="FF0000"/>
                          </a:solidFill>
                          <a:latin typeface="Cambria Math" panose="02040503050406030204" pitchFamily="18" charset="0"/>
                        </a:rPr>
                        <m:t>=</m:t>
                      </m:r>
                      <m:r>
                        <a:rPr lang="en-IN" b="1" i="1" smtClean="0">
                          <a:solidFill>
                            <a:srgbClr val="FF0000"/>
                          </a:solidFill>
                          <a:latin typeface="Cambria Math" panose="02040503050406030204" pitchFamily="18" charset="0"/>
                        </a:rPr>
                        <m:t>𝟎</m:t>
                      </m:r>
                      <m:r>
                        <a:rPr lang="en-IN" b="1" i="1" smtClean="0">
                          <a:solidFill>
                            <a:srgbClr val="FF0000"/>
                          </a:solidFill>
                          <a:latin typeface="Cambria Math" panose="02040503050406030204" pitchFamily="18" charset="0"/>
                        </a:rPr>
                        <m:t>.</m:t>
                      </m:r>
                      <m:r>
                        <a:rPr lang="en-IN" b="1" i="1" smtClean="0">
                          <a:solidFill>
                            <a:srgbClr val="FF0000"/>
                          </a:solidFill>
                          <a:latin typeface="Cambria Math" panose="02040503050406030204" pitchFamily="18" charset="0"/>
                        </a:rPr>
                        <m:t>𝟏𝟔𝟎𝟕𝟓𝟔</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873194"/>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4019388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9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848058"/>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(b) Probability that in five tosses of a fair die 3 will appear at most once,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1" smtClean="0">
                        <a:solidFill>
                          <a:srgbClr val="FF0000"/>
                        </a:solidFill>
                        <a:latin typeface="Cambria Math" panose="02040503050406030204" pitchFamily="18" charset="0"/>
                        <a:ea typeface="Cambria Math" panose="02040503050406030204" pitchFamily="18" charset="0"/>
                      </a:rPr>
                      <m:t>≤</m:t>
                    </m:r>
                    <m:r>
                      <a:rPr lang="en-IN" b="0" i="0" smtClean="0">
                        <a:solidFill>
                          <a:srgbClr val="FF0000"/>
                        </a:solidFill>
                        <a:latin typeface="Cambria Math" panose="02040503050406030204" pitchFamily="18" charset="0"/>
                      </a:rPr>
                      <m:t>1</m:t>
                    </m:r>
                  </m:oMath>
                </a14:m>
                <a:endParaRPr lang="en-IN" dirty="0">
                  <a:solidFill>
                    <a:srgbClr val="FF0000"/>
                  </a:solidFill>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5</m:t>
                              </m:r>
                            </m:num>
                            <m:den>
                              <m:r>
                                <a:rPr lang="en-US" b="0" i="0">
                                  <a:solidFill>
                                    <a:schemeClr val="tx2">
                                      <a:lumMod val="50000"/>
                                    </a:schemeClr>
                                  </a:solidFill>
                                  <a:latin typeface="Cambria Math" panose="02040503050406030204" pitchFamily="18" charset="0"/>
                                </a:rPr>
                                <m:t>0</m:t>
                              </m:r>
                            </m:den>
                          </m:f>
                          <m:r>
                            <a:rPr lang="en-US" b="0" i="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6</m:t>
                                  </m:r>
                                </m:den>
                              </m:f>
                            </m:e>
                          </m:d>
                        </m:e>
                        <m:sup>
                          <m:r>
                            <a:rPr lang="en-US" b="0" i="0">
                              <a:solidFill>
                                <a:schemeClr val="tx2">
                                  <a:lumMod val="50000"/>
                                </a:schemeClr>
                              </a:solidFill>
                              <a:latin typeface="Cambria Math" panose="02040503050406030204" pitchFamily="18" charset="0"/>
                            </a:rPr>
                            <m:t>0</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5</m:t>
                                  </m:r>
                                </m:num>
                                <m:den>
                                  <m:r>
                                    <a:rPr lang="en-US" b="0" i="0">
                                      <a:solidFill>
                                        <a:schemeClr val="tx2">
                                          <a:lumMod val="50000"/>
                                        </a:schemeClr>
                                      </a:solidFill>
                                      <a:latin typeface="Cambria Math" panose="02040503050406030204" pitchFamily="18" charset="0"/>
                                    </a:rPr>
                                    <m:t>6</m:t>
                                  </m:r>
                                </m:den>
                              </m:f>
                            </m:e>
                          </m:d>
                        </m:e>
                        <m:sup>
                          <m:r>
                            <a:rPr lang="en-US" b="0" i="0">
                              <a:solidFill>
                                <a:schemeClr val="tx2">
                                  <a:lumMod val="50000"/>
                                </a:schemeClr>
                              </a:solidFill>
                              <a:latin typeface="Cambria Math" panose="02040503050406030204" pitchFamily="18" charset="0"/>
                            </a:rPr>
                            <m:t>5</m:t>
                          </m:r>
                        </m:sup>
                      </m:sSup>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5</m:t>
                              </m:r>
                            </m:num>
                            <m:den>
                              <m:r>
                                <a:rPr lang="en-US" b="0" i="0">
                                  <a:solidFill>
                                    <a:schemeClr val="tx2">
                                      <a:lumMod val="50000"/>
                                    </a:schemeClr>
                                  </a:solidFill>
                                  <a:latin typeface="Cambria Math" panose="02040503050406030204" pitchFamily="18" charset="0"/>
                                </a:rPr>
                                <m:t>1</m:t>
                              </m:r>
                            </m:den>
                          </m:f>
                          <m:r>
                            <a:rPr lang="en-US" b="0" i="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6</m:t>
                                  </m:r>
                                </m:den>
                              </m:f>
                            </m:e>
                          </m:d>
                        </m:e>
                        <m:sup>
                          <m:r>
                            <a:rPr lang="en-US" b="0" i="0">
                              <a:solidFill>
                                <a:schemeClr val="tx2">
                                  <a:lumMod val="50000"/>
                                </a:schemeClr>
                              </a:solidFill>
                              <a:latin typeface="Cambria Math" panose="02040503050406030204" pitchFamily="18" charset="0"/>
                            </a:rPr>
                            <m:t>1</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5</m:t>
                                  </m:r>
                                </m:num>
                                <m:den>
                                  <m:r>
                                    <a:rPr lang="en-US" b="0" i="0">
                                      <a:solidFill>
                                        <a:schemeClr val="tx2">
                                          <a:lumMod val="50000"/>
                                        </a:schemeClr>
                                      </a:solidFill>
                                      <a:latin typeface="Cambria Math" panose="02040503050406030204" pitchFamily="18" charset="0"/>
                                    </a:rPr>
                                    <m:t>6</m:t>
                                  </m:r>
                                </m:den>
                              </m:f>
                            </m:e>
                          </m:d>
                        </m:e>
                        <m:sup>
                          <m:r>
                            <a:rPr lang="en-US" b="0" i="0">
                              <a:solidFill>
                                <a:schemeClr val="tx2">
                                  <a:lumMod val="50000"/>
                                </a:schemeClr>
                              </a:solidFill>
                              <a:latin typeface="Cambria Math" panose="02040503050406030204" pitchFamily="18" charset="0"/>
                            </a:rPr>
                            <m:t>4</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0.401877</m:t>
                      </m:r>
                      <m:r>
                        <a:rPr lang="en-US">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0.401861</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m:t>
                      </m:r>
                      <m:f>
                        <m:fPr>
                          <m:ctrlPr>
                            <a:rPr lang="en-IN" b="1" i="1" smtClean="0">
                              <a:solidFill>
                                <a:srgbClr val="FF0000"/>
                              </a:solidFill>
                              <a:latin typeface="Cambria Math" panose="02040503050406030204" pitchFamily="18" charset="0"/>
                            </a:rPr>
                          </m:ctrlPr>
                        </m:fPr>
                        <m:num>
                          <m:r>
                            <a:rPr lang="en-IN" b="1" i="0">
                              <a:solidFill>
                                <a:srgbClr val="FF0000"/>
                              </a:solidFill>
                              <a:latin typeface="Cambria Math" panose="02040503050406030204" pitchFamily="18" charset="0"/>
                            </a:rPr>
                            <m:t>𝟑𝟏𝟐𝟓</m:t>
                          </m:r>
                        </m:num>
                        <m:den>
                          <m:r>
                            <a:rPr lang="en-IN" b="1" i="0">
                              <a:solidFill>
                                <a:srgbClr val="FF0000"/>
                              </a:solidFill>
                              <a:latin typeface="Cambria Math" panose="02040503050406030204" pitchFamily="18" charset="0"/>
                            </a:rPr>
                            <m:t>𝟑𝟖𝟖𝟖</m:t>
                          </m:r>
                        </m:den>
                      </m:f>
                      <m:r>
                        <a:rPr lang="en-IN" b="1" i="0">
                          <a:solidFill>
                            <a:srgbClr val="FF0000"/>
                          </a:solidFill>
                          <a:latin typeface="Cambria Math" panose="02040503050406030204" pitchFamily="18" charset="0"/>
                        </a:rPr>
                        <m:t>=</m:t>
                      </m:r>
                      <m:r>
                        <a:rPr lang="en-IN" b="1" i="0">
                          <a:solidFill>
                            <a:srgbClr val="FF0000"/>
                          </a:solidFill>
                          <a:latin typeface="Cambria Math" panose="02040503050406030204" pitchFamily="18" charset="0"/>
                        </a:rPr>
                        <m:t>𝟎</m:t>
                      </m:r>
                      <m:r>
                        <a:rPr lang="en-IN" b="1" i="0">
                          <a:solidFill>
                            <a:srgbClr val="FF0000"/>
                          </a:solidFill>
                          <a:latin typeface="Cambria Math" panose="02040503050406030204" pitchFamily="18" charset="0"/>
                        </a:rPr>
                        <m:t>.</m:t>
                      </m:r>
                      <m:r>
                        <a:rPr lang="en-IN" b="1" i="0">
                          <a:solidFill>
                            <a:srgbClr val="FF0000"/>
                          </a:solidFill>
                          <a:latin typeface="Cambria Math" panose="02040503050406030204" pitchFamily="18" charset="0"/>
                        </a:rPr>
                        <m:t>𝟖𝟎𝟑𝟕𝟑𝟖</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848058"/>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42826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9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293413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tabLst>
                    <a:tab pos="447675" algn="l"/>
                  </a:tabLst>
                </a:pPr>
                <a:r>
                  <a:rPr lang="en-US" dirty="0">
                    <a:solidFill>
                      <a:srgbClr val="FF0000"/>
                    </a:solidFill>
                  </a:rPr>
                  <a:t>(c) Probability that in five tosses of a fair die 3 will appear at least twice, </a:t>
                </a:r>
                <a14:m>
                  <m:oMath xmlns:m="http://schemas.openxmlformats.org/officeDocument/2006/math">
                    <m:r>
                      <m:rPr>
                        <m:sty m:val="p"/>
                      </m:rPr>
                      <a:rPr lang="en-US" b="0" i="0" smtClean="0">
                        <a:solidFill>
                          <a:srgbClr val="FF0000"/>
                        </a:solidFill>
                        <a:latin typeface="Cambria Math" panose="02040503050406030204" pitchFamily="18" charset="0"/>
                      </a:rPr>
                      <m:t>x</m:t>
                    </m:r>
                    <m:r>
                      <a:rPr lang="en-US" b="0" i="1" smtClean="0">
                        <a:solidFill>
                          <a:srgbClr val="FF0000"/>
                        </a:solidFill>
                        <a:latin typeface="Cambria Math" panose="02040503050406030204" pitchFamily="18" charset="0"/>
                        <a:ea typeface="Cambria Math" panose="02040503050406030204" pitchFamily="18" charset="0"/>
                      </a:rPr>
                      <m:t>≥</m:t>
                    </m:r>
                    <m:r>
                      <a:rPr lang="en-IN" b="0" i="0" smtClean="0">
                        <a:solidFill>
                          <a:srgbClr val="FF0000"/>
                        </a:solidFill>
                        <a:latin typeface="Cambria Math" panose="02040503050406030204" pitchFamily="18" charset="0"/>
                      </a:rPr>
                      <m:t>2</m:t>
                    </m:r>
                  </m:oMath>
                </a14:m>
                <a:endParaRPr lang="en-IN" dirty="0">
                  <a:solidFill>
                    <a:srgbClr val="FF0000"/>
                  </a:solidFill>
                </a:endParaRPr>
              </a:p>
              <a:p>
                <a:pPr marL="0" indent="0" algn="l">
                  <a:lnSpc>
                    <a:spcPct val="150000"/>
                  </a:lnSpc>
                  <a:buNone/>
                  <a:tabLst>
                    <a:tab pos="447675" algn="l"/>
                  </a:tabLst>
                </a:pPr>
                <a14:m>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3</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4</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5</m:t>
                        </m:r>
                      </m:e>
                    </m:d>
                  </m:oMath>
                </a14:m>
                <a:r>
                  <a:rPr lang="en-IN" dirty="0">
                    <a:solidFill>
                      <a:schemeClr val="tx2">
                        <a:lumMod val="50000"/>
                      </a:schemeClr>
                    </a:solidFill>
                    <a:latin typeface="Cambria Math" panose="02040503050406030204" pitchFamily="18" charset="0"/>
                  </a:rPr>
                  <a:t>   </a:t>
                </a:r>
                <a:r>
                  <a:rPr lang="en-IN" b="1" dirty="0">
                    <a:solidFill>
                      <a:schemeClr val="tx2">
                        <a:lumMod val="50000"/>
                      </a:schemeClr>
                    </a:solidFill>
                    <a:latin typeface="Cambria Math" panose="02040503050406030204" pitchFamily="18" charset="0"/>
                  </a:rPr>
                  <a:t>OR</a:t>
                </a: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&lt;</m:t>
                          </m:r>
                          <m:r>
                            <a:rPr lang="en-US" b="0" i="1">
                              <a:solidFill>
                                <a:schemeClr val="tx2">
                                  <a:lumMod val="50000"/>
                                </a:schemeClr>
                              </a:solidFill>
                              <a:latin typeface="Cambria Math" panose="02040503050406030204" pitchFamily="18" charset="0"/>
                            </a:rPr>
                            <m:t>2</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e>
                        </m:d>
                      </m:e>
                    </m:d>
                  </m:oMath>
                </a14:m>
                <a:r>
                  <a:rPr lang="en-US" dirty="0">
                    <a:solidFill>
                      <a:schemeClr val="tx2">
                        <a:lumMod val="50000"/>
                      </a:schemeClr>
                    </a:solidFill>
                    <a:latin typeface="Cambria Math" panose="02040503050406030204" pitchFamily="18" charset="0"/>
                  </a:rPr>
                  <a:t>  ----  (2)</a:t>
                </a: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2934137"/>
              </a:xfrm>
              <a:prstGeom prst="rect">
                <a:avLst/>
              </a:prstGeom>
              <a:blipFill rotWithShape="0">
                <a:blip r:embed="rId2"/>
                <a:stretch>
                  <a:fillRect l="-1037" b="-2079"/>
                </a:stretch>
              </a:blipFill>
            </p:spPr>
            <p:txBody>
              <a:bodyPr/>
              <a:lstStyle/>
              <a:p>
                <a:r>
                  <a:rPr lang="en-IN">
                    <a:noFill/>
                  </a:rPr>
                  <a:t> </a:t>
                </a:r>
              </a:p>
            </p:txBody>
          </p:sp>
        </mc:Fallback>
      </mc:AlternateContent>
    </p:spTree>
    <p:extLst>
      <p:ext uri="{BB962C8B-B14F-4D97-AF65-F5344CB8AC3E}">
        <p14:creationId xmlns:p14="http://schemas.microsoft.com/office/powerpoint/2010/main" val="351393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9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74912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ea typeface="Cambria Math" panose="02040503050406030204" pitchFamily="18" charset="0"/>
                  </a:rPr>
                  <a:t>To find</a:t>
                </a:r>
                <a:r>
                  <a:rPr lang="en-US" dirty="0">
                    <a:solidFill>
                      <a:schemeClr val="tx2">
                        <a:lumMod val="50000"/>
                      </a:schemeClr>
                    </a:solidFill>
                    <a:latin typeface="Cambria Math" panose="02040503050406030204" pitchFamily="18" charset="0"/>
                  </a:rPr>
                  <a:t> </a:t>
                </a:r>
                <a14:m>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oMath>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b="0" i="0">
                                  <a:solidFill>
                                    <a:schemeClr val="tx2">
                                      <a:lumMod val="50000"/>
                                    </a:schemeClr>
                                  </a:solidFill>
                                  <a:latin typeface="Cambria Math" panose="02040503050406030204" pitchFamily="18" charset="0"/>
                                </a:rPr>
                                <m:t>n</m:t>
                              </m:r>
                            </m:num>
                            <m:den>
                              <m:r>
                                <m:rPr>
                                  <m:sty m:val="p"/>
                                </m:rPr>
                                <a:rPr lang="en-US" b="0" i="0">
                                  <a:solidFill>
                                    <a:schemeClr val="tx2">
                                      <a:lumMod val="50000"/>
                                    </a:schemeClr>
                                  </a:solidFill>
                                  <a:latin typeface="Cambria Math" panose="02040503050406030204" pitchFamily="18" charset="0"/>
                                </a:rPr>
                                <m:t>x</m:t>
                              </m:r>
                            </m:den>
                          </m:f>
                          <m:r>
                            <a:rPr lang="en-US" b="0" i="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p</m:t>
                          </m:r>
                        </m:e>
                        <m:sup>
                          <m:r>
                            <m:rPr>
                              <m:sty m:val="p"/>
                            </m:rPr>
                            <a:rPr lang="en-US" b="0" i="0">
                              <a:solidFill>
                                <a:schemeClr val="tx2">
                                  <a:lumMod val="50000"/>
                                </a:schemeClr>
                              </a:solidFill>
                              <a:latin typeface="Cambria Math" panose="02040503050406030204" pitchFamily="18" charset="0"/>
                            </a:rPr>
                            <m:t>x</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q</m:t>
                          </m:r>
                        </m:e>
                        <m:sup>
                          <m:r>
                            <m:rPr>
                              <m:sty m:val="p"/>
                            </m:rPr>
                            <a:rPr lang="en-US" b="0" i="0">
                              <a:solidFill>
                                <a:schemeClr val="tx2">
                                  <a:lumMod val="50000"/>
                                </a:schemeClr>
                              </a:solidFill>
                              <a:latin typeface="Cambria Math" panose="02040503050406030204" pitchFamily="18" charset="0"/>
                            </a:rPr>
                            <m:t>n</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sup>
                      </m:sSup>
                      <m:r>
                        <a:rPr lang="en-US" b="0" i="0">
                          <a:solidFill>
                            <a:schemeClr val="tx2">
                              <a:lumMod val="50000"/>
                            </a:schemeClr>
                          </a:solidFill>
                          <a:latin typeface="Cambria Math" panose="02040503050406030204" pitchFamily="18" charset="0"/>
                        </a:rPr>
                        <m:t>  ;</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 1, 2,…, </m:t>
                      </m:r>
                      <m:r>
                        <m:rPr>
                          <m:sty m:val="p"/>
                        </m:rPr>
                        <a:rPr lang="en-US" b="0" i="0">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i="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5</m:t>
                              </m:r>
                            </m:num>
                            <m:den>
                              <m:r>
                                <a:rPr lang="en-US" b="0" i="0">
                                  <a:solidFill>
                                    <a:schemeClr val="tx2">
                                      <a:lumMod val="50000"/>
                                    </a:schemeClr>
                                  </a:solidFill>
                                  <a:latin typeface="Cambria Math" panose="02040503050406030204" pitchFamily="18" charset="0"/>
                                </a:rPr>
                                <m:t>0</m:t>
                              </m:r>
                            </m:den>
                          </m:f>
                          <m:r>
                            <a:rPr lang="en-US" b="0" i="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1</m:t>
                                  </m:r>
                                </m:num>
                                <m:den>
                                  <m:r>
                                    <a:rPr lang="en-US" b="0" i="0">
                                      <a:solidFill>
                                        <a:schemeClr val="tx2">
                                          <a:lumMod val="50000"/>
                                        </a:schemeClr>
                                      </a:solidFill>
                                      <a:latin typeface="Cambria Math" panose="02040503050406030204" pitchFamily="18" charset="0"/>
                                    </a:rPr>
                                    <m:t>6</m:t>
                                  </m:r>
                                </m:den>
                              </m:f>
                            </m:e>
                          </m:d>
                        </m:e>
                        <m:sup>
                          <m:r>
                            <a:rPr lang="en-US" b="0" i="0">
                              <a:solidFill>
                                <a:schemeClr val="tx2">
                                  <a:lumMod val="50000"/>
                                </a:schemeClr>
                              </a:solidFill>
                              <a:latin typeface="Cambria Math" panose="02040503050406030204" pitchFamily="18" charset="0"/>
                            </a:rPr>
                            <m:t>0</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5</m:t>
                                  </m:r>
                                </m:num>
                                <m:den>
                                  <m:r>
                                    <a:rPr lang="en-US" b="0" i="0">
                                      <a:solidFill>
                                        <a:schemeClr val="tx2">
                                          <a:lumMod val="50000"/>
                                        </a:schemeClr>
                                      </a:solidFill>
                                      <a:latin typeface="Cambria Math" panose="02040503050406030204" pitchFamily="18" charset="0"/>
                                    </a:rPr>
                                    <m:t>6</m:t>
                                  </m:r>
                                </m:den>
                              </m:f>
                            </m:e>
                          </m:d>
                        </m:e>
                        <m:sup>
                          <m:r>
                            <a:rPr lang="en-US" b="0" i="0">
                              <a:solidFill>
                                <a:schemeClr val="tx2">
                                  <a:lumMod val="50000"/>
                                </a:schemeClr>
                              </a:solidFill>
                              <a:latin typeface="Cambria Math" panose="02040503050406030204" pitchFamily="18" charset="0"/>
                            </a:rPr>
                            <m:t>5</m:t>
                          </m:r>
                        </m:sup>
                      </m:sSup>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=(1)∙(1)∙(0.401877)</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𝟒𝟎𝟏𝟖𝟕𝟕</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749121"/>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289765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9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06592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ea typeface="Cambria Math" panose="02040503050406030204" pitchFamily="18" charset="0"/>
                  </a:rPr>
                  <a:t>To find</a:t>
                </a:r>
                <a:r>
                  <a:rPr lang="en-US" dirty="0">
                    <a:solidFill>
                      <a:schemeClr val="tx2">
                        <a:lumMod val="50000"/>
                      </a:schemeClr>
                    </a:solidFill>
                    <a:latin typeface="Cambria Math" panose="02040503050406030204" pitchFamily="18" charset="0"/>
                  </a:rPr>
                  <a:t> </a:t>
                </a:r>
                <a14:m>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e>
                    </m:d>
                  </m:oMath>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m:rPr>
                                  <m:sty m:val="p"/>
                                </m:rPr>
                                <a:rPr lang="en-US" b="0" i="1">
                                  <a:solidFill>
                                    <a:schemeClr val="tx2">
                                      <a:lumMod val="50000"/>
                                    </a:schemeClr>
                                  </a:solidFill>
                                  <a:latin typeface="Cambria Math" panose="02040503050406030204" pitchFamily="18" charset="0"/>
                                </a:rPr>
                                <m:t>n</m:t>
                              </m:r>
                            </m:num>
                            <m:den>
                              <m:r>
                                <m:rPr>
                                  <m:sty m:val="p"/>
                                </m:rPr>
                                <a:rPr lang="en-US" b="0" i="1">
                                  <a:solidFill>
                                    <a:schemeClr val="tx2">
                                      <a:lumMod val="50000"/>
                                    </a:schemeClr>
                                  </a:solidFill>
                                  <a:latin typeface="Cambria Math" panose="02040503050406030204" pitchFamily="18" charset="0"/>
                                </a:rPr>
                                <m:t>x</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p</m:t>
                          </m:r>
                        </m:e>
                        <m:sup>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q</m:t>
                          </m:r>
                        </m:e>
                        <m:sup>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 </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n</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d>
                        <m:dPr>
                          <m:ctrlPr>
                            <a:rPr lang="en-IN" i="1">
                              <a:solidFill>
                                <a:schemeClr val="tx2">
                                  <a:lumMod val="50000"/>
                                </a:schemeClr>
                              </a:solidFill>
                              <a:latin typeface="Cambria Math" panose="02040503050406030204" pitchFamily="18" charset="0"/>
                            </a:rPr>
                          </m:ctrlPr>
                        </m:dPr>
                        <m:e>
                          <m:r>
                            <a:rPr lang="en-US" b="0">
                              <a:solidFill>
                                <a:schemeClr val="tx2">
                                  <a:lumMod val="50000"/>
                                </a:schemeClr>
                              </a:solidFill>
                              <a:latin typeface="Cambria Math" panose="02040503050406030204" pitchFamily="18" charset="0"/>
                            </a:rPr>
                            <m:t> </m:t>
                          </m:r>
                          <m:f>
                            <m:fPr>
                              <m:type m:val="noBa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5</m:t>
                              </m:r>
                            </m:num>
                            <m:den>
                              <m:r>
                                <a:rPr lang="en-US" b="0" i="1">
                                  <a:solidFill>
                                    <a:schemeClr val="tx2">
                                      <a:lumMod val="50000"/>
                                    </a:schemeClr>
                                  </a:solidFill>
                                  <a:latin typeface="Cambria Math" panose="02040503050406030204" pitchFamily="18" charset="0"/>
                                </a:rPr>
                                <m:t>1</m:t>
                              </m:r>
                            </m:den>
                          </m:f>
                          <m:r>
                            <a:rPr lang="en-US" b="0">
                              <a:solidFill>
                                <a:schemeClr val="tx2">
                                  <a:lumMod val="50000"/>
                                </a:schemeClr>
                              </a:solidFill>
                              <a:latin typeface="Cambria Math" panose="02040503050406030204" pitchFamily="18" charset="0"/>
                            </a:rPr>
                            <m:t> </m:t>
                          </m:r>
                        </m:e>
                      </m:d>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1</m:t>
                                  </m:r>
                                </m:num>
                                <m:den>
                                  <m:r>
                                    <a:rPr lang="en-US" b="0" i="1">
                                      <a:solidFill>
                                        <a:schemeClr val="tx2">
                                          <a:lumMod val="50000"/>
                                        </a:schemeClr>
                                      </a:solidFill>
                                      <a:latin typeface="Cambria Math" panose="02040503050406030204" pitchFamily="18" charset="0"/>
                                    </a:rPr>
                                    <m:t>6</m:t>
                                  </m:r>
                                </m:den>
                              </m:f>
                            </m:e>
                          </m:d>
                        </m:e>
                        <m:sup>
                          <m:r>
                            <a:rPr lang="en-US" b="0" i="1">
                              <a:solidFill>
                                <a:schemeClr val="tx2">
                                  <a:lumMod val="50000"/>
                                </a:schemeClr>
                              </a:solidFill>
                              <a:latin typeface="Cambria Math" panose="02040503050406030204" pitchFamily="18" charset="0"/>
                            </a:rPr>
                            <m:t>1</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d>
                            <m:dPr>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1">
                                      <a:solidFill>
                                        <a:schemeClr val="tx2">
                                          <a:lumMod val="50000"/>
                                        </a:schemeClr>
                                      </a:solidFill>
                                      <a:latin typeface="Cambria Math" panose="02040503050406030204" pitchFamily="18" charset="0"/>
                                    </a:rPr>
                                    <m:t>5</m:t>
                                  </m:r>
                                </m:num>
                                <m:den>
                                  <m:r>
                                    <a:rPr lang="en-US" b="0" i="1">
                                      <a:solidFill>
                                        <a:schemeClr val="tx2">
                                          <a:lumMod val="50000"/>
                                        </a:schemeClr>
                                      </a:solidFill>
                                      <a:latin typeface="Cambria Math" panose="02040503050406030204" pitchFamily="18" charset="0"/>
                                    </a:rPr>
                                    <m:t>6</m:t>
                                  </m:r>
                                </m:den>
                              </m:f>
                            </m:e>
                          </m:d>
                        </m:e>
                        <m:sup>
                          <m:r>
                            <a:rPr lang="en-US" b="0" i="1">
                              <a:solidFill>
                                <a:schemeClr val="tx2">
                                  <a:lumMod val="50000"/>
                                </a:schemeClr>
                              </a:solidFill>
                              <a:latin typeface="Cambria Math" panose="02040503050406030204" pitchFamily="18" charset="0"/>
                            </a:rPr>
                            <m:t>4</m:t>
                          </m:r>
                        </m:sup>
                      </m:sSup>
                    </m:oMath>
                  </m:oMathPara>
                </a14:m>
                <a:endParaRPr lang="en-IN" b="0"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𝟏</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𝟒𝟎𝟏𝟖𝟔𝟏</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065921"/>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250781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1 ⇝ Example 9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332398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ea typeface="Cambria Math" panose="02040503050406030204" pitchFamily="18" charset="0"/>
                  </a:rPr>
                  <a:t>From equation – 2 </a:t>
                </a:r>
                <a:endParaRPr lang="en-IN" dirty="0">
                  <a:solidFill>
                    <a:schemeClr val="tx2">
                      <a:lumMod val="50000"/>
                    </a:schemeClr>
                  </a:solidFill>
                  <a:ea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ea typeface="Cambria Math" panose="02040503050406030204" pitchFamily="18" charset="0"/>
                        </a:rPr>
                        <m:t>P</m:t>
                      </m:r>
                      <m:d>
                        <m:dPr>
                          <m:ctrlPr>
                            <a:rPr lang="en-IN"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ea typeface="Cambria Math" panose="02040503050406030204" pitchFamily="18" charset="0"/>
                            </a:rPr>
                            <m:t>X</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2</m:t>
                          </m:r>
                        </m:e>
                      </m:d>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1</m:t>
                      </m:r>
                      <m:r>
                        <a:rPr lang="en-US" b="0">
                          <a:solidFill>
                            <a:schemeClr val="tx2">
                              <a:lumMod val="50000"/>
                            </a:schemeClr>
                          </a:solidFill>
                          <a:latin typeface="Cambria Math" panose="02040503050406030204" pitchFamily="18" charset="0"/>
                          <a:ea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ea typeface="Cambria Math" panose="02040503050406030204" pitchFamily="18" charset="0"/>
                            </a:rPr>
                            <m:t>P</m:t>
                          </m:r>
                          <m:d>
                            <m:dPr>
                              <m:ctrlPr>
                                <a:rPr lang="en-IN"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ea typeface="Cambria Math" panose="02040503050406030204" pitchFamily="18" charset="0"/>
                                </a:rPr>
                                <m:t>X</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0</m:t>
                              </m:r>
                            </m:e>
                          </m:d>
                          <m:r>
                            <a:rPr lang="en-US" b="0">
                              <a:solidFill>
                                <a:schemeClr val="tx2">
                                  <a:lumMod val="50000"/>
                                </a:schemeClr>
                              </a:solidFill>
                              <a:latin typeface="Cambria Math" panose="02040503050406030204" pitchFamily="18" charset="0"/>
                              <a:ea typeface="Cambria Math" panose="02040503050406030204" pitchFamily="18" charset="0"/>
                            </a:rPr>
                            <m:t>+</m:t>
                          </m:r>
                          <m:r>
                            <m:rPr>
                              <m:sty m:val="p"/>
                            </m:rPr>
                            <a:rPr lang="en-US" b="0" i="1">
                              <a:solidFill>
                                <a:schemeClr val="tx2">
                                  <a:lumMod val="50000"/>
                                </a:schemeClr>
                              </a:solidFill>
                              <a:latin typeface="Cambria Math" panose="02040503050406030204" pitchFamily="18" charset="0"/>
                              <a:ea typeface="Cambria Math" panose="02040503050406030204" pitchFamily="18" charset="0"/>
                            </a:rPr>
                            <m:t>P</m:t>
                          </m:r>
                          <m:d>
                            <m:dPr>
                              <m:ctrlPr>
                                <a:rPr lang="en-IN"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ea typeface="Cambria Math" panose="02040503050406030204" pitchFamily="18" charset="0"/>
                                </a:rPr>
                                <m:t>X</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1</m:t>
                              </m:r>
                            </m:e>
                          </m:d>
                        </m:e>
                      </m:d>
                    </m:oMath>
                  </m:oMathPara>
                </a14:m>
                <a:endParaRPr lang="en-IN" dirty="0">
                  <a:solidFill>
                    <a:schemeClr val="tx2">
                      <a:lumMod val="50000"/>
                    </a:schemeClr>
                  </a:solidFill>
                  <a:ea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ea typeface="Cambria Math" panose="02040503050406030204" pitchFamily="18" charset="0"/>
                        </a:rPr>
                        <m:t>P</m:t>
                      </m:r>
                      <m:d>
                        <m:dPr>
                          <m:ctrlPr>
                            <a:rPr lang="en-IN"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ea typeface="Cambria Math" panose="02040503050406030204" pitchFamily="18" charset="0"/>
                            </a:rPr>
                            <m:t>X</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2</m:t>
                          </m:r>
                        </m:e>
                      </m:d>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1</m:t>
                      </m:r>
                      <m:r>
                        <a:rPr lang="en-US" b="0">
                          <a:solidFill>
                            <a:schemeClr val="tx2">
                              <a:lumMod val="50000"/>
                            </a:schemeClr>
                          </a:solidFill>
                          <a:latin typeface="Cambria Math" panose="02040503050406030204" pitchFamily="18" charset="0"/>
                          <a:ea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ea typeface="Cambria Math" panose="02040503050406030204" pitchFamily="18" charset="0"/>
                            </a:rPr>
                          </m:ctrlPr>
                        </m:dPr>
                        <m:e>
                          <m:r>
                            <a:rPr lang="en-US" b="0" i="1">
                              <a:solidFill>
                                <a:schemeClr val="tx2">
                                  <a:lumMod val="50000"/>
                                </a:schemeClr>
                              </a:solidFill>
                              <a:latin typeface="Cambria Math" panose="02040503050406030204" pitchFamily="18" charset="0"/>
                              <a:ea typeface="Cambria Math" panose="02040503050406030204" pitchFamily="18" charset="0"/>
                            </a:rPr>
                            <m:t>0</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401877</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0</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401861</m:t>
                          </m:r>
                        </m:e>
                      </m:d>
                    </m:oMath>
                  </m:oMathPara>
                </a14:m>
                <a:endParaRPr lang="en-IN" dirty="0">
                  <a:solidFill>
                    <a:schemeClr val="tx2">
                      <a:lumMod val="50000"/>
                    </a:schemeClr>
                  </a:solidFill>
                  <a:ea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ea typeface="Cambria Math" panose="02040503050406030204" pitchFamily="18" charset="0"/>
                        </a:rPr>
                        <m:t>P</m:t>
                      </m:r>
                      <m:d>
                        <m:dPr>
                          <m:ctrlPr>
                            <a:rPr lang="en-IN"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ea typeface="Cambria Math" panose="02040503050406030204" pitchFamily="18" charset="0"/>
                            </a:rPr>
                            <m:t>X</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2</m:t>
                          </m:r>
                        </m:e>
                      </m:d>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1</m:t>
                      </m:r>
                      <m:r>
                        <a:rPr lang="en-US" b="0">
                          <a:solidFill>
                            <a:schemeClr val="tx2">
                              <a:lumMod val="50000"/>
                            </a:schemeClr>
                          </a:solidFill>
                          <a:latin typeface="Cambria Math" panose="02040503050406030204" pitchFamily="18" charset="0"/>
                          <a:ea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ea typeface="Cambria Math" panose="02040503050406030204" pitchFamily="18" charset="0"/>
                            </a:rPr>
                          </m:ctrlPr>
                        </m:dPr>
                        <m:e>
                          <m:r>
                            <a:rPr lang="en-US" b="0" i="1">
                              <a:solidFill>
                                <a:schemeClr val="tx2">
                                  <a:lumMod val="50000"/>
                                </a:schemeClr>
                              </a:solidFill>
                              <a:latin typeface="Cambria Math" panose="02040503050406030204" pitchFamily="18" charset="0"/>
                              <a:ea typeface="Cambria Math" panose="02040503050406030204" pitchFamily="18" charset="0"/>
                            </a:rPr>
                            <m:t>0</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803738</m:t>
                          </m:r>
                        </m:e>
                      </m:d>
                    </m:oMath>
                  </m:oMathPara>
                </a14:m>
                <a:endParaRPr lang="en-IN" dirty="0">
                  <a:solidFill>
                    <a:schemeClr val="tx2">
                      <a:lumMod val="50000"/>
                    </a:schemeClr>
                  </a:solidFill>
                  <a:ea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ea typeface="Cambria Math" panose="02040503050406030204" pitchFamily="18" charset="0"/>
                        </a:rPr>
                        <m:t>𝐏</m:t>
                      </m:r>
                      <m:d>
                        <m:dPr>
                          <m:ctrlPr>
                            <a:rPr lang="en-IN" b="1" i="1">
                              <a:solidFill>
                                <a:srgbClr val="FF0000"/>
                              </a:solidFill>
                              <a:latin typeface="Cambria Math" panose="02040503050406030204" pitchFamily="18" charset="0"/>
                              <a:ea typeface="Cambria Math" panose="02040503050406030204" pitchFamily="18" charset="0"/>
                            </a:rPr>
                          </m:ctrlPr>
                        </m:dPr>
                        <m:e>
                          <m:r>
                            <a:rPr lang="en-US" b="1" i="0">
                              <a:solidFill>
                                <a:srgbClr val="FF0000"/>
                              </a:solidFill>
                              <a:latin typeface="Cambria Math" panose="02040503050406030204" pitchFamily="18" charset="0"/>
                              <a:ea typeface="Cambria Math" panose="02040503050406030204" pitchFamily="18" charset="0"/>
                            </a:rPr>
                            <m:t>𝐗</m:t>
                          </m:r>
                          <m:r>
                            <a:rPr lang="en-US" b="1" i="0">
                              <a:solidFill>
                                <a:srgbClr val="FF0000"/>
                              </a:solidFill>
                              <a:latin typeface="Cambria Math" panose="02040503050406030204" pitchFamily="18" charset="0"/>
                              <a:ea typeface="Cambria Math" panose="02040503050406030204" pitchFamily="18" charset="0"/>
                            </a:rPr>
                            <m:t>≥</m:t>
                          </m:r>
                          <m:r>
                            <a:rPr lang="en-US" b="1" i="0">
                              <a:solidFill>
                                <a:srgbClr val="FF0000"/>
                              </a:solidFill>
                              <a:latin typeface="Cambria Math" panose="02040503050406030204" pitchFamily="18" charset="0"/>
                              <a:ea typeface="Cambria Math" panose="02040503050406030204" pitchFamily="18" charset="0"/>
                            </a:rPr>
                            <m:t>𝟐</m:t>
                          </m:r>
                        </m:e>
                      </m:d>
                      <m:r>
                        <a:rPr lang="en-US" b="1" i="0">
                          <a:solidFill>
                            <a:srgbClr val="FF0000"/>
                          </a:solidFill>
                          <a:latin typeface="Cambria Math" panose="02040503050406030204" pitchFamily="18" charset="0"/>
                          <a:ea typeface="Cambria Math" panose="02040503050406030204" pitchFamily="18" charset="0"/>
                        </a:rPr>
                        <m:t>=</m:t>
                      </m:r>
                      <m:r>
                        <a:rPr lang="en-US" b="1" i="0">
                          <a:solidFill>
                            <a:srgbClr val="FF0000"/>
                          </a:solidFill>
                          <a:latin typeface="Cambria Math" panose="02040503050406030204" pitchFamily="18" charset="0"/>
                          <a:ea typeface="Cambria Math" panose="02040503050406030204" pitchFamily="18" charset="0"/>
                        </a:rPr>
                        <m:t>𝟎</m:t>
                      </m:r>
                      <m:r>
                        <a:rPr lang="en-US" b="1" i="0">
                          <a:solidFill>
                            <a:srgbClr val="FF0000"/>
                          </a:solidFill>
                          <a:latin typeface="Cambria Math" panose="02040503050406030204" pitchFamily="18" charset="0"/>
                          <a:ea typeface="Cambria Math" panose="02040503050406030204" pitchFamily="18" charset="0"/>
                        </a:rPr>
                        <m:t>.</m:t>
                      </m:r>
                      <m:r>
                        <a:rPr lang="en-US" b="1" i="0">
                          <a:solidFill>
                            <a:srgbClr val="FF0000"/>
                          </a:solidFill>
                          <a:latin typeface="Cambria Math" panose="02040503050406030204" pitchFamily="18" charset="0"/>
                          <a:ea typeface="Cambria Math" panose="02040503050406030204" pitchFamily="18" charset="0"/>
                        </a:rPr>
                        <m:t>𝟏𝟗𝟔𝟐𝟔𝟐</m:t>
                      </m:r>
                    </m:oMath>
                  </m:oMathPara>
                </a14:m>
                <a:endParaRPr lang="en-IN" b="1" dirty="0">
                  <a:solidFill>
                    <a:srgbClr val="FF0000"/>
                  </a:solidFill>
                  <a:ea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3323987"/>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162395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2</a:t>
            </a:r>
            <a:br>
              <a:rPr lang="en-IN" dirty="0"/>
            </a:br>
            <a:r>
              <a:rPr lang="en-IN" dirty="0"/>
              <a:t>Poisson Distribution</a:t>
            </a:r>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211514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Poisson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marL="0" lvl="0" indent="0">
                  <a:buNone/>
                </a:pPr>
                <a:r>
                  <a:rPr lang="en-US" dirty="0"/>
                  <a:t>Probability mass function of </a:t>
                </a:r>
                <a:r>
                  <a:rPr lang="en-US" dirty="0">
                    <a:solidFill>
                      <a:srgbClr val="FF0000"/>
                    </a:solidFill>
                  </a:rPr>
                  <a:t>Poisson Distribution</a:t>
                </a:r>
                <a:r>
                  <a:rPr lang="en-US" dirty="0"/>
                  <a:t> is given by</a:t>
                </a:r>
                <a:endParaRPr lang="en-IN" dirty="0"/>
              </a:p>
              <a:p>
                <a:pPr marL="0" indent="0">
                  <a:buNone/>
                </a:pPr>
                <a14:m>
                  <m:oMathPara xmlns:m="http://schemas.openxmlformats.org/officeDocument/2006/math">
                    <m:oMathParaPr>
                      <m:jc m:val="centerGroup"/>
                    </m:oMathParaPr>
                    <m:oMath xmlns:m="http://schemas.openxmlformats.org/officeDocument/2006/math">
                      <m:r>
                        <a:rPr lang="en-US" b="1" i="0" dirty="0" smtClean="0">
                          <a:solidFill>
                            <a:srgbClr val="FF0000"/>
                          </a:solidFill>
                          <a:latin typeface="Cambria Math" panose="02040503050406030204" pitchFamily="18" charset="0"/>
                        </a:rPr>
                        <m:t>𝐏</m:t>
                      </m:r>
                      <m:d>
                        <m:dPr>
                          <m:ctrlPr>
                            <a:rPr lang="en-IN" b="1" i="1" dirty="0" smtClean="0">
                              <a:solidFill>
                                <a:srgbClr val="FF0000"/>
                              </a:solidFill>
                              <a:latin typeface="Cambria Math" panose="02040503050406030204" pitchFamily="18" charset="0"/>
                            </a:rPr>
                          </m:ctrlPr>
                        </m:dPr>
                        <m:e>
                          <m:r>
                            <a:rPr lang="en-US" b="1" i="0" dirty="0">
                              <a:solidFill>
                                <a:srgbClr val="FF0000"/>
                              </a:solidFill>
                              <a:latin typeface="Cambria Math" panose="02040503050406030204" pitchFamily="18" charset="0"/>
                            </a:rPr>
                            <m:t>𝐗</m:t>
                          </m:r>
                          <m:r>
                            <a:rPr lang="en-US" b="1" i="0" dirty="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𝐱</m:t>
                          </m:r>
                        </m:e>
                      </m:d>
                      <m:r>
                        <a:rPr lang="en-US" b="1" i="0" dirty="0" smtClean="0">
                          <a:solidFill>
                            <a:srgbClr val="FF0000"/>
                          </a:solidFill>
                          <a:latin typeface="Cambria Math" panose="02040503050406030204" pitchFamily="18" charset="0"/>
                        </a:rPr>
                        <m:t>=</m:t>
                      </m:r>
                      <m:f>
                        <m:fPr>
                          <m:ctrlPr>
                            <a:rPr lang="en-IN" b="1" i="1" dirty="0">
                              <a:solidFill>
                                <a:srgbClr val="FF0000"/>
                              </a:solidFill>
                              <a:latin typeface="Cambria Math" panose="02040503050406030204" pitchFamily="18" charset="0"/>
                            </a:rPr>
                          </m:ctrlPr>
                        </m:fPr>
                        <m:num>
                          <m:r>
                            <a:rPr lang="en-US" b="1" i="0" dirty="0" smtClean="0">
                              <a:solidFill>
                                <a:srgbClr val="FF0000"/>
                              </a:solidFill>
                              <a:latin typeface="Cambria Math" panose="02040503050406030204" pitchFamily="18" charset="0"/>
                            </a:rPr>
                            <m:t> </m:t>
                          </m:r>
                          <m:sSup>
                            <m:sSupPr>
                              <m:ctrlPr>
                                <a:rPr lang="en-IN" b="1" i="1" dirty="0">
                                  <a:solidFill>
                                    <a:srgbClr val="FF0000"/>
                                  </a:solidFill>
                                  <a:latin typeface="Cambria Math" panose="02040503050406030204" pitchFamily="18" charset="0"/>
                                </a:rPr>
                              </m:ctrlPr>
                            </m:sSupPr>
                            <m:e>
                              <m:r>
                                <a:rPr lang="en-US" b="1" i="0" dirty="0">
                                  <a:solidFill>
                                    <a:srgbClr val="FF0000"/>
                                  </a:solidFill>
                                  <a:latin typeface="Cambria Math" panose="02040503050406030204" pitchFamily="18" charset="0"/>
                                </a:rPr>
                                <m:t>𝐞</m:t>
                              </m:r>
                            </m:e>
                            <m:sup>
                              <m:r>
                                <a:rPr lang="en-US" b="1" i="0" dirty="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𝛌</m:t>
                              </m:r>
                            </m:sup>
                          </m:sSup>
                          <m:r>
                            <a:rPr lang="en-US" b="1" i="0" dirty="0">
                              <a:solidFill>
                                <a:srgbClr val="FF0000"/>
                              </a:solidFill>
                              <a:latin typeface="Cambria Math" panose="02040503050406030204" pitchFamily="18" charset="0"/>
                            </a:rPr>
                            <m:t>  </m:t>
                          </m:r>
                          <m:sSup>
                            <m:sSupPr>
                              <m:ctrlPr>
                                <a:rPr lang="en-IN" b="1" i="1" dirty="0">
                                  <a:solidFill>
                                    <a:srgbClr val="FF0000"/>
                                  </a:solidFill>
                                  <a:latin typeface="Cambria Math" panose="02040503050406030204" pitchFamily="18" charset="0"/>
                                </a:rPr>
                              </m:ctrlPr>
                            </m:sSupPr>
                            <m:e>
                              <m:r>
                                <a:rPr lang="en-US" b="1" i="0" dirty="0">
                                  <a:solidFill>
                                    <a:srgbClr val="FF0000"/>
                                  </a:solidFill>
                                  <a:latin typeface="Cambria Math" panose="02040503050406030204" pitchFamily="18" charset="0"/>
                                </a:rPr>
                                <m:t>𝛌</m:t>
                              </m:r>
                            </m:e>
                            <m:sup>
                              <m:r>
                                <a:rPr lang="en-US" b="1" i="0" dirty="0">
                                  <a:solidFill>
                                    <a:srgbClr val="FF0000"/>
                                  </a:solidFill>
                                  <a:latin typeface="Cambria Math" panose="02040503050406030204" pitchFamily="18" charset="0"/>
                                </a:rPr>
                                <m:t>𝐱</m:t>
                              </m:r>
                            </m:sup>
                          </m:sSup>
                          <m:r>
                            <a:rPr lang="en-US" b="1" i="0" dirty="0">
                              <a:solidFill>
                                <a:srgbClr val="FF0000"/>
                              </a:solidFill>
                              <a:latin typeface="Cambria Math" panose="02040503050406030204" pitchFamily="18" charset="0"/>
                            </a:rPr>
                            <m:t> </m:t>
                          </m:r>
                        </m:num>
                        <m:den>
                          <m:r>
                            <a:rPr lang="en-US" b="1" i="0" dirty="0">
                              <a:solidFill>
                                <a:srgbClr val="FF0000"/>
                              </a:solidFill>
                              <a:latin typeface="Cambria Math" panose="02040503050406030204" pitchFamily="18" charset="0"/>
                            </a:rPr>
                            <m:t>𝐱</m:t>
                          </m:r>
                          <m:r>
                            <a:rPr lang="en-US" b="1" i="0" dirty="0">
                              <a:solidFill>
                                <a:srgbClr val="FF0000"/>
                              </a:solidFill>
                              <a:latin typeface="Cambria Math" panose="02040503050406030204" pitchFamily="18" charset="0"/>
                            </a:rPr>
                            <m:t> !</m:t>
                          </m:r>
                        </m:den>
                      </m:f>
                      <m:r>
                        <a:rPr lang="en-US" b="1" i="0" dirty="0" smtClean="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𝐱</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𝟎</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𝟏</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𝟐</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𝟑</m:t>
                      </m:r>
                      <m:r>
                        <a:rPr lang="en-US" b="1" i="0" dirty="0" smtClean="0">
                          <a:solidFill>
                            <a:srgbClr val="FF0000"/>
                          </a:solidFill>
                          <a:latin typeface="Cambria Math" panose="02040503050406030204" pitchFamily="18" charset="0"/>
                        </a:rPr>
                        <m:t>,…  </m:t>
                      </m:r>
                    </m:oMath>
                  </m:oMathPara>
                </a14:m>
                <a:endParaRPr lang="en-IN" b="1" dirty="0">
                  <a:solidFill>
                    <a:srgbClr val="FF0000"/>
                  </a:solidFill>
                </a:endParaRPr>
              </a:p>
              <a:p>
                <a:pPr marL="0" lvl="0" indent="0">
                  <a:buNone/>
                </a:pPr>
                <a:r>
                  <a:rPr lang="en-US" dirty="0"/>
                  <a:t>   Where </a:t>
                </a:r>
                <a14:m>
                  <m:oMath xmlns:m="http://schemas.openxmlformats.org/officeDocument/2006/math">
                    <m:r>
                      <m:rPr>
                        <m:sty m:val="p"/>
                      </m:rPr>
                      <a:rPr lang="en-US" i="0" dirty="0" smtClean="0">
                        <a:latin typeface="Cambria Math" panose="02040503050406030204" pitchFamily="18" charset="0"/>
                      </a:rPr>
                      <m:t>λ</m:t>
                    </m:r>
                    <m:r>
                      <a:rPr lang="en-US" i="0" dirty="0" smtClean="0">
                        <a:latin typeface="Cambria Math" panose="02040503050406030204" pitchFamily="18" charset="0"/>
                      </a:rPr>
                      <m:t>= </m:t>
                    </m:r>
                  </m:oMath>
                </a14:m>
                <a:r>
                  <a:rPr lang="en-US" dirty="0"/>
                  <a:t>mean of the Poisson distribution </a:t>
                </a:r>
                <a:endParaRPr lang="en-IN" dirty="0"/>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blipFill rotWithShape="0">
                <a:blip r:embed="rId2"/>
                <a:stretch>
                  <a:fillRect l="-1074"/>
                </a:stretch>
              </a:blipFill>
            </p:spPr>
            <p:txBody>
              <a:bodyPr/>
              <a:lstStyle/>
              <a:p>
                <a:r>
                  <a:rPr lang="en-IN">
                    <a:noFill/>
                  </a:rPr>
                  <a:t> </a:t>
                </a:r>
              </a:p>
            </p:txBody>
          </p:sp>
        </mc:Fallback>
      </mc:AlternateContent>
    </p:spTree>
    <p:extLst>
      <p:ext uri="{BB962C8B-B14F-4D97-AF65-F5344CB8AC3E}">
        <p14:creationId xmlns:p14="http://schemas.microsoft.com/office/powerpoint/2010/main" val="203603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Poisson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A discrete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is said to follow </a:t>
                </a:r>
                <a:r>
                  <a:rPr lang="en-US" dirty="0">
                    <a:solidFill>
                      <a:srgbClr val="FF0000"/>
                    </a:solidFill>
                  </a:rPr>
                  <a:t>Poisson distribution </a:t>
                </a:r>
                <a:r>
                  <a:rPr lang="en-US" dirty="0"/>
                  <a:t>if it assumes only non-negative values. </a:t>
                </a:r>
                <a:endParaRPr lang="en-IN" dirty="0"/>
              </a:p>
              <a:p>
                <a:pPr lvl="0"/>
                <a:r>
                  <a:rPr lang="en-US" dirty="0"/>
                  <a:t>Its probability mass function is given by</a:t>
                </a:r>
                <a:endParaRPr lang="en-IN" dirty="0"/>
              </a:p>
              <a:p>
                <a:pPr marL="0" indent="0">
                  <a:buNone/>
                </a:pPr>
                <a14:m>
                  <m:oMathPara xmlns:m="http://schemas.openxmlformats.org/officeDocument/2006/math">
                    <m:oMathParaPr>
                      <m:jc m:val="centerGroup"/>
                    </m:oMathParaPr>
                    <m:oMath xmlns:m="http://schemas.openxmlformats.org/officeDocument/2006/math">
                      <m:r>
                        <a:rPr lang="en-US" b="1" i="0" dirty="0" smtClean="0">
                          <a:solidFill>
                            <a:srgbClr val="FF0000"/>
                          </a:solidFill>
                          <a:latin typeface="Cambria Math" panose="02040503050406030204" pitchFamily="18" charset="0"/>
                        </a:rPr>
                        <m:t>𝐏</m:t>
                      </m:r>
                      <m:d>
                        <m:dPr>
                          <m:ctrlPr>
                            <a:rPr lang="en-IN" b="1" i="1" dirty="0" smtClean="0">
                              <a:solidFill>
                                <a:srgbClr val="FF0000"/>
                              </a:solidFill>
                              <a:latin typeface="Cambria Math" panose="02040503050406030204" pitchFamily="18" charset="0"/>
                            </a:rPr>
                          </m:ctrlPr>
                        </m:dPr>
                        <m:e>
                          <m:r>
                            <a:rPr lang="en-US" b="1" i="0" dirty="0">
                              <a:solidFill>
                                <a:srgbClr val="FF0000"/>
                              </a:solidFill>
                              <a:latin typeface="Cambria Math" panose="02040503050406030204" pitchFamily="18" charset="0"/>
                            </a:rPr>
                            <m:t>𝐗</m:t>
                          </m:r>
                          <m:r>
                            <a:rPr lang="en-US" b="1" i="0" dirty="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𝐱</m:t>
                          </m:r>
                        </m:e>
                      </m:d>
                      <m:r>
                        <a:rPr lang="en-US" b="1" i="0" dirty="0" smtClean="0">
                          <a:solidFill>
                            <a:srgbClr val="FF0000"/>
                          </a:solidFill>
                          <a:latin typeface="Cambria Math" panose="02040503050406030204" pitchFamily="18" charset="0"/>
                        </a:rPr>
                        <m:t>=</m:t>
                      </m:r>
                      <m:f>
                        <m:fPr>
                          <m:ctrlPr>
                            <a:rPr lang="en-IN" b="1" i="1" dirty="0">
                              <a:solidFill>
                                <a:srgbClr val="FF0000"/>
                              </a:solidFill>
                              <a:latin typeface="Cambria Math" panose="02040503050406030204" pitchFamily="18" charset="0"/>
                            </a:rPr>
                          </m:ctrlPr>
                        </m:fPr>
                        <m:num>
                          <m:r>
                            <a:rPr lang="en-US" b="1" i="0" dirty="0" smtClean="0">
                              <a:solidFill>
                                <a:srgbClr val="FF0000"/>
                              </a:solidFill>
                              <a:latin typeface="Cambria Math" panose="02040503050406030204" pitchFamily="18" charset="0"/>
                            </a:rPr>
                            <m:t> </m:t>
                          </m:r>
                          <m:sSup>
                            <m:sSupPr>
                              <m:ctrlPr>
                                <a:rPr lang="en-IN" b="1" i="1" dirty="0">
                                  <a:solidFill>
                                    <a:srgbClr val="FF0000"/>
                                  </a:solidFill>
                                  <a:latin typeface="Cambria Math" panose="02040503050406030204" pitchFamily="18" charset="0"/>
                                </a:rPr>
                              </m:ctrlPr>
                            </m:sSupPr>
                            <m:e>
                              <m:r>
                                <a:rPr lang="en-US" b="1" i="0" dirty="0">
                                  <a:solidFill>
                                    <a:srgbClr val="FF0000"/>
                                  </a:solidFill>
                                  <a:latin typeface="Cambria Math" panose="02040503050406030204" pitchFamily="18" charset="0"/>
                                </a:rPr>
                                <m:t>𝐞</m:t>
                              </m:r>
                            </m:e>
                            <m:sup>
                              <m:r>
                                <a:rPr lang="en-US" b="1" i="0" dirty="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𝛌</m:t>
                              </m:r>
                            </m:sup>
                          </m:sSup>
                          <m:r>
                            <a:rPr lang="en-US" b="1" i="0" dirty="0">
                              <a:solidFill>
                                <a:srgbClr val="FF0000"/>
                              </a:solidFill>
                              <a:latin typeface="Cambria Math" panose="02040503050406030204" pitchFamily="18" charset="0"/>
                            </a:rPr>
                            <m:t>  </m:t>
                          </m:r>
                          <m:sSup>
                            <m:sSupPr>
                              <m:ctrlPr>
                                <a:rPr lang="en-IN" b="1" i="1" dirty="0">
                                  <a:solidFill>
                                    <a:srgbClr val="FF0000"/>
                                  </a:solidFill>
                                  <a:latin typeface="Cambria Math" panose="02040503050406030204" pitchFamily="18" charset="0"/>
                                </a:rPr>
                              </m:ctrlPr>
                            </m:sSupPr>
                            <m:e>
                              <m:r>
                                <a:rPr lang="en-US" b="1" i="0" dirty="0">
                                  <a:solidFill>
                                    <a:srgbClr val="FF0000"/>
                                  </a:solidFill>
                                  <a:latin typeface="Cambria Math" panose="02040503050406030204" pitchFamily="18" charset="0"/>
                                </a:rPr>
                                <m:t>𝛌</m:t>
                              </m:r>
                            </m:e>
                            <m:sup>
                              <m:r>
                                <a:rPr lang="en-US" b="1" i="0" dirty="0">
                                  <a:solidFill>
                                    <a:srgbClr val="FF0000"/>
                                  </a:solidFill>
                                  <a:latin typeface="Cambria Math" panose="02040503050406030204" pitchFamily="18" charset="0"/>
                                </a:rPr>
                                <m:t>𝐱</m:t>
                              </m:r>
                            </m:sup>
                          </m:sSup>
                          <m:r>
                            <a:rPr lang="en-US" b="1" i="0" dirty="0">
                              <a:solidFill>
                                <a:srgbClr val="FF0000"/>
                              </a:solidFill>
                              <a:latin typeface="Cambria Math" panose="02040503050406030204" pitchFamily="18" charset="0"/>
                            </a:rPr>
                            <m:t> </m:t>
                          </m:r>
                        </m:num>
                        <m:den>
                          <m:r>
                            <a:rPr lang="en-US" b="1" i="0" dirty="0">
                              <a:solidFill>
                                <a:srgbClr val="FF0000"/>
                              </a:solidFill>
                              <a:latin typeface="Cambria Math" panose="02040503050406030204" pitchFamily="18" charset="0"/>
                            </a:rPr>
                            <m:t>𝐱</m:t>
                          </m:r>
                          <m:r>
                            <a:rPr lang="en-US" b="1" i="0" dirty="0">
                              <a:solidFill>
                                <a:srgbClr val="FF0000"/>
                              </a:solidFill>
                              <a:latin typeface="Cambria Math" panose="02040503050406030204" pitchFamily="18" charset="0"/>
                            </a:rPr>
                            <m:t> !</m:t>
                          </m:r>
                        </m:den>
                      </m:f>
                      <m:r>
                        <a:rPr lang="en-US" b="1" i="0" dirty="0" smtClean="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𝐱</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𝟎</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𝟏</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𝟐</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𝟑</m:t>
                      </m:r>
                      <m:r>
                        <a:rPr lang="en-US" b="1" i="0" dirty="0" smtClean="0">
                          <a:solidFill>
                            <a:srgbClr val="FF0000"/>
                          </a:solidFill>
                          <a:latin typeface="Cambria Math" panose="02040503050406030204" pitchFamily="18" charset="0"/>
                        </a:rPr>
                        <m:t>,…  </m:t>
                      </m:r>
                    </m:oMath>
                  </m:oMathPara>
                </a14:m>
                <a:endParaRPr lang="en-IN" b="1" dirty="0">
                  <a:solidFill>
                    <a:srgbClr val="FF0000"/>
                  </a:solidFill>
                </a:endParaRPr>
              </a:p>
              <a:p>
                <a:pPr marL="0" lvl="0" indent="0">
                  <a:buNone/>
                </a:pPr>
                <a:r>
                  <a:rPr lang="en-US" dirty="0"/>
                  <a:t>   Where </a:t>
                </a:r>
                <a14:m>
                  <m:oMath xmlns:m="http://schemas.openxmlformats.org/officeDocument/2006/math">
                    <m:r>
                      <m:rPr>
                        <m:sty m:val="p"/>
                      </m:rPr>
                      <a:rPr lang="en-US" i="0" dirty="0" smtClean="0">
                        <a:latin typeface="Cambria Math" panose="02040503050406030204" pitchFamily="18" charset="0"/>
                      </a:rPr>
                      <m:t>λ</m:t>
                    </m:r>
                    <m:r>
                      <a:rPr lang="en-US" i="0" dirty="0" smtClean="0">
                        <a:latin typeface="Cambria Math" panose="02040503050406030204" pitchFamily="18" charset="0"/>
                      </a:rPr>
                      <m:t>= </m:t>
                    </m:r>
                  </m:oMath>
                </a14:m>
                <a:r>
                  <a:rPr lang="en-US" dirty="0"/>
                  <a:t>mean of the Poisson distribution </a:t>
                </a:r>
                <a:endParaRPr lang="en-IN" dirty="0"/>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blipFill rotWithShape="0">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9389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Properties of Poisson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0" y="863444"/>
                <a:ext cx="11929641" cy="5590565"/>
              </a:xfrm>
            </p:spPr>
            <p:txBody>
              <a:bodyPr/>
              <a:lstStyle/>
              <a:p>
                <a:pPr lvl="0"/>
                <a:r>
                  <a:rPr lang="en-US" dirty="0"/>
                  <a:t>The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should be discrete.</a:t>
                </a:r>
                <a:endParaRPr lang="en-IN" dirty="0"/>
              </a:p>
              <a:p>
                <a:pPr lvl="0"/>
                <a:r>
                  <a:rPr lang="en-US" dirty="0"/>
                  <a:t>The number of trials </a:t>
                </a:r>
                <a14:m>
                  <m:oMath xmlns:m="http://schemas.openxmlformats.org/officeDocument/2006/math">
                    <m:r>
                      <m:rPr>
                        <m:sty m:val="p"/>
                      </m:rPr>
                      <a:rPr lang="en-US" i="0" dirty="0" smtClean="0">
                        <a:latin typeface="Cambria Math" panose="02040503050406030204" pitchFamily="18" charset="0"/>
                      </a:rPr>
                      <m:t>n</m:t>
                    </m:r>
                  </m:oMath>
                </a14:m>
                <a:r>
                  <a:rPr lang="en-US" dirty="0"/>
                  <a:t> is very large.</a:t>
                </a:r>
                <a:endParaRPr lang="en-IN" dirty="0"/>
              </a:p>
              <a:p>
                <a:pPr lvl="0"/>
                <a:r>
                  <a:rPr lang="en-US" dirty="0"/>
                  <a:t>The probability of success </a:t>
                </a:r>
                <a14:m>
                  <m:oMath xmlns:m="http://schemas.openxmlformats.org/officeDocument/2006/math">
                    <m:r>
                      <m:rPr>
                        <m:sty m:val="p"/>
                      </m:rPr>
                      <a:rPr lang="en-US" i="0" dirty="0" smtClean="0">
                        <a:latin typeface="Cambria Math" panose="02040503050406030204" pitchFamily="18" charset="0"/>
                      </a:rPr>
                      <m:t>p</m:t>
                    </m:r>
                  </m:oMath>
                </a14:m>
                <a:r>
                  <a:rPr lang="en-US" dirty="0"/>
                  <a:t> is very small (very close to zero).</a:t>
                </a:r>
                <a:endParaRPr lang="en-IN" dirty="0"/>
              </a:p>
              <a:p>
                <a:pPr lvl="0"/>
                <a:r>
                  <a:rPr lang="en-US" dirty="0"/>
                  <a:t>The occurrences are rare.</a:t>
                </a:r>
                <a:endParaRPr lang="en-IN" dirty="0"/>
              </a:p>
              <a:p>
                <a:pPr lvl="0"/>
                <a:r>
                  <a:rPr lang="en-US" dirty="0"/>
                  <a:t>The </a:t>
                </a:r>
                <a:r>
                  <a:rPr lang="en-US" dirty="0">
                    <a:solidFill>
                      <a:srgbClr val="FF0000"/>
                    </a:solidFill>
                  </a:rPr>
                  <a:t>mean</a:t>
                </a:r>
                <a:r>
                  <a:rPr lang="en-US" dirty="0"/>
                  <a:t> and </a:t>
                </a:r>
                <a:r>
                  <a:rPr lang="en-US" dirty="0">
                    <a:solidFill>
                      <a:srgbClr val="FF0000"/>
                    </a:solidFill>
                  </a:rPr>
                  <a:t>variance</a:t>
                </a:r>
                <a:r>
                  <a:rPr lang="en-US" dirty="0"/>
                  <a:t> of the Poisson distribution with parameter </a:t>
                </a:r>
                <a14:m>
                  <m:oMath xmlns:m="http://schemas.openxmlformats.org/officeDocument/2006/math">
                    <m:r>
                      <m:rPr>
                        <m:sty m:val="p"/>
                      </m:rPr>
                      <a:rPr lang="en-US" i="0" dirty="0" smtClean="0">
                        <a:latin typeface="Cambria Math" panose="02040503050406030204" pitchFamily="18" charset="0"/>
                      </a:rPr>
                      <m:t>λ</m:t>
                    </m:r>
                  </m:oMath>
                </a14:m>
                <a:r>
                  <a:rPr lang="en-US" dirty="0"/>
                  <a:t> are defined as</a:t>
                </a:r>
                <a:r>
                  <a:rPr lang="en-IN" dirty="0"/>
                  <a:t> </a:t>
                </a:r>
                <a:r>
                  <a:rPr lang="en-US" i="0" dirty="0">
                    <a:latin typeface="+mj-lt"/>
                  </a:rPr>
                  <a:t>mean</a:t>
                </a:r>
                <a14:m>
                  <m:oMath xmlns:m="http://schemas.openxmlformats.org/officeDocument/2006/math">
                    <m:r>
                      <a:rPr lang="en-US">
                        <a:latin typeface="Cambria Math" panose="02040503050406030204" pitchFamily="18" charset="0"/>
                      </a:rPr>
                      <m:t> </m:t>
                    </m:r>
                    <m:r>
                      <a:rPr lang="en-US" b="1" i="0" dirty="0" smtClean="0">
                        <a:solidFill>
                          <a:srgbClr val="FF0000"/>
                        </a:solidFill>
                        <a:latin typeface="Cambria Math" panose="02040503050406030204" pitchFamily="18" charset="0"/>
                      </a:rPr>
                      <m:t>𝛍</m:t>
                    </m:r>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𝐄</m:t>
                    </m:r>
                    <m:r>
                      <a:rPr lang="en-IN" b="1" i="0" dirty="0" smtClean="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𝐗</m:t>
                    </m:r>
                    <m:r>
                      <a:rPr lang="en-US" b="1" i="0" dirty="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𝛌</m:t>
                    </m:r>
                    <m:r>
                      <a:rPr lang="en-US" b="1" i="0" dirty="0" smtClean="0">
                        <a:solidFill>
                          <a:srgbClr val="FF0000"/>
                        </a:solidFill>
                        <a:latin typeface="Cambria Math" panose="02040503050406030204" pitchFamily="18" charset="0"/>
                      </a:rPr>
                      <m:t>=</m:t>
                    </m:r>
                    <m:r>
                      <a:rPr lang="en-US" b="1" i="0" dirty="0" err="1" smtClean="0">
                        <a:solidFill>
                          <a:srgbClr val="FF0000"/>
                        </a:solidFill>
                        <a:latin typeface="Cambria Math" panose="02040503050406030204" pitchFamily="18" charset="0"/>
                      </a:rPr>
                      <m:t>𝐧𝐩</m:t>
                    </m:r>
                    <m:r>
                      <a:rPr lang="en-US">
                        <a:solidFill>
                          <a:srgbClr val="FE5722"/>
                        </a:solidFill>
                        <a:latin typeface="Cambria Math" panose="02040503050406030204" pitchFamily="18" charset="0"/>
                      </a:rPr>
                      <m:t> </m:t>
                    </m:r>
                    <m:r>
                      <a:rPr lang="en-US">
                        <a:latin typeface="Cambria Math" panose="02040503050406030204" pitchFamily="18" charset="0"/>
                      </a:rPr>
                      <m:t>  &amp;   </m:t>
                    </m:r>
                  </m:oMath>
                </a14:m>
                <a:r>
                  <a:rPr lang="en-US" i="0" dirty="0">
                    <a:latin typeface="+mj-lt"/>
                  </a:rPr>
                  <a:t>variance</a:t>
                </a:r>
                <a14:m>
                  <m:oMath xmlns:m="http://schemas.openxmlformats.org/officeDocument/2006/math">
                    <m:r>
                      <a:rPr lang="en-US">
                        <a:latin typeface="Cambria Math" panose="02040503050406030204" pitchFamily="18" charset="0"/>
                      </a:rPr>
                      <m:t> </m:t>
                    </m:r>
                    <m:r>
                      <a:rPr lang="en-US" b="1" i="0" dirty="0" smtClean="0">
                        <a:solidFill>
                          <a:srgbClr val="FF0000"/>
                        </a:solidFill>
                        <a:latin typeface="Cambria Math" panose="02040503050406030204" pitchFamily="18" charset="0"/>
                      </a:rPr>
                      <m:t>𝐕</m:t>
                    </m:r>
                    <m:r>
                      <a:rPr lang="en-IN" b="1" i="0" dirty="0" smtClean="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𝐗</m:t>
                    </m:r>
                    <m:r>
                      <a:rPr lang="en-US" b="1" i="0" dirty="0">
                        <a:solidFill>
                          <a:srgbClr val="FF0000"/>
                        </a:solidFill>
                        <a:latin typeface="Cambria Math" panose="02040503050406030204" pitchFamily="18" charset="0"/>
                      </a:rPr>
                      <m:t>)=</m:t>
                    </m:r>
                    <m:sSup>
                      <m:sSupPr>
                        <m:ctrlPr>
                          <a:rPr lang="en-IN" b="1" i="1" dirty="0">
                            <a:solidFill>
                              <a:srgbClr val="FF0000"/>
                            </a:solidFill>
                            <a:latin typeface="Cambria Math" panose="02040503050406030204" pitchFamily="18" charset="0"/>
                          </a:rPr>
                        </m:ctrlPr>
                      </m:sSupPr>
                      <m:e>
                        <m:r>
                          <a:rPr lang="en-US" b="1" i="0" dirty="0" smtClean="0">
                            <a:solidFill>
                              <a:srgbClr val="FF0000"/>
                            </a:solidFill>
                            <a:latin typeface="Cambria Math" panose="02040503050406030204" pitchFamily="18" charset="0"/>
                          </a:rPr>
                          <m:t>𝛔</m:t>
                        </m:r>
                      </m:e>
                      <m:sup>
                        <m:r>
                          <a:rPr lang="en-US" b="1" i="0" dirty="0">
                            <a:solidFill>
                              <a:srgbClr val="FF0000"/>
                            </a:solidFill>
                            <a:latin typeface="Cambria Math" panose="02040503050406030204" pitchFamily="18" charset="0"/>
                          </a:rPr>
                          <m:t>𝟐</m:t>
                        </m:r>
                      </m:sup>
                    </m:sSup>
                    <m:r>
                      <a:rPr lang="en-US"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𝛌</m:t>
                    </m:r>
                  </m:oMath>
                </a14:m>
                <a:endParaRPr lang="en-IN" dirty="0"/>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0" y="863444"/>
                <a:ext cx="11929641" cy="5590565"/>
              </a:xfrm>
              <a:blipFill rotWithShape="0">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133446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Poisson Distribution </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r>
              <a:rPr lang="en-US" b="1" dirty="0">
                <a:solidFill>
                  <a:schemeClr val="accent5">
                    <a:lumMod val="50000"/>
                  </a:schemeClr>
                </a:solidFill>
              </a:rPr>
              <a:t>For Examples:</a:t>
            </a:r>
            <a:endParaRPr lang="en-IN" b="1" dirty="0">
              <a:solidFill>
                <a:schemeClr val="accent5">
                  <a:lumMod val="50000"/>
                </a:schemeClr>
              </a:solidFill>
            </a:endParaRPr>
          </a:p>
          <a:p>
            <a:pPr marL="544512" lvl="1" indent="0">
              <a:buNone/>
            </a:pPr>
            <a:r>
              <a:rPr lang="en-US" dirty="0"/>
              <a:t>(1) Number of telephone calls per minute at a switchboard.</a:t>
            </a:r>
            <a:endParaRPr lang="en-IN" dirty="0"/>
          </a:p>
          <a:p>
            <a:pPr marL="544512" lvl="1" indent="0">
              <a:buNone/>
            </a:pPr>
            <a:r>
              <a:rPr lang="en-US" dirty="0"/>
              <a:t>(2) Number of cars passing a certain point in one minute.</a:t>
            </a:r>
            <a:endParaRPr lang="en-IN" dirty="0"/>
          </a:p>
          <a:p>
            <a:pPr marL="544512" lvl="1" indent="0">
              <a:buNone/>
            </a:pPr>
            <a:r>
              <a:rPr lang="en-US" dirty="0"/>
              <a:t>(3) Number of printing mistakes per page in a large text.</a:t>
            </a:r>
            <a:endParaRPr lang="en-IN" dirty="0"/>
          </a:p>
          <a:p>
            <a:pPr marL="544512" lvl="1" indent="0">
              <a:buNone/>
            </a:pPr>
            <a:r>
              <a:rPr lang="en-US" dirty="0"/>
              <a:t>(4) Number of persons born blind per year in a large city.</a:t>
            </a:r>
            <a:endParaRPr lang="en-IN" dirty="0"/>
          </a:p>
          <a:p>
            <a:pPr marL="0" indent="0">
              <a:buNone/>
            </a:pPr>
            <a:endParaRPr lang="en-US" dirty="0">
              <a:solidFill>
                <a:srgbClr val="FF0000"/>
              </a:solidFill>
            </a:endParaRPr>
          </a:p>
        </p:txBody>
      </p:sp>
    </p:spTree>
    <p:extLst>
      <p:ext uri="{BB962C8B-B14F-4D97-AF65-F5344CB8AC3E}">
        <p14:creationId xmlns:p14="http://schemas.microsoft.com/office/powerpoint/2010/main" val="2945036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2</a:t>
            </a:r>
          </a:p>
        </p:txBody>
      </p:sp>
      <p:sp>
        <p:nvSpPr>
          <p:cNvPr id="3" name="Text Placeholder 2"/>
          <p:cNvSpPr>
            <a:spLocks noGrp="1"/>
          </p:cNvSpPr>
          <p:nvPr>
            <p:ph type="body" idx="1"/>
          </p:nvPr>
        </p:nvSpPr>
        <p:spPr>
          <a:xfrm>
            <a:off x="831850" y="4561050"/>
            <a:ext cx="10515600" cy="1500187"/>
          </a:xfrm>
        </p:spPr>
        <p:txBody>
          <a:bodyPr>
            <a:normAutofit/>
          </a:bodyPr>
          <a:lstStyle/>
          <a:p>
            <a:r>
              <a:rPr lang="en-US" sz="2800" dirty="0"/>
              <a:t>Poisson Distribution </a:t>
            </a:r>
          </a:p>
        </p:txBody>
      </p:sp>
    </p:spTree>
    <p:extLst>
      <p:ext uri="{BB962C8B-B14F-4D97-AF65-F5344CB8AC3E}">
        <p14:creationId xmlns:p14="http://schemas.microsoft.com/office/powerpoint/2010/main" val="33075628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794132"/>
                <a:ext cx="11929643" cy="115459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For Poisson variant </a:t>
                </a:r>
                <a14:m>
                  <m:oMath xmlns:m="http://schemas.openxmlformats.org/officeDocument/2006/math">
                    <m:r>
                      <m:rPr>
                        <m:sty m:val="p"/>
                      </m:rPr>
                      <a:rPr lang="en-US">
                        <a:latin typeface="Cambria Math" panose="02040503050406030204" pitchFamily="18" charset="0"/>
                      </a:rPr>
                      <m:t>X</m:t>
                    </m:r>
                  </m:oMath>
                </a14:m>
                <a:r>
                  <a:rPr lang="en-US" dirty="0"/>
                  <a:t>, if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=3</m:t>
                        </m:r>
                      </m:e>
                    </m:d>
                    <m:r>
                      <a:rPr lang="en-US">
                        <a:latin typeface="Cambria Math" panose="02040503050406030204" pitchFamily="18" charset="0"/>
                      </a:rPr>
                      <m:t>=</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X</m:t>
                    </m:r>
                    <m:r>
                      <a:rPr lang="en-US">
                        <a:latin typeface="Cambria Math" panose="02040503050406030204" pitchFamily="18" charset="0"/>
                      </a:rPr>
                      <m:t>=4)</m:t>
                    </m:r>
                  </m:oMath>
                </a14:m>
                <a:r>
                  <a:rPr lang="en-US" dirty="0"/>
                  <a:t>, then find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X</m:t>
                        </m:r>
                        <m:r>
                          <a:rPr lang="en-US">
                            <a:latin typeface="Cambria Math" panose="02040503050406030204" pitchFamily="18" charset="0"/>
                          </a:rPr>
                          <m:t>=0</m:t>
                        </m:r>
                      </m:e>
                    </m:d>
                    <m:r>
                      <a:rPr lang="en-US">
                        <a:latin typeface="Cambria Math" panose="02040503050406030204" pitchFamily="18" charset="0"/>
                      </a:rPr>
                      <m:t>.</m:t>
                    </m:r>
                  </m:oMath>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794132"/>
                <a:ext cx="11929643" cy="1154590"/>
              </a:xfrm>
              <a:prstGeom prst="rect">
                <a:avLst/>
              </a:prstGeom>
              <a:blipFill rotWithShape="0">
                <a:blip r:embed="rId2"/>
                <a:stretch>
                  <a:fillRect l="-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 ⇝ Example 1</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063296"/>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7" y="1938280"/>
                <a:ext cx="10200837" cy="787973"/>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buNone/>
                  <a:tabLst>
                    <a:tab pos="447675" algn="l"/>
                  </a:tabLst>
                </a:pPr>
                <a:r>
                  <a:rPr lang="en-US" dirty="0">
                    <a:solidFill>
                      <a:schemeClr val="tx2">
                        <a:lumMod val="50000"/>
                      </a:schemeClr>
                    </a:solidFill>
                  </a:rPr>
                  <a:t>We know that, </a:t>
                </a:r>
                <a14:m>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e>
                    </m:d>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e</m:t>
                            </m:r>
                          </m:e>
                          <m:sup>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λ</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λ</m:t>
                            </m:r>
                          </m:e>
                          <m:sup>
                            <m:r>
                              <m:rPr>
                                <m:sty m:val="p"/>
                              </m:rPr>
                              <a:rPr lang="en-US" b="0" i="0">
                                <a:solidFill>
                                  <a:schemeClr val="tx2">
                                    <a:lumMod val="50000"/>
                                  </a:schemeClr>
                                </a:solidFill>
                                <a:latin typeface="Cambria Math" panose="02040503050406030204" pitchFamily="18" charset="0"/>
                              </a:rPr>
                              <m:t>x</m:t>
                            </m:r>
                          </m:sup>
                        </m:sSup>
                        <m:r>
                          <a:rPr lang="en-US" b="0" i="0">
                            <a:solidFill>
                              <a:schemeClr val="tx2">
                                <a:lumMod val="50000"/>
                              </a:schemeClr>
                            </a:solidFill>
                            <a:latin typeface="Cambria Math" panose="02040503050406030204" pitchFamily="18" charset="0"/>
                          </a:rPr>
                          <m:t> </m:t>
                        </m:r>
                      </m:num>
                      <m:den>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 !</m:t>
                        </m:r>
                      </m:den>
                    </m:f>
                    <m:r>
                      <a:rPr lang="en-US" b="0" i="0">
                        <a:solidFill>
                          <a:schemeClr val="tx2">
                            <a:lumMod val="50000"/>
                          </a:schemeClr>
                        </a:solidFill>
                        <a:latin typeface="Cambria Math" panose="02040503050406030204" pitchFamily="18" charset="0"/>
                      </a:rPr>
                      <m:t>; </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=0,1,2,3,…</m:t>
                    </m:r>
                  </m:oMath>
                </a14:m>
                <a:r>
                  <a:rPr lang="en-US" dirty="0">
                    <a:solidFill>
                      <a:schemeClr val="tx2">
                        <a:lumMod val="50000"/>
                      </a:schemeClr>
                    </a:solidFill>
                    <a:latin typeface="Cambria Math" panose="02040503050406030204" pitchFamily="18" charset="0"/>
                  </a:rPr>
                  <a:t> </a:t>
                </a: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25597" y="1938280"/>
                <a:ext cx="10200837" cy="787973"/>
              </a:xfrm>
              <a:prstGeom prst="rect">
                <a:avLst/>
              </a:prstGeom>
              <a:blipFill rotWithShape="0">
                <a:blip r:embed="rId3"/>
                <a:stretch>
                  <a:fillRect l="-1255" b="-100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60204" y="2753993"/>
                <a:ext cx="4726589" cy="3411255"/>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nor/>
                        </m:rPr>
                        <a:rPr lang="en-US" sz="2800">
                          <a:solidFill>
                            <a:schemeClr val="tx2">
                              <a:lumMod val="50000"/>
                            </a:schemeClr>
                          </a:solidFill>
                          <a:ea typeface="Cambria Math" panose="02040503050406030204" pitchFamily="18" charset="0"/>
                        </a:rPr>
                        <m:t>Given</m:t>
                      </m:r>
                      <m:r>
                        <m:rPr>
                          <m:nor/>
                        </m:rPr>
                        <a:rPr lang="en-US" sz="2800">
                          <a:solidFill>
                            <a:schemeClr val="tx2">
                              <a:lumMod val="50000"/>
                            </a:schemeClr>
                          </a:solidFill>
                          <a:latin typeface="Cambria Math" panose="02040503050406030204" pitchFamily="18" charset="0"/>
                        </a:rPr>
                        <m:t> </m:t>
                      </m:r>
                      <m:r>
                        <m:rPr>
                          <m:sty m:val="p"/>
                        </m:rPr>
                        <a:rPr lang="en-US" sz="2800" i="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i="0">
                              <a:solidFill>
                                <a:schemeClr val="tx2">
                                  <a:lumMod val="50000"/>
                                </a:schemeClr>
                              </a:solidFill>
                              <a:latin typeface="Cambria Math" panose="02040503050406030204" pitchFamily="18" charset="0"/>
                            </a:rPr>
                            <m:t>X</m:t>
                          </m:r>
                          <m:r>
                            <a:rPr lang="en-US" sz="2800" i="0">
                              <a:solidFill>
                                <a:schemeClr val="tx2">
                                  <a:lumMod val="50000"/>
                                </a:schemeClr>
                              </a:solidFill>
                              <a:latin typeface="Cambria Math" panose="02040503050406030204" pitchFamily="18" charset="0"/>
                            </a:rPr>
                            <m:t>=3</m:t>
                          </m:r>
                        </m:e>
                      </m:d>
                      <m:r>
                        <a:rPr lang="en-US" sz="2800" i="0">
                          <a:solidFill>
                            <a:schemeClr val="tx2">
                              <a:lumMod val="50000"/>
                            </a:schemeClr>
                          </a:solidFill>
                          <a:latin typeface="Cambria Math" panose="02040503050406030204" pitchFamily="18" charset="0"/>
                        </a:rPr>
                        <m:t>=</m:t>
                      </m:r>
                      <m:r>
                        <m:rPr>
                          <m:sty m:val="p"/>
                        </m:rPr>
                        <a:rPr lang="en-US" sz="2800" i="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i="0">
                              <a:solidFill>
                                <a:schemeClr val="tx2">
                                  <a:lumMod val="50000"/>
                                </a:schemeClr>
                              </a:solidFill>
                              <a:latin typeface="Cambria Math" panose="02040503050406030204" pitchFamily="18" charset="0"/>
                            </a:rPr>
                            <m:t>X</m:t>
                          </m:r>
                          <m:r>
                            <a:rPr lang="en-US" sz="2800" i="0">
                              <a:solidFill>
                                <a:schemeClr val="tx2">
                                  <a:lumMod val="50000"/>
                                </a:schemeClr>
                              </a:solidFill>
                              <a:latin typeface="Cambria Math" panose="02040503050406030204" pitchFamily="18" charset="0"/>
                            </a:rPr>
                            <m:t>=4</m:t>
                          </m:r>
                        </m:e>
                      </m:d>
                    </m:oMath>
                  </m:oMathPara>
                </a14:m>
                <a:endParaRPr lang="en-IN" sz="2800" dirty="0">
                  <a:solidFill>
                    <a:schemeClr val="tx2">
                      <a:lumMod val="50000"/>
                    </a:schemeClr>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e</m:t>
                              </m:r>
                            </m:e>
                            <m:sup>
                              <m:r>
                                <a:rPr lang="en-US" sz="2800" i="0">
                                  <a:solidFill>
                                    <a:schemeClr val="tx2">
                                      <a:lumMod val="50000"/>
                                    </a:schemeClr>
                                  </a:solidFill>
                                  <a:latin typeface="Cambria Math" panose="02040503050406030204" pitchFamily="18" charset="0"/>
                                </a:rPr>
                                <m:t>−</m:t>
                              </m:r>
                              <m:r>
                                <m:rPr>
                                  <m:sty m:val="p"/>
                                </m:rPr>
                                <a:rPr lang="en-US" sz="2800" i="0">
                                  <a:solidFill>
                                    <a:schemeClr val="tx2">
                                      <a:lumMod val="50000"/>
                                    </a:schemeClr>
                                  </a:solidFill>
                                  <a:latin typeface="Cambria Math" panose="02040503050406030204" pitchFamily="18" charset="0"/>
                                </a:rPr>
                                <m:t>λ</m:t>
                              </m:r>
                            </m:sup>
                          </m:sSup>
                          <m:r>
                            <a:rPr lang="en-US" sz="2800" i="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λ</m:t>
                              </m:r>
                            </m:e>
                            <m:sup>
                              <m:r>
                                <a:rPr lang="en-US" sz="2800" i="0">
                                  <a:solidFill>
                                    <a:schemeClr val="tx2">
                                      <a:lumMod val="50000"/>
                                    </a:schemeClr>
                                  </a:solidFill>
                                  <a:latin typeface="Cambria Math" panose="02040503050406030204" pitchFamily="18" charset="0"/>
                                </a:rPr>
                                <m:t>3</m:t>
                              </m:r>
                            </m:sup>
                          </m:sSup>
                          <m:r>
                            <a:rPr lang="en-US" sz="2800" i="0">
                              <a:solidFill>
                                <a:schemeClr val="tx2">
                                  <a:lumMod val="50000"/>
                                </a:schemeClr>
                              </a:solidFill>
                              <a:latin typeface="Cambria Math" panose="02040503050406030204" pitchFamily="18" charset="0"/>
                            </a:rPr>
                            <m:t> </m:t>
                          </m:r>
                        </m:num>
                        <m:den>
                          <m:r>
                            <a:rPr lang="en-US" sz="2800" i="0">
                              <a:solidFill>
                                <a:schemeClr val="tx2">
                                  <a:lumMod val="50000"/>
                                </a:schemeClr>
                              </a:solidFill>
                              <a:latin typeface="Cambria Math" panose="02040503050406030204" pitchFamily="18" charset="0"/>
                            </a:rPr>
                            <m:t>3 !</m:t>
                          </m:r>
                        </m:den>
                      </m:f>
                      <m:r>
                        <a:rPr lang="en-US" sz="2800" i="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e</m:t>
                              </m:r>
                            </m:e>
                            <m:sup>
                              <m:r>
                                <a:rPr lang="en-US" sz="2800" i="0">
                                  <a:solidFill>
                                    <a:schemeClr val="tx2">
                                      <a:lumMod val="50000"/>
                                    </a:schemeClr>
                                  </a:solidFill>
                                  <a:latin typeface="Cambria Math" panose="02040503050406030204" pitchFamily="18" charset="0"/>
                                </a:rPr>
                                <m:t>−</m:t>
                              </m:r>
                              <m:r>
                                <m:rPr>
                                  <m:sty m:val="p"/>
                                </m:rPr>
                                <a:rPr lang="en-US" sz="2800" i="0">
                                  <a:solidFill>
                                    <a:schemeClr val="tx2">
                                      <a:lumMod val="50000"/>
                                    </a:schemeClr>
                                  </a:solidFill>
                                  <a:latin typeface="Cambria Math" panose="02040503050406030204" pitchFamily="18" charset="0"/>
                                </a:rPr>
                                <m:t>λ</m:t>
                              </m:r>
                            </m:sup>
                          </m:sSup>
                          <m:r>
                            <a:rPr lang="en-US" sz="2800" i="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λ</m:t>
                              </m:r>
                            </m:e>
                            <m:sup>
                              <m:r>
                                <a:rPr lang="en-US" sz="2800" i="0">
                                  <a:solidFill>
                                    <a:schemeClr val="tx2">
                                      <a:lumMod val="50000"/>
                                    </a:schemeClr>
                                  </a:solidFill>
                                  <a:latin typeface="Cambria Math" panose="02040503050406030204" pitchFamily="18" charset="0"/>
                                </a:rPr>
                                <m:t>4</m:t>
                              </m:r>
                            </m:sup>
                          </m:sSup>
                          <m:r>
                            <a:rPr lang="en-US" sz="2800" i="0">
                              <a:solidFill>
                                <a:schemeClr val="tx2">
                                  <a:lumMod val="50000"/>
                                </a:schemeClr>
                              </a:solidFill>
                              <a:latin typeface="Cambria Math" panose="02040503050406030204" pitchFamily="18" charset="0"/>
                            </a:rPr>
                            <m:t> </m:t>
                          </m:r>
                        </m:num>
                        <m:den>
                          <m:r>
                            <a:rPr lang="en-US" sz="2800" i="0">
                              <a:solidFill>
                                <a:schemeClr val="tx2">
                                  <a:lumMod val="50000"/>
                                </a:schemeClr>
                              </a:solidFill>
                              <a:latin typeface="Cambria Math" panose="02040503050406030204" pitchFamily="18" charset="0"/>
                            </a:rPr>
                            <m:t>4 !</m:t>
                          </m:r>
                        </m:den>
                      </m:f>
                    </m:oMath>
                  </m:oMathPara>
                </a14:m>
                <a:endParaRPr lang="en-IN" sz="2800" dirty="0">
                  <a:solidFill>
                    <a:schemeClr val="tx2">
                      <a:lumMod val="50000"/>
                    </a:schemeClr>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0">
                              <a:solidFill>
                                <a:schemeClr val="tx2">
                                  <a:lumMod val="50000"/>
                                </a:schemeClr>
                              </a:solidFill>
                              <a:latin typeface="Cambria Math" panose="02040503050406030204" pitchFamily="18" charset="0"/>
                            </a:rPr>
                            <m:t> 4! </m:t>
                          </m:r>
                        </m:num>
                        <m:den>
                          <m:r>
                            <a:rPr lang="en-US" sz="2800" i="0">
                              <a:solidFill>
                                <a:schemeClr val="tx2">
                                  <a:lumMod val="50000"/>
                                </a:schemeClr>
                              </a:solidFill>
                              <a:latin typeface="Cambria Math" panose="02040503050406030204" pitchFamily="18" charset="0"/>
                            </a:rPr>
                            <m:t>3 !</m:t>
                          </m:r>
                        </m:den>
                      </m:f>
                      <m:r>
                        <a:rPr lang="en-US" sz="2800" i="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e</m:t>
                              </m:r>
                            </m:e>
                            <m:sup>
                              <m:r>
                                <a:rPr lang="en-US" sz="2800" i="0">
                                  <a:solidFill>
                                    <a:schemeClr val="tx2">
                                      <a:lumMod val="50000"/>
                                    </a:schemeClr>
                                  </a:solidFill>
                                  <a:latin typeface="Cambria Math" panose="02040503050406030204" pitchFamily="18" charset="0"/>
                                </a:rPr>
                                <m:t>−</m:t>
                              </m:r>
                              <m:r>
                                <m:rPr>
                                  <m:sty m:val="p"/>
                                </m:rPr>
                                <a:rPr lang="en-US" sz="2800" i="0">
                                  <a:solidFill>
                                    <a:schemeClr val="tx2">
                                      <a:lumMod val="50000"/>
                                    </a:schemeClr>
                                  </a:solidFill>
                                  <a:latin typeface="Cambria Math" panose="02040503050406030204" pitchFamily="18" charset="0"/>
                                </a:rPr>
                                <m:t>λ</m:t>
                              </m:r>
                            </m:sup>
                          </m:sSup>
                          <m:r>
                            <a:rPr lang="en-US" sz="2800" i="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λ</m:t>
                              </m:r>
                            </m:e>
                            <m:sup>
                              <m:r>
                                <a:rPr lang="en-US" sz="2800" i="0">
                                  <a:solidFill>
                                    <a:schemeClr val="tx2">
                                      <a:lumMod val="50000"/>
                                    </a:schemeClr>
                                  </a:solidFill>
                                  <a:latin typeface="Cambria Math" panose="02040503050406030204" pitchFamily="18" charset="0"/>
                                </a:rPr>
                                <m:t>4</m:t>
                              </m:r>
                            </m:sup>
                          </m:sSup>
                          <m:r>
                            <a:rPr lang="en-US" sz="2800" i="0">
                              <a:solidFill>
                                <a:schemeClr val="tx2">
                                  <a:lumMod val="50000"/>
                                </a:schemeClr>
                              </a:solidFill>
                              <a:latin typeface="Cambria Math" panose="02040503050406030204" pitchFamily="18" charset="0"/>
                            </a:rPr>
                            <m:t> </m:t>
                          </m:r>
                        </m:num>
                        <m:den>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e</m:t>
                              </m:r>
                            </m:e>
                            <m:sup>
                              <m:r>
                                <a:rPr lang="en-US" sz="2800" i="0">
                                  <a:solidFill>
                                    <a:schemeClr val="tx2">
                                      <a:lumMod val="50000"/>
                                    </a:schemeClr>
                                  </a:solidFill>
                                  <a:latin typeface="Cambria Math" panose="02040503050406030204" pitchFamily="18" charset="0"/>
                                </a:rPr>
                                <m:t>−</m:t>
                              </m:r>
                              <m:r>
                                <m:rPr>
                                  <m:sty m:val="p"/>
                                </m:rPr>
                                <a:rPr lang="en-US" sz="2800" i="0">
                                  <a:solidFill>
                                    <a:schemeClr val="tx2">
                                      <a:lumMod val="50000"/>
                                    </a:schemeClr>
                                  </a:solidFill>
                                  <a:latin typeface="Cambria Math" panose="02040503050406030204" pitchFamily="18" charset="0"/>
                                </a:rPr>
                                <m:t>λ</m:t>
                              </m:r>
                            </m:sup>
                          </m:sSup>
                          <m:r>
                            <a:rPr lang="en-US" sz="2800" i="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rPr>
                                <m:t>λ</m:t>
                              </m:r>
                            </m:e>
                            <m:sup>
                              <m:r>
                                <a:rPr lang="en-US" sz="2800" i="0">
                                  <a:solidFill>
                                    <a:schemeClr val="tx2">
                                      <a:lumMod val="50000"/>
                                    </a:schemeClr>
                                  </a:solidFill>
                                  <a:latin typeface="Cambria Math" panose="02040503050406030204" pitchFamily="18" charset="0"/>
                                </a:rPr>
                                <m:t>3</m:t>
                              </m:r>
                            </m:sup>
                          </m:sSup>
                        </m:den>
                      </m:f>
                    </m:oMath>
                  </m:oMathPara>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60204" y="2753993"/>
                <a:ext cx="4726589" cy="3411255"/>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7820326" y="2771223"/>
                <a:ext cx="4006108" cy="3563411"/>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2800" i="0">
                          <a:solidFill>
                            <a:schemeClr val="tx2">
                              <a:lumMod val="50000"/>
                            </a:schemeClr>
                          </a:solidFill>
                          <a:latin typeface="Cambria Math" panose="02040503050406030204" pitchFamily="18" charset="0"/>
                        </a:rPr>
                        <m:t>⇒</m:t>
                      </m:r>
                      <m:r>
                        <m:rPr>
                          <m:sty m:val="p"/>
                        </m:rPr>
                        <a:rPr lang="en-US" sz="2800" i="0">
                          <a:solidFill>
                            <a:schemeClr val="tx2">
                              <a:lumMod val="50000"/>
                            </a:schemeClr>
                          </a:solidFill>
                          <a:latin typeface="Cambria Math" panose="02040503050406030204" pitchFamily="18" charset="0"/>
                        </a:rPr>
                        <m:t>λ</m:t>
                      </m:r>
                      <m:r>
                        <a:rPr lang="en-US" sz="2800" i="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i="0">
                              <a:solidFill>
                                <a:schemeClr val="tx2">
                                  <a:lumMod val="50000"/>
                                </a:schemeClr>
                              </a:solidFill>
                              <a:latin typeface="Cambria Math" panose="02040503050406030204" pitchFamily="18" charset="0"/>
                            </a:rPr>
                            <m:t>4×3! </m:t>
                          </m:r>
                        </m:num>
                        <m:den>
                          <m:r>
                            <a:rPr lang="en-US" sz="2800" i="0">
                              <a:solidFill>
                                <a:schemeClr val="tx2">
                                  <a:lumMod val="50000"/>
                                </a:schemeClr>
                              </a:solidFill>
                              <a:latin typeface="Cambria Math" panose="02040503050406030204" pitchFamily="18" charset="0"/>
                            </a:rPr>
                            <m:t>3!</m:t>
                          </m:r>
                        </m:den>
                      </m:f>
                      <m:r>
                        <a:rPr lang="en-US" sz="2800" i="0">
                          <a:solidFill>
                            <a:schemeClr val="tx2">
                              <a:lumMod val="50000"/>
                            </a:schemeClr>
                          </a:solidFill>
                          <a:latin typeface="Cambria Math" panose="02040503050406030204" pitchFamily="18" charset="0"/>
                        </a:rPr>
                        <m:t>=4</m:t>
                      </m:r>
                    </m:oMath>
                  </m:oMathPara>
                </a14:m>
                <a:endParaRPr lang="en-IN" sz="2800" dirty="0">
                  <a:solidFill>
                    <a:schemeClr val="tx2">
                      <a:lumMod val="50000"/>
                    </a:schemeClr>
                  </a:solidFill>
                  <a:latin typeface="Cambria Math" panose="02040503050406030204" pitchFamily="18" charset="0"/>
                </a:endParaRPr>
              </a:p>
              <a:p>
                <a:pPr>
                  <a:lnSpc>
                    <a:spcPct val="150000"/>
                  </a:lnSpc>
                </a:pPr>
                <a:r>
                  <a:rPr lang="en-US" sz="2800" dirty="0">
                    <a:solidFill>
                      <a:schemeClr val="tx2">
                        <a:lumMod val="50000"/>
                      </a:schemeClr>
                    </a:solidFill>
                    <a:latin typeface="Cambria Math" panose="02040503050406030204" pitchFamily="18" charset="0"/>
                  </a:rPr>
                  <a:t>To find </a:t>
                </a:r>
                <a14:m>
                  <m:oMath xmlns:m="http://schemas.openxmlformats.org/officeDocument/2006/math">
                    <m:r>
                      <m:rPr>
                        <m:sty m:val="p"/>
                      </m:rPr>
                      <a:rPr lang="en-US" sz="2800" b="0" i="1">
                        <a:solidFill>
                          <a:schemeClr val="tx2">
                            <a:lumMod val="50000"/>
                          </a:schemeClr>
                        </a:solidFill>
                        <a:latin typeface="Cambria Math" panose="02040503050406030204" pitchFamily="18" charset="0"/>
                      </a:rPr>
                      <m:t>P</m:t>
                    </m:r>
                    <m:r>
                      <a:rPr lang="en-US" sz="2800" b="0">
                        <a:solidFill>
                          <a:schemeClr val="tx2">
                            <a:lumMod val="50000"/>
                          </a:schemeClr>
                        </a:solidFill>
                        <a:latin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rPr>
                      <m:t>X</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m:t>
                    </m:r>
                  </m:oMath>
                </a14:m>
                <a:endParaRPr lang="en-IN" sz="2800" dirty="0">
                  <a:solidFill>
                    <a:schemeClr val="tx2">
                      <a:lumMod val="50000"/>
                    </a:schemeClr>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rPr>
                            <m:t>X</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e>
                      </m:d>
                      <m:r>
                        <a:rPr lang="en-US" sz="2800" b="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b="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b="0" i="1">
                                  <a:solidFill>
                                    <a:schemeClr val="tx2">
                                      <a:lumMod val="50000"/>
                                    </a:schemeClr>
                                  </a:solidFill>
                                  <a:latin typeface="Cambria Math" panose="02040503050406030204" pitchFamily="18" charset="0"/>
                                </a:rPr>
                                <m:t>e</m:t>
                              </m:r>
                            </m:e>
                            <m:sup>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4</m:t>
                              </m:r>
                            </m:sup>
                          </m:sSup>
                          <m:r>
                            <a:rPr lang="en-US" sz="2800" b="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a:rPr lang="en-US" sz="2800" b="0" i="1">
                                  <a:solidFill>
                                    <a:schemeClr val="tx2">
                                      <a:lumMod val="50000"/>
                                    </a:schemeClr>
                                  </a:solidFill>
                                  <a:latin typeface="Cambria Math" panose="02040503050406030204" pitchFamily="18" charset="0"/>
                                </a:rPr>
                                <m:t>4</m:t>
                              </m:r>
                            </m:e>
                            <m:sup>
                              <m:r>
                                <a:rPr lang="en-US" sz="2800" b="0" i="1">
                                  <a:solidFill>
                                    <a:schemeClr val="tx2">
                                      <a:lumMod val="50000"/>
                                    </a:schemeClr>
                                  </a:solidFill>
                                  <a:latin typeface="Cambria Math" panose="02040503050406030204" pitchFamily="18" charset="0"/>
                                </a:rPr>
                                <m:t>0</m:t>
                              </m:r>
                            </m:sup>
                          </m:sSup>
                          <m:r>
                            <a:rPr lang="en-US" sz="2800" b="0">
                              <a:solidFill>
                                <a:schemeClr val="tx2">
                                  <a:lumMod val="50000"/>
                                </a:schemeClr>
                              </a:solidFill>
                              <a:latin typeface="Cambria Math" panose="02040503050406030204" pitchFamily="18" charset="0"/>
                            </a:rPr>
                            <m:t> </m:t>
                          </m:r>
                        </m:num>
                        <m:den>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e>
                      </m:d>
                      <m:r>
                        <a:rPr lang="en-US" sz="2800" b="1" i="0">
                          <a:solidFill>
                            <a:srgbClr val="FF0000"/>
                          </a:solidFill>
                          <a:latin typeface="Cambria Math" panose="02040503050406030204" pitchFamily="18" charset="0"/>
                        </a:rPr>
                        <m:t>= </m:t>
                      </m:r>
                      <m:sSup>
                        <m:sSupPr>
                          <m:ctrlPr>
                            <a:rPr lang="en-IN" sz="2800" b="1" i="1">
                              <a:solidFill>
                                <a:srgbClr val="FF0000"/>
                              </a:solidFill>
                              <a:latin typeface="Cambria Math" panose="02040503050406030204" pitchFamily="18" charset="0"/>
                            </a:rPr>
                          </m:ctrlPr>
                        </m:sSupPr>
                        <m:e>
                          <m:r>
                            <a:rPr lang="en-US" sz="2800" b="1" i="0">
                              <a:solidFill>
                                <a:srgbClr val="FF0000"/>
                              </a:solidFill>
                              <a:latin typeface="Cambria Math" panose="02040503050406030204" pitchFamily="18" charset="0"/>
                            </a:rPr>
                            <m:t>𝐞</m:t>
                          </m:r>
                        </m:e>
                        <m:sup>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𝟒</m:t>
                          </m:r>
                        </m:sup>
                      </m:sSup>
                    </m:oMath>
                  </m:oMathPara>
                </a14:m>
                <a:endParaRPr lang="en-IN" sz="2800" b="1" dirty="0">
                  <a:solidFill>
                    <a:schemeClr val="tx2">
                      <a:lumMod val="50000"/>
                    </a:schemeClr>
                  </a:solidFill>
                  <a:latin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7820326" y="2771223"/>
                <a:ext cx="4006108" cy="3563411"/>
              </a:xfrm>
              <a:prstGeom prst="rect">
                <a:avLst/>
              </a:prstGeom>
              <a:blipFill rotWithShape="0">
                <a:blip r:embed="rId5"/>
                <a:stretch>
                  <a:fillRect l="-3196"/>
                </a:stretch>
              </a:blipFill>
            </p:spPr>
            <p:txBody>
              <a:bodyPr/>
              <a:lstStyle/>
              <a:p>
                <a:r>
                  <a:rPr lang="en-IN">
                    <a:noFill/>
                  </a:rPr>
                  <a:t> </a:t>
                </a:r>
              </a:p>
            </p:txBody>
          </p:sp>
        </mc:Fallback>
      </mc:AlternateContent>
      <p:cxnSp>
        <p:nvCxnSpPr>
          <p:cNvPr id="5" name="Straight Arrow Connector 4"/>
          <p:cNvCxnSpPr>
            <a:stCxn id="21" idx="2"/>
          </p:cNvCxnSpPr>
          <p:nvPr/>
        </p:nvCxnSpPr>
        <p:spPr>
          <a:xfrm>
            <a:off x="6726016" y="2726253"/>
            <a:ext cx="9635" cy="3829093"/>
          </a:xfrm>
          <a:prstGeom prst="straightConnector1">
            <a:avLst/>
          </a:prstGeom>
          <a:ln w="381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32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up)">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794132"/>
            <a:ext cx="11929643" cy="115459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number of page requests that arrive at a Web server is a Poisson random variable. Its probability distribution is as follows:</a:t>
            </a:r>
            <a:endParaRPr lang="en-IN" dirty="0"/>
          </a:p>
        </p:txBody>
      </p:sp>
      <p:sp>
        <p:nvSpPr>
          <p:cNvPr id="2" name="Title 1"/>
          <p:cNvSpPr>
            <a:spLocks noGrp="1"/>
          </p:cNvSpPr>
          <p:nvPr>
            <p:ph type="title"/>
          </p:nvPr>
        </p:nvSpPr>
        <p:spPr/>
        <p:txBody>
          <a:bodyPr/>
          <a:lstStyle/>
          <a:p>
            <a:r>
              <a:rPr lang="en-GB" dirty="0"/>
              <a:t>Method 2 ⇝ Example 2</a:t>
            </a:r>
            <a:endParaRPr lang="en-US" dirty="0"/>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766107427"/>
                  </p:ext>
                </p:extLst>
              </p:nvPr>
            </p:nvGraphicFramePr>
            <p:xfrm>
              <a:off x="131177" y="2083633"/>
              <a:ext cx="11929644" cy="1657872"/>
            </p:xfrm>
            <a:graphic>
              <a:graphicData uri="http://schemas.openxmlformats.org/drawingml/2006/table">
                <a:tbl>
                  <a:tblPr firstRow="1" firstCol="1" bandRow="1"/>
                  <a:tblGrid>
                    <a:gridCol w="2727136">
                      <a:extLst>
                        <a:ext uri="{9D8B030D-6E8A-4147-A177-3AD203B41FA5}">
                          <a16:colId xmlns:a16="http://schemas.microsoft.com/office/drawing/2014/main" val="20000"/>
                        </a:ext>
                      </a:extLst>
                    </a:gridCol>
                    <a:gridCol w="1314644">
                      <a:extLst>
                        <a:ext uri="{9D8B030D-6E8A-4147-A177-3AD203B41FA5}">
                          <a16:colId xmlns:a16="http://schemas.microsoft.com/office/drawing/2014/main" val="20001"/>
                        </a:ext>
                      </a:extLst>
                    </a:gridCol>
                    <a:gridCol w="1314644">
                      <a:extLst>
                        <a:ext uri="{9D8B030D-6E8A-4147-A177-3AD203B41FA5}">
                          <a16:colId xmlns:a16="http://schemas.microsoft.com/office/drawing/2014/main" val="20002"/>
                        </a:ext>
                      </a:extLst>
                    </a:gridCol>
                    <a:gridCol w="1314644">
                      <a:extLst>
                        <a:ext uri="{9D8B030D-6E8A-4147-A177-3AD203B41FA5}">
                          <a16:colId xmlns:a16="http://schemas.microsoft.com/office/drawing/2014/main" val="20003"/>
                        </a:ext>
                      </a:extLst>
                    </a:gridCol>
                    <a:gridCol w="1314644">
                      <a:extLst>
                        <a:ext uri="{9D8B030D-6E8A-4147-A177-3AD203B41FA5}">
                          <a16:colId xmlns:a16="http://schemas.microsoft.com/office/drawing/2014/main" val="20004"/>
                        </a:ext>
                      </a:extLst>
                    </a:gridCol>
                    <a:gridCol w="1314644">
                      <a:extLst>
                        <a:ext uri="{9D8B030D-6E8A-4147-A177-3AD203B41FA5}">
                          <a16:colId xmlns:a16="http://schemas.microsoft.com/office/drawing/2014/main" val="20005"/>
                        </a:ext>
                      </a:extLst>
                    </a:gridCol>
                    <a:gridCol w="1314644">
                      <a:extLst>
                        <a:ext uri="{9D8B030D-6E8A-4147-A177-3AD203B41FA5}">
                          <a16:colId xmlns:a16="http://schemas.microsoft.com/office/drawing/2014/main" val="20006"/>
                        </a:ext>
                      </a:extLst>
                    </a:gridCol>
                    <a:gridCol w="1314644">
                      <a:extLst>
                        <a:ext uri="{9D8B030D-6E8A-4147-A177-3AD203B41FA5}">
                          <a16:colId xmlns:a16="http://schemas.microsoft.com/office/drawing/2014/main" val="20007"/>
                        </a:ext>
                      </a:extLst>
                    </a:gridCol>
                  </a:tblGrid>
                  <a:tr h="804432">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Number of x requests/sec.</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1</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2</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3</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4</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5</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6</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04432">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Probability </a:t>
                          </a:r>
                          <a14:m>
                            <m:oMath xmlns:m="http://schemas.openxmlformats.org/officeDocument/2006/math">
                              <m:d>
                                <m:dPr>
                                  <m:ctrlPr>
                                    <a:rPr lang="en-IN" sz="2800" i="1">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m:ctrlPr>
                                </m:dPr>
                                <m:e>
                                  <m:r>
                                    <m:rPr>
                                      <m:sty m:val="p"/>
                                    </m:rP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m:t>x</m:t>
                                  </m:r>
                                </m:e>
                              </m:d>
                            </m:oMath>
                          </a14:m>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0.368</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0.368</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0.184</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0.061</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0.015</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0.003</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0.001</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766107427"/>
                  </p:ext>
                </p:extLst>
              </p:nvPr>
            </p:nvGraphicFramePr>
            <p:xfrm>
              <a:off x="131177" y="2083633"/>
              <a:ext cx="11929644" cy="1657872"/>
            </p:xfrm>
            <a:graphic>
              <a:graphicData uri="http://schemas.openxmlformats.org/drawingml/2006/table">
                <a:tbl>
                  <a:tblPr firstRow="1" firstCol="1" bandRow="1"/>
                  <a:tblGrid>
                    <a:gridCol w="2727136"/>
                    <a:gridCol w="1314644"/>
                    <a:gridCol w="1314644"/>
                    <a:gridCol w="1314644"/>
                    <a:gridCol w="1314644"/>
                    <a:gridCol w="1314644"/>
                    <a:gridCol w="1314644"/>
                    <a:gridCol w="1314644"/>
                  </a:tblGrid>
                  <a:tr h="853440">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Number of x requests/sec.</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1</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2</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3</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4</a:t>
                          </a:r>
                          <a:endParaRPr lang="en-IN" sz="280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5</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6</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04432">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223" t="-119697" r="-337500" b="-3030"/>
                          </a:stretch>
                        </a:blipFill>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0.368</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0.368</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0.184</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0.061</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0.015</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0.003</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rPr>
                            <a:t>0.001</a:t>
                          </a:r>
                          <a:endParaRPr lang="en-IN" sz="2800" dirty="0">
                            <a:solidFill>
                              <a:srgbClr val="002060"/>
                            </a:solidFill>
                            <a:effectLst/>
                            <a:uFill>
                              <a:solidFill>
                                <a:srgbClr val="0070C0"/>
                              </a:solidFill>
                            </a:uFill>
                            <a:latin typeface="Cambria Math" panose="02040503050406030204" pitchFamily="18" charset="0"/>
                            <a:ea typeface="Times New Roman" panose="02020603050405020304" pitchFamily="18" charset="0"/>
                            <a:cs typeface="Shrut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
        <p:nvSpPr>
          <p:cNvPr id="11" name="Content Placeholder 2"/>
          <p:cNvSpPr txBox="1">
            <a:spLocks/>
          </p:cNvSpPr>
          <p:nvPr/>
        </p:nvSpPr>
        <p:spPr>
          <a:xfrm>
            <a:off x="131177" y="3899593"/>
            <a:ext cx="11929643" cy="104716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Find the mean and variance of this probability distribution.</a:t>
            </a:r>
            <a:endParaRPr lang="en-IN" dirty="0"/>
          </a:p>
        </p:txBody>
      </p:sp>
    </p:spTree>
    <p:extLst>
      <p:ext uri="{BB962C8B-B14F-4D97-AF65-F5344CB8AC3E}">
        <p14:creationId xmlns:p14="http://schemas.microsoft.com/office/powerpoint/2010/main" val="110762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 (Continue)</a:t>
            </a:r>
            <a:endParaRPr lang="en-US" dirty="0"/>
          </a:p>
        </p:txBody>
      </p:sp>
      <p:sp>
        <p:nvSpPr>
          <p:cNvPr id="4" name="Rectangle 3">
            <a:extLst>
              <a:ext uri="{FF2B5EF4-FFF2-40B4-BE49-F238E27FC236}">
                <a16:creationId xmlns:a16="http://schemas.microsoft.com/office/drawing/2014/main" id="{B2D3FB0B-D709-43AC-B65F-29361B504B61}"/>
              </a:ext>
            </a:extLst>
          </p:cNvPr>
          <p:cNvSpPr/>
          <p:nvPr/>
        </p:nvSpPr>
        <p:spPr>
          <a:xfrm>
            <a:off x="161158" y="116464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A0C88CCD-ABF6-487A-A003-269BE830EF70}"/>
                  </a:ext>
                </a:extLst>
              </p:cNvPr>
              <p:cNvSpPr txBox="1">
                <a:spLocks/>
              </p:cNvSpPr>
              <p:nvPr/>
            </p:nvSpPr>
            <p:spPr>
              <a:xfrm>
                <a:off x="1655578" y="769052"/>
                <a:ext cx="10200837" cy="131439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buNone/>
                  <a:tabLst>
                    <a:tab pos="447675" algn="l"/>
                  </a:tabLst>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Mean</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λ</m:t>
                      </m:r>
                      <m:r>
                        <a:rPr lang="en-US" b="0" i="0">
                          <a:solidFill>
                            <a:schemeClr val="tx2">
                              <a:lumMod val="50000"/>
                            </a:schemeClr>
                          </a:solidFill>
                          <a:latin typeface="Cambria Math" panose="02040503050406030204" pitchFamily="18" charset="0"/>
                        </a:rPr>
                        <m:t>=</m:t>
                      </m:r>
                      <m:nary>
                        <m:naryPr>
                          <m:chr m:val="∑"/>
                          <m:limLoc m:val="undOvr"/>
                          <m:ctrlPr>
                            <a:rPr lang="en-IN" i="1">
                              <a:solidFill>
                                <a:schemeClr val="tx2">
                                  <a:lumMod val="50000"/>
                                </a:schemeClr>
                              </a:solidFill>
                              <a:latin typeface="Cambria Math" panose="02040503050406030204" pitchFamily="18" charset="0"/>
                            </a:rPr>
                          </m:ctrlPr>
                        </m:naryPr>
                        <m:sub>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sub>
                        <m:sup>
                          <m:r>
                            <a:rPr lang="en-US" b="0" i="0">
                              <a:solidFill>
                                <a:schemeClr val="tx2">
                                  <a:lumMod val="50000"/>
                                </a:schemeClr>
                              </a:solidFill>
                              <a:latin typeface="Cambria Math" panose="02040503050406030204" pitchFamily="18" charset="0"/>
                            </a:rPr>
                            <m:t>6</m:t>
                          </m:r>
                        </m:sup>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m:t>
                          </m:r>
                        </m:e>
                      </m:nary>
                    </m:oMath>
                  </m:oMathPara>
                </a14:m>
                <a:endParaRPr lang="en-IN" dirty="0">
                  <a:solidFill>
                    <a:schemeClr val="tx2">
                      <a:lumMod val="50000"/>
                    </a:schemeClr>
                  </a:solidFill>
                  <a:latin typeface="Cambria Math" panose="02040503050406030204" pitchFamily="18" charset="0"/>
                </a:endParaRPr>
              </a:p>
            </p:txBody>
          </p:sp>
        </mc:Choice>
        <mc:Fallback xmlns="">
          <p:sp>
            <p:nvSpPr>
              <p:cNvPr id="5"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55578" y="769052"/>
                <a:ext cx="10200837" cy="1314399"/>
              </a:xfrm>
              <a:prstGeom prst="rect">
                <a:avLst/>
              </a:prstGeom>
              <a:blipFill rotWithShape="0">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0C88CCD-ABF6-487A-A003-269BE830EF70}"/>
                  </a:ext>
                </a:extLst>
              </p:cNvPr>
              <p:cNvSpPr txBox="1">
                <a:spLocks/>
              </p:cNvSpPr>
              <p:nvPr/>
            </p:nvSpPr>
            <p:spPr>
              <a:xfrm>
                <a:off x="172360" y="2093431"/>
                <a:ext cx="11895144" cy="4226798"/>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0">
                          <a:solidFill>
                            <a:schemeClr val="tx2">
                              <a:lumMod val="50000"/>
                            </a:schemeClr>
                          </a:solidFill>
                          <a:latin typeface="Cambria Math" panose="02040503050406030204" pitchFamily="18" charset="0"/>
                        </a:rPr>
                        <m:t>Mean</m:t>
                      </m:r>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λ</m:t>
                      </m:r>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m:t>
                              </m:r>
                            </m:e>
                          </m:d>
                        </m:e>
                      </m:d>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1×</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1</m:t>
                              </m:r>
                            </m:e>
                          </m:d>
                        </m:e>
                      </m:d>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2×</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2</m:t>
                              </m:r>
                            </m:e>
                          </m:d>
                        </m:e>
                      </m:d>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6×</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6</m:t>
                              </m:r>
                            </m:e>
                          </m:d>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Mean</m:t>
                      </m:r>
                      <m:r>
                        <a:rPr lang="en-IN"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λ</m:t>
                      </m:r>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0×0.368</m:t>
                          </m:r>
                        </m:e>
                      </m:d>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1×0.368</m:t>
                          </m:r>
                        </m:e>
                      </m:d>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2×0.184</m:t>
                          </m:r>
                        </m:e>
                      </m:d>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3×0.061</m:t>
                          </m:r>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r>
                  <a:rPr lang="en-US" i="1" dirty="0">
                    <a:solidFill>
                      <a:schemeClr val="tx2">
                        <a:lumMod val="50000"/>
                      </a:schemeClr>
                    </a:solidFill>
                    <a:latin typeface="Cambria Math" panose="02040503050406030204" pitchFamily="18" charset="0"/>
                  </a:rPr>
                  <a:t>	         </a:t>
                </a:r>
                <a14:m>
                  <m:oMath xmlns:m="http://schemas.openxmlformats.org/officeDocument/2006/math">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4×0.015</m:t>
                        </m:r>
                      </m:e>
                    </m:d>
                  </m:oMath>
                </a14:m>
                <a:r>
                  <a:rPr lang="en-US" i="1" dirty="0">
                    <a:solidFill>
                      <a:schemeClr val="tx2">
                        <a:lumMod val="50000"/>
                      </a:schemeClr>
                    </a:solidFill>
                    <a:latin typeface="Cambria Math" panose="02040503050406030204" pitchFamily="18" charset="0"/>
                  </a:rPr>
                  <a:t> </a:t>
                </a:r>
                <a14:m>
                  <m:oMath xmlns:m="http://schemas.openxmlformats.org/officeDocument/2006/math">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5×0.003</m:t>
                        </m:r>
                      </m:e>
                    </m:d>
                    <m:r>
                      <a:rPr lang="en-US" i="1">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6×0.001</m:t>
                        </m:r>
                      </m:e>
                    </m:d>
                  </m:oMath>
                </a14:m>
                <a:endParaRPr lang="en-IN" i="1" dirty="0">
                  <a:solidFill>
                    <a:schemeClr val="tx2">
                      <a:lumMod val="50000"/>
                    </a:schemeClr>
                  </a:solidFill>
                  <a:latin typeface="Cambria Math" panose="02040503050406030204" pitchFamily="18" charset="0"/>
                </a:endParaRPr>
              </a:p>
              <a:p>
                <a:pPr marL="0" indent="0" algn="l">
                  <a:lnSpc>
                    <a:spcPct val="150000"/>
                  </a:lnSpc>
                  <a:buNone/>
                </a:pPr>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Mean</m:t>
                      </m:r>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λ</m:t>
                      </m:r>
                      <m:r>
                        <a:rPr lang="en-US" i="1">
                          <a:solidFill>
                            <a:schemeClr val="tx2">
                              <a:lumMod val="50000"/>
                            </a:schemeClr>
                          </a:solidFill>
                          <a:latin typeface="Cambria Math" panose="02040503050406030204" pitchFamily="18" charset="0"/>
                        </a:rPr>
                        <m:t>=0+0.368+0.368+0.183+0.060+0.015+0.006</m:t>
                      </m:r>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𝐌𝐞𝐚𝐧</m:t>
                      </m:r>
                      <m:r>
                        <a:rPr lang="en-US" b="1" i="0" smtClean="0">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𝛌</m:t>
                      </m:r>
                      <m:r>
                        <a:rPr lang="en-US" b="1" i="0" smtClean="0">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𝟏</m:t>
                      </m:r>
                    </m:oMath>
                  </m:oMathPara>
                </a14:m>
                <a:endParaRPr lang="en-IN" b="1" dirty="0">
                  <a:solidFill>
                    <a:schemeClr val="tx2">
                      <a:lumMod val="50000"/>
                    </a:schemeClr>
                  </a:solidFill>
                  <a:latin typeface="Cambria Math" panose="02040503050406030204" pitchFamily="18" charset="0"/>
                </a:endParaRPr>
              </a:p>
            </p:txBody>
          </p:sp>
        </mc:Choice>
        <mc:Fallback xmlns="">
          <p:sp>
            <p:nvSpPr>
              <p:cNvPr id="6"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2360" y="2093431"/>
                <a:ext cx="11895144" cy="4226798"/>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6742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6"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2 (Continue)</a:t>
            </a:r>
            <a:endParaRPr lang="en-US"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0C88CCD-ABF6-487A-A003-269BE830EF70}"/>
                  </a:ext>
                </a:extLst>
              </p:cNvPr>
              <p:cNvSpPr txBox="1">
                <a:spLocks/>
              </p:cNvSpPr>
              <p:nvPr/>
            </p:nvSpPr>
            <p:spPr>
              <a:xfrm>
                <a:off x="148428" y="1011605"/>
                <a:ext cx="11895144" cy="1384995"/>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0" smtClean="0">
                          <a:solidFill>
                            <a:schemeClr val="tx2">
                              <a:lumMod val="50000"/>
                            </a:schemeClr>
                          </a:solidFill>
                          <a:latin typeface="Cambria Math" panose="02040503050406030204" pitchFamily="18" charset="0"/>
                        </a:rPr>
                        <m:t>Variance</m:t>
                      </m:r>
                      <m:r>
                        <a:rPr lang="en-US" b="0" i="0" smtClean="0">
                          <a:solidFill>
                            <a:schemeClr val="tx2">
                              <a:lumMod val="50000"/>
                            </a:schemeClr>
                          </a:solidFill>
                          <a:latin typeface="Cambria Math" panose="02040503050406030204" pitchFamily="18" charset="0"/>
                        </a:rPr>
                        <m:t>=</m:t>
                      </m:r>
                      <m:r>
                        <m:rPr>
                          <m:sty m:val="p"/>
                        </m:rPr>
                        <a:rPr lang="en-US" b="0" i="0" smtClean="0">
                          <a:solidFill>
                            <a:schemeClr val="tx2">
                              <a:lumMod val="50000"/>
                            </a:schemeClr>
                          </a:solidFill>
                          <a:latin typeface="Cambria Math" panose="02040503050406030204" pitchFamily="18" charset="0"/>
                        </a:rPr>
                        <m:t>V</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e>
                      </m:d>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λ</m:t>
                      </m:r>
                    </m:oMath>
                  </m:oMathPara>
                </a14:m>
                <a:endParaRPr lang="en-IN" b="0" i="0"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𝐕𝐚𝐫𝐢𝐚𝐧𝐜𝐞</m:t>
                      </m:r>
                      <m:r>
                        <a:rPr lang="en-US" b="1" i="0" smtClean="0">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𝐕</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𝟏</m:t>
                      </m:r>
                    </m:oMath>
                  </m:oMathPara>
                </a14:m>
                <a:endParaRPr lang="en-IN" b="1" dirty="0">
                  <a:solidFill>
                    <a:srgbClr val="FF0000"/>
                  </a:solidFill>
                  <a:latin typeface="Cambria Math" panose="02040503050406030204" pitchFamily="18" charset="0"/>
                </a:endParaRPr>
              </a:p>
            </p:txBody>
          </p:sp>
        </mc:Choice>
        <mc:Fallback xmlns="">
          <p:sp>
            <p:nvSpPr>
              <p:cNvPr id="6"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48428" y="1011605"/>
                <a:ext cx="11895144" cy="1384995"/>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720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794132"/>
            <a:ext cx="11929643" cy="1904098"/>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sampling a large number of parts manufactured by a machine, the mean number of defectives in a sample of 20 is 2. Out of 1000 such samples, how many would be expected to contain exactly two defective parts?</a:t>
            </a:r>
            <a:endParaRPr lang="en-IN" dirty="0"/>
          </a:p>
        </p:txBody>
      </p:sp>
      <p:sp>
        <p:nvSpPr>
          <p:cNvPr id="2" name="Title 1"/>
          <p:cNvSpPr>
            <a:spLocks noGrp="1"/>
          </p:cNvSpPr>
          <p:nvPr>
            <p:ph type="title"/>
          </p:nvPr>
        </p:nvSpPr>
        <p:spPr/>
        <p:txBody>
          <a:bodyPr/>
          <a:lstStyle/>
          <a:p>
            <a:r>
              <a:rPr lang="en-GB" dirty="0"/>
              <a:t>Method 2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6" y="293691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6" y="2796913"/>
                <a:ext cx="10200837" cy="665182"/>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a:t>
                </a:r>
                <a14:m>
                  <m:oMath xmlns:m="http://schemas.openxmlformats.org/officeDocument/2006/math">
                    <m:r>
                      <m:rPr>
                        <m:sty m:val="p"/>
                      </m:rPr>
                      <a:rPr lang="en-US" b="0" i="0">
                        <a:latin typeface="Cambria Math" panose="02040503050406030204" pitchFamily="18" charset="0"/>
                        <a:ea typeface="Cambria Math" panose="02040503050406030204" pitchFamily="18" charset="0"/>
                      </a:rPr>
                      <m:t>λ</m:t>
                    </m:r>
                    <m:r>
                      <a:rPr lang="en-US" b="0" i="0">
                        <a:latin typeface="Cambria Math" panose="02040503050406030204" pitchFamily="18" charset="0"/>
                        <a:ea typeface="Cambria Math" panose="02040503050406030204" pitchFamily="18" charset="0"/>
                      </a:rPr>
                      <m:t>=2</m:t>
                    </m:r>
                  </m:oMath>
                </a14:m>
                <a:endParaRPr lang="en-IN"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25596" y="2796913"/>
                <a:ext cx="10200837" cy="665182"/>
              </a:xfrm>
              <a:prstGeom prst="rect">
                <a:avLst/>
              </a:prstGeom>
              <a:blipFill rotWithShape="0">
                <a:blip r:embed="rId2"/>
                <a:stretch>
                  <a:fillRect l="-1255" b="-256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31176" y="3560778"/>
                <a:ext cx="11929643" cy="2063835"/>
              </a:xfrm>
              <a:prstGeom prst="rect">
                <a:avLst/>
              </a:prstGeom>
            </p:spPr>
            <p:txBody>
              <a:bodyPr wrap="square">
                <a:spAutoFit/>
              </a:bodyPr>
              <a:lstStyle/>
              <a:p>
                <a:pPr>
                  <a:lnSpc>
                    <a:spcPct val="150000"/>
                  </a:lnSpc>
                </a:pPr>
                <a14:m>
                  <m:oMath xmlns:m="http://schemas.openxmlformats.org/officeDocument/2006/math">
                    <m:r>
                      <m:rPr>
                        <m:nor/>
                      </m:rPr>
                      <a:rPr lang="en-US" sz="2800">
                        <a:solidFill>
                          <a:schemeClr val="tx2">
                            <a:lumMod val="50000"/>
                          </a:schemeClr>
                        </a:solidFill>
                      </a:rPr>
                      <m:t>To</m:t>
                    </m:r>
                    <m:r>
                      <m:rPr>
                        <m:nor/>
                      </m:rPr>
                      <a:rPr lang="en-US" sz="2800">
                        <a:solidFill>
                          <a:schemeClr val="tx2">
                            <a:lumMod val="50000"/>
                          </a:schemeClr>
                        </a:solidFill>
                      </a:rPr>
                      <m:t> </m:t>
                    </m:r>
                    <m:r>
                      <m:rPr>
                        <m:nor/>
                      </m:rPr>
                      <a:rPr lang="en-US" sz="2800">
                        <a:solidFill>
                          <a:schemeClr val="tx2">
                            <a:lumMod val="50000"/>
                          </a:schemeClr>
                        </a:solidFill>
                      </a:rPr>
                      <m:t>find</m:t>
                    </m:r>
                    <m:r>
                      <m:rPr>
                        <m:nor/>
                      </m:rPr>
                      <a:rPr lang="en-US" sz="2800">
                        <a:solidFill>
                          <a:schemeClr val="tx2">
                            <a:lumMod val="50000"/>
                          </a:schemeClr>
                        </a:solidFill>
                      </a:rPr>
                      <m:t> </m:t>
                    </m:r>
                    <m:r>
                      <m:rPr>
                        <m:nor/>
                      </m:rPr>
                      <a:rPr lang="en-US" sz="2800">
                        <a:solidFill>
                          <a:schemeClr val="tx2">
                            <a:lumMod val="50000"/>
                          </a:schemeClr>
                        </a:solidFill>
                      </a:rPr>
                      <m:t>the</m:t>
                    </m:r>
                    <m:r>
                      <m:rPr>
                        <m:nor/>
                      </m:rPr>
                      <a:rPr lang="en-US" sz="2800">
                        <a:solidFill>
                          <a:schemeClr val="tx2">
                            <a:lumMod val="50000"/>
                          </a:schemeClr>
                        </a:solidFill>
                      </a:rPr>
                      <m:t> </m:t>
                    </m:r>
                    <m:r>
                      <m:rPr>
                        <m:nor/>
                      </m:rPr>
                      <a:rPr lang="en-US" sz="2800">
                        <a:solidFill>
                          <a:schemeClr val="tx2">
                            <a:lumMod val="50000"/>
                          </a:schemeClr>
                        </a:solidFill>
                      </a:rPr>
                      <m:t>probability</m:t>
                    </m:r>
                    <m:r>
                      <m:rPr>
                        <m:nor/>
                      </m:rPr>
                      <a:rPr lang="en-US" sz="2800">
                        <a:solidFill>
                          <a:schemeClr val="tx2">
                            <a:lumMod val="50000"/>
                          </a:schemeClr>
                        </a:solidFill>
                      </a:rPr>
                      <m:t> </m:t>
                    </m:r>
                    <m:r>
                      <m:rPr>
                        <m:nor/>
                      </m:rPr>
                      <a:rPr lang="en-US" sz="2800">
                        <a:solidFill>
                          <a:schemeClr val="tx2">
                            <a:lumMod val="50000"/>
                          </a:schemeClr>
                        </a:solidFill>
                      </a:rPr>
                      <m:t>of</m:t>
                    </m:r>
                    <m:r>
                      <m:rPr>
                        <m:nor/>
                      </m:rPr>
                      <a:rPr lang="en-US" sz="2800">
                        <a:solidFill>
                          <a:schemeClr val="tx2">
                            <a:lumMod val="50000"/>
                          </a:schemeClr>
                        </a:solidFill>
                      </a:rPr>
                      <m:t> </m:t>
                    </m:r>
                    <m:r>
                      <m:rPr>
                        <m:nor/>
                      </m:rPr>
                      <a:rPr lang="en-US" sz="2800">
                        <a:solidFill>
                          <a:schemeClr val="tx2">
                            <a:lumMod val="50000"/>
                          </a:schemeClr>
                        </a:solidFill>
                      </a:rPr>
                      <m:t>exactly</m:t>
                    </m:r>
                    <m:r>
                      <m:rPr>
                        <m:nor/>
                      </m:rPr>
                      <a:rPr lang="en-US" sz="2800">
                        <a:solidFill>
                          <a:schemeClr val="tx2">
                            <a:lumMod val="50000"/>
                          </a:schemeClr>
                        </a:solidFill>
                      </a:rPr>
                      <m:t> </m:t>
                    </m:r>
                    <m:r>
                      <m:rPr>
                        <m:nor/>
                      </m:rPr>
                      <a:rPr lang="en-US" sz="2800">
                        <a:solidFill>
                          <a:schemeClr val="tx2">
                            <a:lumMod val="50000"/>
                          </a:schemeClr>
                        </a:solidFill>
                      </a:rPr>
                      <m:t>two</m:t>
                    </m:r>
                    <m:r>
                      <m:rPr>
                        <m:nor/>
                      </m:rPr>
                      <a:rPr lang="en-US" sz="2800">
                        <a:solidFill>
                          <a:schemeClr val="tx2">
                            <a:lumMod val="50000"/>
                          </a:schemeClr>
                        </a:solidFill>
                      </a:rPr>
                      <m:t> </m:t>
                    </m:r>
                    <m:r>
                      <m:rPr>
                        <m:nor/>
                      </m:rPr>
                      <a:rPr lang="en-US" sz="2800">
                        <a:solidFill>
                          <a:schemeClr val="tx2">
                            <a:lumMod val="50000"/>
                          </a:schemeClr>
                        </a:solidFill>
                      </a:rPr>
                      <m:t>defective</m:t>
                    </m:r>
                    <m:r>
                      <m:rPr>
                        <m:nor/>
                      </m:rPr>
                      <a:rPr lang="en-US" sz="2800">
                        <a:solidFill>
                          <a:schemeClr val="tx2">
                            <a:lumMod val="50000"/>
                          </a:schemeClr>
                        </a:solidFill>
                      </a:rPr>
                      <m:t> </m:t>
                    </m:r>
                    <m:r>
                      <m:rPr>
                        <m:nor/>
                      </m:rPr>
                      <a:rPr lang="en-US" sz="2800">
                        <a:solidFill>
                          <a:schemeClr val="tx2">
                            <a:lumMod val="50000"/>
                          </a:schemeClr>
                        </a:solidFill>
                      </a:rPr>
                      <m:t>parts</m:t>
                    </m:r>
                    <m:r>
                      <m:rPr>
                        <m:nor/>
                      </m:rPr>
                      <a:rPr lang="en-US" sz="2800">
                        <a:solidFill>
                          <a:schemeClr val="tx2">
                            <a:lumMod val="50000"/>
                          </a:schemeClr>
                        </a:solidFill>
                        <a:latin typeface="Cambria Math" panose="02040503050406030204" pitchFamily="18" charset="0"/>
                      </a:rPr>
                      <m:t>, </m:t>
                    </m:r>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=2</m:t>
                    </m:r>
                  </m:oMath>
                </a14:m>
                <a:r>
                  <a:rPr lang="en-IN" sz="2800" dirty="0">
                    <a:solidFill>
                      <a:schemeClr val="tx2">
                        <a:lumMod val="50000"/>
                      </a:schemeClr>
                    </a:solidFill>
                    <a:latin typeface="Cambria Math" panose="02040503050406030204" pitchFamily="18" charset="0"/>
                  </a:rPr>
                  <a:t> </a:t>
                </a:r>
                <a:r>
                  <a:rPr lang="en-IN" sz="2800" dirty="0">
                    <a:solidFill>
                      <a:schemeClr val="tx2">
                        <a:lumMod val="50000"/>
                      </a:schemeClr>
                    </a:solidFill>
                  </a:rPr>
                  <a:t>in a sample of </a:t>
                </a:r>
                <a:r>
                  <a:rPr lang="en-IN" sz="2800" dirty="0">
                    <a:solidFill>
                      <a:schemeClr val="tx2">
                        <a:lumMod val="50000"/>
                      </a:schemeClr>
                    </a:solidFill>
                    <a:latin typeface="Cambria Math" panose="02040503050406030204" pitchFamily="18" charset="0"/>
                  </a:rPr>
                  <a:t>20</a:t>
                </a: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x</m:t>
                          </m:r>
                        </m:e>
                      </m:d>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e</m:t>
                              </m:r>
                            </m:e>
                            <m:sup>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λ</m:t>
                              </m:r>
                            </m:sup>
                          </m:sSup>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λ</m:t>
                              </m:r>
                            </m:e>
                            <m:sup>
                              <m:r>
                                <m:rPr>
                                  <m:sty m:val="p"/>
                                </m:rPr>
                                <a:rPr lang="en-US" sz="2800">
                                  <a:solidFill>
                                    <a:schemeClr val="tx2">
                                      <a:lumMod val="50000"/>
                                    </a:schemeClr>
                                  </a:solidFill>
                                  <a:latin typeface="Cambria Math" panose="02040503050406030204" pitchFamily="18" charset="0"/>
                                </a:rPr>
                                <m:t>x</m:t>
                              </m:r>
                            </m:sup>
                          </m:sSup>
                          <m:r>
                            <a:rPr lang="en-US" sz="2800">
                              <a:solidFill>
                                <a:schemeClr val="tx2">
                                  <a:lumMod val="50000"/>
                                </a:schemeClr>
                              </a:solidFill>
                              <a:latin typeface="Cambria Math" panose="02040503050406030204" pitchFamily="18" charset="0"/>
                            </a:rPr>
                            <m:t> </m:t>
                          </m:r>
                        </m:num>
                        <m:den>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 !</m:t>
                          </m:r>
                        </m:den>
                      </m:f>
                      <m:r>
                        <a:rPr lang="en-US" sz="2800">
                          <a:solidFill>
                            <a:schemeClr val="tx2">
                              <a:lumMod val="50000"/>
                            </a:schemeClr>
                          </a:solidFill>
                          <a:latin typeface="Cambria Math" panose="02040503050406030204" pitchFamily="18" charset="0"/>
                        </a:rPr>
                        <m:t>; </m:t>
                      </m:r>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=0,1,2,3,…</m:t>
                      </m:r>
                    </m:oMath>
                  </m:oMathPara>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6" y="3560778"/>
                <a:ext cx="11929643" cy="2063835"/>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42525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551978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e</m:t>
                              </m:r>
                            </m:e>
                            <m:sup>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m:t>
                              </m:r>
                            </m:e>
                            <m:sup>
                              <m:r>
                                <a:rPr lang="en-US" b="0" i="1">
                                  <a:solidFill>
                                    <a:schemeClr val="tx2">
                                      <a:lumMod val="50000"/>
                                    </a:schemeClr>
                                  </a:solidFill>
                                  <a:latin typeface="Cambria Math" panose="02040503050406030204" pitchFamily="18" charset="0"/>
                                </a:rPr>
                                <m:t>2</m:t>
                              </m:r>
                            </m:sup>
                          </m:sSup>
                          <m:r>
                            <a:rPr lang="en-US" b="0">
                              <a:solidFill>
                                <a:schemeClr val="tx2">
                                  <a:lumMod val="50000"/>
                                </a:schemeClr>
                              </a:solidFill>
                              <a:latin typeface="Cambria Math" panose="02040503050406030204" pitchFamily="18" charset="0"/>
                            </a:rPr>
                            <m:t> </m:t>
                          </m:r>
                        </m:num>
                        <m:den>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 !</m:t>
                          </m:r>
                        </m:den>
                      </m:f>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2707</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r>
                  <a:rPr lang="en-US" dirty="0">
                    <a:solidFill>
                      <a:schemeClr val="tx2">
                        <a:lumMod val="50000"/>
                      </a:schemeClr>
                    </a:solidFill>
                    <a:latin typeface="+mj-lt"/>
                  </a:rPr>
                  <a:t>Number of sample contain exactly two </a:t>
                </a:r>
                <a14:m>
                  <m:oMath xmlns:m="http://schemas.openxmlformats.org/officeDocument/2006/math">
                    <m:r>
                      <a:rPr lang="en-US" b="0">
                        <a:solidFill>
                          <a:schemeClr val="tx2">
                            <a:lumMod val="50000"/>
                          </a:schemeClr>
                        </a:solidFill>
                        <a:latin typeface="Cambria Math" panose="02040503050406030204" pitchFamily="18" charset="0"/>
                        <a:ea typeface="Cambria Math" panose="02040503050406030204" pitchFamily="18" charset="0"/>
                      </a:rPr>
                      <m:t>(</m:t>
                    </m:r>
                    <m:r>
                      <m:rPr>
                        <m:sty m:val="p"/>
                      </m:rPr>
                      <a:rPr lang="en-US" b="0" i="1">
                        <a:solidFill>
                          <a:schemeClr val="tx2">
                            <a:lumMod val="50000"/>
                          </a:schemeClr>
                        </a:solidFill>
                        <a:latin typeface="Cambria Math" panose="02040503050406030204" pitchFamily="18" charset="0"/>
                        <a:ea typeface="Cambria Math" panose="02040503050406030204" pitchFamily="18" charset="0"/>
                      </a:rPr>
                      <m:t>x</m:t>
                    </m:r>
                    <m:r>
                      <a:rPr lang="en-US" b="0">
                        <a:solidFill>
                          <a:schemeClr val="tx2">
                            <a:lumMod val="50000"/>
                          </a:schemeClr>
                        </a:solidFill>
                        <a:latin typeface="Cambria Math" panose="02040503050406030204" pitchFamily="18" charset="0"/>
                        <a:ea typeface="Cambria Math" panose="02040503050406030204" pitchFamily="18" charset="0"/>
                      </a:rPr>
                      <m:t>=</m:t>
                    </m:r>
                    <m:r>
                      <a:rPr lang="en-US" b="0" i="1">
                        <a:solidFill>
                          <a:schemeClr val="tx2">
                            <a:lumMod val="50000"/>
                          </a:schemeClr>
                        </a:solidFill>
                        <a:latin typeface="Cambria Math" panose="02040503050406030204" pitchFamily="18" charset="0"/>
                        <a:ea typeface="Cambria Math" panose="02040503050406030204" pitchFamily="18" charset="0"/>
                      </a:rPr>
                      <m:t>2</m:t>
                    </m:r>
                    <m:r>
                      <a:rPr lang="en-US" b="0">
                        <a:solidFill>
                          <a:schemeClr val="tx2">
                            <a:lumMod val="50000"/>
                          </a:schemeClr>
                        </a:solidFill>
                        <a:latin typeface="Cambria Math" panose="02040503050406030204" pitchFamily="18" charset="0"/>
                        <a:ea typeface="Cambria Math" panose="02040503050406030204" pitchFamily="18" charset="0"/>
                      </a:rPr>
                      <m:t>)</m:t>
                    </m:r>
                  </m:oMath>
                </a14:m>
                <a:r>
                  <a:rPr lang="en-US" dirty="0">
                    <a:solidFill>
                      <a:schemeClr val="tx2">
                        <a:lumMod val="50000"/>
                      </a:schemeClr>
                    </a:solidFill>
                    <a:latin typeface="+mj-lt"/>
                  </a:rPr>
                  <a:t> defective parts</a:t>
                </a:r>
                <a:endParaRPr lang="en-IN" dirty="0">
                  <a:solidFill>
                    <a:schemeClr val="tx2">
                      <a:lumMod val="50000"/>
                    </a:schemeClr>
                  </a:solidFill>
                  <a:latin typeface="+mj-lt"/>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2707</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1000</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270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7</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0">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𝟐𝟕𝟏</m:t>
                      </m:r>
                    </m:oMath>
                  </m:oMathPara>
                </a14:m>
                <a:endParaRPr lang="en-IN" b="1" dirty="0">
                  <a:solidFill>
                    <a:srgbClr val="FF0000"/>
                  </a:solidFill>
                  <a:latin typeface="Cambria Math" panose="02040503050406030204" pitchFamily="18" charset="0"/>
                </a:endParaRPr>
              </a:p>
              <a:p>
                <a:pPr marL="0" indent="0" algn="l">
                  <a:lnSpc>
                    <a:spcPct val="150000"/>
                  </a:lnSpc>
                  <a:buNone/>
                </a:pPr>
                <a:r>
                  <a:rPr lang="en-US" dirty="0">
                    <a:solidFill>
                      <a:schemeClr val="tx2">
                        <a:lumMod val="50000"/>
                      </a:schemeClr>
                    </a:solidFill>
                  </a:rPr>
                  <a:t>In a sample of 20, out of 1000 such samples 271 samples have exactly 2 defective parts  </a:t>
                </a:r>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5519781"/>
              </a:xfrm>
              <a:prstGeom prst="rect">
                <a:avLst/>
              </a:prstGeom>
              <a:blipFill rotWithShape="0">
                <a:blip r:embed="rId2"/>
                <a:stretch>
                  <a:fillRect l="-1037" r="-1244" b="-884"/>
                </a:stretch>
              </a:blipFill>
            </p:spPr>
            <p:txBody>
              <a:bodyPr/>
              <a:lstStyle/>
              <a:p>
                <a:r>
                  <a:rPr lang="en-IN">
                    <a:noFill/>
                  </a:rPr>
                  <a:t> </a:t>
                </a:r>
              </a:p>
            </p:txBody>
          </p:sp>
        </mc:Fallback>
      </mc:AlternateContent>
    </p:spTree>
    <p:extLst>
      <p:ext uri="{BB962C8B-B14F-4D97-AF65-F5344CB8AC3E}">
        <p14:creationId xmlns:p14="http://schemas.microsoft.com/office/powerpoint/2010/main" val="254667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794131"/>
            <a:ext cx="11929643" cy="2979379"/>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Potholes on a highway can be serious problems. The past experience suggests that there are, on an average, 2 potholes per mile after a certain amount of usage. It is assumed that Poisson process applies to random variable “no. of potholes”. What is the probability that no more than four potholes will occur in a given section of 5 miles?</a:t>
            </a:r>
            <a:endParaRPr lang="en-IN" dirty="0"/>
          </a:p>
        </p:txBody>
      </p:sp>
      <p:sp>
        <p:nvSpPr>
          <p:cNvPr id="2" name="Title 1"/>
          <p:cNvSpPr>
            <a:spLocks noGrp="1"/>
          </p:cNvSpPr>
          <p:nvPr>
            <p:ph type="title"/>
          </p:nvPr>
        </p:nvSpPr>
        <p:spPr/>
        <p:txBody>
          <a:bodyPr/>
          <a:lstStyle/>
          <a:p>
            <a:r>
              <a:rPr lang="en-GB" dirty="0"/>
              <a:t>Method 2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93830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7" y="3798295"/>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a:t>
                </a:r>
                <a14:m>
                  <m:oMath xmlns:m="http://schemas.openxmlformats.org/officeDocument/2006/math">
                    <m:r>
                      <m:rPr>
                        <m:sty m:val="p"/>
                      </m:rPr>
                      <a:rPr lang="en-US" b="0" i="0">
                        <a:solidFill>
                          <a:schemeClr val="tx2">
                            <a:lumMod val="50000"/>
                          </a:schemeClr>
                        </a:solidFill>
                        <a:latin typeface="Cambria Math" panose="02040503050406030204" pitchFamily="18" charset="0"/>
                        <a:ea typeface="Cambria Math" panose="02040503050406030204" pitchFamily="18" charset="0"/>
                      </a:rPr>
                      <m:t>λ</m:t>
                    </m:r>
                    <m:r>
                      <a:rPr lang="en-US" b="0" i="0">
                        <a:solidFill>
                          <a:schemeClr val="tx2">
                            <a:lumMod val="50000"/>
                          </a:schemeClr>
                        </a:solidFill>
                        <a:latin typeface="Cambria Math" panose="02040503050406030204" pitchFamily="18" charset="0"/>
                        <a:ea typeface="Cambria Math" panose="02040503050406030204" pitchFamily="18" charset="0"/>
                      </a:rPr>
                      <m:t>=2</m:t>
                    </m:r>
                  </m:oMath>
                </a14:m>
                <a:r>
                  <a:rPr lang="en-IN" dirty="0">
                    <a:solidFill>
                      <a:schemeClr val="tx2">
                        <a:lumMod val="50000"/>
                      </a:schemeClr>
                    </a:solidFill>
                    <a:latin typeface="Cambria Math" panose="02040503050406030204" pitchFamily="18" charset="0"/>
                    <a:ea typeface="Cambria Math" panose="02040503050406030204" pitchFamily="18" charset="0"/>
                  </a:rPr>
                  <a:t> </a:t>
                </a:r>
                <a:r>
                  <a:rPr lang="en-IN" dirty="0">
                    <a:solidFill>
                      <a:schemeClr val="tx2">
                        <a:lumMod val="50000"/>
                      </a:schemeClr>
                    </a:solidFill>
                  </a:rPr>
                  <a:t>potholes per mile</a:t>
                </a: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25597" y="3798295"/>
                <a:ext cx="10200837" cy="738664"/>
              </a:xfrm>
              <a:prstGeom prst="rect">
                <a:avLst/>
              </a:prstGeom>
              <a:blipFill rotWithShape="0">
                <a:blip r:embed="rId2"/>
                <a:stretch>
                  <a:fillRect l="-1255"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31177" y="4523523"/>
                <a:ext cx="11929643" cy="1384995"/>
              </a:xfrm>
              <a:prstGeom prst="rect">
                <a:avLst/>
              </a:prstGeom>
            </p:spPr>
            <p:txBody>
              <a:bodyPr wrap="square">
                <a:spAutoFit/>
              </a:bodyPr>
              <a:lstStyle/>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nor/>
                        </m:rPr>
                        <a:rPr lang="en-US" sz="2800">
                          <a:solidFill>
                            <a:schemeClr val="tx2">
                              <a:lumMod val="50000"/>
                            </a:schemeClr>
                          </a:solidFill>
                        </a:rPr>
                        <m:t>Than</m:t>
                      </m:r>
                      <m:r>
                        <m:rPr>
                          <m:nor/>
                        </m:rPr>
                        <a:rPr lang="en-US" sz="2800">
                          <a:solidFill>
                            <a:schemeClr val="tx2">
                              <a:lumMod val="50000"/>
                            </a:schemeClr>
                          </a:solidFill>
                        </a:rPr>
                        <m:t> </m:t>
                      </m:r>
                      <m:r>
                        <m:rPr>
                          <m:nor/>
                        </m:rPr>
                        <a:rPr lang="en-US" sz="2800">
                          <a:solidFill>
                            <a:schemeClr val="tx2">
                              <a:lumMod val="50000"/>
                            </a:schemeClr>
                          </a:solidFill>
                        </a:rPr>
                        <m:t>number</m:t>
                      </m:r>
                      <m:r>
                        <m:rPr>
                          <m:nor/>
                        </m:rPr>
                        <a:rPr lang="en-US" sz="2800">
                          <a:solidFill>
                            <a:schemeClr val="tx2">
                              <a:lumMod val="50000"/>
                            </a:schemeClr>
                          </a:solidFill>
                        </a:rPr>
                        <m:t> </m:t>
                      </m:r>
                      <m:r>
                        <m:rPr>
                          <m:nor/>
                        </m:rPr>
                        <a:rPr lang="en-US" sz="2800">
                          <a:solidFill>
                            <a:schemeClr val="tx2">
                              <a:lumMod val="50000"/>
                            </a:schemeClr>
                          </a:solidFill>
                        </a:rPr>
                        <m:t>of</m:t>
                      </m:r>
                      <m:r>
                        <m:rPr>
                          <m:nor/>
                        </m:rPr>
                        <a:rPr lang="en-US" sz="2800">
                          <a:solidFill>
                            <a:schemeClr val="tx2">
                              <a:lumMod val="50000"/>
                            </a:schemeClr>
                          </a:solidFill>
                        </a:rPr>
                        <m:t> </m:t>
                      </m:r>
                      <m:r>
                        <m:rPr>
                          <m:nor/>
                        </m:rPr>
                        <a:rPr lang="en-US" sz="2800">
                          <a:solidFill>
                            <a:schemeClr val="tx2">
                              <a:lumMod val="50000"/>
                            </a:schemeClr>
                          </a:solidFill>
                        </a:rPr>
                        <m:t>potholes</m:t>
                      </m:r>
                      <m:r>
                        <m:rPr>
                          <m:nor/>
                        </m:rPr>
                        <a:rPr lang="en-US" sz="2800">
                          <a:solidFill>
                            <a:schemeClr val="tx2">
                              <a:lumMod val="50000"/>
                            </a:schemeClr>
                          </a:solidFill>
                        </a:rPr>
                        <m:t> </m:t>
                      </m:r>
                      <m:r>
                        <m:rPr>
                          <m:nor/>
                        </m:rPr>
                        <a:rPr lang="en-US" sz="2800">
                          <a:solidFill>
                            <a:schemeClr val="tx2">
                              <a:lumMod val="50000"/>
                            </a:schemeClr>
                          </a:solidFill>
                        </a:rPr>
                        <m:t>per</m:t>
                      </m:r>
                      <m:r>
                        <m:rPr>
                          <m:nor/>
                        </m:rPr>
                        <a:rPr lang="en-US" sz="2800">
                          <a:solidFill>
                            <a:schemeClr val="tx2">
                              <a:lumMod val="50000"/>
                            </a:schemeClr>
                          </a:solidFill>
                        </a:rPr>
                        <m:t> 5 </m:t>
                      </m:r>
                      <m:r>
                        <m:rPr>
                          <m:nor/>
                        </m:rPr>
                        <a:rPr lang="en-US" sz="2800">
                          <a:solidFill>
                            <a:schemeClr val="tx2">
                              <a:lumMod val="50000"/>
                            </a:schemeClr>
                          </a:solidFill>
                        </a:rPr>
                        <m:t>mile</m:t>
                      </m:r>
                      <m:r>
                        <a:rPr lang="en-US" sz="2800">
                          <a:solidFill>
                            <a:schemeClr val="tx2">
                              <a:lumMod val="50000"/>
                            </a:schemeClr>
                          </a:solidFill>
                          <a:latin typeface="Cambria Math" panose="02040503050406030204" pitchFamily="18" charset="0"/>
                        </a:rPr>
                        <m:t>=10</m:t>
                      </m:r>
                      <m:r>
                        <m:rPr>
                          <m:nor/>
                        </m:rPr>
                        <a:rPr lang="en-US" sz="2800">
                          <a:solidFill>
                            <a:schemeClr val="tx2">
                              <a:lumMod val="50000"/>
                            </a:schemeClr>
                          </a:solidFill>
                        </a:rPr>
                        <m:t> </m:t>
                      </m:r>
                      <m:r>
                        <m:rPr>
                          <m:nor/>
                        </m:rPr>
                        <a:rPr lang="en-US" sz="2800">
                          <a:solidFill>
                            <a:schemeClr val="tx2">
                              <a:lumMod val="50000"/>
                            </a:schemeClr>
                          </a:solidFill>
                        </a:rPr>
                        <m:t>potholes</m:t>
                      </m:r>
                    </m:oMath>
                  </m:oMathPara>
                </a14:m>
                <a:endParaRPr lang="en-IN" sz="2800" dirty="0">
                  <a:solidFill>
                    <a:schemeClr val="tx2">
                      <a:lumMod val="50000"/>
                    </a:schemeClr>
                  </a:solidFill>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λ</m:t>
                      </m:r>
                      <m:r>
                        <a:rPr lang="en-US" sz="2800">
                          <a:solidFill>
                            <a:schemeClr val="tx2">
                              <a:lumMod val="50000"/>
                            </a:schemeClr>
                          </a:solidFill>
                          <a:latin typeface="Cambria Math" panose="02040503050406030204" pitchFamily="18" charset="0"/>
                        </a:rPr>
                        <m:t>=10</m:t>
                      </m:r>
                      <m:r>
                        <m:rPr>
                          <m:nor/>
                        </m:rPr>
                        <a:rPr lang="en-US" sz="2800">
                          <a:solidFill>
                            <a:schemeClr val="tx2">
                              <a:lumMod val="50000"/>
                            </a:schemeClr>
                          </a:solidFill>
                        </a:rPr>
                        <m:t> </m:t>
                      </m:r>
                      <m:r>
                        <m:rPr>
                          <m:nor/>
                        </m:rPr>
                        <a:rPr lang="en-US" sz="2800">
                          <a:solidFill>
                            <a:schemeClr val="tx2">
                              <a:lumMod val="50000"/>
                            </a:schemeClr>
                          </a:solidFill>
                        </a:rPr>
                        <m:t>potholes</m:t>
                      </m:r>
                      <m:r>
                        <m:rPr>
                          <m:nor/>
                        </m:rPr>
                        <a:rPr lang="en-US" sz="2800">
                          <a:solidFill>
                            <a:schemeClr val="tx2">
                              <a:lumMod val="50000"/>
                            </a:schemeClr>
                          </a:solidFill>
                        </a:rPr>
                        <m:t> </m:t>
                      </m:r>
                      <m:r>
                        <m:rPr>
                          <m:nor/>
                        </m:rPr>
                        <a:rPr lang="en-US" sz="2800">
                          <a:solidFill>
                            <a:schemeClr val="tx2">
                              <a:lumMod val="50000"/>
                            </a:schemeClr>
                          </a:solidFill>
                        </a:rPr>
                        <m:t>per</m:t>
                      </m:r>
                      <m:r>
                        <m:rPr>
                          <m:nor/>
                        </m:rPr>
                        <a:rPr lang="en-US" sz="2800">
                          <a:solidFill>
                            <a:schemeClr val="tx2">
                              <a:lumMod val="50000"/>
                            </a:schemeClr>
                          </a:solidFill>
                        </a:rPr>
                        <m:t> 5 </m:t>
                      </m:r>
                      <m:r>
                        <m:rPr>
                          <m:nor/>
                        </m:rPr>
                        <a:rPr lang="en-US" sz="2800">
                          <a:solidFill>
                            <a:schemeClr val="tx2">
                              <a:lumMod val="50000"/>
                            </a:schemeClr>
                          </a:solidFill>
                        </a:rPr>
                        <m:t>mile</m:t>
                      </m:r>
                    </m:oMath>
                  </m:oMathPara>
                </a14:m>
                <a:endParaRPr lang="en-IN" sz="2800" dirty="0">
                  <a:solidFill>
                    <a:schemeClr val="tx2">
                      <a:lumMod val="50000"/>
                    </a:schemeClr>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7" y="4523523"/>
                <a:ext cx="11929643" cy="1384995"/>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1018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5584542"/>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dirty="0">
                    <a:solidFill>
                      <a:srgbClr val="FF0000"/>
                    </a:solidFill>
                  </a:rPr>
                  <a:t>To find the probability of no more than 4 potholes occur </a:t>
                </a:r>
                <a14:m>
                  <m:oMath xmlns:m="http://schemas.openxmlformats.org/officeDocument/2006/math">
                    <m:d>
                      <m:dPr>
                        <m:ctrlPr>
                          <a:rPr lang="en-IN" i="1">
                            <a:solidFill>
                              <a:srgbClr val="FF0000"/>
                            </a:solidFill>
                            <a:latin typeface="Cambria Math" panose="02040503050406030204" pitchFamily="18" charset="0"/>
                          </a:rPr>
                        </m:ctrlPr>
                      </m:dPr>
                      <m:e>
                        <m:r>
                          <m:rPr>
                            <m:sty m:val="p"/>
                          </m:rPr>
                          <a:rPr lang="en-US" i="0">
                            <a:solidFill>
                              <a:srgbClr val="FF0000"/>
                            </a:solidFill>
                            <a:latin typeface="Cambria Math" panose="02040503050406030204" pitchFamily="18" charset="0"/>
                          </a:rPr>
                          <m:t>x</m:t>
                        </m:r>
                        <m:r>
                          <a:rPr lang="en-US" i="0">
                            <a:solidFill>
                              <a:srgbClr val="FF0000"/>
                            </a:solidFill>
                            <a:latin typeface="Cambria Math" panose="02040503050406030204" pitchFamily="18" charset="0"/>
                          </a:rPr>
                          <m:t>≤4</m:t>
                        </m:r>
                      </m:e>
                    </m:d>
                    <m:r>
                      <a:rPr lang="en-US" i="0" smtClean="0">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x</m:t>
                          </m:r>
                        </m:e>
                      </m:d>
                      <m:r>
                        <a:rPr lang="en-US"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0">
                                  <a:solidFill>
                                    <a:schemeClr val="tx2">
                                      <a:lumMod val="50000"/>
                                    </a:schemeClr>
                                  </a:solidFill>
                                  <a:latin typeface="Cambria Math" panose="02040503050406030204" pitchFamily="18" charset="0"/>
                                </a:rPr>
                                <m:t>e</m:t>
                              </m:r>
                            </m:e>
                            <m:sup>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λ</m:t>
                              </m:r>
                            </m:sup>
                          </m:sSup>
                          <m:r>
                            <a:rPr lang="en-US"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0">
                                  <a:solidFill>
                                    <a:schemeClr val="tx2">
                                      <a:lumMod val="50000"/>
                                    </a:schemeClr>
                                  </a:solidFill>
                                  <a:latin typeface="Cambria Math" panose="02040503050406030204" pitchFamily="18" charset="0"/>
                                </a:rPr>
                                <m:t>λ</m:t>
                              </m:r>
                            </m:e>
                            <m:sup>
                              <m:r>
                                <m:rPr>
                                  <m:sty m:val="p"/>
                                </m:rPr>
                                <a:rPr lang="en-US" i="0">
                                  <a:solidFill>
                                    <a:schemeClr val="tx2">
                                      <a:lumMod val="50000"/>
                                    </a:schemeClr>
                                  </a:solidFill>
                                  <a:latin typeface="Cambria Math" panose="02040503050406030204" pitchFamily="18" charset="0"/>
                                </a:rPr>
                                <m:t>x</m:t>
                              </m:r>
                            </m:sup>
                          </m:sSup>
                          <m:r>
                            <a:rPr lang="en-US" i="0">
                              <a:solidFill>
                                <a:schemeClr val="tx2">
                                  <a:lumMod val="50000"/>
                                </a:schemeClr>
                              </a:solidFill>
                              <a:latin typeface="Cambria Math" panose="02040503050406030204" pitchFamily="18" charset="0"/>
                            </a:rPr>
                            <m:t> </m:t>
                          </m:r>
                        </m:num>
                        <m:den>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 !</m:t>
                          </m:r>
                        </m:den>
                      </m:f>
                      <m:r>
                        <a:rPr lang="en-US" i="0">
                          <a:solidFill>
                            <a:schemeClr val="tx2">
                              <a:lumMod val="50000"/>
                            </a:schemeClr>
                          </a:solidFill>
                          <a:latin typeface="Cambria Math" panose="02040503050406030204" pitchFamily="18" charset="0"/>
                        </a:rPr>
                        <m:t>; </m:t>
                      </m:r>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=0,1,2,3,…</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 xmlns:m="http://schemas.openxmlformats.org/officeDocument/2006/math">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≤4</m:t>
                        </m:r>
                      </m:e>
                    </m:d>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=0</m:t>
                        </m:r>
                      </m:e>
                    </m:d>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=1</m:t>
                        </m:r>
                      </m:e>
                    </m:d>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=2</m:t>
                        </m:r>
                      </m:e>
                    </m:d>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=3</m:t>
                        </m:r>
                      </m:e>
                    </m:d>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P</m:t>
                    </m:r>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=4)</m:t>
                    </m:r>
                  </m:oMath>
                </a14:m>
                <a:r>
                  <a:rPr lang="en-US" dirty="0">
                    <a:solidFill>
                      <a:schemeClr val="tx2">
                        <a:lumMod val="50000"/>
                      </a:schemeClr>
                    </a:solidFill>
                    <a:latin typeface="Cambria Math" panose="02040503050406030204" pitchFamily="18" charset="0"/>
                  </a:rPr>
                  <a:t> --- (1)</a:t>
                </a: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e</m:t>
                              </m:r>
                            </m:e>
                            <m:sup>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m:t>
                              </m:r>
                              <m:r>
                                <a:rPr lang="en-US" b="0">
                                  <a:solidFill>
                                    <a:schemeClr val="tx2">
                                      <a:lumMod val="50000"/>
                                    </a:schemeClr>
                                  </a:solidFill>
                                  <a:latin typeface="Cambria Math" panose="02040503050406030204" pitchFamily="18" charset="0"/>
                                </a:rPr>
                                <m:t>)</m:t>
                              </m:r>
                            </m:e>
                            <m:sup>
                              <m:r>
                                <a:rPr lang="en-US" b="0" i="1">
                                  <a:solidFill>
                                    <a:schemeClr val="tx2">
                                      <a:lumMod val="50000"/>
                                    </a:schemeClr>
                                  </a:solidFill>
                                  <a:latin typeface="Cambria Math" panose="02040503050406030204" pitchFamily="18" charset="0"/>
                                </a:rPr>
                                <m:t>0</m:t>
                              </m:r>
                            </m:sup>
                          </m:sSup>
                          <m:r>
                            <a:rPr lang="en-US" b="0">
                              <a:solidFill>
                                <a:schemeClr val="tx2">
                                  <a:lumMod val="50000"/>
                                </a:schemeClr>
                              </a:solidFill>
                              <a:latin typeface="Cambria Math" panose="02040503050406030204" pitchFamily="18" charset="0"/>
                            </a:rPr>
                            <m:t> </m:t>
                          </m:r>
                        </m:num>
                        <m:den>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den>
                      </m:f>
                      <m:r>
                        <a:rPr lang="en-US" b="0">
                          <a:solidFill>
                            <a:schemeClr val="tx2">
                              <a:lumMod val="50000"/>
                            </a:schemeClr>
                          </a:solidFill>
                          <a:latin typeface="Cambria Math" panose="02040503050406030204" pitchFamily="18" charset="0"/>
                        </a:rPr>
                        <m:t>=</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e</m:t>
                          </m:r>
                        </m:e>
                        <m:sup>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m:t>
                          </m:r>
                        </m:sup>
                      </m:sSup>
                      <m:r>
                        <a:rPr lang="en-US" b="0">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𝟎𝟎𝟎𝟎𝟒𝟓</m:t>
                      </m:r>
                    </m:oMath>
                  </m:oMathPara>
                </a14:m>
                <a:endParaRPr lang="en-IN" b="1" dirty="0">
                  <a:solidFill>
                    <a:srgbClr val="FF0000"/>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e</m:t>
                              </m:r>
                            </m:e>
                            <m:sup>
                              <m:r>
                                <a:rPr lang="en-US">
                                  <a:solidFill>
                                    <a:schemeClr val="tx2">
                                      <a:lumMod val="50000"/>
                                    </a:schemeClr>
                                  </a:solidFill>
                                  <a:latin typeface="Cambria Math" panose="02040503050406030204" pitchFamily="18" charset="0"/>
                                </a:rPr>
                                <m:t>−10</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(10)</m:t>
                              </m:r>
                            </m:e>
                            <m:sup>
                              <m:r>
                                <a:rPr lang="en-US">
                                  <a:solidFill>
                                    <a:schemeClr val="tx2">
                                      <a:lumMod val="50000"/>
                                    </a:schemeClr>
                                  </a:solidFill>
                                  <a:latin typeface="Cambria Math" panose="02040503050406030204" pitchFamily="18" charset="0"/>
                                </a:rPr>
                                <m:t>1</m:t>
                              </m:r>
                            </m:sup>
                          </m:sSup>
                          <m:r>
                            <a:rPr lang="en-US">
                              <a:solidFill>
                                <a:schemeClr val="tx2">
                                  <a:lumMod val="50000"/>
                                </a:schemeClr>
                              </a:solidFill>
                              <a:latin typeface="Cambria Math" panose="02040503050406030204" pitchFamily="18" charset="0"/>
                            </a:rPr>
                            <m:t> </m:t>
                          </m:r>
                        </m:num>
                        <m:den>
                          <m:r>
                            <a:rPr lang="en-US">
                              <a:solidFill>
                                <a:schemeClr val="tx2">
                                  <a:lumMod val="50000"/>
                                </a:schemeClr>
                              </a:solidFill>
                              <a:latin typeface="Cambria Math" panose="02040503050406030204" pitchFamily="18" charset="0"/>
                            </a:rPr>
                            <m:t>1!</m:t>
                          </m:r>
                        </m:den>
                      </m:f>
                      <m:r>
                        <a:rPr lang="en-US">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𝟎</m:t>
                      </m:r>
                      <m:r>
                        <a:rPr lang="en-US" b="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𝟎𝟎𝟎𝟒𝟓𝟑</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5584542"/>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4219835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400763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e</m:t>
                              </m:r>
                            </m:e>
                            <m:sup>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m:t>
                              </m:r>
                              <m:r>
                                <a:rPr lang="en-US" b="0">
                                  <a:solidFill>
                                    <a:schemeClr val="tx2">
                                      <a:lumMod val="50000"/>
                                    </a:schemeClr>
                                  </a:solidFill>
                                  <a:latin typeface="Cambria Math" panose="02040503050406030204" pitchFamily="18" charset="0"/>
                                </a:rPr>
                                <m:t>)</m:t>
                              </m:r>
                            </m:e>
                            <m:sup>
                              <m:r>
                                <a:rPr lang="en-US" b="0" i="1">
                                  <a:solidFill>
                                    <a:schemeClr val="tx2">
                                      <a:lumMod val="50000"/>
                                    </a:schemeClr>
                                  </a:solidFill>
                                  <a:latin typeface="Cambria Math" panose="02040503050406030204" pitchFamily="18" charset="0"/>
                                </a:rPr>
                                <m:t>2</m:t>
                              </m:r>
                            </m:sup>
                          </m:sSup>
                          <m:r>
                            <a:rPr lang="en-US" b="0">
                              <a:solidFill>
                                <a:schemeClr val="tx2">
                                  <a:lumMod val="50000"/>
                                </a:schemeClr>
                              </a:solidFill>
                              <a:latin typeface="Cambria Math" panose="02040503050406030204" pitchFamily="18" charset="0"/>
                            </a:rPr>
                            <m:t> </m:t>
                          </m:r>
                        </m:num>
                        <m:den>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m:t>
                          </m:r>
                        </m:den>
                      </m:f>
                      <m:r>
                        <a:rPr lang="en-US" b="0">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𝟎𝟎𝟐𝟐𝟔𝟗</m:t>
                      </m:r>
                    </m:oMath>
                  </m:oMathPara>
                </a14:m>
                <a:endParaRPr lang="en-IN" b="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3</m:t>
                          </m:r>
                        </m:e>
                      </m:d>
                      <m:r>
                        <a:rPr lang="en-US" b="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e</m:t>
                              </m:r>
                            </m:e>
                            <m:sup>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10</m:t>
                              </m:r>
                              <m:r>
                                <a:rPr lang="en-US" b="0">
                                  <a:solidFill>
                                    <a:schemeClr val="tx2">
                                      <a:lumMod val="50000"/>
                                    </a:schemeClr>
                                  </a:solidFill>
                                  <a:latin typeface="Cambria Math" panose="02040503050406030204" pitchFamily="18" charset="0"/>
                                </a:rPr>
                                <m:t>)</m:t>
                              </m:r>
                            </m:e>
                            <m:sup>
                              <m:r>
                                <a:rPr lang="en-US" b="0" i="1">
                                  <a:solidFill>
                                    <a:schemeClr val="tx2">
                                      <a:lumMod val="50000"/>
                                    </a:schemeClr>
                                  </a:solidFill>
                                  <a:latin typeface="Cambria Math" panose="02040503050406030204" pitchFamily="18" charset="0"/>
                                </a:rPr>
                                <m:t>3</m:t>
                              </m:r>
                            </m:sup>
                          </m:sSup>
                          <m:r>
                            <a:rPr lang="en-US" b="0">
                              <a:solidFill>
                                <a:schemeClr val="tx2">
                                  <a:lumMod val="50000"/>
                                </a:schemeClr>
                              </a:solidFill>
                              <a:latin typeface="Cambria Math" panose="02040503050406030204" pitchFamily="18" charset="0"/>
                            </a:rPr>
                            <m:t> </m:t>
                          </m:r>
                        </m:num>
                        <m:den>
                          <m:r>
                            <a:rPr lang="en-US" b="0" i="1">
                              <a:solidFill>
                                <a:schemeClr val="tx2">
                                  <a:lumMod val="50000"/>
                                </a:schemeClr>
                              </a:solidFill>
                              <a:latin typeface="Cambria Math" panose="02040503050406030204" pitchFamily="18" charset="0"/>
                            </a:rPr>
                            <m:t>3</m:t>
                          </m:r>
                          <m:r>
                            <a:rPr lang="en-US" b="0">
                              <a:solidFill>
                                <a:schemeClr val="tx2">
                                  <a:lumMod val="50000"/>
                                </a:schemeClr>
                              </a:solidFill>
                              <a:latin typeface="Cambria Math" panose="02040503050406030204" pitchFamily="18" charset="0"/>
                            </a:rPr>
                            <m:t>!</m:t>
                          </m:r>
                        </m:den>
                      </m:f>
                      <m:r>
                        <a:rPr lang="en-US" b="0">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𝟎𝟎𝟕𝟓𝟔𝟔</m:t>
                      </m:r>
                    </m:oMath>
                  </m:oMathPara>
                </a14:m>
                <a:endParaRPr lang="en-IN" b="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=4</m:t>
                          </m:r>
                        </m:e>
                      </m:d>
                      <m:r>
                        <a:rPr lang="en-US">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a:solidFill>
                                    <a:schemeClr val="tx2">
                                      <a:lumMod val="50000"/>
                                    </a:schemeClr>
                                  </a:solidFill>
                                  <a:latin typeface="Cambria Math" panose="02040503050406030204" pitchFamily="18" charset="0"/>
                                </a:rPr>
                                <m:t>e</m:t>
                              </m:r>
                            </m:e>
                            <m:sup>
                              <m:r>
                                <a:rPr lang="en-US">
                                  <a:solidFill>
                                    <a:schemeClr val="tx2">
                                      <a:lumMod val="50000"/>
                                    </a:schemeClr>
                                  </a:solidFill>
                                  <a:latin typeface="Cambria Math" panose="02040503050406030204" pitchFamily="18" charset="0"/>
                                </a:rPr>
                                <m:t>−10</m:t>
                              </m:r>
                            </m:sup>
                          </m:sSup>
                          <m:r>
                            <a:rPr lang="en-US">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a:solidFill>
                                    <a:schemeClr val="tx2">
                                      <a:lumMod val="50000"/>
                                    </a:schemeClr>
                                  </a:solidFill>
                                  <a:latin typeface="Cambria Math" panose="02040503050406030204" pitchFamily="18" charset="0"/>
                                </a:rPr>
                                <m:t>(10)</m:t>
                              </m:r>
                            </m:e>
                            <m:sup>
                              <m:r>
                                <a:rPr lang="en-US">
                                  <a:solidFill>
                                    <a:schemeClr val="tx2">
                                      <a:lumMod val="50000"/>
                                    </a:schemeClr>
                                  </a:solidFill>
                                  <a:latin typeface="Cambria Math" panose="02040503050406030204" pitchFamily="18" charset="0"/>
                                </a:rPr>
                                <m:t>4</m:t>
                              </m:r>
                            </m:sup>
                          </m:sSup>
                          <m:r>
                            <a:rPr lang="en-US">
                              <a:solidFill>
                                <a:schemeClr val="tx2">
                                  <a:lumMod val="50000"/>
                                </a:schemeClr>
                              </a:solidFill>
                              <a:latin typeface="Cambria Math" panose="02040503050406030204" pitchFamily="18" charset="0"/>
                            </a:rPr>
                            <m:t> </m:t>
                          </m:r>
                        </m:num>
                        <m:den>
                          <m:r>
                            <a:rPr lang="en-US">
                              <a:solidFill>
                                <a:schemeClr val="tx2">
                                  <a:lumMod val="50000"/>
                                </a:schemeClr>
                              </a:solidFill>
                              <a:latin typeface="Cambria Math" panose="02040503050406030204" pitchFamily="18" charset="0"/>
                            </a:rPr>
                            <m:t>4!</m:t>
                          </m:r>
                        </m:den>
                      </m:f>
                      <m:r>
                        <a:rPr lang="en-US">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𝟎</m:t>
                      </m:r>
                      <m:r>
                        <a:rPr lang="en-US" b="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𝟎𝟏𝟖𝟗𝟏𝟔</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4007636"/>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8221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267765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dirty="0">
                    <a:solidFill>
                      <a:schemeClr val="tx2">
                        <a:lumMod val="50000"/>
                      </a:schemeClr>
                    </a:solidFill>
                  </a:rPr>
                  <a:t>From equation – 1 </a:t>
                </a:r>
                <a:endParaRPr lang="en-IN" dirty="0">
                  <a:solidFill>
                    <a:schemeClr val="tx2">
                      <a:lumMod val="50000"/>
                    </a:schemeClr>
                  </a:solidFill>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≤4</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=0</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=1</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=2</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=3</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=4)</m:t>
                      </m:r>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≤4</m:t>
                          </m:r>
                        </m:e>
                      </m:d>
                      <m:r>
                        <a:rPr lang="en-US" i="1">
                          <a:solidFill>
                            <a:schemeClr val="tx2">
                              <a:lumMod val="50000"/>
                            </a:schemeClr>
                          </a:solidFill>
                          <a:latin typeface="Cambria Math" panose="02040503050406030204" pitchFamily="18" charset="0"/>
                        </a:rPr>
                        <m:t>=0.000045+0.000453+0.002269+0.007566+0.018916</m:t>
                      </m:r>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𝟒</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𝟎𝟐𝟗𝟑</m:t>
                      </m:r>
                    </m:oMath>
                  </m:oMathPara>
                </a14:m>
                <a:endParaRPr lang="en-IN" b="1"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2677656"/>
              </a:xfrm>
              <a:prstGeom prst="rect">
                <a:avLst/>
              </a:prstGeom>
              <a:blipFill rotWithShape="0">
                <a:blip r:embed="rId2"/>
                <a:stretch>
                  <a:fillRect l="-1037"/>
                </a:stretch>
              </a:blipFill>
            </p:spPr>
            <p:txBody>
              <a:bodyPr/>
              <a:lstStyle/>
              <a:p>
                <a:r>
                  <a:rPr lang="en-IN">
                    <a:noFill/>
                  </a:rPr>
                  <a:t> </a:t>
                </a:r>
              </a:p>
            </p:txBody>
          </p:sp>
        </mc:Fallback>
      </mc:AlternateContent>
    </p:spTree>
    <p:extLst>
      <p:ext uri="{BB962C8B-B14F-4D97-AF65-F5344CB8AC3E}">
        <p14:creationId xmlns:p14="http://schemas.microsoft.com/office/powerpoint/2010/main" val="174006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794131"/>
                <a:ext cx="11929643" cy="1394433"/>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company, there are </a:t>
                </a:r>
                <a14:m>
                  <m:oMath xmlns:m="http://schemas.openxmlformats.org/officeDocument/2006/math">
                    <m:r>
                      <a:rPr lang="en-US">
                        <a:latin typeface="Cambria Math" panose="02040503050406030204" pitchFamily="18" charset="0"/>
                      </a:rPr>
                      <m:t>250</m:t>
                    </m:r>
                  </m:oMath>
                </a14:m>
                <a:r>
                  <a:rPr lang="en-US" dirty="0"/>
                  <a:t> workers. The probability of a worker remains absent on any one day is </a:t>
                </a:r>
                <a14:m>
                  <m:oMath xmlns:m="http://schemas.openxmlformats.org/officeDocument/2006/math">
                    <m:r>
                      <a:rPr lang="en-US">
                        <a:latin typeface="Cambria Math" panose="02040503050406030204" pitchFamily="18" charset="0"/>
                      </a:rPr>
                      <m:t>0.02.</m:t>
                    </m:r>
                  </m:oMath>
                </a14:m>
                <a:r>
                  <a:rPr lang="en-US" dirty="0"/>
                  <a:t> Find the probability that on a day, seven workers are absent.</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794131"/>
                <a:ext cx="11929643" cy="1394433"/>
              </a:xfrm>
              <a:prstGeom prst="rect">
                <a:avLst/>
              </a:prstGeom>
              <a:blipFill rotWithShape="0">
                <a:blip r:embed="rId2"/>
                <a:stretch>
                  <a:fillRect l="-1074" r="-1074" b="-655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 ⇝ Example 5</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41150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7" y="2271494"/>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a:t>
                </a:r>
                <a14:m>
                  <m:oMath xmlns:m="http://schemas.openxmlformats.org/officeDocument/2006/math">
                    <m:r>
                      <m:rPr>
                        <m:sty m:val="p"/>
                      </m:rPr>
                      <a:rPr lang="en-US" b="0" i="1">
                        <a:solidFill>
                          <a:schemeClr val="tx2">
                            <a:lumMod val="50000"/>
                          </a:schemeClr>
                        </a:solidFill>
                        <a:latin typeface="Cambria Math" panose="02040503050406030204" pitchFamily="18" charset="0"/>
                      </a:rPr>
                      <m:t>n</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250</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p</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02</m:t>
                    </m:r>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7</m:t>
                    </m:r>
                  </m:oMath>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25597" y="2271494"/>
                <a:ext cx="10200837" cy="738664"/>
              </a:xfrm>
              <a:prstGeom prst="rect">
                <a:avLst/>
              </a:prstGeom>
              <a:blipFill rotWithShape="0">
                <a:blip r:embed="rId3"/>
                <a:stretch>
                  <a:fillRect l="-1255"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31177" y="3035359"/>
                <a:ext cx="11929643" cy="2838406"/>
              </a:xfrm>
              <a:prstGeom prst="rect">
                <a:avLst/>
              </a:prstGeom>
            </p:spPr>
            <p:txBody>
              <a:bodyPr wrap="square">
                <a:spAutoFit/>
              </a:bodyPr>
              <a:lstStyle/>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smtClean="0">
                          <a:solidFill>
                            <a:schemeClr val="tx2">
                              <a:lumMod val="50000"/>
                            </a:schemeClr>
                          </a:solidFill>
                          <a:latin typeface="Cambria Math" panose="02040503050406030204" pitchFamily="18" charset="0"/>
                        </a:rPr>
                        <m:t>λ</m:t>
                      </m:r>
                      <m:r>
                        <a:rPr lang="en-US" sz="2800" smtClean="0">
                          <a:solidFill>
                            <a:schemeClr val="tx2">
                              <a:lumMod val="50000"/>
                            </a:schemeClr>
                          </a:solidFill>
                          <a:latin typeface="Cambria Math" panose="02040503050406030204" pitchFamily="18" charset="0"/>
                        </a:rPr>
                        <m:t>=</m:t>
                      </m:r>
                      <m:r>
                        <m:rPr>
                          <m:sty m:val="p"/>
                        </m:rPr>
                        <a:rPr lang="en-US" sz="2800" smtClean="0">
                          <a:solidFill>
                            <a:schemeClr val="tx2">
                              <a:lumMod val="50000"/>
                            </a:schemeClr>
                          </a:solidFill>
                          <a:latin typeface="Cambria Math" panose="02040503050406030204" pitchFamily="18" charset="0"/>
                        </a:rPr>
                        <m:t>np</m:t>
                      </m:r>
                      <m:r>
                        <a:rPr lang="en-US" sz="2800" smtClean="0">
                          <a:solidFill>
                            <a:schemeClr val="tx2">
                              <a:lumMod val="50000"/>
                            </a:schemeClr>
                          </a:solidFill>
                          <a:latin typeface="Cambria Math" panose="02040503050406030204" pitchFamily="18" charset="0"/>
                        </a:rPr>
                        <m:t>=250×0.02=5</m:t>
                      </m:r>
                    </m:oMath>
                  </m:oMathPara>
                </a14:m>
                <a:endParaRPr lang="en-IN" sz="2800" dirty="0">
                  <a:solidFill>
                    <a:schemeClr val="tx2">
                      <a:lumMod val="50000"/>
                    </a:schemeClr>
                  </a:solidFill>
                  <a:latin typeface="Cambria Math" panose="02040503050406030204" pitchFamily="18" charset="0"/>
                </a:endParaRPr>
              </a:p>
              <a:p>
                <a:pPr>
                  <a:lnSpc>
                    <a:spcPct val="150000"/>
                  </a:lnSpc>
                  <a:spcBef>
                    <a:spcPts val="1000"/>
                  </a:spcBef>
                  <a:buClr>
                    <a:schemeClr val="accent6"/>
                  </a:buClr>
                </a:pPr>
                <a14:m>
                  <m:oMath xmlns:m="http://schemas.openxmlformats.org/officeDocument/2006/math">
                    <m:r>
                      <m:rPr>
                        <m:nor/>
                      </m:rPr>
                      <a:rPr lang="en-US" sz="2800">
                        <a:solidFill>
                          <a:schemeClr val="tx2">
                            <a:lumMod val="50000"/>
                          </a:schemeClr>
                        </a:solidFill>
                      </a:rPr>
                      <m:t>To</m:t>
                    </m:r>
                    <m:r>
                      <m:rPr>
                        <m:nor/>
                      </m:rPr>
                      <a:rPr lang="en-US" sz="2800">
                        <a:solidFill>
                          <a:schemeClr val="tx2">
                            <a:lumMod val="50000"/>
                          </a:schemeClr>
                        </a:solidFill>
                      </a:rPr>
                      <m:t> </m:t>
                    </m:r>
                    <m:r>
                      <m:rPr>
                        <m:nor/>
                      </m:rPr>
                      <a:rPr lang="en-US" sz="2800">
                        <a:solidFill>
                          <a:schemeClr val="tx2">
                            <a:lumMod val="50000"/>
                          </a:schemeClr>
                        </a:solidFill>
                      </a:rPr>
                      <m:t>find</m:t>
                    </m:r>
                    <m:r>
                      <m:rPr>
                        <m:nor/>
                      </m:rPr>
                      <a:rPr lang="en-US" sz="2800">
                        <a:solidFill>
                          <a:schemeClr val="tx2">
                            <a:lumMod val="50000"/>
                          </a:schemeClr>
                        </a:solidFill>
                      </a:rPr>
                      <m:t> </m:t>
                    </m:r>
                    <m:r>
                      <m:rPr>
                        <m:nor/>
                      </m:rPr>
                      <a:rPr lang="en-US" sz="2800">
                        <a:solidFill>
                          <a:schemeClr val="tx2">
                            <a:lumMod val="50000"/>
                          </a:schemeClr>
                        </a:solidFill>
                      </a:rPr>
                      <m:t>the</m:t>
                    </m:r>
                    <m:r>
                      <m:rPr>
                        <m:nor/>
                      </m:rPr>
                      <a:rPr lang="en-US" sz="2800">
                        <a:solidFill>
                          <a:schemeClr val="tx2">
                            <a:lumMod val="50000"/>
                          </a:schemeClr>
                        </a:solidFill>
                      </a:rPr>
                      <m:t> </m:t>
                    </m:r>
                    <m:r>
                      <m:rPr>
                        <m:nor/>
                      </m:rPr>
                      <a:rPr lang="en-US" sz="2800">
                        <a:solidFill>
                          <a:schemeClr val="tx2">
                            <a:lumMod val="50000"/>
                          </a:schemeClr>
                        </a:solidFill>
                      </a:rPr>
                      <m:t>probability</m:t>
                    </m:r>
                    <m:r>
                      <m:rPr>
                        <m:nor/>
                      </m:rPr>
                      <a:rPr lang="en-US" sz="2800">
                        <a:solidFill>
                          <a:schemeClr val="tx2">
                            <a:lumMod val="50000"/>
                          </a:schemeClr>
                        </a:solidFill>
                      </a:rPr>
                      <m:t> </m:t>
                    </m:r>
                    <m:r>
                      <m:rPr>
                        <m:nor/>
                      </m:rPr>
                      <a:rPr lang="en-US" sz="2800">
                        <a:solidFill>
                          <a:schemeClr val="tx2">
                            <a:lumMod val="50000"/>
                          </a:schemeClr>
                        </a:solidFill>
                      </a:rPr>
                      <m:t>that</m:t>
                    </m:r>
                    <m:r>
                      <m:rPr>
                        <m:nor/>
                      </m:rPr>
                      <a:rPr lang="en-US" sz="2800">
                        <a:solidFill>
                          <a:schemeClr val="tx2">
                            <a:lumMod val="50000"/>
                          </a:schemeClr>
                        </a:solidFill>
                      </a:rPr>
                      <m:t> </m:t>
                    </m:r>
                    <m:r>
                      <m:rPr>
                        <m:nor/>
                      </m:rPr>
                      <a:rPr lang="en-US" sz="2800">
                        <a:solidFill>
                          <a:schemeClr val="tx2">
                            <a:lumMod val="50000"/>
                          </a:schemeClr>
                        </a:solidFill>
                      </a:rPr>
                      <m:t>on</m:t>
                    </m:r>
                    <m:r>
                      <m:rPr>
                        <m:nor/>
                      </m:rPr>
                      <a:rPr lang="en-US" sz="2800">
                        <a:solidFill>
                          <a:schemeClr val="tx2">
                            <a:lumMod val="50000"/>
                          </a:schemeClr>
                        </a:solidFill>
                      </a:rPr>
                      <m:t> </m:t>
                    </m:r>
                    <m:r>
                      <m:rPr>
                        <m:nor/>
                      </m:rPr>
                      <a:rPr lang="en-US" sz="2800">
                        <a:solidFill>
                          <a:schemeClr val="tx2">
                            <a:lumMod val="50000"/>
                          </a:schemeClr>
                        </a:solidFill>
                      </a:rPr>
                      <m:t>a</m:t>
                    </m:r>
                    <m:r>
                      <m:rPr>
                        <m:nor/>
                      </m:rPr>
                      <a:rPr lang="en-US" sz="2800">
                        <a:solidFill>
                          <a:schemeClr val="tx2">
                            <a:lumMod val="50000"/>
                          </a:schemeClr>
                        </a:solidFill>
                      </a:rPr>
                      <m:t> </m:t>
                    </m:r>
                    <m:r>
                      <m:rPr>
                        <m:nor/>
                      </m:rPr>
                      <a:rPr lang="en-US" sz="2800">
                        <a:solidFill>
                          <a:schemeClr val="tx2">
                            <a:lumMod val="50000"/>
                          </a:schemeClr>
                        </a:solidFill>
                      </a:rPr>
                      <m:t>day</m:t>
                    </m:r>
                    <m:r>
                      <m:rPr>
                        <m:nor/>
                      </m:rPr>
                      <a:rPr lang="en-US" sz="2800">
                        <a:solidFill>
                          <a:schemeClr val="tx2">
                            <a:lumMod val="50000"/>
                          </a:schemeClr>
                        </a:solidFill>
                      </a:rPr>
                      <m:t>,</m:t>
                    </m:r>
                    <m:r>
                      <m:rPr>
                        <m:nor/>
                      </m:rPr>
                      <a:rPr lang="en-IN" sz="2800">
                        <a:solidFill>
                          <a:schemeClr val="tx2">
                            <a:lumMod val="50000"/>
                          </a:schemeClr>
                        </a:solidFill>
                      </a:rPr>
                      <m:t> 7</m:t>
                    </m:r>
                    <m:r>
                      <m:rPr>
                        <m:nor/>
                      </m:rPr>
                      <a:rPr lang="en-US" sz="2800">
                        <a:solidFill>
                          <a:schemeClr val="tx2">
                            <a:lumMod val="50000"/>
                          </a:schemeClr>
                        </a:solidFill>
                      </a:rPr>
                      <m:t> </m:t>
                    </m:r>
                    <m:r>
                      <m:rPr>
                        <m:nor/>
                      </m:rPr>
                      <a:rPr lang="en-US" sz="2800">
                        <a:solidFill>
                          <a:schemeClr val="tx2">
                            <a:lumMod val="50000"/>
                          </a:schemeClr>
                        </a:solidFill>
                      </a:rPr>
                      <m:t>workers</m:t>
                    </m:r>
                    <m:r>
                      <m:rPr>
                        <m:nor/>
                      </m:rPr>
                      <a:rPr lang="en-US" sz="2800">
                        <a:solidFill>
                          <a:schemeClr val="tx2">
                            <a:lumMod val="50000"/>
                          </a:schemeClr>
                        </a:solidFill>
                      </a:rPr>
                      <m:t> </m:t>
                    </m:r>
                    <m:r>
                      <m:rPr>
                        <m:nor/>
                      </m:rPr>
                      <a:rPr lang="en-US" sz="2800">
                        <a:solidFill>
                          <a:schemeClr val="tx2">
                            <a:lumMod val="50000"/>
                          </a:schemeClr>
                        </a:solidFill>
                      </a:rPr>
                      <m:t>are</m:t>
                    </m:r>
                    <m:r>
                      <m:rPr>
                        <m:nor/>
                      </m:rPr>
                      <a:rPr lang="en-US" sz="2800">
                        <a:solidFill>
                          <a:schemeClr val="tx2">
                            <a:lumMod val="50000"/>
                          </a:schemeClr>
                        </a:solidFill>
                      </a:rPr>
                      <m:t> </m:t>
                    </m:r>
                    <m:r>
                      <m:rPr>
                        <m:nor/>
                      </m:rPr>
                      <a:rPr lang="en-US" sz="2800">
                        <a:solidFill>
                          <a:schemeClr val="tx2">
                            <a:lumMod val="50000"/>
                          </a:schemeClr>
                        </a:solidFill>
                      </a:rPr>
                      <m:t>absent</m:t>
                    </m:r>
                  </m:oMath>
                </a14:m>
                <a:r>
                  <a:rPr lang="en-IN" sz="2800" dirty="0">
                    <a:solidFill>
                      <a:schemeClr val="tx2">
                        <a:lumMod val="50000"/>
                      </a:schemeClr>
                    </a:solidFill>
                    <a:latin typeface="Cambria Math" panose="02040503050406030204" pitchFamily="18" charset="0"/>
                  </a:rPr>
                  <a:t> </a:t>
                </a:r>
                <a14:m>
                  <m:oMath xmlns:m="http://schemas.openxmlformats.org/officeDocument/2006/math">
                    <m:r>
                      <m:rPr>
                        <m:sty m:val="p"/>
                      </m:rPr>
                      <a:rPr lang="en-IN" sz="2800" b="0" i="0" dirty="0" smtClean="0">
                        <a:solidFill>
                          <a:schemeClr val="tx2">
                            <a:lumMod val="50000"/>
                          </a:schemeClr>
                        </a:solidFill>
                        <a:latin typeface="Cambria Math" panose="02040503050406030204" pitchFamily="18" charset="0"/>
                      </a:rPr>
                      <m:t>x</m:t>
                    </m:r>
                    <m:r>
                      <a:rPr lang="en-IN" sz="2800" b="0" i="0" dirty="0" smtClean="0">
                        <a:solidFill>
                          <a:schemeClr val="tx2">
                            <a:lumMod val="50000"/>
                          </a:schemeClr>
                        </a:solidFill>
                        <a:latin typeface="Cambria Math" panose="02040503050406030204" pitchFamily="18" charset="0"/>
                      </a:rPr>
                      <m:t>=7</m:t>
                    </m:r>
                  </m:oMath>
                </a14:m>
                <a:endParaRPr lang="en-IN" sz="2800" dirty="0">
                  <a:solidFill>
                    <a:schemeClr val="tx2">
                      <a:lumMod val="50000"/>
                    </a:schemeClr>
                  </a:solidFill>
                  <a:latin typeface="Cambria Math" panose="02040503050406030204" pitchFamily="18" charset="0"/>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x</m:t>
                          </m:r>
                        </m:e>
                      </m:d>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e</m:t>
                              </m:r>
                            </m:e>
                            <m:sup>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λ</m:t>
                              </m:r>
                            </m:sup>
                          </m:sSup>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λ</m:t>
                              </m:r>
                            </m:e>
                            <m:sup>
                              <m:r>
                                <m:rPr>
                                  <m:sty m:val="p"/>
                                </m:rPr>
                                <a:rPr lang="en-US" sz="2800">
                                  <a:solidFill>
                                    <a:schemeClr val="tx2">
                                      <a:lumMod val="50000"/>
                                    </a:schemeClr>
                                  </a:solidFill>
                                  <a:latin typeface="Cambria Math" panose="02040503050406030204" pitchFamily="18" charset="0"/>
                                </a:rPr>
                                <m:t>x</m:t>
                              </m:r>
                            </m:sup>
                          </m:sSup>
                          <m:r>
                            <a:rPr lang="en-US" sz="2800">
                              <a:solidFill>
                                <a:schemeClr val="tx2">
                                  <a:lumMod val="50000"/>
                                </a:schemeClr>
                              </a:solidFill>
                              <a:latin typeface="Cambria Math" panose="02040503050406030204" pitchFamily="18" charset="0"/>
                            </a:rPr>
                            <m:t> </m:t>
                          </m:r>
                        </m:num>
                        <m:den>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 !</m:t>
                          </m:r>
                        </m:den>
                      </m:f>
                      <m:r>
                        <a:rPr lang="en-US" sz="2800">
                          <a:solidFill>
                            <a:schemeClr val="tx2">
                              <a:lumMod val="50000"/>
                            </a:schemeClr>
                          </a:solidFill>
                          <a:latin typeface="Cambria Math" panose="02040503050406030204" pitchFamily="18" charset="0"/>
                        </a:rPr>
                        <m:t>; </m:t>
                      </m:r>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=0,1,2,3,…</m:t>
                      </m:r>
                    </m:oMath>
                  </m:oMathPara>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7" y="3035359"/>
                <a:ext cx="11929643" cy="2838406"/>
              </a:xfrm>
              <a:prstGeom prst="rect">
                <a:avLst/>
              </a:prstGeom>
              <a:blipFill rotWithShape="0">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6529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11758534" cy="3367653"/>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smtClean="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x</m:t>
                          </m:r>
                        </m:e>
                      </m:d>
                      <m:r>
                        <a:rPr lang="en-US" i="1">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1">
                                  <a:solidFill>
                                    <a:schemeClr val="tx2">
                                      <a:lumMod val="50000"/>
                                    </a:schemeClr>
                                  </a:solidFill>
                                  <a:latin typeface="Cambria Math" panose="02040503050406030204" pitchFamily="18" charset="0"/>
                                </a:rPr>
                                <m:t>e</m:t>
                              </m:r>
                            </m:e>
                            <m:sup>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λ</m:t>
                              </m:r>
                            </m:sup>
                          </m:sSup>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1">
                                  <a:solidFill>
                                    <a:schemeClr val="tx2">
                                      <a:lumMod val="50000"/>
                                    </a:schemeClr>
                                  </a:solidFill>
                                  <a:latin typeface="Cambria Math" panose="02040503050406030204" pitchFamily="18" charset="0"/>
                                </a:rPr>
                                <m:t>λ</m:t>
                              </m:r>
                            </m:e>
                            <m:sup>
                              <m:r>
                                <m:rPr>
                                  <m:sty m:val="p"/>
                                </m:rPr>
                                <a:rPr lang="en-US" i="1">
                                  <a:solidFill>
                                    <a:schemeClr val="tx2">
                                      <a:lumMod val="50000"/>
                                    </a:schemeClr>
                                  </a:solidFill>
                                  <a:latin typeface="Cambria Math" panose="02040503050406030204" pitchFamily="18" charset="0"/>
                                </a:rPr>
                                <m:t>x</m:t>
                              </m:r>
                            </m:sup>
                          </m:sSup>
                          <m:r>
                            <a:rPr lang="en-US" i="1">
                              <a:solidFill>
                                <a:schemeClr val="tx2">
                                  <a:lumMod val="50000"/>
                                </a:schemeClr>
                              </a:solidFill>
                              <a:latin typeface="Cambria Math" panose="02040503050406030204" pitchFamily="18" charset="0"/>
                            </a:rPr>
                            <m:t> </m:t>
                          </m:r>
                        </m:num>
                        <m:den>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 !</m:t>
                          </m:r>
                        </m:den>
                      </m:f>
                      <m:r>
                        <a:rPr lang="en-US" i="1">
                          <a:solidFill>
                            <a:schemeClr val="tx2">
                              <a:lumMod val="50000"/>
                            </a:schemeClr>
                          </a:solidFill>
                          <a:latin typeface="Cambria Math" panose="02040503050406030204" pitchFamily="18" charset="0"/>
                        </a:rPr>
                        <m:t>; </m:t>
                      </m:r>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=0,1,2,3,…</m:t>
                      </m:r>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=7</m:t>
                          </m:r>
                        </m:e>
                      </m:d>
                      <m:r>
                        <a:rPr lang="en-US" i="1">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1">
                                  <a:solidFill>
                                    <a:schemeClr val="tx2">
                                      <a:lumMod val="50000"/>
                                    </a:schemeClr>
                                  </a:solidFill>
                                  <a:latin typeface="Cambria Math" panose="02040503050406030204" pitchFamily="18" charset="0"/>
                                </a:rPr>
                                <m:t>e</m:t>
                              </m:r>
                            </m:e>
                            <m:sup>
                              <m:r>
                                <a:rPr lang="en-US" i="1">
                                  <a:solidFill>
                                    <a:schemeClr val="tx2">
                                      <a:lumMod val="50000"/>
                                    </a:schemeClr>
                                  </a:solidFill>
                                  <a:latin typeface="Cambria Math" panose="02040503050406030204" pitchFamily="18" charset="0"/>
                                </a:rPr>
                                <m:t>−5</m:t>
                              </m:r>
                            </m:sup>
                          </m:sSup>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i="1">
                                  <a:solidFill>
                                    <a:schemeClr val="tx2">
                                      <a:lumMod val="50000"/>
                                    </a:schemeClr>
                                  </a:solidFill>
                                  <a:latin typeface="Cambria Math" panose="02040503050406030204" pitchFamily="18" charset="0"/>
                                </a:rPr>
                                <m:t>(5)</m:t>
                              </m:r>
                            </m:e>
                            <m:sup>
                              <m:r>
                                <a:rPr lang="en-US" i="1">
                                  <a:solidFill>
                                    <a:schemeClr val="tx2">
                                      <a:lumMod val="50000"/>
                                    </a:schemeClr>
                                  </a:solidFill>
                                  <a:latin typeface="Cambria Math" panose="02040503050406030204" pitchFamily="18" charset="0"/>
                                </a:rPr>
                                <m:t>7</m:t>
                              </m:r>
                            </m:sup>
                          </m:sSup>
                          <m:r>
                            <a:rPr lang="en-US" i="1">
                              <a:solidFill>
                                <a:schemeClr val="tx2">
                                  <a:lumMod val="50000"/>
                                </a:schemeClr>
                              </a:solidFill>
                              <a:latin typeface="Cambria Math" panose="02040503050406030204" pitchFamily="18" charset="0"/>
                            </a:rPr>
                            <m:t> </m:t>
                          </m:r>
                        </m:num>
                        <m:den>
                          <m:r>
                            <a:rPr lang="en-US" i="1">
                              <a:solidFill>
                                <a:schemeClr val="tx2">
                                  <a:lumMod val="50000"/>
                                </a:schemeClr>
                              </a:solidFill>
                              <a:latin typeface="Cambria Math" panose="02040503050406030204" pitchFamily="18" charset="0"/>
                            </a:rPr>
                            <m:t>7 !</m:t>
                          </m:r>
                        </m:den>
                      </m:f>
                      <m:r>
                        <a:rPr lang="en-US" i="1">
                          <a:solidFill>
                            <a:schemeClr val="tx2">
                              <a:lumMod val="50000"/>
                            </a:schemeClr>
                          </a:solidFill>
                          <a:latin typeface="Cambria Math" panose="02040503050406030204" pitchFamily="18" charset="0"/>
                        </a:rPr>
                        <m:t>=0.1044</m:t>
                      </m:r>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𝟕</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𝟏𝟎𝟒𝟒</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11758534" cy="3367653"/>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885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794131"/>
            <a:ext cx="11929643" cy="1394433"/>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Average number of accidents on any day on a national highway is 1.8. Determine the probability that the number of accidents are at least 1 and at most 1.</a:t>
            </a:r>
            <a:endParaRPr lang="en-IN" dirty="0"/>
          </a:p>
        </p:txBody>
      </p:sp>
      <p:sp>
        <p:nvSpPr>
          <p:cNvPr id="2" name="Title 1"/>
          <p:cNvSpPr>
            <a:spLocks noGrp="1"/>
          </p:cNvSpPr>
          <p:nvPr>
            <p:ph type="title"/>
          </p:nvPr>
        </p:nvSpPr>
        <p:spPr/>
        <p:txBody>
          <a:bodyPr/>
          <a:lstStyle/>
          <a:p>
            <a:r>
              <a:rPr lang="en-GB" dirty="0"/>
              <a:t>Method 2 ⇝ Example 6</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6" y="241150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6" y="2271494"/>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a:t>
                </a:r>
                <a14:m>
                  <m:oMath xmlns:m="http://schemas.openxmlformats.org/officeDocument/2006/math">
                    <m:r>
                      <m:rPr>
                        <m:sty m:val="p"/>
                      </m:rPr>
                      <a:rPr lang="en-US">
                        <a:solidFill>
                          <a:schemeClr val="tx2">
                            <a:lumMod val="50000"/>
                          </a:schemeClr>
                        </a:solidFill>
                        <a:latin typeface="Cambria Math" panose="02040503050406030204" pitchFamily="18" charset="0"/>
                      </a:rPr>
                      <m:t>λ</m:t>
                    </m:r>
                    <m:r>
                      <a:rPr lang="en-IN" b="0" i="0" smtClean="0">
                        <a:solidFill>
                          <a:schemeClr val="tx2">
                            <a:lumMod val="50000"/>
                          </a:schemeClr>
                        </a:solidFill>
                        <a:latin typeface="Cambria Math" panose="02040503050406030204" pitchFamily="18" charset="0"/>
                      </a:rPr>
                      <m:t>=1.8</m:t>
                    </m:r>
                  </m:oMath>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25596" y="2271494"/>
                <a:ext cx="10200837" cy="738664"/>
              </a:xfrm>
              <a:prstGeom prst="rect">
                <a:avLst/>
              </a:prstGeom>
              <a:blipFill rotWithShape="0">
                <a:blip r:embed="rId2"/>
                <a:stretch>
                  <a:fillRect l="-1255"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31177" y="3157656"/>
                <a:ext cx="11929643" cy="2159566"/>
              </a:xfrm>
              <a:prstGeom prst="rect">
                <a:avLst/>
              </a:prstGeom>
            </p:spPr>
            <p:txBody>
              <a:bodyPr wrap="square">
                <a:spAutoFit/>
              </a:bodyPr>
              <a:lstStyle/>
              <a:p>
                <a:pPr lvl="0">
                  <a:lnSpc>
                    <a:spcPct val="150000"/>
                  </a:lnSpc>
                  <a:spcBef>
                    <a:spcPts val="1000"/>
                  </a:spcBef>
                  <a:buClr>
                    <a:schemeClr val="accent6"/>
                  </a:buClr>
                </a:pPr>
                <a:r>
                  <a:rPr lang="en-US" sz="2800" dirty="0">
                    <a:solidFill>
                      <a:srgbClr val="FF0000"/>
                    </a:solidFill>
                  </a:rPr>
                  <a:t>(a) To find the probability  that the number  of accidents are at least </a:t>
                </a:r>
                <a:r>
                  <a:rPr lang="en-US" sz="2800" dirty="0">
                    <a:solidFill>
                      <a:srgbClr val="FF0000"/>
                    </a:solidFill>
                    <a:latin typeface="Cambria Math" panose="02040503050406030204" pitchFamily="18" charset="0"/>
                  </a:rPr>
                  <a:t>1 </a:t>
                </a:r>
                <a14:m>
                  <m:oMath xmlns:m="http://schemas.openxmlformats.org/officeDocument/2006/math">
                    <m:r>
                      <a:rPr lang="en-US" sz="2800" b="0" i="0">
                        <a:solidFill>
                          <a:srgbClr val="FF0000"/>
                        </a:solidFill>
                        <a:latin typeface="Cambria Math" panose="02040503050406030204" pitchFamily="18" charset="0"/>
                      </a:rPr>
                      <m:t>(</m:t>
                    </m:r>
                    <m:r>
                      <m:rPr>
                        <m:sty m:val="p"/>
                      </m:rPr>
                      <a:rPr lang="en-US" sz="2800" b="0" i="0">
                        <a:solidFill>
                          <a:srgbClr val="FF0000"/>
                        </a:solidFill>
                        <a:latin typeface="Cambria Math" panose="02040503050406030204" pitchFamily="18" charset="0"/>
                      </a:rPr>
                      <m:t>x</m:t>
                    </m:r>
                    <m:r>
                      <a:rPr lang="en-US" sz="2800" b="0" i="0">
                        <a:solidFill>
                          <a:srgbClr val="FF0000"/>
                        </a:solidFill>
                        <a:latin typeface="Cambria Math" panose="02040503050406030204" pitchFamily="18" charset="0"/>
                      </a:rPr>
                      <m:t>≥1)</m:t>
                    </m:r>
                  </m:oMath>
                </a14:m>
                <a:endParaRPr lang="en-IN" sz="2800" dirty="0">
                  <a:solidFill>
                    <a:srgbClr val="FF0000"/>
                  </a:solidFill>
                  <a:latin typeface="Cambria Math" panose="02040503050406030204" pitchFamily="18" charset="0"/>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IN" sz="2800" b="0" i="0" smtClean="0">
                              <a:solidFill>
                                <a:schemeClr val="tx2">
                                  <a:lumMod val="50000"/>
                                </a:schemeClr>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rPr>
                            <m:t>≥1</m:t>
                          </m:r>
                        </m:e>
                      </m:d>
                      <m:r>
                        <a:rPr lang="en-US" sz="2800" b="0" i="0">
                          <a:solidFill>
                            <a:schemeClr val="tx2">
                              <a:lumMod val="50000"/>
                            </a:schemeClr>
                          </a:solidFill>
                          <a:latin typeface="Cambria Math" panose="02040503050406030204" pitchFamily="18" charset="0"/>
                        </a:rPr>
                        <m:t>=1−</m:t>
                      </m:r>
                      <m:r>
                        <m:rPr>
                          <m:sty m:val="p"/>
                        </m:rPr>
                        <a:rPr lang="en-US" sz="2800" b="0" i="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IN" sz="2800" b="0" i="0" smtClean="0">
                              <a:solidFill>
                                <a:schemeClr val="tx2">
                                  <a:lumMod val="50000"/>
                                </a:schemeClr>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rPr>
                            <m:t>&lt;1</m:t>
                          </m:r>
                        </m:e>
                      </m:d>
                    </m:oMath>
                  </m:oMathPara>
                </a14:m>
                <a:endParaRPr lang="en-IN" sz="2800" dirty="0">
                  <a:solidFill>
                    <a:schemeClr val="tx2">
                      <a:lumMod val="50000"/>
                    </a:schemeClr>
                  </a:solidFill>
                  <a:latin typeface="Cambria Math" panose="02040503050406030204" pitchFamily="18" charset="0"/>
                </a:endParaRPr>
              </a:p>
              <a:p>
                <a:pPr>
                  <a:lnSpc>
                    <a:spcPct val="150000"/>
                  </a:lnSpc>
                  <a:spcBef>
                    <a:spcPts val="1000"/>
                  </a:spcBef>
                  <a:buClr>
                    <a:schemeClr val="accent6"/>
                  </a:buClr>
                </a:pPr>
                <a14:m>
                  <m:oMath xmlns:m="http://schemas.openxmlformats.org/officeDocument/2006/math">
                    <m:r>
                      <m:rPr>
                        <m:sty m:val="p"/>
                      </m:rPr>
                      <a:rPr lang="en-US" sz="2800" b="0" i="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IN" sz="2800" b="0" i="0" smtClean="0">
                            <a:solidFill>
                              <a:schemeClr val="tx2">
                                <a:lumMod val="50000"/>
                              </a:schemeClr>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rPr>
                          <m:t>≥1</m:t>
                        </m:r>
                      </m:e>
                    </m:d>
                    <m:r>
                      <a:rPr lang="en-US" sz="2800" b="0" i="0">
                        <a:solidFill>
                          <a:schemeClr val="tx2">
                            <a:lumMod val="50000"/>
                          </a:schemeClr>
                        </a:solidFill>
                        <a:latin typeface="Cambria Math" panose="02040503050406030204" pitchFamily="18" charset="0"/>
                      </a:rPr>
                      <m:t>=1−</m:t>
                    </m:r>
                    <m:r>
                      <m:rPr>
                        <m:sty m:val="p"/>
                      </m:rPr>
                      <a:rPr lang="en-US" sz="2800" b="0" i="0">
                        <a:solidFill>
                          <a:schemeClr val="tx2">
                            <a:lumMod val="50000"/>
                          </a:schemeClr>
                        </a:solidFill>
                        <a:latin typeface="Cambria Math" panose="02040503050406030204" pitchFamily="18" charset="0"/>
                      </a:rPr>
                      <m:t>P</m:t>
                    </m:r>
                    <m:r>
                      <a:rPr lang="en-US" sz="2800" b="0" i="0">
                        <a:solidFill>
                          <a:schemeClr val="tx2">
                            <a:lumMod val="50000"/>
                          </a:schemeClr>
                        </a:solidFill>
                        <a:latin typeface="Cambria Math" panose="02040503050406030204" pitchFamily="18" charset="0"/>
                      </a:rPr>
                      <m:t>(0)</m:t>
                    </m:r>
                  </m:oMath>
                </a14:m>
                <a:r>
                  <a:rPr lang="en-US" sz="2800" dirty="0">
                    <a:solidFill>
                      <a:schemeClr val="tx2">
                        <a:lumMod val="50000"/>
                      </a:schemeClr>
                    </a:solidFill>
                    <a:latin typeface="Cambria Math" panose="02040503050406030204" pitchFamily="18" charset="0"/>
                  </a:rPr>
                  <a:t>    -------- (1)</a:t>
                </a:r>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7" y="3157656"/>
                <a:ext cx="11929643" cy="2159566"/>
              </a:xfrm>
              <a:prstGeom prst="rect">
                <a:avLst/>
              </a:prstGeom>
              <a:blipFill rotWithShape="0">
                <a:blip r:embed="rId3"/>
                <a:stretch>
                  <a:fillRect l="-1074" b="-3390"/>
                </a:stretch>
              </a:blipFill>
            </p:spPr>
            <p:txBody>
              <a:bodyPr/>
              <a:lstStyle/>
              <a:p>
                <a:r>
                  <a:rPr lang="en-IN">
                    <a:noFill/>
                  </a:rPr>
                  <a:t> </a:t>
                </a:r>
              </a:p>
            </p:txBody>
          </p:sp>
        </mc:Fallback>
      </mc:AlternateContent>
    </p:spTree>
    <p:extLst>
      <p:ext uri="{BB962C8B-B14F-4D97-AF65-F5344CB8AC3E}">
        <p14:creationId xmlns:p14="http://schemas.microsoft.com/office/powerpoint/2010/main" val="274382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6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201239" y="798285"/>
                <a:ext cx="5435063" cy="400705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b="0" i="0" dirty="0">
                    <a:solidFill>
                      <a:schemeClr val="tx2">
                        <a:lumMod val="50000"/>
                      </a:schemeClr>
                    </a:solidFill>
                    <a:latin typeface="Cambria Math" panose="02040503050406030204" pitchFamily="18" charset="0"/>
                  </a:rPr>
                  <a:t>To find </a:t>
                </a:r>
                <a14:m>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=0</m:t>
                        </m:r>
                      </m:e>
                    </m:d>
                  </m:oMath>
                </a14:m>
                <a:r>
                  <a:rPr lang="en-US" b="0" i="0" dirty="0">
                    <a:solidFill>
                      <a:schemeClr val="tx2">
                        <a:lumMod val="50000"/>
                      </a:schemeClr>
                    </a:solidFill>
                    <a:latin typeface="Cambria Math" panose="02040503050406030204" pitchFamily="18" charset="0"/>
                  </a:rPr>
                  <a:t>,</a:t>
                </a: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x</m:t>
                          </m:r>
                        </m:e>
                      </m:d>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e</m:t>
                              </m:r>
                            </m:e>
                            <m:sup>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λ</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λ</m:t>
                              </m:r>
                            </m:e>
                            <m:sup>
                              <m:r>
                                <m:rPr>
                                  <m:sty m:val="p"/>
                                </m:rPr>
                                <a:rPr lang="en-US" b="0" i="0">
                                  <a:solidFill>
                                    <a:schemeClr val="tx2">
                                      <a:lumMod val="50000"/>
                                    </a:schemeClr>
                                  </a:solidFill>
                                  <a:latin typeface="Cambria Math" panose="02040503050406030204" pitchFamily="18" charset="0"/>
                                </a:rPr>
                                <m:t>x</m:t>
                              </m:r>
                            </m:sup>
                          </m:sSup>
                          <m:r>
                            <a:rPr lang="en-US" b="0" i="0">
                              <a:solidFill>
                                <a:schemeClr val="tx2">
                                  <a:lumMod val="50000"/>
                                </a:schemeClr>
                              </a:solidFill>
                              <a:latin typeface="Cambria Math" panose="02040503050406030204" pitchFamily="18" charset="0"/>
                            </a:rPr>
                            <m:t> </m:t>
                          </m:r>
                        </m:num>
                        <m:den>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 !</m:t>
                          </m:r>
                        </m:den>
                      </m:f>
                      <m:r>
                        <a:rPr lang="en-US" b="0" i="0">
                          <a:solidFill>
                            <a:schemeClr val="tx2">
                              <a:lumMod val="50000"/>
                            </a:schemeClr>
                          </a:solidFill>
                          <a:latin typeface="Cambria Math" panose="02040503050406030204" pitchFamily="18" charset="0"/>
                        </a:rPr>
                        <m:t>; </m:t>
                      </m:r>
                      <m:r>
                        <m:rPr>
                          <m:sty m:val="p"/>
                        </m:rPr>
                        <a:rPr lang="en-US" b="0" i="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=0,1,2,3,…</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=0</m:t>
                          </m:r>
                        </m:e>
                      </m:d>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e</m:t>
                              </m:r>
                            </m:e>
                            <m:sup>
                              <m:r>
                                <a:rPr lang="en-US" b="0" i="0">
                                  <a:solidFill>
                                    <a:schemeClr val="tx2">
                                      <a:lumMod val="50000"/>
                                    </a:schemeClr>
                                  </a:solidFill>
                                  <a:latin typeface="Cambria Math" panose="02040503050406030204" pitchFamily="18" charset="0"/>
                                </a:rPr>
                                <m:t>−1.8</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(1.8)</m:t>
                              </m:r>
                            </m:e>
                            <m:sup>
                              <m:r>
                                <a:rPr lang="en-US" b="0" i="0">
                                  <a:solidFill>
                                    <a:schemeClr val="tx2">
                                      <a:lumMod val="50000"/>
                                    </a:schemeClr>
                                  </a:solidFill>
                                  <a:latin typeface="Cambria Math" panose="02040503050406030204" pitchFamily="18" charset="0"/>
                                </a:rPr>
                                <m:t>0</m:t>
                              </m:r>
                            </m:sup>
                          </m:sSup>
                          <m:r>
                            <a:rPr lang="en-US" b="0" i="0">
                              <a:solidFill>
                                <a:schemeClr val="tx2">
                                  <a:lumMod val="50000"/>
                                </a:schemeClr>
                              </a:solidFill>
                              <a:latin typeface="Cambria Math" panose="02040503050406030204" pitchFamily="18" charset="0"/>
                            </a:rPr>
                            <m:t> </m:t>
                          </m:r>
                        </m:num>
                        <m:den>
                          <m:r>
                            <a:rPr lang="en-US" b="0" i="0">
                              <a:solidFill>
                                <a:schemeClr val="tx2">
                                  <a:lumMod val="50000"/>
                                </a:schemeClr>
                              </a:solidFill>
                              <a:latin typeface="Cambria Math" panose="02040503050406030204" pitchFamily="18" charset="0"/>
                            </a:rPr>
                            <m:t>0 !</m:t>
                          </m:r>
                        </m:den>
                      </m:f>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𝟏𝟔𝟓𝟑</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201239" y="798285"/>
                <a:ext cx="5435063" cy="4007059"/>
              </a:xfrm>
              <a:prstGeom prst="rect">
                <a:avLst/>
              </a:prstGeom>
              <a:blipFill rotWithShape="0">
                <a:blip r:embed="rId2"/>
                <a:stretch>
                  <a:fillRect l="-224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0C88CCD-ABF6-487A-A003-269BE830EF70}"/>
                  </a:ext>
                </a:extLst>
              </p:cNvPr>
              <p:cNvSpPr txBox="1">
                <a:spLocks/>
              </p:cNvSpPr>
              <p:nvPr/>
            </p:nvSpPr>
            <p:spPr>
              <a:xfrm>
                <a:off x="7864840" y="711201"/>
                <a:ext cx="4112302" cy="267765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dirty="0">
                    <a:solidFill>
                      <a:schemeClr val="tx2">
                        <a:lumMod val="50000"/>
                      </a:schemeClr>
                    </a:solidFill>
                  </a:rPr>
                  <a:t>From equation </a:t>
                </a:r>
                <a:r>
                  <a:rPr lang="en-US" dirty="0">
                    <a:solidFill>
                      <a:schemeClr val="tx2">
                        <a:lumMod val="50000"/>
                      </a:schemeClr>
                    </a:solidFill>
                    <a:latin typeface="Cambria Math" panose="02040503050406030204" pitchFamily="18" charset="0"/>
                  </a:rPr>
                  <a:t>(1), </a:t>
                </a: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=1−</m:t>
                      </m:r>
                      <m:r>
                        <m:rPr>
                          <m:sty m:val="p"/>
                        </m:rPr>
                        <a:rPr lang="en-US" b="0" i="0">
                          <a:solidFill>
                            <a:schemeClr val="tx2">
                              <a:lumMod val="50000"/>
                            </a:schemeClr>
                          </a:solidFill>
                          <a:latin typeface="Cambria Math" panose="02040503050406030204" pitchFamily="18" charset="0"/>
                        </a:rPr>
                        <m:t>P</m:t>
                      </m:r>
                      <m:r>
                        <a:rPr lang="en-US" b="0" i="0">
                          <a:solidFill>
                            <a:schemeClr val="tx2">
                              <a:lumMod val="50000"/>
                            </a:schemeClr>
                          </a:solidFill>
                          <a:latin typeface="Cambria Math" panose="02040503050406030204" pitchFamily="18" charset="0"/>
                        </a:rPr>
                        <m:t>(0)</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b="0" i="0">
                              <a:solidFill>
                                <a:schemeClr val="tx2">
                                  <a:lumMod val="50000"/>
                                </a:schemeClr>
                              </a:solidFill>
                              <a:latin typeface="Cambria Math" panose="02040503050406030204" pitchFamily="18" charset="0"/>
                            </a:rPr>
                            <m:t>≥1</m:t>
                          </m:r>
                        </m:e>
                      </m:d>
                      <m:r>
                        <a:rPr lang="en-US" b="0" i="0">
                          <a:solidFill>
                            <a:schemeClr val="tx2">
                              <a:lumMod val="50000"/>
                            </a:schemeClr>
                          </a:solidFill>
                          <a:latin typeface="Cambria Math" panose="02040503050406030204" pitchFamily="18" charset="0"/>
                        </a:rPr>
                        <m:t>=1−0.1653</m:t>
                      </m:r>
                    </m:oMath>
                  </m:oMathPara>
                </a14:m>
                <a:endParaRPr lang="en-IN" b="0" i="0"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𝟏</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𝟖𝟑𝟒𝟕</m:t>
                      </m:r>
                    </m:oMath>
                  </m:oMathPara>
                </a14:m>
                <a:endParaRPr lang="en-IN" b="1" dirty="0">
                  <a:solidFill>
                    <a:srgbClr val="FF0000"/>
                  </a:solidFill>
                  <a:latin typeface="Cambria Math" panose="02040503050406030204" pitchFamily="18" charset="0"/>
                </a:endParaRPr>
              </a:p>
            </p:txBody>
          </p:sp>
        </mc:Choice>
        <mc:Fallback xmlns="">
          <p:sp>
            <p:nvSpPr>
              <p:cNvPr id="4"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7864840" y="711201"/>
                <a:ext cx="4112302" cy="2677656"/>
              </a:xfrm>
              <a:prstGeom prst="rect">
                <a:avLst/>
              </a:prstGeom>
              <a:blipFill rotWithShape="0">
                <a:blip r:embed="rId3"/>
                <a:stretch>
                  <a:fillRect l="-2963"/>
                </a:stretch>
              </a:blipFill>
            </p:spPr>
            <p:txBody>
              <a:bodyPr/>
              <a:lstStyle/>
              <a:p>
                <a:r>
                  <a:rPr lang="en-IN">
                    <a:noFill/>
                  </a:rPr>
                  <a:t> </a:t>
                </a:r>
              </a:p>
            </p:txBody>
          </p:sp>
        </mc:Fallback>
      </mc:AlternateContent>
      <p:cxnSp>
        <p:nvCxnSpPr>
          <p:cNvPr id="5" name="Straight Connector 4"/>
          <p:cNvCxnSpPr/>
          <p:nvPr/>
        </p:nvCxnSpPr>
        <p:spPr>
          <a:xfrm>
            <a:off x="6787166" y="798285"/>
            <a:ext cx="0" cy="5666909"/>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76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up)">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P spid="4"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6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36843" y="798285"/>
                <a:ext cx="6573050" cy="555228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pPr>
                <a:r>
                  <a:rPr lang="en-US" dirty="0">
                    <a:solidFill>
                      <a:srgbClr val="FF0000"/>
                    </a:solidFill>
                  </a:rPr>
                  <a:t>(b) To find the probability  that the number  of accidents are at most </a:t>
                </a:r>
                <a:r>
                  <a:rPr lang="en-US" dirty="0">
                    <a:solidFill>
                      <a:srgbClr val="FF0000"/>
                    </a:solidFill>
                    <a:latin typeface="Cambria Math" panose="02040503050406030204" pitchFamily="18" charset="0"/>
                  </a:rPr>
                  <a:t>1 </a:t>
                </a:r>
                <a14:m>
                  <m:oMath xmlns:m="http://schemas.openxmlformats.org/officeDocument/2006/math">
                    <m:d>
                      <m:dPr>
                        <m:ctrlPr>
                          <a:rPr lang="en-US" i="1">
                            <a:solidFill>
                              <a:srgbClr val="FF0000"/>
                            </a:solidFill>
                            <a:latin typeface="Cambria Math" panose="02040503050406030204" pitchFamily="18" charset="0"/>
                          </a:rPr>
                        </m:ctrlPr>
                      </m:dPr>
                      <m:e>
                        <m:r>
                          <m:rPr>
                            <m:sty m:val="p"/>
                          </m:rPr>
                          <a:rPr lang="en-US" i="0">
                            <a:solidFill>
                              <a:srgbClr val="FF0000"/>
                            </a:solidFill>
                            <a:latin typeface="Cambria Math" panose="02040503050406030204" pitchFamily="18" charset="0"/>
                          </a:rPr>
                          <m:t>x</m:t>
                        </m:r>
                        <m:r>
                          <a:rPr lang="en-US" i="0">
                            <a:solidFill>
                              <a:srgbClr val="FF0000"/>
                            </a:solidFill>
                            <a:latin typeface="Cambria Math" panose="02040503050406030204" pitchFamily="18" charset="0"/>
                          </a:rPr>
                          <m:t>≤1</m:t>
                        </m:r>
                      </m:e>
                    </m:d>
                    <m:r>
                      <a:rPr lang="en-IN" b="0" i="0" smtClean="0">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a:p>
                <a:pPr marL="0" indent="0" algn="l">
                  <a:lnSpc>
                    <a:spcPct val="150000"/>
                  </a:lnSpc>
                  <a:buNone/>
                </a:pPr>
                <a14:m>
                  <m:oMath xmlns:m="http://schemas.openxmlformats.org/officeDocument/2006/math">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≤1</m:t>
                        </m:r>
                      </m:e>
                    </m:d>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=0</m:t>
                        </m:r>
                      </m:e>
                    </m:d>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=1</m:t>
                        </m:r>
                      </m:e>
                    </m:d>
                  </m:oMath>
                </a14:m>
                <a:r>
                  <a:rPr lang="en-US" dirty="0">
                    <a:solidFill>
                      <a:schemeClr val="tx2">
                        <a:lumMod val="50000"/>
                      </a:schemeClr>
                    </a:solidFill>
                    <a:latin typeface="Cambria Math" panose="02040503050406030204" pitchFamily="18" charset="0"/>
                  </a:rPr>
                  <a:t>  ----- (2)</a:t>
                </a:r>
              </a:p>
              <a:p>
                <a:pPr marL="0" indent="0" algn="l">
                  <a:lnSpc>
                    <a:spcPct val="150000"/>
                  </a:lnSpc>
                  <a:buNone/>
                </a:pPr>
                <a:r>
                  <a:rPr lang="en-US" i="0" dirty="0">
                    <a:solidFill>
                      <a:schemeClr val="tx2">
                        <a:lumMod val="50000"/>
                      </a:schemeClr>
                    </a:solidFill>
                  </a:rPr>
                  <a:t>To find</a:t>
                </a:r>
                <a:r>
                  <a:rPr lang="en-US" i="0" dirty="0">
                    <a:solidFill>
                      <a:schemeClr val="tx2">
                        <a:lumMod val="50000"/>
                      </a:schemeClr>
                    </a:solidFill>
                    <a:latin typeface="Cambria Math" panose="02040503050406030204" pitchFamily="18" charset="0"/>
                  </a:rPr>
                  <a:t>, </a:t>
                </a:r>
                <a14:m>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a:solidFill>
                              <a:schemeClr val="tx2">
                                <a:lumMod val="50000"/>
                              </a:schemeClr>
                            </a:solidFill>
                            <a:latin typeface="Cambria Math" panose="02040503050406030204" pitchFamily="18" charset="0"/>
                          </a:rPr>
                          <m:t>=1</m:t>
                        </m:r>
                      </m:e>
                    </m:d>
                  </m:oMath>
                </a14:m>
                <a:endParaRPr lang="en-US" i="0"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x</m:t>
                          </m:r>
                        </m:e>
                      </m:d>
                      <m:r>
                        <a:rPr lang="en-US"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0">
                                  <a:solidFill>
                                    <a:schemeClr val="tx2">
                                      <a:lumMod val="50000"/>
                                    </a:schemeClr>
                                  </a:solidFill>
                                  <a:latin typeface="Cambria Math" panose="02040503050406030204" pitchFamily="18" charset="0"/>
                                </a:rPr>
                                <m:t>e</m:t>
                              </m:r>
                            </m:e>
                            <m:sup>
                              <m:r>
                                <a:rPr lang="en-US" i="0">
                                  <a:solidFill>
                                    <a:schemeClr val="tx2">
                                      <a:lumMod val="50000"/>
                                    </a:schemeClr>
                                  </a:solidFill>
                                  <a:latin typeface="Cambria Math" panose="02040503050406030204" pitchFamily="18" charset="0"/>
                                </a:rPr>
                                <m:t>−</m:t>
                              </m:r>
                              <m:r>
                                <m:rPr>
                                  <m:sty m:val="p"/>
                                </m:rPr>
                                <a:rPr lang="en-US" i="0">
                                  <a:solidFill>
                                    <a:schemeClr val="tx2">
                                      <a:lumMod val="50000"/>
                                    </a:schemeClr>
                                  </a:solidFill>
                                  <a:latin typeface="Cambria Math" panose="02040503050406030204" pitchFamily="18" charset="0"/>
                                </a:rPr>
                                <m:t>λ</m:t>
                              </m:r>
                            </m:sup>
                          </m:sSup>
                          <m:r>
                            <a:rPr lang="en-US"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0">
                                  <a:solidFill>
                                    <a:schemeClr val="tx2">
                                      <a:lumMod val="50000"/>
                                    </a:schemeClr>
                                  </a:solidFill>
                                  <a:latin typeface="Cambria Math" panose="02040503050406030204" pitchFamily="18" charset="0"/>
                                </a:rPr>
                                <m:t>λ</m:t>
                              </m:r>
                            </m:e>
                            <m:sup>
                              <m:r>
                                <m:rPr>
                                  <m:sty m:val="p"/>
                                </m:rPr>
                                <a:rPr lang="en-US" i="0">
                                  <a:solidFill>
                                    <a:schemeClr val="tx2">
                                      <a:lumMod val="50000"/>
                                    </a:schemeClr>
                                  </a:solidFill>
                                  <a:latin typeface="Cambria Math" panose="02040503050406030204" pitchFamily="18" charset="0"/>
                                </a:rPr>
                                <m:t>x</m:t>
                              </m:r>
                            </m:sup>
                          </m:sSup>
                          <m:r>
                            <a:rPr lang="en-US" i="0">
                              <a:solidFill>
                                <a:schemeClr val="tx2">
                                  <a:lumMod val="50000"/>
                                </a:schemeClr>
                              </a:solidFill>
                              <a:latin typeface="Cambria Math" panose="02040503050406030204" pitchFamily="18" charset="0"/>
                            </a:rPr>
                            <m:t> </m:t>
                          </m:r>
                        </m:num>
                        <m:den>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 !</m:t>
                          </m:r>
                        </m:den>
                      </m:f>
                      <m:r>
                        <a:rPr lang="en-US" i="0">
                          <a:solidFill>
                            <a:schemeClr val="tx2">
                              <a:lumMod val="50000"/>
                            </a:schemeClr>
                          </a:solidFill>
                          <a:latin typeface="Cambria Math" panose="02040503050406030204" pitchFamily="18" charset="0"/>
                        </a:rPr>
                        <m:t>; </m:t>
                      </m:r>
                      <m:r>
                        <m:rPr>
                          <m:sty m:val="p"/>
                        </m:rPr>
                        <a:rPr lang="en-US" i="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=0,1,2,3,…</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i="0">
                              <a:solidFill>
                                <a:schemeClr val="tx2">
                                  <a:lumMod val="50000"/>
                                </a:schemeClr>
                              </a:solidFill>
                              <a:latin typeface="Cambria Math" panose="02040503050406030204" pitchFamily="18" charset="0"/>
                            </a:rPr>
                            <m:t>=1</m:t>
                          </m:r>
                        </m:e>
                      </m:d>
                      <m:r>
                        <a:rPr lang="en-US"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0">
                                  <a:solidFill>
                                    <a:schemeClr val="tx2">
                                      <a:lumMod val="50000"/>
                                    </a:schemeClr>
                                  </a:solidFill>
                                  <a:latin typeface="Cambria Math" panose="02040503050406030204" pitchFamily="18" charset="0"/>
                                </a:rPr>
                                <m:t>e</m:t>
                              </m:r>
                            </m:e>
                            <m:sup>
                              <m:r>
                                <a:rPr lang="en-US" i="0">
                                  <a:solidFill>
                                    <a:schemeClr val="tx2">
                                      <a:lumMod val="50000"/>
                                    </a:schemeClr>
                                  </a:solidFill>
                                  <a:latin typeface="Cambria Math" panose="02040503050406030204" pitchFamily="18" charset="0"/>
                                </a:rPr>
                                <m:t>−1.8</m:t>
                              </m:r>
                            </m:sup>
                          </m:sSup>
                          <m:r>
                            <a:rPr lang="en-US"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i="0">
                                  <a:solidFill>
                                    <a:schemeClr val="tx2">
                                      <a:lumMod val="50000"/>
                                    </a:schemeClr>
                                  </a:solidFill>
                                  <a:latin typeface="Cambria Math" panose="02040503050406030204" pitchFamily="18" charset="0"/>
                                </a:rPr>
                                <m:t>(1.8)</m:t>
                              </m:r>
                            </m:e>
                            <m:sup>
                              <m:r>
                                <a:rPr lang="en-US" i="0">
                                  <a:solidFill>
                                    <a:schemeClr val="tx2">
                                      <a:lumMod val="50000"/>
                                    </a:schemeClr>
                                  </a:solidFill>
                                  <a:latin typeface="Cambria Math" panose="02040503050406030204" pitchFamily="18" charset="0"/>
                                </a:rPr>
                                <m:t>1</m:t>
                              </m:r>
                            </m:sup>
                          </m:sSup>
                          <m:r>
                            <a:rPr lang="en-US" i="0">
                              <a:solidFill>
                                <a:schemeClr val="tx2">
                                  <a:lumMod val="50000"/>
                                </a:schemeClr>
                              </a:solidFill>
                              <a:latin typeface="Cambria Math" panose="02040503050406030204" pitchFamily="18" charset="0"/>
                            </a:rPr>
                            <m:t> </m:t>
                          </m:r>
                        </m:num>
                        <m:den>
                          <m:r>
                            <a:rPr lang="en-US" i="0">
                              <a:solidFill>
                                <a:schemeClr val="tx2">
                                  <a:lumMod val="50000"/>
                                </a:schemeClr>
                              </a:solidFill>
                              <a:latin typeface="Cambria Math" panose="02040503050406030204" pitchFamily="18" charset="0"/>
                            </a:rPr>
                            <m:t>1 !</m:t>
                          </m:r>
                        </m:den>
                      </m:f>
                      <m:r>
                        <a:rPr lang="en-IN" b="0" i="0" smtClean="0">
                          <a:solidFill>
                            <a:schemeClr val="tx2">
                              <a:lumMod val="50000"/>
                            </a:schemeClr>
                          </a:solidFill>
                          <a:latin typeface="Cambria Math" panose="02040503050406030204" pitchFamily="18" charset="0"/>
                        </a:rPr>
                        <m:t>=</m:t>
                      </m:r>
                      <m:r>
                        <a:rPr lang="en-US" b="1">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a:solidFill>
                            <a:srgbClr val="FF0000"/>
                          </a:solidFill>
                          <a:latin typeface="Cambria Math" panose="02040503050406030204" pitchFamily="18" charset="0"/>
                        </a:rPr>
                        <m:t>𝟐𝟗𝟕𝟓</m:t>
                      </m:r>
                    </m:oMath>
                  </m:oMathPara>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36843" y="798285"/>
                <a:ext cx="6573050" cy="5552289"/>
              </a:xfrm>
              <a:prstGeom prst="rect">
                <a:avLst/>
              </a:prstGeom>
              <a:blipFill rotWithShape="0">
                <a:blip r:embed="rId2"/>
                <a:stretch>
                  <a:fillRect l="-1854" r="-296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A0C88CCD-ABF6-487A-A003-269BE830EF70}"/>
                  </a:ext>
                </a:extLst>
              </p:cNvPr>
              <p:cNvSpPr txBox="1">
                <a:spLocks/>
              </p:cNvSpPr>
              <p:nvPr/>
            </p:nvSpPr>
            <p:spPr>
              <a:xfrm>
                <a:off x="6966784" y="786151"/>
                <a:ext cx="5090306" cy="2654573"/>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dirty="0">
                    <a:solidFill>
                      <a:schemeClr val="tx2">
                        <a:lumMod val="50000"/>
                      </a:schemeClr>
                    </a:solidFill>
                  </a:rPr>
                  <a:t>From </a:t>
                </a:r>
                <a:r>
                  <a:rPr lang="en-US" dirty="0" err="1">
                    <a:solidFill>
                      <a:schemeClr val="tx2">
                        <a:lumMod val="50000"/>
                      </a:schemeClr>
                    </a:solidFill>
                  </a:rPr>
                  <a:t>eq</a:t>
                </a:r>
                <a:r>
                  <a:rPr lang="en-US" dirty="0">
                    <a:solidFill>
                      <a:schemeClr val="tx2">
                        <a:lumMod val="50000"/>
                      </a:schemeClr>
                    </a:solidFill>
                  </a:rPr>
                  <a:t> </a:t>
                </a:r>
                <a:r>
                  <a:rPr lang="en-US" dirty="0">
                    <a:solidFill>
                      <a:schemeClr val="tx2">
                        <a:lumMod val="50000"/>
                      </a:schemeClr>
                    </a:solidFill>
                    <a:latin typeface="Cambria Math" panose="02040503050406030204" pitchFamily="18" charset="0"/>
                  </a:rPr>
                  <a:t>(2), </a:t>
                </a: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sz="2700" b="0" i="1">
                          <a:solidFill>
                            <a:schemeClr val="tx2">
                              <a:lumMod val="50000"/>
                            </a:schemeClr>
                          </a:solidFill>
                          <a:latin typeface="Cambria Math" panose="02040503050406030204" pitchFamily="18" charset="0"/>
                        </a:rPr>
                        <m:t>P</m:t>
                      </m:r>
                      <m:d>
                        <m:dPr>
                          <m:ctrlPr>
                            <a:rPr lang="en-IN" sz="2700" i="1">
                              <a:solidFill>
                                <a:schemeClr val="tx2">
                                  <a:lumMod val="50000"/>
                                </a:schemeClr>
                              </a:solidFill>
                              <a:latin typeface="Cambria Math" panose="02040503050406030204" pitchFamily="18" charset="0"/>
                            </a:rPr>
                          </m:ctrlPr>
                        </m:dPr>
                        <m:e>
                          <m:r>
                            <m:rPr>
                              <m:sty m:val="p"/>
                            </m:rPr>
                            <a:rPr lang="en-IN" sz="2700" b="0" i="0" smtClean="0">
                              <a:solidFill>
                                <a:schemeClr val="tx2">
                                  <a:lumMod val="50000"/>
                                </a:schemeClr>
                              </a:solidFill>
                              <a:latin typeface="Cambria Math" panose="02040503050406030204" pitchFamily="18" charset="0"/>
                            </a:rPr>
                            <m:t>X</m:t>
                          </m:r>
                          <m:r>
                            <a:rPr lang="en-US" sz="2700" b="0">
                              <a:solidFill>
                                <a:schemeClr val="tx2">
                                  <a:lumMod val="50000"/>
                                </a:schemeClr>
                              </a:solidFill>
                              <a:latin typeface="Cambria Math" panose="02040503050406030204" pitchFamily="18" charset="0"/>
                            </a:rPr>
                            <m:t>≤</m:t>
                          </m:r>
                          <m:r>
                            <a:rPr lang="en-US" sz="2700" b="0" i="1">
                              <a:solidFill>
                                <a:schemeClr val="tx2">
                                  <a:lumMod val="50000"/>
                                </a:schemeClr>
                              </a:solidFill>
                              <a:latin typeface="Cambria Math" panose="02040503050406030204" pitchFamily="18" charset="0"/>
                            </a:rPr>
                            <m:t>1</m:t>
                          </m:r>
                        </m:e>
                      </m:d>
                      <m:r>
                        <a:rPr lang="en-US" sz="2700" b="0">
                          <a:solidFill>
                            <a:schemeClr val="tx2">
                              <a:lumMod val="50000"/>
                            </a:schemeClr>
                          </a:solidFill>
                          <a:latin typeface="Cambria Math" panose="02040503050406030204" pitchFamily="18" charset="0"/>
                        </a:rPr>
                        <m:t>=</m:t>
                      </m:r>
                      <m:r>
                        <m:rPr>
                          <m:sty m:val="p"/>
                        </m:rPr>
                        <a:rPr lang="en-US" sz="2700" b="0" i="1">
                          <a:solidFill>
                            <a:schemeClr val="tx2">
                              <a:lumMod val="50000"/>
                            </a:schemeClr>
                          </a:solidFill>
                          <a:latin typeface="Cambria Math" panose="02040503050406030204" pitchFamily="18" charset="0"/>
                        </a:rPr>
                        <m:t>P</m:t>
                      </m:r>
                      <m:d>
                        <m:dPr>
                          <m:ctrlPr>
                            <a:rPr lang="en-IN" sz="2700" i="1">
                              <a:solidFill>
                                <a:schemeClr val="tx2">
                                  <a:lumMod val="50000"/>
                                </a:schemeClr>
                              </a:solidFill>
                              <a:latin typeface="Cambria Math" panose="02040503050406030204" pitchFamily="18" charset="0"/>
                            </a:rPr>
                          </m:ctrlPr>
                        </m:dPr>
                        <m:e>
                          <m:r>
                            <m:rPr>
                              <m:sty m:val="p"/>
                            </m:rPr>
                            <a:rPr lang="en-IN" sz="2700" b="0" i="0" smtClean="0">
                              <a:solidFill>
                                <a:schemeClr val="tx2">
                                  <a:lumMod val="50000"/>
                                </a:schemeClr>
                              </a:solidFill>
                              <a:latin typeface="Cambria Math" panose="02040503050406030204" pitchFamily="18" charset="0"/>
                            </a:rPr>
                            <m:t>X</m:t>
                          </m:r>
                          <m:r>
                            <a:rPr lang="en-US" sz="2700" b="0">
                              <a:solidFill>
                                <a:schemeClr val="tx2">
                                  <a:lumMod val="50000"/>
                                </a:schemeClr>
                              </a:solidFill>
                              <a:latin typeface="Cambria Math" panose="02040503050406030204" pitchFamily="18" charset="0"/>
                            </a:rPr>
                            <m:t>=</m:t>
                          </m:r>
                          <m:r>
                            <a:rPr lang="en-US" sz="2700" b="0" i="1">
                              <a:solidFill>
                                <a:schemeClr val="tx2">
                                  <a:lumMod val="50000"/>
                                </a:schemeClr>
                              </a:solidFill>
                              <a:latin typeface="Cambria Math" panose="02040503050406030204" pitchFamily="18" charset="0"/>
                            </a:rPr>
                            <m:t>0</m:t>
                          </m:r>
                        </m:e>
                      </m:d>
                      <m:r>
                        <a:rPr lang="en-US" sz="2700" b="0">
                          <a:solidFill>
                            <a:schemeClr val="tx2">
                              <a:lumMod val="50000"/>
                            </a:schemeClr>
                          </a:solidFill>
                          <a:latin typeface="Cambria Math" panose="02040503050406030204" pitchFamily="18" charset="0"/>
                        </a:rPr>
                        <m:t>+</m:t>
                      </m:r>
                      <m:r>
                        <m:rPr>
                          <m:sty m:val="p"/>
                        </m:rPr>
                        <a:rPr lang="en-US" sz="2700" b="0" i="1">
                          <a:solidFill>
                            <a:schemeClr val="tx2">
                              <a:lumMod val="50000"/>
                            </a:schemeClr>
                          </a:solidFill>
                          <a:latin typeface="Cambria Math" panose="02040503050406030204" pitchFamily="18" charset="0"/>
                        </a:rPr>
                        <m:t>P</m:t>
                      </m:r>
                      <m:d>
                        <m:dPr>
                          <m:ctrlPr>
                            <a:rPr lang="en-IN" sz="2700" i="1">
                              <a:solidFill>
                                <a:schemeClr val="tx2">
                                  <a:lumMod val="50000"/>
                                </a:schemeClr>
                              </a:solidFill>
                              <a:latin typeface="Cambria Math" panose="02040503050406030204" pitchFamily="18" charset="0"/>
                            </a:rPr>
                          </m:ctrlPr>
                        </m:dPr>
                        <m:e>
                          <m:r>
                            <m:rPr>
                              <m:sty m:val="p"/>
                            </m:rPr>
                            <a:rPr lang="en-IN" sz="2700" b="0" i="0" smtClean="0">
                              <a:solidFill>
                                <a:schemeClr val="tx2">
                                  <a:lumMod val="50000"/>
                                </a:schemeClr>
                              </a:solidFill>
                              <a:latin typeface="Cambria Math" panose="02040503050406030204" pitchFamily="18" charset="0"/>
                            </a:rPr>
                            <m:t>X</m:t>
                          </m:r>
                          <m:r>
                            <a:rPr lang="en-US" sz="2700" b="0">
                              <a:solidFill>
                                <a:schemeClr val="tx2">
                                  <a:lumMod val="50000"/>
                                </a:schemeClr>
                              </a:solidFill>
                              <a:latin typeface="Cambria Math" panose="02040503050406030204" pitchFamily="18" charset="0"/>
                            </a:rPr>
                            <m:t>=</m:t>
                          </m:r>
                          <m:r>
                            <a:rPr lang="en-US" sz="2700" b="0" i="1">
                              <a:solidFill>
                                <a:schemeClr val="tx2">
                                  <a:lumMod val="50000"/>
                                </a:schemeClr>
                              </a:solidFill>
                              <a:latin typeface="Cambria Math" panose="02040503050406030204" pitchFamily="18" charset="0"/>
                            </a:rPr>
                            <m:t>1</m:t>
                          </m:r>
                        </m:e>
                      </m:d>
                    </m:oMath>
                  </m:oMathPara>
                </a14:m>
                <a:endParaRPr lang="en-IN" sz="2700"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1653</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2975</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𝟏</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𝟒𝟔𝟐𝟖</m:t>
                      </m:r>
                    </m:oMath>
                  </m:oMathPara>
                </a14:m>
                <a:endParaRPr lang="en-IN" b="1" dirty="0">
                  <a:solidFill>
                    <a:srgbClr val="FF0000"/>
                  </a:solidFill>
                  <a:latin typeface="Cambria Math" panose="02040503050406030204" pitchFamily="18" charset="0"/>
                </a:endParaRPr>
              </a:p>
            </p:txBody>
          </p:sp>
        </mc:Choice>
        <mc:Fallback xmlns="">
          <p:sp>
            <p:nvSpPr>
              <p:cNvPr id="4"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66784" y="786151"/>
                <a:ext cx="5090306" cy="2654573"/>
              </a:xfrm>
              <a:prstGeom prst="rect">
                <a:avLst/>
              </a:prstGeom>
              <a:blipFill rotWithShape="0">
                <a:blip r:embed="rId3"/>
                <a:stretch>
                  <a:fillRect l="-2515"/>
                </a:stretch>
              </a:blipFill>
            </p:spPr>
            <p:txBody>
              <a:bodyPr/>
              <a:lstStyle/>
              <a:p>
                <a:r>
                  <a:rPr lang="en-IN">
                    <a:noFill/>
                  </a:rPr>
                  <a:t> </a:t>
                </a:r>
              </a:p>
            </p:txBody>
          </p:sp>
        </mc:Fallback>
      </mc:AlternateContent>
      <p:cxnSp>
        <p:nvCxnSpPr>
          <p:cNvPr id="5" name="Straight Connector 4"/>
          <p:cNvCxnSpPr/>
          <p:nvPr/>
        </p:nvCxnSpPr>
        <p:spPr>
          <a:xfrm>
            <a:off x="6825803" y="798285"/>
            <a:ext cx="0" cy="570554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965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P spid="4"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794131"/>
                <a:ext cx="11929643" cy="1394433"/>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probability that a person catch corona virus is 0.001. Find the probability that out of 3000 persons</a:t>
                </a:r>
                <a14:m>
                  <m:oMath xmlns:m="http://schemas.openxmlformats.org/officeDocument/2006/math">
                    <m:r>
                      <a:rPr lang="en-US">
                        <a:latin typeface="Cambria Math" panose="02040503050406030204" pitchFamily="18" charset="0"/>
                      </a:rPr>
                      <m:t> </m:t>
                    </m:r>
                  </m:oMath>
                </a14:m>
                <a:r>
                  <a:rPr lang="en-US" dirty="0"/>
                  <a:t>exactly 3, more than 2 persons will catch the virus.</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794131"/>
                <a:ext cx="11929643" cy="1394433"/>
              </a:xfrm>
              <a:prstGeom prst="rect">
                <a:avLst/>
              </a:prstGeom>
              <a:blipFill rotWithShape="0">
                <a:blip r:embed="rId2"/>
                <a:stretch>
                  <a:fillRect l="-1074" r="-1074" b="-655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 ⇝ Example 7</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6" y="241150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6" y="2271494"/>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a:t>
                </a:r>
                <a14:m>
                  <m:oMath xmlns:m="http://schemas.openxmlformats.org/officeDocument/2006/math">
                    <m:r>
                      <m:rPr>
                        <m:sty m:val="p"/>
                      </m:rPr>
                      <a:rPr lang="en-IN" b="0" i="0" smtClean="0">
                        <a:solidFill>
                          <a:schemeClr val="tx2">
                            <a:lumMod val="50000"/>
                          </a:schemeClr>
                        </a:solidFill>
                        <a:latin typeface="Cambria Math" panose="02040503050406030204" pitchFamily="18" charset="0"/>
                      </a:rPr>
                      <m:t>n</m:t>
                    </m:r>
                    <m:r>
                      <a:rPr lang="en-IN" b="0" i="0" smtClean="0">
                        <a:solidFill>
                          <a:schemeClr val="tx2">
                            <a:lumMod val="50000"/>
                          </a:schemeClr>
                        </a:solidFill>
                        <a:latin typeface="Cambria Math" panose="02040503050406030204" pitchFamily="18" charset="0"/>
                      </a:rPr>
                      <m:t>=3000 </m:t>
                    </m:r>
                    <m:r>
                      <m:rPr>
                        <m:sty m:val="p"/>
                      </m:rPr>
                      <a:rPr lang="en-IN" b="0" i="0" smtClean="0">
                        <a:solidFill>
                          <a:schemeClr val="tx2">
                            <a:lumMod val="50000"/>
                          </a:schemeClr>
                        </a:solidFill>
                        <a:latin typeface="Cambria Math" panose="02040503050406030204" pitchFamily="18" charset="0"/>
                      </a:rPr>
                      <m:t>and</m:t>
                    </m:r>
                    <m:r>
                      <a:rPr lang="en-IN" b="0" i="0" smtClean="0">
                        <a:solidFill>
                          <a:schemeClr val="tx2">
                            <a:lumMod val="50000"/>
                          </a:schemeClr>
                        </a:solidFill>
                        <a:latin typeface="Cambria Math" panose="02040503050406030204" pitchFamily="18" charset="0"/>
                      </a:rPr>
                      <m:t> </m:t>
                    </m:r>
                    <m:r>
                      <m:rPr>
                        <m:sty m:val="p"/>
                      </m:rPr>
                      <a:rPr lang="en-IN" b="0" i="0" smtClean="0">
                        <a:solidFill>
                          <a:schemeClr val="tx2">
                            <a:lumMod val="50000"/>
                          </a:schemeClr>
                        </a:solidFill>
                        <a:latin typeface="Cambria Math" panose="02040503050406030204" pitchFamily="18" charset="0"/>
                      </a:rPr>
                      <m:t>p</m:t>
                    </m:r>
                    <m:r>
                      <a:rPr lang="en-IN" b="0" i="0" smtClean="0">
                        <a:solidFill>
                          <a:schemeClr val="tx2">
                            <a:lumMod val="50000"/>
                          </a:schemeClr>
                        </a:solidFill>
                        <a:latin typeface="Cambria Math" panose="02040503050406030204" pitchFamily="18" charset="0"/>
                      </a:rPr>
                      <m:t>=0.001</m:t>
                    </m:r>
                  </m:oMath>
                </a14:m>
                <a:r>
                  <a:rPr lang="en-IN" dirty="0">
                    <a:solidFill>
                      <a:schemeClr val="tx2">
                        <a:lumMod val="50000"/>
                      </a:schemeClr>
                    </a:solidFill>
                    <a:latin typeface="Cambria Math" panose="02040503050406030204" pitchFamily="18" charset="0"/>
                  </a:rPr>
                  <a:t> so </a:t>
                </a:r>
                <a14:m>
                  <m:oMath xmlns:m="http://schemas.openxmlformats.org/officeDocument/2006/math">
                    <m:r>
                      <m:rPr>
                        <m:sty m:val="p"/>
                      </m:rPr>
                      <a:rPr lang="en-US" b="0" i="0">
                        <a:latin typeface="Cambria Math" panose="02040503050406030204" pitchFamily="18" charset="0"/>
                      </a:rPr>
                      <m:t>λ</m:t>
                    </m:r>
                    <m:r>
                      <a:rPr lang="en-US" b="0" i="0">
                        <a:latin typeface="Cambria Math" panose="02040503050406030204" pitchFamily="18" charset="0"/>
                      </a:rPr>
                      <m:t>=</m:t>
                    </m:r>
                    <m:r>
                      <m:rPr>
                        <m:sty m:val="p"/>
                      </m:rPr>
                      <a:rPr lang="en-US" b="0" i="0">
                        <a:latin typeface="Cambria Math" panose="02040503050406030204" pitchFamily="18" charset="0"/>
                      </a:rPr>
                      <m:t>np</m:t>
                    </m:r>
                    <m:r>
                      <a:rPr lang="en-US" b="0">
                        <a:latin typeface="Cambria Math" panose="02040503050406030204" pitchFamily="18" charset="0"/>
                      </a:rPr>
                      <m:t>=</m:t>
                    </m:r>
                    <m:r>
                      <a:rPr lang="en-US" b="0" i="1">
                        <a:latin typeface="Cambria Math" panose="02040503050406030204" pitchFamily="18" charset="0"/>
                      </a:rPr>
                      <m:t>3000</m:t>
                    </m:r>
                    <m:r>
                      <a:rPr lang="en-US" b="0">
                        <a:latin typeface="Cambria Math" panose="02040503050406030204" pitchFamily="18" charset="0"/>
                      </a:rPr>
                      <m:t>×</m:t>
                    </m:r>
                    <m:r>
                      <a:rPr lang="en-US" b="0" i="1">
                        <a:latin typeface="Cambria Math" panose="02040503050406030204" pitchFamily="18" charset="0"/>
                      </a:rPr>
                      <m:t>0</m:t>
                    </m:r>
                    <m:r>
                      <a:rPr lang="en-US" b="0">
                        <a:latin typeface="Cambria Math" panose="02040503050406030204" pitchFamily="18" charset="0"/>
                      </a:rPr>
                      <m:t>.</m:t>
                    </m:r>
                    <m:r>
                      <a:rPr lang="en-US" b="0" i="1">
                        <a:latin typeface="Cambria Math" panose="02040503050406030204" pitchFamily="18" charset="0"/>
                      </a:rPr>
                      <m:t>001</m:t>
                    </m:r>
                    <m:r>
                      <a:rPr lang="en-US" b="0">
                        <a:latin typeface="Cambria Math" panose="02040503050406030204" pitchFamily="18" charset="0"/>
                      </a:rPr>
                      <m:t>=</m:t>
                    </m:r>
                    <m:r>
                      <a:rPr lang="en-US" b="0" i="1">
                        <a:latin typeface="Cambria Math" panose="02040503050406030204" pitchFamily="18" charset="0"/>
                      </a:rPr>
                      <m:t>3</m:t>
                    </m:r>
                  </m:oMath>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25596" y="2271494"/>
                <a:ext cx="10200837" cy="738664"/>
              </a:xfrm>
              <a:prstGeom prst="rect">
                <a:avLst/>
              </a:prstGeom>
              <a:blipFill rotWithShape="0">
                <a:blip r:embed="rId3"/>
                <a:stretch>
                  <a:fillRect l="-1255"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31177" y="3028866"/>
                <a:ext cx="11929643" cy="3360728"/>
              </a:xfrm>
              <a:prstGeom prst="rect">
                <a:avLst/>
              </a:prstGeom>
            </p:spPr>
            <p:txBody>
              <a:bodyPr wrap="square">
                <a:spAutoFit/>
              </a:bodyPr>
              <a:lstStyle/>
              <a:p>
                <a:pPr lvl="0">
                  <a:lnSpc>
                    <a:spcPct val="150000"/>
                  </a:lnSpc>
                  <a:spcBef>
                    <a:spcPts val="1000"/>
                  </a:spcBef>
                  <a:buClr>
                    <a:schemeClr val="accent6"/>
                  </a:buClr>
                </a:pPr>
                <a:r>
                  <a:rPr lang="en-US" sz="2800" dirty="0">
                    <a:solidFill>
                      <a:srgbClr val="FF0000"/>
                    </a:solidFill>
                  </a:rPr>
                  <a:t>(a) To find the probability of exactly 3 persons will catch the virus</a:t>
                </a:r>
                <a:r>
                  <a:rPr lang="en-US" sz="2800" dirty="0">
                    <a:solidFill>
                      <a:srgbClr val="FF0000"/>
                    </a:solidFill>
                    <a:latin typeface="Cambria Math" panose="02040503050406030204" pitchFamily="18" charset="0"/>
                  </a:rPr>
                  <a:t> </a:t>
                </a:r>
                <a14:m>
                  <m:oMath xmlns:m="http://schemas.openxmlformats.org/officeDocument/2006/math">
                    <m:r>
                      <a:rPr lang="en-US" sz="2800" b="0" i="0">
                        <a:solidFill>
                          <a:srgbClr val="FF0000"/>
                        </a:solidFill>
                        <a:latin typeface="Cambria Math" panose="02040503050406030204" pitchFamily="18" charset="0"/>
                      </a:rPr>
                      <m:t>(</m:t>
                    </m:r>
                    <m:r>
                      <m:rPr>
                        <m:sty m:val="p"/>
                      </m:rPr>
                      <a:rPr lang="en-US" sz="2800" b="0" i="0">
                        <a:solidFill>
                          <a:srgbClr val="FF0000"/>
                        </a:solidFill>
                        <a:latin typeface="Cambria Math" panose="02040503050406030204" pitchFamily="18" charset="0"/>
                      </a:rPr>
                      <m:t>x</m:t>
                    </m:r>
                    <m:r>
                      <a:rPr lang="en-IN" sz="2800" b="0" i="0" smtClean="0">
                        <a:solidFill>
                          <a:srgbClr val="FF0000"/>
                        </a:solidFill>
                        <a:latin typeface="Cambria Math" panose="02040503050406030204" pitchFamily="18" charset="0"/>
                      </a:rPr>
                      <m:t>=3</m:t>
                    </m:r>
                    <m:r>
                      <a:rPr lang="en-US" sz="2800" b="0" i="0">
                        <a:solidFill>
                          <a:srgbClr val="FF0000"/>
                        </a:solidFill>
                        <a:latin typeface="Cambria Math" panose="02040503050406030204" pitchFamily="18" charset="0"/>
                      </a:rPr>
                      <m:t>)</m:t>
                    </m:r>
                  </m:oMath>
                </a14:m>
                <a:endParaRPr lang="en-IN" sz="2800" dirty="0">
                  <a:solidFill>
                    <a:schemeClr val="tx2">
                      <a:lumMod val="50000"/>
                    </a:schemeClr>
                  </a:solidFill>
                  <a:latin typeface="Cambria Math" panose="02040503050406030204" pitchFamily="18" charset="0"/>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x</m:t>
                          </m:r>
                        </m:e>
                      </m:d>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e</m:t>
                              </m:r>
                            </m:e>
                            <m:sup>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λ</m:t>
                              </m:r>
                            </m:sup>
                          </m:sSup>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λ</m:t>
                              </m:r>
                            </m:e>
                            <m:sup>
                              <m:r>
                                <m:rPr>
                                  <m:sty m:val="p"/>
                                </m:rPr>
                                <a:rPr lang="en-US" sz="2800">
                                  <a:solidFill>
                                    <a:schemeClr val="tx2">
                                      <a:lumMod val="50000"/>
                                    </a:schemeClr>
                                  </a:solidFill>
                                  <a:latin typeface="Cambria Math" panose="02040503050406030204" pitchFamily="18" charset="0"/>
                                </a:rPr>
                                <m:t>x</m:t>
                              </m:r>
                            </m:sup>
                          </m:sSup>
                          <m:r>
                            <a:rPr lang="en-US" sz="2800">
                              <a:solidFill>
                                <a:schemeClr val="tx2">
                                  <a:lumMod val="50000"/>
                                </a:schemeClr>
                              </a:solidFill>
                              <a:latin typeface="Cambria Math" panose="02040503050406030204" pitchFamily="18" charset="0"/>
                            </a:rPr>
                            <m:t> </m:t>
                          </m:r>
                        </m:num>
                        <m:den>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 !</m:t>
                          </m:r>
                        </m:den>
                      </m:f>
                      <m:r>
                        <a:rPr lang="en-US" sz="2800">
                          <a:solidFill>
                            <a:schemeClr val="tx2">
                              <a:lumMod val="50000"/>
                            </a:schemeClr>
                          </a:solidFill>
                          <a:latin typeface="Cambria Math" panose="02040503050406030204" pitchFamily="18" charset="0"/>
                        </a:rPr>
                        <m:t>; </m:t>
                      </m:r>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=0,1,2,3,…</m:t>
                      </m:r>
                    </m:oMath>
                  </m:oMathPara>
                </a14:m>
                <a:endParaRPr lang="en-IN" sz="2800" dirty="0">
                  <a:solidFill>
                    <a:schemeClr val="tx2">
                      <a:lumMod val="50000"/>
                    </a:schemeClr>
                  </a:solidFill>
                  <a:latin typeface="Cambria Math" panose="02040503050406030204" pitchFamily="18" charset="0"/>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=3</m:t>
                          </m:r>
                        </m:e>
                      </m:d>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e</m:t>
                              </m:r>
                            </m:e>
                            <m:sup>
                              <m:r>
                                <a:rPr lang="en-US" sz="2800">
                                  <a:solidFill>
                                    <a:schemeClr val="tx2">
                                      <a:lumMod val="50000"/>
                                    </a:schemeClr>
                                  </a:solidFill>
                                  <a:latin typeface="Cambria Math" panose="02040503050406030204" pitchFamily="18" charset="0"/>
                                </a:rPr>
                                <m:t>−3</m:t>
                              </m:r>
                            </m:sup>
                          </m:sSup>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a:rPr lang="en-US" sz="2800">
                                  <a:solidFill>
                                    <a:schemeClr val="tx2">
                                      <a:lumMod val="50000"/>
                                    </a:schemeClr>
                                  </a:solidFill>
                                  <a:latin typeface="Cambria Math" panose="02040503050406030204" pitchFamily="18" charset="0"/>
                                </a:rPr>
                                <m:t>3</m:t>
                              </m:r>
                            </m:e>
                            <m:sup>
                              <m:r>
                                <a:rPr lang="en-US" sz="2800">
                                  <a:solidFill>
                                    <a:schemeClr val="tx2">
                                      <a:lumMod val="50000"/>
                                    </a:schemeClr>
                                  </a:solidFill>
                                  <a:latin typeface="Cambria Math" panose="02040503050406030204" pitchFamily="18" charset="0"/>
                                </a:rPr>
                                <m:t>3</m:t>
                              </m:r>
                            </m:sup>
                          </m:sSup>
                          <m:r>
                            <a:rPr lang="en-US" sz="2800">
                              <a:solidFill>
                                <a:schemeClr val="tx2">
                                  <a:lumMod val="50000"/>
                                </a:schemeClr>
                              </a:solidFill>
                              <a:latin typeface="Cambria Math" panose="02040503050406030204" pitchFamily="18" charset="0"/>
                            </a:rPr>
                            <m:t> </m:t>
                          </m:r>
                        </m:num>
                        <m:den>
                          <m:r>
                            <a:rPr lang="en-US" sz="2800">
                              <a:solidFill>
                                <a:schemeClr val="tx2">
                                  <a:lumMod val="50000"/>
                                </a:schemeClr>
                              </a:solidFill>
                              <a:latin typeface="Cambria Math" panose="02040503050406030204" pitchFamily="18" charset="0"/>
                            </a:rPr>
                            <m:t>3!</m:t>
                          </m:r>
                        </m:den>
                      </m:f>
                      <m:r>
                        <a:rPr lang="en-US" sz="2800">
                          <a:solidFill>
                            <a:schemeClr val="tx2">
                              <a:lumMod val="50000"/>
                            </a:schemeClr>
                          </a:solidFill>
                          <a:latin typeface="Cambria Math" panose="02040503050406030204" pitchFamily="18" charset="0"/>
                        </a:rPr>
                        <m:t>=</m:t>
                      </m:r>
                      <m:r>
                        <a:rPr lang="en-US" sz="2800" b="1" i="1" smtClean="0">
                          <a:solidFill>
                            <a:srgbClr val="FF0000"/>
                          </a:solidFill>
                          <a:latin typeface="Cambria Math" panose="02040503050406030204" pitchFamily="18" charset="0"/>
                        </a:rPr>
                        <m:t>𝟎</m:t>
                      </m:r>
                      <m:r>
                        <a:rPr lang="en-US" sz="2800" b="1" smtClean="0">
                          <a:solidFill>
                            <a:srgbClr val="FF0000"/>
                          </a:solidFill>
                          <a:latin typeface="Cambria Math" panose="02040503050406030204" pitchFamily="18" charset="0"/>
                        </a:rPr>
                        <m:t>.</m:t>
                      </m:r>
                      <m:r>
                        <a:rPr lang="en-US" sz="2800" b="1" i="1" smtClean="0">
                          <a:solidFill>
                            <a:srgbClr val="FF0000"/>
                          </a:solidFill>
                          <a:latin typeface="Cambria Math" panose="02040503050406030204" pitchFamily="18" charset="0"/>
                        </a:rPr>
                        <m:t>𝟐𝟐𝟒𝟎</m:t>
                      </m:r>
                    </m:oMath>
                  </m:oMathPara>
                </a14:m>
                <a:endParaRPr lang="en-IN" sz="2800" b="1"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7" y="3028866"/>
                <a:ext cx="11929643" cy="3360728"/>
              </a:xfrm>
              <a:prstGeom prst="rect">
                <a:avLst/>
              </a:prstGeom>
              <a:blipFill rotWithShape="0">
                <a:blip r:embed="rId4"/>
                <a:stretch>
                  <a:fillRect l="-1074"/>
                </a:stretch>
              </a:blipFill>
            </p:spPr>
            <p:txBody>
              <a:bodyPr/>
              <a:lstStyle/>
              <a:p>
                <a:r>
                  <a:rPr lang="en-IN">
                    <a:noFill/>
                  </a:rPr>
                  <a:t> </a:t>
                </a:r>
              </a:p>
            </p:txBody>
          </p:sp>
        </mc:Fallback>
      </mc:AlternateContent>
    </p:spTree>
    <p:extLst>
      <p:ext uri="{BB962C8B-B14F-4D97-AF65-F5344CB8AC3E}">
        <p14:creationId xmlns:p14="http://schemas.microsoft.com/office/powerpoint/2010/main" val="3880413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Example 7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85328" y="798285"/>
                <a:ext cx="11982176" cy="542853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pPr>
                <a:r>
                  <a:rPr lang="en-US" dirty="0">
                    <a:solidFill>
                      <a:srgbClr val="FF0000"/>
                    </a:solidFill>
                  </a:rPr>
                  <a:t>(b) To find the probability of more than 2 persons will catch the virus, </a:t>
                </a:r>
                <a14:m>
                  <m:oMath xmlns:m="http://schemas.openxmlformats.org/officeDocument/2006/math">
                    <m:r>
                      <a:rPr lang="en-US" b="0">
                        <a:solidFill>
                          <a:srgbClr val="FF0000"/>
                        </a:solidFill>
                        <a:latin typeface="Cambria Math" panose="02040503050406030204" pitchFamily="18" charset="0"/>
                      </a:rPr>
                      <m:t>(</m:t>
                    </m:r>
                    <m:r>
                      <m:rPr>
                        <m:sty m:val="p"/>
                      </m:rPr>
                      <a:rPr lang="en-US" b="0" i="1">
                        <a:solidFill>
                          <a:srgbClr val="FF0000"/>
                        </a:solidFill>
                        <a:latin typeface="Cambria Math" panose="02040503050406030204" pitchFamily="18" charset="0"/>
                      </a:rPr>
                      <m:t>x</m:t>
                    </m:r>
                    <m:r>
                      <a:rPr lang="en-IN" b="0" i="0" smtClean="0">
                        <a:solidFill>
                          <a:srgbClr val="FF0000"/>
                        </a:solidFill>
                        <a:latin typeface="Cambria Math" panose="02040503050406030204" pitchFamily="18" charset="0"/>
                      </a:rPr>
                      <m:t>&gt;</m:t>
                    </m:r>
                    <m:r>
                      <a:rPr lang="en-US" b="0" i="1">
                        <a:solidFill>
                          <a:srgbClr val="FF0000"/>
                        </a:solidFill>
                        <a:latin typeface="Cambria Math" panose="02040503050406030204" pitchFamily="18" charset="0"/>
                      </a:rPr>
                      <m:t>2</m:t>
                    </m:r>
                    <m:r>
                      <a:rPr lang="en-US" b="0">
                        <a:solidFill>
                          <a:srgbClr val="FF0000"/>
                        </a:solidFill>
                        <a:latin typeface="Cambria Math" panose="02040503050406030204" pitchFamily="18" charset="0"/>
                      </a:rPr>
                      <m:t>)</m:t>
                    </m:r>
                  </m:oMath>
                </a14:m>
                <a:r>
                  <a:rPr lang="en-US" dirty="0">
                    <a:solidFill>
                      <a:srgbClr val="FF0000"/>
                    </a:solidFill>
                    <a:latin typeface="Cambria Math" panose="02040503050406030204" pitchFamily="18" charset="0"/>
                  </a:rPr>
                  <a:t> </a:t>
                </a:r>
                <a:endParaRPr lang="en-IN" dirty="0">
                  <a:solidFill>
                    <a:srgbClr val="FF0000"/>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IN" b="0" i="0" smtClean="0">
                              <a:solidFill>
                                <a:schemeClr val="tx2">
                                  <a:lumMod val="50000"/>
                                </a:schemeClr>
                              </a:solidFill>
                              <a:latin typeface="Cambria Math" panose="02040503050406030204" pitchFamily="18" charset="0"/>
                            </a:rPr>
                            <m:t>&gt;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IN" b="0" i="0" smtClean="0">
                              <a:solidFill>
                                <a:schemeClr val="tx2">
                                  <a:lumMod val="50000"/>
                                </a:schemeClr>
                              </a:solidFill>
                              <a:latin typeface="Cambria Math" panose="02040503050406030204" pitchFamily="18" charset="0"/>
                            </a:rPr>
                            <m:t>&gt;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0">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0">
                              <a:solidFill>
                                <a:schemeClr val="tx2">
                                  <a:lumMod val="50000"/>
                                </a:schemeClr>
                              </a:solidFill>
                              <a:latin typeface="Cambria Math" panose="02040503050406030204" pitchFamily="18" charset="0"/>
                            </a:rPr>
                            <m:t>X</m:t>
                          </m:r>
                          <m:r>
                            <a:rPr lang="en-IN" b="0" i="0" smtClean="0">
                              <a:solidFill>
                                <a:schemeClr val="tx2">
                                  <a:lumMod val="50000"/>
                                </a:schemeClr>
                              </a:solidFill>
                              <a:latin typeface="Cambria Math" panose="02040503050406030204" pitchFamily="18" charset="0"/>
                            </a:rPr>
                            <m:t>&gt;</m:t>
                          </m:r>
                          <m:r>
                            <a:rPr lang="en-US" b="0" i="0">
                              <a:solidFill>
                                <a:schemeClr val="tx2">
                                  <a:lumMod val="50000"/>
                                </a:schemeClr>
                              </a:solidFill>
                              <a:latin typeface="Cambria Math" panose="02040503050406030204" pitchFamily="18" charset="0"/>
                            </a:rPr>
                            <m:t>2</m:t>
                          </m:r>
                        </m:e>
                      </m:d>
                      <m:r>
                        <a:rPr lang="en-US" b="0" i="0">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e</m:t>
                                  </m:r>
                                </m:e>
                                <m:sup>
                                  <m:r>
                                    <a:rPr lang="en-US" b="0" i="0">
                                      <a:solidFill>
                                        <a:schemeClr val="tx2">
                                          <a:lumMod val="50000"/>
                                        </a:schemeClr>
                                      </a:solidFill>
                                      <a:latin typeface="Cambria Math" panose="02040503050406030204" pitchFamily="18" charset="0"/>
                                    </a:rPr>
                                    <m:t>−3</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3</m:t>
                                  </m:r>
                                </m:e>
                                <m:sup>
                                  <m:r>
                                    <a:rPr lang="en-US" b="0" i="0">
                                      <a:solidFill>
                                        <a:schemeClr val="tx2">
                                          <a:lumMod val="50000"/>
                                        </a:schemeClr>
                                      </a:solidFill>
                                      <a:latin typeface="Cambria Math" panose="02040503050406030204" pitchFamily="18" charset="0"/>
                                    </a:rPr>
                                    <m:t>0</m:t>
                                  </m:r>
                                </m:sup>
                              </m:sSup>
                              <m:r>
                                <a:rPr lang="en-US" b="0" i="0">
                                  <a:solidFill>
                                    <a:schemeClr val="tx2">
                                      <a:lumMod val="50000"/>
                                    </a:schemeClr>
                                  </a:solidFill>
                                  <a:latin typeface="Cambria Math" panose="02040503050406030204" pitchFamily="18" charset="0"/>
                                </a:rPr>
                                <m:t> </m:t>
                              </m:r>
                            </m:num>
                            <m:den>
                              <m:r>
                                <a:rPr lang="en-US" b="0" i="0">
                                  <a:solidFill>
                                    <a:schemeClr val="tx2">
                                      <a:lumMod val="50000"/>
                                    </a:schemeClr>
                                  </a:solidFill>
                                  <a:latin typeface="Cambria Math" panose="02040503050406030204" pitchFamily="18" charset="0"/>
                                </a:rPr>
                                <m:t>0!</m:t>
                              </m:r>
                            </m:den>
                          </m:f>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e</m:t>
                                  </m:r>
                                </m:e>
                                <m:sup>
                                  <m:r>
                                    <a:rPr lang="en-US" b="0" i="0">
                                      <a:solidFill>
                                        <a:schemeClr val="tx2">
                                          <a:lumMod val="50000"/>
                                        </a:schemeClr>
                                      </a:solidFill>
                                      <a:latin typeface="Cambria Math" panose="02040503050406030204" pitchFamily="18" charset="0"/>
                                    </a:rPr>
                                    <m:t>−3</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3</m:t>
                                  </m:r>
                                </m:e>
                                <m:sup>
                                  <m:r>
                                    <a:rPr lang="en-US" b="0" i="0">
                                      <a:solidFill>
                                        <a:schemeClr val="tx2">
                                          <a:lumMod val="50000"/>
                                        </a:schemeClr>
                                      </a:solidFill>
                                      <a:latin typeface="Cambria Math" panose="02040503050406030204" pitchFamily="18" charset="0"/>
                                    </a:rPr>
                                    <m:t>1</m:t>
                                  </m:r>
                                </m:sup>
                              </m:sSup>
                              <m:r>
                                <a:rPr lang="en-US" b="0" i="0">
                                  <a:solidFill>
                                    <a:schemeClr val="tx2">
                                      <a:lumMod val="50000"/>
                                    </a:schemeClr>
                                  </a:solidFill>
                                  <a:latin typeface="Cambria Math" panose="02040503050406030204" pitchFamily="18" charset="0"/>
                                </a:rPr>
                                <m:t> </m:t>
                              </m:r>
                            </m:num>
                            <m:den>
                              <m:r>
                                <a:rPr lang="en-US" b="0" i="0">
                                  <a:solidFill>
                                    <a:schemeClr val="tx2">
                                      <a:lumMod val="50000"/>
                                    </a:schemeClr>
                                  </a:solidFill>
                                  <a:latin typeface="Cambria Math" panose="02040503050406030204" pitchFamily="18" charset="0"/>
                                </a:rPr>
                                <m:t>1!</m:t>
                              </m:r>
                            </m:den>
                          </m:f>
                          <m:r>
                            <a:rPr lang="en-US" b="0"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0">
                                      <a:solidFill>
                                        <a:schemeClr val="tx2">
                                          <a:lumMod val="50000"/>
                                        </a:schemeClr>
                                      </a:solidFill>
                                      <a:latin typeface="Cambria Math" panose="02040503050406030204" pitchFamily="18" charset="0"/>
                                    </a:rPr>
                                    <m:t>e</m:t>
                                  </m:r>
                                </m:e>
                                <m:sup>
                                  <m:r>
                                    <a:rPr lang="en-US" b="0" i="0">
                                      <a:solidFill>
                                        <a:schemeClr val="tx2">
                                          <a:lumMod val="50000"/>
                                        </a:schemeClr>
                                      </a:solidFill>
                                      <a:latin typeface="Cambria Math" panose="02040503050406030204" pitchFamily="18" charset="0"/>
                                    </a:rPr>
                                    <m:t>−3</m:t>
                                  </m:r>
                                </m:sup>
                              </m:sSup>
                              <m:r>
                                <a:rPr lang="en-US" b="0" i="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i="0">
                                      <a:solidFill>
                                        <a:schemeClr val="tx2">
                                          <a:lumMod val="50000"/>
                                        </a:schemeClr>
                                      </a:solidFill>
                                      <a:latin typeface="Cambria Math" panose="02040503050406030204" pitchFamily="18" charset="0"/>
                                    </a:rPr>
                                    <m:t>3</m:t>
                                  </m:r>
                                </m:e>
                                <m:sup>
                                  <m:r>
                                    <a:rPr lang="en-US" b="0" i="0">
                                      <a:solidFill>
                                        <a:schemeClr val="tx2">
                                          <a:lumMod val="50000"/>
                                        </a:schemeClr>
                                      </a:solidFill>
                                      <a:latin typeface="Cambria Math" panose="02040503050406030204" pitchFamily="18" charset="0"/>
                                    </a:rPr>
                                    <m:t>2</m:t>
                                  </m:r>
                                </m:sup>
                              </m:sSup>
                              <m:r>
                                <a:rPr lang="en-US" b="0" i="0">
                                  <a:solidFill>
                                    <a:schemeClr val="tx2">
                                      <a:lumMod val="50000"/>
                                    </a:schemeClr>
                                  </a:solidFill>
                                  <a:latin typeface="Cambria Math" panose="02040503050406030204" pitchFamily="18" charset="0"/>
                                </a:rPr>
                                <m:t> </m:t>
                              </m:r>
                            </m:num>
                            <m:den>
                              <m:r>
                                <a:rPr lang="en-US" b="0" i="0">
                                  <a:solidFill>
                                    <a:schemeClr val="tx2">
                                      <a:lumMod val="50000"/>
                                    </a:schemeClr>
                                  </a:solidFill>
                                  <a:latin typeface="Cambria Math" panose="02040503050406030204" pitchFamily="18" charset="0"/>
                                </a:rPr>
                                <m:t>2!</m:t>
                              </m:r>
                            </m:den>
                          </m:f>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IN" b="0" i="0" smtClean="0">
                              <a:solidFill>
                                <a:schemeClr val="tx2">
                                  <a:lumMod val="50000"/>
                                </a:schemeClr>
                              </a:solidFill>
                              <a:latin typeface="Cambria Math" panose="02040503050406030204" pitchFamily="18" charset="0"/>
                            </a:rPr>
                            <m:t>&gt;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049787</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149361</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224041</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IN" b="0" i="0" smtClean="0">
                              <a:solidFill>
                                <a:schemeClr val="tx2">
                                  <a:lumMod val="50000"/>
                                </a:schemeClr>
                              </a:solidFill>
                              <a:latin typeface="Cambria Math" panose="02040503050406030204" pitchFamily="18" charset="0"/>
                            </a:rPr>
                            <m:t>&gt;</m:t>
                          </m:r>
                          <m:r>
                            <a:rPr lang="en-US" b="0" i="1">
                              <a:solidFill>
                                <a:schemeClr val="tx2">
                                  <a:lumMod val="50000"/>
                                </a:schemeClr>
                              </a:solidFill>
                              <a:latin typeface="Cambria Math" panose="02040503050406030204" pitchFamily="18" charset="0"/>
                            </a:rPr>
                            <m:t>2</m:t>
                          </m:r>
                        </m:e>
                      </m:d>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d>
                        <m:dPr>
                          <m:begChr m:val="["/>
                          <m:endChr m:val="]"/>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423189</m:t>
                          </m:r>
                        </m:e>
                      </m:d>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IN" b="1" i="0" smtClean="0">
                              <a:solidFill>
                                <a:srgbClr val="FF0000"/>
                              </a:solidFill>
                              <a:latin typeface="Cambria Math" panose="02040503050406030204" pitchFamily="18" charset="0"/>
                            </a:rPr>
                            <m:t>&gt;</m:t>
                          </m:r>
                          <m:r>
                            <a:rPr lang="en-US" b="1" i="0">
                              <a:solidFill>
                                <a:srgbClr val="FF0000"/>
                              </a:solidFill>
                              <a:latin typeface="Cambria Math" panose="02040503050406030204" pitchFamily="18" charset="0"/>
                            </a:rPr>
                            <m:t>𝟐</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𝟓𝟕𝟔𝟖𝟏𝟏</m:t>
                      </m:r>
                    </m:oMath>
                  </m:oMathPara>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85328" y="798285"/>
                <a:ext cx="11982176" cy="5428537"/>
              </a:xfrm>
              <a:prstGeom prst="rect">
                <a:avLst/>
              </a:prstGeom>
              <a:blipFill rotWithShape="0">
                <a:blip r:embed="rId2"/>
                <a:stretch>
                  <a:fillRect l="-1068"/>
                </a:stretch>
              </a:blipFill>
            </p:spPr>
            <p:txBody>
              <a:bodyPr/>
              <a:lstStyle/>
              <a:p>
                <a:r>
                  <a:rPr lang="en-IN">
                    <a:noFill/>
                  </a:rPr>
                  <a:t> </a:t>
                </a:r>
              </a:p>
            </p:txBody>
          </p:sp>
        </mc:Fallback>
      </mc:AlternateContent>
    </p:spTree>
    <p:extLst>
      <p:ext uri="{BB962C8B-B14F-4D97-AF65-F5344CB8AC3E}">
        <p14:creationId xmlns:p14="http://schemas.microsoft.com/office/powerpoint/2010/main" val="378994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794131"/>
                <a:ext cx="11929643" cy="1871796"/>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Suppose 1</a:t>
                </a:r>
                <a14:m>
                  <m:oMath xmlns:m="http://schemas.openxmlformats.org/officeDocument/2006/math">
                    <m:r>
                      <a:rPr lang="en-US">
                        <a:latin typeface="Cambria Math" panose="02040503050406030204" pitchFamily="18" charset="0"/>
                      </a:rPr>
                      <m:t>%</m:t>
                    </m:r>
                  </m:oMath>
                </a14:m>
                <a:r>
                  <a:rPr lang="en-US" dirty="0"/>
                  <a:t> of the items made by machine are defective. In a sample of 100 items find the probability that the sample contains all good, 1 defective and at least 3 defectives.</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794131"/>
                <a:ext cx="11929643" cy="1871796"/>
              </a:xfrm>
              <a:prstGeom prst="rect">
                <a:avLst/>
              </a:prstGeom>
              <a:blipFill rotWithShape="0">
                <a:blip r:embed="rId2"/>
                <a:stretch>
                  <a:fillRect l="-1074" r="-1074" b="-9446"/>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2 ⇝ Example 8</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6" y="275923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625596" y="2619227"/>
                <a:ext cx="10200837"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a:t>
                </a:r>
                <a14:m>
                  <m:oMath xmlns:m="http://schemas.openxmlformats.org/officeDocument/2006/math">
                    <m:r>
                      <m:rPr>
                        <m:sty m:val="p"/>
                      </m:rPr>
                      <a:rPr lang="en-IN" b="0" i="0" smtClean="0">
                        <a:solidFill>
                          <a:schemeClr val="tx2">
                            <a:lumMod val="50000"/>
                          </a:schemeClr>
                        </a:solidFill>
                        <a:latin typeface="Cambria Math" panose="02040503050406030204" pitchFamily="18" charset="0"/>
                      </a:rPr>
                      <m:t>n</m:t>
                    </m:r>
                    <m:r>
                      <a:rPr lang="en-IN" b="0" i="0" smtClean="0">
                        <a:solidFill>
                          <a:schemeClr val="tx2">
                            <a:lumMod val="50000"/>
                          </a:schemeClr>
                        </a:solidFill>
                        <a:latin typeface="Cambria Math" panose="02040503050406030204" pitchFamily="18" charset="0"/>
                      </a:rPr>
                      <m:t>=100 </m:t>
                    </m:r>
                    <m:r>
                      <m:rPr>
                        <m:sty m:val="p"/>
                      </m:rPr>
                      <a:rPr lang="en-IN" b="0" i="0" smtClean="0">
                        <a:solidFill>
                          <a:schemeClr val="tx2">
                            <a:lumMod val="50000"/>
                          </a:schemeClr>
                        </a:solidFill>
                        <a:latin typeface="Cambria Math" panose="02040503050406030204" pitchFamily="18" charset="0"/>
                      </a:rPr>
                      <m:t>and</m:t>
                    </m:r>
                    <m:r>
                      <a:rPr lang="en-IN" b="0" i="0" smtClean="0">
                        <a:solidFill>
                          <a:schemeClr val="tx2">
                            <a:lumMod val="50000"/>
                          </a:schemeClr>
                        </a:solidFill>
                        <a:latin typeface="Cambria Math" panose="02040503050406030204" pitchFamily="18" charset="0"/>
                      </a:rPr>
                      <m:t> </m:t>
                    </m:r>
                    <m:r>
                      <m:rPr>
                        <m:sty m:val="p"/>
                      </m:rPr>
                      <a:rPr lang="en-IN" b="0" i="0" smtClean="0">
                        <a:solidFill>
                          <a:schemeClr val="tx2">
                            <a:lumMod val="50000"/>
                          </a:schemeClr>
                        </a:solidFill>
                        <a:latin typeface="Cambria Math" panose="02040503050406030204" pitchFamily="18" charset="0"/>
                      </a:rPr>
                      <m:t>p</m:t>
                    </m:r>
                    <m:r>
                      <a:rPr lang="en-IN" b="0" i="0" smtClean="0">
                        <a:solidFill>
                          <a:schemeClr val="tx2">
                            <a:lumMod val="50000"/>
                          </a:schemeClr>
                        </a:solidFill>
                        <a:latin typeface="Cambria Math" panose="02040503050406030204" pitchFamily="18" charset="0"/>
                      </a:rPr>
                      <m:t>=1%=0.01</m:t>
                    </m:r>
                  </m:oMath>
                </a14:m>
                <a:r>
                  <a:rPr lang="en-IN" dirty="0">
                    <a:solidFill>
                      <a:schemeClr val="tx2">
                        <a:lumMod val="50000"/>
                      </a:schemeClr>
                    </a:solidFill>
                    <a:latin typeface="Cambria Math" panose="02040503050406030204" pitchFamily="18" charset="0"/>
                  </a:rPr>
                  <a:t> so </a:t>
                </a:r>
                <a14:m>
                  <m:oMath xmlns:m="http://schemas.openxmlformats.org/officeDocument/2006/math">
                    <m:r>
                      <m:rPr>
                        <m:sty m:val="p"/>
                      </m:rPr>
                      <a:rPr lang="en-US" b="0" i="0">
                        <a:solidFill>
                          <a:schemeClr val="tx2">
                            <a:lumMod val="50000"/>
                          </a:schemeClr>
                        </a:solidFill>
                        <a:latin typeface="Cambria Math" panose="02040503050406030204" pitchFamily="18" charset="0"/>
                      </a:rPr>
                      <m:t>λ</m:t>
                    </m:r>
                    <m:r>
                      <a:rPr lang="en-US" b="0" i="0">
                        <a:solidFill>
                          <a:schemeClr val="tx2">
                            <a:lumMod val="50000"/>
                          </a:schemeClr>
                        </a:solidFill>
                        <a:latin typeface="Cambria Math" panose="02040503050406030204" pitchFamily="18" charset="0"/>
                      </a:rPr>
                      <m:t>=</m:t>
                    </m:r>
                    <m:r>
                      <m:rPr>
                        <m:sty m:val="p"/>
                      </m:rPr>
                      <a:rPr lang="en-US" b="0" i="0">
                        <a:solidFill>
                          <a:schemeClr val="tx2">
                            <a:lumMod val="50000"/>
                          </a:schemeClr>
                        </a:solidFill>
                        <a:latin typeface="Cambria Math" panose="02040503050406030204" pitchFamily="18" charset="0"/>
                      </a:rPr>
                      <m:t>np</m:t>
                    </m:r>
                    <m:r>
                      <a:rPr lang="en-US" b="0">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1</m:t>
                    </m:r>
                    <m:r>
                      <a:rPr lang="en-US" b="0" i="1">
                        <a:solidFill>
                          <a:schemeClr val="tx2">
                            <a:lumMod val="50000"/>
                          </a:schemeClr>
                        </a:solidFill>
                        <a:latin typeface="Cambria Math" panose="02040503050406030204" pitchFamily="18" charset="0"/>
                      </a:rPr>
                      <m:t>00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01</m:t>
                    </m:r>
                    <m:r>
                      <a:rPr lang="en-US" b="0">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1</m:t>
                    </m:r>
                  </m:oMath>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625596" y="2619227"/>
                <a:ext cx="10200837" cy="738664"/>
              </a:xfrm>
              <a:prstGeom prst="rect">
                <a:avLst/>
              </a:prstGeom>
              <a:blipFill rotWithShape="0">
                <a:blip r:embed="rId3"/>
                <a:stretch>
                  <a:fillRect l="-1255"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31177" y="3376599"/>
                <a:ext cx="11929643" cy="3439018"/>
              </a:xfrm>
              <a:prstGeom prst="rect">
                <a:avLst/>
              </a:prstGeom>
            </p:spPr>
            <p:txBody>
              <a:bodyPr wrap="square">
                <a:spAutoFit/>
              </a:bodyPr>
              <a:lstStyle/>
              <a:p>
                <a:pPr lvl="0">
                  <a:lnSpc>
                    <a:spcPct val="150000"/>
                  </a:lnSpc>
                  <a:spcBef>
                    <a:spcPts val="1000"/>
                  </a:spcBef>
                  <a:buClr>
                    <a:schemeClr val="accent6"/>
                  </a:buClr>
                </a:pPr>
                <a:r>
                  <a:rPr lang="en-US" sz="2800" dirty="0">
                    <a:solidFill>
                      <a:srgbClr val="FF0000"/>
                    </a:solidFill>
                  </a:rPr>
                  <a:t>(a) To find the probability 	that the sample contains all good items</a:t>
                </a:r>
                <a:r>
                  <a:rPr lang="en-US" sz="2800" dirty="0">
                    <a:solidFill>
                      <a:srgbClr val="FF0000"/>
                    </a:solidFill>
                    <a:latin typeface="Cambria Math" panose="02040503050406030204" pitchFamily="18" charset="0"/>
                  </a:rPr>
                  <a:t> </a:t>
                </a:r>
                <a14:m>
                  <m:oMath xmlns:m="http://schemas.openxmlformats.org/officeDocument/2006/math">
                    <m:r>
                      <a:rPr lang="en-US" sz="2800" b="0" i="0">
                        <a:solidFill>
                          <a:srgbClr val="FF0000"/>
                        </a:solidFill>
                        <a:latin typeface="Cambria Math" panose="02040503050406030204" pitchFamily="18" charset="0"/>
                      </a:rPr>
                      <m:t>(</m:t>
                    </m:r>
                    <m:r>
                      <m:rPr>
                        <m:sty m:val="p"/>
                      </m:rPr>
                      <a:rPr lang="en-US" sz="2800" b="0" i="0">
                        <a:solidFill>
                          <a:srgbClr val="FF0000"/>
                        </a:solidFill>
                        <a:latin typeface="Cambria Math" panose="02040503050406030204" pitchFamily="18" charset="0"/>
                      </a:rPr>
                      <m:t>x</m:t>
                    </m:r>
                    <m:r>
                      <a:rPr lang="en-IN" sz="2800" b="0" i="0" smtClean="0">
                        <a:solidFill>
                          <a:srgbClr val="FF0000"/>
                        </a:solidFill>
                        <a:latin typeface="Cambria Math" panose="02040503050406030204" pitchFamily="18" charset="0"/>
                      </a:rPr>
                      <m:t>=0</m:t>
                    </m:r>
                    <m:r>
                      <a:rPr lang="en-US" sz="2800" b="0" i="0">
                        <a:solidFill>
                          <a:srgbClr val="FF0000"/>
                        </a:solidFill>
                        <a:latin typeface="Cambria Math" panose="02040503050406030204" pitchFamily="18" charset="0"/>
                      </a:rPr>
                      <m:t>)</m:t>
                    </m:r>
                  </m:oMath>
                </a14:m>
                <a:endParaRPr lang="en-IN" sz="2800" dirty="0">
                  <a:solidFill>
                    <a:srgbClr val="FF0000"/>
                  </a:solidFill>
                  <a:latin typeface="Cambria Math" panose="02040503050406030204" pitchFamily="18" charset="0"/>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x</m:t>
                          </m:r>
                        </m:e>
                      </m:d>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e</m:t>
                              </m:r>
                            </m:e>
                            <m:sup>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λ</m:t>
                              </m:r>
                            </m:sup>
                          </m:sSup>
                          <m:r>
                            <a:rPr lang="en-US" sz="280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a:solidFill>
                                    <a:schemeClr val="tx2">
                                      <a:lumMod val="50000"/>
                                    </a:schemeClr>
                                  </a:solidFill>
                                  <a:latin typeface="Cambria Math" panose="02040503050406030204" pitchFamily="18" charset="0"/>
                                </a:rPr>
                                <m:t>λ</m:t>
                              </m:r>
                            </m:e>
                            <m:sup>
                              <m:r>
                                <m:rPr>
                                  <m:sty m:val="p"/>
                                </m:rPr>
                                <a:rPr lang="en-US" sz="2800">
                                  <a:solidFill>
                                    <a:schemeClr val="tx2">
                                      <a:lumMod val="50000"/>
                                    </a:schemeClr>
                                  </a:solidFill>
                                  <a:latin typeface="Cambria Math" panose="02040503050406030204" pitchFamily="18" charset="0"/>
                                </a:rPr>
                                <m:t>x</m:t>
                              </m:r>
                            </m:sup>
                          </m:sSup>
                          <m:r>
                            <a:rPr lang="en-US" sz="2800">
                              <a:solidFill>
                                <a:schemeClr val="tx2">
                                  <a:lumMod val="50000"/>
                                </a:schemeClr>
                              </a:solidFill>
                              <a:latin typeface="Cambria Math" panose="02040503050406030204" pitchFamily="18" charset="0"/>
                            </a:rPr>
                            <m:t> </m:t>
                          </m:r>
                        </m:num>
                        <m:den>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 !</m:t>
                          </m:r>
                        </m:den>
                      </m:f>
                      <m:r>
                        <a:rPr lang="en-US" sz="2800">
                          <a:solidFill>
                            <a:schemeClr val="tx2">
                              <a:lumMod val="50000"/>
                            </a:schemeClr>
                          </a:solidFill>
                          <a:latin typeface="Cambria Math" panose="02040503050406030204" pitchFamily="18" charset="0"/>
                        </a:rPr>
                        <m:t>; </m:t>
                      </m:r>
                      <m:r>
                        <m:rPr>
                          <m:sty m:val="p"/>
                        </m:rPr>
                        <a:rPr lang="en-US" sz="2800">
                          <a:solidFill>
                            <a:schemeClr val="tx2">
                              <a:lumMod val="50000"/>
                            </a:schemeClr>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=0,1,2,3,…</m:t>
                      </m:r>
                    </m:oMath>
                  </m:oMathPara>
                </a14:m>
                <a:endParaRPr lang="en-IN" sz="2800" dirty="0">
                  <a:solidFill>
                    <a:schemeClr val="tx2">
                      <a:lumMod val="50000"/>
                    </a:schemeClr>
                  </a:solidFill>
                  <a:latin typeface="Cambria Math" panose="02040503050406030204" pitchFamily="18" charset="0"/>
                </a:endParaRPr>
              </a:p>
              <a:p>
                <a:pPr>
                  <a:lnSpc>
                    <a:spcPct val="150000"/>
                  </a:lnSpc>
                  <a:spcBef>
                    <a:spcPts val="1000"/>
                  </a:spcBef>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m:rPr>
                              <m:sty m:val="p"/>
                            </m:rPr>
                            <a:rPr lang="en-IN" sz="2800" b="0" i="1">
                              <a:solidFill>
                                <a:schemeClr val="tx2">
                                  <a:lumMod val="50000"/>
                                </a:schemeClr>
                              </a:solidFill>
                              <a:latin typeface="Cambria Math" panose="02040503050406030204" pitchFamily="18" charset="0"/>
                            </a:rPr>
                            <m:t>X</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0</m:t>
                          </m:r>
                        </m:e>
                      </m:d>
                      <m:r>
                        <a:rPr lang="en-US" sz="2800" b="0">
                          <a:solidFill>
                            <a:schemeClr val="tx2">
                              <a:lumMod val="50000"/>
                            </a:schemeClr>
                          </a:solidFill>
                          <a:latin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rPr>
                        <m:t>P</m:t>
                      </m:r>
                      <m:d>
                        <m:dPr>
                          <m:ctrlPr>
                            <a:rPr lang="en-IN" sz="2800" i="1">
                              <a:solidFill>
                                <a:schemeClr val="tx2">
                                  <a:lumMod val="50000"/>
                                </a:schemeClr>
                              </a:solidFill>
                              <a:latin typeface="Cambria Math" panose="02040503050406030204" pitchFamily="18" charset="0"/>
                            </a:rPr>
                          </m:ctrlPr>
                        </m:dPr>
                        <m:e>
                          <m:r>
                            <a:rPr lang="en-US" sz="2800" b="0" i="1">
                              <a:solidFill>
                                <a:schemeClr val="tx2">
                                  <a:lumMod val="50000"/>
                                </a:schemeClr>
                              </a:solidFill>
                              <a:latin typeface="Cambria Math" panose="02040503050406030204" pitchFamily="18" charset="0"/>
                            </a:rPr>
                            <m:t>0</m:t>
                          </m:r>
                        </m:e>
                      </m:d>
                      <m:r>
                        <a:rPr lang="en-US" sz="2800" b="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b="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m:rPr>
                                  <m:sty m:val="p"/>
                                </m:rPr>
                                <a:rPr lang="en-US" sz="2800" b="0" i="1">
                                  <a:solidFill>
                                    <a:schemeClr val="tx2">
                                      <a:lumMod val="50000"/>
                                    </a:schemeClr>
                                  </a:solidFill>
                                  <a:latin typeface="Cambria Math" panose="02040503050406030204" pitchFamily="18" charset="0"/>
                                </a:rPr>
                                <m:t>e</m:t>
                              </m:r>
                            </m:e>
                            <m:sup>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1</m:t>
                              </m:r>
                            </m:sup>
                          </m:sSup>
                          <m:r>
                            <a:rPr lang="en-US" sz="2800" b="0">
                              <a:solidFill>
                                <a:schemeClr val="tx2">
                                  <a:lumMod val="50000"/>
                                </a:schemeClr>
                              </a:solidFill>
                              <a:latin typeface="Cambria Math" panose="02040503050406030204" pitchFamily="18" charset="0"/>
                            </a:rPr>
                            <m:t>× </m:t>
                          </m:r>
                          <m:sSup>
                            <m:sSupPr>
                              <m:ctrlPr>
                                <a:rPr lang="en-IN" sz="2800" i="1">
                                  <a:solidFill>
                                    <a:schemeClr val="tx2">
                                      <a:lumMod val="50000"/>
                                    </a:schemeClr>
                                  </a:solidFill>
                                  <a:latin typeface="Cambria Math" panose="02040503050406030204" pitchFamily="18" charset="0"/>
                                </a:rPr>
                              </m:ctrlPr>
                            </m:sSupPr>
                            <m:e>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1</m:t>
                              </m:r>
                              <m:r>
                                <a:rPr lang="en-US" sz="2800" b="0">
                                  <a:solidFill>
                                    <a:schemeClr val="tx2">
                                      <a:lumMod val="50000"/>
                                    </a:schemeClr>
                                  </a:solidFill>
                                  <a:latin typeface="Cambria Math" panose="02040503050406030204" pitchFamily="18" charset="0"/>
                                </a:rPr>
                                <m:t>)</m:t>
                              </m:r>
                            </m:e>
                            <m:sup>
                              <m:r>
                                <a:rPr lang="en-US" sz="2800" b="0" i="1">
                                  <a:solidFill>
                                    <a:schemeClr val="tx2">
                                      <a:lumMod val="50000"/>
                                    </a:schemeClr>
                                  </a:solidFill>
                                  <a:latin typeface="Cambria Math" panose="02040503050406030204" pitchFamily="18" charset="0"/>
                                </a:rPr>
                                <m:t>0</m:t>
                              </m:r>
                            </m:sup>
                          </m:sSup>
                          <m:r>
                            <a:rPr lang="en-US" sz="2800" b="0">
                              <a:solidFill>
                                <a:schemeClr val="tx2">
                                  <a:lumMod val="50000"/>
                                </a:schemeClr>
                              </a:solidFill>
                              <a:latin typeface="Cambria Math" panose="02040503050406030204" pitchFamily="18" charset="0"/>
                            </a:rPr>
                            <m:t> </m:t>
                          </m:r>
                        </m:num>
                        <m:den>
                          <m:r>
                            <a:rPr lang="en-US" sz="2800" b="0" i="1">
                              <a:solidFill>
                                <a:schemeClr val="tx2">
                                  <a:lumMod val="50000"/>
                                </a:schemeClr>
                              </a:solidFill>
                              <a:latin typeface="Cambria Math" panose="02040503050406030204" pitchFamily="18" charset="0"/>
                            </a:rPr>
                            <m:t>0</m:t>
                          </m:r>
                          <m:r>
                            <a:rPr lang="en-US" sz="2800" b="0">
                              <a:solidFill>
                                <a:schemeClr val="tx2">
                                  <a:lumMod val="50000"/>
                                </a:schemeClr>
                              </a:solidFill>
                              <a:latin typeface="Cambria Math" panose="02040503050406030204" pitchFamily="18" charset="0"/>
                            </a:rPr>
                            <m:t> !</m:t>
                          </m:r>
                        </m:den>
                      </m:f>
                      <m:r>
                        <a:rPr lang="en-US" sz="2800" b="0">
                          <a:solidFill>
                            <a:schemeClr val="tx2">
                              <a:lumMod val="50000"/>
                            </a:schemeClr>
                          </a:solidFill>
                          <a:latin typeface="Cambria Math" panose="02040503050406030204" pitchFamily="18" charset="0"/>
                        </a:rPr>
                        <m:t>=</m:t>
                      </m:r>
                      <m:r>
                        <a:rPr lang="en-US" sz="2800" b="1" i="1" smtClean="0">
                          <a:solidFill>
                            <a:srgbClr val="FF0000"/>
                          </a:solidFill>
                          <a:latin typeface="Cambria Math" panose="02040503050406030204" pitchFamily="18" charset="0"/>
                        </a:rPr>
                        <m:t>𝟎</m:t>
                      </m:r>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𝟑𝟔𝟕𝟗</m:t>
                      </m:r>
                    </m:oMath>
                  </m:oMathPara>
                </a14:m>
                <a:endParaRPr lang="en-IN" sz="2800" b="1"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177" y="3376599"/>
                <a:ext cx="11929643" cy="3439018"/>
              </a:xfrm>
              <a:prstGeom prst="rect">
                <a:avLst/>
              </a:prstGeom>
              <a:blipFill rotWithShape="0">
                <a:blip r:embed="rId4"/>
                <a:stretch>
                  <a:fillRect l="-1074"/>
                </a:stretch>
              </a:blipFill>
            </p:spPr>
            <p:txBody>
              <a:bodyPr/>
              <a:lstStyle/>
              <a:p>
                <a:r>
                  <a:rPr lang="en-IN">
                    <a:noFill/>
                  </a:rPr>
                  <a:t> </a:t>
                </a:r>
              </a:p>
            </p:txBody>
          </p:sp>
        </mc:Fallback>
      </mc:AlternateContent>
    </p:spTree>
    <p:extLst>
      <p:ext uri="{BB962C8B-B14F-4D97-AF65-F5344CB8AC3E}">
        <p14:creationId xmlns:p14="http://schemas.microsoft.com/office/powerpoint/2010/main" val="206360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a:t>
            </a:r>
            <a:r>
              <a:rPr lang="en-GB"/>
              <a:t>Example 8 </a:t>
            </a:r>
            <a:r>
              <a:rPr lang="en-GB" dirty="0"/>
              <a:t>(Continue)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85328" y="798285"/>
                <a:ext cx="11982176" cy="412972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pPr>
                <a:r>
                  <a:rPr lang="en-US" dirty="0">
                    <a:solidFill>
                      <a:srgbClr val="FF0000"/>
                    </a:solidFill>
                  </a:rPr>
                  <a:t>(b) To find the probability that the sample contains 1 defective item, </a:t>
                </a:r>
                <a14:m>
                  <m:oMath xmlns:m="http://schemas.openxmlformats.org/officeDocument/2006/math">
                    <m:r>
                      <a:rPr lang="en-US" b="0">
                        <a:solidFill>
                          <a:srgbClr val="FF0000"/>
                        </a:solidFill>
                        <a:latin typeface="Cambria Math" panose="02040503050406030204" pitchFamily="18" charset="0"/>
                      </a:rPr>
                      <m:t>(</m:t>
                    </m:r>
                    <m:r>
                      <m:rPr>
                        <m:sty m:val="p"/>
                      </m:rPr>
                      <a:rPr lang="en-US" b="0" i="1">
                        <a:solidFill>
                          <a:srgbClr val="FF0000"/>
                        </a:solidFill>
                        <a:latin typeface="Cambria Math" panose="02040503050406030204" pitchFamily="18" charset="0"/>
                      </a:rPr>
                      <m:t>x</m:t>
                    </m:r>
                    <m:r>
                      <a:rPr lang="en-IN" b="0" i="0" smtClean="0">
                        <a:solidFill>
                          <a:srgbClr val="FF0000"/>
                        </a:solidFill>
                        <a:latin typeface="Cambria Math" panose="02040503050406030204" pitchFamily="18" charset="0"/>
                      </a:rPr>
                      <m:t>=</m:t>
                    </m:r>
                    <m:r>
                      <a:rPr lang="en-IN" b="0" i="1" smtClean="0">
                        <a:solidFill>
                          <a:srgbClr val="FF0000"/>
                        </a:solidFill>
                        <a:latin typeface="Cambria Math" panose="02040503050406030204" pitchFamily="18" charset="0"/>
                      </a:rPr>
                      <m:t>1</m:t>
                    </m:r>
                    <m:r>
                      <a:rPr lang="en-US" b="0">
                        <a:solidFill>
                          <a:srgbClr val="FF0000"/>
                        </a:solidFill>
                        <a:latin typeface="Cambria Math" panose="02040503050406030204" pitchFamily="18" charset="0"/>
                      </a:rPr>
                      <m:t>)</m:t>
                    </m:r>
                  </m:oMath>
                </a14:m>
                <a:r>
                  <a:rPr lang="en-US" dirty="0">
                    <a:solidFill>
                      <a:srgbClr val="FF0000"/>
                    </a:solidFill>
                    <a:latin typeface="Cambria Math" panose="02040503050406030204" pitchFamily="18" charset="0"/>
                  </a:rPr>
                  <a:t> </a:t>
                </a:r>
                <a:endParaRPr lang="en-IN" dirty="0">
                  <a:solidFill>
                    <a:srgbClr val="FF0000"/>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x</m:t>
                          </m:r>
                        </m:e>
                      </m:d>
                      <m:r>
                        <a:rPr lang="en-US" b="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e</m:t>
                              </m:r>
                            </m:e>
                            <m:sup>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λ</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λ</m:t>
                              </m:r>
                            </m:e>
                            <m:sup>
                              <m:r>
                                <m:rPr>
                                  <m:sty m:val="p"/>
                                </m:rPr>
                                <a:rPr lang="en-US" b="0" i="1">
                                  <a:solidFill>
                                    <a:schemeClr val="tx2">
                                      <a:lumMod val="50000"/>
                                    </a:schemeClr>
                                  </a:solidFill>
                                  <a:latin typeface="Cambria Math" panose="02040503050406030204" pitchFamily="18" charset="0"/>
                                </a:rPr>
                                <m:t>x</m:t>
                              </m:r>
                            </m:sup>
                          </m:sSup>
                          <m:r>
                            <a:rPr lang="en-US" b="0">
                              <a:solidFill>
                                <a:schemeClr val="tx2">
                                  <a:lumMod val="50000"/>
                                </a:schemeClr>
                              </a:solidFill>
                              <a:latin typeface="Cambria Math" panose="02040503050406030204" pitchFamily="18" charset="0"/>
                            </a:rPr>
                            <m:t> </m:t>
                          </m:r>
                        </m:num>
                        <m:den>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 !</m:t>
                          </m:r>
                        </m:den>
                      </m:f>
                      <m:r>
                        <a:rPr lang="en-US" b="0">
                          <a:solidFill>
                            <a:schemeClr val="tx2">
                              <a:lumMod val="50000"/>
                            </a:schemeClr>
                          </a:solidFill>
                          <a:latin typeface="Cambria Math" panose="02040503050406030204" pitchFamily="18" charset="0"/>
                        </a:rPr>
                        <m:t>; </m:t>
                      </m:r>
                      <m:r>
                        <m:rPr>
                          <m:sty m:val="p"/>
                        </m:rPr>
                        <a:rPr lang="en-US" b="0" i="1">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2</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3</m:t>
                      </m:r>
                      <m:r>
                        <a:rPr lang="en-US" b="0">
                          <a:solidFill>
                            <a:schemeClr val="tx2">
                              <a:lumMod val="50000"/>
                            </a:schemeClr>
                          </a:solidFill>
                          <a:latin typeface="Cambria Math" panose="02040503050406030204" pitchFamily="18" charset="0"/>
                        </a:rPr>
                        <m:t>,…</m:t>
                      </m:r>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e>
                      </m:d>
                      <m:r>
                        <a:rPr lang="en-US" b="0">
                          <a:solidFill>
                            <a:schemeClr val="tx2">
                              <a:lumMod val="50000"/>
                            </a:schemeClr>
                          </a:solidFill>
                          <a:latin typeface="Cambria Math" panose="02040503050406030204" pitchFamily="18" charset="0"/>
                        </a:rPr>
                        <m:t>=</m:t>
                      </m:r>
                      <m:r>
                        <m:rPr>
                          <m:sty m:val="p"/>
                        </m:rPr>
                        <a:rPr lang="en-US" b="0"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b="0" i="1">
                              <a:solidFill>
                                <a:schemeClr val="tx2">
                                  <a:lumMod val="50000"/>
                                </a:schemeClr>
                              </a:solidFill>
                              <a:latin typeface="Cambria Math" panose="02040503050406030204" pitchFamily="18" charset="0"/>
                            </a:rPr>
                            <m:t>0</m:t>
                          </m:r>
                        </m:e>
                      </m:d>
                      <m:r>
                        <a:rPr lang="en-US" b="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b="0" i="1">
                                  <a:solidFill>
                                    <a:schemeClr val="tx2">
                                      <a:lumMod val="50000"/>
                                    </a:schemeClr>
                                  </a:solidFill>
                                  <a:latin typeface="Cambria Math" panose="02040503050406030204" pitchFamily="18" charset="0"/>
                                </a:rPr>
                                <m:t>e</m:t>
                              </m:r>
                            </m:e>
                            <m:sup>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sup>
                          </m:sSup>
                          <m:r>
                            <a:rPr lang="en-US" b="0">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e>
                            <m:sup>
                              <m:r>
                                <a:rPr lang="en-US" b="0" i="1">
                                  <a:solidFill>
                                    <a:schemeClr val="tx2">
                                      <a:lumMod val="50000"/>
                                    </a:schemeClr>
                                  </a:solidFill>
                                  <a:latin typeface="Cambria Math" panose="02040503050406030204" pitchFamily="18" charset="0"/>
                                </a:rPr>
                                <m:t>1</m:t>
                              </m:r>
                            </m:sup>
                          </m:sSup>
                          <m:r>
                            <a:rPr lang="en-US" b="0">
                              <a:solidFill>
                                <a:schemeClr val="tx2">
                                  <a:lumMod val="50000"/>
                                </a:schemeClr>
                              </a:solidFill>
                              <a:latin typeface="Cambria Math" panose="02040503050406030204" pitchFamily="18" charset="0"/>
                            </a:rPr>
                            <m:t> </m:t>
                          </m:r>
                        </m:num>
                        <m:den>
                          <m:r>
                            <a:rPr lang="en-US" b="0" i="1">
                              <a:solidFill>
                                <a:schemeClr val="tx2">
                                  <a:lumMod val="50000"/>
                                </a:schemeClr>
                              </a:solidFill>
                              <a:latin typeface="Cambria Math" panose="02040503050406030204" pitchFamily="18" charset="0"/>
                            </a:rPr>
                            <m:t>1</m:t>
                          </m:r>
                          <m:r>
                            <a:rPr lang="en-US" b="0">
                              <a:solidFill>
                                <a:schemeClr val="tx2">
                                  <a:lumMod val="50000"/>
                                </a:schemeClr>
                              </a:solidFill>
                              <a:latin typeface="Cambria Math" panose="02040503050406030204" pitchFamily="18" charset="0"/>
                            </a:rPr>
                            <m:t>!</m:t>
                          </m:r>
                        </m:den>
                      </m:f>
                      <m:r>
                        <a:rPr lang="en-US" b="0">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𝟎</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𝟑𝟔𝟕𝟗</m:t>
                      </m:r>
                    </m:oMath>
                  </m:oMathPara>
                </a14:m>
                <a:endParaRPr lang="en-IN" b="1" dirty="0">
                  <a:solidFill>
                    <a:schemeClr val="tx2">
                      <a:lumMod val="50000"/>
                    </a:schemeClr>
                  </a:solidFill>
                  <a:latin typeface="Cambria Math" panose="02040503050406030204" pitchFamily="18" charset="0"/>
                </a:endParaRPr>
              </a:p>
              <a:p>
                <a:pPr marL="0" indent="0" algn="l">
                  <a:lnSpc>
                    <a:spcPct val="150000"/>
                  </a:lnSpc>
                  <a:buNone/>
                </a:pPr>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85328" y="798285"/>
                <a:ext cx="11982176" cy="4129720"/>
              </a:xfrm>
              <a:prstGeom prst="rect">
                <a:avLst/>
              </a:prstGeom>
              <a:blipFill rotWithShape="0">
                <a:blip r:embed="rId2"/>
                <a:stretch>
                  <a:fillRect l="-1068"/>
                </a:stretch>
              </a:blipFill>
            </p:spPr>
            <p:txBody>
              <a:bodyPr/>
              <a:lstStyle/>
              <a:p>
                <a:r>
                  <a:rPr lang="en-IN">
                    <a:noFill/>
                  </a:rPr>
                  <a:t> </a:t>
                </a:r>
              </a:p>
            </p:txBody>
          </p:sp>
        </mc:Fallback>
      </mc:AlternateContent>
    </p:spTree>
    <p:extLst>
      <p:ext uri="{BB962C8B-B14F-4D97-AF65-F5344CB8AC3E}">
        <p14:creationId xmlns:p14="http://schemas.microsoft.com/office/powerpoint/2010/main" val="372238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2 ⇝ </a:t>
            </a:r>
            <a:r>
              <a:rPr lang="en-GB"/>
              <a:t>Example 8 </a:t>
            </a:r>
            <a:r>
              <a:rPr lang="en-GB" dirty="0"/>
              <a:t>(Continue)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85328" y="798285"/>
                <a:ext cx="11982176" cy="476226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lnSpc>
                    <a:spcPct val="150000"/>
                  </a:lnSpc>
                  <a:buNone/>
                </a:pPr>
                <a:r>
                  <a:rPr lang="en-US" dirty="0">
                    <a:solidFill>
                      <a:srgbClr val="FF0000"/>
                    </a:solidFill>
                  </a:rPr>
                  <a:t>(c) To find the probability that sample contains at least 3 defective items, </a:t>
                </a:r>
                <a14:m>
                  <m:oMath xmlns:m="http://schemas.openxmlformats.org/officeDocument/2006/math">
                    <m:r>
                      <a:rPr lang="en-US" b="0">
                        <a:solidFill>
                          <a:srgbClr val="FF0000"/>
                        </a:solidFill>
                        <a:latin typeface="Cambria Math" panose="02040503050406030204" pitchFamily="18" charset="0"/>
                      </a:rPr>
                      <m:t>(</m:t>
                    </m:r>
                    <m:r>
                      <m:rPr>
                        <m:sty m:val="p"/>
                      </m:rPr>
                      <a:rPr lang="en-US" b="0" i="1">
                        <a:solidFill>
                          <a:srgbClr val="FF0000"/>
                        </a:solidFill>
                        <a:latin typeface="Cambria Math" panose="02040503050406030204" pitchFamily="18" charset="0"/>
                      </a:rPr>
                      <m:t>x</m:t>
                    </m:r>
                    <m:r>
                      <a:rPr lang="en-IN" b="0" i="1" smtClean="0">
                        <a:solidFill>
                          <a:srgbClr val="FF0000"/>
                        </a:solidFill>
                        <a:latin typeface="Cambria Math" panose="02040503050406030204" pitchFamily="18" charset="0"/>
                        <a:ea typeface="Cambria Math" panose="02040503050406030204" pitchFamily="18" charset="0"/>
                      </a:rPr>
                      <m:t>≥</m:t>
                    </m:r>
                    <m:r>
                      <a:rPr lang="en-IN" b="0" i="1" smtClean="0">
                        <a:solidFill>
                          <a:srgbClr val="FF0000"/>
                        </a:solidFill>
                        <a:latin typeface="Cambria Math" panose="02040503050406030204" pitchFamily="18" charset="0"/>
                      </a:rPr>
                      <m:t>3</m:t>
                    </m:r>
                    <m:r>
                      <a:rPr lang="en-US" b="0">
                        <a:solidFill>
                          <a:srgbClr val="FF0000"/>
                        </a:solidFill>
                        <a:latin typeface="Cambria Math" panose="02040503050406030204" pitchFamily="18" charset="0"/>
                      </a:rPr>
                      <m:t>)</m:t>
                    </m:r>
                  </m:oMath>
                </a14:m>
                <a:r>
                  <a:rPr lang="en-US" dirty="0">
                    <a:solidFill>
                      <a:srgbClr val="FF0000"/>
                    </a:solidFill>
                    <a:latin typeface="Cambria Math" panose="02040503050406030204" pitchFamily="18" charset="0"/>
                  </a:rPr>
                  <a:t> </a:t>
                </a:r>
                <a:endParaRPr lang="en-IN" dirty="0">
                  <a:solidFill>
                    <a:srgbClr val="FF0000"/>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b="0" i="0" smtClean="0">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≥3</m:t>
                          </m:r>
                        </m:e>
                      </m:d>
                      <m:r>
                        <a:rPr lang="en-US" i="1">
                          <a:solidFill>
                            <a:schemeClr val="tx2">
                              <a:lumMod val="50000"/>
                            </a:schemeClr>
                          </a:solidFill>
                          <a:latin typeface="Cambria Math" panose="02040503050406030204" pitchFamily="18" charset="0"/>
                        </a:rPr>
                        <m:t>=1−</m:t>
                      </m:r>
                      <m:r>
                        <m:rPr>
                          <m:sty m:val="p"/>
                        </m:rPr>
                        <a:rPr lang="en-US" i="1">
                          <a:solidFill>
                            <a:schemeClr val="tx2">
                              <a:lumMod val="50000"/>
                            </a:schemeClr>
                          </a:solidFill>
                          <a:latin typeface="Cambria Math" panose="02040503050406030204" pitchFamily="18" charset="0"/>
                        </a:rPr>
                        <m:t>P</m:t>
                      </m:r>
                      <m:r>
                        <a:rPr lang="en-US" i="1">
                          <a:solidFill>
                            <a:schemeClr val="tx2">
                              <a:lumMod val="50000"/>
                            </a:schemeClr>
                          </a:solidFill>
                          <a:latin typeface="Cambria Math" panose="02040503050406030204" pitchFamily="18" charset="0"/>
                        </a:rPr>
                        <m:t>(</m:t>
                      </m:r>
                      <m:r>
                        <m:rPr>
                          <m:sty m:val="p"/>
                        </m:rPr>
                        <a:rPr lang="en-IN" b="0" i="0" smtClean="0">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&lt;3)</m:t>
                      </m:r>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≥3</m:t>
                          </m:r>
                        </m:e>
                      </m:d>
                      <m:r>
                        <a:rPr lang="en-US" i="1">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1</m:t>
                              </m:r>
                            </m:e>
                          </m:d>
                          <m:r>
                            <a:rPr lang="en-US" i="1">
                              <a:solidFill>
                                <a:schemeClr val="tx2">
                                  <a:lumMod val="50000"/>
                                </a:schemeClr>
                              </a:solidFill>
                              <a:latin typeface="Cambria Math" panose="02040503050406030204" pitchFamily="18" charset="0"/>
                            </a:rPr>
                            <m:t>+</m:t>
                          </m:r>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2</m:t>
                              </m:r>
                            </m:e>
                          </m:d>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≥3</m:t>
                          </m:r>
                        </m:e>
                      </m:d>
                      <m:r>
                        <a:rPr lang="en-US" i="1">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0.3679+0.3679+</m:t>
                          </m:r>
                          <m:f>
                            <m:fPr>
                              <m:ctrlPr>
                                <a:rPr lang="en-IN" i="1">
                                  <a:solidFill>
                                    <a:schemeClr val="tx2">
                                      <a:lumMod val="50000"/>
                                    </a:schemeClr>
                                  </a:solidFill>
                                  <a:latin typeface="Cambria Math" panose="02040503050406030204" pitchFamily="18" charset="0"/>
                                </a:rPr>
                              </m:ctrlPr>
                            </m:fPr>
                            <m:num>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m:rPr>
                                      <m:sty m:val="p"/>
                                    </m:rPr>
                                    <a:rPr lang="en-US" i="1">
                                      <a:solidFill>
                                        <a:schemeClr val="tx2">
                                          <a:lumMod val="50000"/>
                                        </a:schemeClr>
                                      </a:solidFill>
                                      <a:latin typeface="Cambria Math" panose="02040503050406030204" pitchFamily="18" charset="0"/>
                                    </a:rPr>
                                    <m:t>e</m:t>
                                  </m:r>
                                </m:e>
                                <m:sup>
                                  <m:r>
                                    <a:rPr lang="en-US" i="1">
                                      <a:solidFill>
                                        <a:schemeClr val="tx2">
                                          <a:lumMod val="50000"/>
                                        </a:schemeClr>
                                      </a:solidFill>
                                      <a:latin typeface="Cambria Math" panose="02040503050406030204" pitchFamily="18" charset="0"/>
                                    </a:rPr>
                                    <m:t>−2</m:t>
                                  </m:r>
                                </m:sup>
                              </m:sSup>
                              <m:r>
                                <a:rPr lang="en-US" i="1">
                                  <a:solidFill>
                                    <a:schemeClr val="tx2">
                                      <a:lumMod val="50000"/>
                                    </a:schemeClr>
                                  </a:solidFill>
                                  <a:latin typeface="Cambria Math" panose="02040503050406030204" pitchFamily="18" charset="0"/>
                                </a:rPr>
                                <m:t>× </m:t>
                              </m:r>
                              <m:sSup>
                                <m:sSupPr>
                                  <m:ctrlPr>
                                    <a:rPr lang="en-IN" i="1">
                                      <a:solidFill>
                                        <a:schemeClr val="tx2">
                                          <a:lumMod val="50000"/>
                                        </a:schemeClr>
                                      </a:solidFill>
                                      <a:latin typeface="Cambria Math" panose="02040503050406030204" pitchFamily="18" charset="0"/>
                                    </a:rPr>
                                  </m:ctrlPr>
                                </m:sSupPr>
                                <m:e>
                                  <m:r>
                                    <a:rPr lang="en-US" i="1">
                                      <a:solidFill>
                                        <a:schemeClr val="tx2">
                                          <a:lumMod val="50000"/>
                                        </a:schemeClr>
                                      </a:solidFill>
                                      <a:latin typeface="Cambria Math" panose="02040503050406030204" pitchFamily="18" charset="0"/>
                                    </a:rPr>
                                    <m:t>(1)</m:t>
                                  </m:r>
                                </m:e>
                                <m:sup>
                                  <m:r>
                                    <a:rPr lang="en-US" i="1">
                                      <a:solidFill>
                                        <a:schemeClr val="tx2">
                                          <a:lumMod val="50000"/>
                                        </a:schemeClr>
                                      </a:solidFill>
                                      <a:latin typeface="Cambria Math" panose="02040503050406030204" pitchFamily="18" charset="0"/>
                                    </a:rPr>
                                    <m:t>2</m:t>
                                  </m:r>
                                </m:sup>
                              </m:sSup>
                              <m:r>
                                <a:rPr lang="en-US" i="1">
                                  <a:solidFill>
                                    <a:schemeClr val="tx2">
                                      <a:lumMod val="50000"/>
                                    </a:schemeClr>
                                  </a:solidFill>
                                  <a:latin typeface="Cambria Math" panose="02040503050406030204" pitchFamily="18" charset="0"/>
                                </a:rPr>
                                <m:t> </m:t>
                              </m:r>
                            </m:num>
                            <m:den>
                              <m:r>
                                <a:rPr lang="en-US" i="1">
                                  <a:solidFill>
                                    <a:schemeClr val="tx2">
                                      <a:lumMod val="50000"/>
                                    </a:schemeClr>
                                  </a:solidFill>
                                  <a:latin typeface="Cambria Math" panose="02040503050406030204" pitchFamily="18" charset="0"/>
                                </a:rPr>
                                <m:t>2!</m:t>
                              </m:r>
                            </m:den>
                          </m:f>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m:rPr>
                          <m:sty m:val="p"/>
                        </m:rPr>
                        <a:rPr lang="en-US" i="1">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m:rPr>
                              <m:sty m:val="p"/>
                            </m:rPr>
                            <a:rPr lang="en-IN">
                              <a:solidFill>
                                <a:schemeClr val="tx2">
                                  <a:lumMod val="50000"/>
                                </a:schemeClr>
                              </a:solidFill>
                              <a:latin typeface="Cambria Math" panose="02040503050406030204" pitchFamily="18" charset="0"/>
                            </a:rPr>
                            <m:t>X</m:t>
                          </m:r>
                          <m:r>
                            <a:rPr lang="en-US" i="1">
                              <a:solidFill>
                                <a:schemeClr val="tx2">
                                  <a:lumMod val="50000"/>
                                </a:schemeClr>
                              </a:solidFill>
                              <a:latin typeface="Cambria Math" panose="02040503050406030204" pitchFamily="18" charset="0"/>
                            </a:rPr>
                            <m:t>≥3</m:t>
                          </m:r>
                        </m:e>
                      </m:d>
                      <m:r>
                        <a:rPr lang="en-US" i="1">
                          <a:solidFill>
                            <a:schemeClr val="tx2">
                              <a:lumMod val="50000"/>
                            </a:schemeClr>
                          </a:solidFill>
                          <a:latin typeface="Cambria Math" panose="02040503050406030204" pitchFamily="18" charset="0"/>
                        </a:rPr>
                        <m:t>=1−</m:t>
                      </m:r>
                      <m:d>
                        <m:dPr>
                          <m:begChr m:val="["/>
                          <m:endChr m:val="]"/>
                          <m:ctrlPr>
                            <a:rPr lang="en-IN" i="1">
                              <a:solidFill>
                                <a:schemeClr val="tx2">
                                  <a:lumMod val="50000"/>
                                </a:schemeClr>
                              </a:solidFill>
                              <a:latin typeface="Cambria Math" panose="02040503050406030204" pitchFamily="18" charset="0"/>
                            </a:rPr>
                          </m:ctrlPr>
                        </m:dPr>
                        <m:e>
                          <m:r>
                            <a:rPr lang="en-US" i="1">
                              <a:solidFill>
                                <a:schemeClr val="tx2">
                                  <a:lumMod val="50000"/>
                                </a:schemeClr>
                              </a:solidFill>
                              <a:latin typeface="Cambria Math" panose="02040503050406030204" pitchFamily="18" charset="0"/>
                            </a:rPr>
                            <m:t>0.3679+0.3679+0.1839</m:t>
                          </m:r>
                        </m:e>
                      </m:d>
                    </m:oMath>
                  </m:oMathPara>
                </a14:m>
                <a:endParaRPr lang="en-IN" i="1" dirty="0">
                  <a:solidFill>
                    <a:schemeClr val="tx2">
                      <a:lumMod val="50000"/>
                    </a:schemeClr>
                  </a:solidFill>
                  <a:latin typeface="Cambria Math" panose="02040503050406030204" pitchFamily="18" charset="0"/>
                </a:endParaRPr>
              </a:p>
              <a:p>
                <a:pPr marL="0" indent="0" algn="l">
                  <a:lnSpc>
                    <a:spcPct val="150000"/>
                  </a:lnSpc>
                  <a:buNone/>
                </a:pPr>
                <a14:m>
                  <m:oMathPara xmlns:m="http://schemas.openxmlformats.org/officeDocument/2006/math">
                    <m:oMathParaPr>
                      <m:jc m:val="left"/>
                    </m:oMathParaPr>
                    <m:oMath xmlns:m="http://schemas.openxmlformats.org/officeDocument/2006/math">
                      <m:r>
                        <a:rPr lang="en-US" b="1" i="0"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IN"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𝟑</m:t>
                          </m:r>
                        </m:e>
                      </m:d>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𝟎𝟖𝟎𝟑</m:t>
                      </m:r>
                    </m:oMath>
                  </m:oMathPara>
                </a14:m>
                <a:endParaRPr lang="en-IN" b="1" i="1"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85328" y="798285"/>
                <a:ext cx="11982176" cy="4762266"/>
              </a:xfrm>
              <a:prstGeom prst="rect">
                <a:avLst/>
              </a:prstGeom>
              <a:blipFill rotWithShape="0">
                <a:blip r:embed="rId2"/>
                <a:stretch>
                  <a:fillRect l="-1068"/>
                </a:stretch>
              </a:blipFill>
            </p:spPr>
            <p:txBody>
              <a:bodyPr/>
              <a:lstStyle/>
              <a:p>
                <a:r>
                  <a:rPr lang="en-IN">
                    <a:noFill/>
                  </a:rPr>
                  <a:t> </a:t>
                </a:r>
              </a:p>
            </p:txBody>
          </p:sp>
        </mc:Fallback>
      </mc:AlternateContent>
    </p:spTree>
    <p:extLst>
      <p:ext uri="{BB962C8B-B14F-4D97-AF65-F5344CB8AC3E}">
        <p14:creationId xmlns:p14="http://schemas.microsoft.com/office/powerpoint/2010/main" val="4234638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3</a:t>
            </a:r>
            <a:br>
              <a:rPr lang="en-IN" dirty="0"/>
            </a:br>
            <a:r>
              <a:rPr lang="en-IN" dirty="0"/>
              <a:t>Exponential Distribution</a:t>
            </a:r>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649282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Exponential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0" y="863445"/>
                <a:ext cx="11929641" cy="3734314"/>
              </a:xfrm>
            </p:spPr>
            <p:txBody>
              <a:bodyPr/>
              <a:lstStyle/>
              <a:p>
                <a:pPr marL="0" lvl="0" indent="0">
                  <a:buNone/>
                </a:pPr>
                <a:r>
                  <a:rPr lang="en-US" dirty="0"/>
                  <a:t>A random variable </a:t>
                </a:r>
                <a14:m>
                  <m:oMath xmlns:m="http://schemas.openxmlformats.org/officeDocument/2006/math">
                    <m:r>
                      <m:rPr>
                        <m:sty m:val="p"/>
                      </m:rPr>
                      <a:rPr lang="en-US" i="0" dirty="0" smtClean="0">
                        <a:latin typeface="Cambria Math" panose="02040503050406030204" pitchFamily="18" charset="0"/>
                      </a:rPr>
                      <m:t>X</m:t>
                    </m:r>
                  </m:oMath>
                </a14:m>
                <a:r>
                  <a:rPr lang="en-US" dirty="0"/>
                  <a:t> is said to have an </a:t>
                </a:r>
                <a:r>
                  <a:rPr lang="en-US" dirty="0">
                    <a:solidFill>
                      <a:srgbClr val="FF0000"/>
                    </a:solidFill>
                  </a:rPr>
                  <a:t>exponential distribution</a:t>
                </a:r>
                <a:r>
                  <a:rPr lang="en-US" dirty="0"/>
                  <a:t> with parameter </a:t>
                </a:r>
                <a:r>
                  <a:rPr lang="en-IN" dirty="0"/>
                  <a:t>   </a:t>
                </a:r>
                <a14:m>
                  <m:oMath xmlns:m="http://schemas.openxmlformats.org/officeDocument/2006/math">
                    <m:r>
                      <m:rPr>
                        <m:sty m:val="p"/>
                      </m:rPr>
                      <a:rPr lang="en-US" i="0" dirty="0" smtClean="0">
                        <a:latin typeface="Cambria Math" panose="02040503050406030204" pitchFamily="18" charset="0"/>
                      </a:rPr>
                      <m:t>θ</m:t>
                    </m:r>
                    <m:r>
                      <a:rPr lang="en-US" i="0" dirty="0" smtClean="0">
                        <a:latin typeface="Cambria Math" panose="02040503050406030204" pitchFamily="18" charset="0"/>
                      </a:rPr>
                      <m:t>&gt;0</m:t>
                    </m:r>
                  </m:oMath>
                </a14:m>
                <a:r>
                  <a:rPr lang="en-US" dirty="0"/>
                  <a:t>, if its probability density function is given by </a:t>
                </a:r>
              </a:p>
              <a:p>
                <a:pPr marL="0" indent="0">
                  <a:buNone/>
                </a:pPr>
                <a14:m>
                  <m:oMathPara xmlns:m="http://schemas.openxmlformats.org/officeDocument/2006/math">
                    <m:oMathParaPr>
                      <m:jc m:val="center"/>
                    </m:oMathParaPr>
                    <m:oMath xmlns:m="http://schemas.openxmlformats.org/officeDocument/2006/math">
                      <m:r>
                        <a:rPr lang="en-US" i="1" smtClean="0">
                          <a:solidFill>
                            <a:srgbClr val="FF0000"/>
                          </a:solidFill>
                          <a:latin typeface="Cambria Math" panose="02040503050406030204" pitchFamily="18" charset="0"/>
                        </a:rPr>
                        <m:t>𝐟</m:t>
                      </m:r>
                      <m:d>
                        <m:dPr>
                          <m:ctrlPr>
                            <a:rPr lang="en-IN"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𝐗</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𝐱</m:t>
                          </m:r>
                        </m:e>
                      </m:d>
                      <m:r>
                        <a:rPr lang="en-US" i="1">
                          <a:solidFill>
                            <a:srgbClr val="FF0000"/>
                          </a:solidFill>
                          <a:latin typeface="Cambria Math" panose="02040503050406030204" pitchFamily="18" charset="0"/>
                        </a:rPr>
                        <m:t>=</m:t>
                      </m:r>
                      <m:d>
                        <m:dPr>
                          <m:begChr m:val="{"/>
                          <m:endChr m:val=""/>
                          <m:ctrlPr>
                            <a:rPr lang="en-IN"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 </m:t>
                          </m:r>
                          <m:eqArr>
                            <m:eqArrPr>
                              <m:ctrlPr>
                                <a:rPr lang="en-IN" i="1">
                                  <a:solidFill>
                                    <a:srgbClr val="FF0000"/>
                                  </a:solidFill>
                                  <a:latin typeface="Cambria Math" panose="02040503050406030204" pitchFamily="18" charset="0"/>
                                </a:rPr>
                              </m:ctrlPr>
                            </m:eqArrPr>
                            <m:e>
                              <m:r>
                                <a:rPr lang="en-US" i="1">
                                  <a:solidFill>
                                    <a:srgbClr val="FF0000"/>
                                  </a:solidFill>
                                  <a:latin typeface="Cambria Math" panose="02040503050406030204" pitchFamily="18" charset="0"/>
                                </a:rPr>
                                <m:t>𝛉</m:t>
                              </m:r>
                              <m:sSup>
                                <m:sSupPr>
                                  <m:ctrlPr>
                                    <a:rPr lang="en-IN"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𝐞</m:t>
                                  </m:r>
                                </m:e>
                                <m:sup>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𝛉</m:t>
                                  </m:r>
                                  <m:r>
                                    <a:rPr lang="en-US" i="1">
                                      <a:solidFill>
                                        <a:srgbClr val="FF0000"/>
                                      </a:solidFill>
                                      <a:latin typeface="Cambria Math" panose="02040503050406030204" pitchFamily="18" charset="0"/>
                                    </a:rPr>
                                    <m:t>𝐱</m:t>
                                  </m:r>
                                </m:sup>
                              </m:sSup>
                              <m:r>
                                <a:rPr lang="en-US" i="1">
                                  <a:solidFill>
                                    <a:srgbClr val="FF0000"/>
                                  </a:solidFill>
                                  <a:latin typeface="Cambria Math" panose="02040503050406030204" pitchFamily="18" charset="0"/>
                                </a:rPr>
                                <m:t>         &amp;; </m:t>
                              </m:r>
                              <m:r>
                                <a:rPr lang="en-US" i="1">
                                  <a:solidFill>
                                    <a:srgbClr val="FF0000"/>
                                  </a:solidFill>
                                  <a:latin typeface="Cambria Math" panose="02040503050406030204" pitchFamily="18" charset="0"/>
                                </a:rPr>
                                <m:t>𝐱</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𝟎</m:t>
                              </m:r>
                            </m:e>
                            <m:e/>
                            <m:e>
                              <m:r>
                                <a:rPr lang="en-US" i="1">
                                  <a:solidFill>
                                    <a:srgbClr val="FF0000"/>
                                  </a:solidFill>
                                  <a:latin typeface="Cambria Math" panose="02040503050406030204" pitchFamily="18" charset="0"/>
                                </a:rPr>
                                <m:t>𝟎</m:t>
                              </m:r>
                              <m:r>
                                <a:rPr lang="en-US" i="1">
                                  <a:solidFill>
                                    <a:srgbClr val="FF0000"/>
                                  </a:solidFill>
                                  <a:latin typeface="Cambria Math" panose="02040503050406030204" pitchFamily="18" charset="0"/>
                                </a:rPr>
                                <m:t>           &amp;; </m:t>
                              </m:r>
                              <m:r>
                                <a:rPr lang="en-US" i="1">
                                  <a:solidFill>
                                    <a:srgbClr val="FF0000"/>
                                  </a:solidFill>
                                  <a:latin typeface="Cambria Math" panose="02040503050406030204" pitchFamily="18" charset="0"/>
                                </a:rPr>
                                <m:t>𝐨𝐭𝐡𝐞𝐫𝐰𝐢𝐬𝐞</m:t>
                              </m:r>
                            </m:e>
                          </m:eqArr>
                        </m:e>
                      </m:d>
                    </m:oMath>
                  </m:oMathPara>
                </a14:m>
                <a:endParaRPr lang="en-IN" dirty="0"/>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0" y="863445"/>
                <a:ext cx="11929641" cy="3734314"/>
              </a:xfrm>
              <a:blipFill rotWithShape="0">
                <a:blip r:embed="rId2"/>
                <a:stretch>
                  <a:fillRect l="-1074" r="-1074"/>
                </a:stretch>
              </a:blipFill>
            </p:spPr>
            <p:txBody>
              <a:bodyPr/>
              <a:lstStyle/>
              <a:p>
                <a:r>
                  <a:rPr lang="en-IN">
                    <a:noFill/>
                  </a:rPr>
                  <a:t> </a:t>
                </a:r>
              </a:p>
            </p:txBody>
          </p:sp>
        </mc:Fallback>
      </mc:AlternateContent>
      <p:sp>
        <p:nvSpPr>
          <p:cNvPr id="2" name="Rectangle 1"/>
          <p:cNvSpPr/>
          <p:nvPr/>
        </p:nvSpPr>
        <p:spPr>
          <a:xfrm>
            <a:off x="182696" y="5196244"/>
            <a:ext cx="1233962" cy="523220"/>
          </a:xfrm>
          <a:prstGeom prst="rect">
            <a:avLst/>
          </a:prstGeom>
        </p:spPr>
        <p:txBody>
          <a:bodyPr wrap="square">
            <a:spAutoFit/>
          </a:bodyPr>
          <a:lstStyle/>
          <a:p>
            <a:r>
              <a:rPr lang="en-US" sz="2800" dirty="0"/>
              <a:t>Where,</a:t>
            </a:r>
            <a:endParaRPr lang="en-IN" sz="2800" dirty="0"/>
          </a:p>
        </p:txBody>
      </p:sp>
      <mc:AlternateContent xmlns:mc="http://schemas.openxmlformats.org/markup-compatibility/2006" xmlns:a14="http://schemas.microsoft.com/office/drawing/2010/main">
        <mc:Choice Requires="a14">
          <p:sp>
            <p:nvSpPr>
              <p:cNvPr id="3" name="Rectangle 2"/>
              <p:cNvSpPr/>
              <p:nvPr/>
            </p:nvSpPr>
            <p:spPr>
              <a:xfrm>
                <a:off x="1166354" y="5006961"/>
                <a:ext cx="1969914" cy="9017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1">
                          <a:solidFill>
                            <a:srgbClr val="FF0000"/>
                          </a:solidFill>
                          <a:latin typeface="Cambria Math" panose="02040503050406030204" pitchFamily="18" charset="0"/>
                        </a:rPr>
                        <m:t>𝛉</m:t>
                      </m:r>
                      <m:r>
                        <a:rPr lang="en-US" sz="2800" b="1">
                          <a:solidFill>
                            <a:srgbClr val="FF0000"/>
                          </a:solidFill>
                          <a:latin typeface="Cambria Math" panose="02040503050406030204" pitchFamily="18" charset="0"/>
                        </a:rPr>
                        <m:t>=</m:t>
                      </m:r>
                      <m:f>
                        <m:fPr>
                          <m:ctrlPr>
                            <a:rPr lang="en-IN" sz="2800" b="1" i="1">
                              <a:solidFill>
                                <a:srgbClr val="FF0000"/>
                              </a:solidFill>
                              <a:latin typeface="Cambria Math" panose="02040503050406030204" pitchFamily="18" charset="0"/>
                            </a:rPr>
                          </m:ctrlPr>
                        </m:fPr>
                        <m:num>
                          <m:r>
                            <a:rPr lang="en-US" sz="2800" b="1">
                              <a:solidFill>
                                <a:srgbClr val="FF0000"/>
                              </a:solidFill>
                              <a:latin typeface="Cambria Math" panose="02040503050406030204" pitchFamily="18" charset="0"/>
                            </a:rPr>
                            <m:t> </m:t>
                          </m:r>
                          <m:r>
                            <a:rPr lang="en-US" sz="2800" b="1">
                              <a:solidFill>
                                <a:srgbClr val="FF0000"/>
                              </a:solidFill>
                              <a:latin typeface="Cambria Math" panose="02040503050406030204" pitchFamily="18" charset="0"/>
                            </a:rPr>
                            <m:t>𝟏</m:t>
                          </m:r>
                          <m:r>
                            <a:rPr lang="en-US" sz="2800" b="1">
                              <a:solidFill>
                                <a:srgbClr val="FF0000"/>
                              </a:solidFill>
                              <a:latin typeface="Cambria Math" panose="02040503050406030204" pitchFamily="18" charset="0"/>
                            </a:rPr>
                            <m:t> </m:t>
                          </m:r>
                        </m:num>
                        <m:den>
                          <m:r>
                            <a:rPr lang="en-US" sz="2800" b="1">
                              <a:solidFill>
                                <a:srgbClr val="FF0000"/>
                              </a:solidFill>
                              <a:latin typeface="Cambria Math" panose="02040503050406030204" pitchFamily="18" charset="0"/>
                            </a:rPr>
                            <m:t>𝐦𝐞𝐚𝐧</m:t>
                          </m:r>
                        </m:den>
                      </m:f>
                    </m:oMath>
                  </m:oMathPara>
                </a14:m>
                <a:endParaRPr lang="en-IN" sz="2800" dirty="0"/>
              </a:p>
            </p:txBody>
          </p:sp>
        </mc:Choice>
        <mc:Fallback xmlns="">
          <p:sp>
            <p:nvSpPr>
              <p:cNvPr id="3" name="Rectangle 2"/>
              <p:cNvSpPr>
                <a:spLocks noRot="1" noChangeAspect="1" noMove="1" noResize="1" noEditPoints="1" noAdjustHandles="1" noChangeArrowheads="1" noChangeShapeType="1" noTextEdit="1"/>
              </p:cNvSpPr>
              <p:nvPr/>
            </p:nvSpPr>
            <p:spPr>
              <a:xfrm>
                <a:off x="1166354" y="5006961"/>
                <a:ext cx="1969914" cy="901785"/>
              </a:xfrm>
              <a:prstGeom prst="rect">
                <a:avLst/>
              </a:prstGeom>
              <a:blipFill rotWithShape="0">
                <a:blip r:embed="rId3"/>
                <a:stretch>
                  <a:fillRect/>
                </a:stretch>
              </a:blipFill>
            </p:spPr>
            <p:txBody>
              <a:bodyPr/>
              <a:lstStyle/>
              <a:p>
                <a:r>
                  <a:rPr lang="en-IN">
                    <a:noFill/>
                  </a:rPr>
                  <a:t> </a:t>
                </a:r>
              </a:p>
            </p:txBody>
          </p:sp>
        </mc:Fallback>
      </mc:AlternateContent>
      <p:sp>
        <p:nvSpPr>
          <p:cNvPr id="6" name="Rectangle 5"/>
          <p:cNvSpPr/>
          <p:nvPr/>
        </p:nvSpPr>
        <p:spPr>
          <a:xfrm>
            <a:off x="3033236" y="5211664"/>
            <a:ext cx="2034861" cy="523220"/>
          </a:xfrm>
          <a:prstGeom prst="rect">
            <a:avLst/>
          </a:prstGeom>
        </p:spPr>
        <p:txBody>
          <a:bodyPr wrap="square">
            <a:spAutoFit/>
          </a:bodyPr>
          <a:lstStyle/>
          <a:p>
            <a:r>
              <a:rPr lang="en-US" sz="2800" dirty="0"/>
              <a:t>and </a:t>
            </a:r>
            <a:r>
              <a:rPr lang="en-US" sz="2800" b="1" dirty="0">
                <a:solidFill>
                  <a:srgbClr val="FF0000"/>
                </a:solidFill>
              </a:rPr>
              <a:t>variance</a:t>
            </a:r>
            <a:endParaRPr lang="en-IN" sz="4000" dirty="0"/>
          </a:p>
        </p:txBody>
      </p:sp>
      <mc:AlternateContent xmlns:mc="http://schemas.openxmlformats.org/markup-compatibility/2006" xmlns:a14="http://schemas.microsoft.com/office/drawing/2010/main">
        <mc:Choice Requires="a14">
          <p:sp>
            <p:nvSpPr>
              <p:cNvPr id="7" name="Rectangle 6"/>
              <p:cNvSpPr/>
              <p:nvPr/>
            </p:nvSpPr>
            <p:spPr>
              <a:xfrm>
                <a:off x="4795230" y="5006961"/>
                <a:ext cx="1212470" cy="9017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1" dirty="0">
                          <a:solidFill>
                            <a:srgbClr val="FF0000"/>
                          </a:solidFill>
                          <a:latin typeface="Cambria Math" panose="02040503050406030204" pitchFamily="18" charset="0"/>
                        </a:rPr>
                        <m:t>=</m:t>
                      </m:r>
                      <m:f>
                        <m:fPr>
                          <m:ctrlPr>
                            <a:rPr lang="en-IN" sz="2800" b="1" i="1" dirty="0">
                              <a:solidFill>
                                <a:srgbClr val="FF0000"/>
                              </a:solidFill>
                              <a:latin typeface="Cambria Math" panose="02040503050406030204" pitchFamily="18" charset="0"/>
                            </a:rPr>
                          </m:ctrlPr>
                        </m:fPr>
                        <m:num>
                          <m:r>
                            <a:rPr lang="en-US" sz="2800" b="1" dirty="0">
                              <a:solidFill>
                                <a:srgbClr val="FF0000"/>
                              </a:solidFill>
                              <a:latin typeface="Cambria Math" panose="02040503050406030204" pitchFamily="18" charset="0"/>
                            </a:rPr>
                            <m:t> </m:t>
                          </m:r>
                          <m:r>
                            <a:rPr lang="en-US" sz="2800" b="1" dirty="0">
                              <a:solidFill>
                                <a:srgbClr val="FF0000"/>
                              </a:solidFill>
                              <a:latin typeface="Cambria Math" panose="02040503050406030204" pitchFamily="18" charset="0"/>
                            </a:rPr>
                            <m:t>𝟏</m:t>
                          </m:r>
                          <m:r>
                            <a:rPr lang="en-US" sz="2800" b="1" dirty="0">
                              <a:solidFill>
                                <a:srgbClr val="FF0000"/>
                              </a:solidFill>
                              <a:latin typeface="Cambria Math" panose="02040503050406030204" pitchFamily="18" charset="0"/>
                            </a:rPr>
                            <m:t> </m:t>
                          </m:r>
                        </m:num>
                        <m:den>
                          <m:sSup>
                            <m:sSupPr>
                              <m:ctrlPr>
                                <a:rPr lang="en-IN" sz="2800" b="1" i="1" dirty="0">
                                  <a:solidFill>
                                    <a:srgbClr val="FF0000"/>
                                  </a:solidFill>
                                  <a:latin typeface="Cambria Math" panose="02040503050406030204" pitchFamily="18" charset="0"/>
                                </a:rPr>
                              </m:ctrlPr>
                            </m:sSupPr>
                            <m:e>
                              <m:r>
                                <a:rPr lang="en-US" sz="2800" b="1" dirty="0">
                                  <a:solidFill>
                                    <a:srgbClr val="FF0000"/>
                                  </a:solidFill>
                                  <a:latin typeface="Cambria Math" panose="02040503050406030204" pitchFamily="18" charset="0"/>
                                </a:rPr>
                                <m:t>𝛉</m:t>
                              </m:r>
                            </m:e>
                            <m:sup>
                              <m:r>
                                <a:rPr lang="en-US" sz="2800" b="1" dirty="0">
                                  <a:solidFill>
                                    <a:srgbClr val="FF0000"/>
                                  </a:solidFill>
                                  <a:latin typeface="Cambria Math" panose="02040503050406030204" pitchFamily="18" charset="0"/>
                                </a:rPr>
                                <m:t>𝟐</m:t>
                              </m:r>
                            </m:sup>
                          </m:sSup>
                        </m:den>
                      </m:f>
                    </m:oMath>
                  </m:oMathPara>
                </a14:m>
                <a:endParaRPr lang="en-IN" sz="2800" dirty="0"/>
              </a:p>
            </p:txBody>
          </p:sp>
        </mc:Choice>
        <mc:Fallback xmlns="">
          <p:sp>
            <p:nvSpPr>
              <p:cNvPr id="7" name="Rectangle 6"/>
              <p:cNvSpPr>
                <a:spLocks noRot="1" noChangeAspect="1" noMove="1" noResize="1" noEditPoints="1" noAdjustHandles="1" noChangeArrowheads="1" noChangeShapeType="1" noTextEdit="1"/>
              </p:cNvSpPr>
              <p:nvPr/>
            </p:nvSpPr>
            <p:spPr>
              <a:xfrm>
                <a:off x="4795230" y="5006961"/>
                <a:ext cx="1212470" cy="901785"/>
              </a:xfrm>
              <a:prstGeom prst="rect">
                <a:avLst/>
              </a:prstGeom>
              <a:blipFill rotWithShape="0">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8439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 grpId="0"/>
      <p:bldP spid="3" grpId="0"/>
      <p:bldP spid="6" grpId="0"/>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Exponential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In </a:t>
                </a:r>
                <a:r>
                  <a:rPr lang="en-US" dirty="0">
                    <a:solidFill>
                      <a:srgbClr val="FF0000"/>
                    </a:solidFill>
                  </a:rPr>
                  <a:t>exponential distribution</a:t>
                </a:r>
                <a:r>
                  <a:rPr lang="en-US" dirty="0"/>
                  <a:t> we can find the probability as given below:</a:t>
                </a:r>
                <a:endParaRPr lang="en-IN" dirty="0"/>
              </a:p>
              <a:p>
                <a:pPr marL="0" lvl="0" indent="0" algn="l">
                  <a:buNone/>
                </a:pPr>
                <a:r>
                  <a:rPr lang="en-US" dirty="0"/>
                  <a:t>(1) </a:t>
                </a:r>
                <a14:m>
                  <m:oMath xmlns:m="http://schemas.openxmlformats.org/officeDocument/2006/math">
                    <m:r>
                      <m:rPr>
                        <m:sty m:val="p"/>
                      </m:rPr>
                      <a:rPr lang="en-US" i="0" dirty="0" smtClean="0">
                        <a:latin typeface="Cambria Math" panose="02040503050406030204" pitchFamily="18" charset="0"/>
                      </a:rPr>
                      <m:t>P</m:t>
                    </m:r>
                    <m:r>
                      <a:rPr lang="en-IN" i="0" dirty="0" smtClean="0">
                        <a:latin typeface="Cambria Math" panose="02040503050406030204" pitchFamily="18" charset="0"/>
                      </a:rPr>
                      <m:t>(</m:t>
                    </m:r>
                    <m:r>
                      <m:rPr>
                        <m:sty m:val="p"/>
                      </m:rPr>
                      <a:rPr lang="en-US" i="0" dirty="0" err="1">
                        <a:latin typeface="Cambria Math" panose="02040503050406030204" pitchFamily="18" charset="0"/>
                      </a:rPr>
                      <m:t>X</m:t>
                    </m:r>
                    <m:r>
                      <a:rPr lang="en-US" i="0" dirty="0" err="1">
                        <a:latin typeface="Cambria Math" panose="02040503050406030204" pitchFamily="18" charset="0"/>
                      </a:rPr>
                      <m:t>≤</m:t>
                    </m:r>
                    <m:r>
                      <m:rPr>
                        <m:sty m:val="p"/>
                      </m:rPr>
                      <a:rPr lang="en-US" i="0" dirty="0" err="1">
                        <a:latin typeface="Cambria Math" panose="02040503050406030204" pitchFamily="18" charset="0"/>
                      </a:rPr>
                      <m:t>x</m:t>
                    </m:r>
                    <m:r>
                      <a:rPr lang="en-US" i="0" dirty="0">
                        <a:latin typeface="Cambria Math" panose="02040503050406030204" pitchFamily="18" charset="0"/>
                      </a:rPr>
                      <m:t>)</m:t>
                    </m:r>
                    <m:r>
                      <a:rPr lang="en-US" i="0" dirty="0" smtClean="0">
                        <a:latin typeface="Cambria Math" panose="02040503050406030204" pitchFamily="18" charset="0"/>
                      </a:rPr>
                      <m:t>=1−</m:t>
                    </m:r>
                    <m:sSup>
                      <m:sSupPr>
                        <m:ctrlPr>
                          <a:rPr lang="en-IN" i="1" dirty="0">
                            <a:latin typeface="Cambria Math" panose="02040503050406030204" pitchFamily="18" charset="0"/>
                          </a:rPr>
                        </m:ctrlPr>
                      </m:sSupPr>
                      <m:e>
                        <m:r>
                          <m:rPr>
                            <m:sty m:val="p"/>
                          </m:rPr>
                          <a:rPr lang="en-US" i="0" dirty="0" smtClean="0">
                            <a:latin typeface="Cambria Math" panose="02040503050406030204" pitchFamily="18" charset="0"/>
                          </a:rPr>
                          <m:t>e</m:t>
                        </m:r>
                      </m:e>
                      <m:sup>
                        <m:r>
                          <a:rPr lang="en-US" i="0" dirty="0">
                            <a:latin typeface="Cambria Math" panose="02040503050406030204" pitchFamily="18" charset="0"/>
                          </a:rPr>
                          <m:t>−</m:t>
                        </m:r>
                        <m:r>
                          <m:rPr>
                            <m:sty m:val="p"/>
                          </m:rPr>
                          <a:rPr lang="en-US" i="0" dirty="0" err="1">
                            <a:latin typeface="Cambria Math" panose="02040503050406030204" pitchFamily="18" charset="0"/>
                          </a:rPr>
                          <m:t>θx</m:t>
                        </m:r>
                      </m:sup>
                    </m:sSup>
                  </m:oMath>
                </a14:m>
                <a:r>
                  <a:rPr lang="en-IN" dirty="0"/>
                  <a:t>  </a:t>
                </a:r>
                <a:endParaRPr lang="en-IN" i="0" dirty="0">
                  <a:latin typeface="Cambria Math" panose="02040503050406030204" pitchFamily="18" charset="0"/>
                </a:endParaRPr>
              </a:p>
              <a:p>
                <a:pPr marL="0" lvl="0" indent="0" algn="l">
                  <a:buNone/>
                </a:pPr>
                <a:r>
                  <a:rPr lang="en-US" dirty="0"/>
                  <a:t>(2) </a:t>
                </a:r>
                <a14:m>
                  <m:oMath xmlns:m="http://schemas.openxmlformats.org/officeDocument/2006/math">
                    <m:r>
                      <m:rPr>
                        <m:sty m:val="p"/>
                      </m:rPr>
                      <a:rPr lang="en-US" i="0" dirty="0" smtClean="0">
                        <a:latin typeface="Cambria Math" panose="02040503050406030204" pitchFamily="18" charset="0"/>
                      </a:rPr>
                      <m:t>P</m:t>
                    </m:r>
                    <m:d>
                      <m:dPr>
                        <m:ctrlPr>
                          <a:rPr lang="en-IN" i="1" dirty="0" smtClean="0">
                            <a:latin typeface="Cambria Math" panose="02040503050406030204" pitchFamily="18" charset="0"/>
                          </a:rPr>
                        </m:ctrlPr>
                      </m:dPr>
                      <m:e>
                        <m:r>
                          <m:rPr>
                            <m:sty m:val="p"/>
                          </m:rPr>
                          <a:rPr lang="en-US" i="0" dirty="0" err="1">
                            <a:latin typeface="Cambria Math" panose="02040503050406030204" pitchFamily="18" charset="0"/>
                          </a:rPr>
                          <m:t>X</m:t>
                        </m:r>
                        <m:r>
                          <a:rPr lang="en-US" i="0" dirty="0" err="1">
                            <a:latin typeface="Cambria Math" panose="02040503050406030204" pitchFamily="18" charset="0"/>
                          </a:rPr>
                          <m:t>≥</m:t>
                        </m:r>
                        <m:r>
                          <m:rPr>
                            <m:sty m:val="p"/>
                          </m:rPr>
                          <a:rPr lang="en-US" i="0" dirty="0" err="1">
                            <a:latin typeface="Cambria Math" panose="02040503050406030204" pitchFamily="18" charset="0"/>
                          </a:rPr>
                          <m:t>x</m:t>
                        </m:r>
                      </m:e>
                    </m:d>
                    <m:r>
                      <a:rPr lang="en-US" i="0" dirty="0" smtClean="0">
                        <a:latin typeface="Cambria Math" panose="02040503050406030204" pitchFamily="18" charset="0"/>
                      </a:rPr>
                      <m:t>=</m:t>
                    </m:r>
                    <m:sSup>
                      <m:sSupPr>
                        <m:ctrlPr>
                          <a:rPr lang="en-IN" i="1" dirty="0">
                            <a:latin typeface="Cambria Math" panose="02040503050406030204" pitchFamily="18" charset="0"/>
                          </a:rPr>
                        </m:ctrlPr>
                      </m:sSupPr>
                      <m:e>
                        <m:r>
                          <m:rPr>
                            <m:sty m:val="p"/>
                          </m:rPr>
                          <a:rPr lang="en-US" i="0" dirty="0" smtClean="0">
                            <a:latin typeface="Cambria Math" panose="02040503050406030204" pitchFamily="18" charset="0"/>
                          </a:rPr>
                          <m:t>e</m:t>
                        </m:r>
                      </m:e>
                      <m:sup>
                        <m:r>
                          <a:rPr lang="en-US" i="0" dirty="0">
                            <a:latin typeface="Cambria Math" panose="02040503050406030204" pitchFamily="18" charset="0"/>
                          </a:rPr>
                          <m:t>−</m:t>
                        </m:r>
                        <m:r>
                          <m:rPr>
                            <m:sty m:val="p"/>
                          </m:rPr>
                          <a:rPr lang="en-US" i="0" dirty="0" err="1">
                            <a:latin typeface="Cambria Math" panose="02040503050406030204" pitchFamily="18" charset="0"/>
                          </a:rPr>
                          <m:t>θx</m:t>
                        </m:r>
                      </m:sup>
                    </m:sSup>
                  </m:oMath>
                </a14:m>
                <a:endParaRPr lang="en-IN" i="0" dirty="0">
                  <a:latin typeface="Cambria Math" panose="02040503050406030204" pitchFamily="18" charset="0"/>
                </a:endParaRPr>
              </a:p>
              <a:p>
                <a:pPr marL="0" lvl="0" indent="0" algn="l">
                  <a:buNone/>
                </a:pPr>
                <a:r>
                  <a:rPr lang="en-US" dirty="0"/>
                  <a:t>(3) </a:t>
                </a:r>
                <a14:m>
                  <m:oMath xmlns:m="http://schemas.openxmlformats.org/officeDocument/2006/math">
                    <m:r>
                      <m:rPr>
                        <m:sty m:val="p"/>
                      </m:rPr>
                      <a:rPr lang="en-US" i="0" dirty="0" smtClean="0">
                        <a:latin typeface="Cambria Math" panose="02040503050406030204" pitchFamily="18" charset="0"/>
                      </a:rPr>
                      <m:t>P</m:t>
                    </m:r>
                    <m:r>
                      <a:rPr lang="en-IN" i="0" dirty="0" smtClean="0">
                        <a:latin typeface="Cambria Math" panose="02040503050406030204" pitchFamily="18" charset="0"/>
                      </a:rPr>
                      <m:t>(</m:t>
                    </m:r>
                    <m:r>
                      <m:rPr>
                        <m:sty m:val="p"/>
                      </m:rPr>
                      <a:rPr lang="en-US" i="0" dirty="0" err="1">
                        <a:latin typeface="Cambria Math" panose="02040503050406030204" pitchFamily="18" charset="0"/>
                      </a:rPr>
                      <m:t>a</m:t>
                    </m:r>
                    <m:r>
                      <a:rPr lang="en-US" i="0" dirty="0" err="1">
                        <a:latin typeface="Cambria Math" panose="02040503050406030204" pitchFamily="18" charset="0"/>
                      </a:rPr>
                      <m:t>≤</m:t>
                    </m:r>
                    <m:r>
                      <m:rPr>
                        <m:sty m:val="p"/>
                      </m:rPr>
                      <a:rPr lang="en-US" i="0" dirty="0" err="1">
                        <a:latin typeface="Cambria Math" panose="02040503050406030204" pitchFamily="18" charset="0"/>
                      </a:rPr>
                      <m:t>X</m:t>
                    </m:r>
                    <m:r>
                      <a:rPr lang="en-US" i="0" dirty="0" err="1">
                        <a:latin typeface="Cambria Math" panose="02040503050406030204" pitchFamily="18" charset="0"/>
                      </a:rPr>
                      <m:t>≤</m:t>
                    </m:r>
                    <m:r>
                      <m:rPr>
                        <m:sty m:val="p"/>
                      </m:rPr>
                      <a:rPr lang="en-US" i="0" dirty="0" err="1">
                        <a:latin typeface="Cambria Math" panose="02040503050406030204" pitchFamily="18" charset="0"/>
                      </a:rPr>
                      <m:t>b</m:t>
                    </m:r>
                    <m:r>
                      <a:rPr lang="en-US" i="0" dirty="0">
                        <a:latin typeface="Cambria Math" panose="02040503050406030204" pitchFamily="18" charset="0"/>
                      </a:rPr>
                      <m:t>)</m:t>
                    </m:r>
                    <m:r>
                      <a:rPr lang="en-US" i="0" dirty="0" smtClean="0">
                        <a:latin typeface="Cambria Math" panose="02040503050406030204" pitchFamily="18" charset="0"/>
                      </a:rPr>
                      <m:t>=</m:t>
                    </m:r>
                    <m:sSup>
                      <m:sSupPr>
                        <m:ctrlPr>
                          <a:rPr lang="en-IN" i="1" dirty="0">
                            <a:latin typeface="Cambria Math" panose="02040503050406030204" pitchFamily="18" charset="0"/>
                          </a:rPr>
                        </m:ctrlPr>
                      </m:sSupPr>
                      <m:e>
                        <m:r>
                          <m:rPr>
                            <m:sty m:val="p"/>
                          </m:rPr>
                          <a:rPr lang="en-US" i="0" dirty="0" smtClean="0">
                            <a:latin typeface="Cambria Math" panose="02040503050406030204" pitchFamily="18" charset="0"/>
                          </a:rPr>
                          <m:t>e</m:t>
                        </m:r>
                      </m:e>
                      <m:sup>
                        <m:r>
                          <a:rPr lang="en-US" i="0" dirty="0">
                            <a:latin typeface="Cambria Math" panose="02040503050406030204" pitchFamily="18" charset="0"/>
                          </a:rPr>
                          <m:t>−</m:t>
                        </m:r>
                        <m:r>
                          <m:rPr>
                            <m:sty m:val="p"/>
                          </m:rPr>
                          <a:rPr lang="en-US" i="0" dirty="0" err="1">
                            <a:latin typeface="Cambria Math" panose="02040503050406030204" pitchFamily="18" charset="0"/>
                          </a:rPr>
                          <m:t>aθ</m:t>
                        </m:r>
                      </m:sup>
                    </m:sSup>
                    <m:r>
                      <a:rPr lang="en-US" i="0" dirty="0" smtClean="0">
                        <a:latin typeface="Cambria Math" panose="02040503050406030204" pitchFamily="18" charset="0"/>
                      </a:rPr>
                      <m:t>−</m:t>
                    </m:r>
                    <m:sSup>
                      <m:sSupPr>
                        <m:ctrlPr>
                          <a:rPr lang="en-IN" i="1" dirty="0">
                            <a:latin typeface="Cambria Math" panose="02040503050406030204" pitchFamily="18" charset="0"/>
                          </a:rPr>
                        </m:ctrlPr>
                      </m:sSupPr>
                      <m:e>
                        <m:r>
                          <m:rPr>
                            <m:sty m:val="p"/>
                          </m:rPr>
                          <a:rPr lang="en-US" i="0" dirty="0" smtClean="0">
                            <a:latin typeface="Cambria Math" panose="02040503050406030204" pitchFamily="18" charset="0"/>
                          </a:rPr>
                          <m:t>e</m:t>
                        </m:r>
                      </m:e>
                      <m:sup>
                        <m:r>
                          <a:rPr lang="en-US" i="0" dirty="0">
                            <a:latin typeface="Cambria Math" panose="02040503050406030204" pitchFamily="18" charset="0"/>
                          </a:rPr>
                          <m:t>−</m:t>
                        </m:r>
                        <m:r>
                          <m:rPr>
                            <m:sty m:val="p"/>
                          </m:rPr>
                          <a:rPr lang="en-US" i="0" dirty="0" err="1">
                            <a:latin typeface="Cambria Math" panose="02040503050406030204" pitchFamily="18" charset="0"/>
                          </a:rPr>
                          <m:t>bθ</m:t>
                        </m:r>
                      </m:sup>
                    </m:sSup>
                  </m:oMath>
                </a14:m>
                <a:endParaRPr lang="en-US" dirty="0">
                  <a:solidFill>
                    <a:srgbClr val="FF0000"/>
                  </a:solidFill>
                </a:endParaRPr>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blipFill rotWithShape="0">
                <a:blip r:embed="rId2"/>
                <a:stretch>
                  <a:fillRect l="-1074"/>
                </a:stretch>
              </a:blipFill>
            </p:spPr>
            <p:txBody>
              <a:bodyPr/>
              <a:lstStyle/>
              <a:p>
                <a:r>
                  <a:rPr lang="en-IN">
                    <a:noFill/>
                  </a:rPr>
                  <a:t> </a:t>
                </a:r>
              </a:p>
            </p:txBody>
          </p:sp>
        </mc:Fallback>
      </mc:AlternateContent>
    </p:spTree>
    <p:extLst>
      <p:ext uri="{BB962C8B-B14F-4D97-AF65-F5344CB8AC3E}">
        <p14:creationId xmlns:p14="http://schemas.microsoft.com/office/powerpoint/2010/main" val="2115470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Properties of Exponential Distribution </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0" y="863444"/>
            <a:ext cx="11929641" cy="5590565"/>
          </a:xfrm>
        </p:spPr>
        <p:txBody>
          <a:bodyPr/>
          <a:lstStyle/>
          <a:p>
            <a:pPr lvl="0"/>
            <a:r>
              <a:rPr lang="en-US" dirty="0">
                <a:solidFill>
                  <a:srgbClr val="FF0000"/>
                </a:solidFill>
              </a:rPr>
              <a:t>Exponential distribution</a:t>
            </a:r>
            <a:r>
              <a:rPr lang="en-US" dirty="0"/>
              <a:t> is used to describe lifespan and waiting times.</a:t>
            </a:r>
            <a:endParaRPr lang="en-IN" dirty="0"/>
          </a:p>
          <a:p>
            <a:r>
              <a:rPr lang="en-US" dirty="0">
                <a:solidFill>
                  <a:srgbClr val="FF0000"/>
                </a:solidFill>
              </a:rPr>
              <a:t>Exponential distribution</a:t>
            </a:r>
            <a:r>
              <a:rPr lang="en-US" dirty="0"/>
              <a:t> can be used to describe (waiting) times between Poisson events.</a:t>
            </a:r>
            <a:endParaRPr lang="en-IN" dirty="0"/>
          </a:p>
        </p:txBody>
      </p:sp>
    </p:spTree>
    <p:extLst>
      <p:ext uri="{BB962C8B-B14F-4D97-AF65-F5344CB8AC3E}">
        <p14:creationId xmlns:p14="http://schemas.microsoft.com/office/powerpoint/2010/main" val="374850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3</a:t>
            </a:r>
          </a:p>
        </p:txBody>
      </p:sp>
      <p:sp>
        <p:nvSpPr>
          <p:cNvPr id="3" name="Text Placeholder 2"/>
          <p:cNvSpPr>
            <a:spLocks noGrp="1"/>
          </p:cNvSpPr>
          <p:nvPr>
            <p:ph type="body" idx="1"/>
          </p:nvPr>
        </p:nvSpPr>
        <p:spPr>
          <a:xfrm>
            <a:off x="831850" y="4561050"/>
            <a:ext cx="10515600" cy="1500187"/>
          </a:xfrm>
        </p:spPr>
        <p:txBody>
          <a:bodyPr>
            <a:normAutofit/>
          </a:bodyPr>
          <a:lstStyle/>
          <a:p>
            <a:r>
              <a:rPr lang="en-US" sz="2800" dirty="0"/>
              <a:t>Exponential Distribution </a:t>
            </a:r>
          </a:p>
        </p:txBody>
      </p:sp>
    </p:spTree>
    <p:extLst>
      <p:ext uri="{BB962C8B-B14F-4D97-AF65-F5344CB8AC3E}">
        <p14:creationId xmlns:p14="http://schemas.microsoft.com/office/powerpoint/2010/main" val="156306297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1"/>
                <a:ext cx="11929643" cy="1243053"/>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lifetime T of an alkaline battery is exponentially distributed with </a:t>
                </a:r>
                <a14:m>
                  <m:oMath xmlns:m="http://schemas.openxmlformats.org/officeDocument/2006/math">
                    <m:r>
                      <m:rPr>
                        <m:sty m:val="p"/>
                      </m:rPr>
                      <a:rPr lang="en-US">
                        <a:latin typeface="Cambria Math" panose="02040503050406030204" pitchFamily="18" charset="0"/>
                      </a:rPr>
                      <m:t>θ</m:t>
                    </m:r>
                    <m:r>
                      <a:rPr lang="en-US">
                        <a:latin typeface="Cambria Math" panose="02040503050406030204" pitchFamily="18" charset="0"/>
                      </a:rPr>
                      <m:t>=0.05</m:t>
                    </m:r>
                  </m:oMath>
                </a14:m>
                <a:r>
                  <a:rPr lang="en-US" dirty="0"/>
                  <a:t> per hour. What are mean and standard deviation of batteries lifetime?</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1"/>
                <a:ext cx="11929643" cy="1243053"/>
              </a:xfrm>
              <a:prstGeom prst="rect">
                <a:avLst/>
              </a:prstGeom>
              <a:blipFill rotWithShape="0">
                <a:blip r:embed="rId2"/>
                <a:stretch>
                  <a:fillRect l="-1074" r="-1074" b="-13793"/>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1</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331768"/>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2222584"/>
                <a:ext cx="3845359" cy="3941528"/>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a:t>
                </a:r>
                <a:r>
                  <a:rPr lang="en-US" dirty="0">
                    <a:solidFill>
                      <a:schemeClr val="tx2">
                        <a:lumMod val="50000"/>
                      </a:schemeClr>
                    </a:solidFill>
                    <a:latin typeface="Cambria Math" panose="02040503050406030204" pitchFamily="18" charset="0"/>
                  </a:rPr>
                  <a:t> </a:t>
                </a:r>
                <a14:m>
                  <m:oMath xmlns:m="http://schemas.openxmlformats.org/officeDocument/2006/math">
                    <m:r>
                      <m:rPr>
                        <m:sty m:val="p"/>
                      </m:rPr>
                      <a:rPr lang="en-US" b="0" i="1">
                        <a:solidFill>
                          <a:schemeClr val="tx2">
                            <a:lumMod val="50000"/>
                          </a:schemeClr>
                        </a:solidFill>
                        <a:latin typeface="Cambria Math" panose="02040503050406030204" pitchFamily="18" charset="0"/>
                      </a:rPr>
                      <m:t>θ</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m:t>
                    </m:r>
                    <m:r>
                      <a:rPr lang="en-US" b="0">
                        <a:solidFill>
                          <a:schemeClr val="tx2">
                            <a:lumMod val="50000"/>
                          </a:schemeClr>
                        </a:solidFill>
                        <a:latin typeface="Cambria Math" panose="02040503050406030204" pitchFamily="18" charset="0"/>
                      </a:rPr>
                      <m:t>.</m:t>
                    </m:r>
                    <m:r>
                      <a:rPr lang="en-US" b="0" i="1">
                        <a:solidFill>
                          <a:schemeClr val="tx2">
                            <a:lumMod val="50000"/>
                          </a:schemeClr>
                        </a:solidFill>
                        <a:latin typeface="Cambria Math" panose="02040503050406030204" pitchFamily="18" charset="0"/>
                      </a:rPr>
                      <m:t>05</m:t>
                    </m:r>
                  </m:oMath>
                </a14:m>
                <a:r>
                  <a:rPr lang="en-US" dirty="0">
                    <a:solidFill>
                      <a:schemeClr val="tx2">
                        <a:lumMod val="50000"/>
                      </a:schemeClr>
                    </a:solidFill>
                    <a:latin typeface="Cambria Math" panose="02040503050406030204" pitchFamily="18" charset="0"/>
                  </a:rPr>
                  <a:t> </a:t>
                </a:r>
                <a:r>
                  <a:rPr lang="en-US" dirty="0">
                    <a:solidFill>
                      <a:schemeClr val="tx2">
                        <a:lumMod val="50000"/>
                      </a:schemeClr>
                    </a:solidFill>
                  </a:rPr>
                  <a:t>per hour</a:t>
                </a:r>
                <a:endParaRPr lang="en-IN" dirty="0">
                  <a:solidFill>
                    <a:schemeClr val="tx2">
                      <a:lumMod val="50000"/>
                    </a:schemeClr>
                  </a:solidFill>
                </a:endParaRPr>
              </a:p>
              <a:p>
                <a:pPr marL="0" indent="0" algn="ctr">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IN" b="0" i="0" smtClean="0">
                          <a:solidFill>
                            <a:schemeClr val="tx2">
                              <a:lumMod val="50000"/>
                            </a:schemeClr>
                          </a:solidFill>
                          <a:latin typeface="Cambria Math" panose="02040503050406030204" pitchFamily="18" charset="0"/>
                        </a:rPr>
                        <m:t>Mean</m:t>
                      </m:r>
                      <m:r>
                        <a:rPr lang="en-US"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0">
                              <a:solidFill>
                                <a:schemeClr val="tx2">
                                  <a:lumMod val="50000"/>
                                </a:schemeClr>
                              </a:solidFill>
                              <a:latin typeface="Cambria Math" panose="02040503050406030204" pitchFamily="18" charset="0"/>
                            </a:rPr>
                            <m:t>1</m:t>
                          </m:r>
                        </m:num>
                        <m:den>
                          <m:r>
                            <m:rPr>
                              <m:sty m:val="p"/>
                            </m:rPr>
                            <a:rPr lang="en-US" i="0">
                              <a:solidFill>
                                <a:schemeClr val="tx2">
                                  <a:lumMod val="50000"/>
                                </a:schemeClr>
                              </a:solidFill>
                              <a:latin typeface="Cambria Math" panose="02040503050406030204" pitchFamily="18" charset="0"/>
                            </a:rPr>
                            <m:t>θ</m:t>
                          </m:r>
                        </m:den>
                      </m:f>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IN">
                          <a:solidFill>
                            <a:schemeClr val="tx2">
                              <a:lumMod val="50000"/>
                            </a:schemeClr>
                          </a:solidFill>
                          <a:latin typeface="Cambria Math" panose="02040503050406030204" pitchFamily="18" charset="0"/>
                        </a:rPr>
                        <m:t>Mean</m:t>
                      </m:r>
                      <m:r>
                        <a:rPr lang="en-US"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0">
                              <a:solidFill>
                                <a:schemeClr val="tx2">
                                  <a:lumMod val="50000"/>
                                </a:schemeClr>
                              </a:solidFill>
                              <a:latin typeface="Cambria Math" panose="02040503050406030204" pitchFamily="18" charset="0"/>
                            </a:rPr>
                            <m:t>1</m:t>
                          </m:r>
                        </m:num>
                        <m:den>
                          <m:r>
                            <a:rPr lang="en-US" i="0">
                              <a:solidFill>
                                <a:schemeClr val="tx2">
                                  <a:lumMod val="50000"/>
                                </a:schemeClr>
                              </a:solidFill>
                              <a:latin typeface="Cambria Math" panose="02040503050406030204" pitchFamily="18" charset="0"/>
                            </a:rPr>
                            <m:t>0.05 </m:t>
                          </m:r>
                        </m:den>
                      </m:f>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 xmlns:m="http://schemas.openxmlformats.org/officeDocument/2006/math">
                    <m:r>
                      <a:rPr lang="en-IN" b="1" i="1" smtClean="0">
                        <a:solidFill>
                          <a:srgbClr val="FF0000"/>
                        </a:solidFill>
                        <a:latin typeface="Cambria Math" panose="02040503050406030204" pitchFamily="18" charset="0"/>
                      </a:rPr>
                      <m:t>𝐌𝐞𝐚𝐧</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𝟐𝟎</m:t>
                    </m:r>
                  </m:oMath>
                </a14:m>
                <a:r>
                  <a:rPr lang="en-US" dirty="0">
                    <a:solidFill>
                      <a:schemeClr val="tx2">
                        <a:lumMod val="50000"/>
                      </a:schemeClr>
                    </a:solidFill>
                    <a:latin typeface="Cambria Math" panose="02040503050406030204" pitchFamily="18" charset="0"/>
                  </a:rPr>
                  <a:t>  </a:t>
                </a: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2222584"/>
                <a:ext cx="3845359" cy="3941528"/>
              </a:xfrm>
              <a:prstGeom prst="rect">
                <a:avLst/>
              </a:prstGeom>
              <a:blipFill rotWithShape="0">
                <a:blip r:embed="rId3"/>
                <a:stretch>
                  <a:fillRect l="-317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0C88CCD-ABF6-487A-A003-269BE830EF70}"/>
                  </a:ext>
                </a:extLst>
              </p:cNvPr>
              <p:cNvSpPr txBox="1">
                <a:spLocks/>
              </p:cNvSpPr>
              <p:nvPr/>
            </p:nvSpPr>
            <p:spPr>
              <a:xfrm>
                <a:off x="8040135" y="2217123"/>
                <a:ext cx="3845359" cy="3921073"/>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latin typeface="Cambria Math" panose="02040503050406030204" pitchFamily="18" charset="0"/>
                  </a:rPr>
                  <a:t>S.D. </a:t>
                </a:r>
                <a14:m>
                  <m:oMath xmlns:m="http://schemas.openxmlformats.org/officeDocument/2006/math">
                    <m:r>
                      <a:rPr lang="en-US">
                        <a:solidFill>
                          <a:schemeClr val="tx2">
                            <a:lumMod val="50000"/>
                          </a:schemeClr>
                        </a:solidFill>
                        <a:latin typeface="Cambria Math" panose="02040503050406030204" pitchFamily="18" charset="0"/>
                      </a:rPr>
                      <m:t>=</m:t>
                    </m:r>
                    <m:rad>
                      <m:radPr>
                        <m:degHide m:val="on"/>
                        <m:ctrlPr>
                          <a:rPr lang="en-IN" i="1">
                            <a:solidFill>
                              <a:schemeClr val="tx2">
                                <a:lumMod val="50000"/>
                              </a:schemeClr>
                            </a:solidFill>
                            <a:latin typeface="Cambria Math" panose="02040503050406030204" pitchFamily="18" charset="0"/>
                          </a:rPr>
                        </m:ctrlPr>
                      </m:radPr>
                      <m:deg/>
                      <m:e>
                        <m:r>
                          <m:rPr>
                            <m:sty m:val="p"/>
                          </m:rPr>
                          <a:rPr lang="en-US">
                            <a:solidFill>
                              <a:schemeClr val="tx2">
                                <a:lumMod val="50000"/>
                              </a:schemeClr>
                            </a:solidFill>
                            <a:latin typeface="Cambria Math" panose="02040503050406030204" pitchFamily="18" charset="0"/>
                          </a:rPr>
                          <m:t>Variance</m:t>
                        </m:r>
                      </m:e>
                    </m:rad>
                  </m:oMath>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IN" b="0" i="0" smtClean="0">
                          <a:solidFill>
                            <a:schemeClr val="tx2">
                              <a:lumMod val="50000"/>
                            </a:schemeClr>
                          </a:solidFill>
                          <a:latin typeface="Cambria Math" panose="02040503050406030204" pitchFamily="18" charset="0"/>
                        </a:rPr>
                        <m:t>S</m:t>
                      </m:r>
                      <m:r>
                        <a:rPr lang="en-IN" b="0" i="0" smtClean="0">
                          <a:solidFill>
                            <a:schemeClr val="tx2">
                              <a:lumMod val="50000"/>
                            </a:schemeClr>
                          </a:solidFill>
                          <a:latin typeface="Cambria Math" panose="02040503050406030204" pitchFamily="18" charset="0"/>
                        </a:rPr>
                        <m:t>.</m:t>
                      </m:r>
                      <m:r>
                        <m:rPr>
                          <m:sty m:val="p"/>
                        </m:rPr>
                        <a:rPr lang="en-IN" b="0" i="0" smtClean="0">
                          <a:solidFill>
                            <a:schemeClr val="tx2">
                              <a:lumMod val="50000"/>
                            </a:schemeClr>
                          </a:solidFill>
                          <a:latin typeface="Cambria Math" panose="02040503050406030204" pitchFamily="18" charset="0"/>
                        </a:rPr>
                        <m:t>D</m:t>
                      </m:r>
                      <m:r>
                        <a:rPr lang="en-IN" b="0" i="0" smtClean="0">
                          <a:solidFill>
                            <a:schemeClr val="tx2">
                              <a:lumMod val="50000"/>
                            </a:schemeClr>
                          </a:solidFill>
                          <a:latin typeface="Cambria Math" panose="02040503050406030204" pitchFamily="18" charset="0"/>
                        </a:rPr>
                        <m:t>.=</m:t>
                      </m:r>
                      <m:rad>
                        <m:radPr>
                          <m:degHide m:val="on"/>
                          <m:ctrlPr>
                            <a:rPr lang="en-IN" i="1">
                              <a:solidFill>
                                <a:schemeClr val="tx2">
                                  <a:lumMod val="50000"/>
                                </a:schemeClr>
                              </a:solidFill>
                              <a:latin typeface="Cambria Math" panose="02040503050406030204" pitchFamily="18" charset="0"/>
                            </a:rPr>
                          </m:ctrlPr>
                        </m:radPr>
                        <m:deg/>
                        <m:e>
                          <m:f>
                            <m:fPr>
                              <m:ctrlPr>
                                <a:rPr lang="en-IN" i="1">
                                  <a:solidFill>
                                    <a:schemeClr val="tx2">
                                      <a:lumMod val="50000"/>
                                    </a:schemeClr>
                                  </a:solidFill>
                                  <a:latin typeface="Cambria Math" panose="02040503050406030204" pitchFamily="18" charset="0"/>
                                </a:rPr>
                              </m:ctrlPr>
                            </m:fPr>
                            <m:num>
                              <m:r>
                                <a:rPr lang="en-US" i="0">
                                  <a:solidFill>
                                    <a:schemeClr val="tx2">
                                      <a:lumMod val="50000"/>
                                    </a:schemeClr>
                                  </a:solidFill>
                                  <a:latin typeface="Cambria Math" panose="02040503050406030204" pitchFamily="18" charset="0"/>
                                </a:rPr>
                                <m:t>1</m:t>
                              </m:r>
                            </m:num>
                            <m:den>
                              <m:sSup>
                                <m:sSupPr>
                                  <m:ctrlPr>
                                    <a:rPr lang="en-IN" i="1">
                                      <a:solidFill>
                                        <a:schemeClr val="tx2">
                                          <a:lumMod val="50000"/>
                                        </a:schemeClr>
                                      </a:solidFill>
                                      <a:latin typeface="Cambria Math" panose="02040503050406030204" pitchFamily="18" charset="0"/>
                                    </a:rPr>
                                  </m:ctrlPr>
                                </m:sSupPr>
                                <m:e>
                                  <m:r>
                                    <m:rPr>
                                      <m:sty m:val="p"/>
                                    </m:rPr>
                                    <a:rPr lang="en-US" i="0">
                                      <a:solidFill>
                                        <a:schemeClr val="tx2">
                                          <a:lumMod val="50000"/>
                                        </a:schemeClr>
                                      </a:solidFill>
                                      <a:latin typeface="Cambria Math" panose="02040503050406030204" pitchFamily="18" charset="0"/>
                                    </a:rPr>
                                    <m:t>θ</m:t>
                                  </m:r>
                                </m:e>
                                <m:sup>
                                  <m:r>
                                    <a:rPr lang="en-US" i="0">
                                      <a:solidFill>
                                        <a:schemeClr val="tx2">
                                          <a:lumMod val="50000"/>
                                        </a:schemeClr>
                                      </a:solidFill>
                                      <a:latin typeface="Cambria Math" panose="02040503050406030204" pitchFamily="18" charset="0"/>
                                    </a:rPr>
                                    <m:t>2</m:t>
                                  </m:r>
                                </m:sup>
                              </m:sSup>
                            </m:den>
                          </m:f>
                        </m:e>
                      </m:rad>
                    </m:oMath>
                  </m:oMathPara>
                </a14:m>
                <a:endParaRPr lang="en-IN" dirty="0">
                  <a:solidFill>
                    <a:schemeClr val="tx2">
                      <a:lumMod val="50000"/>
                    </a:schemeClr>
                  </a:solidFill>
                  <a:latin typeface="Cambria Math" panose="02040503050406030204" pitchFamily="18" charset="0"/>
                </a:endParaRPr>
              </a:p>
              <a:p>
                <a:pPr marL="0" indent="0" algn="ctr">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IN">
                          <a:solidFill>
                            <a:schemeClr val="tx2">
                              <a:lumMod val="50000"/>
                            </a:schemeClr>
                          </a:solidFill>
                          <a:latin typeface="Cambria Math" panose="02040503050406030204" pitchFamily="18" charset="0"/>
                        </a:rPr>
                        <m:t>S</m:t>
                      </m:r>
                      <m:r>
                        <a:rPr lang="en-IN" b="0" i="0" smtClean="0">
                          <a:solidFill>
                            <a:schemeClr val="tx2">
                              <a:lumMod val="50000"/>
                            </a:schemeClr>
                          </a:solidFill>
                          <a:latin typeface="Cambria Math" panose="02040503050406030204" pitchFamily="18" charset="0"/>
                        </a:rPr>
                        <m:t>.</m:t>
                      </m:r>
                      <m:r>
                        <m:rPr>
                          <m:sty m:val="p"/>
                        </m:rPr>
                        <a:rPr lang="en-IN" b="0" i="0" smtClean="0">
                          <a:solidFill>
                            <a:schemeClr val="tx2">
                              <a:lumMod val="50000"/>
                            </a:schemeClr>
                          </a:solidFill>
                          <a:latin typeface="Cambria Math" panose="02040503050406030204" pitchFamily="18" charset="0"/>
                        </a:rPr>
                        <m:t>D</m:t>
                      </m:r>
                      <m:r>
                        <a:rPr lang="en-IN" b="0" i="0" smtClean="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m:rPr>
                              <m:sty m:val="p"/>
                            </m:rPr>
                            <a:rPr lang="en-US">
                              <a:solidFill>
                                <a:schemeClr val="tx2">
                                  <a:lumMod val="50000"/>
                                </a:schemeClr>
                              </a:solidFill>
                              <a:latin typeface="Cambria Math" panose="02040503050406030204" pitchFamily="18" charset="0"/>
                            </a:rPr>
                            <m:t>θ</m:t>
                          </m:r>
                        </m:den>
                      </m:f>
                      <m:r>
                        <a:rPr lang="en-IN" b="0" i="0" smtClean="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a:solidFill>
                                <a:schemeClr val="tx2">
                                  <a:lumMod val="50000"/>
                                </a:schemeClr>
                              </a:solidFill>
                              <a:latin typeface="Cambria Math" panose="02040503050406030204" pitchFamily="18" charset="0"/>
                            </a:rPr>
                            <m:t>1</m:t>
                          </m:r>
                        </m:num>
                        <m:den>
                          <m:r>
                            <a:rPr lang="en-US">
                              <a:solidFill>
                                <a:schemeClr val="tx2">
                                  <a:lumMod val="50000"/>
                                </a:schemeClr>
                              </a:solidFill>
                              <a:latin typeface="Cambria Math" panose="02040503050406030204" pitchFamily="18" charset="0"/>
                            </a:rPr>
                            <m:t>0.05 </m:t>
                          </m:r>
                        </m:den>
                      </m:f>
                      <m:r>
                        <a:rPr lang="en-US">
                          <a:solidFill>
                            <a:schemeClr val="tx2">
                              <a:lumMod val="50000"/>
                            </a:schemeClr>
                          </a:solidFill>
                          <a:latin typeface="Cambria Math" panose="02040503050406030204" pitchFamily="18" charset="0"/>
                        </a:rPr>
                        <m:t>=</m:t>
                      </m:r>
                      <m:r>
                        <a:rPr lang="en-US" b="1" i="1" smtClean="0">
                          <a:solidFill>
                            <a:srgbClr val="FF0000"/>
                          </a:solidFill>
                          <a:latin typeface="Cambria Math" panose="02040503050406030204" pitchFamily="18" charset="0"/>
                        </a:rPr>
                        <m:t>𝟐𝟎</m:t>
                      </m:r>
                    </m:oMath>
                  </m:oMathPara>
                </a14:m>
                <a:endParaRPr lang="en-IN" b="1" dirty="0">
                  <a:solidFill>
                    <a:schemeClr val="tx2">
                      <a:lumMod val="50000"/>
                    </a:schemeClr>
                  </a:solidFill>
                  <a:latin typeface="Cambria Math" panose="02040503050406030204" pitchFamily="18" charset="0"/>
                </a:endParaRPr>
              </a:p>
            </p:txBody>
          </p:sp>
        </mc:Choice>
        <mc:Fallback xmlns="">
          <p:sp>
            <p:nvSpPr>
              <p:cNvPr id="6"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8040135" y="2217123"/>
                <a:ext cx="3845359" cy="3921073"/>
              </a:xfrm>
              <a:prstGeom prst="rect">
                <a:avLst/>
              </a:prstGeom>
              <a:blipFill rotWithShape="0">
                <a:blip r:embed="rId4"/>
                <a:stretch>
                  <a:fillRect l="-3328"/>
                </a:stretch>
              </a:blipFill>
            </p:spPr>
            <p:txBody>
              <a:bodyPr/>
              <a:lstStyle/>
              <a:p>
                <a:r>
                  <a:rPr lang="en-IN">
                    <a:noFill/>
                  </a:rPr>
                  <a:t> </a:t>
                </a:r>
              </a:p>
            </p:txBody>
          </p:sp>
        </mc:Fallback>
      </mc:AlternateContent>
      <p:cxnSp>
        <p:nvCxnSpPr>
          <p:cNvPr id="4" name="Straight Connector 3"/>
          <p:cNvCxnSpPr/>
          <p:nvPr/>
        </p:nvCxnSpPr>
        <p:spPr>
          <a:xfrm>
            <a:off x="6606862" y="2163650"/>
            <a:ext cx="0" cy="432730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7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uiExpand="1" build="p"/>
      <p:bldP spid="6" grpId="0" uiExpand="1"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69081"/>
            <a:ext cx="11929643" cy="1899877"/>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time between breakdowns of a particular machine follows an exponential distribution with a mean of 17 days. Calculate the probability that a machine breakdown in 15  days period.</a:t>
            </a:r>
            <a:endParaRPr lang="en-IN" dirty="0"/>
          </a:p>
        </p:txBody>
      </p:sp>
      <p:sp>
        <p:nvSpPr>
          <p:cNvPr id="2" name="Title 1"/>
          <p:cNvSpPr>
            <a:spLocks noGrp="1"/>
          </p:cNvSpPr>
          <p:nvPr>
            <p:ph type="title"/>
          </p:nvPr>
        </p:nvSpPr>
        <p:spPr/>
        <p:txBody>
          <a:bodyPr/>
          <a:lstStyle/>
          <a:p>
            <a:r>
              <a:rPr lang="en-GB" dirty="0"/>
              <a:t>Method 3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02723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2918046"/>
                <a:ext cx="10290991" cy="272735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Mean</a:t>
                </a:r>
                <a:r>
                  <a:rPr lang="en-US" dirty="0">
                    <a:solidFill>
                      <a:schemeClr val="tx2">
                        <a:lumMod val="50000"/>
                      </a:schemeClr>
                    </a:solidFill>
                    <a:latin typeface="Cambria Math" panose="02040503050406030204" pitchFamily="18" charset="0"/>
                  </a:rPr>
                  <a:t> </a:t>
                </a:r>
                <a14:m>
                  <m:oMath xmlns:m="http://schemas.openxmlformats.org/officeDocument/2006/math">
                    <m:r>
                      <a:rPr lang="en-US" b="0">
                        <a:solidFill>
                          <a:schemeClr val="tx2">
                            <a:lumMod val="50000"/>
                          </a:schemeClr>
                        </a:solidFill>
                        <a:latin typeface="Cambria Math" panose="02040503050406030204" pitchFamily="18" charset="0"/>
                      </a:rPr>
                      <m:t>=</m:t>
                    </m:r>
                    <m:r>
                      <a:rPr lang="en-IN" b="0" i="1" smtClean="0">
                        <a:solidFill>
                          <a:schemeClr val="tx2">
                            <a:lumMod val="50000"/>
                          </a:schemeClr>
                        </a:solidFill>
                        <a:latin typeface="Cambria Math" panose="02040503050406030204" pitchFamily="18" charset="0"/>
                      </a:rPr>
                      <m:t>17</m:t>
                    </m:r>
                  </m:oMath>
                </a14:m>
                <a:r>
                  <a:rPr lang="en-US" dirty="0">
                    <a:solidFill>
                      <a:schemeClr val="tx2">
                        <a:lumMod val="50000"/>
                      </a:schemeClr>
                    </a:solidFill>
                    <a:latin typeface="Cambria Math" panose="02040503050406030204" pitchFamily="18" charset="0"/>
                  </a:rPr>
                  <a:t> </a:t>
                </a:r>
                <a:r>
                  <a:rPr lang="en-US" dirty="0">
                    <a:solidFill>
                      <a:schemeClr val="tx2">
                        <a:lumMod val="50000"/>
                      </a:schemeClr>
                    </a:solidFill>
                  </a:rPr>
                  <a:t>days</a:t>
                </a:r>
                <a:endParaRPr lang="en-IN" dirty="0">
                  <a:solidFill>
                    <a:schemeClr val="tx2">
                      <a:lumMod val="50000"/>
                    </a:schemeClr>
                  </a:solidFill>
                </a:endParaRPr>
              </a:p>
              <a:p>
                <a:pPr marL="0" indent="0" algn="ctr">
                  <a:lnSpc>
                    <a:spcPct val="150000"/>
                  </a:lnSpc>
                  <a:buNone/>
                  <a:tabLst>
                    <a:tab pos="447675" algn="l"/>
                  </a:tabLst>
                </a:pPr>
                <a14:m>
                  <m:oMathPara xmlns:m="http://schemas.openxmlformats.org/officeDocument/2006/math">
                    <m:oMathParaPr>
                      <m:jc m:val="left"/>
                    </m:oMathParaPr>
                    <m:oMath xmlns:m="http://schemas.openxmlformats.org/officeDocument/2006/math">
                      <m:r>
                        <m:rPr>
                          <m:sty m:val="p"/>
                        </m:rPr>
                        <a:rPr lang="en-US">
                          <a:solidFill>
                            <a:schemeClr val="tx2">
                              <a:lumMod val="50000"/>
                            </a:schemeClr>
                          </a:solidFill>
                          <a:latin typeface="Cambria Math" panose="02040503050406030204" pitchFamily="18" charset="0"/>
                        </a:rPr>
                        <m:t>θ</m:t>
                      </m:r>
                      <m:r>
                        <a:rPr lang="en-US" i="0">
                          <a:solidFill>
                            <a:schemeClr val="tx2">
                              <a:lumMod val="50000"/>
                            </a:schemeClr>
                          </a:solidFill>
                          <a:latin typeface="Cambria Math" panose="02040503050406030204" pitchFamily="18" charset="0"/>
                        </a:rPr>
                        <m:t>=</m:t>
                      </m:r>
                      <m:f>
                        <m:fPr>
                          <m:ctrlPr>
                            <a:rPr lang="en-IN" i="1">
                              <a:solidFill>
                                <a:schemeClr val="tx2">
                                  <a:lumMod val="50000"/>
                                </a:schemeClr>
                              </a:solidFill>
                              <a:latin typeface="Cambria Math" panose="02040503050406030204" pitchFamily="18" charset="0"/>
                            </a:rPr>
                          </m:ctrlPr>
                        </m:fPr>
                        <m:num>
                          <m:r>
                            <a:rPr lang="en-US" i="0">
                              <a:solidFill>
                                <a:schemeClr val="tx2">
                                  <a:lumMod val="50000"/>
                                </a:schemeClr>
                              </a:solidFill>
                              <a:latin typeface="Cambria Math" panose="02040503050406030204" pitchFamily="18" charset="0"/>
                            </a:rPr>
                            <m:t>1</m:t>
                          </m:r>
                        </m:num>
                        <m:den>
                          <m:r>
                            <m:rPr>
                              <m:sty m:val="p"/>
                            </m:rPr>
                            <a:rPr lang="en-IN" b="0" i="0" smtClean="0">
                              <a:solidFill>
                                <a:schemeClr val="tx2">
                                  <a:lumMod val="50000"/>
                                </a:schemeClr>
                              </a:solidFill>
                              <a:latin typeface="Cambria Math" panose="02040503050406030204" pitchFamily="18" charset="0"/>
                            </a:rPr>
                            <m:t>Mean</m:t>
                          </m:r>
                        </m:den>
                      </m:f>
                      <m:r>
                        <a:rPr lang="en-IN" b="0" i="1" smtClean="0">
                          <a:solidFill>
                            <a:schemeClr val="tx2">
                              <a:lumMod val="50000"/>
                            </a:schemeClr>
                          </a:solidFill>
                          <a:latin typeface="Cambria Math" panose="02040503050406030204" pitchFamily="18" charset="0"/>
                        </a:rPr>
                        <m:t>=</m:t>
                      </m:r>
                      <m:f>
                        <m:fPr>
                          <m:ctrlPr>
                            <a:rPr lang="en-IN" b="0" i="1" smtClean="0">
                              <a:solidFill>
                                <a:schemeClr val="tx2">
                                  <a:lumMod val="50000"/>
                                </a:schemeClr>
                              </a:solidFill>
                              <a:latin typeface="Cambria Math" panose="02040503050406030204" pitchFamily="18" charset="0"/>
                            </a:rPr>
                          </m:ctrlPr>
                        </m:fPr>
                        <m:num>
                          <m:r>
                            <a:rPr lang="en-IN" b="0" i="1" smtClean="0">
                              <a:solidFill>
                                <a:schemeClr val="tx2">
                                  <a:lumMod val="50000"/>
                                </a:schemeClr>
                              </a:solidFill>
                              <a:latin typeface="Cambria Math" panose="02040503050406030204" pitchFamily="18" charset="0"/>
                            </a:rPr>
                            <m:t>1</m:t>
                          </m:r>
                        </m:num>
                        <m:den>
                          <m:r>
                            <a:rPr lang="en-IN" b="0" i="1" smtClean="0">
                              <a:solidFill>
                                <a:schemeClr val="tx2">
                                  <a:lumMod val="50000"/>
                                </a:schemeClr>
                              </a:solidFill>
                              <a:latin typeface="Cambria Math" panose="02040503050406030204" pitchFamily="18" charset="0"/>
                            </a:rPr>
                            <m:t>17</m:t>
                          </m:r>
                        </m:den>
                      </m:f>
                    </m:oMath>
                  </m:oMathPara>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2918046"/>
                <a:ext cx="10290991" cy="2727350"/>
              </a:xfrm>
              <a:prstGeom prst="rect">
                <a:avLst/>
              </a:prstGeom>
              <a:blipFill rotWithShape="0">
                <a:blip r:embed="rId2"/>
                <a:stretch>
                  <a:fillRect l="-1185"/>
                </a:stretch>
              </a:blipFill>
            </p:spPr>
            <p:txBody>
              <a:bodyPr/>
              <a:lstStyle/>
              <a:p>
                <a:r>
                  <a:rPr lang="en-IN">
                    <a:noFill/>
                  </a:rPr>
                  <a:t> </a:t>
                </a:r>
              </a:p>
            </p:txBody>
          </p:sp>
        </mc:Fallback>
      </mc:AlternateContent>
    </p:spTree>
    <p:extLst>
      <p:ext uri="{BB962C8B-B14F-4D97-AF65-F5344CB8AC3E}">
        <p14:creationId xmlns:p14="http://schemas.microsoft.com/office/powerpoint/2010/main" val="35028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2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To find the probability that a machine breakdown in 15 day period</a:t>
                </a:r>
                <a:r>
                  <a:rPr lang="en-IN" b="1" dirty="0">
                    <a:solidFill>
                      <a:srgbClr val="FF0000"/>
                    </a:solidFill>
                  </a:rPr>
                  <a:t> </a:t>
                </a:r>
                <a14:m>
                  <m:oMath xmlns:m="http://schemas.openxmlformats.org/officeDocument/2006/math">
                    <m:d>
                      <m:dPr>
                        <m:ctrlPr>
                          <a:rPr lang="en-IN" i="1">
                            <a:solidFill>
                              <a:srgbClr val="FF0000"/>
                            </a:solidFill>
                            <a:latin typeface="Cambria Math" panose="02040503050406030204" pitchFamily="18" charset="0"/>
                          </a:rPr>
                        </m:ctrlPr>
                      </m:dPr>
                      <m:e>
                        <m:r>
                          <a:rPr lang="en-US">
                            <a:solidFill>
                              <a:srgbClr val="FF0000"/>
                            </a:solidFill>
                            <a:latin typeface="Cambria Math" panose="02040503050406030204" pitchFamily="18" charset="0"/>
                          </a:rPr>
                          <m:t>𝟎</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𝐗</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𝟏𝟓</m:t>
                        </m:r>
                      </m:e>
                    </m:d>
                    <m:r>
                      <a:rPr lang="en-US">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597320"/>
                <a:ext cx="7258699" cy="3944285"/>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aθ</m:t>
                          </m:r>
                        </m:sup>
                      </m:sSup>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bθ</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r>
                  <a:rPr lang="en-US" sz="2800" dirty="0">
                    <a:solidFill>
                      <a:schemeClr val="tx2">
                        <a:lumMod val="50000"/>
                      </a:schemeClr>
                    </a:solidFill>
                  </a:rPr>
                  <a:t>Here</a:t>
                </a:r>
                <a:r>
                  <a:rPr lang="en-US" sz="2800" dirty="0">
                    <a:solidFill>
                      <a:srgbClr val="002060"/>
                    </a:solidFill>
                    <a:latin typeface="Cambria Math" panose="02040503050406030204" pitchFamily="18" charset="0"/>
                  </a:rPr>
                  <a:t> </a:t>
                </a:r>
                <a14:m>
                  <m:oMath xmlns:m="http://schemas.openxmlformats.org/officeDocument/2006/math">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=0 &amp; </m:t>
                    </m:r>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=15</m:t>
                    </m:r>
                  </m:oMath>
                </a14:m>
                <a:endParaRPr lang="en-IN" sz="2800" dirty="0">
                  <a:solidFill>
                    <a:srgbClr val="002060"/>
                  </a:solidFill>
                  <a:latin typeface="Cambria Math" panose="02040503050406030204" pitchFamily="18" charset="0"/>
                </a:endParaRPr>
              </a:p>
              <a:p>
                <a:pPr>
                  <a:lnSpc>
                    <a:spcPct val="150000"/>
                  </a:lnSpc>
                  <a:buClr>
                    <a:schemeClr val="accent6"/>
                  </a:buClr>
                </a:pPr>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≤15</m:t>
                          </m:r>
                        </m:e>
                      </m:d>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−0×</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17</m:t>
                              </m:r>
                            </m:den>
                          </m:f>
                        </m:sup>
                      </m:sSup>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−15×</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17</m:t>
                              </m:r>
                            </m:den>
                          </m:f>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≤15</m:t>
                          </m:r>
                        </m:e>
                      </m:d>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0</m:t>
                          </m:r>
                        </m:sup>
                      </m:sSup>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15</m:t>
                              </m:r>
                            </m:num>
                            <m:den>
                              <m:r>
                                <a:rPr lang="en-US" sz="2800">
                                  <a:solidFill>
                                    <a:srgbClr val="002060"/>
                                  </a:solidFill>
                                  <a:latin typeface="Cambria Math" panose="02040503050406030204" pitchFamily="18" charset="0"/>
                                </a:rPr>
                                <m:t>17</m:t>
                              </m:r>
                            </m:den>
                          </m:f>
                        </m:sup>
                      </m:sSup>
                    </m:oMath>
                  </m:oMathPara>
                </a14:m>
                <a:endParaRPr lang="en-IN" sz="2800"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597320"/>
                <a:ext cx="7258699" cy="3944285"/>
              </a:xfrm>
              <a:prstGeom prst="rect">
                <a:avLst/>
              </a:prstGeom>
              <a:blipFill rotWithShape="0">
                <a:blip r:embed="rId3"/>
                <a:stretch>
                  <a:fillRect l="-1679"/>
                </a:stretch>
              </a:blipFill>
            </p:spPr>
            <p:txBody>
              <a:bodyPr/>
              <a:lstStyle/>
              <a:p>
                <a:r>
                  <a:rPr lang="en-IN">
                    <a:noFill/>
                  </a:rPr>
                  <a:t> </a:t>
                </a:r>
              </a:p>
            </p:txBody>
          </p:sp>
        </mc:Fallback>
      </mc:AlternateContent>
    </p:spTree>
    <p:extLst>
      <p:ext uri="{BB962C8B-B14F-4D97-AF65-F5344CB8AC3E}">
        <p14:creationId xmlns:p14="http://schemas.microsoft.com/office/powerpoint/2010/main" val="141386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2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To find the probability that a machine breakdown in 15 day period</a:t>
                </a:r>
                <a:r>
                  <a:rPr lang="en-IN" b="1" dirty="0">
                    <a:solidFill>
                      <a:srgbClr val="FF0000"/>
                    </a:solidFill>
                  </a:rPr>
                  <a:t> </a:t>
                </a:r>
                <a14:m>
                  <m:oMath xmlns:m="http://schemas.openxmlformats.org/officeDocument/2006/math">
                    <m:d>
                      <m:dPr>
                        <m:ctrlPr>
                          <a:rPr lang="en-IN" i="1">
                            <a:solidFill>
                              <a:srgbClr val="FF0000"/>
                            </a:solidFill>
                            <a:latin typeface="Cambria Math" panose="02040503050406030204" pitchFamily="18" charset="0"/>
                          </a:rPr>
                        </m:ctrlPr>
                      </m:dPr>
                      <m:e>
                        <m:r>
                          <a:rPr lang="en-US">
                            <a:solidFill>
                              <a:srgbClr val="FF0000"/>
                            </a:solidFill>
                            <a:latin typeface="Cambria Math" panose="02040503050406030204" pitchFamily="18" charset="0"/>
                          </a:rPr>
                          <m:t>𝟎</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𝐗</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𝟏𝟓</m:t>
                        </m:r>
                      </m:e>
                    </m:d>
                    <m:r>
                      <a:rPr lang="en-US">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9380" y="1288568"/>
                <a:ext cx="5105781" cy="3280129"/>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≤15</m:t>
                          </m:r>
                        </m:e>
                      </m:d>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0</m:t>
                          </m:r>
                        </m:sup>
                      </m:sSup>
                      <m:r>
                        <a:rPr lang="en-US" sz="280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15</m:t>
                              </m:r>
                            </m:num>
                            <m:den>
                              <m:r>
                                <a:rPr lang="en-US" sz="2800">
                                  <a:solidFill>
                                    <a:srgbClr val="002060"/>
                                  </a:solidFill>
                                  <a:latin typeface="Cambria Math" panose="02040503050406030204" pitchFamily="18" charset="0"/>
                                </a:rPr>
                                <m:t>17</m:t>
                              </m:r>
                            </m:den>
                          </m:f>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≤15</m:t>
                          </m:r>
                        </m:e>
                      </m:d>
                      <m:r>
                        <a:rPr lang="en-US" sz="2800">
                          <a:solidFill>
                            <a:srgbClr val="002060"/>
                          </a:solidFill>
                          <a:latin typeface="Cambria Math" panose="02040503050406030204" pitchFamily="18" charset="0"/>
                        </a:rPr>
                        <m:t>=1−</m:t>
                      </m:r>
                      <m:sSup>
                        <m:sSupPr>
                          <m:ctrlPr>
                            <a:rPr lang="en-IN" sz="2800" i="1">
                              <a:solidFill>
                                <a:srgbClr val="002060"/>
                              </a:solidFill>
                              <a:latin typeface="Cambria Math" panose="02040503050406030204" pitchFamily="18" charset="0"/>
                            </a:rPr>
                          </m:ctrlPr>
                        </m:sSupPr>
                        <m:e>
                          <m:r>
                            <m:rPr>
                              <m:sty m:val="p"/>
                            </m:rPr>
                            <a:rPr lang="en-US" sz="2800">
                              <a:solidFill>
                                <a:srgbClr val="002060"/>
                              </a:solidFill>
                              <a:latin typeface="Cambria Math" panose="02040503050406030204" pitchFamily="18" charset="0"/>
                            </a:rPr>
                            <m:t>e</m:t>
                          </m:r>
                        </m:e>
                        <m:sup>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15</m:t>
                              </m:r>
                            </m:num>
                            <m:den>
                              <m:r>
                                <a:rPr lang="en-US" sz="2800">
                                  <a:solidFill>
                                    <a:srgbClr val="002060"/>
                                  </a:solidFill>
                                  <a:latin typeface="Cambria Math" panose="02040503050406030204" pitchFamily="18" charset="0"/>
                                </a:rPr>
                                <m:t>17</m:t>
                              </m:r>
                            </m:den>
                          </m:f>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0≤</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≤15</m:t>
                          </m:r>
                        </m:e>
                      </m:d>
                      <m:r>
                        <a:rPr lang="en-US" sz="2800">
                          <a:solidFill>
                            <a:srgbClr val="002060"/>
                          </a:solidFill>
                          <a:latin typeface="Cambria Math" panose="02040503050406030204" pitchFamily="18" charset="0"/>
                        </a:rPr>
                        <m:t>=1−0.413808</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i="1"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1">
                              <a:solidFill>
                                <a:srgbClr val="FF0000"/>
                              </a:solidFill>
                              <a:latin typeface="Cambria Math" panose="02040503050406030204" pitchFamily="18" charset="0"/>
                            </a:rPr>
                            <m:t>𝟎</m:t>
                          </m:r>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𝐗</m:t>
                          </m:r>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𝟏𝟓</m:t>
                          </m:r>
                        </m:e>
                      </m:d>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𝟎</m:t>
                      </m:r>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𝟓𝟖𝟔𝟐</m:t>
                      </m:r>
                    </m:oMath>
                  </m:oMathPara>
                </a14:m>
                <a:endParaRPr lang="en-IN" sz="2800" b="1" dirty="0">
                  <a:solidFill>
                    <a:srgbClr val="FF000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9380" y="1288568"/>
                <a:ext cx="5105781" cy="3280129"/>
              </a:xfrm>
              <a:prstGeom prst="rect">
                <a:avLst/>
              </a:prstGeom>
              <a:blipFill rotWithShape="0">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8957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17564"/>
                <a:ext cx="11929643" cy="2453669"/>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lifetime T of an alkaline battery is exponentially distributed with </a:t>
                </a:r>
                <a14:m>
                  <m:oMath xmlns:m="http://schemas.openxmlformats.org/officeDocument/2006/math">
                    <m:r>
                      <m:rPr>
                        <m:sty m:val="p"/>
                      </m:rPr>
                      <a:rPr lang="en-US">
                        <a:latin typeface="Cambria Math" panose="02040503050406030204" pitchFamily="18" charset="0"/>
                      </a:rPr>
                      <m:t>θ</m:t>
                    </m:r>
                    <m:r>
                      <a:rPr lang="en-US">
                        <a:latin typeface="Cambria Math" panose="02040503050406030204" pitchFamily="18" charset="0"/>
                      </a:rPr>
                      <m:t>=0.05</m:t>
                    </m:r>
                  </m:oMath>
                </a14:m>
                <a:r>
                  <a:rPr lang="en-US" dirty="0"/>
                  <a:t> per hour.</a:t>
                </a:r>
              </a:p>
              <a:p>
                <a:r>
                  <a:rPr lang="en-US" dirty="0"/>
                  <a:t>(a)   What are the probabilities for battery to last between 10 and 15 hours? </a:t>
                </a:r>
                <a:endParaRPr lang="en-IN" dirty="0"/>
              </a:p>
              <a:p>
                <a:r>
                  <a:rPr lang="en-US" dirty="0"/>
                  <a:t>(b)   What are the probabilities for the battery to last more than 20 hours?</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17564"/>
                <a:ext cx="11929643" cy="2453669"/>
              </a:xfrm>
              <a:prstGeom prst="rect">
                <a:avLst/>
              </a:prstGeom>
              <a:blipFill rotWithShape="0">
                <a:blip r:embed="rId2"/>
                <a:stretch>
                  <a:fillRect l="-1074" t="-744" r="-1074" b="-8189"/>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50374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3394565"/>
                <a:ext cx="10290991" cy="665182"/>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a:t>
                </a:r>
                <a14:m>
                  <m:oMath xmlns:m="http://schemas.openxmlformats.org/officeDocument/2006/math">
                    <m:r>
                      <m:rPr>
                        <m:sty m:val="p"/>
                      </m:rPr>
                      <a:rPr lang="en-IN" b="0" i="0" smtClean="0">
                        <a:solidFill>
                          <a:schemeClr val="tx2">
                            <a:lumMod val="50000"/>
                          </a:schemeClr>
                        </a:solidFill>
                        <a:latin typeface="Cambria Math" panose="02040503050406030204" pitchFamily="18" charset="0"/>
                      </a:rPr>
                      <m:t>θ</m:t>
                    </m:r>
                    <m:r>
                      <a:rPr lang="en-IN" b="0" i="0" smtClean="0">
                        <a:solidFill>
                          <a:schemeClr val="tx2">
                            <a:lumMod val="50000"/>
                          </a:schemeClr>
                        </a:solidFill>
                        <a:latin typeface="Cambria Math" panose="02040503050406030204" pitchFamily="18" charset="0"/>
                      </a:rPr>
                      <m:t>=0.05</m:t>
                    </m:r>
                  </m:oMath>
                </a14:m>
                <a:r>
                  <a:rPr lang="en-US" dirty="0">
                    <a:solidFill>
                      <a:schemeClr val="tx2">
                        <a:lumMod val="50000"/>
                      </a:schemeClr>
                    </a:solidFill>
                    <a:latin typeface="Cambria Math" panose="02040503050406030204" pitchFamily="18" charset="0"/>
                  </a:rPr>
                  <a:t> </a:t>
                </a:r>
                <a:r>
                  <a:rPr lang="en-US" dirty="0">
                    <a:solidFill>
                      <a:schemeClr val="tx2">
                        <a:lumMod val="50000"/>
                      </a:schemeClr>
                    </a:solidFill>
                  </a:rPr>
                  <a:t>per hour</a:t>
                </a: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3394565"/>
                <a:ext cx="10290991" cy="665182"/>
              </a:xfrm>
              <a:prstGeom prst="rect">
                <a:avLst/>
              </a:prstGeom>
              <a:blipFill rotWithShape="0">
                <a:blip r:embed="rId3"/>
                <a:stretch>
                  <a:fillRect l="-1185" b="-25688"/>
                </a:stretch>
              </a:blipFill>
            </p:spPr>
            <p:txBody>
              <a:bodyPr/>
              <a:lstStyle/>
              <a:p>
                <a:r>
                  <a:rPr lang="en-IN">
                    <a:noFill/>
                  </a:rPr>
                  <a:t> </a:t>
                </a:r>
              </a:p>
            </p:txBody>
          </p:sp>
        </mc:Fallback>
      </mc:AlternateContent>
    </p:spTree>
    <p:extLst>
      <p:ext uri="{BB962C8B-B14F-4D97-AF65-F5344CB8AC3E}">
        <p14:creationId xmlns:p14="http://schemas.microsoft.com/office/powerpoint/2010/main" val="389215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dirty="0">
                    <a:solidFill>
                      <a:srgbClr val="FF0000"/>
                    </a:solidFill>
                  </a:rPr>
                  <a:t>(a) To find the probability for battery to last between 10 &amp; 15 hours</a:t>
                </a:r>
                <a:r>
                  <a:rPr lang="en-IN" dirty="0">
                    <a:solidFill>
                      <a:srgbClr val="FF0000"/>
                    </a:solidFill>
                  </a:rPr>
                  <a:t> </a:t>
                </a:r>
                <a14:m>
                  <m:oMath xmlns:m="http://schemas.openxmlformats.org/officeDocument/2006/math">
                    <m:d>
                      <m:dPr>
                        <m:ctrlPr>
                          <a:rPr lang="en-IN" i="1" smtClean="0">
                            <a:solidFill>
                              <a:srgbClr val="FF0000"/>
                            </a:solidFill>
                            <a:latin typeface="Cambria Math" panose="02040503050406030204" pitchFamily="18" charset="0"/>
                            <a:ea typeface="Cambria Math" panose="02040503050406030204" pitchFamily="18" charset="0"/>
                          </a:rPr>
                        </m:ctrlPr>
                      </m:dPr>
                      <m:e>
                        <m:r>
                          <a:rPr lang="en-US" b="0" i="0">
                            <a:solidFill>
                              <a:srgbClr val="FF0000"/>
                            </a:solidFill>
                            <a:latin typeface="Cambria Math" panose="02040503050406030204" pitchFamily="18" charset="0"/>
                            <a:ea typeface="Cambria Math" panose="02040503050406030204" pitchFamily="18" charset="0"/>
                          </a:rPr>
                          <m:t>10≤</m:t>
                        </m:r>
                        <m:r>
                          <m:rPr>
                            <m:sty m:val="p"/>
                          </m:rPr>
                          <a:rPr lang="en-US" b="0" i="0">
                            <a:solidFill>
                              <a:srgbClr val="FF0000"/>
                            </a:solidFill>
                            <a:latin typeface="Cambria Math" panose="02040503050406030204" pitchFamily="18" charset="0"/>
                            <a:ea typeface="Cambria Math" panose="02040503050406030204" pitchFamily="18" charset="0"/>
                          </a:rPr>
                          <m:t>X</m:t>
                        </m:r>
                        <m:r>
                          <a:rPr lang="en-US" b="0" i="0">
                            <a:solidFill>
                              <a:srgbClr val="FF0000"/>
                            </a:solidFill>
                            <a:latin typeface="Cambria Math" panose="02040503050406030204" pitchFamily="18" charset="0"/>
                            <a:ea typeface="Cambria Math" panose="02040503050406030204" pitchFamily="18" charset="0"/>
                          </a:rPr>
                          <m:t>≤15</m:t>
                        </m:r>
                      </m:e>
                    </m:d>
                    <m:r>
                      <a:rPr lang="en-US" b="0" i="0">
                        <a:solidFill>
                          <a:srgbClr val="FF0000"/>
                        </a:solidFill>
                        <a:latin typeface="Cambria Math" panose="02040503050406030204" pitchFamily="18" charset="0"/>
                        <a:ea typeface="Cambria Math" panose="02040503050406030204" pitchFamily="18" charset="0"/>
                      </a:rPr>
                      <m:t>,</m:t>
                    </m:r>
                  </m:oMath>
                </a14:m>
                <a:endParaRPr lang="en-IN" dirty="0">
                  <a:solidFill>
                    <a:srgbClr val="FF0000"/>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365500"/>
                <a:ext cx="11173876" cy="4013343"/>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a</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aθ</m:t>
                          </m:r>
                        </m:sup>
                      </m:sSup>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bθ</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r>
                  <a:rPr lang="en-US" sz="2800" dirty="0">
                    <a:solidFill>
                      <a:srgbClr val="002060"/>
                    </a:solidFill>
                  </a:rPr>
                  <a:t>Here</a:t>
                </a:r>
                <a:r>
                  <a:rPr lang="en-US" sz="2800" dirty="0">
                    <a:solidFill>
                      <a:srgbClr val="002060"/>
                    </a:solidFill>
                    <a:latin typeface="Cambria Math" panose="02040503050406030204" pitchFamily="18" charset="0"/>
                  </a:rPr>
                  <a:t> </a:t>
                </a:r>
                <a14:m>
                  <m:oMath xmlns:m="http://schemas.openxmlformats.org/officeDocument/2006/math">
                    <m:r>
                      <m:rPr>
                        <m:sty m:val="p"/>
                      </m:rPr>
                      <a:rPr lang="en-US" sz="2800" b="0" i="1">
                        <a:solidFill>
                          <a:srgbClr val="002060"/>
                        </a:solidFill>
                        <a:latin typeface="Cambria Math" panose="02040503050406030204" pitchFamily="18" charset="0"/>
                      </a:rPr>
                      <m:t>a</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10</m:t>
                    </m:r>
                    <m:r>
                      <a:rPr lang="en-US" sz="2800" b="0">
                        <a:solidFill>
                          <a:srgbClr val="002060"/>
                        </a:solidFill>
                        <a:latin typeface="Cambria Math" panose="02040503050406030204" pitchFamily="18" charset="0"/>
                      </a:rPr>
                      <m:t> &amp; </m:t>
                    </m:r>
                    <m:r>
                      <m:rPr>
                        <m:sty m:val="p"/>
                      </m:rPr>
                      <a:rPr lang="en-US" sz="2800" b="0" i="1">
                        <a:solidFill>
                          <a:srgbClr val="002060"/>
                        </a:solidFill>
                        <a:latin typeface="Cambria Math" panose="02040503050406030204" pitchFamily="18" charset="0"/>
                      </a:rPr>
                      <m:t>b</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15</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10</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15</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05</m:t>
                          </m:r>
                        </m:sup>
                      </m:sSup>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15</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05</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10</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15</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5</m:t>
                          </m:r>
                        </m:sup>
                      </m:sSup>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75</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10</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15</m:t>
                          </m:r>
                        </m:e>
                      </m:d>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606530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472366</m:t>
                      </m:r>
                    </m:oMath>
                  </m:oMathPara>
                </a14:m>
                <a:endParaRPr lang="en-IN" sz="2800" b="0" i="1"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𝟏𝟎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𝟏𝟓</m:t>
                          </m:r>
                        </m:e>
                      </m:d>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𝟏𝟑𝟒𝟐</m:t>
                      </m:r>
                    </m:oMath>
                  </m:oMathPara>
                </a14:m>
                <a:endParaRPr lang="en-IN" sz="2800" b="1" dirty="0">
                  <a:solidFill>
                    <a:srgbClr val="FF000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365500"/>
                <a:ext cx="11173876" cy="4013343"/>
              </a:xfrm>
              <a:prstGeom prst="rect">
                <a:avLst/>
              </a:prstGeom>
              <a:blipFill rotWithShape="0">
                <a:blip r:embed="rId3"/>
                <a:stretch>
                  <a:fillRect l="-1091"/>
                </a:stretch>
              </a:blipFill>
            </p:spPr>
            <p:txBody>
              <a:bodyPr/>
              <a:lstStyle/>
              <a:p>
                <a:r>
                  <a:rPr lang="en-IN">
                    <a:noFill/>
                  </a:rPr>
                  <a:t> </a:t>
                </a:r>
              </a:p>
            </p:txBody>
          </p:sp>
        </mc:Fallback>
      </mc:AlternateContent>
    </p:spTree>
    <p:extLst>
      <p:ext uri="{BB962C8B-B14F-4D97-AF65-F5344CB8AC3E}">
        <p14:creationId xmlns:p14="http://schemas.microsoft.com/office/powerpoint/2010/main" val="292128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dirty="0">
                    <a:solidFill>
                      <a:srgbClr val="FF0000"/>
                    </a:solidFill>
                  </a:rPr>
                  <a:t>(b) To find the probability for battery to last more than 20 hours</a:t>
                </a:r>
                <a:r>
                  <a:rPr lang="en-IN" dirty="0">
                    <a:solidFill>
                      <a:srgbClr val="FF0000"/>
                    </a:solidFill>
                  </a:rPr>
                  <a:t> </a:t>
                </a:r>
                <a14:m>
                  <m:oMath xmlns:m="http://schemas.openxmlformats.org/officeDocument/2006/math">
                    <m:d>
                      <m:dPr>
                        <m:ctrlPr>
                          <a:rPr lang="en-IN" i="1" smtClean="0">
                            <a:solidFill>
                              <a:srgbClr val="FF0000"/>
                            </a:solidFill>
                            <a:latin typeface="Cambria Math" panose="02040503050406030204" pitchFamily="18" charset="0"/>
                            <a:ea typeface="Cambria Math" panose="02040503050406030204" pitchFamily="18" charset="0"/>
                          </a:rPr>
                        </m:ctrlPr>
                      </m:dPr>
                      <m:e>
                        <m:r>
                          <m:rPr>
                            <m:sty m:val="p"/>
                          </m:rPr>
                          <a:rPr lang="en-US" b="0" i="0">
                            <a:solidFill>
                              <a:srgbClr val="FF0000"/>
                            </a:solidFill>
                            <a:latin typeface="Cambria Math" panose="02040503050406030204" pitchFamily="18" charset="0"/>
                            <a:ea typeface="Cambria Math" panose="02040503050406030204" pitchFamily="18" charset="0"/>
                          </a:rPr>
                          <m:t>X</m:t>
                        </m:r>
                        <m:r>
                          <a:rPr lang="en-US" b="0" i="1" smtClean="0">
                            <a:solidFill>
                              <a:srgbClr val="FF0000"/>
                            </a:solidFill>
                            <a:latin typeface="Cambria Math" panose="02040503050406030204" pitchFamily="18" charset="0"/>
                            <a:ea typeface="Cambria Math" panose="02040503050406030204" pitchFamily="18" charset="0"/>
                          </a:rPr>
                          <m:t>≥</m:t>
                        </m:r>
                        <m:r>
                          <a:rPr lang="en-IN" b="0" i="0" smtClean="0">
                            <a:solidFill>
                              <a:srgbClr val="FF0000"/>
                            </a:solidFill>
                            <a:latin typeface="Cambria Math" panose="02040503050406030204" pitchFamily="18" charset="0"/>
                            <a:ea typeface="Cambria Math" panose="02040503050406030204" pitchFamily="18" charset="0"/>
                          </a:rPr>
                          <m:t>20</m:t>
                        </m:r>
                      </m:e>
                    </m:d>
                    <m:r>
                      <a:rPr lang="en-US" b="0" i="0">
                        <a:solidFill>
                          <a:srgbClr val="FF0000"/>
                        </a:solidFill>
                        <a:latin typeface="Cambria Math" panose="02040503050406030204" pitchFamily="18" charset="0"/>
                        <a:ea typeface="Cambria Math" panose="02040503050406030204" pitchFamily="18" charset="0"/>
                      </a:rPr>
                      <m:t>,</m:t>
                    </m:r>
                  </m:oMath>
                </a14:m>
                <a:endParaRPr lang="en-IN" dirty="0">
                  <a:solidFill>
                    <a:srgbClr val="FF0000"/>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365500"/>
                <a:ext cx="11173876" cy="3359702"/>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θx</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r>
                  <a:rPr lang="en-US" sz="2800" dirty="0">
                    <a:solidFill>
                      <a:srgbClr val="002060"/>
                    </a:solidFill>
                    <a:latin typeface="Cambria Math" panose="02040503050406030204" pitchFamily="18" charset="0"/>
                  </a:rPr>
                  <a:t>Here </a:t>
                </a:r>
                <a14:m>
                  <m:oMath xmlns:m="http://schemas.openxmlformats.org/officeDocument/2006/math">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20</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20</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05</m:t>
                          </m:r>
                          <m:r>
                            <m:rPr>
                              <m:sty m:val="p"/>
                            </m:rPr>
                            <a:rPr lang="en-US" sz="2800" b="0" i="1">
                              <a:solidFill>
                                <a:srgbClr val="002060"/>
                              </a:solidFill>
                              <a:latin typeface="Cambria Math" panose="02040503050406030204" pitchFamily="18" charset="0"/>
                            </a:rPr>
                            <m:t>x</m:t>
                          </m:r>
                          <m:r>
                            <a:rPr lang="en-US" sz="2800" b="0" i="1">
                              <a:solidFill>
                                <a:srgbClr val="002060"/>
                              </a:solidFill>
                              <a:latin typeface="Cambria Math" panose="02040503050406030204" pitchFamily="18" charset="0"/>
                            </a:rPr>
                            <m:t>20</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20</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𝟐𝟎</m:t>
                          </m:r>
                        </m:e>
                      </m:d>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𝟑𝟔𝟕𝟖</m:t>
                      </m:r>
                    </m:oMath>
                  </m:oMathPara>
                </a14:m>
                <a:endParaRPr lang="en-IN" sz="2800" b="1" dirty="0">
                  <a:solidFill>
                    <a:srgbClr val="FF000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365500"/>
                <a:ext cx="11173876" cy="3359702"/>
              </a:xfrm>
              <a:prstGeom prst="rect">
                <a:avLst/>
              </a:prstGeom>
              <a:blipFill rotWithShape="0">
                <a:blip r:embed="rId3"/>
                <a:stretch>
                  <a:fillRect l="-1091"/>
                </a:stretch>
              </a:blipFill>
            </p:spPr>
            <p:txBody>
              <a:bodyPr/>
              <a:lstStyle/>
              <a:p>
                <a:r>
                  <a:rPr lang="en-IN">
                    <a:noFill/>
                  </a:rPr>
                  <a:t> </a:t>
                </a:r>
              </a:p>
            </p:txBody>
          </p:sp>
        </mc:Fallback>
      </mc:AlternateContent>
    </p:spTree>
    <p:extLst>
      <p:ext uri="{BB962C8B-B14F-4D97-AF65-F5344CB8AC3E}">
        <p14:creationId xmlns:p14="http://schemas.microsoft.com/office/powerpoint/2010/main" val="264999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7" y="817564"/>
            <a:ext cx="11929643" cy="2453669"/>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large corporate computer network, user log-on to the system can be modeled as a Poisson process with a mean of 25 log-on per hour.</a:t>
            </a:r>
            <a:endParaRPr lang="en-IN" dirty="0"/>
          </a:p>
          <a:p>
            <a:r>
              <a:rPr lang="en-US" dirty="0"/>
              <a:t>(a)   What is the probability that there are no log-on in an interval of 6 min.?</a:t>
            </a:r>
            <a:endParaRPr lang="en-IN" dirty="0"/>
          </a:p>
          <a:p>
            <a:r>
              <a:rPr lang="en-US" dirty="0"/>
              <a:t>(b)   What is the probability that time until next log-on is between 2 &amp; 3 min.?</a:t>
            </a:r>
            <a:endParaRPr lang="en-IN" dirty="0"/>
          </a:p>
        </p:txBody>
      </p:sp>
      <p:sp>
        <p:nvSpPr>
          <p:cNvPr id="2" name="Title 1"/>
          <p:cNvSpPr>
            <a:spLocks noGrp="1"/>
          </p:cNvSpPr>
          <p:nvPr>
            <p:ph type="title"/>
          </p:nvPr>
        </p:nvSpPr>
        <p:spPr/>
        <p:txBody>
          <a:bodyPr/>
          <a:lstStyle/>
          <a:p>
            <a:r>
              <a:rPr lang="en-GB" dirty="0"/>
              <a:t>Method 3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503749"/>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3394565"/>
                <a:ext cx="10290991" cy="2287806"/>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pPr>
                <a:r>
                  <a:rPr lang="en-US" dirty="0">
                    <a:solidFill>
                      <a:srgbClr val="002060"/>
                    </a:solidFill>
                  </a:rPr>
                  <a:t>Given Poisson process with a mean of 25 log on per hours</a:t>
                </a:r>
                <a:endParaRPr lang="en-IN" dirty="0">
                  <a:solidFill>
                    <a:srgbClr val="002060"/>
                  </a:solidFill>
                </a:endParaRPr>
              </a:p>
              <a:p>
                <a:pPr marL="0" indent="0" algn="l">
                  <a:lnSpc>
                    <a:spcPct val="150000"/>
                  </a:lnSpc>
                  <a:buNone/>
                </a:pPr>
                <a14:m>
                  <m:oMath xmlns:m="http://schemas.openxmlformats.org/officeDocument/2006/math">
                    <m:r>
                      <a:rPr lang="en-US">
                        <a:solidFill>
                          <a:srgbClr val="002060"/>
                        </a:solidFill>
                        <a:latin typeface="Cambria Math" panose="02040503050406030204" pitchFamily="18" charset="0"/>
                      </a:rPr>
                      <m:t>⇒</m:t>
                    </m:r>
                    <m:r>
                      <m:rPr>
                        <m:sty m:val="p"/>
                      </m:rPr>
                      <a:rPr lang="en-US">
                        <a:solidFill>
                          <a:srgbClr val="002060"/>
                        </a:solidFill>
                        <a:latin typeface="Cambria Math" panose="02040503050406030204" pitchFamily="18" charset="0"/>
                      </a:rPr>
                      <m:t>λ</m:t>
                    </m:r>
                    <m:r>
                      <a:rPr lang="en-US">
                        <a:solidFill>
                          <a:srgbClr val="002060"/>
                        </a:solidFill>
                        <a:latin typeface="Cambria Math" panose="02040503050406030204" pitchFamily="18" charset="0"/>
                      </a:rPr>
                      <m:t>=25</m:t>
                    </m:r>
                  </m:oMath>
                </a14:m>
                <a:r>
                  <a:rPr lang="en-IN" dirty="0">
                    <a:solidFill>
                      <a:srgbClr val="002060"/>
                    </a:solidFill>
                  </a:rPr>
                  <a:t> </a:t>
                </a:r>
                <a:r>
                  <a:rPr lang="en-US" dirty="0">
                    <a:solidFill>
                      <a:srgbClr val="002060"/>
                    </a:solidFill>
                  </a:rPr>
                  <a:t>per hours</a:t>
                </a:r>
                <a:endParaRPr lang="en-IN" dirty="0">
                  <a:solidFill>
                    <a:srgbClr val="002060"/>
                  </a:solidFill>
                </a:endParaRPr>
              </a:p>
              <a:p>
                <a:pPr marL="0" indent="0" algn="l">
                  <a:lnSpc>
                    <a:spcPct val="150000"/>
                  </a:lnSpc>
                  <a:buNone/>
                </a:pPr>
                <a:r>
                  <a:rPr lang="en-US" dirty="0">
                    <a:solidFill>
                      <a:srgbClr val="002060"/>
                    </a:solidFill>
                  </a:rPr>
                  <a:t>As per exponential distribution</a:t>
                </a:r>
                <a:r>
                  <a:rPr lang="en-US" dirty="0">
                    <a:solidFill>
                      <a:srgbClr val="002060"/>
                    </a:solidFill>
                    <a:latin typeface="Cambria Math" panose="02040503050406030204" pitchFamily="18" charset="0"/>
                  </a:rPr>
                  <a:t> </a:t>
                </a:r>
                <a14:m>
                  <m:oMath xmlns:m="http://schemas.openxmlformats.org/officeDocument/2006/math">
                    <m:r>
                      <m:rPr>
                        <m:sty m:val="p"/>
                      </m:rPr>
                      <a:rPr lang="en-US" b="0" i="1">
                        <a:solidFill>
                          <a:srgbClr val="002060"/>
                        </a:solidFill>
                        <a:latin typeface="Cambria Math" panose="02040503050406030204" pitchFamily="18" charset="0"/>
                      </a:rPr>
                      <m:t>θ</m:t>
                    </m:r>
                    <m:r>
                      <a:rPr lang="en-US" b="0">
                        <a:solidFill>
                          <a:srgbClr val="002060"/>
                        </a:solidFill>
                        <a:latin typeface="Cambria Math" panose="02040503050406030204" pitchFamily="18" charset="0"/>
                      </a:rPr>
                      <m:t>=</m:t>
                    </m:r>
                    <m:r>
                      <a:rPr lang="en-US" b="0" i="1">
                        <a:solidFill>
                          <a:srgbClr val="002060"/>
                        </a:solidFill>
                        <a:latin typeface="Cambria Math" panose="02040503050406030204" pitchFamily="18" charset="0"/>
                      </a:rPr>
                      <m:t>25</m:t>
                    </m:r>
                  </m:oMath>
                </a14:m>
                <a:r>
                  <a:rPr lang="en-US" dirty="0">
                    <a:solidFill>
                      <a:srgbClr val="002060"/>
                    </a:solidFill>
                    <a:latin typeface="Cambria Math" panose="02040503050406030204" pitchFamily="18" charset="0"/>
                  </a:rPr>
                  <a:t> </a:t>
                </a:r>
                <a:r>
                  <a:rPr lang="en-US" dirty="0">
                    <a:solidFill>
                      <a:srgbClr val="002060"/>
                    </a:solidFill>
                  </a:rPr>
                  <a:t>per hours</a:t>
                </a:r>
                <a:endParaRPr lang="en-IN" dirty="0">
                  <a:solidFill>
                    <a:srgbClr val="002060"/>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3394565"/>
                <a:ext cx="10290991" cy="2287806"/>
              </a:xfrm>
              <a:prstGeom prst="rect">
                <a:avLst/>
              </a:prstGeom>
              <a:blipFill rotWithShape="0">
                <a:blip r:embed="rId2"/>
                <a:stretch>
                  <a:fillRect l="-1185" b="-3467"/>
                </a:stretch>
              </a:blipFill>
            </p:spPr>
            <p:txBody>
              <a:bodyPr/>
              <a:lstStyle/>
              <a:p>
                <a:r>
                  <a:rPr lang="en-IN">
                    <a:noFill/>
                  </a:rPr>
                  <a:t> </a:t>
                </a:r>
              </a:p>
            </p:txBody>
          </p:sp>
        </mc:Fallback>
      </mc:AlternateContent>
    </p:spTree>
    <p:extLst>
      <p:ext uri="{BB962C8B-B14F-4D97-AF65-F5344CB8AC3E}">
        <p14:creationId xmlns:p14="http://schemas.microsoft.com/office/powerpoint/2010/main" val="318114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dirty="0">
                    <a:solidFill>
                      <a:srgbClr val="FF0000"/>
                    </a:solidFill>
                  </a:rPr>
                  <a:t>(a) To find the probability that there are no log-on in an interval of 6 min</a:t>
                </a:r>
                <a:r>
                  <a:rPr lang="en-IN" dirty="0">
                    <a:solidFill>
                      <a:srgbClr val="FF0000"/>
                    </a:solidFill>
                  </a:rPr>
                  <a:t> </a:t>
                </a:r>
                <a14:m>
                  <m:oMath xmlns:m="http://schemas.openxmlformats.org/officeDocument/2006/math">
                    <m:d>
                      <m:dPr>
                        <m:ctrlPr>
                          <a:rPr lang="en-IN" i="1">
                            <a:solidFill>
                              <a:srgbClr val="FF0000"/>
                            </a:solidFill>
                            <a:latin typeface="Cambria Math" panose="02040503050406030204" pitchFamily="18" charset="0"/>
                          </a:rPr>
                        </m:ctrlPr>
                      </m:dPr>
                      <m:e>
                        <m:r>
                          <m:rPr>
                            <m:sty m:val="p"/>
                          </m:rPr>
                          <a:rPr lang="en-US" b="0" i="1">
                            <a:solidFill>
                              <a:srgbClr val="FF0000"/>
                            </a:solidFill>
                            <a:latin typeface="Cambria Math" panose="02040503050406030204" pitchFamily="18" charset="0"/>
                          </a:rPr>
                          <m:t>x</m:t>
                        </m:r>
                        <m:r>
                          <a:rPr lang="en-US" b="0">
                            <a:solidFill>
                              <a:srgbClr val="FF0000"/>
                            </a:solidFill>
                            <a:latin typeface="Cambria Math" panose="02040503050406030204" pitchFamily="18" charset="0"/>
                          </a:rPr>
                          <m:t>=</m:t>
                        </m:r>
                        <m:r>
                          <a:rPr lang="en-US" b="0" i="1">
                            <a:solidFill>
                              <a:srgbClr val="FF0000"/>
                            </a:solidFill>
                            <a:latin typeface="Cambria Math" panose="02040503050406030204" pitchFamily="18" charset="0"/>
                          </a:rPr>
                          <m:t>0</m:t>
                        </m:r>
                      </m:e>
                    </m:d>
                    <m:r>
                      <a:rPr lang="en-US">
                        <a:solidFill>
                          <a:srgbClr val="FF0000"/>
                        </a:solidFill>
                        <a:latin typeface="Cambria Math" panose="02040503050406030204" pitchFamily="18" charset="0"/>
                      </a:rPr>
                      <m:t>,</m:t>
                    </m:r>
                  </m:oMath>
                </a14:m>
                <a:endParaRPr lang="en-IN" dirty="0">
                  <a:solidFill>
                    <a:srgbClr val="FF0000"/>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2785" b="-341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803381"/>
                <a:ext cx="5713234" cy="2677656"/>
              </a:xfrm>
              <a:prstGeom prst="rect">
                <a:avLst/>
              </a:prstGeom>
            </p:spPr>
            <p:txBody>
              <a:bodyPr wrap="square">
                <a:spAutoFit/>
              </a:bodyPr>
              <a:lstStyle/>
              <a:p>
                <a:pPr>
                  <a:lnSpc>
                    <a:spcPct val="150000"/>
                  </a:lnSpc>
                  <a:buClr>
                    <a:schemeClr val="accent6"/>
                  </a:buClr>
                </a:pPr>
                <a14:m>
                  <m:oMath xmlns:m="http://schemas.openxmlformats.org/officeDocument/2006/math">
                    <m:r>
                      <m:rPr>
                        <m:sty m:val="p"/>
                      </m:rPr>
                      <a:rPr lang="en-US" sz="2800">
                        <a:solidFill>
                          <a:srgbClr val="002060"/>
                        </a:solidFill>
                        <a:latin typeface="Cambria Math" panose="02040503050406030204" pitchFamily="18" charset="0"/>
                      </a:rPr>
                      <m:t>λ</m:t>
                    </m:r>
                    <m:r>
                      <a:rPr lang="en-US" sz="2800">
                        <a:solidFill>
                          <a:srgbClr val="002060"/>
                        </a:solidFill>
                        <a:latin typeface="Cambria Math" panose="02040503050406030204" pitchFamily="18" charset="0"/>
                      </a:rPr>
                      <m:t>=25 </m:t>
                    </m:r>
                  </m:oMath>
                </a14:m>
                <a:r>
                  <a:rPr lang="en-US" sz="2800" dirty="0">
                    <a:solidFill>
                      <a:srgbClr val="002060"/>
                    </a:solidFill>
                  </a:rPr>
                  <a:t>log on per hour</a:t>
                </a:r>
                <a:endParaRPr lang="en-IN" sz="2800" dirty="0">
                  <a:solidFill>
                    <a:srgbClr val="002060"/>
                  </a:solidFill>
                </a:endParaRPr>
              </a:p>
              <a:p>
                <a:pPr>
                  <a:lnSpc>
                    <a:spcPct val="150000"/>
                  </a:lnSpc>
                  <a:buClr>
                    <a:schemeClr val="accent6"/>
                  </a:buClr>
                </a:pPr>
                <a14:m>
                  <m:oMath xmlns:m="http://schemas.openxmlformats.org/officeDocument/2006/math">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λ</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25</m:t>
                    </m:r>
                    <m:r>
                      <m:rPr>
                        <m:nor/>
                      </m:rPr>
                      <a:rPr lang="en-IN" sz="2800" b="0" i="0" smtClean="0">
                        <a:solidFill>
                          <a:srgbClr val="002060"/>
                        </a:solidFill>
                        <a:latin typeface="Cambria Math" panose="02040503050406030204" pitchFamily="18" charset="0"/>
                      </a:rPr>
                      <m:t> </m:t>
                    </m:r>
                    <m:r>
                      <m:rPr>
                        <m:nor/>
                      </m:rPr>
                      <a:rPr lang="en-US" sz="2800" dirty="0">
                        <a:solidFill>
                          <a:srgbClr val="002060"/>
                        </a:solidFill>
                      </a:rPr>
                      <m:t>log</m:t>
                    </m:r>
                    <m:r>
                      <m:rPr>
                        <m:nor/>
                      </m:rPr>
                      <a:rPr lang="en-US" sz="2800" dirty="0">
                        <a:solidFill>
                          <a:srgbClr val="002060"/>
                        </a:solidFill>
                      </a:rPr>
                      <m:t> </m:t>
                    </m:r>
                    <m:r>
                      <m:rPr>
                        <m:nor/>
                      </m:rPr>
                      <a:rPr lang="en-US" sz="2800" dirty="0">
                        <a:solidFill>
                          <a:srgbClr val="002060"/>
                        </a:solidFill>
                      </a:rPr>
                      <m:t>on</m:t>
                    </m:r>
                    <m:r>
                      <m:rPr>
                        <m:nor/>
                      </m:rPr>
                      <a:rPr lang="en-US" sz="2800" dirty="0">
                        <a:solidFill>
                          <a:srgbClr val="002060"/>
                        </a:solidFill>
                      </a:rPr>
                      <m:t> </m:t>
                    </m:r>
                    <m:r>
                      <m:rPr>
                        <m:nor/>
                      </m:rPr>
                      <a:rPr lang="en-US" sz="2800" dirty="0">
                        <a:solidFill>
                          <a:srgbClr val="002060"/>
                        </a:solidFill>
                      </a:rPr>
                      <m:t>per</m:t>
                    </m:r>
                  </m:oMath>
                </a14:m>
                <a:r>
                  <a:rPr lang="en-IN" sz="2800" dirty="0">
                    <a:solidFill>
                      <a:srgbClr val="002060"/>
                    </a:solidFill>
                  </a:rPr>
                  <a:t> 60 minutes</a:t>
                </a:r>
              </a:p>
              <a:p>
                <a:pPr>
                  <a:lnSpc>
                    <a:spcPct val="150000"/>
                  </a:lnSpc>
                  <a:buClr>
                    <a:schemeClr val="accent6"/>
                  </a:buClr>
                </a:pPr>
                <a:endParaRPr lang="en-US" sz="2800" dirty="0">
                  <a:solidFill>
                    <a:srgbClr val="002060"/>
                  </a:solidFill>
                </a:endParaRPr>
              </a:p>
              <a:p>
                <a:pPr>
                  <a:lnSpc>
                    <a:spcPct val="150000"/>
                  </a:lnSpc>
                  <a:buClr>
                    <a:schemeClr val="accent6"/>
                  </a:buClr>
                </a:pPr>
                <a:r>
                  <a:rPr lang="en-US" sz="2800" dirty="0">
                    <a:solidFill>
                      <a:srgbClr val="002060"/>
                    </a:solidFill>
                  </a:rPr>
                  <a:t>To find log on in an interval of 6 min</a:t>
                </a:r>
                <a:endParaRPr lang="en-IN" sz="2800" dirty="0">
                  <a:solidFill>
                    <a:srgbClr val="00206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803381"/>
                <a:ext cx="5713234" cy="2677656"/>
              </a:xfrm>
              <a:prstGeom prst="rect">
                <a:avLst/>
              </a:prstGeom>
              <a:blipFill rotWithShape="0">
                <a:blip r:embed="rId3"/>
                <a:stretch>
                  <a:fillRect l="-2132" b="-29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478766" y="1365500"/>
                <a:ext cx="5713234" cy="4052263"/>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x</m:t>
                          </m:r>
                        </m:e>
                      </m:d>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λ</m:t>
                              </m:r>
                            </m:sup>
                          </m:sSup>
                          <m:r>
                            <a:rPr lang="en-US" sz="2800" b="0" i="0">
                              <a:solidFill>
                                <a:srgbClr val="002060"/>
                              </a:solidFill>
                              <a:latin typeface="Cambria Math" panose="02040503050406030204" pitchFamily="18" charset="0"/>
                            </a:rPr>
                            <m:t> </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λ</m:t>
                              </m:r>
                            </m:e>
                            <m:sup>
                              <m:r>
                                <m:rPr>
                                  <m:sty m:val="p"/>
                                </m:rPr>
                                <a:rPr lang="en-US" sz="2800" b="0" i="0">
                                  <a:solidFill>
                                    <a:srgbClr val="002060"/>
                                  </a:solidFill>
                                  <a:latin typeface="Cambria Math" panose="02040503050406030204" pitchFamily="18" charset="0"/>
                                </a:rPr>
                                <m:t>x</m:t>
                              </m:r>
                            </m:sup>
                          </m:sSup>
                        </m:num>
                        <m:den>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m:t>
                          </m:r>
                        </m:den>
                      </m:f>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=0</m:t>
                          </m:r>
                        </m:e>
                      </m:d>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−2.5</m:t>
                              </m:r>
                            </m:sup>
                          </m:sSup>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2.5</m:t>
                                  </m:r>
                                </m:e>
                              </m:d>
                            </m:e>
                            <m:sup>
                              <m:r>
                                <a:rPr lang="en-US" sz="2800" b="0" i="0">
                                  <a:solidFill>
                                    <a:srgbClr val="002060"/>
                                  </a:solidFill>
                                  <a:latin typeface="Cambria Math" panose="02040503050406030204" pitchFamily="18" charset="0"/>
                                </a:rPr>
                                <m:t>0</m:t>
                              </m:r>
                            </m:sup>
                          </m:sSup>
                        </m:num>
                        <m:den>
                          <m:r>
                            <a:rPr lang="en-US" sz="2800" b="0" i="0">
                              <a:solidFill>
                                <a:srgbClr val="002060"/>
                              </a:solidFill>
                              <a:latin typeface="Cambria Math" panose="02040503050406030204" pitchFamily="18" charset="0"/>
                            </a:rPr>
                            <m:t>0!</m:t>
                          </m:r>
                        </m:den>
                      </m:f>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=0</m:t>
                          </m:r>
                        </m:e>
                      </m:d>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−2.5</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e>
                      </m:d>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𝟎𝟖𝟐𝟏</m:t>
                      </m:r>
                    </m:oMath>
                  </m:oMathPara>
                </a14:m>
                <a:endParaRPr lang="en-IN" sz="2800" b="1" dirty="0">
                  <a:solidFill>
                    <a:srgbClr val="002060"/>
                  </a:solidFill>
                  <a:latin typeface="Cambria Math" panose="020405030504060302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6478766" y="1365500"/>
                <a:ext cx="5713234" cy="4052263"/>
              </a:xfrm>
              <a:prstGeom prst="rect">
                <a:avLst/>
              </a:prstGeom>
              <a:blipFill rotWithShape="0">
                <a:blip r:embed="rId4"/>
                <a:stretch>
                  <a:fillRect/>
                </a:stretch>
              </a:blipFill>
            </p:spPr>
            <p:txBody>
              <a:bodyPr/>
              <a:lstStyle/>
              <a:p>
                <a:r>
                  <a:rPr lang="en-IN">
                    <a:noFill/>
                  </a:rPr>
                  <a:t> </a:t>
                </a:r>
              </a:p>
            </p:txBody>
          </p:sp>
        </mc:Fallback>
      </mc:AlternateContent>
      <p:cxnSp>
        <p:nvCxnSpPr>
          <p:cNvPr id="7" name="Straight Connector 6"/>
          <p:cNvCxnSpPr/>
          <p:nvPr/>
        </p:nvCxnSpPr>
        <p:spPr>
          <a:xfrm>
            <a:off x="6260587" y="1348329"/>
            <a:ext cx="29377" cy="512174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Rectangle 3"/>
              <p:cNvSpPr/>
              <p:nvPr/>
            </p:nvSpPr>
            <p:spPr>
              <a:xfrm>
                <a:off x="69380" y="4696846"/>
                <a:ext cx="2856617" cy="9105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i="1">
                          <a:solidFill>
                            <a:srgbClr val="002060"/>
                          </a:solidFill>
                          <a:latin typeface="Cambria Math" panose="02040503050406030204" pitchFamily="18" charset="0"/>
                        </a:rPr>
                        <m:t>λ</m:t>
                      </m:r>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25</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6</m:t>
                          </m:r>
                        </m:num>
                        <m:den>
                          <m:r>
                            <a:rPr lang="en-US" sz="2800" i="1">
                              <a:solidFill>
                                <a:srgbClr val="002060"/>
                              </a:solidFill>
                              <a:latin typeface="Cambria Math" panose="02040503050406030204" pitchFamily="18" charset="0"/>
                            </a:rPr>
                            <m:t>60</m:t>
                          </m:r>
                        </m:den>
                      </m:f>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2</m:t>
                      </m:r>
                      <m:r>
                        <a:rPr lang="en-US" sz="2800">
                          <a:solidFill>
                            <a:srgbClr val="002060"/>
                          </a:solidFill>
                          <a:latin typeface="Cambria Math" panose="02040503050406030204" pitchFamily="18" charset="0"/>
                        </a:rPr>
                        <m:t>.</m:t>
                      </m:r>
                      <m:r>
                        <a:rPr lang="en-US" sz="2800" i="1">
                          <a:solidFill>
                            <a:srgbClr val="002060"/>
                          </a:solidFill>
                          <a:latin typeface="Cambria Math" panose="02040503050406030204" pitchFamily="18" charset="0"/>
                        </a:rPr>
                        <m:t>5</m:t>
                      </m:r>
                    </m:oMath>
                  </m:oMathPara>
                </a14:m>
                <a:endParaRPr lang="en-IN" sz="2800" dirty="0"/>
              </a:p>
            </p:txBody>
          </p:sp>
        </mc:Choice>
        <mc:Fallback xmlns="">
          <p:sp>
            <p:nvSpPr>
              <p:cNvPr id="4" name="Rectangle 3"/>
              <p:cNvSpPr>
                <a:spLocks noRot="1" noChangeAspect="1" noMove="1" noResize="1" noEditPoints="1" noAdjustHandles="1" noChangeArrowheads="1" noChangeShapeType="1" noTextEdit="1"/>
              </p:cNvSpPr>
              <p:nvPr/>
            </p:nvSpPr>
            <p:spPr>
              <a:xfrm>
                <a:off x="69380" y="4696846"/>
                <a:ext cx="2856617" cy="910570"/>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822965" y="4885730"/>
                <a:ext cx="333459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n-US" sz="2800" dirty="0">
                          <a:solidFill>
                            <a:srgbClr val="002060"/>
                          </a:solidFill>
                        </a:rPr>
                        <m:t>log</m:t>
                      </m:r>
                      <m:r>
                        <m:rPr>
                          <m:nor/>
                        </m:rPr>
                        <a:rPr lang="en-US" sz="2800" dirty="0">
                          <a:solidFill>
                            <a:srgbClr val="002060"/>
                          </a:solidFill>
                        </a:rPr>
                        <m:t> </m:t>
                      </m:r>
                      <m:r>
                        <m:rPr>
                          <m:nor/>
                        </m:rPr>
                        <a:rPr lang="en-US" sz="2800" dirty="0">
                          <a:solidFill>
                            <a:srgbClr val="002060"/>
                          </a:solidFill>
                        </a:rPr>
                        <m:t>on</m:t>
                      </m:r>
                      <m:r>
                        <m:rPr>
                          <m:nor/>
                        </m:rPr>
                        <a:rPr lang="en-US" sz="2800" dirty="0">
                          <a:solidFill>
                            <a:srgbClr val="002060"/>
                          </a:solidFill>
                        </a:rPr>
                        <m:t> </m:t>
                      </m:r>
                      <m:r>
                        <m:rPr>
                          <m:nor/>
                        </m:rPr>
                        <a:rPr lang="en-US" sz="2800" dirty="0">
                          <a:solidFill>
                            <a:srgbClr val="002060"/>
                          </a:solidFill>
                        </a:rPr>
                        <m:t>per</m:t>
                      </m:r>
                      <m:r>
                        <m:rPr>
                          <m:nor/>
                        </m:rPr>
                        <a:rPr lang="en-IN" sz="2800" dirty="0">
                          <a:solidFill>
                            <a:srgbClr val="002060"/>
                          </a:solidFill>
                        </a:rPr>
                        <m:t> 6 </m:t>
                      </m:r>
                      <m:r>
                        <m:rPr>
                          <m:nor/>
                        </m:rPr>
                        <a:rPr lang="en-IN" sz="2800" dirty="0">
                          <a:solidFill>
                            <a:srgbClr val="002060"/>
                          </a:solidFill>
                        </a:rPr>
                        <m:t>minutes</m:t>
                      </m:r>
                    </m:oMath>
                  </m:oMathPara>
                </a14:m>
                <a:endParaRPr lang="en-IN" sz="2800" dirty="0"/>
              </a:p>
            </p:txBody>
          </p:sp>
        </mc:Choice>
        <mc:Fallback xmlns="">
          <p:sp>
            <p:nvSpPr>
              <p:cNvPr id="5" name="Rectangle 4"/>
              <p:cNvSpPr>
                <a:spLocks noRot="1" noChangeAspect="1" noMove="1" noResize="1" noEditPoints="1" noAdjustHandles="1" noChangeArrowheads="1" noChangeShapeType="1" noTextEdit="1"/>
              </p:cNvSpPr>
              <p:nvPr/>
            </p:nvSpPr>
            <p:spPr>
              <a:xfrm>
                <a:off x="2822965" y="4885730"/>
                <a:ext cx="3334590" cy="523220"/>
              </a:xfrm>
              <a:prstGeom prst="rect">
                <a:avLst/>
              </a:prstGeom>
              <a:blipFill rotWithShape="0">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02743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4"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a:buNone/>
                </a:pPr>
                <a:r>
                  <a:rPr lang="en-US" dirty="0">
                    <a:solidFill>
                      <a:srgbClr val="FF0000"/>
                    </a:solidFill>
                  </a:rPr>
                  <a:t>(b)To find the probability of time until next log on is between 2 &amp; 3 min </a:t>
                </a:r>
                <a14:m>
                  <m:oMath xmlns:m="http://schemas.openxmlformats.org/officeDocument/2006/math">
                    <m:r>
                      <m:rPr>
                        <m:sty m:val="p"/>
                      </m:rPr>
                      <a:rPr lang="en-US" sz="2600" b="0" i="1">
                        <a:solidFill>
                          <a:srgbClr val="FF0000"/>
                        </a:solidFill>
                        <a:latin typeface="Cambria Math" panose="02040503050406030204" pitchFamily="18" charset="0"/>
                        <a:ea typeface="Cambria Math" panose="02040503050406030204" pitchFamily="18" charset="0"/>
                      </a:rPr>
                      <m:t>P</m:t>
                    </m:r>
                    <m:r>
                      <a:rPr lang="en-US" sz="2600" b="0">
                        <a:solidFill>
                          <a:srgbClr val="FF0000"/>
                        </a:solidFill>
                        <a:latin typeface="Cambria Math" panose="02040503050406030204" pitchFamily="18" charset="0"/>
                        <a:ea typeface="Cambria Math" panose="02040503050406030204" pitchFamily="18" charset="0"/>
                      </a:rPr>
                      <m:t>(</m:t>
                    </m:r>
                    <m:r>
                      <a:rPr lang="en-US" sz="2600" b="0" i="1">
                        <a:solidFill>
                          <a:srgbClr val="FF0000"/>
                        </a:solidFill>
                        <a:latin typeface="Cambria Math" panose="02040503050406030204" pitchFamily="18" charset="0"/>
                        <a:ea typeface="Cambria Math" panose="02040503050406030204" pitchFamily="18" charset="0"/>
                      </a:rPr>
                      <m:t>2</m:t>
                    </m:r>
                    <m:r>
                      <a:rPr lang="en-US" sz="2600" b="0">
                        <a:solidFill>
                          <a:srgbClr val="FF0000"/>
                        </a:solidFill>
                        <a:latin typeface="Cambria Math" panose="02040503050406030204" pitchFamily="18" charset="0"/>
                        <a:ea typeface="Cambria Math" panose="02040503050406030204" pitchFamily="18" charset="0"/>
                      </a:rPr>
                      <m:t>≤</m:t>
                    </m:r>
                    <m:r>
                      <m:rPr>
                        <m:sty m:val="p"/>
                      </m:rPr>
                      <a:rPr lang="en-US" sz="2600" b="0" i="1">
                        <a:solidFill>
                          <a:srgbClr val="FF0000"/>
                        </a:solidFill>
                        <a:latin typeface="Cambria Math" panose="02040503050406030204" pitchFamily="18" charset="0"/>
                        <a:ea typeface="Cambria Math" panose="02040503050406030204" pitchFamily="18" charset="0"/>
                      </a:rPr>
                      <m:t>X</m:t>
                    </m:r>
                    <m:r>
                      <a:rPr lang="en-US" sz="2600" b="0" smtClean="0">
                        <a:solidFill>
                          <a:srgbClr val="FF0000"/>
                        </a:solidFill>
                        <a:latin typeface="Cambria Math" panose="02040503050406030204" pitchFamily="18" charset="0"/>
                        <a:ea typeface="Cambria Math" panose="02040503050406030204" pitchFamily="18" charset="0"/>
                      </a:rPr>
                      <m:t>≤</m:t>
                    </m:r>
                    <m:r>
                      <a:rPr lang="en-US" sz="2600" b="0" i="1">
                        <a:solidFill>
                          <a:srgbClr val="FF0000"/>
                        </a:solidFill>
                        <a:latin typeface="Cambria Math" panose="02040503050406030204" pitchFamily="18" charset="0"/>
                        <a:ea typeface="Cambria Math" panose="02040503050406030204" pitchFamily="18" charset="0"/>
                      </a:rPr>
                      <m:t>3</m:t>
                    </m:r>
                    <m:r>
                      <a:rPr lang="en-US" sz="2600" b="0">
                        <a:solidFill>
                          <a:srgbClr val="FF0000"/>
                        </a:solidFill>
                        <a:latin typeface="Cambria Math" panose="02040503050406030204" pitchFamily="18" charset="0"/>
                        <a:ea typeface="Cambria Math" panose="02040503050406030204" pitchFamily="18" charset="0"/>
                      </a:rPr>
                      <m:t>)</m:t>
                    </m:r>
                  </m:oMath>
                </a14:m>
                <a:endParaRPr lang="en-IN" sz="2600" dirty="0">
                  <a:solidFill>
                    <a:srgbClr val="FF0000"/>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2785" b="-341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46651" y="1648835"/>
                <a:ext cx="4605651" cy="2998578"/>
              </a:xfrm>
              <a:prstGeom prst="rect">
                <a:avLst/>
              </a:prstGeom>
            </p:spPr>
            <p:txBody>
              <a:bodyPr wrap="square">
                <a:spAutoFit/>
              </a:bodyPr>
              <a:lstStyle/>
              <a:p>
                <a:pPr>
                  <a:lnSpc>
                    <a:spcPct val="150000"/>
                  </a:lnSpc>
                </a:pPr>
                <a:r>
                  <a:rPr lang="en-US" sz="2800" dirty="0">
                    <a:solidFill>
                      <a:srgbClr val="002060"/>
                    </a:solidFill>
                  </a:rPr>
                  <a:t>Since </a:t>
                </a:r>
                <a14:m>
                  <m:oMath xmlns:m="http://schemas.openxmlformats.org/officeDocument/2006/math">
                    <m:r>
                      <m:rPr>
                        <m:sty m:val="p"/>
                      </m:rPr>
                      <a:rPr lang="en-US" sz="2800" b="0" i="1">
                        <a:solidFill>
                          <a:srgbClr val="002060"/>
                        </a:solidFill>
                        <a:latin typeface="Cambria Math" panose="02040503050406030204" pitchFamily="18" charset="0"/>
                        <a:ea typeface="Cambria Math" panose="02040503050406030204" pitchFamily="18" charset="0"/>
                      </a:rPr>
                      <m:t>θ</m:t>
                    </m:r>
                    <m:r>
                      <a:rPr lang="en-US" sz="2800" b="0">
                        <a:solidFill>
                          <a:srgbClr val="002060"/>
                        </a:solidFill>
                        <a:latin typeface="Cambria Math" panose="02040503050406030204" pitchFamily="18" charset="0"/>
                        <a:ea typeface="Cambria Math" panose="02040503050406030204" pitchFamily="18" charset="0"/>
                      </a:rPr>
                      <m:t>=</m:t>
                    </m:r>
                    <m:r>
                      <a:rPr lang="en-US" sz="2800" b="0" i="1">
                        <a:solidFill>
                          <a:srgbClr val="002060"/>
                        </a:solidFill>
                        <a:latin typeface="Cambria Math" panose="02040503050406030204" pitchFamily="18" charset="0"/>
                        <a:ea typeface="Cambria Math" panose="02040503050406030204" pitchFamily="18" charset="0"/>
                      </a:rPr>
                      <m:t>25</m:t>
                    </m:r>
                  </m:oMath>
                </a14:m>
                <a:r>
                  <a:rPr lang="en-US" sz="2800" dirty="0">
                    <a:solidFill>
                      <a:srgbClr val="002060"/>
                    </a:solidFill>
                  </a:rPr>
                  <a:t> per hours </a:t>
                </a:r>
              </a:p>
              <a:p>
                <a:pPr>
                  <a:lnSpc>
                    <a:spcPct val="150000"/>
                  </a:lnSpc>
                </a:pPr>
                <a14:m>
                  <m:oMath xmlns:m="http://schemas.openxmlformats.org/officeDocument/2006/math">
                    <m:r>
                      <a:rPr lang="en-US" sz="2800" i="1">
                        <a:solidFill>
                          <a:srgbClr val="002060"/>
                        </a:solidFill>
                        <a:latin typeface="Cambria Math" panose="02040503050406030204" pitchFamily="18" charset="0"/>
                        <a:ea typeface="Cambria Math" panose="02040503050406030204" pitchFamily="18" charset="0"/>
                      </a:rPr>
                      <m:t>⇒</m:t>
                    </m:r>
                    <m:r>
                      <m:rPr>
                        <m:sty m:val="p"/>
                      </m:rPr>
                      <a:rPr lang="en-US" sz="2800" i="1">
                        <a:solidFill>
                          <a:srgbClr val="002060"/>
                        </a:solidFill>
                        <a:latin typeface="Cambria Math" panose="02040503050406030204" pitchFamily="18" charset="0"/>
                        <a:ea typeface="Cambria Math" panose="02040503050406030204" pitchFamily="18" charset="0"/>
                      </a:rPr>
                      <m:t>θ</m:t>
                    </m:r>
                    <m:r>
                      <a:rPr lang="en-US" sz="2800" i="1">
                        <a:solidFill>
                          <a:srgbClr val="002060"/>
                        </a:solidFill>
                        <a:latin typeface="Cambria Math" panose="02040503050406030204" pitchFamily="18" charset="0"/>
                        <a:ea typeface="Cambria Math" panose="02040503050406030204" pitchFamily="18" charset="0"/>
                      </a:rPr>
                      <m:t>=</m:t>
                    </m:r>
                    <m:f>
                      <m:fPr>
                        <m:ctrlPr>
                          <a:rPr lang="en-IN"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25</m:t>
                        </m:r>
                      </m:num>
                      <m:den>
                        <m:r>
                          <a:rPr lang="en-US" sz="2800" i="1">
                            <a:solidFill>
                              <a:srgbClr val="002060"/>
                            </a:solidFill>
                            <a:latin typeface="Cambria Math" panose="02040503050406030204" pitchFamily="18" charset="0"/>
                            <a:ea typeface="Cambria Math" panose="02040503050406030204" pitchFamily="18" charset="0"/>
                          </a:rPr>
                          <m:t>60</m:t>
                        </m:r>
                      </m:den>
                    </m:f>
                  </m:oMath>
                </a14:m>
                <a:r>
                  <a:rPr lang="en-US" sz="2800" dirty="0">
                    <a:solidFill>
                      <a:srgbClr val="002060"/>
                    </a:solidFill>
                  </a:rPr>
                  <a:t> per minute</a:t>
                </a:r>
                <a:endParaRPr lang="en-IN" sz="2800" dirty="0">
                  <a:solidFill>
                    <a:srgbClr val="002060"/>
                  </a:solidFill>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ea typeface="Cambria Math" panose="02040503050406030204" pitchFamily="18" charset="0"/>
                        </a:rPr>
                        <m:t>P</m:t>
                      </m:r>
                      <m:d>
                        <m:dPr>
                          <m:ctrlPr>
                            <a:rPr lang="en-IN" sz="2800" i="1">
                              <a:solidFill>
                                <a:srgbClr val="002060"/>
                              </a:solidFill>
                              <a:latin typeface="Cambria Math" panose="02040503050406030204" pitchFamily="18" charset="0"/>
                              <a:ea typeface="Cambria Math" panose="02040503050406030204" pitchFamily="18" charset="0"/>
                            </a:rPr>
                          </m:ctrlPr>
                        </m:dPr>
                        <m:e>
                          <m:r>
                            <m:rPr>
                              <m:sty m:val="p"/>
                            </m:rPr>
                            <a:rPr lang="en-US" sz="2800" b="0" i="1">
                              <a:solidFill>
                                <a:srgbClr val="002060"/>
                              </a:solidFill>
                              <a:latin typeface="Cambria Math" panose="02040503050406030204" pitchFamily="18" charset="0"/>
                              <a:ea typeface="Cambria Math" panose="02040503050406030204" pitchFamily="18" charset="0"/>
                            </a:rPr>
                            <m:t>a</m:t>
                          </m:r>
                          <m:r>
                            <a:rPr lang="en-US" sz="2800" b="0">
                              <a:solidFill>
                                <a:srgbClr val="002060"/>
                              </a:solidFill>
                              <a:latin typeface="Cambria Math" panose="02040503050406030204" pitchFamily="18" charset="0"/>
                              <a:ea typeface="Cambria Math" panose="02040503050406030204" pitchFamily="18" charset="0"/>
                            </a:rPr>
                            <m:t>≤</m:t>
                          </m:r>
                          <m:r>
                            <m:rPr>
                              <m:sty m:val="p"/>
                            </m:rPr>
                            <a:rPr lang="en-US" sz="2800" b="0" i="1">
                              <a:solidFill>
                                <a:srgbClr val="002060"/>
                              </a:solidFill>
                              <a:latin typeface="Cambria Math" panose="02040503050406030204" pitchFamily="18" charset="0"/>
                              <a:ea typeface="Cambria Math" panose="02040503050406030204" pitchFamily="18" charset="0"/>
                            </a:rPr>
                            <m:t>X</m:t>
                          </m:r>
                          <m:r>
                            <a:rPr lang="en-US" sz="2800" b="0">
                              <a:solidFill>
                                <a:srgbClr val="002060"/>
                              </a:solidFill>
                              <a:latin typeface="Cambria Math" panose="02040503050406030204" pitchFamily="18" charset="0"/>
                              <a:ea typeface="Cambria Math" panose="02040503050406030204" pitchFamily="18" charset="0"/>
                            </a:rPr>
                            <m:t>≤</m:t>
                          </m:r>
                          <m:r>
                            <m:rPr>
                              <m:sty m:val="p"/>
                            </m:rPr>
                            <a:rPr lang="en-US" sz="2800" b="0" i="1">
                              <a:solidFill>
                                <a:srgbClr val="002060"/>
                              </a:solidFill>
                              <a:latin typeface="Cambria Math" panose="02040503050406030204" pitchFamily="18" charset="0"/>
                              <a:ea typeface="Cambria Math" panose="02040503050406030204" pitchFamily="18" charset="0"/>
                            </a:rPr>
                            <m:t>b</m:t>
                          </m:r>
                        </m:e>
                      </m:d>
                      <m:r>
                        <a:rPr lang="en-US" sz="2800" b="0">
                          <a:solidFill>
                            <a:srgbClr val="002060"/>
                          </a:solidFill>
                          <a:latin typeface="Cambria Math" panose="02040503050406030204" pitchFamily="18" charset="0"/>
                          <a:ea typeface="Cambria Math" panose="02040503050406030204" pitchFamily="18" charset="0"/>
                        </a:rPr>
                        <m:t>=</m:t>
                      </m:r>
                      <m:sSup>
                        <m:sSupPr>
                          <m:ctrlPr>
                            <a:rPr lang="en-IN" sz="2800" i="1">
                              <a:solidFill>
                                <a:srgbClr val="002060"/>
                              </a:solidFill>
                              <a:latin typeface="Cambria Math" panose="02040503050406030204" pitchFamily="18" charset="0"/>
                              <a:ea typeface="Cambria Math" panose="02040503050406030204" pitchFamily="18" charset="0"/>
                            </a:rPr>
                          </m:ctrlPr>
                        </m:sSupPr>
                        <m:e>
                          <m:r>
                            <m:rPr>
                              <m:sty m:val="p"/>
                            </m:rPr>
                            <a:rPr lang="en-US" sz="2800" b="0" i="1">
                              <a:solidFill>
                                <a:srgbClr val="002060"/>
                              </a:solidFill>
                              <a:latin typeface="Cambria Math" panose="02040503050406030204" pitchFamily="18" charset="0"/>
                              <a:ea typeface="Cambria Math" panose="02040503050406030204" pitchFamily="18" charset="0"/>
                            </a:rPr>
                            <m:t>e</m:t>
                          </m:r>
                        </m:e>
                        <m:sup>
                          <m:r>
                            <a:rPr lang="en-US" sz="2800" b="0">
                              <a:solidFill>
                                <a:srgbClr val="002060"/>
                              </a:solidFill>
                              <a:latin typeface="Cambria Math" panose="02040503050406030204" pitchFamily="18" charset="0"/>
                              <a:ea typeface="Cambria Math" panose="02040503050406030204" pitchFamily="18" charset="0"/>
                            </a:rPr>
                            <m:t>−</m:t>
                          </m:r>
                          <m:r>
                            <m:rPr>
                              <m:sty m:val="p"/>
                            </m:rPr>
                            <a:rPr lang="en-US" sz="2800" b="0" i="1">
                              <a:solidFill>
                                <a:srgbClr val="002060"/>
                              </a:solidFill>
                              <a:latin typeface="Cambria Math" panose="02040503050406030204" pitchFamily="18" charset="0"/>
                              <a:ea typeface="Cambria Math" panose="02040503050406030204" pitchFamily="18" charset="0"/>
                            </a:rPr>
                            <m:t>aθ</m:t>
                          </m:r>
                        </m:sup>
                      </m:sSup>
                      <m:r>
                        <a:rPr lang="en-US" sz="2800" b="0">
                          <a:solidFill>
                            <a:srgbClr val="002060"/>
                          </a:solidFill>
                          <a:latin typeface="Cambria Math" panose="02040503050406030204" pitchFamily="18" charset="0"/>
                          <a:ea typeface="Cambria Math" panose="02040503050406030204" pitchFamily="18" charset="0"/>
                        </a:rPr>
                        <m:t>−</m:t>
                      </m:r>
                      <m:sSup>
                        <m:sSupPr>
                          <m:ctrlPr>
                            <a:rPr lang="en-IN" sz="2800" i="1">
                              <a:solidFill>
                                <a:srgbClr val="002060"/>
                              </a:solidFill>
                              <a:latin typeface="Cambria Math" panose="02040503050406030204" pitchFamily="18" charset="0"/>
                              <a:ea typeface="Cambria Math" panose="02040503050406030204" pitchFamily="18" charset="0"/>
                            </a:rPr>
                          </m:ctrlPr>
                        </m:sSupPr>
                        <m:e>
                          <m:r>
                            <m:rPr>
                              <m:sty m:val="p"/>
                            </m:rPr>
                            <a:rPr lang="en-US" sz="2800" b="0" i="1">
                              <a:solidFill>
                                <a:srgbClr val="002060"/>
                              </a:solidFill>
                              <a:latin typeface="Cambria Math" panose="02040503050406030204" pitchFamily="18" charset="0"/>
                              <a:ea typeface="Cambria Math" panose="02040503050406030204" pitchFamily="18" charset="0"/>
                            </a:rPr>
                            <m:t>e</m:t>
                          </m:r>
                        </m:e>
                        <m:sup>
                          <m:r>
                            <a:rPr lang="en-US" sz="2800" b="0">
                              <a:solidFill>
                                <a:srgbClr val="002060"/>
                              </a:solidFill>
                              <a:latin typeface="Cambria Math" panose="02040503050406030204" pitchFamily="18" charset="0"/>
                              <a:ea typeface="Cambria Math" panose="02040503050406030204" pitchFamily="18" charset="0"/>
                            </a:rPr>
                            <m:t>−</m:t>
                          </m:r>
                          <m:r>
                            <m:rPr>
                              <m:sty m:val="p"/>
                            </m:rPr>
                            <a:rPr lang="en-US" sz="2800" b="0" i="1">
                              <a:solidFill>
                                <a:srgbClr val="002060"/>
                              </a:solidFill>
                              <a:latin typeface="Cambria Math" panose="02040503050406030204" pitchFamily="18" charset="0"/>
                              <a:ea typeface="Cambria Math" panose="02040503050406030204" pitchFamily="18" charset="0"/>
                            </a:rPr>
                            <m:t>bθ</m:t>
                          </m:r>
                        </m:sup>
                      </m:sSup>
                    </m:oMath>
                  </m:oMathPara>
                </a14:m>
                <a:endParaRPr lang="en-IN" sz="2800" dirty="0">
                  <a:solidFill>
                    <a:srgbClr val="002060"/>
                  </a:solidFill>
                  <a:latin typeface="Cambria Math" panose="02040503050406030204" pitchFamily="18" charset="0"/>
                  <a:ea typeface="Cambria Math" panose="02040503050406030204" pitchFamily="18" charset="0"/>
                </a:endParaRPr>
              </a:p>
              <a:p>
                <a:pPr>
                  <a:lnSpc>
                    <a:spcPct val="150000"/>
                  </a:lnSpc>
                </a:pPr>
                <a:r>
                  <a:rPr lang="en-US" sz="2800" dirty="0">
                    <a:solidFill>
                      <a:srgbClr val="002060"/>
                    </a:solidFill>
                  </a:rPr>
                  <a:t>Here </a:t>
                </a:r>
                <a14:m>
                  <m:oMath xmlns:m="http://schemas.openxmlformats.org/officeDocument/2006/math">
                    <m:r>
                      <m:rPr>
                        <m:sty m:val="p"/>
                      </m:rPr>
                      <a:rPr lang="en-US" sz="2800" i="0">
                        <a:solidFill>
                          <a:srgbClr val="002060"/>
                        </a:solidFill>
                        <a:latin typeface="Cambria Math" panose="02040503050406030204" pitchFamily="18" charset="0"/>
                        <a:ea typeface="Cambria Math" panose="02040503050406030204" pitchFamily="18" charset="0"/>
                      </a:rPr>
                      <m:t>a</m:t>
                    </m:r>
                    <m:r>
                      <a:rPr lang="en-US" sz="2800" i="0">
                        <a:solidFill>
                          <a:srgbClr val="002060"/>
                        </a:solidFill>
                        <a:latin typeface="Cambria Math" panose="02040503050406030204" pitchFamily="18" charset="0"/>
                        <a:ea typeface="Cambria Math" panose="02040503050406030204" pitchFamily="18" charset="0"/>
                      </a:rPr>
                      <m:t>=2 &amp; </m:t>
                    </m:r>
                    <m:r>
                      <m:rPr>
                        <m:sty m:val="p"/>
                      </m:rPr>
                      <a:rPr lang="en-US" sz="2800" i="0">
                        <a:solidFill>
                          <a:srgbClr val="002060"/>
                        </a:solidFill>
                        <a:latin typeface="Cambria Math" panose="02040503050406030204" pitchFamily="18" charset="0"/>
                        <a:ea typeface="Cambria Math" panose="02040503050406030204" pitchFamily="18" charset="0"/>
                      </a:rPr>
                      <m:t>b</m:t>
                    </m:r>
                    <m:r>
                      <a:rPr lang="en-US" sz="2800" i="0">
                        <a:solidFill>
                          <a:srgbClr val="002060"/>
                        </a:solidFill>
                        <a:latin typeface="Cambria Math" panose="02040503050406030204" pitchFamily="18" charset="0"/>
                        <a:ea typeface="Cambria Math" panose="02040503050406030204" pitchFamily="18" charset="0"/>
                      </a:rPr>
                      <m:t>=3</m:t>
                    </m:r>
                  </m:oMath>
                </a14:m>
                <a:endParaRPr lang="en-IN" sz="2800" dirty="0">
                  <a:solidFill>
                    <a:srgbClr val="00206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46651" y="1648835"/>
                <a:ext cx="4605651" cy="2998578"/>
              </a:xfrm>
              <a:prstGeom prst="rect">
                <a:avLst/>
              </a:prstGeom>
              <a:blipFill rotWithShape="0">
                <a:blip r:embed="rId3"/>
                <a:stretch>
                  <a:fillRect l="-2646" b="-20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253536" y="1365500"/>
                <a:ext cx="6337452" cy="3959482"/>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smtClean="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3</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1">
                                  <a:solidFill>
                                    <a:srgbClr val="002060"/>
                                  </a:solidFill>
                                  <a:latin typeface="Cambria Math" panose="02040503050406030204" pitchFamily="18" charset="0"/>
                                </a:rPr>
                                <m:t>25</m:t>
                              </m:r>
                            </m:num>
                            <m:den>
                              <m:r>
                                <a:rPr lang="en-US" sz="2800" b="0" i="1">
                                  <a:solidFill>
                                    <a:srgbClr val="002060"/>
                                  </a:solidFill>
                                  <a:latin typeface="Cambria Math" panose="02040503050406030204" pitchFamily="18" charset="0"/>
                                </a:rPr>
                                <m:t>60</m:t>
                              </m:r>
                            </m:den>
                          </m:f>
                        </m:sup>
                      </m:sSup>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3</m:t>
                          </m:r>
                          <m:r>
                            <a:rPr lang="en-US" sz="2800" b="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1">
                                  <a:solidFill>
                                    <a:srgbClr val="002060"/>
                                  </a:solidFill>
                                  <a:latin typeface="Cambria Math" panose="02040503050406030204" pitchFamily="18" charset="0"/>
                                </a:rPr>
                                <m:t>25</m:t>
                              </m:r>
                            </m:num>
                            <m:den>
                              <m:r>
                                <a:rPr lang="en-US" sz="2800" b="0" i="1">
                                  <a:solidFill>
                                    <a:srgbClr val="002060"/>
                                  </a:solidFill>
                                  <a:latin typeface="Cambria Math" panose="02040503050406030204" pitchFamily="18" charset="0"/>
                                </a:rPr>
                                <m:t>60</m:t>
                              </m:r>
                            </m:den>
                          </m:f>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3</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1">
                                  <a:solidFill>
                                    <a:srgbClr val="002060"/>
                                  </a:solidFill>
                                  <a:latin typeface="Cambria Math" panose="02040503050406030204" pitchFamily="18" charset="0"/>
                                </a:rPr>
                                <m:t>25</m:t>
                              </m:r>
                            </m:num>
                            <m:den>
                              <m:r>
                                <a:rPr lang="en-US" sz="2800" b="0" i="1">
                                  <a:solidFill>
                                    <a:srgbClr val="002060"/>
                                  </a:solidFill>
                                  <a:latin typeface="Cambria Math" panose="02040503050406030204" pitchFamily="18" charset="0"/>
                                </a:rPr>
                                <m:t>60</m:t>
                              </m:r>
                            </m:den>
                          </m:f>
                        </m:sup>
                      </m:sSup>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3</m:t>
                          </m:r>
                          <m:r>
                            <a:rPr lang="en-US" sz="2800" b="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1">
                                  <a:solidFill>
                                    <a:srgbClr val="002060"/>
                                  </a:solidFill>
                                  <a:latin typeface="Cambria Math" panose="02040503050406030204" pitchFamily="18" charset="0"/>
                                </a:rPr>
                                <m:t>25</m:t>
                              </m:r>
                            </m:num>
                            <m:den>
                              <m:r>
                                <a:rPr lang="en-US" sz="2800" b="0" i="1">
                                  <a:solidFill>
                                    <a:srgbClr val="002060"/>
                                  </a:solidFill>
                                  <a:latin typeface="Cambria Math" panose="02040503050406030204" pitchFamily="18" charset="0"/>
                                </a:rPr>
                                <m:t>60</m:t>
                              </m:r>
                            </m:den>
                          </m:f>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3</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833333</m:t>
                          </m:r>
                          <m:r>
                            <a:rPr lang="en-US" sz="2800" b="0">
                              <a:solidFill>
                                <a:srgbClr val="002060"/>
                              </a:solidFill>
                              <a:latin typeface="Cambria Math" panose="02040503050406030204" pitchFamily="18" charset="0"/>
                            </a:rPr>
                            <m:t>)</m:t>
                          </m:r>
                        </m:sup>
                      </m:sSup>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25</m:t>
                          </m:r>
                          <m:r>
                            <a:rPr lang="en-US" sz="2800" b="0">
                              <a:solidFill>
                                <a:srgbClr val="002060"/>
                              </a:solidFill>
                              <a:latin typeface="Cambria Math" panose="02040503050406030204" pitchFamily="18" charset="0"/>
                            </a:rPr>
                            <m:t>)</m:t>
                          </m:r>
                        </m:sup>
                      </m:sSup>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3</m:t>
                          </m:r>
                        </m:e>
                      </m:d>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434598</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0</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286504</m:t>
                      </m:r>
                    </m:oMath>
                  </m:oMathPara>
                </a14:m>
                <a:endParaRPr lang="en-IN" sz="2800" b="0" i="1"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𝟐</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𝟑</m:t>
                          </m:r>
                        </m:e>
                      </m:d>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𝟏𝟒𝟖𝟏</m:t>
                      </m:r>
                    </m:oMath>
                  </m:oMathPara>
                </a14:m>
                <a:endParaRPr lang="en-IN" sz="2800" b="1" dirty="0">
                  <a:solidFill>
                    <a:srgbClr val="FF0000"/>
                  </a:solidFill>
                  <a:latin typeface="Cambria Math" panose="020405030504060302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5253536" y="1365500"/>
                <a:ext cx="6337452" cy="3959482"/>
              </a:xfrm>
              <a:prstGeom prst="rect">
                <a:avLst/>
              </a:prstGeom>
              <a:blipFill rotWithShape="0">
                <a:blip r:embed="rId4"/>
                <a:stretch>
                  <a:fillRect/>
                </a:stretch>
              </a:blipFill>
            </p:spPr>
            <p:txBody>
              <a:bodyPr/>
              <a:lstStyle/>
              <a:p>
                <a:r>
                  <a:rPr lang="en-IN">
                    <a:noFill/>
                  </a:rPr>
                  <a:t> </a:t>
                </a:r>
              </a:p>
            </p:txBody>
          </p:sp>
        </mc:Fallback>
      </mc:AlternateContent>
      <p:cxnSp>
        <p:nvCxnSpPr>
          <p:cNvPr id="7" name="Straight Connector 6"/>
          <p:cNvCxnSpPr/>
          <p:nvPr/>
        </p:nvCxnSpPr>
        <p:spPr>
          <a:xfrm>
            <a:off x="4932608" y="1278416"/>
            <a:ext cx="0" cy="521253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302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17564"/>
                <a:ext cx="11929643" cy="1861242"/>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random variable has an exponential distribution with probability density function given by</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=3</m:t>
                    </m:r>
                    <m:sSup>
                      <m:sSupPr>
                        <m:ctrlPr>
                          <a:rPr lang="en-IN" i="1">
                            <a:latin typeface="Cambria Math" panose="02040503050406030204" pitchFamily="18" charset="0"/>
                          </a:rPr>
                        </m:ctrlPr>
                      </m:sSupPr>
                      <m:e>
                        <m:r>
                          <m:rPr>
                            <m:sty m:val="p"/>
                          </m:rPr>
                          <a:rPr lang="en-US">
                            <a:latin typeface="Cambria Math" panose="02040503050406030204" pitchFamily="18" charset="0"/>
                          </a:rPr>
                          <m:t>e</m:t>
                        </m:r>
                      </m:e>
                      <m:sup>
                        <m:r>
                          <a:rPr lang="en-US" i="1">
                            <a:latin typeface="Cambria Math" panose="02040503050406030204" pitchFamily="18" charset="0"/>
                          </a:rPr>
                          <m:t>−</m:t>
                        </m:r>
                        <m:r>
                          <a:rPr lang="en-US">
                            <a:latin typeface="Cambria Math" panose="02040503050406030204" pitchFamily="18" charset="0"/>
                          </a:rPr>
                          <m:t>3</m:t>
                        </m:r>
                        <m:r>
                          <m:rPr>
                            <m:sty m:val="p"/>
                          </m:rPr>
                          <a:rPr lang="en-US">
                            <a:latin typeface="Cambria Math" panose="02040503050406030204" pitchFamily="18" charset="0"/>
                          </a:rPr>
                          <m:t>x</m:t>
                        </m:r>
                      </m:sup>
                    </m:sSup>
                    <m:r>
                      <a:rPr lang="en-US">
                        <a:latin typeface="Cambria Math" panose="02040503050406030204" pitchFamily="18" charset="0"/>
                      </a:rPr>
                      <m:t> ;</m:t>
                    </m:r>
                    <m:r>
                      <m:rPr>
                        <m:sty m:val="p"/>
                      </m:rPr>
                      <a:rPr lang="en-US">
                        <a:latin typeface="Cambria Math" panose="02040503050406030204" pitchFamily="18" charset="0"/>
                      </a:rPr>
                      <m:t>x</m:t>
                    </m:r>
                    <m:r>
                      <a:rPr lang="en-US">
                        <a:latin typeface="Cambria Math" panose="02040503050406030204" pitchFamily="18" charset="0"/>
                      </a:rPr>
                      <m:t>&gt;0  &amp;  </m:t>
                    </m:r>
                    <m:r>
                      <m:rPr>
                        <m:sty m:val="p"/>
                      </m:rPr>
                      <a:rPr lang="en-US">
                        <a:latin typeface="Cambria Math" panose="02040503050406030204" pitchFamily="18" charset="0"/>
                      </a:rPr>
                      <m:t>f</m:t>
                    </m:r>
                    <m:d>
                      <m:dPr>
                        <m:ctrlPr>
                          <a:rPr lang="en-IN"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=0 ;</m:t>
                    </m:r>
                    <m:r>
                      <m:rPr>
                        <m:sty m:val="p"/>
                      </m:rPr>
                      <a:rPr lang="en-US">
                        <a:latin typeface="Cambria Math" panose="02040503050406030204" pitchFamily="18" charset="0"/>
                      </a:rPr>
                      <m:t>x</m:t>
                    </m:r>
                    <m:r>
                      <a:rPr lang="en-US">
                        <a:latin typeface="Cambria Math" panose="02040503050406030204" pitchFamily="18" charset="0"/>
                      </a:rPr>
                      <m:t>≤0</m:t>
                    </m:r>
                  </m:oMath>
                </a14:m>
                <a:r>
                  <a:rPr lang="en-US" dirty="0"/>
                  <a:t>. </a:t>
                </a:r>
              </a:p>
              <a:p>
                <a:r>
                  <a:rPr lang="en-US" dirty="0"/>
                  <a:t>What is the probability that X is not less than 4?</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17564"/>
                <a:ext cx="11929643" cy="1861242"/>
              </a:xfrm>
              <a:prstGeom prst="rect">
                <a:avLst/>
              </a:prstGeom>
              <a:blipFill rotWithShape="0">
                <a:blip r:embed="rId2"/>
                <a:stretch>
                  <a:fillRect l="-1074" r="-1074" b="-1016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5</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2834042"/>
            <a:ext cx="1478559"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30" y="2724858"/>
                <a:ext cx="6627196" cy="398949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buNone/>
                </a:pPr>
                <a:r>
                  <a:rPr lang="en-US" dirty="0">
                    <a:solidFill>
                      <a:schemeClr val="tx2">
                        <a:lumMod val="50000"/>
                      </a:schemeClr>
                    </a:solidFill>
                  </a:rPr>
                  <a:t>P.D.F. given by </a:t>
                </a:r>
                <a14:m>
                  <m:oMath xmlns:m="http://schemas.openxmlformats.org/officeDocument/2006/math">
                    <m:r>
                      <m:rPr>
                        <m:sty m:val="p"/>
                      </m:rPr>
                      <a:rPr lang="en-US" b="0" i="0">
                        <a:solidFill>
                          <a:srgbClr val="002060"/>
                        </a:solidFill>
                        <a:latin typeface="Cambria Math" panose="02040503050406030204" pitchFamily="18" charset="0"/>
                      </a:rPr>
                      <m:t>f</m:t>
                    </m:r>
                    <m:d>
                      <m:dPr>
                        <m:ctrlPr>
                          <a:rPr lang="en-IN" i="1">
                            <a:solidFill>
                              <a:srgbClr val="002060"/>
                            </a:solidFill>
                            <a:latin typeface="Cambria Math" panose="02040503050406030204" pitchFamily="18" charset="0"/>
                          </a:rPr>
                        </m:ctrlPr>
                      </m:dPr>
                      <m:e>
                        <m:r>
                          <m:rPr>
                            <m:sty m:val="p"/>
                          </m:rPr>
                          <a:rPr lang="en-US" b="0" i="0">
                            <a:solidFill>
                              <a:srgbClr val="002060"/>
                            </a:solidFill>
                            <a:latin typeface="Cambria Math" panose="02040503050406030204" pitchFamily="18" charset="0"/>
                          </a:rPr>
                          <m:t>x</m:t>
                        </m:r>
                      </m:e>
                    </m:d>
                    <m:r>
                      <a:rPr lang="en-US" b="0" i="0">
                        <a:solidFill>
                          <a:srgbClr val="002060"/>
                        </a:solidFill>
                        <a:latin typeface="Cambria Math" panose="02040503050406030204" pitchFamily="18" charset="0"/>
                      </a:rPr>
                      <m:t>=</m:t>
                    </m:r>
                    <m:d>
                      <m:dPr>
                        <m:begChr m:val="{"/>
                        <m:endChr m:val=""/>
                        <m:ctrlPr>
                          <a:rPr lang="en-IN" i="1">
                            <a:solidFill>
                              <a:srgbClr val="002060"/>
                            </a:solidFill>
                            <a:latin typeface="Cambria Math" panose="02040503050406030204" pitchFamily="18" charset="0"/>
                          </a:rPr>
                        </m:ctrlPr>
                      </m:dPr>
                      <m:e>
                        <m:r>
                          <a:rPr lang="en-US" b="0" i="0">
                            <a:solidFill>
                              <a:srgbClr val="002060"/>
                            </a:solidFill>
                            <a:latin typeface="Cambria Math" panose="02040503050406030204" pitchFamily="18" charset="0"/>
                          </a:rPr>
                          <m:t> </m:t>
                        </m:r>
                        <m:eqArr>
                          <m:eqArrPr>
                            <m:ctrlPr>
                              <a:rPr lang="en-IN" i="1">
                                <a:solidFill>
                                  <a:srgbClr val="002060"/>
                                </a:solidFill>
                                <a:latin typeface="Cambria Math" panose="02040503050406030204" pitchFamily="18" charset="0"/>
                              </a:rPr>
                            </m:ctrlPr>
                          </m:eqArrPr>
                          <m:e>
                            <m:r>
                              <a:rPr lang="en-US" b="0" i="0">
                                <a:solidFill>
                                  <a:srgbClr val="002060"/>
                                </a:solidFill>
                                <a:latin typeface="Cambria Math" panose="02040503050406030204" pitchFamily="18" charset="0"/>
                              </a:rPr>
                              <m:t>3</m:t>
                            </m:r>
                            <m:sSup>
                              <m:sSupPr>
                                <m:ctrlPr>
                                  <a:rPr lang="en-IN" i="1">
                                    <a:solidFill>
                                      <a:srgbClr val="002060"/>
                                    </a:solidFill>
                                    <a:latin typeface="Cambria Math" panose="02040503050406030204" pitchFamily="18" charset="0"/>
                                  </a:rPr>
                                </m:ctrlPr>
                              </m:sSupPr>
                              <m:e>
                                <m:r>
                                  <m:rPr>
                                    <m:sty m:val="p"/>
                                  </m:rPr>
                                  <a:rPr lang="en-US" b="0" i="0">
                                    <a:solidFill>
                                      <a:srgbClr val="002060"/>
                                    </a:solidFill>
                                    <a:latin typeface="Cambria Math" panose="02040503050406030204" pitchFamily="18" charset="0"/>
                                  </a:rPr>
                                  <m:t>e</m:t>
                                </m:r>
                              </m:e>
                              <m:sup>
                                <m:r>
                                  <a:rPr lang="en-US" b="0" i="0">
                                    <a:solidFill>
                                      <a:srgbClr val="002060"/>
                                    </a:solidFill>
                                    <a:latin typeface="Cambria Math" panose="02040503050406030204" pitchFamily="18" charset="0"/>
                                  </a:rPr>
                                  <m:t>−3</m:t>
                                </m:r>
                                <m:r>
                                  <m:rPr>
                                    <m:sty m:val="p"/>
                                  </m:rPr>
                                  <a:rPr lang="en-US" b="0" i="0">
                                    <a:solidFill>
                                      <a:srgbClr val="002060"/>
                                    </a:solidFill>
                                    <a:latin typeface="Cambria Math" panose="02040503050406030204" pitchFamily="18" charset="0"/>
                                  </a:rPr>
                                  <m:t>x</m:t>
                                </m:r>
                              </m:sup>
                            </m:sSup>
                            <m:r>
                              <a:rPr lang="en-US" b="0" i="0">
                                <a:solidFill>
                                  <a:srgbClr val="002060"/>
                                </a:solidFill>
                                <a:latin typeface="Cambria Math" panose="02040503050406030204" pitchFamily="18" charset="0"/>
                              </a:rPr>
                              <m:t>         &amp;; </m:t>
                            </m:r>
                            <m:r>
                              <m:rPr>
                                <m:sty m:val="p"/>
                              </m:rPr>
                              <a:rPr lang="en-US" b="0" i="0">
                                <a:solidFill>
                                  <a:srgbClr val="002060"/>
                                </a:solidFill>
                                <a:latin typeface="Cambria Math" panose="02040503050406030204" pitchFamily="18" charset="0"/>
                              </a:rPr>
                              <m:t>x</m:t>
                            </m:r>
                            <m:r>
                              <a:rPr lang="en-US" b="0" i="0">
                                <a:solidFill>
                                  <a:srgbClr val="002060"/>
                                </a:solidFill>
                                <a:latin typeface="Cambria Math" panose="02040503050406030204" pitchFamily="18" charset="0"/>
                              </a:rPr>
                              <m:t>&gt;0</m:t>
                            </m:r>
                          </m:e>
                          <m:e/>
                          <m:e>
                            <m:r>
                              <a:rPr lang="en-US" b="0" i="0">
                                <a:solidFill>
                                  <a:srgbClr val="002060"/>
                                </a:solidFill>
                                <a:latin typeface="Cambria Math" panose="02040503050406030204" pitchFamily="18" charset="0"/>
                              </a:rPr>
                              <m:t>0           &amp;; </m:t>
                            </m:r>
                            <m:r>
                              <m:rPr>
                                <m:sty m:val="p"/>
                              </m:rPr>
                              <a:rPr lang="en-US" b="0" i="0">
                                <a:solidFill>
                                  <a:srgbClr val="002060"/>
                                </a:solidFill>
                                <a:latin typeface="Cambria Math" panose="02040503050406030204" pitchFamily="18" charset="0"/>
                              </a:rPr>
                              <m:t>x</m:t>
                            </m:r>
                            <m:r>
                              <a:rPr lang="en-US" b="0" i="0">
                                <a:solidFill>
                                  <a:srgbClr val="002060"/>
                                </a:solidFill>
                                <a:latin typeface="Cambria Math" panose="02040503050406030204" pitchFamily="18" charset="0"/>
                              </a:rPr>
                              <m:t>≤0</m:t>
                            </m:r>
                          </m:e>
                        </m:eqArr>
                      </m:e>
                    </m:d>
                  </m:oMath>
                </a14:m>
                <a:endParaRPr lang="en-IN" dirty="0">
                  <a:solidFill>
                    <a:srgbClr val="002060"/>
                  </a:solidFill>
                  <a:latin typeface="Cambria Math" panose="02040503050406030204" pitchFamily="18" charset="0"/>
                </a:endParaRPr>
              </a:p>
              <a:p>
                <a:pPr marL="0" indent="0" algn="l">
                  <a:lnSpc>
                    <a:spcPct val="150000"/>
                  </a:lnSpc>
                  <a:buNone/>
                </a:pPr>
                <a:r>
                  <a:rPr lang="en-US" dirty="0">
                    <a:solidFill>
                      <a:schemeClr val="tx2">
                        <a:lumMod val="50000"/>
                      </a:schemeClr>
                    </a:solidFill>
                  </a:rPr>
                  <a:t>Comparing with </a:t>
                </a:r>
                <a14:m>
                  <m:oMath xmlns:m="http://schemas.openxmlformats.org/officeDocument/2006/math">
                    <m:r>
                      <m:rPr>
                        <m:sty m:val="p"/>
                      </m:rPr>
                      <a:rPr lang="en-US" i="0">
                        <a:solidFill>
                          <a:srgbClr val="002060"/>
                        </a:solidFill>
                        <a:latin typeface="Cambria Math" panose="02040503050406030204" pitchFamily="18" charset="0"/>
                      </a:rPr>
                      <m:t>f</m:t>
                    </m:r>
                    <m:d>
                      <m:dPr>
                        <m:ctrlPr>
                          <a:rPr lang="en-IN" i="1">
                            <a:solidFill>
                              <a:srgbClr val="002060"/>
                            </a:solidFill>
                            <a:latin typeface="Cambria Math" panose="02040503050406030204" pitchFamily="18" charset="0"/>
                          </a:rPr>
                        </m:ctrlPr>
                      </m:dPr>
                      <m:e>
                        <m:r>
                          <m:rPr>
                            <m:sty m:val="p"/>
                          </m:rPr>
                          <a:rPr lang="en-US" i="0">
                            <a:solidFill>
                              <a:srgbClr val="002060"/>
                            </a:solidFill>
                            <a:latin typeface="Cambria Math" panose="02040503050406030204" pitchFamily="18" charset="0"/>
                          </a:rPr>
                          <m:t>x</m:t>
                        </m:r>
                      </m:e>
                    </m:d>
                    <m:r>
                      <a:rPr lang="en-US" i="0">
                        <a:solidFill>
                          <a:srgbClr val="002060"/>
                        </a:solidFill>
                        <a:latin typeface="Cambria Math" panose="02040503050406030204" pitchFamily="18" charset="0"/>
                      </a:rPr>
                      <m:t>=</m:t>
                    </m:r>
                    <m:d>
                      <m:dPr>
                        <m:begChr m:val="{"/>
                        <m:endChr m:val=""/>
                        <m:ctrlPr>
                          <a:rPr lang="en-IN" i="1">
                            <a:solidFill>
                              <a:srgbClr val="002060"/>
                            </a:solidFill>
                            <a:latin typeface="Cambria Math" panose="02040503050406030204" pitchFamily="18" charset="0"/>
                          </a:rPr>
                        </m:ctrlPr>
                      </m:dPr>
                      <m:e>
                        <m:r>
                          <a:rPr lang="en-US" i="0">
                            <a:solidFill>
                              <a:srgbClr val="002060"/>
                            </a:solidFill>
                            <a:latin typeface="Cambria Math" panose="02040503050406030204" pitchFamily="18" charset="0"/>
                          </a:rPr>
                          <m:t> </m:t>
                        </m:r>
                        <m:eqArr>
                          <m:eqArrPr>
                            <m:ctrlPr>
                              <a:rPr lang="en-IN" i="1">
                                <a:solidFill>
                                  <a:srgbClr val="002060"/>
                                </a:solidFill>
                                <a:latin typeface="Cambria Math" panose="02040503050406030204" pitchFamily="18" charset="0"/>
                              </a:rPr>
                            </m:ctrlPr>
                          </m:eqArrPr>
                          <m:e>
                            <m:r>
                              <m:rPr>
                                <m:sty m:val="p"/>
                              </m:rPr>
                              <a:rPr lang="en-US" i="0">
                                <a:solidFill>
                                  <a:srgbClr val="002060"/>
                                </a:solidFill>
                                <a:latin typeface="Cambria Math" panose="02040503050406030204" pitchFamily="18" charset="0"/>
                              </a:rPr>
                              <m:t>θ</m:t>
                            </m:r>
                            <m:sSup>
                              <m:sSupPr>
                                <m:ctrlPr>
                                  <a:rPr lang="en-IN" i="1">
                                    <a:solidFill>
                                      <a:srgbClr val="002060"/>
                                    </a:solidFill>
                                    <a:latin typeface="Cambria Math" panose="02040503050406030204" pitchFamily="18" charset="0"/>
                                  </a:rPr>
                                </m:ctrlPr>
                              </m:sSupPr>
                              <m:e>
                                <m:r>
                                  <m:rPr>
                                    <m:sty m:val="p"/>
                                  </m:rPr>
                                  <a:rPr lang="en-US" i="0">
                                    <a:solidFill>
                                      <a:srgbClr val="002060"/>
                                    </a:solidFill>
                                    <a:latin typeface="Cambria Math" panose="02040503050406030204" pitchFamily="18" charset="0"/>
                                  </a:rPr>
                                  <m:t>e</m:t>
                                </m:r>
                              </m:e>
                              <m:sup>
                                <m:r>
                                  <a:rPr lang="en-US" i="0">
                                    <a:solidFill>
                                      <a:srgbClr val="002060"/>
                                    </a:solidFill>
                                    <a:latin typeface="Cambria Math" panose="02040503050406030204" pitchFamily="18" charset="0"/>
                                  </a:rPr>
                                  <m:t>−</m:t>
                                </m:r>
                                <m:r>
                                  <m:rPr>
                                    <m:sty m:val="p"/>
                                  </m:rPr>
                                  <a:rPr lang="en-US" i="0">
                                    <a:solidFill>
                                      <a:srgbClr val="002060"/>
                                    </a:solidFill>
                                    <a:latin typeface="Cambria Math" panose="02040503050406030204" pitchFamily="18" charset="0"/>
                                  </a:rPr>
                                  <m:t>θx</m:t>
                                </m:r>
                              </m:sup>
                            </m:sSup>
                            <m:r>
                              <a:rPr lang="en-US" i="0">
                                <a:solidFill>
                                  <a:srgbClr val="002060"/>
                                </a:solidFill>
                                <a:latin typeface="Cambria Math" panose="02040503050406030204" pitchFamily="18" charset="0"/>
                              </a:rPr>
                              <m:t>         &amp;; </m:t>
                            </m:r>
                            <m:r>
                              <m:rPr>
                                <m:sty m:val="p"/>
                              </m:rPr>
                              <a:rPr lang="en-US" i="0">
                                <a:solidFill>
                                  <a:srgbClr val="002060"/>
                                </a:solidFill>
                                <a:latin typeface="Cambria Math" panose="02040503050406030204" pitchFamily="18" charset="0"/>
                              </a:rPr>
                              <m:t>x</m:t>
                            </m:r>
                            <m:r>
                              <a:rPr lang="en-US" i="0">
                                <a:solidFill>
                                  <a:srgbClr val="002060"/>
                                </a:solidFill>
                                <a:latin typeface="Cambria Math" panose="02040503050406030204" pitchFamily="18" charset="0"/>
                              </a:rPr>
                              <m:t>&gt;0</m:t>
                            </m:r>
                          </m:e>
                          <m:e/>
                          <m:e>
                            <m:r>
                              <a:rPr lang="en-US" i="0">
                                <a:solidFill>
                                  <a:srgbClr val="002060"/>
                                </a:solidFill>
                                <a:latin typeface="Cambria Math" panose="02040503050406030204" pitchFamily="18" charset="0"/>
                              </a:rPr>
                              <m:t>0           &amp;; </m:t>
                            </m:r>
                            <m:r>
                              <m:rPr>
                                <m:sty m:val="p"/>
                              </m:rPr>
                              <a:rPr lang="en-US" i="0">
                                <a:solidFill>
                                  <a:srgbClr val="002060"/>
                                </a:solidFill>
                                <a:latin typeface="Cambria Math" panose="02040503050406030204" pitchFamily="18" charset="0"/>
                              </a:rPr>
                              <m:t>x</m:t>
                            </m:r>
                            <m:r>
                              <a:rPr lang="en-US" i="0">
                                <a:solidFill>
                                  <a:srgbClr val="002060"/>
                                </a:solidFill>
                                <a:latin typeface="Cambria Math" panose="02040503050406030204" pitchFamily="18" charset="0"/>
                              </a:rPr>
                              <m:t>≤0</m:t>
                            </m:r>
                          </m:e>
                        </m:eqArr>
                      </m:e>
                    </m:d>
                  </m:oMath>
                </a14:m>
                <a:endParaRPr lang="en-IN" dirty="0">
                  <a:solidFill>
                    <a:srgbClr val="00206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30" y="2724858"/>
                <a:ext cx="6627196" cy="3989490"/>
              </a:xfrm>
              <a:prstGeom prst="rect">
                <a:avLst/>
              </a:prstGeom>
              <a:blipFill rotWithShape="0">
                <a:blip r:embed="rId3"/>
                <a:stretch>
                  <a:fillRect l="-184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9283661" y="4211504"/>
                <a:ext cx="2436113" cy="523220"/>
              </a:xfrm>
              <a:prstGeom prst="rect">
                <a:avLst/>
              </a:prstGeom>
            </p:spPr>
            <p:txBody>
              <a:bodyPr wrap="square">
                <a:spAutoFit/>
              </a:bodyPr>
              <a:lstStyle/>
              <a:p>
                <a:pPr algn="just">
                  <a:spcBef>
                    <a:spcPts val="1200"/>
                  </a:spcBef>
                  <a:spcAft>
                    <a:spcPts val="0"/>
                  </a:spcAft>
                  <a:tabLst>
                    <a:tab pos="447675" algn="l"/>
                  </a:tabLst>
                </a:pPr>
                <a:r>
                  <a:rPr lang="en-US" sz="2800" dirty="0">
                    <a:solidFill>
                      <a:schemeClr val="tx2">
                        <a:lumMod val="50000"/>
                      </a:schemeClr>
                    </a:solidFill>
                  </a:rPr>
                  <a:t>We get </a:t>
                </a:r>
                <a14:m>
                  <m:oMath xmlns:m="http://schemas.openxmlformats.org/officeDocument/2006/math">
                    <m:r>
                      <m:rPr>
                        <m:sty m:val="p"/>
                      </m:rPr>
                      <a:rPr lang="en-US" sz="2800" b="0" i="1">
                        <a:solidFill>
                          <a:srgbClr val="002060"/>
                        </a:solidFill>
                        <a:latin typeface="Cambria Math" panose="02040503050406030204" pitchFamily="18" charset="0"/>
                      </a:rPr>
                      <m:t>θ</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3</m:t>
                    </m:r>
                  </m:oMath>
                </a14:m>
                <a:endParaRPr lang="en-IN" sz="2800"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283661" y="4211504"/>
                <a:ext cx="2436113" cy="523220"/>
              </a:xfrm>
              <a:prstGeom prst="rect">
                <a:avLst/>
              </a:prstGeom>
              <a:blipFill rotWithShape="0">
                <a:blip r:embed="rId4"/>
                <a:stretch>
                  <a:fillRect l="-5250" t="-11628" b="-32558"/>
                </a:stretch>
              </a:blipFill>
            </p:spPr>
            <p:txBody>
              <a:bodyPr/>
              <a:lstStyle/>
              <a:p>
                <a:r>
                  <a:rPr lang="en-IN">
                    <a:noFill/>
                  </a:rPr>
                  <a:t> </a:t>
                </a:r>
              </a:p>
            </p:txBody>
          </p:sp>
        </mc:Fallback>
      </mc:AlternateContent>
      <p:cxnSp>
        <p:nvCxnSpPr>
          <p:cNvPr id="8" name="Straight Connector 7"/>
          <p:cNvCxnSpPr/>
          <p:nvPr/>
        </p:nvCxnSpPr>
        <p:spPr>
          <a:xfrm>
            <a:off x="9059752" y="2834042"/>
            <a:ext cx="50118" cy="371915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92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dirty="0">
                    <a:solidFill>
                      <a:srgbClr val="FF0000"/>
                    </a:solidFill>
                  </a:rPr>
                  <a:t>To find the probability that random variable </a:t>
                </a:r>
                <a14:m>
                  <m:oMath xmlns:m="http://schemas.openxmlformats.org/officeDocument/2006/math">
                    <m:r>
                      <m:rPr>
                        <m:sty m:val="p"/>
                      </m:rPr>
                      <a:rPr lang="en-US" b="0" i="1">
                        <a:solidFill>
                          <a:srgbClr val="FF0000"/>
                        </a:solidFill>
                        <a:latin typeface="Cambria Math" panose="02040503050406030204" pitchFamily="18" charset="0"/>
                      </a:rPr>
                      <m:t>X</m:t>
                    </m:r>
                  </m:oMath>
                </a14:m>
                <a:r>
                  <a:rPr lang="en-US" dirty="0">
                    <a:solidFill>
                      <a:srgbClr val="FF0000"/>
                    </a:solidFill>
                  </a:rPr>
                  <a:t> is not less than 4, </a:t>
                </a:r>
                <a14:m>
                  <m:oMath xmlns:m="http://schemas.openxmlformats.org/officeDocument/2006/math">
                    <m:r>
                      <a:rPr lang="en-US" b="0">
                        <a:solidFill>
                          <a:srgbClr val="FF0000"/>
                        </a:solidFill>
                        <a:latin typeface="Cambria Math" panose="02040503050406030204" pitchFamily="18" charset="0"/>
                      </a:rPr>
                      <m:t>(</m:t>
                    </m:r>
                    <m:r>
                      <m:rPr>
                        <m:sty m:val="p"/>
                      </m:rPr>
                      <a:rPr lang="en-US" b="0" i="1">
                        <a:solidFill>
                          <a:srgbClr val="FF0000"/>
                        </a:solidFill>
                        <a:latin typeface="Cambria Math" panose="02040503050406030204" pitchFamily="18" charset="0"/>
                      </a:rPr>
                      <m:t>x</m:t>
                    </m:r>
                    <m:r>
                      <a:rPr lang="en-US" b="0">
                        <a:solidFill>
                          <a:srgbClr val="FF0000"/>
                        </a:solidFill>
                        <a:latin typeface="Cambria Math" panose="02040503050406030204" pitchFamily="18" charset="0"/>
                      </a:rPr>
                      <m:t>≮</m:t>
                    </m:r>
                    <m:r>
                      <a:rPr lang="en-US" b="0" i="1">
                        <a:solidFill>
                          <a:srgbClr val="FF0000"/>
                        </a:solidFill>
                        <a:latin typeface="Cambria Math" panose="02040503050406030204" pitchFamily="18" charset="0"/>
                      </a:rPr>
                      <m:t>4</m:t>
                    </m:r>
                    <m:r>
                      <a:rPr lang="en-US" b="0">
                        <a:solidFill>
                          <a:srgbClr val="FF0000"/>
                        </a:solidFill>
                        <a:latin typeface="Cambria Math" panose="02040503050406030204" pitchFamily="18" charset="0"/>
                      </a:rPr>
                      <m:t>)</m:t>
                    </m:r>
                  </m:oMath>
                </a14:m>
                <a:endParaRPr lang="en-IN" dirty="0">
                  <a:solidFill>
                    <a:srgbClr val="FF0000"/>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2785" b="-341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507957"/>
                <a:ext cx="5713234" cy="2706062"/>
              </a:xfrm>
              <a:prstGeom prst="rect">
                <a:avLst/>
              </a:prstGeom>
            </p:spPr>
            <p:txBody>
              <a:bodyPr wrap="square">
                <a:spAutoFit/>
              </a:bodyPr>
              <a:lstStyle/>
              <a:p>
                <a:pPr>
                  <a:lnSpc>
                    <a:spcPct val="150000"/>
                  </a:lnSpc>
                </a:pPr>
                <a:r>
                  <a:rPr lang="en-US" sz="2800" dirty="0">
                    <a:solidFill>
                      <a:srgbClr val="FF0000"/>
                    </a:solidFill>
                  </a:rPr>
                  <a:t>That is </a:t>
                </a:r>
                <a14:m>
                  <m:oMath xmlns:m="http://schemas.openxmlformats.org/officeDocument/2006/math">
                    <m:d>
                      <m:dPr>
                        <m:ctrlPr>
                          <a:rPr lang="en-IN" sz="2800" i="1" smtClean="0">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r>
                          <a:rPr lang="en-US" sz="2800" b="0" i="0">
                            <a:solidFill>
                              <a:srgbClr val="FF0000"/>
                            </a:solidFill>
                            <a:latin typeface="Cambria Math" panose="02040503050406030204" pitchFamily="18" charset="0"/>
                            <a:ea typeface="Cambria Math" panose="02040503050406030204" pitchFamily="18" charset="0"/>
                          </a:rPr>
                          <m:t>≥4</m:t>
                        </m:r>
                      </m:e>
                    </m:d>
                    <m:r>
                      <a:rPr lang="en-IN" sz="2800" b="0" i="0" smtClean="0">
                        <a:solidFill>
                          <a:srgbClr val="FF0000"/>
                        </a:solidFill>
                        <a:latin typeface="Cambria Math" panose="02040503050406030204" pitchFamily="18" charset="0"/>
                        <a:ea typeface="Cambria Math" panose="02040503050406030204" pitchFamily="18" charset="0"/>
                      </a:rPr>
                      <m:t>,</m:t>
                    </m:r>
                  </m:oMath>
                </a14:m>
                <a:endParaRPr lang="en-IN" sz="2800" dirty="0">
                  <a:solidFill>
                    <a:srgbClr val="FF0000"/>
                  </a:solidFill>
                  <a:latin typeface="Cambria Math" panose="02040503050406030204" pitchFamily="18" charset="0"/>
                  <a:ea typeface="Cambria Math" panose="02040503050406030204" pitchFamily="18" charset="0"/>
                </a:endParaRPr>
              </a:p>
              <a:p>
                <a:pPr>
                  <a:lnSpc>
                    <a:spcPct val="150000"/>
                  </a:lnSpc>
                  <a:buClr>
                    <a:schemeClr val="accent6"/>
                  </a:buClr>
                </a:pPr>
                <a:r>
                  <a:rPr lang="en-US" sz="2800" dirty="0">
                    <a:solidFill>
                      <a:srgbClr val="002060"/>
                    </a:solidFill>
                  </a:rPr>
                  <a:t>We know that,</a:t>
                </a:r>
                <a:r>
                  <a:rPr lang="en-US" sz="2800" dirty="0">
                    <a:solidFill>
                      <a:srgbClr val="002060"/>
                    </a:solidFill>
                    <a:latin typeface="Cambria Math" panose="02040503050406030204" pitchFamily="18" charset="0"/>
                  </a:rPr>
                  <a:t> </a:t>
                </a:r>
                <a14:m>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x</m:t>
                        </m:r>
                      </m:e>
                    </m:d>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θx</m:t>
                        </m:r>
                      </m:sup>
                    </m:sSup>
                  </m:oMath>
                </a14:m>
                <a:endParaRPr lang="en-IN" sz="2800" dirty="0">
                  <a:solidFill>
                    <a:srgbClr val="002060"/>
                  </a:solidFill>
                  <a:latin typeface="Cambria Math" panose="02040503050406030204" pitchFamily="18" charset="0"/>
                </a:endParaRPr>
              </a:p>
              <a:p>
                <a:pPr>
                  <a:lnSpc>
                    <a:spcPct val="150000"/>
                  </a:lnSpc>
                  <a:buClr>
                    <a:schemeClr val="accent6"/>
                  </a:buClr>
                </a:pPr>
                <a:r>
                  <a:rPr lang="en-US" sz="2800" dirty="0">
                    <a:solidFill>
                      <a:srgbClr val="002060"/>
                    </a:solidFill>
                    <a:latin typeface="Cambria Math" panose="02040503050406030204" pitchFamily="18" charset="0"/>
                  </a:rPr>
                  <a:t> </a:t>
                </a:r>
                <a14:m>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≥4</m:t>
                        </m:r>
                      </m:e>
                    </m:d>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−3×4</m:t>
                        </m:r>
                      </m:sup>
                    </m:sSup>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𝟒</m:t>
                          </m:r>
                        </m:e>
                      </m:d>
                      <m:r>
                        <a:rPr lang="en-US" sz="2800" b="1" i="0">
                          <a:solidFill>
                            <a:srgbClr val="FF0000"/>
                          </a:solidFill>
                          <a:latin typeface="Cambria Math" panose="02040503050406030204" pitchFamily="18" charset="0"/>
                        </a:rPr>
                        <m:t>=</m:t>
                      </m:r>
                      <m:sSup>
                        <m:sSupPr>
                          <m:ctrlPr>
                            <a:rPr lang="en-IN" sz="2800" b="1" i="1">
                              <a:solidFill>
                                <a:srgbClr val="FF0000"/>
                              </a:solidFill>
                              <a:latin typeface="Cambria Math" panose="02040503050406030204" pitchFamily="18" charset="0"/>
                            </a:rPr>
                          </m:ctrlPr>
                        </m:sSupPr>
                        <m:e>
                          <m:r>
                            <a:rPr lang="en-US" sz="2800" b="1" i="0">
                              <a:solidFill>
                                <a:srgbClr val="FF0000"/>
                              </a:solidFill>
                              <a:latin typeface="Cambria Math" panose="02040503050406030204" pitchFamily="18" charset="0"/>
                            </a:rPr>
                            <m:t>𝐞</m:t>
                          </m:r>
                        </m:e>
                        <m:sup>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𝟏𝟐</m:t>
                          </m:r>
                        </m:sup>
                      </m:sSup>
                    </m:oMath>
                  </m:oMathPara>
                </a14:m>
                <a:endParaRPr lang="en-IN" sz="2800" b="1"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507957"/>
                <a:ext cx="5713234" cy="2706062"/>
              </a:xfrm>
              <a:prstGeom prst="rect">
                <a:avLst/>
              </a:prstGeom>
              <a:blipFill rotWithShape="0">
                <a:blip r:embed="rId3"/>
                <a:stretch>
                  <a:fillRect l="-2132"/>
                </a:stretch>
              </a:blipFill>
            </p:spPr>
            <p:txBody>
              <a:bodyPr/>
              <a:lstStyle/>
              <a:p>
                <a:r>
                  <a:rPr lang="en-IN">
                    <a:noFill/>
                  </a:rPr>
                  <a:t> </a:t>
                </a:r>
              </a:p>
            </p:txBody>
          </p:sp>
        </mc:Fallback>
      </mc:AlternateContent>
    </p:spTree>
    <p:extLst>
      <p:ext uri="{BB962C8B-B14F-4D97-AF65-F5344CB8AC3E}">
        <p14:creationId xmlns:p14="http://schemas.microsoft.com/office/powerpoint/2010/main" val="167210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789428"/>
                <a:ext cx="11929643" cy="2192922"/>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income tax of a man is exponentially distributed with </a:t>
                </a:r>
                <a14:m>
                  <m:oMath xmlns:m="http://schemas.openxmlformats.org/officeDocument/2006/math">
                    <m:r>
                      <m:rPr>
                        <m:sty m:val="p"/>
                      </m:rPr>
                      <a:rPr lang="en-US">
                        <a:latin typeface="Cambria Math" panose="02040503050406030204" pitchFamily="18" charset="0"/>
                        <a:ea typeface="Cambria Math" panose="02040503050406030204" pitchFamily="18" charset="0"/>
                      </a:rPr>
                      <m:t>f</m:t>
                    </m:r>
                    <m:d>
                      <m:dPr>
                        <m:ctrlPr>
                          <a:rPr lang="en-IN"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x</m:t>
                        </m:r>
                      </m:e>
                    </m:d>
                    <m:r>
                      <a:rPr lang="en-US">
                        <a:latin typeface="Cambria Math" panose="02040503050406030204" pitchFamily="18" charset="0"/>
                        <a:ea typeface="Cambria Math" panose="02040503050406030204" pitchFamily="18" charset="0"/>
                      </a:rPr>
                      <m:t>=</m:t>
                    </m:r>
                    <m:f>
                      <m:fPr>
                        <m:ctrlPr>
                          <a:rPr lang="en-IN" i="1">
                            <a:latin typeface="Cambria Math" panose="02040503050406030204" pitchFamily="18" charset="0"/>
                            <a:ea typeface="Cambria Math" panose="02040503050406030204" pitchFamily="18" charset="0"/>
                          </a:rPr>
                        </m:ctrlPr>
                      </m:fPr>
                      <m:num>
                        <m:r>
                          <a:rPr lang="en-US">
                            <a:latin typeface="Cambria Math" panose="02040503050406030204" pitchFamily="18" charset="0"/>
                            <a:ea typeface="Cambria Math" panose="02040503050406030204" pitchFamily="18" charset="0"/>
                          </a:rPr>
                          <m:t> 1 </m:t>
                        </m:r>
                      </m:num>
                      <m:den>
                        <m:r>
                          <a:rPr lang="en-US">
                            <a:latin typeface="Cambria Math" panose="02040503050406030204" pitchFamily="18" charset="0"/>
                            <a:ea typeface="Cambria Math" panose="02040503050406030204" pitchFamily="18" charset="0"/>
                          </a:rPr>
                          <m:t>3 </m:t>
                        </m:r>
                      </m:den>
                    </m:f>
                    <m:sSup>
                      <m:sSupPr>
                        <m:ctrlPr>
                          <a:rPr lang="en-IN" i="1">
                            <a:latin typeface="Cambria Math" panose="02040503050406030204" pitchFamily="18" charset="0"/>
                            <a:ea typeface="Cambria Math" panose="02040503050406030204" pitchFamily="18" charset="0"/>
                          </a:rPr>
                        </m:ctrlPr>
                      </m:sSupPr>
                      <m:e>
                        <m:r>
                          <m:rPr>
                            <m:sty m:val="p"/>
                          </m:rPr>
                          <a:rPr lang="en-US">
                            <a:latin typeface="Cambria Math" panose="02040503050406030204" pitchFamily="18" charset="0"/>
                            <a:ea typeface="Cambria Math" panose="02040503050406030204" pitchFamily="18" charset="0"/>
                          </a:rPr>
                          <m:t>e</m:t>
                        </m:r>
                      </m:e>
                      <m:sup>
                        <m:r>
                          <a:rPr lang="en-US" i="1">
                            <a:latin typeface="Cambria Math" panose="02040503050406030204" pitchFamily="18" charset="0"/>
                            <a:ea typeface="Cambria Math" panose="02040503050406030204" pitchFamily="18" charset="0"/>
                          </a:rPr>
                          <m:t>−</m:t>
                        </m:r>
                        <m:d>
                          <m:dPr>
                            <m:ctrlPr>
                              <a:rPr lang="en-IN" i="1">
                                <a:latin typeface="Cambria Math" panose="02040503050406030204" pitchFamily="18" charset="0"/>
                                <a:ea typeface="Cambria Math" panose="02040503050406030204" pitchFamily="18" charset="0"/>
                              </a:rPr>
                            </m:ctrlPr>
                          </m:dPr>
                          <m:e>
                            <m:f>
                              <m:fPr>
                                <m:ctrlPr>
                                  <a:rPr lang="en-IN" i="1">
                                    <a:latin typeface="Cambria Math" panose="02040503050406030204" pitchFamily="18" charset="0"/>
                                    <a:ea typeface="Cambria Math" panose="02040503050406030204" pitchFamily="18" charset="0"/>
                                  </a:rPr>
                                </m:ctrlPr>
                              </m:fPr>
                              <m:num>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x</m:t>
                                </m:r>
                                <m:r>
                                  <a:rPr lang="en-US">
                                    <a:latin typeface="Cambria Math" panose="02040503050406030204" pitchFamily="18" charset="0"/>
                                    <a:ea typeface="Cambria Math" panose="02040503050406030204" pitchFamily="18" charset="0"/>
                                  </a:rPr>
                                  <m:t> </m:t>
                                </m:r>
                              </m:num>
                              <m:den>
                                <m:r>
                                  <a:rPr lang="en-US">
                                    <a:latin typeface="Cambria Math" panose="02040503050406030204" pitchFamily="18" charset="0"/>
                                    <a:ea typeface="Cambria Math" panose="02040503050406030204" pitchFamily="18" charset="0"/>
                                  </a:rPr>
                                  <m:t>3 </m:t>
                                </m:r>
                              </m:den>
                            </m:f>
                          </m:e>
                        </m:d>
                      </m:sup>
                    </m:sSup>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x</m:t>
                    </m:r>
                    <m:r>
                      <a:rPr lang="en-US">
                        <a:latin typeface="Cambria Math" panose="02040503050406030204" pitchFamily="18" charset="0"/>
                        <a:ea typeface="Cambria Math" panose="02040503050406030204" pitchFamily="18" charset="0"/>
                      </a:rPr>
                      <m:t>&gt;0.</m:t>
                    </m:r>
                  </m:oMath>
                </a14:m>
                <a:endParaRPr lang="en-IN" dirty="0">
                  <a:latin typeface="Cambria Math" panose="02040503050406030204" pitchFamily="18" charset="0"/>
                  <a:ea typeface="Cambria Math" panose="02040503050406030204" pitchFamily="18" charset="0"/>
                </a:endParaRPr>
              </a:p>
              <a:p>
                <a:r>
                  <a:rPr lang="en-US" dirty="0"/>
                  <a:t>What is the probability that his income will exceed </a:t>
                </a:r>
                <a:r>
                  <a:rPr lang="en-US" dirty="0" err="1"/>
                  <a:t>Rs</a:t>
                </a:r>
                <a:r>
                  <a:rPr lang="en-US" dirty="0"/>
                  <a:t>. 17000? Assume that the income tax is levied at the rate of 15% on the income above </a:t>
                </a:r>
                <a:r>
                  <a:rPr lang="en-US" dirty="0" err="1"/>
                  <a:t>Rs</a:t>
                </a:r>
                <a:r>
                  <a:rPr lang="en-US" dirty="0"/>
                  <a:t>. 15000.</a:t>
                </a:r>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789428"/>
                <a:ext cx="11929643" cy="2192922"/>
              </a:xfrm>
              <a:prstGeom prst="rect">
                <a:avLst/>
              </a:prstGeom>
              <a:blipFill rotWithShape="0">
                <a:blip r:embed="rId2"/>
                <a:stretch>
                  <a:fillRect l="-1074" r="-1074" b="-1000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6</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213873"/>
            <a:ext cx="1478559"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3010252"/>
                <a:ext cx="7331967" cy="350031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00000"/>
                  </a:lnSpc>
                  <a:buNone/>
                </a:pPr>
                <a:r>
                  <a:rPr lang="en-US" dirty="0">
                    <a:solidFill>
                      <a:schemeClr val="tx2">
                        <a:lumMod val="50000"/>
                      </a:schemeClr>
                    </a:solidFill>
                  </a:rPr>
                  <a:t>P.D.F. given by </a:t>
                </a:r>
                <a14:m>
                  <m:oMath xmlns:m="http://schemas.openxmlformats.org/officeDocument/2006/math">
                    <m:r>
                      <m:rPr>
                        <m:sty m:val="p"/>
                      </m:rPr>
                      <a:rPr lang="en-US" b="0" i="0">
                        <a:solidFill>
                          <a:srgbClr val="002060"/>
                        </a:solidFill>
                        <a:latin typeface="Cambria Math" panose="02040503050406030204" pitchFamily="18" charset="0"/>
                      </a:rPr>
                      <m:t>f</m:t>
                    </m:r>
                    <m:d>
                      <m:dPr>
                        <m:ctrlPr>
                          <a:rPr lang="en-IN" i="1">
                            <a:solidFill>
                              <a:srgbClr val="002060"/>
                            </a:solidFill>
                            <a:latin typeface="Cambria Math" panose="02040503050406030204" pitchFamily="18" charset="0"/>
                          </a:rPr>
                        </m:ctrlPr>
                      </m:dPr>
                      <m:e>
                        <m:r>
                          <m:rPr>
                            <m:sty m:val="p"/>
                          </m:rPr>
                          <a:rPr lang="en-US" b="0" i="0">
                            <a:solidFill>
                              <a:srgbClr val="002060"/>
                            </a:solidFill>
                            <a:latin typeface="Cambria Math" panose="02040503050406030204" pitchFamily="18" charset="0"/>
                          </a:rPr>
                          <m:t>x</m:t>
                        </m:r>
                      </m:e>
                    </m:d>
                    <m:r>
                      <a:rPr lang="en-US" b="0" i="0">
                        <a:solidFill>
                          <a:srgbClr val="002060"/>
                        </a:solidFill>
                        <a:latin typeface="Cambria Math" panose="02040503050406030204" pitchFamily="18" charset="0"/>
                      </a:rPr>
                      <m:t>=</m:t>
                    </m:r>
                    <m:d>
                      <m:dPr>
                        <m:begChr m:val="{"/>
                        <m:endChr m:val=""/>
                        <m:ctrlPr>
                          <a:rPr lang="en-IN" i="1">
                            <a:solidFill>
                              <a:srgbClr val="002060"/>
                            </a:solidFill>
                            <a:latin typeface="Cambria Math" panose="02040503050406030204" pitchFamily="18" charset="0"/>
                          </a:rPr>
                        </m:ctrlPr>
                      </m:dPr>
                      <m:e>
                        <m:r>
                          <a:rPr lang="en-US" b="0" i="0">
                            <a:solidFill>
                              <a:srgbClr val="002060"/>
                            </a:solidFill>
                            <a:latin typeface="Cambria Math" panose="02040503050406030204" pitchFamily="18" charset="0"/>
                          </a:rPr>
                          <m:t> </m:t>
                        </m:r>
                        <m:eqArr>
                          <m:eqArrPr>
                            <m:ctrlPr>
                              <a:rPr lang="en-IN" i="1">
                                <a:solidFill>
                                  <a:srgbClr val="002060"/>
                                </a:solidFill>
                                <a:latin typeface="Cambria Math" panose="02040503050406030204" pitchFamily="18" charset="0"/>
                              </a:rPr>
                            </m:ctrlPr>
                          </m:eqArrPr>
                          <m:e>
                            <m:f>
                              <m:fPr>
                                <m:ctrlPr>
                                  <a:rPr lang="en-IN" b="0" i="1" smtClean="0">
                                    <a:solidFill>
                                      <a:srgbClr val="002060"/>
                                    </a:solidFill>
                                    <a:latin typeface="Cambria Math" panose="02040503050406030204" pitchFamily="18" charset="0"/>
                                  </a:rPr>
                                </m:ctrlPr>
                              </m:fPr>
                              <m:num>
                                <m:r>
                                  <a:rPr lang="en-IN" b="0" i="0" smtClean="0">
                                    <a:solidFill>
                                      <a:srgbClr val="002060"/>
                                    </a:solidFill>
                                    <a:latin typeface="Cambria Math" panose="02040503050406030204" pitchFamily="18" charset="0"/>
                                  </a:rPr>
                                  <m:t>1</m:t>
                                </m:r>
                              </m:num>
                              <m:den>
                                <m:r>
                                  <a:rPr lang="en-IN" b="0" i="0" smtClean="0">
                                    <a:solidFill>
                                      <a:srgbClr val="002060"/>
                                    </a:solidFill>
                                    <a:latin typeface="Cambria Math" panose="02040503050406030204" pitchFamily="18" charset="0"/>
                                  </a:rPr>
                                  <m:t>3</m:t>
                                </m:r>
                              </m:den>
                            </m:f>
                            <m:sSup>
                              <m:sSupPr>
                                <m:ctrlPr>
                                  <a:rPr lang="en-IN" i="1">
                                    <a:solidFill>
                                      <a:srgbClr val="002060"/>
                                    </a:solidFill>
                                    <a:latin typeface="Cambria Math" panose="02040503050406030204" pitchFamily="18" charset="0"/>
                                  </a:rPr>
                                </m:ctrlPr>
                              </m:sSupPr>
                              <m:e>
                                <m:r>
                                  <m:rPr>
                                    <m:sty m:val="p"/>
                                  </m:rPr>
                                  <a:rPr lang="en-US" b="0" i="0">
                                    <a:solidFill>
                                      <a:srgbClr val="002060"/>
                                    </a:solidFill>
                                    <a:latin typeface="Cambria Math" panose="02040503050406030204" pitchFamily="18" charset="0"/>
                                  </a:rPr>
                                  <m:t>e</m:t>
                                </m:r>
                              </m:e>
                              <m:sup>
                                <m:r>
                                  <a:rPr lang="en-US" b="0" i="0">
                                    <a:solidFill>
                                      <a:srgbClr val="002060"/>
                                    </a:solidFill>
                                    <a:latin typeface="Cambria Math" panose="02040503050406030204" pitchFamily="18" charset="0"/>
                                  </a:rPr>
                                  <m:t>−</m:t>
                                </m:r>
                                <m:d>
                                  <m:dPr>
                                    <m:ctrlPr>
                                      <a:rPr lang="en-IN" b="0" i="1" smtClean="0">
                                        <a:solidFill>
                                          <a:srgbClr val="002060"/>
                                        </a:solidFill>
                                        <a:latin typeface="Cambria Math" panose="02040503050406030204" pitchFamily="18" charset="0"/>
                                      </a:rPr>
                                    </m:ctrlPr>
                                  </m:dPr>
                                  <m:e>
                                    <m:f>
                                      <m:fPr>
                                        <m:ctrlPr>
                                          <a:rPr lang="en-IN" b="0" i="1" smtClean="0">
                                            <a:solidFill>
                                              <a:srgbClr val="002060"/>
                                            </a:solidFill>
                                            <a:latin typeface="Cambria Math" panose="02040503050406030204" pitchFamily="18" charset="0"/>
                                          </a:rPr>
                                        </m:ctrlPr>
                                      </m:fPr>
                                      <m:num>
                                        <m:r>
                                          <m:rPr>
                                            <m:sty m:val="p"/>
                                          </m:rPr>
                                          <a:rPr lang="en-US" b="0" i="0">
                                            <a:solidFill>
                                              <a:srgbClr val="002060"/>
                                            </a:solidFill>
                                            <a:latin typeface="Cambria Math" panose="02040503050406030204" pitchFamily="18" charset="0"/>
                                          </a:rPr>
                                          <m:t>x</m:t>
                                        </m:r>
                                      </m:num>
                                      <m:den>
                                        <m:r>
                                          <a:rPr lang="en-IN" b="0" i="0" smtClean="0">
                                            <a:solidFill>
                                              <a:srgbClr val="002060"/>
                                            </a:solidFill>
                                            <a:latin typeface="Cambria Math" panose="02040503050406030204" pitchFamily="18" charset="0"/>
                                          </a:rPr>
                                          <m:t>3</m:t>
                                        </m:r>
                                      </m:den>
                                    </m:f>
                                  </m:e>
                                </m:d>
                              </m:sup>
                            </m:sSup>
                            <m:r>
                              <a:rPr lang="en-US" b="0" i="0">
                                <a:solidFill>
                                  <a:srgbClr val="002060"/>
                                </a:solidFill>
                                <a:latin typeface="Cambria Math" panose="02040503050406030204" pitchFamily="18" charset="0"/>
                              </a:rPr>
                              <m:t>         &amp;; </m:t>
                            </m:r>
                            <m:r>
                              <m:rPr>
                                <m:sty m:val="p"/>
                              </m:rPr>
                              <a:rPr lang="en-US" b="0" i="0">
                                <a:solidFill>
                                  <a:srgbClr val="002060"/>
                                </a:solidFill>
                                <a:latin typeface="Cambria Math" panose="02040503050406030204" pitchFamily="18" charset="0"/>
                              </a:rPr>
                              <m:t>x</m:t>
                            </m:r>
                            <m:r>
                              <a:rPr lang="en-US" b="0" i="0">
                                <a:solidFill>
                                  <a:srgbClr val="002060"/>
                                </a:solidFill>
                                <a:latin typeface="Cambria Math" panose="02040503050406030204" pitchFamily="18" charset="0"/>
                              </a:rPr>
                              <m:t>&gt;0</m:t>
                            </m:r>
                          </m:e>
                          <m:e/>
                          <m:e>
                            <m:r>
                              <a:rPr lang="en-US" b="0" i="0">
                                <a:solidFill>
                                  <a:srgbClr val="002060"/>
                                </a:solidFill>
                                <a:latin typeface="Cambria Math" panose="02040503050406030204" pitchFamily="18" charset="0"/>
                              </a:rPr>
                              <m:t>0           &amp;; </m:t>
                            </m:r>
                            <m:r>
                              <m:rPr>
                                <m:sty m:val="p"/>
                              </m:rPr>
                              <a:rPr lang="en-US" b="0" i="0">
                                <a:solidFill>
                                  <a:srgbClr val="002060"/>
                                </a:solidFill>
                                <a:latin typeface="Cambria Math" panose="02040503050406030204" pitchFamily="18" charset="0"/>
                              </a:rPr>
                              <m:t>x</m:t>
                            </m:r>
                            <m:r>
                              <a:rPr lang="en-US" b="0" i="0">
                                <a:solidFill>
                                  <a:srgbClr val="002060"/>
                                </a:solidFill>
                                <a:latin typeface="Cambria Math" panose="02040503050406030204" pitchFamily="18" charset="0"/>
                              </a:rPr>
                              <m:t>≤0</m:t>
                            </m:r>
                          </m:e>
                        </m:eqArr>
                      </m:e>
                    </m:d>
                  </m:oMath>
                </a14:m>
                <a:endParaRPr lang="en-IN" dirty="0">
                  <a:solidFill>
                    <a:srgbClr val="002060"/>
                  </a:solidFill>
                </a:endParaRPr>
              </a:p>
              <a:p>
                <a:pPr marL="0" indent="0" algn="l">
                  <a:lnSpc>
                    <a:spcPct val="100000"/>
                  </a:lnSpc>
                  <a:buNone/>
                </a:pPr>
                <a:r>
                  <a:rPr lang="en-US" dirty="0">
                    <a:solidFill>
                      <a:schemeClr val="tx2">
                        <a:lumMod val="50000"/>
                      </a:schemeClr>
                    </a:solidFill>
                  </a:rPr>
                  <a:t>Comparing with </a:t>
                </a:r>
                <a14:m>
                  <m:oMath xmlns:m="http://schemas.openxmlformats.org/officeDocument/2006/math">
                    <m:r>
                      <m:rPr>
                        <m:sty m:val="p"/>
                      </m:rPr>
                      <a:rPr lang="en-US">
                        <a:solidFill>
                          <a:srgbClr val="002060"/>
                        </a:solidFill>
                        <a:latin typeface="Cambria Math" panose="02040503050406030204" pitchFamily="18" charset="0"/>
                      </a:rPr>
                      <m:t>f</m:t>
                    </m:r>
                    <m:d>
                      <m:dPr>
                        <m:ctrlPr>
                          <a:rPr lang="en-IN" i="1">
                            <a:solidFill>
                              <a:srgbClr val="002060"/>
                            </a:solidFill>
                            <a:latin typeface="Cambria Math" panose="02040503050406030204" pitchFamily="18" charset="0"/>
                          </a:rPr>
                        </m:ctrlPr>
                      </m:dPr>
                      <m:e>
                        <m:r>
                          <m:rPr>
                            <m:sty m:val="p"/>
                          </m:rPr>
                          <a:rPr lang="en-US">
                            <a:solidFill>
                              <a:srgbClr val="002060"/>
                            </a:solidFill>
                            <a:latin typeface="Cambria Math" panose="02040503050406030204" pitchFamily="18" charset="0"/>
                          </a:rPr>
                          <m:t>x</m:t>
                        </m:r>
                      </m:e>
                    </m:d>
                    <m:r>
                      <a:rPr lang="en-US">
                        <a:solidFill>
                          <a:srgbClr val="002060"/>
                        </a:solidFill>
                        <a:latin typeface="Cambria Math" panose="02040503050406030204" pitchFamily="18" charset="0"/>
                      </a:rPr>
                      <m:t>=</m:t>
                    </m:r>
                    <m:d>
                      <m:dPr>
                        <m:begChr m:val="{"/>
                        <m:endChr m:val=""/>
                        <m:ctrlPr>
                          <a:rPr lang="en-IN" i="1">
                            <a:solidFill>
                              <a:srgbClr val="002060"/>
                            </a:solidFill>
                            <a:latin typeface="Cambria Math" panose="02040503050406030204" pitchFamily="18" charset="0"/>
                          </a:rPr>
                        </m:ctrlPr>
                      </m:dPr>
                      <m:e>
                        <m:r>
                          <a:rPr lang="en-US">
                            <a:solidFill>
                              <a:srgbClr val="002060"/>
                            </a:solidFill>
                            <a:latin typeface="Cambria Math" panose="02040503050406030204" pitchFamily="18" charset="0"/>
                          </a:rPr>
                          <m:t> </m:t>
                        </m:r>
                        <m:eqArr>
                          <m:eqArrPr>
                            <m:ctrlPr>
                              <a:rPr lang="en-IN" i="1">
                                <a:solidFill>
                                  <a:srgbClr val="002060"/>
                                </a:solidFill>
                                <a:latin typeface="Cambria Math" panose="02040503050406030204" pitchFamily="18" charset="0"/>
                              </a:rPr>
                            </m:ctrlPr>
                          </m:eqArrPr>
                          <m:e>
                            <m:r>
                              <m:rPr>
                                <m:sty m:val="p"/>
                              </m:rPr>
                              <a:rPr lang="en-US">
                                <a:solidFill>
                                  <a:srgbClr val="002060"/>
                                </a:solidFill>
                                <a:latin typeface="Cambria Math" panose="02040503050406030204" pitchFamily="18" charset="0"/>
                              </a:rPr>
                              <m:t>θ</m:t>
                            </m:r>
                            <m:sSup>
                              <m:sSupPr>
                                <m:ctrlPr>
                                  <a:rPr lang="en-IN" i="1">
                                    <a:solidFill>
                                      <a:srgbClr val="002060"/>
                                    </a:solidFill>
                                    <a:latin typeface="Cambria Math" panose="02040503050406030204" pitchFamily="18" charset="0"/>
                                  </a:rPr>
                                </m:ctrlPr>
                              </m:sSupPr>
                              <m:e>
                                <m:r>
                                  <m:rPr>
                                    <m:sty m:val="p"/>
                                  </m:rPr>
                                  <a:rPr lang="en-US">
                                    <a:solidFill>
                                      <a:srgbClr val="002060"/>
                                    </a:solidFill>
                                    <a:latin typeface="Cambria Math" panose="02040503050406030204" pitchFamily="18" charset="0"/>
                                  </a:rPr>
                                  <m:t>e</m:t>
                                </m:r>
                              </m:e>
                              <m:sup>
                                <m:r>
                                  <a:rPr lang="en-US">
                                    <a:solidFill>
                                      <a:srgbClr val="002060"/>
                                    </a:solidFill>
                                    <a:latin typeface="Cambria Math" panose="02040503050406030204" pitchFamily="18" charset="0"/>
                                  </a:rPr>
                                  <m:t>−</m:t>
                                </m:r>
                                <m:r>
                                  <m:rPr>
                                    <m:sty m:val="p"/>
                                  </m:rPr>
                                  <a:rPr lang="en-US">
                                    <a:solidFill>
                                      <a:srgbClr val="002060"/>
                                    </a:solidFill>
                                    <a:latin typeface="Cambria Math" panose="02040503050406030204" pitchFamily="18" charset="0"/>
                                  </a:rPr>
                                  <m:t>θx</m:t>
                                </m:r>
                              </m:sup>
                            </m:sSup>
                            <m:r>
                              <a:rPr lang="en-US">
                                <a:solidFill>
                                  <a:srgbClr val="002060"/>
                                </a:solidFill>
                                <a:latin typeface="Cambria Math" panose="02040503050406030204" pitchFamily="18" charset="0"/>
                              </a:rPr>
                              <m:t>         &amp;; </m:t>
                            </m:r>
                            <m:r>
                              <m:rPr>
                                <m:sty m:val="p"/>
                              </m:rPr>
                              <a:rPr lang="en-US">
                                <a:solidFill>
                                  <a:srgbClr val="002060"/>
                                </a:solidFill>
                                <a:latin typeface="Cambria Math" panose="02040503050406030204" pitchFamily="18" charset="0"/>
                              </a:rPr>
                              <m:t>x</m:t>
                            </m:r>
                            <m:r>
                              <a:rPr lang="en-US">
                                <a:solidFill>
                                  <a:srgbClr val="002060"/>
                                </a:solidFill>
                                <a:latin typeface="Cambria Math" panose="02040503050406030204" pitchFamily="18" charset="0"/>
                              </a:rPr>
                              <m:t>&gt;0</m:t>
                            </m:r>
                          </m:e>
                          <m:e/>
                          <m:e>
                            <m:r>
                              <a:rPr lang="en-US">
                                <a:solidFill>
                                  <a:srgbClr val="002060"/>
                                </a:solidFill>
                                <a:latin typeface="Cambria Math" panose="02040503050406030204" pitchFamily="18" charset="0"/>
                              </a:rPr>
                              <m:t>0           &amp;; </m:t>
                            </m:r>
                            <m:r>
                              <m:rPr>
                                <m:sty m:val="p"/>
                              </m:rPr>
                              <a:rPr lang="en-US">
                                <a:solidFill>
                                  <a:srgbClr val="002060"/>
                                </a:solidFill>
                                <a:latin typeface="Cambria Math" panose="02040503050406030204" pitchFamily="18" charset="0"/>
                              </a:rPr>
                              <m:t>x</m:t>
                            </m:r>
                            <m:r>
                              <a:rPr lang="en-US">
                                <a:solidFill>
                                  <a:srgbClr val="002060"/>
                                </a:solidFill>
                                <a:latin typeface="Cambria Math" panose="02040503050406030204" pitchFamily="18" charset="0"/>
                              </a:rPr>
                              <m:t>≤0</m:t>
                            </m:r>
                          </m:e>
                        </m:eqArr>
                      </m:e>
                    </m:d>
                  </m:oMath>
                </a14:m>
                <a:endParaRPr lang="en-IN" dirty="0">
                  <a:solidFill>
                    <a:srgbClr val="00206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3010252"/>
                <a:ext cx="7331967" cy="3500317"/>
              </a:xfrm>
              <a:prstGeom prst="rect">
                <a:avLst/>
              </a:prstGeom>
              <a:blipFill rotWithShape="0">
                <a:blip r:embed="rId3"/>
                <a:stretch>
                  <a:fillRect l="-1663"/>
                </a:stretch>
              </a:blipFill>
            </p:spPr>
            <p:txBody>
              <a:bodyPr/>
              <a:lstStyle/>
              <a:p>
                <a:r>
                  <a:rPr lang="en-IN">
                    <a:noFill/>
                  </a:rPr>
                  <a:t> </a:t>
                </a:r>
              </a:p>
            </p:txBody>
          </p:sp>
        </mc:Fallback>
      </mc:AlternateContent>
      <p:sp>
        <p:nvSpPr>
          <p:cNvPr id="11" name="Rectangle 10"/>
          <p:cNvSpPr/>
          <p:nvPr/>
        </p:nvSpPr>
        <p:spPr>
          <a:xfrm>
            <a:off x="9278136" y="4211504"/>
            <a:ext cx="1282540" cy="523220"/>
          </a:xfrm>
          <a:prstGeom prst="rect">
            <a:avLst/>
          </a:prstGeom>
        </p:spPr>
        <p:txBody>
          <a:bodyPr wrap="square">
            <a:spAutoFit/>
          </a:bodyPr>
          <a:lstStyle/>
          <a:p>
            <a:pPr algn="just">
              <a:spcBef>
                <a:spcPts val="1200"/>
              </a:spcBef>
              <a:spcAft>
                <a:spcPts val="0"/>
              </a:spcAft>
              <a:tabLst>
                <a:tab pos="447675" algn="l"/>
              </a:tabLst>
            </a:pPr>
            <a:r>
              <a:rPr lang="en-US" sz="2800" dirty="0">
                <a:solidFill>
                  <a:schemeClr val="tx2">
                    <a:lumMod val="50000"/>
                  </a:schemeClr>
                </a:solidFill>
              </a:rPr>
              <a:t>We get,</a:t>
            </a:r>
            <a:endParaRPr lang="en-IN" sz="2800" dirty="0">
              <a:solidFill>
                <a:srgbClr val="002060"/>
              </a:solidFill>
              <a:latin typeface="Cambria Math" panose="02040503050406030204" pitchFamily="18" charset="0"/>
            </a:endParaRPr>
          </a:p>
        </p:txBody>
      </p:sp>
      <p:cxnSp>
        <p:nvCxnSpPr>
          <p:cNvPr id="6" name="Straight Connector 5"/>
          <p:cNvCxnSpPr/>
          <p:nvPr/>
        </p:nvCxnSpPr>
        <p:spPr>
          <a:xfrm>
            <a:off x="9101796" y="3213873"/>
            <a:ext cx="0" cy="329669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10431883" y="4022221"/>
                <a:ext cx="1129605" cy="9017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i="1">
                          <a:solidFill>
                            <a:srgbClr val="002060"/>
                          </a:solidFill>
                          <a:latin typeface="Cambria Math" panose="02040503050406030204" pitchFamily="18" charset="0"/>
                        </a:rPr>
                        <m:t>θ</m:t>
                      </m:r>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IN" sz="2800" i="1">
                              <a:solidFill>
                                <a:srgbClr val="002060"/>
                              </a:solidFill>
                              <a:latin typeface="Cambria Math" panose="02040503050406030204" pitchFamily="18" charset="0"/>
                            </a:rPr>
                            <m:t>1</m:t>
                          </m:r>
                        </m:num>
                        <m:den>
                          <m:r>
                            <a:rPr lang="en-US" sz="2800" i="1">
                              <a:solidFill>
                                <a:srgbClr val="002060"/>
                              </a:solidFill>
                              <a:latin typeface="Cambria Math" panose="02040503050406030204" pitchFamily="18" charset="0"/>
                            </a:rPr>
                            <m:t>3</m:t>
                          </m:r>
                        </m:den>
                      </m:f>
                    </m:oMath>
                  </m:oMathPara>
                </a14:m>
                <a:endParaRPr lang="en-IN" sz="2800" dirty="0"/>
              </a:p>
            </p:txBody>
          </p:sp>
        </mc:Choice>
        <mc:Fallback xmlns="">
          <p:sp>
            <p:nvSpPr>
              <p:cNvPr id="3" name="Rectangle 2"/>
              <p:cNvSpPr>
                <a:spLocks noRot="1" noChangeAspect="1" noMove="1" noResize="1" noEditPoints="1" noAdjustHandles="1" noChangeArrowheads="1" noChangeShapeType="1" noTextEdit="1"/>
              </p:cNvSpPr>
              <p:nvPr/>
            </p:nvSpPr>
            <p:spPr>
              <a:xfrm>
                <a:off x="10431883" y="4022221"/>
                <a:ext cx="1129605" cy="901785"/>
              </a:xfrm>
              <a:prstGeom prst="rect">
                <a:avLst/>
              </a:prstGeom>
              <a:blipFill rotWithShape="0">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92011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P spid="11" grpId="0"/>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70340" y="776431"/>
                <a:ext cx="11929402" cy="3258713"/>
              </a:xfrm>
              <a:prstGeom prst="rect">
                <a:avLst/>
              </a:prstGeom>
            </p:spPr>
            <p:txBody>
              <a:bodyPr wrap="square">
                <a:spAutoFit/>
              </a:bodyPr>
              <a:lstStyle/>
              <a:p>
                <a:pPr>
                  <a:lnSpc>
                    <a:spcPct val="150000"/>
                  </a:lnSpc>
                </a:pPr>
                <a:r>
                  <a:rPr lang="en-US" sz="2800" dirty="0">
                    <a:solidFill>
                      <a:schemeClr val="tx2">
                        <a:lumMod val="50000"/>
                      </a:schemeClr>
                    </a:solidFill>
                  </a:rPr>
                  <a:t>Given that if income is above </a:t>
                </a:r>
                <a:r>
                  <a:rPr lang="en-US" sz="2800" dirty="0">
                    <a:solidFill>
                      <a:schemeClr val="tx2">
                        <a:lumMod val="50000"/>
                      </a:schemeClr>
                    </a:solidFill>
                    <a:latin typeface="Cambria Math" panose="02040503050406030204" pitchFamily="18" charset="0"/>
                    <a:ea typeface="Cambria Math" panose="02040503050406030204" pitchFamily="18" charset="0"/>
                  </a:rPr>
                  <a:t>15000</a:t>
                </a:r>
                <a:r>
                  <a:rPr lang="en-US" sz="2800" dirty="0">
                    <a:solidFill>
                      <a:schemeClr val="tx2">
                        <a:lumMod val="50000"/>
                      </a:schemeClr>
                    </a:solidFill>
                  </a:rPr>
                  <a:t> then income tax is levied at the rate of </a:t>
                </a:r>
                <a:r>
                  <a:rPr lang="en-US" sz="2800" dirty="0">
                    <a:solidFill>
                      <a:schemeClr val="tx2">
                        <a:lumMod val="50000"/>
                      </a:schemeClr>
                    </a:solidFill>
                    <a:latin typeface="Cambria Math" panose="02040503050406030204" pitchFamily="18" charset="0"/>
                    <a:ea typeface="Cambria Math" panose="02040503050406030204" pitchFamily="18" charset="0"/>
                  </a:rPr>
                  <a:t>15%</a:t>
                </a:r>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r>
                  <a:rPr lang="en-US" sz="2800" dirty="0">
                    <a:solidFill>
                      <a:schemeClr val="tx2">
                        <a:lumMod val="50000"/>
                      </a:schemeClr>
                    </a:solidFill>
                  </a:rPr>
                  <a:t>We will find the probability that income will exceed </a:t>
                </a:r>
                <a:r>
                  <a:rPr lang="en-US" sz="2800" dirty="0" err="1">
                    <a:solidFill>
                      <a:schemeClr val="tx2">
                        <a:lumMod val="50000"/>
                      </a:schemeClr>
                    </a:solidFill>
                  </a:rPr>
                  <a:t>Rs</a:t>
                </a:r>
                <a:r>
                  <a:rPr lang="en-US" sz="2800" dirty="0">
                    <a:solidFill>
                      <a:schemeClr val="tx2">
                        <a:lumMod val="50000"/>
                      </a:schemeClr>
                    </a:solidFill>
                  </a:rPr>
                  <a:t>. </a:t>
                </a:r>
                <a:r>
                  <a:rPr lang="en-US" sz="2800" dirty="0">
                    <a:solidFill>
                      <a:schemeClr val="tx2">
                        <a:lumMod val="50000"/>
                      </a:schemeClr>
                    </a:solidFill>
                    <a:latin typeface="Cambria Math" panose="02040503050406030204" pitchFamily="18" charset="0"/>
                    <a:ea typeface="Cambria Math" panose="02040503050406030204" pitchFamily="18" charset="0"/>
                  </a:rPr>
                  <a:t>17000</a:t>
                </a:r>
                <a:r>
                  <a:rPr lang="en-US" sz="2800" dirty="0">
                    <a:solidFill>
                      <a:schemeClr val="tx2">
                        <a:lumMod val="50000"/>
                      </a:schemeClr>
                    </a:solidFill>
                  </a:rPr>
                  <a:t>, </a:t>
                </a:r>
                <a:endParaRPr lang="en-IN" sz="2800" dirty="0">
                  <a:solidFill>
                    <a:schemeClr val="tx2">
                      <a:lumMod val="50000"/>
                    </a:schemeClr>
                  </a:solidFill>
                </a:endParaRPr>
              </a:p>
              <a:p>
                <a:pPr>
                  <a:lnSpc>
                    <a:spcPct val="150000"/>
                  </a:lnSpc>
                </a:pPr>
                <a:r>
                  <a:rPr lang="en-US" sz="2800" dirty="0">
                    <a:solidFill>
                      <a:schemeClr val="tx2">
                        <a:lumMod val="50000"/>
                      </a:schemeClr>
                    </a:solidFill>
                  </a:rPr>
                  <a:t>Note that, income tax is levied </a:t>
                </a:r>
                <a:r>
                  <a:rPr lang="en-US" sz="2800" dirty="0">
                    <a:solidFill>
                      <a:schemeClr val="tx2">
                        <a:lumMod val="50000"/>
                      </a:schemeClr>
                    </a:solidFill>
                    <a:latin typeface="Cambria Math" panose="02040503050406030204" pitchFamily="18" charset="0"/>
                    <a:ea typeface="Cambria Math" panose="02040503050406030204" pitchFamily="18" charset="0"/>
                  </a:rPr>
                  <a:t>15%</a:t>
                </a:r>
                <a:r>
                  <a:rPr lang="en-US" sz="2800" dirty="0">
                    <a:solidFill>
                      <a:schemeClr val="tx2">
                        <a:lumMod val="50000"/>
                      </a:schemeClr>
                    </a:solidFill>
                  </a:rPr>
                  <a:t> on </a:t>
                </a:r>
                <a14:m>
                  <m:oMath xmlns:m="http://schemas.openxmlformats.org/officeDocument/2006/math">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17000−15000</m:t>
                        </m:r>
                      </m:e>
                    </m:d>
                    <m:r>
                      <a:rPr lang="en-US" sz="2800">
                        <a:solidFill>
                          <a:schemeClr val="tx2">
                            <a:lumMod val="50000"/>
                          </a:schemeClr>
                        </a:solidFill>
                        <a:latin typeface="Cambria Math" panose="02040503050406030204" pitchFamily="18" charset="0"/>
                        <a:ea typeface="Cambria Math" panose="02040503050406030204" pitchFamily="18" charset="0"/>
                      </a:rPr>
                      <m:t>=2000</m:t>
                    </m:r>
                  </m:oMath>
                </a14:m>
                <a:r>
                  <a:rPr lang="en-US" sz="2800" dirty="0">
                    <a:solidFill>
                      <a:schemeClr val="tx2">
                        <a:lumMod val="50000"/>
                      </a:schemeClr>
                    </a:solidFill>
                  </a:rPr>
                  <a:t> </a:t>
                </a:r>
                <a:r>
                  <a:rPr lang="en-US" sz="2800" dirty="0" err="1">
                    <a:solidFill>
                      <a:schemeClr val="tx2">
                        <a:lumMod val="50000"/>
                      </a:schemeClr>
                    </a:solidFill>
                  </a:rPr>
                  <a:t>Rs</a:t>
                </a:r>
                <a:r>
                  <a:rPr lang="en-US" sz="2800" dirty="0">
                    <a:solidFill>
                      <a:schemeClr val="tx2">
                        <a:lumMod val="50000"/>
                      </a:schemeClr>
                    </a:solidFill>
                  </a:rPr>
                  <a:t>.</a:t>
                </a:r>
                <a:r>
                  <a:rPr lang="en-IN" sz="2800" dirty="0">
                    <a:solidFill>
                      <a:schemeClr val="tx2">
                        <a:lumMod val="50000"/>
                      </a:schemeClr>
                    </a:solidFill>
                  </a:rPr>
                  <a:t> </a:t>
                </a:r>
              </a:p>
              <a:p>
                <a:pPr>
                  <a:lnSpc>
                    <a:spcPct val="150000"/>
                  </a:lnSpc>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So</m:t>
                      </m:r>
                      <m:r>
                        <a:rPr lang="en-IN" sz="2800" b="0" i="0" smtClean="0">
                          <a:solidFill>
                            <a:srgbClr val="002060"/>
                          </a:solidFill>
                          <a:latin typeface="Cambria Math" panose="02040503050406030204" pitchFamily="18" charset="0"/>
                        </a:rPr>
                        <m:t>, </m:t>
                      </m:r>
                      <m:r>
                        <m:rPr>
                          <m:sty m:val="p"/>
                        </m:rPr>
                        <a:rPr lang="en-US" sz="2800" i="0">
                          <a:solidFill>
                            <a:srgbClr val="002060"/>
                          </a:solidFill>
                          <a:latin typeface="Cambria Math" panose="02040503050406030204" pitchFamily="18" charset="0"/>
                        </a:rPr>
                        <m:t>x</m:t>
                      </m:r>
                      <m:r>
                        <a:rPr lang="en-US" sz="280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0">
                              <a:solidFill>
                                <a:srgbClr val="002060"/>
                              </a:solidFill>
                              <a:latin typeface="Cambria Math" panose="02040503050406030204" pitchFamily="18" charset="0"/>
                            </a:rPr>
                            <m:t>2000×15</m:t>
                          </m:r>
                        </m:num>
                        <m:den>
                          <m:r>
                            <a:rPr lang="en-US" sz="2800" i="0">
                              <a:solidFill>
                                <a:srgbClr val="002060"/>
                              </a:solidFill>
                              <a:latin typeface="Cambria Math" panose="02040503050406030204" pitchFamily="18" charset="0"/>
                            </a:rPr>
                            <m:t>100</m:t>
                          </m:r>
                        </m:den>
                      </m:f>
                      <m:r>
                        <a:rPr lang="en-US" sz="2800" i="0">
                          <a:solidFill>
                            <a:srgbClr val="002060"/>
                          </a:solidFill>
                          <a:latin typeface="Cambria Math" panose="02040503050406030204" pitchFamily="18" charset="0"/>
                        </a:rPr>
                        <m:t>=300</m:t>
                      </m:r>
                    </m:oMath>
                  </m:oMathPara>
                </a14:m>
                <a:endParaRPr lang="en-IN" sz="2800"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70340" y="776431"/>
                <a:ext cx="11929402" cy="3258713"/>
              </a:xfrm>
              <a:prstGeom prst="rect">
                <a:avLst/>
              </a:prstGeom>
              <a:blipFill rotWithShape="0">
                <a:blip r:embed="rId2"/>
                <a:stretch>
                  <a:fillRect l="-1074"/>
                </a:stretch>
              </a:blipFill>
            </p:spPr>
            <p:txBody>
              <a:bodyPr/>
              <a:lstStyle/>
              <a:p>
                <a:r>
                  <a:rPr lang="en-IN">
                    <a:noFill/>
                  </a:rPr>
                  <a:t> </a:t>
                </a:r>
              </a:p>
            </p:txBody>
          </p:sp>
        </mc:Fallback>
      </mc:AlternateContent>
    </p:spTree>
    <p:extLst>
      <p:ext uri="{BB962C8B-B14F-4D97-AF65-F5344CB8AC3E}">
        <p14:creationId xmlns:p14="http://schemas.microsoft.com/office/powerpoint/2010/main" val="53344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6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31299" y="1001514"/>
                <a:ext cx="11929402" cy="3013646"/>
              </a:xfrm>
              <a:prstGeom prst="rect">
                <a:avLst/>
              </a:prstGeom>
            </p:spPr>
            <p:txBody>
              <a:bodyPr wrap="square">
                <a:spAutoFit/>
              </a:bodyPr>
              <a:lstStyle/>
              <a:p>
                <a:pPr>
                  <a:lnSpc>
                    <a:spcPct val="150000"/>
                  </a:lnSpc>
                </a:pPr>
                <a:r>
                  <a:rPr lang="en-US" sz="2800" dirty="0">
                    <a:solidFill>
                      <a:srgbClr val="FF0000"/>
                    </a:solidFill>
                  </a:rPr>
                  <a:t>To find the probability that income will exceed </a:t>
                </a:r>
                <a:r>
                  <a:rPr lang="en-US" sz="2800" dirty="0" err="1">
                    <a:solidFill>
                      <a:srgbClr val="FF0000"/>
                    </a:solidFill>
                  </a:rPr>
                  <a:t>Rs</a:t>
                </a:r>
                <a:r>
                  <a:rPr lang="en-US" sz="2800" dirty="0">
                    <a:solidFill>
                      <a:srgbClr val="FF0000"/>
                    </a:solidFill>
                  </a:rPr>
                  <a:t>. </a:t>
                </a:r>
                <a:r>
                  <a:rPr lang="en-US" sz="2800" dirty="0">
                    <a:solidFill>
                      <a:srgbClr val="FF0000"/>
                    </a:solidFill>
                    <a:latin typeface="Cambria Math" panose="02040503050406030204" pitchFamily="18" charset="0"/>
                    <a:ea typeface="Cambria Math" panose="02040503050406030204" pitchFamily="18" charset="0"/>
                  </a:rPr>
                  <a:t>17000</a:t>
                </a:r>
                <a:r>
                  <a:rPr lang="en-US" sz="2800" dirty="0">
                    <a:solidFill>
                      <a:srgbClr val="FF0000"/>
                    </a:solidFill>
                  </a:rPr>
                  <a:t>, </a:t>
                </a:r>
                <a14:m>
                  <m:oMath xmlns:m="http://schemas.openxmlformats.org/officeDocument/2006/math">
                    <m:r>
                      <a:rPr lang="en-US" sz="2800" b="0" i="0">
                        <a:solidFill>
                          <a:srgbClr val="FF0000"/>
                        </a:solidFill>
                        <a:latin typeface="Cambria Math" panose="02040503050406030204" pitchFamily="18" charset="0"/>
                        <a:ea typeface="Cambria Math" panose="02040503050406030204" pitchFamily="18" charset="0"/>
                      </a:rPr>
                      <m:t>(</m:t>
                    </m:r>
                    <m:r>
                      <m:rPr>
                        <m:sty m:val="p"/>
                      </m:rPr>
                      <a:rPr lang="en-US" sz="2800" b="0" i="0">
                        <a:solidFill>
                          <a:srgbClr val="FF0000"/>
                        </a:solidFill>
                        <a:latin typeface="Cambria Math" panose="02040503050406030204" pitchFamily="18" charset="0"/>
                        <a:ea typeface="Cambria Math" panose="02040503050406030204" pitchFamily="18" charset="0"/>
                      </a:rPr>
                      <m:t>x</m:t>
                    </m:r>
                    <m:r>
                      <a:rPr lang="en-US" sz="2800" b="0" i="0">
                        <a:solidFill>
                          <a:srgbClr val="FF0000"/>
                        </a:solidFill>
                        <a:latin typeface="Cambria Math" panose="02040503050406030204" pitchFamily="18" charset="0"/>
                        <a:ea typeface="Cambria Math" panose="02040503050406030204" pitchFamily="18" charset="0"/>
                      </a:rPr>
                      <m:t>≥300)</m:t>
                    </m:r>
                  </m:oMath>
                </a14:m>
                <a:endParaRPr lang="en-IN" sz="2800" dirty="0">
                  <a:solidFill>
                    <a:srgbClr val="FF0000"/>
                  </a:solidFill>
                </a:endParaRPr>
              </a:p>
              <a:p>
                <a:pPr>
                  <a:lnSpc>
                    <a:spcPct val="150000"/>
                  </a:lnSpc>
                </a:pPr>
                <a:r>
                  <a:rPr lang="en-US" sz="2800" dirty="0">
                    <a:solidFill>
                      <a:schemeClr val="tx2">
                        <a:lumMod val="50000"/>
                      </a:schemeClr>
                    </a:solidFill>
                  </a:rPr>
                  <a:t>We know that, </a:t>
                </a:r>
                <a14:m>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e>
                    </m:d>
                    <m:r>
                      <a:rPr lang="en-US" sz="2800" b="0" i="0">
                        <a:solidFill>
                          <a:schemeClr val="tx2">
                            <a:lumMod val="50000"/>
                          </a:schemeClr>
                        </a:solidFill>
                        <a:latin typeface="Cambria Math" panose="02040503050406030204" pitchFamily="18" charset="0"/>
                        <a:ea typeface="Cambria Math" panose="02040503050406030204" pitchFamily="18" charset="0"/>
                      </a:rPr>
                      <m:t>=</m:t>
                    </m:r>
                    <m:sSup>
                      <m:sSupPr>
                        <m:ctrlPr>
                          <a:rPr lang="en-IN" sz="2800" i="1">
                            <a:solidFill>
                              <a:schemeClr val="tx2">
                                <a:lumMod val="50000"/>
                              </a:schemeClr>
                            </a:solidFill>
                            <a:latin typeface="Cambria Math" panose="02040503050406030204" pitchFamily="18" charset="0"/>
                            <a:ea typeface="Cambria Math" panose="02040503050406030204" pitchFamily="18" charset="0"/>
                          </a:rPr>
                        </m:ctrlPr>
                      </m:sSup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e</m:t>
                        </m:r>
                      </m:e>
                      <m:sup>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θx</m:t>
                        </m:r>
                      </m:sup>
                    </m:sSup>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i="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i="0">
                              <a:solidFill>
                                <a:schemeClr val="tx2">
                                  <a:lumMod val="50000"/>
                                </a:schemeClr>
                              </a:solidFill>
                              <a:latin typeface="Cambria Math" panose="02040503050406030204" pitchFamily="18" charset="0"/>
                              <a:ea typeface="Cambria Math" panose="02040503050406030204" pitchFamily="18" charset="0"/>
                            </a:rPr>
                            <m:t>X</m:t>
                          </m:r>
                          <m:r>
                            <a:rPr lang="en-US" sz="2800" i="0">
                              <a:solidFill>
                                <a:schemeClr val="tx2">
                                  <a:lumMod val="50000"/>
                                </a:schemeClr>
                              </a:solidFill>
                              <a:latin typeface="Cambria Math" panose="02040503050406030204" pitchFamily="18" charset="0"/>
                              <a:ea typeface="Cambria Math" panose="02040503050406030204" pitchFamily="18" charset="0"/>
                            </a:rPr>
                            <m:t>≥300</m:t>
                          </m:r>
                        </m:e>
                      </m:d>
                      <m:r>
                        <a:rPr lang="en-US" sz="2800" i="0">
                          <a:solidFill>
                            <a:schemeClr val="tx2">
                              <a:lumMod val="50000"/>
                            </a:schemeClr>
                          </a:solidFill>
                          <a:latin typeface="Cambria Math" panose="02040503050406030204" pitchFamily="18" charset="0"/>
                          <a:ea typeface="Cambria Math" panose="02040503050406030204" pitchFamily="18" charset="0"/>
                        </a:rPr>
                        <m:t>=</m:t>
                      </m:r>
                      <m:sSup>
                        <m:sSupPr>
                          <m:ctrlPr>
                            <a:rPr lang="en-IN" sz="2800" i="1">
                              <a:solidFill>
                                <a:schemeClr val="tx2">
                                  <a:lumMod val="50000"/>
                                </a:schemeClr>
                              </a:solidFill>
                              <a:latin typeface="Cambria Math" panose="02040503050406030204" pitchFamily="18" charset="0"/>
                              <a:ea typeface="Cambria Math" panose="02040503050406030204" pitchFamily="18" charset="0"/>
                            </a:rPr>
                          </m:ctrlPr>
                        </m:sSupPr>
                        <m:e>
                          <m:r>
                            <m:rPr>
                              <m:sty m:val="p"/>
                            </m:rPr>
                            <a:rPr lang="en-US" sz="2800" i="0">
                              <a:solidFill>
                                <a:schemeClr val="tx2">
                                  <a:lumMod val="50000"/>
                                </a:schemeClr>
                              </a:solidFill>
                              <a:latin typeface="Cambria Math" panose="02040503050406030204" pitchFamily="18" charset="0"/>
                              <a:ea typeface="Cambria Math" panose="02040503050406030204" pitchFamily="18" charset="0"/>
                            </a:rPr>
                            <m:t>e</m:t>
                          </m:r>
                        </m:e>
                        <m:sup>
                          <m:r>
                            <a:rPr lang="en-US" sz="280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i="0">
                                  <a:solidFill>
                                    <a:schemeClr val="tx2">
                                      <a:lumMod val="50000"/>
                                    </a:schemeClr>
                                  </a:solidFill>
                                  <a:latin typeface="Cambria Math" panose="02040503050406030204" pitchFamily="18" charset="0"/>
                                  <a:ea typeface="Cambria Math" panose="02040503050406030204" pitchFamily="18" charset="0"/>
                                </a:rPr>
                                <m:t>1</m:t>
                              </m:r>
                            </m:num>
                            <m:den>
                              <m:r>
                                <a:rPr lang="en-US" sz="2800" i="0">
                                  <a:solidFill>
                                    <a:schemeClr val="tx2">
                                      <a:lumMod val="50000"/>
                                    </a:schemeClr>
                                  </a:solidFill>
                                  <a:latin typeface="Cambria Math" panose="02040503050406030204" pitchFamily="18" charset="0"/>
                                  <a:ea typeface="Cambria Math" panose="02040503050406030204" pitchFamily="18" charset="0"/>
                                </a:rPr>
                                <m:t>3</m:t>
                              </m:r>
                            </m:den>
                          </m:f>
                          <m:r>
                            <a:rPr lang="en-US" sz="2800" i="0">
                              <a:solidFill>
                                <a:schemeClr val="tx2">
                                  <a:lumMod val="50000"/>
                                </a:schemeClr>
                              </a:solidFill>
                              <a:latin typeface="Cambria Math" panose="02040503050406030204" pitchFamily="18" charset="0"/>
                              <a:ea typeface="Cambria Math" panose="02040503050406030204" pitchFamily="18" charset="0"/>
                            </a:rPr>
                            <m:t>×300</m:t>
                          </m:r>
                        </m:sup>
                      </m:sSup>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ea typeface="Cambria Math" panose="02040503050406030204" pitchFamily="18" charset="0"/>
                        </a:rPr>
                        <m:t>𝐏</m:t>
                      </m:r>
                      <m:d>
                        <m:dPr>
                          <m:ctrlPr>
                            <a:rPr lang="en-IN" sz="2800" b="1" i="1">
                              <a:solidFill>
                                <a:srgbClr val="FF0000"/>
                              </a:solidFill>
                              <a:latin typeface="Cambria Math" panose="02040503050406030204" pitchFamily="18" charset="0"/>
                              <a:ea typeface="Cambria Math" panose="02040503050406030204" pitchFamily="18" charset="0"/>
                            </a:rPr>
                          </m:ctrlPr>
                        </m:dPr>
                        <m:e>
                          <m:r>
                            <a:rPr lang="en-US" sz="2800" b="1" i="0">
                              <a:solidFill>
                                <a:srgbClr val="FF0000"/>
                              </a:solidFill>
                              <a:latin typeface="Cambria Math" panose="02040503050406030204" pitchFamily="18" charset="0"/>
                              <a:ea typeface="Cambria Math" panose="02040503050406030204" pitchFamily="18" charset="0"/>
                            </a:rPr>
                            <m:t>𝐗</m:t>
                          </m:r>
                          <m:r>
                            <a:rPr lang="en-US" sz="2800" b="1" i="0">
                              <a:solidFill>
                                <a:srgbClr val="FF0000"/>
                              </a:solidFill>
                              <a:latin typeface="Cambria Math" panose="02040503050406030204" pitchFamily="18" charset="0"/>
                              <a:ea typeface="Cambria Math" panose="02040503050406030204" pitchFamily="18" charset="0"/>
                            </a:rPr>
                            <m:t>≥</m:t>
                          </m:r>
                          <m:r>
                            <a:rPr lang="en-US" sz="2800" b="1" i="0">
                              <a:solidFill>
                                <a:srgbClr val="FF0000"/>
                              </a:solidFill>
                              <a:latin typeface="Cambria Math" panose="02040503050406030204" pitchFamily="18" charset="0"/>
                              <a:ea typeface="Cambria Math" panose="02040503050406030204" pitchFamily="18" charset="0"/>
                            </a:rPr>
                            <m:t>𝟑𝟎𝟎</m:t>
                          </m:r>
                        </m:e>
                      </m:d>
                      <m:r>
                        <a:rPr lang="en-US" sz="2800" b="1" i="0">
                          <a:solidFill>
                            <a:srgbClr val="FF0000"/>
                          </a:solidFill>
                          <a:latin typeface="Cambria Math" panose="02040503050406030204" pitchFamily="18" charset="0"/>
                          <a:ea typeface="Cambria Math" panose="02040503050406030204" pitchFamily="18" charset="0"/>
                        </a:rPr>
                        <m:t>=</m:t>
                      </m:r>
                      <m:sSup>
                        <m:sSupPr>
                          <m:ctrlPr>
                            <a:rPr lang="en-IN" sz="2800" b="1" i="1">
                              <a:solidFill>
                                <a:srgbClr val="FF0000"/>
                              </a:solidFill>
                              <a:latin typeface="Cambria Math" panose="02040503050406030204" pitchFamily="18" charset="0"/>
                              <a:ea typeface="Cambria Math" panose="02040503050406030204" pitchFamily="18" charset="0"/>
                            </a:rPr>
                          </m:ctrlPr>
                        </m:sSupPr>
                        <m:e>
                          <m:r>
                            <a:rPr lang="en-US" sz="2800" b="1" i="0">
                              <a:solidFill>
                                <a:srgbClr val="FF0000"/>
                              </a:solidFill>
                              <a:latin typeface="Cambria Math" panose="02040503050406030204" pitchFamily="18" charset="0"/>
                              <a:ea typeface="Cambria Math" panose="02040503050406030204" pitchFamily="18" charset="0"/>
                            </a:rPr>
                            <m:t>𝐞</m:t>
                          </m:r>
                        </m:e>
                        <m:sup>
                          <m:r>
                            <a:rPr lang="en-US" sz="2800" b="1" i="0">
                              <a:solidFill>
                                <a:srgbClr val="FF0000"/>
                              </a:solidFill>
                              <a:latin typeface="Cambria Math" panose="02040503050406030204" pitchFamily="18" charset="0"/>
                              <a:ea typeface="Cambria Math" panose="02040503050406030204" pitchFamily="18" charset="0"/>
                            </a:rPr>
                            <m:t>−</m:t>
                          </m:r>
                          <m:r>
                            <a:rPr lang="en-US" sz="2800" b="1" i="0">
                              <a:solidFill>
                                <a:srgbClr val="FF0000"/>
                              </a:solidFill>
                              <a:latin typeface="Cambria Math" panose="02040503050406030204" pitchFamily="18" charset="0"/>
                              <a:ea typeface="Cambria Math" panose="02040503050406030204" pitchFamily="18" charset="0"/>
                            </a:rPr>
                            <m:t>𝟏𝟎𝟎</m:t>
                          </m:r>
                        </m:sup>
                      </m:sSup>
                    </m:oMath>
                  </m:oMathPara>
                </a14:m>
                <a:endParaRPr lang="en-IN" sz="2800" b="1"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1299" y="1001514"/>
                <a:ext cx="11929402" cy="3013646"/>
              </a:xfrm>
              <a:prstGeom prst="rect">
                <a:avLst/>
              </a:prstGeom>
              <a:blipFill rotWithShape="0">
                <a:blip r:embed="rId2"/>
                <a:stretch>
                  <a:fillRect l="-1074"/>
                </a:stretch>
              </a:blipFill>
            </p:spPr>
            <p:txBody>
              <a:bodyPr/>
              <a:lstStyle/>
              <a:p>
                <a:r>
                  <a:rPr lang="en-IN">
                    <a:noFill/>
                  </a:rPr>
                  <a:t> </a:t>
                </a:r>
              </a:p>
            </p:txBody>
          </p:sp>
        </mc:Fallback>
      </mc:AlternateContent>
    </p:spTree>
    <p:extLst>
      <p:ext uri="{BB962C8B-B14F-4D97-AF65-F5344CB8AC3E}">
        <p14:creationId xmlns:p14="http://schemas.microsoft.com/office/powerpoint/2010/main" val="108862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789427"/>
                <a:ext cx="11929643" cy="4373416"/>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A random variable has an exponential distribution with probability density</a:t>
                </a:r>
              </a:p>
              <a:p>
                <a:pPr>
                  <a:lnSpc>
                    <a:spcPct val="100000"/>
                  </a:lnSpc>
                </a:pPr>
                <a:r>
                  <a:rPr lang="en-US" dirty="0"/>
                  <a:t> </a:t>
                </a:r>
              </a:p>
              <a:p>
                <a:pPr>
                  <a:lnSpc>
                    <a:spcPct val="100000"/>
                  </a:lnSpc>
                </a:pPr>
                <a14:m>
                  <m:oMathPara xmlns:m="http://schemas.openxmlformats.org/officeDocument/2006/math">
                    <m:oMathParaPr>
                      <m:jc m:val="centerGroup"/>
                    </m:oMathParaPr>
                    <m:oMath xmlns:m="http://schemas.openxmlformats.org/officeDocument/2006/math">
                      <m:r>
                        <m:rPr>
                          <m:sty m:val="p"/>
                        </m:rPr>
                        <a:rPr lang="en-US" smtClean="0">
                          <a:solidFill>
                            <a:schemeClr val="bg1"/>
                          </a:solidFill>
                          <a:latin typeface="Cambria Math" panose="02040503050406030204" pitchFamily="18" charset="0"/>
                        </a:rPr>
                        <m:t>f</m:t>
                      </m:r>
                      <m:d>
                        <m:dPr>
                          <m:ctrlPr>
                            <a:rPr lang="en-IN"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rPr>
                            <m:t>x</m:t>
                          </m:r>
                        </m:e>
                      </m:d>
                      <m:r>
                        <a:rPr lang="en-US">
                          <a:solidFill>
                            <a:schemeClr val="bg1"/>
                          </a:solidFill>
                          <a:latin typeface="Cambria Math" panose="02040503050406030204" pitchFamily="18" charset="0"/>
                        </a:rPr>
                        <m:t>=</m:t>
                      </m:r>
                      <m:d>
                        <m:dPr>
                          <m:begChr m:val="{"/>
                          <m:endChr m:val=""/>
                          <m:ctrlPr>
                            <a:rPr lang="en-IN" i="1">
                              <a:solidFill>
                                <a:schemeClr val="bg1"/>
                              </a:solidFill>
                              <a:latin typeface="Cambria Math" panose="02040503050406030204" pitchFamily="18" charset="0"/>
                            </a:rPr>
                          </m:ctrlPr>
                        </m:dPr>
                        <m:e>
                          <m:r>
                            <a:rPr lang="en-US">
                              <a:solidFill>
                                <a:schemeClr val="bg1"/>
                              </a:solidFill>
                              <a:latin typeface="Cambria Math" panose="02040503050406030204" pitchFamily="18" charset="0"/>
                            </a:rPr>
                            <m:t> </m:t>
                          </m:r>
                          <m:eqArr>
                            <m:eqArrPr>
                              <m:ctrlPr>
                                <a:rPr lang="en-IN" i="1">
                                  <a:solidFill>
                                    <a:schemeClr val="bg1"/>
                                  </a:solidFill>
                                  <a:latin typeface="Cambria Math" panose="02040503050406030204" pitchFamily="18" charset="0"/>
                                </a:rPr>
                              </m:ctrlPr>
                            </m:eqArrPr>
                            <m:e>
                              <m:f>
                                <m:fPr>
                                  <m:ctrlPr>
                                    <a:rPr lang="en-IN" i="1">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1 </m:t>
                                  </m:r>
                                </m:num>
                                <m:den>
                                  <m:r>
                                    <a:rPr lang="en-US">
                                      <a:solidFill>
                                        <a:schemeClr val="bg1"/>
                                      </a:solidFill>
                                      <a:latin typeface="Cambria Math" panose="02040503050406030204" pitchFamily="18" charset="0"/>
                                    </a:rPr>
                                    <m:t>6</m:t>
                                  </m:r>
                                </m:den>
                              </m:f>
                              <m:r>
                                <a:rPr lang="en-US">
                                  <a:solidFill>
                                    <a:schemeClr val="bg1"/>
                                  </a:solidFill>
                                  <a:latin typeface="Cambria Math" panose="02040503050406030204" pitchFamily="18" charset="0"/>
                                </a:rPr>
                                <m:t>         &amp;; −3&lt;</m:t>
                              </m:r>
                              <m:r>
                                <m:rPr>
                                  <m:sty m:val="p"/>
                                </m:rPr>
                                <a:rPr lang="en-US">
                                  <a:solidFill>
                                    <a:schemeClr val="bg1"/>
                                  </a:solidFill>
                                  <a:latin typeface="Cambria Math" panose="02040503050406030204" pitchFamily="18" charset="0"/>
                                </a:rPr>
                                <m:t>x</m:t>
                              </m:r>
                              <m:r>
                                <a:rPr lang="en-US">
                                  <a:solidFill>
                                    <a:schemeClr val="bg1"/>
                                  </a:solidFill>
                                  <a:latin typeface="Cambria Math" panose="02040503050406030204" pitchFamily="18" charset="0"/>
                                </a:rPr>
                                <m:t>&lt;3</m:t>
                              </m:r>
                            </m:e>
                            <m:e/>
                            <m:e>
                              <m:r>
                                <a:rPr lang="en-US">
                                  <a:solidFill>
                                    <a:schemeClr val="bg1"/>
                                  </a:solidFill>
                                  <a:latin typeface="Cambria Math" panose="02040503050406030204" pitchFamily="18" charset="0"/>
                                </a:rPr>
                                <m:t>0           &amp;; </m:t>
                              </m:r>
                              <m:r>
                                <m:rPr>
                                  <m:sty m:val="p"/>
                                </m:rPr>
                                <a:rPr lang="en-US">
                                  <a:solidFill>
                                    <a:schemeClr val="bg1"/>
                                  </a:solidFill>
                                  <a:latin typeface="Cambria Math" panose="02040503050406030204" pitchFamily="18" charset="0"/>
                                </a:rPr>
                                <m:t>otherwise</m:t>
                              </m:r>
                            </m:e>
                          </m:eqArr>
                        </m:e>
                      </m:d>
                    </m:oMath>
                  </m:oMathPara>
                </a14:m>
                <a:endParaRPr lang="en-IN" dirty="0">
                  <a:solidFill>
                    <a:srgbClr val="002060"/>
                  </a:solidFill>
                  <a:latin typeface="Cambria Math" panose="02040503050406030204" pitchFamily="18" charset="0"/>
                </a:endParaRPr>
              </a:p>
              <a:p>
                <a:pPr>
                  <a:lnSpc>
                    <a:spcPct val="100000"/>
                  </a:lnSpc>
                </a:pPr>
                <a:endParaRPr lang="en-IN" dirty="0">
                  <a:solidFill>
                    <a:srgbClr val="002060"/>
                  </a:solidFill>
                  <a:latin typeface="Cambria Math" panose="02040503050406030204" pitchFamily="18" charset="0"/>
                </a:endParaRPr>
              </a:p>
              <a:p>
                <a:pPr>
                  <a:lnSpc>
                    <a:spcPct val="100000"/>
                  </a:lnSpc>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Find</m:t>
                      </m:r>
                      <m:r>
                        <a:rPr lang="en-US">
                          <a:latin typeface="Cambria Math" panose="02040503050406030204" pitchFamily="18" charset="0"/>
                        </a:rPr>
                        <m:t> </m:t>
                      </m:r>
                      <m:d>
                        <m:dPr>
                          <m:ctrlPr>
                            <a:rPr lang="en-IN"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a</m:t>
                          </m:r>
                        </m:e>
                      </m:d>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m:t>
                      </m:r>
                      <m:d>
                        <m:dPr>
                          <m:ctrlPr>
                            <a:rPr lang="en-IN"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X</m:t>
                          </m:r>
                          <m:r>
                            <a:rPr lang="en-US">
                              <a:latin typeface="Cambria Math" panose="02040503050406030204" pitchFamily="18" charset="0"/>
                              <a:ea typeface="Cambria Math" panose="02040503050406030204" pitchFamily="18" charset="0"/>
                            </a:rPr>
                            <m:t>&lt;2</m:t>
                          </m:r>
                        </m:e>
                      </m:d>
                      <m:r>
                        <a:rPr lang="en-US">
                          <a:latin typeface="Cambria Math" panose="02040503050406030204" pitchFamily="18" charset="0"/>
                          <a:ea typeface="Cambria Math" panose="02040503050406030204" pitchFamily="18" charset="0"/>
                        </a:rPr>
                        <m:t>,  </m:t>
                      </m:r>
                      <m:d>
                        <m:dPr>
                          <m:ctrlPr>
                            <a:rPr lang="en-IN" i="1">
                              <a:latin typeface="Cambria Math" panose="02040503050406030204" pitchFamily="18" charset="0"/>
                              <a:ea typeface="Cambria Math" panose="02040503050406030204" pitchFamily="18" charset="0"/>
                            </a:rPr>
                          </m:ctrlPr>
                        </m:dPr>
                        <m:e>
                          <m:r>
                            <m:rPr>
                              <m:sty m:val="p"/>
                            </m:rPr>
                            <a:rPr lang="en-US">
                              <a:latin typeface="Cambria Math" panose="02040503050406030204" pitchFamily="18" charset="0"/>
                              <a:ea typeface="Cambria Math" panose="02040503050406030204" pitchFamily="18" charset="0"/>
                            </a:rPr>
                            <m:t>b</m:t>
                          </m:r>
                        </m:e>
                      </m:d>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P</m:t>
                      </m:r>
                      <m:d>
                        <m:dPr>
                          <m:ctrlPr>
                            <a:rPr lang="en-IN" i="1">
                              <a:latin typeface="Cambria Math" panose="02040503050406030204" pitchFamily="18" charset="0"/>
                              <a:ea typeface="Cambria Math" panose="02040503050406030204" pitchFamily="18" charset="0"/>
                            </a:rPr>
                          </m:ctrlPr>
                        </m:dPr>
                        <m:e>
                          <m:d>
                            <m:dPr>
                              <m:begChr m:val="|"/>
                              <m:endChr m:val="|"/>
                              <m:ctrlPr>
                                <a:rPr lang="en-IN" i="1">
                                  <a:latin typeface="Cambria Math" panose="02040503050406030204" pitchFamily="18" charset="0"/>
                                  <a:ea typeface="Cambria Math" panose="02040503050406030204" pitchFamily="18" charset="0"/>
                                </a:rPr>
                              </m:ctrlPr>
                            </m:dPr>
                            <m:e>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X</m:t>
                              </m:r>
                              <m:r>
                                <a:rPr lang="en-US">
                                  <a:latin typeface="Cambria Math" panose="02040503050406030204" pitchFamily="18" charset="0"/>
                                  <a:ea typeface="Cambria Math" panose="02040503050406030204" pitchFamily="18" charset="0"/>
                                </a:rPr>
                                <m:t> </m:t>
                              </m:r>
                            </m:e>
                          </m:d>
                          <m:r>
                            <a:rPr lang="en-US">
                              <a:latin typeface="Cambria Math" panose="02040503050406030204" pitchFamily="18" charset="0"/>
                              <a:ea typeface="Cambria Math" panose="02040503050406030204" pitchFamily="18" charset="0"/>
                            </a:rPr>
                            <m:t>≤2</m:t>
                          </m:r>
                        </m:e>
                      </m:d>
                    </m:oMath>
                  </m:oMathPara>
                </a14:m>
                <a:endParaRPr lang="en-IN" dirty="0">
                  <a:solidFill>
                    <a:srgbClr val="002060"/>
                  </a:solidFill>
                  <a:latin typeface="Cambria Math" panose="02040503050406030204" pitchFamily="18" charset="0"/>
                  <a:ea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789427"/>
                <a:ext cx="11929643" cy="4373416"/>
              </a:xfrm>
              <a:prstGeom prst="rect">
                <a:avLst/>
              </a:prstGeom>
              <a:blipFill rotWithShape="0">
                <a:blip r:embed="rId2"/>
                <a:stretch>
                  <a:fillRect l="-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7</a:t>
            </a:r>
            <a:endParaRPr lang="en-US" dirty="0"/>
          </a:p>
        </p:txBody>
      </p:sp>
    </p:spTree>
    <p:extLst>
      <p:ext uri="{BB962C8B-B14F-4D97-AF65-F5344CB8AC3E}">
        <p14:creationId xmlns:p14="http://schemas.microsoft.com/office/powerpoint/2010/main" val="411193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903706" y="709417"/>
                <a:ext cx="9927223" cy="134972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chemeClr val="tx2">
                              <a:lumMod val="50000"/>
                            </a:schemeClr>
                          </a:solidFill>
                          <a:latin typeface="Cambria Math" panose="02040503050406030204" pitchFamily="18" charset="0"/>
                        </a:rPr>
                        <m:t>Note</m:t>
                      </m:r>
                      <m:r>
                        <a:rPr lang="en-IN" sz="2800" b="0" i="0" smtClean="0">
                          <a:solidFill>
                            <a:schemeClr val="tx2">
                              <a:lumMod val="50000"/>
                            </a:schemeClr>
                          </a:solidFill>
                          <a:latin typeface="Cambria Math" panose="02040503050406030204" pitchFamily="18" charset="0"/>
                        </a:rPr>
                        <m:t> </m:t>
                      </m:r>
                      <m:r>
                        <m:rPr>
                          <m:sty m:val="p"/>
                        </m:rPr>
                        <a:rPr lang="en-IN" sz="2800" b="0" i="0" smtClean="0">
                          <a:solidFill>
                            <a:schemeClr val="tx2">
                              <a:lumMod val="50000"/>
                            </a:schemeClr>
                          </a:solidFill>
                          <a:latin typeface="Cambria Math" panose="02040503050406030204" pitchFamily="18" charset="0"/>
                        </a:rPr>
                        <m:t>that</m:t>
                      </m:r>
                      <m:r>
                        <a:rPr lang="en-IN" sz="2800" b="0" i="0" smtClean="0">
                          <a:solidFill>
                            <a:schemeClr val="tx2">
                              <a:lumMod val="50000"/>
                            </a:schemeClr>
                          </a:solidFill>
                          <a:latin typeface="Cambria Math" panose="02040503050406030204" pitchFamily="18" charset="0"/>
                        </a:rPr>
                        <m:t>: </m:t>
                      </m:r>
                      <m:r>
                        <m:rPr>
                          <m:sty m:val="p"/>
                        </m:rPr>
                        <a:rPr lang="en-US" sz="2800" b="0" i="0" smtClean="0">
                          <a:solidFill>
                            <a:srgbClr val="FF0000"/>
                          </a:solidFill>
                          <a:latin typeface="Cambria Math" panose="02040503050406030204" pitchFamily="18" charset="0"/>
                          <a:ea typeface="Cambria Math" panose="02040503050406030204" pitchFamily="18" charset="0"/>
                        </a:rPr>
                        <m:t>P</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r>
                            <a:rPr lang="en-US" sz="2800" b="0" i="0">
                              <a:solidFill>
                                <a:srgbClr val="FF0000"/>
                              </a:solidFill>
                              <a:latin typeface="Cambria Math" panose="02040503050406030204" pitchFamily="18" charset="0"/>
                              <a:ea typeface="Cambria Math" panose="02040503050406030204" pitchFamily="18" charset="0"/>
                            </a:rPr>
                            <m:t>&lt;</m:t>
                          </m:r>
                          <m:r>
                            <m:rPr>
                              <m:sty m:val="p"/>
                            </m:rPr>
                            <a:rPr lang="en-US" sz="2800" b="0" i="0">
                              <a:solidFill>
                                <a:srgbClr val="FF0000"/>
                              </a:solidFill>
                              <a:latin typeface="Cambria Math" panose="02040503050406030204" pitchFamily="18" charset="0"/>
                              <a:ea typeface="Cambria Math" panose="02040503050406030204" pitchFamily="18" charset="0"/>
                            </a:rPr>
                            <m:t>x</m:t>
                          </m:r>
                        </m:e>
                      </m:d>
                      <m:r>
                        <a:rPr lang="en-US" sz="2800" b="0" i="0">
                          <a:solidFill>
                            <a:srgbClr val="FF0000"/>
                          </a:solidFill>
                          <a:latin typeface="Cambria Math" panose="02040503050406030204" pitchFamily="18" charset="0"/>
                          <a:ea typeface="Cambria Math" panose="02040503050406030204" pitchFamily="18" charset="0"/>
                        </a:rPr>
                        <m:t>=</m:t>
                      </m:r>
                      <m:nary>
                        <m:naryPr>
                          <m:limLoc m:val="undOvr"/>
                          <m:ctrlPr>
                            <a:rPr lang="en-IN" sz="2800" i="1">
                              <a:solidFill>
                                <a:srgbClr val="FF0000"/>
                              </a:solidFill>
                              <a:latin typeface="Cambria Math" panose="02040503050406030204" pitchFamily="18" charset="0"/>
                              <a:ea typeface="Cambria Math" panose="02040503050406030204" pitchFamily="18" charset="0"/>
                            </a:rPr>
                          </m:ctrlPr>
                        </m:naryPr>
                        <m:sub>
                          <m:r>
                            <a:rPr lang="en-US" sz="2800" b="0" i="0">
                              <a:solidFill>
                                <a:srgbClr val="FF0000"/>
                              </a:solidFill>
                              <a:latin typeface="Cambria Math" panose="02040503050406030204" pitchFamily="18" charset="0"/>
                              <a:ea typeface="Cambria Math" panose="02040503050406030204" pitchFamily="18" charset="0"/>
                            </a:rPr>
                            <m:t>−∞</m:t>
                          </m:r>
                        </m:sub>
                        <m:sup>
                          <m:r>
                            <m:rPr>
                              <m:sty m:val="p"/>
                            </m:rPr>
                            <a:rPr lang="en-US" sz="2800" b="0" i="0">
                              <a:solidFill>
                                <a:srgbClr val="FF0000"/>
                              </a:solidFill>
                              <a:latin typeface="Cambria Math" panose="02040503050406030204" pitchFamily="18" charset="0"/>
                              <a:ea typeface="Cambria Math" panose="02040503050406030204" pitchFamily="18" charset="0"/>
                            </a:rPr>
                            <m:t>x</m:t>
                          </m:r>
                        </m:sup>
                        <m:e>
                          <m:r>
                            <m:rPr>
                              <m:sty m:val="p"/>
                            </m:rPr>
                            <a:rPr lang="en-US" sz="2800" b="0" i="0">
                              <a:solidFill>
                                <a:srgbClr val="FF0000"/>
                              </a:solidFill>
                              <a:latin typeface="Cambria Math" panose="02040503050406030204" pitchFamily="18" charset="0"/>
                              <a:ea typeface="Cambria Math" panose="02040503050406030204" pitchFamily="18" charset="0"/>
                            </a:rPr>
                            <m:t>f</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e>
                          </m:d>
                        </m:e>
                      </m:nary>
                      <m:r>
                        <a:rPr lang="en-US" sz="2800" b="0" i="0">
                          <a:solidFill>
                            <a:srgbClr val="FF0000"/>
                          </a:solidFill>
                          <a:latin typeface="Cambria Math" panose="02040503050406030204" pitchFamily="18" charset="0"/>
                          <a:ea typeface="Cambria Math" panose="02040503050406030204" pitchFamily="18" charset="0"/>
                        </a:rPr>
                        <m:t> </m:t>
                      </m:r>
                      <m:r>
                        <m:rPr>
                          <m:sty m:val="p"/>
                        </m:rPr>
                        <a:rPr lang="en-US" sz="2800" b="0" i="0">
                          <a:solidFill>
                            <a:srgbClr val="FF0000"/>
                          </a:solidFill>
                          <a:latin typeface="Cambria Math" panose="02040503050406030204" pitchFamily="18" charset="0"/>
                          <a:ea typeface="Cambria Math" panose="02040503050406030204" pitchFamily="18" charset="0"/>
                        </a:rPr>
                        <m:t>dx</m:t>
                      </m:r>
                      <m:r>
                        <a:rPr lang="en-US" sz="2800" b="0" i="0">
                          <a:solidFill>
                            <a:srgbClr val="FF0000"/>
                          </a:solidFill>
                          <a:latin typeface="Cambria Math" panose="02040503050406030204" pitchFamily="18" charset="0"/>
                          <a:ea typeface="Cambria Math" panose="02040503050406030204" pitchFamily="18" charset="0"/>
                        </a:rPr>
                        <m:t>  &amp; </m:t>
                      </m:r>
                      <m:r>
                        <m:rPr>
                          <m:sty m:val="p"/>
                        </m:rPr>
                        <a:rPr lang="en-US" sz="2800" b="0" i="0">
                          <a:solidFill>
                            <a:srgbClr val="FF0000"/>
                          </a:solidFill>
                          <a:latin typeface="Cambria Math" panose="02040503050406030204" pitchFamily="18" charset="0"/>
                          <a:ea typeface="Cambria Math" panose="02040503050406030204" pitchFamily="18" charset="0"/>
                        </a:rPr>
                        <m:t>P</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r>
                            <a:rPr lang="en-US" sz="2800" b="0" i="0">
                              <a:solidFill>
                                <a:srgbClr val="FF0000"/>
                              </a:solidFill>
                              <a:latin typeface="Cambria Math" panose="02040503050406030204" pitchFamily="18" charset="0"/>
                              <a:ea typeface="Cambria Math" panose="02040503050406030204" pitchFamily="18" charset="0"/>
                            </a:rPr>
                            <m:t>&gt;</m:t>
                          </m:r>
                          <m:r>
                            <m:rPr>
                              <m:sty m:val="p"/>
                            </m:rPr>
                            <a:rPr lang="en-US" sz="2800" b="0" i="0">
                              <a:solidFill>
                                <a:srgbClr val="FF0000"/>
                              </a:solidFill>
                              <a:latin typeface="Cambria Math" panose="02040503050406030204" pitchFamily="18" charset="0"/>
                              <a:ea typeface="Cambria Math" panose="02040503050406030204" pitchFamily="18" charset="0"/>
                            </a:rPr>
                            <m:t>x</m:t>
                          </m:r>
                        </m:e>
                      </m:d>
                      <m:r>
                        <a:rPr lang="en-US" sz="2800" b="0" i="0">
                          <a:solidFill>
                            <a:srgbClr val="FF0000"/>
                          </a:solidFill>
                          <a:latin typeface="Cambria Math" panose="02040503050406030204" pitchFamily="18" charset="0"/>
                          <a:ea typeface="Cambria Math" panose="02040503050406030204" pitchFamily="18" charset="0"/>
                        </a:rPr>
                        <m:t>=</m:t>
                      </m:r>
                      <m:nary>
                        <m:naryPr>
                          <m:limLoc m:val="undOvr"/>
                          <m:ctrlPr>
                            <a:rPr lang="en-IN" sz="2800" i="1">
                              <a:solidFill>
                                <a:srgbClr val="FF0000"/>
                              </a:solidFill>
                              <a:latin typeface="Cambria Math" panose="02040503050406030204" pitchFamily="18" charset="0"/>
                              <a:ea typeface="Cambria Math" panose="02040503050406030204" pitchFamily="18" charset="0"/>
                            </a:rPr>
                          </m:ctrlPr>
                        </m:naryPr>
                        <m:sub>
                          <m:r>
                            <m:rPr>
                              <m:sty m:val="p"/>
                            </m:rPr>
                            <a:rPr lang="en-US" sz="2800" b="0" i="0">
                              <a:solidFill>
                                <a:srgbClr val="FF0000"/>
                              </a:solidFill>
                              <a:latin typeface="Cambria Math" panose="02040503050406030204" pitchFamily="18" charset="0"/>
                              <a:ea typeface="Cambria Math" panose="02040503050406030204" pitchFamily="18" charset="0"/>
                            </a:rPr>
                            <m:t>x</m:t>
                          </m:r>
                        </m:sub>
                        <m:sup>
                          <m:r>
                            <a:rPr lang="en-US" sz="2800" b="0" i="0">
                              <a:solidFill>
                                <a:srgbClr val="FF0000"/>
                              </a:solidFill>
                              <a:latin typeface="Cambria Math" panose="02040503050406030204" pitchFamily="18" charset="0"/>
                              <a:ea typeface="Cambria Math" panose="02040503050406030204" pitchFamily="18" charset="0"/>
                            </a:rPr>
                            <m:t>∞</m:t>
                          </m:r>
                        </m:sup>
                        <m:e>
                          <m:r>
                            <m:rPr>
                              <m:sty m:val="p"/>
                            </m:rPr>
                            <a:rPr lang="en-US" sz="2800" b="0" i="0">
                              <a:solidFill>
                                <a:srgbClr val="FF0000"/>
                              </a:solidFill>
                              <a:latin typeface="Cambria Math" panose="02040503050406030204" pitchFamily="18" charset="0"/>
                              <a:ea typeface="Cambria Math" panose="02040503050406030204" pitchFamily="18" charset="0"/>
                            </a:rPr>
                            <m:t>f</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e>
                          </m:d>
                        </m:e>
                      </m:nary>
                      <m:r>
                        <a:rPr lang="en-US" sz="2800" b="0" i="0">
                          <a:solidFill>
                            <a:srgbClr val="FF0000"/>
                          </a:solidFill>
                          <a:latin typeface="Cambria Math" panose="02040503050406030204" pitchFamily="18" charset="0"/>
                          <a:ea typeface="Cambria Math" panose="02040503050406030204" pitchFamily="18" charset="0"/>
                        </a:rPr>
                        <m:t> </m:t>
                      </m:r>
                      <m:r>
                        <m:rPr>
                          <m:sty m:val="p"/>
                        </m:rPr>
                        <a:rPr lang="en-US" sz="2800" b="0" i="0">
                          <a:solidFill>
                            <a:srgbClr val="FF0000"/>
                          </a:solidFill>
                          <a:latin typeface="Cambria Math" panose="02040503050406030204" pitchFamily="18" charset="0"/>
                          <a:ea typeface="Cambria Math" panose="02040503050406030204" pitchFamily="18" charset="0"/>
                        </a:rPr>
                        <m:t>dx</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903706" y="709417"/>
                <a:ext cx="9927223" cy="1349728"/>
              </a:xfrm>
              <a:prstGeom prst="rect">
                <a:avLst/>
              </a:prstGeom>
              <a:blipFill rotWithShape="0">
                <a:blip r:embed="rId2"/>
                <a:stretch>
                  <a:fillRect/>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B2D3FB0B-D709-43AC-B65F-29361B504B61}"/>
              </a:ext>
            </a:extLst>
          </p:cNvPr>
          <p:cNvSpPr/>
          <p:nvPr/>
        </p:nvSpPr>
        <p:spPr>
          <a:xfrm>
            <a:off x="131177" y="1102366"/>
            <a:ext cx="1478559"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5" name="Rectangle 4"/>
              <p:cNvSpPr/>
              <p:nvPr/>
            </p:nvSpPr>
            <p:spPr>
              <a:xfrm>
                <a:off x="131177" y="1857097"/>
                <a:ext cx="4237624" cy="4569456"/>
              </a:xfrm>
              <a:prstGeom prst="rect">
                <a:avLst/>
              </a:prstGeom>
            </p:spPr>
            <p:txBody>
              <a:bodyPr wrap="square">
                <a:spAutoFit/>
              </a:bodyPr>
              <a:lstStyle/>
              <a:p>
                <a:pPr marL="342900" lvl="0" indent="-342900">
                  <a:lnSpc>
                    <a:spcPct val="150000"/>
                  </a:lnSpc>
                  <a:spcBef>
                    <a:spcPts val="1200"/>
                  </a:spcBef>
                  <a:buFont typeface="+mj-lt"/>
                  <a:buAutoNum type="alphaLcParenBoth"/>
                  <a:tabLst>
                    <a:tab pos="447675" algn="l"/>
                  </a:tabLst>
                </a:pPr>
                <a:r>
                  <a:rPr lang="en-US" sz="2800" dirty="0">
                    <a:solidFill>
                      <a:srgbClr val="FF0000"/>
                    </a:solidFill>
                  </a:rPr>
                  <a:t>To find, </a:t>
                </a:r>
                <a14:m>
                  <m:oMath xmlns:m="http://schemas.openxmlformats.org/officeDocument/2006/math">
                    <m:r>
                      <m:rPr>
                        <m:sty m:val="p"/>
                      </m:rPr>
                      <a:rPr lang="en-US" sz="2800" b="0" i="0">
                        <a:solidFill>
                          <a:srgbClr val="FF0000"/>
                        </a:solidFill>
                        <a:effectLst/>
                        <a:latin typeface="Cambria Math" panose="02040503050406030204" pitchFamily="18" charset="0"/>
                        <a:ea typeface="Cambria Math" panose="02040503050406030204" pitchFamily="18" charset="0"/>
                        <a:cs typeface="Shruti"/>
                      </a:rPr>
                      <m:t>P</m:t>
                    </m:r>
                    <m:r>
                      <a:rPr lang="en-US" sz="2800" b="0" i="0">
                        <a:solidFill>
                          <a:srgbClr val="FF0000"/>
                        </a:solidFill>
                        <a:effectLst/>
                        <a:latin typeface="Cambria Math" panose="02040503050406030204" pitchFamily="18" charset="0"/>
                        <a:ea typeface="Cambria Math" panose="02040503050406030204" pitchFamily="18" charset="0"/>
                        <a:cs typeface="Shruti"/>
                      </a:rPr>
                      <m:t>(</m:t>
                    </m:r>
                    <m:r>
                      <m:rPr>
                        <m:sty m:val="p"/>
                      </m:rPr>
                      <a:rPr lang="en-US" sz="2800" b="0" i="0">
                        <a:solidFill>
                          <a:srgbClr val="FF0000"/>
                        </a:solidFill>
                        <a:effectLst/>
                        <a:latin typeface="Cambria Math" panose="02040503050406030204" pitchFamily="18" charset="0"/>
                        <a:ea typeface="Cambria Math" panose="02040503050406030204" pitchFamily="18" charset="0"/>
                        <a:cs typeface="Shruti"/>
                      </a:rPr>
                      <m:t>X</m:t>
                    </m:r>
                    <m:r>
                      <a:rPr lang="en-US" sz="2800" b="0" i="0">
                        <a:solidFill>
                          <a:srgbClr val="FF0000"/>
                        </a:solidFill>
                        <a:effectLst/>
                        <a:latin typeface="Cambria Math" panose="02040503050406030204" pitchFamily="18" charset="0"/>
                        <a:ea typeface="Cambria Math" panose="02040503050406030204" pitchFamily="18" charset="0"/>
                        <a:cs typeface="Shruti"/>
                      </a:rPr>
                      <m:t>&lt;2)</m:t>
                    </m:r>
                  </m:oMath>
                </a14:m>
                <a:endParaRPr lang="en-IN" sz="2800" dirty="0">
                  <a:solidFill>
                    <a:srgbClr val="FF0000"/>
                  </a:solidFill>
                  <a:effectLst/>
                  <a:latin typeface="Cambria Math" panose="02040503050406030204" pitchFamily="18" charset="0"/>
                  <a:ea typeface="Cambria Math" panose="02040503050406030204" pitchFamily="18" charset="0"/>
                  <a:cs typeface="Shruti"/>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&lt;</m:t>
                          </m:r>
                          <m:r>
                            <m:rPr>
                              <m:sty m:val="p"/>
                            </m:rPr>
                            <a:rPr lang="en-US" sz="2800" b="0" i="1">
                              <a:solidFill>
                                <a:srgbClr val="002060"/>
                              </a:solidFill>
                              <a:latin typeface="Cambria Math" panose="02040503050406030204" pitchFamily="18" charset="0"/>
                            </a:rPr>
                            <m:t>x</m:t>
                          </m:r>
                        </m:e>
                      </m:d>
                      <m:r>
                        <a:rPr lang="en-US" sz="2800" b="0">
                          <a:solidFill>
                            <a:srgbClr val="002060"/>
                          </a:solidFill>
                          <a:latin typeface="Cambria Math" panose="02040503050406030204" pitchFamily="18" charset="0"/>
                        </a:rPr>
                        <m:t>=</m:t>
                      </m:r>
                      <m:nary>
                        <m:naryPr>
                          <m:limLoc m:val="undOvr"/>
                          <m:ctrlPr>
                            <a:rPr lang="en-IN" sz="2800" i="1">
                              <a:solidFill>
                                <a:srgbClr val="002060"/>
                              </a:solidFill>
                              <a:latin typeface="Cambria Math" panose="02040503050406030204" pitchFamily="18" charset="0"/>
                            </a:rPr>
                          </m:ctrlPr>
                        </m:naryPr>
                        <m:sub>
                          <m:r>
                            <a:rPr lang="en-US" sz="2800" b="0">
                              <a:solidFill>
                                <a:srgbClr val="002060"/>
                              </a:solidFill>
                              <a:latin typeface="Cambria Math" panose="02040503050406030204" pitchFamily="18" charset="0"/>
                            </a:rPr>
                            <m:t>−∞</m:t>
                          </m:r>
                        </m:sub>
                        <m:sup>
                          <m:r>
                            <m:rPr>
                              <m:sty m:val="p"/>
                            </m:rPr>
                            <a:rPr lang="en-US" sz="2800" b="0" i="1">
                              <a:solidFill>
                                <a:srgbClr val="002060"/>
                              </a:solidFill>
                              <a:latin typeface="Cambria Math" panose="02040503050406030204" pitchFamily="18" charset="0"/>
                            </a:rPr>
                            <m:t>x</m:t>
                          </m:r>
                        </m:sup>
                        <m:e>
                          <m:r>
                            <m:rPr>
                              <m:sty m:val="p"/>
                            </m:rPr>
                            <a:rPr lang="en-US" sz="2800" b="0" i="1">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e>
                          </m:d>
                        </m:e>
                      </m:nary>
                      <m:r>
                        <a:rPr lang="en-US" sz="2800" b="0">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&lt;</m:t>
                          </m:r>
                          <m:r>
                            <a:rPr lang="en-US" sz="2800" b="0" i="1">
                              <a:solidFill>
                                <a:srgbClr val="002060"/>
                              </a:solidFill>
                              <a:latin typeface="Cambria Math" panose="02040503050406030204" pitchFamily="18" charset="0"/>
                            </a:rPr>
                            <m:t>2</m:t>
                          </m:r>
                        </m:e>
                      </m:d>
                      <m:r>
                        <a:rPr lang="en-US" sz="2800" b="0">
                          <a:solidFill>
                            <a:srgbClr val="002060"/>
                          </a:solidFill>
                          <a:latin typeface="Cambria Math" panose="02040503050406030204" pitchFamily="18" charset="0"/>
                        </a:rPr>
                        <m:t>=</m:t>
                      </m:r>
                      <m:nary>
                        <m:naryPr>
                          <m:limLoc m:val="undOvr"/>
                          <m:ctrlPr>
                            <a:rPr lang="en-IN" sz="2800" i="1">
                              <a:solidFill>
                                <a:srgbClr val="002060"/>
                              </a:solidFill>
                              <a:latin typeface="Cambria Math" panose="02040503050406030204" pitchFamily="18" charset="0"/>
                            </a:rPr>
                          </m:ctrlPr>
                        </m:naryPr>
                        <m:sub>
                          <m:r>
                            <a:rPr lang="en-US" sz="2800" b="0">
                              <a:solidFill>
                                <a:srgbClr val="002060"/>
                              </a:solidFill>
                              <a:latin typeface="Cambria Math" panose="02040503050406030204" pitchFamily="18" charset="0"/>
                            </a:rPr>
                            <m:t>−∞</m:t>
                          </m:r>
                        </m:sub>
                        <m:sup>
                          <m:r>
                            <a:rPr lang="en-US" sz="2800" b="0" i="1">
                              <a:solidFill>
                                <a:srgbClr val="002060"/>
                              </a:solidFill>
                              <a:latin typeface="Cambria Math" panose="02040503050406030204" pitchFamily="18" charset="0"/>
                            </a:rPr>
                            <m:t>2</m:t>
                          </m:r>
                        </m:sup>
                        <m:e>
                          <m:r>
                            <m:rPr>
                              <m:sty m:val="p"/>
                            </m:rPr>
                            <a:rPr lang="en-US" sz="2800" b="0" i="1">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e>
                          </m:d>
                        </m:e>
                      </m:nary>
                      <m:r>
                        <a:rPr lang="en-US" sz="2800" b="0">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31177" y="1857097"/>
                <a:ext cx="4237624" cy="4569456"/>
              </a:xfrm>
              <a:prstGeom prst="rect">
                <a:avLst/>
              </a:prstGeom>
              <a:blipFill rotWithShape="0">
                <a:blip r:embed="rId3"/>
                <a:stretch>
                  <a:fillRect l="-30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170583" y="1857097"/>
                <a:ext cx="6703887" cy="4019049"/>
              </a:xfrm>
              <a:prstGeom prst="rect">
                <a:avLst/>
              </a:prstGeom>
            </p:spPr>
            <p:txBody>
              <a:bodyPr wrap="square">
                <a:spAutoFit/>
              </a:bodyPr>
              <a:lstStyle/>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&lt;2</m:t>
                          </m:r>
                        </m:e>
                      </m:d>
                      <m:r>
                        <a:rPr lang="en-US" sz="2800" b="0" i="0">
                          <a:solidFill>
                            <a:srgbClr val="002060"/>
                          </a:solidFill>
                          <a:latin typeface="Cambria Math" panose="02040503050406030204" pitchFamily="18" charset="0"/>
                        </a:rPr>
                        <m:t>=</m:t>
                      </m:r>
                      <m:nary>
                        <m:naryPr>
                          <m:limLoc m:val="undOvr"/>
                          <m:ctrlPr>
                            <a:rPr lang="en-IN" sz="2800" i="1">
                              <a:solidFill>
                                <a:srgbClr val="002060"/>
                              </a:solidFill>
                              <a:latin typeface="Cambria Math" panose="02040503050406030204" pitchFamily="18" charset="0"/>
                            </a:rPr>
                          </m:ctrlPr>
                        </m:naryPr>
                        <m:sub>
                          <m:r>
                            <a:rPr lang="en-US" sz="2800" b="0" i="0">
                              <a:solidFill>
                                <a:srgbClr val="002060"/>
                              </a:solidFill>
                              <a:latin typeface="Cambria Math" panose="02040503050406030204" pitchFamily="18" charset="0"/>
                            </a:rPr>
                            <m:t>−∞</m:t>
                          </m:r>
                        </m:sub>
                        <m:sup>
                          <m:r>
                            <a:rPr lang="en-US" sz="2800" b="0" i="0">
                              <a:solidFill>
                                <a:srgbClr val="002060"/>
                              </a:solidFill>
                              <a:latin typeface="Cambria Math" panose="02040503050406030204" pitchFamily="18" charset="0"/>
                            </a:rPr>
                            <m:t>−3</m:t>
                          </m:r>
                        </m:sup>
                        <m:e>
                          <m:r>
                            <m:rPr>
                              <m:sty m:val="p"/>
                            </m:rPr>
                            <a:rPr lang="en-US" sz="2800" b="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e>
                          </m:d>
                        </m:e>
                      </m:nary>
                      <m:r>
                        <a:rPr lang="en-US" sz="2800" b="0" i="0">
                          <a:solidFill>
                            <a:srgbClr val="002060"/>
                          </a:solidFill>
                          <a:latin typeface="Cambria Math" panose="02040503050406030204" pitchFamily="18" charset="0"/>
                        </a:rPr>
                        <m:t> </m:t>
                      </m:r>
                      <m:r>
                        <m:rPr>
                          <m:sty m:val="p"/>
                        </m:rPr>
                        <a:rPr lang="en-US" sz="2800" b="0" i="0">
                          <a:solidFill>
                            <a:srgbClr val="002060"/>
                          </a:solidFill>
                          <a:latin typeface="Cambria Math" panose="02040503050406030204" pitchFamily="18" charset="0"/>
                        </a:rPr>
                        <m:t>dx</m:t>
                      </m:r>
                      <m:r>
                        <a:rPr lang="en-US" sz="2800" b="0" i="0">
                          <a:solidFill>
                            <a:srgbClr val="002060"/>
                          </a:solidFill>
                          <a:latin typeface="Cambria Math" panose="02040503050406030204" pitchFamily="18" charset="0"/>
                        </a:rPr>
                        <m:t>+</m:t>
                      </m:r>
                      <m:nary>
                        <m:naryPr>
                          <m:limLoc m:val="undOvr"/>
                          <m:ctrlPr>
                            <a:rPr lang="en-IN" sz="2800" i="1">
                              <a:solidFill>
                                <a:srgbClr val="002060"/>
                              </a:solidFill>
                              <a:latin typeface="Cambria Math" panose="02040503050406030204" pitchFamily="18" charset="0"/>
                            </a:rPr>
                          </m:ctrlPr>
                        </m:naryPr>
                        <m:sub>
                          <m:r>
                            <a:rPr lang="en-US" sz="2800" b="0" i="0">
                              <a:solidFill>
                                <a:srgbClr val="002060"/>
                              </a:solidFill>
                              <a:latin typeface="Cambria Math" panose="02040503050406030204" pitchFamily="18" charset="0"/>
                            </a:rPr>
                            <m:t>−3</m:t>
                          </m:r>
                        </m:sub>
                        <m:sup>
                          <m:r>
                            <a:rPr lang="en-US" sz="2800" b="0" i="0">
                              <a:solidFill>
                                <a:srgbClr val="002060"/>
                              </a:solidFill>
                              <a:latin typeface="Cambria Math" panose="02040503050406030204" pitchFamily="18" charset="0"/>
                            </a:rPr>
                            <m:t>2</m:t>
                          </m:r>
                        </m:sup>
                        <m:e>
                          <m:r>
                            <m:rPr>
                              <m:sty m:val="p"/>
                            </m:rPr>
                            <a:rPr lang="en-US" sz="2800" b="0" i="0">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e>
                          </m:d>
                        </m:e>
                      </m:nary>
                      <m:r>
                        <a:rPr lang="en-US" sz="2800" b="0" i="0">
                          <a:solidFill>
                            <a:srgbClr val="002060"/>
                          </a:solidFill>
                          <a:latin typeface="Cambria Math" panose="02040503050406030204" pitchFamily="18" charset="0"/>
                        </a:rPr>
                        <m:t> </m:t>
                      </m:r>
                      <m:r>
                        <m:rPr>
                          <m:sty m:val="p"/>
                        </m:rPr>
                        <a:rPr lang="en-US" sz="2800" b="0" i="0">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&lt;2</m:t>
                          </m:r>
                        </m:e>
                      </m:d>
                      <m:r>
                        <a:rPr lang="en-US" sz="2800" b="0" i="0">
                          <a:solidFill>
                            <a:srgbClr val="002060"/>
                          </a:solidFill>
                          <a:latin typeface="Cambria Math" panose="02040503050406030204" pitchFamily="18" charset="0"/>
                        </a:rPr>
                        <m:t>=0+</m:t>
                      </m:r>
                      <m:nary>
                        <m:naryPr>
                          <m:limLoc m:val="undOvr"/>
                          <m:ctrlPr>
                            <a:rPr lang="en-IN" sz="2800" i="1">
                              <a:solidFill>
                                <a:srgbClr val="002060"/>
                              </a:solidFill>
                              <a:latin typeface="Cambria Math" panose="02040503050406030204" pitchFamily="18" charset="0"/>
                            </a:rPr>
                          </m:ctrlPr>
                        </m:naryPr>
                        <m:sub>
                          <m:r>
                            <a:rPr lang="en-US" sz="2800" b="0" i="0">
                              <a:solidFill>
                                <a:srgbClr val="002060"/>
                              </a:solidFill>
                              <a:latin typeface="Cambria Math" panose="02040503050406030204" pitchFamily="18" charset="0"/>
                            </a:rPr>
                            <m:t>−3</m:t>
                          </m:r>
                        </m:sub>
                        <m:sup>
                          <m:r>
                            <a:rPr lang="en-US" sz="2800" b="0" i="0">
                              <a:solidFill>
                                <a:srgbClr val="002060"/>
                              </a:solidFill>
                              <a:latin typeface="Cambria Math" panose="02040503050406030204" pitchFamily="18" charset="0"/>
                            </a:rPr>
                            <m:t>2</m:t>
                          </m:r>
                        </m:sup>
                        <m:e>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6</m:t>
                              </m:r>
                            </m:den>
                          </m:f>
                        </m:e>
                      </m:nary>
                      <m:r>
                        <a:rPr lang="en-US" sz="2800" b="0" i="0">
                          <a:solidFill>
                            <a:srgbClr val="002060"/>
                          </a:solidFill>
                          <a:latin typeface="Cambria Math" panose="02040503050406030204" pitchFamily="18" charset="0"/>
                        </a:rPr>
                        <m:t> </m:t>
                      </m:r>
                      <m:r>
                        <m:rPr>
                          <m:sty m:val="p"/>
                        </m:rPr>
                        <a:rPr lang="en-US" sz="2800" b="0" i="0">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5170583" y="1857097"/>
                <a:ext cx="6703887" cy="4019049"/>
              </a:xfrm>
              <a:prstGeom prst="rect">
                <a:avLst/>
              </a:prstGeom>
              <a:blipFill rotWithShape="0">
                <a:blip r:embed="rId4"/>
                <a:stretch>
                  <a:fillRect/>
                </a:stretch>
              </a:blipFill>
            </p:spPr>
            <p:txBody>
              <a:bodyPr/>
              <a:lstStyle/>
              <a:p>
                <a:r>
                  <a:rPr lang="en-IN">
                    <a:noFill/>
                  </a:rPr>
                  <a:t> </a:t>
                </a:r>
              </a:p>
            </p:txBody>
          </p:sp>
        </mc:Fallback>
      </mc:AlternateContent>
      <p:cxnSp>
        <p:nvCxnSpPr>
          <p:cNvPr id="8" name="Straight Connector 7"/>
          <p:cNvCxnSpPr/>
          <p:nvPr/>
        </p:nvCxnSpPr>
        <p:spPr>
          <a:xfrm>
            <a:off x="4668342" y="1857097"/>
            <a:ext cx="0" cy="4569456"/>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628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249079" y="783771"/>
                <a:ext cx="9927223" cy="5046061"/>
              </a:xfrm>
              <a:prstGeom prst="rect">
                <a:avLst/>
              </a:prstGeom>
            </p:spPr>
            <p:txBody>
              <a:bodyPr wrap="square">
                <a:spAutoFit/>
              </a:bodyPr>
              <a:lstStyle/>
              <a:p>
                <a:pPr>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&lt;2</m:t>
                          </m:r>
                        </m:e>
                      </m:d>
                      <m:r>
                        <a:rPr lang="en-US" sz="2800" b="0" i="0">
                          <a:solidFill>
                            <a:srgbClr val="002060"/>
                          </a:solidFill>
                          <a:latin typeface="Cambria Math" panose="02040503050406030204" pitchFamily="18" charset="0"/>
                        </a:rPr>
                        <m:t>=0+</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6</m:t>
                          </m:r>
                        </m:den>
                      </m:f>
                      <m:nary>
                        <m:naryPr>
                          <m:limLoc m:val="undOvr"/>
                          <m:ctrlPr>
                            <a:rPr lang="en-IN" sz="2800" i="1">
                              <a:solidFill>
                                <a:srgbClr val="002060"/>
                              </a:solidFill>
                              <a:latin typeface="Cambria Math" panose="02040503050406030204" pitchFamily="18" charset="0"/>
                            </a:rPr>
                          </m:ctrlPr>
                        </m:naryPr>
                        <m:sub>
                          <m:r>
                            <a:rPr lang="en-US" sz="2800" b="0" i="0">
                              <a:solidFill>
                                <a:srgbClr val="002060"/>
                              </a:solidFill>
                              <a:latin typeface="Cambria Math" panose="02040503050406030204" pitchFamily="18" charset="0"/>
                            </a:rPr>
                            <m:t>−3</m:t>
                          </m:r>
                        </m:sub>
                        <m:sup>
                          <m:r>
                            <a:rPr lang="en-US" sz="2800" b="0" i="0">
                              <a:solidFill>
                                <a:srgbClr val="002060"/>
                              </a:solidFill>
                              <a:latin typeface="Cambria Math" panose="02040503050406030204" pitchFamily="18" charset="0"/>
                            </a:rPr>
                            <m:t>2</m:t>
                          </m:r>
                        </m:sup>
                        <m:e>
                          <m:r>
                            <a:rPr lang="en-US" sz="2800" b="0" i="0">
                              <a:solidFill>
                                <a:srgbClr val="002060"/>
                              </a:solidFill>
                              <a:latin typeface="Cambria Math" panose="02040503050406030204" pitchFamily="18" charset="0"/>
                            </a:rPr>
                            <m:t>1</m:t>
                          </m:r>
                        </m:e>
                      </m:nary>
                      <m:r>
                        <a:rPr lang="en-US" sz="2800" b="0" i="0">
                          <a:solidFill>
                            <a:srgbClr val="002060"/>
                          </a:solidFill>
                          <a:latin typeface="Cambria Math" panose="02040503050406030204" pitchFamily="18" charset="0"/>
                        </a:rPr>
                        <m:t> </m:t>
                      </m:r>
                      <m:r>
                        <m:rPr>
                          <m:sty m:val="p"/>
                        </m:rPr>
                        <a:rPr lang="en-US" sz="2800" b="0" i="0">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&lt;2</m:t>
                          </m:r>
                        </m:e>
                      </m:d>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6</m:t>
                          </m:r>
                        </m:den>
                      </m:f>
                      <m:r>
                        <a:rPr lang="en-US" sz="2800" b="0" i="0">
                          <a:solidFill>
                            <a:srgbClr val="002060"/>
                          </a:solidFill>
                          <a:latin typeface="Cambria Math" panose="02040503050406030204" pitchFamily="18" charset="0"/>
                        </a:rPr>
                        <m:t> </m:t>
                      </m:r>
                      <m:sSubSup>
                        <m:sSubSupPr>
                          <m:ctrlPr>
                            <a:rPr lang="en-IN" sz="2800" i="1">
                              <a:solidFill>
                                <a:srgbClr val="002060"/>
                              </a:solidFill>
                              <a:latin typeface="Cambria Math" panose="02040503050406030204" pitchFamily="18" charset="0"/>
                            </a:rPr>
                          </m:ctrlPr>
                        </m:sSubSupPr>
                        <m:e>
                          <m:d>
                            <m:dPr>
                              <m:begChr m:val="["/>
                              <m:endChr m:val="]"/>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e>
                          </m:d>
                        </m:e>
                        <m:sub>
                          <m:r>
                            <a:rPr lang="en-US" sz="2800" b="0" i="0">
                              <a:solidFill>
                                <a:srgbClr val="002060"/>
                              </a:solidFill>
                              <a:latin typeface="Cambria Math" panose="02040503050406030204" pitchFamily="18" charset="0"/>
                            </a:rPr>
                            <m:t>−3</m:t>
                          </m:r>
                        </m:sub>
                        <m:sup>
                          <m:r>
                            <a:rPr lang="en-US" sz="2800" b="0" i="0">
                              <a:solidFill>
                                <a:srgbClr val="002060"/>
                              </a:solidFill>
                              <a:latin typeface="Cambria Math" panose="02040503050406030204" pitchFamily="18" charset="0"/>
                            </a:rPr>
                            <m:t>2</m:t>
                          </m:r>
                        </m:sup>
                      </m:sSub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&lt;2</m:t>
                          </m:r>
                        </m:e>
                      </m:d>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6</m:t>
                          </m:r>
                        </m:den>
                      </m:f>
                      <m:r>
                        <a:rPr lang="en-US" sz="2800" b="0" i="0">
                          <a:solidFill>
                            <a:srgbClr val="002060"/>
                          </a:solidFill>
                          <a:latin typeface="Cambria Math" panose="02040503050406030204" pitchFamily="18" charset="0"/>
                        </a:rPr>
                        <m:t> [2−(−3)]</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&lt;</m:t>
                          </m:r>
                          <m:r>
                            <a:rPr lang="en-US" sz="2800" b="1" i="0">
                              <a:solidFill>
                                <a:srgbClr val="FF0000"/>
                              </a:solidFill>
                              <a:latin typeface="Cambria Math" panose="02040503050406030204" pitchFamily="18" charset="0"/>
                            </a:rPr>
                            <m:t>𝟐</m:t>
                          </m:r>
                        </m:e>
                      </m:d>
                      <m:r>
                        <a:rPr lang="en-US" sz="2800" b="1" i="0">
                          <a:solidFill>
                            <a:srgbClr val="FF0000"/>
                          </a:solidFill>
                          <a:latin typeface="Cambria Math" panose="02040503050406030204" pitchFamily="18" charset="0"/>
                        </a:rPr>
                        <m:t>=</m:t>
                      </m:r>
                      <m:f>
                        <m:fPr>
                          <m:ctrlPr>
                            <a:rPr lang="en-IN" sz="2800" b="1" i="1">
                              <a:solidFill>
                                <a:srgbClr val="FF0000"/>
                              </a:solidFill>
                              <a:latin typeface="Cambria Math" panose="02040503050406030204" pitchFamily="18" charset="0"/>
                            </a:rPr>
                          </m:ctrlPr>
                        </m:fPr>
                        <m:num>
                          <m:r>
                            <a:rPr lang="en-US" sz="2800" b="1" i="0">
                              <a:solidFill>
                                <a:srgbClr val="FF0000"/>
                              </a:solidFill>
                              <a:latin typeface="Cambria Math" panose="02040503050406030204" pitchFamily="18" charset="0"/>
                            </a:rPr>
                            <m:t>𝟓</m:t>
                          </m:r>
                        </m:num>
                        <m:den>
                          <m:r>
                            <a:rPr lang="en-US" sz="2800" b="1" i="0">
                              <a:solidFill>
                                <a:srgbClr val="FF0000"/>
                              </a:solidFill>
                              <a:latin typeface="Cambria Math" panose="02040503050406030204" pitchFamily="18" charset="0"/>
                            </a:rPr>
                            <m:t>𝟔</m:t>
                          </m:r>
                        </m:den>
                      </m:f>
                    </m:oMath>
                  </m:oMathPara>
                </a14:m>
                <a:endParaRPr lang="en-IN" sz="2800" b="1"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249079" y="783771"/>
                <a:ext cx="9927223" cy="5046061"/>
              </a:xfrm>
              <a:prstGeom prst="rect">
                <a:avLst/>
              </a:prstGeom>
              <a:blipFill rotWithShape="0">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5220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495821" y="695795"/>
                <a:ext cx="9927223" cy="1349728"/>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IN" sz="2800" b="0" i="0" smtClean="0">
                          <a:solidFill>
                            <a:schemeClr val="tx2">
                              <a:lumMod val="50000"/>
                            </a:schemeClr>
                          </a:solidFill>
                          <a:latin typeface="Cambria Math" panose="02040503050406030204" pitchFamily="18" charset="0"/>
                        </a:rPr>
                        <m:t>Note</m:t>
                      </m:r>
                      <m:r>
                        <a:rPr lang="en-IN" sz="2800" b="0" i="0" smtClean="0">
                          <a:solidFill>
                            <a:schemeClr val="tx2">
                              <a:lumMod val="50000"/>
                            </a:schemeClr>
                          </a:solidFill>
                          <a:latin typeface="Cambria Math" panose="02040503050406030204" pitchFamily="18" charset="0"/>
                        </a:rPr>
                        <m:t> </m:t>
                      </m:r>
                      <m:r>
                        <m:rPr>
                          <m:sty m:val="p"/>
                        </m:rPr>
                        <a:rPr lang="en-IN" sz="2800" b="0" i="0" smtClean="0">
                          <a:solidFill>
                            <a:schemeClr val="tx2">
                              <a:lumMod val="50000"/>
                            </a:schemeClr>
                          </a:solidFill>
                          <a:latin typeface="Cambria Math" panose="02040503050406030204" pitchFamily="18" charset="0"/>
                        </a:rPr>
                        <m:t>that</m:t>
                      </m:r>
                      <m:r>
                        <a:rPr lang="en-IN" sz="2800" b="0" i="0" smtClean="0">
                          <a:solidFill>
                            <a:schemeClr val="tx2">
                              <a:lumMod val="50000"/>
                            </a:schemeClr>
                          </a:solidFill>
                          <a:latin typeface="Cambria Math" panose="02040503050406030204" pitchFamily="18" charset="0"/>
                        </a:rPr>
                        <m:t>: </m:t>
                      </m:r>
                      <m:r>
                        <m:rPr>
                          <m:sty m:val="p"/>
                        </m:rPr>
                        <a:rPr lang="en-US" sz="2800" b="0" i="0" smtClean="0">
                          <a:solidFill>
                            <a:srgbClr val="FF0000"/>
                          </a:solidFill>
                          <a:latin typeface="Cambria Math" panose="02040503050406030204" pitchFamily="18" charset="0"/>
                          <a:ea typeface="Cambria Math" panose="02040503050406030204" pitchFamily="18" charset="0"/>
                        </a:rPr>
                        <m:t>P</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r>
                            <a:rPr lang="en-US" sz="2800" b="0" i="0">
                              <a:solidFill>
                                <a:srgbClr val="FF0000"/>
                              </a:solidFill>
                              <a:latin typeface="Cambria Math" panose="02040503050406030204" pitchFamily="18" charset="0"/>
                              <a:ea typeface="Cambria Math" panose="02040503050406030204" pitchFamily="18" charset="0"/>
                            </a:rPr>
                            <m:t>&lt;</m:t>
                          </m:r>
                          <m:r>
                            <m:rPr>
                              <m:sty m:val="p"/>
                            </m:rPr>
                            <a:rPr lang="en-US" sz="2800" b="0" i="0">
                              <a:solidFill>
                                <a:srgbClr val="FF0000"/>
                              </a:solidFill>
                              <a:latin typeface="Cambria Math" panose="02040503050406030204" pitchFamily="18" charset="0"/>
                              <a:ea typeface="Cambria Math" panose="02040503050406030204" pitchFamily="18" charset="0"/>
                            </a:rPr>
                            <m:t>x</m:t>
                          </m:r>
                        </m:e>
                      </m:d>
                      <m:r>
                        <a:rPr lang="en-US" sz="2800" b="0" i="0">
                          <a:solidFill>
                            <a:srgbClr val="FF0000"/>
                          </a:solidFill>
                          <a:latin typeface="Cambria Math" panose="02040503050406030204" pitchFamily="18" charset="0"/>
                          <a:ea typeface="Cambria Math" panose="02040503050406030204" pitchFamily="18" charset="0"/>
                        </a:rPr>
                        <m:t>=</m:t>
                      </m:r>
                      <m:nary>
                        <m:naryPr>
                          <m:limLoc m:val="undOvr"/>
                          <m:ctrlPr>
                            <a:rPr lang="en-IN" sz="2800" i="1">
                              <a:solidFill>
                                <a:srgbClr val="FF0000"/>
                              </a:solidFill>
                              <a:latin typeface="Cambria Math" panose="02040503050406030204" pitchFamily="18" charset="0"/>
                              <a:ea typeface="Cambria Math" panose="02040503050406030204" pitchFamily="18" charset="0"/>
                            </a:rPr>
                          </m:ctrlPr>
                        </m:naryPr>
                        <m:sub>
                          <m:r>
                            <a:rPr lang="en-US" sz="2800" b="0" i="0">
                              <a:solidFill>
                                <a:srgbClr val="FF0000"/>
                              </a:solidFill>
                              <a:latin typeface="Cambria Math" panose="02040503050406030204" pitchFamily="18" charset="0"/>
                              <a:ea typeface="Cambria Math" panose="02040503050406030204" pitchFamily="18" charset="0"/>
                            </a:rPr>
                            <m:t>−∞</m:t>
                          </m:r>
                        </m:sub>
                        <m:sup>
                          <m:r>
                            <m:rPr>
                              <m:sty m:val="p"/>
                            </m:rPr>
                            <a:rPr lang="en-US" sz="2800" b="0" i="0">
                              <a:solidFill>
                                <a:srgbClr val="FF0000"/>
                              </a:solidFill>
                              <a:latin typeface="Cambria Math" panose="02040503050406030204" pitchFamily="18" charset="0"/>
                              <a:ea typeface="Cambria Math" panose="02040503050406030204" pitchFamily="18" charset="0"/>
                            </a:rPr>
                            <m:t>x</m:t>
                          </m:r>
                        </m:sup>
                        <m:e>
                          <m:r>
                            <m:rPr>
                              <m:sty m:val="p"/>
                            </m:rPr>
                            <a:rPr lang="en-US" sz="2800" b="0" i="0">
                              <a:solidFill>
                                <a:srgbClr val="FF0000"/>
                              </a:solidFill>
                              <a:latin typeface="Cambria Math" panose="02040503050406030204" pitchFamily="18" charset="0"/>
                              <a:ea typeface="Cambria Math" panose="02040503050406030204" pitchFamily="18" charset="0"/>
                            </a:rPr>
                            <m:t>f</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e>
                          </m:d>
                        </m:e>
                      </m:nary>
                      <m:r>
                        <a:rPr lang="en-US" sz="2800" b="0" i="0">
                          <a:solidFill>
                            <a:srgbClr val="FF0000"/>
                          </a:solidFill>
                          <a:latin typeface="Cambria Math" panose="02040503050406030204" pitchFamily="18" charset="0"/>
                          <a:ea typeface="Cambria Math" panose="02040503050406030204" pitchFamily="18" charset="0"/>
                        </a:rPr>
                        <m:t> </m:t>
                      </m:r>
                      <m:r>
                        <m:rPr>
                          <m:sty m:val="p"/>
                        </m:rPr>
                        <a:rPr lang="en-US" sz="2800" b="0" i="0">
                          <a:solidFill>
                            <a:srgbClr val="FF0000"/>
                          </a:solidFill>
                          <a:latin typeface="Cambria Math" panose="02040503050406030204" pitchFamily="18" charset="0"/>
                          <a:ea typeface="Cambria Math" panose="02040503050406030204" pitchFamily="18" charset="0"/>
                        </a:rPr>
                        <m:t>dx</m:t>
                      </m:r>
                      <m:r>
                        <a:rPr lang="en-US" sz="2800" b="0" i="0">
                          <a:solidFill>
                            <a:srgbClr val="FF0000"/>
                          </a:solidFill>
                          <a:latin typeface="Cambria Math" panose="02040503050406030204" pitchFamily="18" charset="0"/>
                          <a:ea typeface="Cambria Math" panose="02040503050406030204" pitchFamily="18" charset="0"/>
                        </a:rPr>
                        <m:t>  &amp; </m:t>
                      </m:r>
                      <m:r>
                        <m:rPr>
                          <m:sty m:val="p"/>
                        </m:rPr>
                        <a:rPr lang="en-US" sz="2800" b="0" i="0">
                          <a:solidFill>
                            <a:srgbClr val="FF0000"/>
                          </a:solidFill>
                          <a:latin typeface="Cambria Math" panose="02040503050406030204" pitchFamily="18" charset="0"/>
                          <a:ea typeface="Cambria Math" panose="02040503050406030204" pitchFamily="18" charset="0"/>
                        </a:rPr>
                        <m:t>P</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r>
                            <a:rPr lang="en-US" sz="2800" b="0" i="0">
                              <a:solidFill>
                                <a:srgbClr val="FF0000"/>
                              </a:solidFill>
                              <a:latin typeface="Cambria Math" panose="02040503050406030204" pitchFamily="18" charset="0"/>
                              <a:ea typeface="Cambria Math" panose="02040503050406030204" pitchFamily="18" charset="0"/>
                            </a:rPr>
                            <m:t>&gt;</m:t>
                          </m:r>
                          <m:r>
                            <m:rPr>
                              <m:sty m:val="p"/>
                            </m:rPr>
                            <a:rPr lang="en-US" sz="2800" b="0" i="0">
                              <a:solidFill>
                                <a:srgbClr val="FF0000"/>
                              </a:solidFill>
                              <a:latin typeface="Cambria Math" panose="02040503050406030204" pitchFamily="18" charset="0"/>
                              <a:ea typeface="Cambria Math" panose="02040503050406030204" pitchFamily="18" charset="0"/>
                            </a:rPr>
                            <m:t>x</m:t>
                          </m:r>
                        </m:e>
                      </m:d>
                      <m:r>
                        <a:rPr lang="en-US" sz="2800" b="0" i="0">
                          <a:solidFill>
                            <a:srgbClr val="FF0000"/>
                          </a:solidFill>
                          <a:latin typeface="Cambria Math" panose="02040503050406030204" pitchFamily="18" charset="0"/>
                          <a:ea typeface="Cambria Math" panose="02040503050406030204" pitchFamily="18" charset="0"/>
                        </a:rPr>
                        <m:t>=</m:t>
                      </m:r>
                      <m:nary>
                        <m:naryPr>
                          <m:limLoc m:val="undOvr"/>
                          <m:ctrlPr>
                            <a:rPr lang="en-IN" sz="2800" i="1">
                              <a:solidFill>
                                <a:srgbClr val="FF0000"/>
                              </a:solidFill>
                              <a:latin typeface="Cambria Math" panose="02040503050406030204" pitchFamily="18" charset="0"/>
                              <a:ea typeface="Cambria Math" panose="02040503050406030204" pitchFamily="18" charset="0"/>
                            </a:rPr>
                          </m:ctrlPr>
                        </m:naryPr>
                        <m:sub>
                          <m:r>
                            <m:rPr>
                              <m:sty m:val="p"/>
                            </m:rPr>
                            <a:rPr lang="en-US" sz="2800" b="0" i="0">
                              <a:solidFill>
                                <a:srgbClr val="FF0000"/>
                              </a:solidFill>
                              <a:latin typeface="Cambria Math" panose="02040503050406030204" pitchFamily="18" charset="0"/>
                              <a:ea typeface="Cambria Math" panose="02040503050406030204" pitchFamily="18" charset="0"/>
                            </a:rPr>
                            <m:t>x</m:t>
                          </m:r>
                        </m:sub>
                        <m:sup>
                          <m:r>
                            <a:rPr lang="en-US" sz="2800" b="0" i="0">
                              <a:solidFill>
                                <a:srgbClr val="FF0000"/>
                              </a:solidFill>
                              <a:latin typeface="Cambria Math" panose="02040503050406030204" pitchFamily="18" charset="0"/>
                              <a:ea typeface="Cambria Math" panose="02040503050406030204" pitchFamily="18" charset="0"/>
                            </a:rPr>
                            <m:t>∞</m:t>
                          </m:r>
                        </m:sup>
                        <m:e>
                          <m:r>
                            <m:rPr>
                              <m:sty m:val="p"/>
                            </m:rPr>
                            <a:rPr lang="en-US" sz="2800" b="0" i="0">
                              <a:solidFill>
                                <a:srgbClr val="FF0000"/>
                              </a:solidFill>
                              <a:latin typeface="Cambria Math" panose="02040503050406030204" pitchFamily="18" charset="0"/>
                              <a:ea typeface="Cambria Math" panose="02040503050406030204" pitchFamily="18" charset="0"/>
                            </a:rPr>
                            <m:t>f</m:t>
                          </m:r>
                          <m:d>
                            <m:dPr>
                              <m:ctrlPr>
                                <a:rPr lang="en-IN" sz="2800" i="1">
                                  <a:solidFill>
                                    <a:srgbClr val="FF0000"/>
                                  </a:solidFill>
                                  <a:latin typeface="Cambria Math" panose="02040503050406030204" pitchFamily="18" charset="0"/>
                                  <a:ea typeface="Cambria Math" panose="02040503050406030204" pitchFamily="18" charset="0"/>
                                </a:rPr>
                              </m:ctrlPr>
                            </m:dPr>
                            <m:e>
                              <m:r>
                                <m:rPr>
                                  <m:sty m:val="p"/>
                                </m:rPr>
                                <a:rPr lang="en-US" sz="2800" b="0" i="0">
                                  <a:solidFill>
                                    <a:srgbClr val="FF0000"/>
                                  </a:solidFill>
                                  <a:latin typeface="Cambria Math" panose="02040503050406030204" pitchFamily="18" charset="0"/>
                                  <a:ea typeface="Cambria Math" panose="02040503050406030204" pitchFamily="18" charset="0"/>
                                </a:rPr>
                                <m:t>x</m:t>
                              </m:r>
                            </m:e>
                          </m:d>
                        </m:e>
                      </m:nary>
                      <m:r>
                        <a:rPr lang="en-US" sz="2800" b="0" i="0">
                          <a:solidFill>
                            <a:srgbClr val="FF0000"/>
                          </a:solidFill>
                          <a:latin typeface="Cambria Math" panose="02040503050406030204" pitchFamily="18" charset="0"/>
                          <a:ea typeface="Cambria Math" panose="02040503050406030204" pitchFamily="18" charset="0"/>
                        </a:rPr>
                        <m:t> </m:t>
                      </m:r>
                      <m:r>
                        <m:rPr>
                          <m:sty m:val="p"/>
                        </m:rPr>
                        <a:rPr lang="en-US" sz="2800" b="0" i="0">
                          <a:solidFill>
                            <a:srgbClr val="FF0000"/>
                          </a:solidFill>
                          <a:latin typeface="Cambria Math" panose="02040503050406030204" pitchFamily="18" charset="0"/>
                          <a:ea typeface="Cambria Math" panose="02040503050406030204" pitchFamily="18" charset="0"/>
                        </a:rPr>
                        <m:t>dx</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495821" y="695795"/>
                <a:ext cx="9927223" cy="1349728"/>
              </a:xfrm>
              <a:prstGeom prst="rect">
                <a:avLst/>
              </a:prstGeom>
              <a:blipFill rotWithShape="0">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31177" y="1857097"/>
                <a:ext cx="5152026" cy="4128951"/>
              </a:xfrm>
              <a:prstGeom prst="rect">
                <a:avLst/>
              </a:prstGeom>
            </p:spPr>
            <p:txBody>
              <a:bodyPr wrap="square">
                <a:spAutoFit/>
              </a:bodyPr>
              <a:lstStyle/>
              <a:p>
                <a:pPr lvl="0">
                  <a:lnSpc>
                    <a:spcPct val="150000"/>
                  </a:lnSpc>
                  <a:spcBef>
                    <a:spcPts val="1200"/>
                  </a:spcBef>
                  <a:tabLst>
                    <a:tab pos="447675" algn="l"/>
                  </a:tabLst>
                </a:pPr>
                <a:r>
                  <a:rPr lang="en-US" sz="2800" dirty="0">
                    <a:solidFill>
                      <a:srgbClr val="FF0000"/>
                    </a:solidFill>
                  </a:rPr>
                  <a:t>(b) To find, </a:t>
                </a:r>
                <a14:m>
                  <m:oMath xmlns:m="http://schemas.openxmlformats.org/officeDocument/2006/math">
                    <m:r>
                      <m:rPr>
                        <m:sty m:val="p"/>
                      </m:rPr>
                      <a:rPr lang="en-US" sz="2800" b="0" i="0">
                        <a:solidFill>
                          <a:srgbClr val="FF0000"/>
                        </a:solidFill>
                        <a:effectLst/>
                        <a:latin typeface="Cambria Math" panose="02040503050406030204" pitchFamily="18" charset="0"/>
                        <a:ea typeface="Cambria Math" panose="02040503050406030204" pitchFamily="18" charset="0"/>
                        <a:cs typeface="Shruti"/>
                      </a:rPr>
                      <m:t>P</m:t>
                    </m:r>
                    <m:r>
                      <a:rPr lang="en-US" sz="2800" b="0" i="0">
                        <a:solidFill>
                          <a:srgbClr val="FF0000"/>
                        </a:solidFill>
                        <a:effectLst/>
                        <a:latin typeface="Cambria Math" panose="02040503050406030204" pitchFamily="18" charset="0"/>
                        <a:ea typeface="Cambria Math" panose="02040503050406030204" pitchFamily="18" charset="0"/>
                        <a:cs typeface="Shruti"/>
                      </a:rPr>
                      <m:t>(</m:t>
                    </m:r>
                    <m:d>
                      <m:dPr>
                        <m:begChr m:val="|"/>
                        <m:endChr m:val="|"/>
                        <m:ctrlPr>
                          <a:rPr lang="en-US" sz="2800" b="0" i="1" smtClean="0">
                            <a:solidFill>
                              <a:srgbClr val="FF0000"/>
                            </a:solidFill>
                            <a:effectLst/>
                            <a:latin typeface="Cambria Math" panose="02040503050406030204" pitchFamily="18" charset="0"/>
                            <a:ea typeface="Cambria Math" panose="02040503050406030204" pitchFamily="18" charset="0"/>
                          </a:rPr>
                        </m:ctrlPr>
                      </m:dPr>
                      <m:e>
                        <m:r>
                          <m:rPr>
                            <m:sty m:val="p"/>
                          </m:rPr>
                          <a:rPr lang="en-US" sz="2800">
                            <a:solidFill>
                              <a:srgbClr val="FF0000"/>
                            </a:solidFill>
                            <a:latin typeface="Cambria Math" panose="02040503050406030204" pitchFamily="18" charset="0"/>
                            <a:ea typeface="Cambria Math" panose="02040503050406030204" pitchFamily="18" charset="0"/>
                            <a:cs typeface="Shruti"/>
                          </a:rPr>
                          <m:t>X</m:t>
                        </m:r>
                      </m:e>
                    </m:d>
                    <m:r>
                      <a:rPr lang="en-US" sz="2800" b="0" i="1" smtClean="0">
                        <a:solidFill>
                          <a:srgbClr val="FF0000"/>
                        </a:solidFill>
                        <a:effectLst/>
                        <a:latin typeface="Cambria Math" panose="02040503050406030204" pitchFamily="18" charset="0"/>
                        <a:ea typeface="Cambria Math" panose="02040503050406030204" pitchFamily="18" charset="0"/>
                        <a:cs typeface="Shruti"/>
                      </a:rPr>
                      <m:t>≤</m:t>
                    </m:r>
                    <m:r>
                      <a:rPr lang="en-US" sz="2800" b="0" i="0">
                        <a:solidFill>
                          <a:srgbClr val="FF0000"/>
                        </a:solidFill>
                        <a:effectLst/>
                        <a:latin typeface="Cambria Math" panose="02040503050406030204" pitchFamily="18" charset="0"/>
                        <a:ea typeface="Cambria Math" panose="02040503050406030204" pitchFamily="18" charset="0"/>
                        <a:cs typeface="Shruti"/>
                      </a:rPr>
                      <m:t>2)</m:t>
                    </m:r>
                  </m:oMath>
                </a14:m>
                <a:endParaRPr lang="en-IN" sz="2800" dirty="0">
                  <a:solidFill>
                    <a:srgbClr val="FF0000"/>
                  </a:solidFill>
                  <a:effectLst/>
                  <a:latin typeface="Cambria Math" panose="02040503050406030204" pitchFamily="18" charset="0"/>
                  <a:ea typeface="Cambria Math" panose="02040503050406030204" pitchFamily="18" charset="0"/>
                  <a:cs typeface="Shruti"/>
                </a:endParaRPr>
              </a:p>
              <a:p>
                <a:pPr lvl="0">
                  <a:lnSpc>
                    <a:spcPct val="150000"/>
                  </a:lnSpc>
                  <a:spcBef>
                    <a:spcPts val="1200"/>
                  </a:spcBef>
                  <a:tabLst>
                    <a:tab pos="447675" algn="l"/>
                  </a:tabLst>
                </a:pPr>
                <a:endParaRPr lang="en-IN" sz="2800" dirty="0">
                  <a:solidFill>
                    <a:srgbClr val="C00000"/>
                  </a:solidFill>
                  <a:effectLst/>
                  <a:latin typeface="Cambria Math" panose="02040503050406030204" pitchFamily="18" charset="0"/>
                  <a:ea typeface="Cambria Math" panose="02040503050406030204" pitchFamily="18" charset="0"/>
                  <a:cs typeface="Shruti"/>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r>
                        <a:rPr lang="en-US" sz="2800" b="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e>
                      </m:d>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P</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&lt;</m:t>
                      </m:r>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&lt;</m:t>
                      </m:r>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r>
                        <a:rPr lang="en-US" sz="2800" b="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e>
                      </m:d>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nary>
                        <m:naryPr>
                          <m:limLoc m:val="undOvr"/>
                          <m:ctrlPr>
                            <a:rPr lang="en-IN" sz="2800" i="1">
                              <a:solidFill>
                                <a:srgbClr val="002060"/>
                              </a:solidFill>
                              <a:latin typeface="Cambria Math" panose="02040503050406030204" pitchFamily="18" charset="0"/>
                            </a:rPr>
                          </m:ctrlPr>
                        </m:naryPr>
                        <m:sub>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sub>
                        <m:sup>
                          <m:r>
                            <a:rPr lang="en-US" sz="2800" b="0" i="1">
                              <a:solidFill>
                                <a:srgbClr val="002060"/>
                              </a:solidFill>
                              <a:latin typeface="Cambria Math" panose="02040503050406030204" pitchFamily="18" charset="0"/>
                            </a:rPr>
                            <m:t>2</m:t>
                          </m:r>
                        </m:sup>
                        <m:e>
                          <m:r>
                            <m:rPr>
                              <m:sty m:val="p"/>
                            </m:rPr>
                            <a:rPr lang="en-US" sz="2800" b="0" i="1">
                              <a:solidFill>
                                <a:srgbClr val="002060"/>
                              </a:solidFill>
                              <a:latin typeface="Cambria Math" panose="02040503050406030204" pitchFamily="18" charset="0"/>
                            </a:rPr>
                            <m:t>f</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e>
                          </m:d>
                        </m:e>
                      </m:nary>
                      <m:r>
                        <a:rPr lang="en-US" sz="2800" b="0">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31177" y="1857097"/>
                <a:ext cx="5152026" cy="4128951"/>
              </a:xfrm>
              <a:prstGeom prst="rect">
                <a:avLst/>
              </a:prstGeom>
              <a:blipFill rotWithShape="0">
                <a:blip r:embed="rId3"/>
                <a:stretch>
                  <a:fillRect l="-24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641918" y="1857097"/>
                <a:ext cx="4871803" cy="4546053"/>
              </a:xfrm>
              <a:prstGeom prst="rect">
                <a:avLst/>
              </a:prstGeom>
            </p:spPr>
            <p:txBody>
              <a:bodyPr wrap="square">
                <a:spAutoFit/>
              </a:bodyPr>
              <a:lstStyle/>
              <a:p>
                <a:pPr>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smtClean="0">
                          <a:solidFill>
                            <a:srgbClr val="002060"/>
                          </a:solidFill>
                          <a:latin typeface="Cambria Math" panose="02040503050406030204" pitchFamily="18" charset="0"/>
                        </a:rPr>
                        <m:t>P</m:t>
                      </m:r>
                      <m:r>
                        <a:rPr lang="en-US" sz="2800" b="0" i="0" smtClean="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e>
                      </m:d>
                      <m:r>
                        <a:rPr lang="en-US" sz="2800" b="0" i="0">
                          <a:solidFill>
                            <a:srgbClr val="002060"/>
                          </a:solidFill>
                          <a:latin typeface="Cambria Math" panose="02040503050406030204" pitchFamily="18" charset="0"/>
                        </a:rPr>
                        <m:t>≤2)=</m:t>
                      </m:r>
                      <m:nary>
                        <m:naryPr>
                          <m:limLoc m:val="undOvr"/>
                          <m:ctrlPr>
                            <a:rPr lang="en-IN" sz="2800" i="1">
                              <a:solidFill>
                                <a:srgbClr val="002060"/>
                              </a:solidFill>
                              <a:latin typeface="Cambria Math" panose="02040503050406030204" pitchFamily="18" charset="0"/>
                            </a:rPr>
                          </m:ctrlPr>
                        </m:naryPr>
                        <m:sub>
                          <m:r>
                            <a:rPr lang="en-US" sz="2800" b="0" i="0">
                              <a:solidFill>
                                <a:srgbClr val="002060"/>
                              </a:solidFill>
                              <a:latin typeface="Cambria Math" panose="02040503050406030204" pitchFamily="18" charset="0"/>
                            </a:rPr>
                            <m:t>−2</m:t>
                          </m:r>
                        </m:sub>
                        <m:sup>
                          <m:r>
                            <a:rPr lang="en-US" sz="2800" b="0" i="0">
                              <a:solidFill>
                                <a:srgbClr val="002060"/>
                              </a:solidFill>
                              <a:latin typeface="Cambria Math" panose="02040503050406030204" pitchFamily="18" charset="0"/>
                            </a:rPr>
                            <m:t>2</m:t>
                          </m:r>
                        </m:sup>
                        <m:e>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6</m:t>
                              </m:r>
                            </m:den>
                          </m:f>
                        </m:e>
                      </m:nary>
                      <m:r>
                        <a:rPr lang="en-US" sz="2800" b="0" i="0">
                          <a:solidFill>
                            <a:srgbClr val="002060"/>
                          </a:solidFill>
                          <a:latin typeface="Cambria Math" panose="02040503050406030204" pitchFamily="18" charset="0"/>
                        </a:rPr>
                        <m:t> </m:t>
                      </m:r>
                      <m:r>
                        <m:rPr>
                          <m:sty m:val="p"/>
                        </m:rPr>
                        <a:rPr lang="en-US" sz="2800" b="0" i="0">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m:t>
                      </m:r>
                      <m:d>
                        <m:dPr>
                          <m:begChr m:val="|"/>
                          <m:endChr m:val="|"/>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e>
                      </m:d>
                      <m:r>
                        <a:rPr lang="en-US" sz="2800" b="0" i="0">
                          <a:solidFill>
                            <a:srgbClr val="002060"/>
                          </a:solidFill>
                          <a:latin typeface="Cambria Math" panose="02040503050406030204" pitchFamily="18" charset="0"/>
                        </a:rPr>
                        <m:t>≤2)=</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6</m:t>
                          </m:r>
                        </m:den>
                      </m:f>
                      <m:nary>
                        <m:naryPr>
                          <m:limLoc m:val="undOvr"/>
                          <m:ctrlPr>
                            <a:rPr lang="en-IN" sz="2800" i="1">
                              <a:solidFill>
                                <a:srgbClr val="002060"/>
                              </a:solidFill>
                              <a:latin typeface="Cambria Math" panose="02040503050406030204" pitchFamily="18" charset="0"/>
                            </a:rPr>
                          </m:ctrlPr>
                        </m:naryPr>
                        <m:sub>
                          <m:r>
                            <a:rPr lang="en-US" sz="2800" b="0" i="0">
                              <a:solidFill>
                                <a:srgbClr val="002060"/>
                              </a:solidFill>
                              <a:latin typeface="Cambria Math" panose="02040503050406030204" pitchFamily="18" charset="0"/>
                            </a:rPr>
                            <m:t>−2</m:t>
                          </m:r>
                        </m:sub>
                        <m:sup>
                          <m:r>
                            <a:rPr lang="en-US" sz="2800" b="0" i="0">
                              <a:solidFill>
                                <a:srgbClr val="002060"/>
                              </a:solidFill>
                              <a:latin typeface="Cambria Math" panose="02040503050406030204" pitchFamily="18" charset="0"/>
                            </a:rPr>
                            <m:t>2</m:t>
                          </m:r>
                        </m:sup>
                        <m:e>
                          <m:r>
                            <a:rPr lang="en-US" sz="2800" b="0" i="0">
                              <a:solidFill>
                                <a:srgbClr val="002060"/>
                              </a:solidFill>
                              <a:latin typeface="Cambria Math" panose="02040503050406030204" pitchFamily="18" charset="0"/>
                            </a:rPr>
                            <m:t>1</m:t>
                          </m:r>
                        </m:e>
                      </m:nary>
                      <m:r>
                        <a:rPr lang="en-US" sz="2800" b="0" i="0">
                          <a:solidFill>
                            <a:srgbClr val="002060"/>
                          </a:solidFill>
                          <a:latin typeface="Cambria Math" panose="02040503050406030204" pitchFamily="18" charset="0"/>
                        </a:rPr>
                        <m:t> </m:t>
                      </m:r>
                      <m:r>
                        <m:rPr>
                          <m:sty m:val="p"/>
                        </m:rPr>
                        <a:rPr lang="en-US" sz="2800" b="0" i="0">
                          <a:solidFill>
                            <a:srgbClr val="002060"/>
                          </a:solidFill>
                          <a:latin typeface="Cambria Math" panose="02040503050406030204" pitchFamily="18" charset="0"/>
                        </a:rPr>
                        <m:t>dx</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US" sz="2800" b="0" i="1">
                              <a:solidFill>
                                <a:srgbClr val="002060"/>
                              </a:solidFill>
                              <a:latin typeface="Cambria Math" panose="02040503050406030204" pitchFamily="18" charset="0"/>
                            </a:rPr>
                          </m:ctrlPr>
                        </m:dPr>
                        <m:e>
                          <m:d>
                            <m:dPr>
                              <m:begChr m:val="|"/>
                              <m:endChr m:val="|"/>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e>
                          </m:d>
                          <m:r>
                            <a:rPr lang="en-US" sz="2800" b="0" i="0">
                              <a:solidFill>
                                <a:srgbClr val="002060"/>
                              </a:solidFill>
                              <a:latin typeface="Cambria Math" panose="02040503050406030204" pitchFamily="18" charset="0"/>
                            </a:rPr>
                            <m:t>≤2</m:t>
                          </m:r>
                        </m:e>
                      </m:d>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6</m:t>
                          </m:r>
                        </m:den>
                      </m:f>
                      <m:r>
                        <a:rPr lang="en-US" sz="2800" b="0" i="0">
                          <a:solidFill>
                            <a:srgbClr val="002060"/>
                          </a:solidFill>
                          <a:latin typeface="Cambria Math" panose="02040503050406030204" pitchFamily="18" charset="0"/>
                        </a:rPr>
                        <m:t> </m:t>
                      </m:r>
                      <m:sSubSup>
                        <m:sSubSupPr>
                          <m:ctrlPr>
                            <a:rPr lang="en-IN" sz="2800" i="1">
                              <a:solidFill>
                                <a:srgbClr val="002060"/>
                              </a:solidFill>
                              <a:latin typeface="Cambria Math" panose="02040503050406030204" pitchFamily="18" charset="0"/>
                            </a:rPr>
                          </m:ctrlPr>
                        </m:sSubSupPr>
                        <m:e>
                          <m:d>
                            <m:dPr>
                              <m:begChr m:val="["/>
                              <m:endChr m:val="]"/>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x</m:t>
                              </m:r>
                            </m:e>
                          </m:d>
                        </m:e>
                        <m:sub>
                          <m:r>
                            <a:rPr lang="en-US" sz="2800" b="0" i="0">
                              <a:solidFill>
                                <a:srgbClr val="002060"/>
                              </a:solidFill>
                              <a:latin typeface="Cambria Math" panose="02040503050406030204" pitchFamily="18" charset="0"/>
                            </a:rPr>
                            <m:t>−2</m:t>
                          </m:r>
                        </m:sub>
                        <m:sup>
                          <m:r>
                            <a:rPr lang="en-US" sz="2800" b="0" i="0">
                              <a:solidFill>
                                <a:srgbClr val="002060"/>
                              </a:solidFill>
                              <a:latin typeface="Cambria Math" panose="02040503050406030204" pitchFamily="18" charset="0"/>
                            </a:rPr>
                            <m:t>2</m:t>
                          </m:r>
                        </m:sup>
                      </m:sSubSup>
                      <m:r>
                        <a:rPr lang="en-IN" sz="2800" b="0" i="0" smtClean="0">
                          <a:solidFill>
                            <a:srgbClr val="002060"/>
                          </a:solidFill>
                          <a:latin typeface="Cambria Math" panose="02040503050406030204" pitchFamily="18" charset="0"/>
                        </a:rPr>
                        <m:t>=</m:t>
                      </m:r>
                      <m:f>
                        <m:fPr>
                          <m:ctrlPr>
                            <a:rPr lang="en-IN" sz="2800" b="1" i="1" smtClean="0">
                              <a:solidFill>
                                <a:srgbClr val="FF0000"/>
                              </a:solidFill>
                              <a:latin typeface="Cambria Math" panose="02040503050406030204" pitchFamily="18" charset="0"/>
                            </a:rPr>
                          </m:ctrlPr>
                        </m:fPr>
                        <m:num>
                          <m:r>
                            <a:rPr lang="en-IN" sz="2800" b="1" i="0" smtClean="0">
                              <a:solidFill>
                                <a:srgbClr val="FF0000"/>
                              </a:solidFill>
                              <a:latin typeface="Cambria Math" panose="02040503050406030204" pitchFamily="18" charset="0"/>
                            </a:rPr>
                            <m:t>𝟐</m:t>
                          </m:r>
                        </m:num>
                        <m:den>
                          <m:r>
                            <a:rPr lang="en-IN" sz="2800" b="1" i="0" smtClean="0">
                              <a:solidFill>
                                <a:srgbClr val="FF0000"/>
                              </a:solidFill>
                              <a:latin typeface="Cambria Math" panose="02040503050406030204" pitchFamily="18" charset="0"/>
                            </a:rPr>
                            <m:t>𝟑</m:t>
                          </m:r>
                        </m:den>
                      </m:f>
                    </m:oMath>
                  </m:oMathPara>
                </a14:m>
                <a:endParaRPr lang="en-IN" sz="2800" b="1" dirty="0">
                  <a:solidFill>
                    <a:srgbClr val="002060"/>
                  </a:solidFill>
                  <a:latin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641918" y="1857097"/>
                <a:ext cx="4871803" cy="4546053"/>
              </a:xfrm>
              <a:prstGeom prst="rect">
                <a:avLst/>
              </a:prstGeom>
              <a:blipFill rotWithShape="0">
                <a:blip r:embed="rId4"/>
                <a:stretch>
                  <a:fillRect/>
                </a:stretch>
              </a:blipFill>
            </p:spPr>
            <p:txBody>
              <a:bodyPr/>
              <a:lstStyle/>
              <a:p>
                <a:r>
                  <a:rPr lang="en-IN">
                    <a:noFill/>
                  </a:rPr>
                  <a:t> </a:t>
                </a:r>
              </a:p>
            </p:txBody>
          </p:sp>
        </mc:Fallback>
      </mc:AlternateContent>
      <p:cxnSp>
        <p:nvCxnSpPr>
          <p:cNvPr id="8" name="Straight Connector 7"/>
          <p:cNvCxnSpPr/>
          <p:nvPr/>
        </p:nvCxnSpPr>
        <p:spPr>
          <a:xfrm>
            <a:off x="5605178" y="2045523"/>
            <a:ext cx="0" cy="446611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003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789427"/>
                <a:ext cx="11929643" cy="4373416"/>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00000"/>
                  </a:lnSpc>
                </a:pPr>
                <a:r>
                  <a:rPr lang="en-US" dirty="0"/>
                  <a:t>A random variable has an exponential distribution with probability density</a:t>
                </a:r>
              </a:p>
              <a:p>
                <a:pPr>
                  <a:lnSpc>
                    <a:spcPct val="100000"/>
                  </a:lnSpc>
                </a:pPr>
                <a:r>
                  <a:rPr lang="en-US" dirty="0"/>
                  <a:t> </a:t>
                </a:r>
              </a:p>
              <a:p>
                <a:pPr>
                  <a:lnSpc>
                    <a:spcPct val="100000"/>
                  </a:lnSpc>
                </a:pPr>
                <a14:m>
                  <m:oMathPara xmlns:m="http://schemas.openxmlformats.org/officeDocument/2006/math">
                    <m:oMathParaPr>
                      <m:jc m:val="centerGroup"/>
                    </m:oMathParaPr>
                    <m:oMath xmlns:m="http://schemas.openxmlformats.org/officeDocument/2006/math">
                      <m:r>
                        <m:rPr>
                          <m:sty m:val="p"/>
                        </m:rPr>
                        <a:rPr lang="en-US" smtClean="0">
                          <a:solidFill>
                            <a:schemeClr val="bg1"/>
                          </a:solidFill>
                          <a:latin typeface="Cambria Math" panose="02040503050406030204" pitchFamily="18" charset="0"/>
                        </a:rPr>
                        <m:t>f</m:t>
                      </m:r>
                      <m:d>
                        <m:dPr>
                          <m:ctrlPr>
                            <a:rPr lang="en-IN" i="1">
                              <a:solidFill>
                                <a:schemeClr val="bg1"/>
                              </a:solidFill>
                              <a:latin typeface="Cambria Math" panose="02040503050406030204" pitchFamily="18" charset="0"/>
                            </a:rPr>
                          </m:ctrlPr>
                        </m:dPr>
                        <m:e>
                          <m:r>
                            <m:rPr>
                              <m:sty m:val="p"/>
                            </m:rPr>
                            <a:rPr lang="en-US">
                              <a:solidFill>
                                <a:schemeClr val="bg1"/>
                              </a:solidFill>
                              <a:latin typeface="Cambria Math" panose="02040503050406030204" pitchFamily="18" charset="0"/>
                            </a:rPr>
                            <m:t>x</m:t>
                          </m:r>
                        </m:e>
                      </m:d>
                      <m:r>
                        <a:rPr lang="en-US">
                          <a:solidFill>
                            <a:schemeClr val="bg1"/>
                          </a:solidFill>
                          <a:latin typeface="Cambria Math" panose="02040503050406030204" pitchFamily="18" charset="0"/>
                        </a:rPr>
                        <m:t>=</m:t>
                      </m:r>
                      <m:d>
                        <m:dPr>
                          <m:begChr m:val="{"/>
                          <m:endChr m:val=""/>
                          <m:ctrlPr>
                            <a:rPr lang="en-IN" i="1">
                              <a:solidFill>
                                <a:schemeClr val="bg1"/>
                              </a:solidFill>
                              <a:latin typeface="Cambria Math" panose="02040503050406030204" pitchFamily="18" charset="0"/>
                            </a:rPr>
                          </m:ctrlPr>
                        </m:dPr>
                        <m:e>
                          <m:r>
                            <a:rPr lang="en-US">
                              <a:solidFill>
                                <a:schemeClr val="bg1"/>
                              </a:solidFill>
                              <a:latin typeface="Cambria Math" panose="02040503050406030204" pitchFamily="18" charset="0"/>
                            </a:rPr>
                            <m:t> </m:t>
                          </m:r>
                          <m:eqArr>
                            <m:eqArrPr>
                              <m:ctrlPr>
                                <a:rPr lang="en-IN" i="1">
                                  <a:solidFill>
                                    <a:schemeClr val="bg1"/>
                                  </a:solidFill>
                                  <a:latin typeface="Cambria Math" panose="02040503050406030204" pitchFamily="18" charset="0"/>
                                </a:rPr>
                              </m:ctrlPr>
                            </m:eqArrPr>
                            <m:e>
                              <m:f>
                                <m:fPr>
                                  <m:ctrlPr>
                                    <a:rPr lang="en-IN" i="1">
                                      <a:solidFill>
                                        <a:schemeClr val="bg1"/>
                                      </a:solidFill>
                                      <a:latin typeface="Cambria Math" panose="02040503050406030204" pitchFamily="18" charset="0"/>
                                    </a:rPr>
                                  </m:ctrlPr>
                                </m:fPr>
                                <m:num>
                                  <m:r>
                                    <a:rPr lang="en-US">
                                      <a:solidFill>
                                        <a:schemeClr val="bg1"/>
                                      </a:solidFill>
                                      <a:latin typeface="Cambria Math" panose="02040503050406030204" pitchFamily="18" charset="0"/>
                                    </a:rPr>
                                    <m:t>1 </m:t>
                                  </m:r>
                                </m:num>
                                <m:den>
                                  <m:r>
                                    <a:rPr lang="en-IN" b="0" i="0" smtClean="0">
                                      <a:solidFill>
                                        <a:schemeClr val="bg1"/>
                                      </a:solidFill>
                                      <a:latin typeface="Cambria Math" panose="02040503050406030204" pitchFamily="18" charset="0"/>
                                    </a:rPr>
                                    <m:t>5</m:t>
                                  </m:r>
                                </m:den>
                              </m:f>
                              <m:sSup>
                                <m:sSupPr>
                                  <m:ctrlPr>
                                    <a:rPr lang="en-IN" b="0" i="1" smtClean="0">
                                      <a:solidFill>
                                        <a:schemeClr val="bg1"/>
                                      </a:solidFill>
                                      <a:latin typeface="Cambria Math" panose="02040503050406030204" pitchFamily="18" charset="0"/>
                                    </a:rPr>
                                  </m:ctrlPr>
                                </m:sSupPr>
                                <m:e>
                                  <m:r>
                                    <m:rPr>
                                      <m:sty m:val="p"/>
                                    </m:rPr>
                                    <a:rPr lang="en-IN" b="0" i="0" smtClean="0">
                                      <a:solidFill>
                                        <a:schemeClr val="bg1"/>
                                      </a:solidFill>
                                      <a:latin typeface="Cambria Math" panose="02040503050406030204" pitchFamily="18" charset="0"/>
                                    </a:rPr>
                                    <m:t>e</m:t>
                                  </m:r>
                                </m:e>
                                <m:sup>
                                  <m:r>
                                    <a:rPr lang="en-IN" b="0" i="0" smtClean="0">
                                      <a:solidFill>
                                        <a:schemeClr val="bg1"/>
                                      </a:solidFill>
                                      <a:latin typeface="Cambria Math" panose="02040503050406030204" pitchFamily="18" charset="0"/>
                                    </a:rPr>
                                    <m:t>−</m:t>
                                  </m:r>
                                  <m:d>
                                    <m:dPr>
                                      <m:ctrlPr>
                                        <a:rPr lang="en-IN" b="0" i="1" smtClean="0">
                                          <a:solidFill>
                                            <a:schemeClr val="bg1"/>
                                          </a:solidFill>
                                          <a:latin typeface="Cambria Math" panose="02040503050406030204" pitchFamily="18" charset="0"/>
                                        </a:rPr>
                                      </m:ctrlPr>
                                    </m:dPr>
                                    <m:e>
                                      <m:f>
                                        <m:fPr>
                                          <m:ctrlPr>
                                            <a:rPr lang="en-IN" b="0" i="1" smtClean="0">
                                              <a:solidFill>
                                                <a:schemeClr val="bg1"/>
                                              </a:solidFill>
                                              <a:latin typeface="Cambria Math" panose="02040503050406030204" pitchFamily="18" charset="0"/>
                                            </a:rPr>
                                          </m:ctrlPr>
                                        </m:fPr>
                                        <m:num>
                                          <m:r>
                                            <m:rPr>
                                              <m:sty m:val="p"/>
                                            </m:rPr>
                                            <a:rPr lang="en-IN" b="0" i="0" smtClean="0">
                                              <a:solidFill>
                                                <a:schemeClr val="bg1"/>
                                              </a:solidFill>
                                              <a:latin typeface="Cambria Math" panose="02040503050406030204" pitchFamily="18" charset="0"/>
                                            </a:rPr>
                                            <m:t>x</m:t>
                                          </m:r>
                                        </m:num>
                                        <m:den>
                                          <m:r>
                                            <a:rPr lang="en-IN" b="0" i="0" smtClean="0">
                                              <a:solidFill>
                                                <a:schemeClr val="bg1"/>
                                              </a:solidFill>
                                              <a:latin typeface="Cambria Math" panose="02040503050406030204" pitchFamily="18" charset="0"/>
                                            </a:rPr>
                                            <m:t>5</m:t>
                                          </m:r>
                                        </m:den>
                                      </m:f>
                                    </m:e>
                                  </m:d>
                                </m:sup>
                              </m:sSup>
                              <m:r>
                                <a:rPr lang="en-US">
                                  <a:solidFill>
                                    <a:schemeClr val="bg1"/>
                                  </a:solidFill>
                                  <a:latin typeface="Cambria Math" panose="02040503050406030204" pitchFamily="18" charset="0"/>
                                </a:rPr>
                                <m:t>         &amp;; </m:t>
                              </m:r>
                              <m:r>
                                <m:rPr>
                                  <m:sty m:val="p"/>
                                </m:rPr>
                                <a:rPr lang="en-US">
                                  <a:solidFill>
                                    <a:schemeClr val="bg1"/>
                                  </a:solidFill>
                                  <a:latin typeface="Cambria Math" panose="02040503050406030204" pitchFamily="18" charset="0"/>
                                </a:rPr>
                                <m:t>x</m:t>
                              </m:r>
                              <m:r>
                                <a:rPr lang="en-IN" b="0" i="0" smtClean="0">
                                  <a:solidFill>
                                    <a:schemeClr val="bg1"/>
                                  </a:solidFill>
                                  <a:latin typeface="Cambria Math" panose="02040503050406030204" pitchFamily="18" charset="0"/>
                                </a:rPr>
                                <m:t>&gt;0</m:t>
                              </m:r>
                            </m:e>
                            <m:e/>
                            <m:e>
                              <m:r>
                                <a:rPr lang="en-US">
                                  <a:solidFill>
                                    <a:schemeClr val="bg1"/>
                                  </a:solidFill>
                                  <a:latin typeface="Cambria Math" panose="02040503050406030204" pitchFamily="18" charset="0"/>
                                </a:rPr>
                                <m:t>0           &amp;;</m:t>
                              </m:r>
                              <m:r>
                                <m:rPr>
                                  <m:sty m:val="p"/>
                                </m:rPr>
                                <a:rPr lang="en-IN" b="0" i="0" smtClean="0">
                                  <a:solidFill>
                                    <a:schemeClr val="bg1"/>
                                  </a:solidFill>
                                  <a:latin typeface="Cambria Math" panose="02040503050406030204" pitchFamily="18" charset="0"/>
                                </a:rPr>
                                <m:t>otherwise</m:t>
                              </m:r>
                            </m:e>
                          </m:eqArr>
                        </m:e>
                      </m:d>
                    </m:oMath>
                  </m:oMathPara>
                </a14:m>
                <a:endParaRPr lang="en-IN" dirty="0">
                  <a:solidFill>
                    <a:srgbClr val="002060"/>
                  </a:solidFill>
                  <a:latin typeface="Cambria Math" panose="02040503050406030204" pitchFamily="18" charset="0"/>
                </a:endParaRPr>
              </a:p>
              <a:p>
                <a:pPr>
                  <a:lnSpc>
                    <a:spcPct val="100000"/>
                  </a:lnSpc>
                </a:pPr>
                <a:endParaRPr lang="en-IN" dirty="0">
                  <a:solidFill>
                    <a:srgbClr val="002060"/>
                  </a:solidFill>
                  <a:latin typeface="Cambria Math" panose="02040503050406030204" pitchFamily="18" charset="0"/>
                </a:endParaRPr>
              </a:p>
              <a:p>
                <a:pPr>
                  <a:lnSpc>
                    <a:spcPct val="100000"/>
                  </a:lnSpc>
                </a:pPr>
                <a14:m>
                  <m:oMath xmlns:m="http://schemas.openxmlformats.org/officeDocument/2006/math">
                    <m:r>
                      <m:rPr>
                        <m:sty m:val="p"/>
                      </m:rPr>
                      <a:rPr lang="en-US" i="1">
                        <a:latin typeface="Cambria Math" panose="02040503050406030204" pitchFamily="18" charset="0"/>
                        <a:ea typeface="Cambria Math" panose="02040503050406030204" pitchFamily="18" charset="0"/>
                      </a:rPr>
                      <m:t>Find</m:t>
                    </m:r>
                    <m:r>
                      <a:rPr lang="en-US" i="1">
                        <a:latin typeface="Cambria Math" panose="02040503050406030204" pitchFamily="18" charset="0"/>
                        <a:ea typeface="Cambria Math" panose="02040503050406030204" pitchFamily="18" charset="0"/>
                      </a:rPr>
                      <m:t> </m:t>
                    </m:r>
                    <m:d>
                      <m:dPr>
                        <m:ctrlPr>
                          <a:rPr lang="en-IN" i="1">
                            <a:latin typeface="Cambria Math" panose="02040503050406030204" pitchFamily="18" charset="0"/>
                            <a:ea typeface="Cambria Math" panose="02040503050406030204" pitchFamily="18" charset="0"/>
                          </a:rPr>
                        </m:ctrlPr>
                      </m:dPr>
                      <m:e>
                        <m:r>
                          <m:rPr>
                            <m:sty m:val="p"/>
                          </m:rPr>
                          <a:rPr lang="en-US" i="1">
                            <a:latin typeface="Cambria Math" panose="02040503050406030204" pitchFamily="18" charset="0"/>
                            <a:ea typeface="Cambria Math" panose="02040503050406030204" pitchFamily="18" charset="0"/>
                          </a:rPr>
                          <m:t>a</m:t>
                        </m:r>
                      </m:e>
                    </m:d>
                    <m:r>
                      <a:rPr lang="en-US" i="1">
                        <a:latin typeface="Cambria Math" panose="02040503050406030204" pitchFamily="18" charset="0"/>
                        <a:ea typeface="Cambria Math" panose="02040503050406030204" pitchFamily="18" charset="0"/>
                      </a:rPr>
                      <m:t> </m:t>
                    </m:r>
                    <m:r>
                      <m:rPr>
                        <m:sty m:val="p"/>
                      </m:rPr>
                      <a:rPr lang="en-US" i="1">
                        <a:latin typeface="Cambria Math" panose="02040503050406030204" pitchFamily="18" charset="0"/>
                        <a:ea typeface="Cambria Math" panose="02040503050406030204" pitchFamily="18" charset="0"/>
                      </a:rPr>
                      <m:t>P</m:t>
                    </m:r>
                    <m:d>
                      <m:dPr>
                        <m:ctrlPr>
                          <a:rPr lang="en-IN" i="1">
                            <a:latin typeface="Cambria Math" panose="02040503050406030204" pitchFamily="18" charset="0"/>
                            <a:ea typeface="Cambria Math" panose="02040503050406030204" pitchFamily="18" charset="0"/>
                          </a:rPr>
                        </m:ctrlPr>
                      </m:dPr>
                      <m:e>
                        <m:r>
                          <m:rPr>
                            <m:sty m:val="p"/>
                          </m:rPr>
                          <a:rPr lang="en-US" i="1">
                            <a:latin typeface="Cambria Math" panose="02040503050406030204" pitchFamily="18" charset="0"/>
                            <a:ea typeface="Cambria Math" panose="02040503050406030204" pitchFamily="18" charset="0"/>
                          </a:rPr>
                          <m:t>X</m:t>
                        </m:r>
                        <m:r>
                          <a:rPr lang="en-IN" i="1">
                            <a:latin typeface="Cambria Math" panose="02040503050406030204" pitchFamily="18" charset="0"/>
                            <a:ea typeface="Cambria Math" panose="02040503050406030204" pitchFamily="18" charset="0"/>
                          </a:rPr>
                          <m:t>&gt;</m:t>
                        </m:r>
                        <m:r>
                          <a:rPr lang="en-US" i="1">
                            <a:latin typeface="Cambria Math" panose="02040503050406030204" pitchFamily="18" charset="0"/>
                            <a:ea typeface="Cambria Math" panose="02040503050406030204" pitchFamily="18" charset="0"/>
                          </a:rPr>
                          <m:t>2</m:t>
                        </m:r>
                      </m:e>
                    </m:d>
                    <m:r>
                      <a:rPr lang="en-US" i="1">
                        <a:latin typeface="Cambria Math" panose="02040503050406030204" pitchFamily="18" charset="0"/>
                        <a:ea typeface="Cambria Math" panose="02040503050406030204" pitchFamily="18" charset="0"/>
                      </a:rPr>
                      <m:t>,  </m:t>
                    </m:r>
                    <m:d>
                      <m:dPr>
                        <m:ctrlPr>
                          <a:rPr lang="en-IN" i="1">
                            <a:latin typeface="Cambria Math" panose="02040503050406030204" pitchFamily="18" charset="0"/>
                            <a:ea typeface="Cambria Math" panose="02040503050406030204" pitchFamily="18" charset="0"/>
                          </a:rPr>
                        </m:ctrlPr>
                      </m:dPr>
                      <m:e>
                        <m:r>
                          <m:rPr>
                            <m:sty m:val="p"/>
                          </m:rPr>
                          <a:rPr lang="en-US" i="1">
                            <a:latin typeface="Cambria Math" panose="02040503050406030204" pitchFamily="18" charset="0"/>
                            <a:ea typeface="Cambria Math" panose="02040503050406030204" pitchFamily="18" charset="0"/>
                          </a:rPr>
                          <m:t>b</m:t>
                        </m:r>
                      </m:e>
                    </m:d>
                    <m:r>
                      <a:rPr lang="en-US" i="1">
                        <a:latin typeface="Cambria Math" panose="02040503050406030204" pitchFamily="18" charset="0"/>
                        <a:ea typeface="Cambria Math" panose="02040503050406030204" pitchFamily="18" charset="0"/>
                      </a:rPr>
                      <m:t> </m:t>
                    </m:r>
                    <m:r>
                      <m:rPr>
                        <m:sty m:val="p"/>
                      </m:rPr>
                      <a:rPr lang="en-US" i="1">
                        <a:latin typeface="Cambria Math" panose="02040503050406030204" pitchFamily="18" charset="0"/>
                        <a:ea typeface="Cambria Math" panose="02040503050406030204" pitchFamily="18" charset="0"/>
                      </a:rPr>
                      <m:t>P</m:t>
                    </m:r>
                    <m:d>
                      <m:dPr>
                        <m:ctrlPr>
                          <a:rPr lang="en-IN" i="1">
                            <a:latin typeface="Cambria Math" panose="02040503050406030204" pitchFamily="18" charset="0"/>
                            <a:ea typeface="Cambria Math" panose="02040503050406030204" pitchFamily="18" charset="0"/>
                          </a:rPr>
                        </m:ctrlPr>
                      </m:dPr>
                      <m:e>
                        <m:r>
                          <a:rPr lang="en-IN" i="1">
                            <a:latin typeface="Cambria Math" panose="02040503050406030204" pitchFamily="18" charset="0"/>
                            <a:ea typeface="Cambria Math" panose="02040503050406030204" pitchFamily="18" charset="0"/>
                          </a:rPr>
                          <m:t>3≤</m:t>
                        </m:r>
                        <m:r>
                          <m:rPr>
                            <m:sty m:val="p"/>
                          </m:rPr>
                          <a:rPr lang="en-IN" i="1">
                            <a:latin typeface="Cambria Math" panose="02040503050406030204" pitchFamily="18" charset="0"/>
                            <a:ea typeface="Cambria Math" panose="02040503050406030204" pitchFamily="18" charset="0"/>
                          </a:rPr>
                          <m:t>X</m:t>
                        </m:r>
                        <m:r>
                          <a:rPr lang="en-US" i="1">
                            <a:latin typeface="Cambria Math" panose="02040503050406030204" pitchFamily="18" charset="0"/>
                            <a:ea typeface="Cambria Math" panose="02040503050406030204" pitchFamily="18" charset="0"/>
                          </a:rPr>
                          <m:t>≤</m:t>
                        </m:r>
                        <m:r>
                          <a:rPr lang="en-IN" i="1">
                            <a:latin typeface="Cambria Math" panose="02040503050406030204" pitchFamily="18" charset="0"/>
                            <a:ea typeface="Cambria Math" panose="02040503050406030204" pitchFamily="18" charset="0"/>
                          </a:rPr>
                          <m:t>6</m:t>
                        </m:r>
                      </m:e>
                    </m:d>
                  </m:oMath>
                </a14:m>
                <a:r>
                  <a:rPr lang="en-IN" i="1" dirty="0">
                    <a:latin typeface="Cambria Math" panose="02040503050406030204" pitchFamily="18" charset="0"/>
                    <a:ea typeface="Cambria Math" panose="02040503050406030204" pitchFamily="18" charset="0"/>
                  </a:rPr>
                  <a:t>,   </a:t>
                </a:r>
                <a:r>
                  <a:rPr lang="en-IN" dirty="0">
                    <a:latin typeface="Cambria Math" panose="02040503050406030204" pitchFamily="18" charset="0"/>
                    <a:ea typeface="Cambria Math" panose="02040503050406030204" pitchFamily="18" charset="0"/>
                  </a:rPr>
                  <a:t>(c) </a:t>
                </a:r>
                <a:r>
                  <a:rPr lang="en-IN" dirty="0">
                    <a:ea typeface="Cambria Math" panose="02040503050406030204" pitchFamily="18" charset="0"/>
                  </a:rPr>
                  <a:t>Mean</a:t>
                </a:r>
                <a:r>
                  <a:rPr lang="en-IN" dirty="0">
                    <a:latin typeface="Cambria Math" panose="02040503050406030204" pitchFamily="18" charset="0"/>
                    <a:ea typeface="Cambria Math" panose="02040503050406030204" pitchFamily="18" charset="0"/>
                  </a:rPr>
                  <a:t>   (d) </a:t>
                </a:r>
                <a:r>
                  <a:rPr lang="en-IN" dirty="0">
                    <a:ea typeface="Cambria Math" panose="02040503050406030204" pitchFamily="18" charset="0"/>
                  </a:rPr>
                  <a:t>Variance</a:t>
                </a:r>
                <a:r>
                  <a:rPr lang="en-IN" dirty="0">
                    <a:latin typeface="Cambria Math" panose="02040503050406030204" pitchFamily="18" charset="0"/>
                    <a:ea typeface="Cambria Math" panose="02040503050406030204" pitchFamily="18" charset="0"/>
                  </a:rPr>
                  <a:t> </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789427"/>
                <a:ext cx="11929643" cy="4373416"/>
              </a:xfrm>
              <a:prstGeom prst="rect">
                <a:avLst/>
              </a:prstGeom>
              <a:blipFill rotWithShape="0">
                <a:blip r:embed="rId2"/>
                <a:stretch>
                  <a:fillRect l="-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3 ⇝ Example 8</a:t>
            </a:r>
            <a:endParaRPr lang="en-US" dirty="0"/>
          </a:p>
        </p:txBody>
      </p:sp>
    </p:spTree>
    <p:extLst>
      <p:ext uri="{BB962C8B-B14F-4D97-AF65-F5344CB8AC3E}">
        <p14:creationId xmlns:p14="http://schemas.microsoft.com/office/powerpoint/2010/main" val="88380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787594" y="709417"/>
                <a:ext cx="6601665" cy="5153270"/>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nor/>
                        </m:rPr>
                        <a:rPr lang="en-US" sz="2800" smtClean="0">
                          <a:solidFill>
                            <a:schemeClr val="tx2">
                              <a:lumMod val="50000"/>
                            </a:schemeClr>
                          </a:solidFill>
                        </a:rPr>
                        <m:t>P</m:t>
                      </m:r>
                      <m:r>
                        <m:rPr>
                          <m:nor/>
                        </m:rPr>
                        <a:rPr lang="en-US" sz="2800" smtClean="0">
                          <a:solidFill>
                            <a:schemeClr val="tx2">
                              <a:lumMod val="50000"/>
                            </a:schemeClr>
                          </a:solidFill>
                        </a:rPr>
                        <m:t>.</m:t>
                      </m:r>
                      <m:r>
                        <m:rPr>
                          <m:nor/>
                        </m:rPr>
                        <a:rPr lang="en-US" sz="2800" smtClean="0">
                          <a:solidFill>
                            <a:schemeClr val="tx2">
                              <a:lumMod val="50000"/>
                            </a:schemeClr>
                          </a:solidFill>
                        </a:rPr>
                        <m:t>D</m:t>
                      </m:r>
                      <m:r>
                        <m:rPr>
                          <m:nor/>
                        </m:rPr>
                        <a:rPr lang="en-US" sz="2800" smtClean="0">
                          <a:solidFill>
                            <a:schemeClr val="tx2">
                              <a:lumMod val="50000"/>
                            </a:schemeClr>
                          </a:solidFill>
                        </a:rPr>
                        <m:t>.</m:t>
                      </m:r>
                      <m:r>
                        <m:rPr>
                          <m:nor/>
                        </m:rPr>
                        <a:rPr lang="en-US" sz="2800" smtClean="0">
                          <a:solidFill>
                            <a:schemeClr val="tx2">
                              <a:lumMod val="50000"/>
                            </a:schemeClr>
                          </a:solidFill>
                        </a:rPr>
                        <m:t>F</m:t>
                      </m:r>
                      <m:r>
                        <m:rPr>
                          <m:nor/>
                        </m:rPr>
                        <a:rPr lang="en-US" sz="2800" smtClean="0">
                          <a:solidFill>
                            <a:schemeClr val="tx2">
                              <a:lumMod val="50000"/>
                            </a:schemeClr>
                          </a:solidFill>
                        </a:rPr>
                        <m:t>. </m:t>
                      </m:r>
                      <m:r>
                        <m:rPr>
                          <m:nor/>
                        </m:rPr>
                        <a:rPr lang="en-US" sz="2800" smtClean="0">
                          <a:solidFill>
                            <a:schemeClr val="tx2">
                              <a:lumMod val="50000"/>
                            </a:schemeClr>
                          </a:solidFill>
                        </a:rPr>
                        <m:t>given</m:t>
                      </m:r>
                      <m:r>
                        <m:rPr>
                          <m:nor/>
                        </m:rPr>
                        <a:rPr lang="en-US" sz="2800" smtClean="0">
                          <a:solidFill>
                            <a:schemeClr val="tx2">
                              <a:lumMod val="50000"/>
                            </a:schemeClr>
                          </a:solidFill>
                        </a:rPr>
                        <m:t> </m:t>
                      </m:r>
                      <m:r>
                        <m:rPr>
                          <m:nor/>
                        </m:rPr>
                        <a:rPr lang="en-US" sz="2800" smtClean="0">
                          <a:solidFill>
                            <a:schemeClr val="tx2">
                              <a:lumMod val="50000"/>
                            </a:schemeClr>
                          </a:solidFill>
                        </a:rPr>
                        <m:t>by</m:t>
                      </m:r>
                      <m:r>
                        <m:rPr>
                          <m:nor/>
                        </m:rPr>
                        <a:rPr lang="en-US" sz="2800" smtClean="0">
                          <a:solidFill>
                            <a:schemeClr val="tx2">
                              <a:lumMod val="50000"/>
                            </a:schemeClr>
                          </a:solidFill>
                        </a:rPr>
                        <m:t>  </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f</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e>
                      </m:d>
                      <m:r>
                        <a:rPr lang="en-US" sz="2800" b="0" i="0">
                          <a:solidFill>
                            <a:schemeClr val="tx2">
                              <a:lumMod val="50000"/>
                            </a:schemeClr>
                          </a:solidFill>
                          <a:latin typeface="Cambria Math" panose="02040503050406030204" pitchFamily="18" charset="0"/>
                          <a:ea typeface="Cambria Math" panose="02040503050406030204" pitchFamily="18" charset="0"/>
                        </a:rPr>
                        <m:t>=</m:t>
                      </m:r>
                      <m:d>
                        <m:dPr>
                          <m:begChr m:val="{"/>
                          <m:endChr m:val=""/>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0">
                              <a:solidFill>
                                <a:schemeClr val="tx2">
                                  <a:lumMod val="50000"/>
                                </a:schemeClr>
                              </a:solidFill>
                              <a:latin typeface="Cambria Math" panose="02040503050406030204" pitchFamily="18" charset="0"/>
                              <a:ea typeface="Cambria Math" panose="02040503050406030204" pitchFamily="18" charset="0"/>
                            </a:rPr>
                            <m:t> </m:t>
                          </m:r>
                          <m:eqArr>
                            <m:eqArrPr>
                              <m:ctrlPr>
                                <a:rPr lang="en-IN" sz="2800" i="1">
                                  <a:solidFill>
                                    <a:schemeClr val="tx2">
                                      <a:lumMod val="50000"/>
                                    </a:schemeClr>
                                  </a:solidFill>
                                  <a:latin typeface="Cambria Math" panose="02040503050406030204" pitchFamily="18" charset="0"/>
                                  <a:ea typeface="Cambria Math" panose="02040503050406030204" pitchFamily="18" charset="0"/>
                                </a:rPr>
                              </m:ctrlPr>
                            </m:eqArrPr>
                            <m:e>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1</m:t>
                                  </m:r>
                                </m:num>
                                <m:den>
                                  <m:r>
                                    <a:rPr lang="en-US" sz="2800" b="0" i="0">
                                      <a:solidFill>
                                        <a:schemeClr val="tx2">
                                          <a:lumMod val="50000"/>
                                        </a:schemeClr>
                                      </a:solidFill>
                                      <a:latin typeface="Cambria Math" panose="02040503050406030204" pitchFamily="18" charset="0"/>
                                      <a:ea typeface="Cambria Math" panose="02040503050406030204" pitchFamily="18" charset="0"/>
                                    </a:rPr>
                                    <m:t>5</m:t>
                                  </m:r>
                                </m:den>
                              </m:f>
                              <m:sSup>
                                <m:sSupPr>
                                  <m:ctrlPr>
                                    <a:rPr lang="en-IN" sz="2800" i="1">
                                      <a:solidFill>
                                        <a:schemeClr val="tx2">
                                          <a:lumMod val="50000"/>
                                        </a:schemeClr>
                                      </a:solidFill>
                                      <a:latin typeface="Cambria Math" panose="02040503050406030204" pitchFamily="18" charset="0"/>
                                      <a:ea typeface="Cambria Math" panose="02040503050406030204" pitchFamily="18" charset="0"/>
                                    </a:rPr>
                                  </m:ctrlPr>
                                </m:sSup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e</m:t>
                                  </m:r>
                                </m:e>
                                <m:sup>
                                  <m:r>
                                    <a:rPr lang="en-US" sz="2800" b="0" i="0">
                                      <a:solidFill>
                                        <a:schemeClr val="tx2">
                                          <a:lumMod val="50000"/>
                                        </a:schemeClr>
                                      </a:solidFill>
                                      <a:latin typeface="Cambria Math" panose="02040503050406030204" pitchFamily="18" charset="0"/>
                                      <a:ea typeface="Cambria Math" panose="02040503050406030204" pitchFamily="18" charset="0"/>
                                    </a:rPr>
                                    <m:t>−</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num>
                                        <m:den>
                                          <m:r>
                                            <a:rPr lang="en-US" sz="2800" b="0" i="0">
                                              <a:solidFill>
                                                <a:schemeClr val="tx2">
                                                  <a:lumMod val="50000"/>
                                                </a:schemeClr>
                                              </a:solidFill>
                                              <a:latin typeface="Cambria Math" panose="02040503050406030204" pitchFamily="18" charset="0"/>
                                              <a:ea typeface="Cambria Math" panose="02040503050406030204" pitchFamily="18" charset="0"/>
                                            </a:rPr>
                                            <m:t>5</m:t>
                                          </m:r>
                                        </m:den>
                                      </m:f>
                                    </m:e>
                                  </m:d>
                                </m:sup>
                              </m:sSup>
                              <m:r>
                                <a:rPr lang="en-US" sz="2800" b="0" i="0">
                                  <a:solidFill>
                                    <a:schemeClr val="tx2">
                                      <a:lumMod val="50000"/>
                                    </a:schemeClr>
                                  </a:solidFill>
                                  <a:latin typeface="Cambria Math" panose="02040503050406030204" pitchFamily="18" charset="0"/>
                                  <a:ea typeface="Cambria Math" panose="02040503050406030204" pitchFamily="18" charset="0"/>
                                </a:rPr>
                                <m:t>         &amp;; </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&gt;0</m:t>
                              </m:r>
                            </m:e>
                            <m:e/>
                            <m:e>
                              <m:r>
                                <a:rPr lang="en-US" sz="2800" b="0" i="0">
                                  <a:solidFill>
                                    <a:schemeClr val="tx2">
                                      <a:lumMod val="50000"/>
                                    </a:schemeClr>
                                  </a:solidFill>
                                  <a:latin typeface="Cambria Math" panose="02040503050406030204" pitchFamily="18" charset="0"/>
                                  <a:ea typeface="Cambria Math" panose="02040503050406030204" pitchFamily="18" charset="0"/>
                                </a:rPr>
                                <m:t>0           &amp;; </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≤0</m:t>
                              </m:r>
                            </m:e>
                          </m:eqArr>
                        </m:e>
                      </m:d>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m:rPr>
                          <m:nor/>
                        </m:rPr>
                        <a:rPr lang="en-US" sz="2800">
                          <a:solidFill>
                            <a:schemeClr val="tx2">
                              <a:lumMod val="50000"/>
                            </a:schemeClr>
                          </a:solidFill>
                        </a:rPr>
                        <m:t> </m:t>
                      </m:r>
                    </m:oMath>
                  </m:oMathPara>
                </a14:m>
                <a:endParaRPr lang="en-IN" sz="2800" b="1" dirty="0">
                  <a:solidFill>
                    <a:schemeClr val="tx2">
                      <a:lumMod val="50000"/>
                    </a:schemeClr>
                  </a:solidFill>
                </a:endParaRPr>
              </a:p>
              <a:p>
                <a:pPr>
                  <a:lnSpc>
                    <a:spcPct val="150000"/>
                  </a:lnSpc>
                </a:pPr>
                <a14:m>
                  <m:oMathPara xmlns:m="http://schemas.openxmlformats.org/officeDocument/2006/math">
                    <m:oMathParaPr>
                      <m:jc m:val="left"/>
                    </m:oMathParaPr>
                    <m:oMath xmlns:m="http://schemas.openxmlformats.org/officeDocument/2006/math">
                      <m:r>
                        <m:rPr>
                          <m:nor/>
                        </m:rPr>
                        <a:rPr lang="en-US" sz="2800">
                          <a:solidFill>
                            <a:schemeClr val="tx2">
                              <a:lumMod val="50000"/>
                            </a:schemeClr>
                          </a:solidFill>
                        </a:rPr>
                        <m:t>Comparing</m:t>
                      </m:r>
                      <m:r>
                        <m:rPr>
                          <m:nor/>
                        </m:rPr>
                        <a:rPr lang="en-US" sz="2800">
                          <a:solidFill>
                            <a:schemeClr val="tx2">
                              <a:lumMod val="50000"/>
                            </a:schemeClr>
                          </a:solidFill>
                        </a:rPr>
                        <m:t> </m:t>
                      </m:r>
                      <m:r>
                        <m:rPr>
                          <m:nor/>
                        </m:rPr>
                        <a:rPr lang="en-US" sz="2800">
                          <a:solidFill>
                            <a:schemeClr val="tx2">
                              <a:lumMod val="50000"/>
                            </a:schemeClr>
                          </a:solidFill>
                        </a:rPr>
                        <m:t>with</m:t>
                      </m:r>
                      <m:r>
                        <m:rPr>
                          <m:nor/>
                        </m:rPr>
                        <a:rPr lang="en-US" sz="2800">
                          <a:solidFill>
                            <a:schemeClr val="tx2">
                              <a:lumMod val="50000"/>
                            </a:schemeClr>
                          </a:solidFill>
                        </a:rPr>
                        <m:t>  </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f</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e>
                      </m:d>
                      <m:r>
                        <a:rPr lang="en-US" sz="2800" b="0" i="0">
                          <a:solidFill>
                            <a:schemeClr val="tx2">
                              <a:lumMod val="50000"/>
                            </a:schemeClr>
                          </a:solidFill>
                          <a:latin typeface="Cambria Math" panose="02040503050406030204" pitchFamily="18" charset="0"/>
                          <a:ea typeface="Cambria Math" panose="02040503050406030204" pitchFamily="18" charset="0"/>
                        </a:rPr>
                        <m:t>=</m:t>
                      </m:r>
                      <m:d>
                        <m:dPr>
                          <m:begChr m:val="{"/>
                          <m:endChr m:val=""/>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0">
                              <a:solidFill>
                                <a:schemeClr val="tx2">
                                  <a:lumMod val="50000"/>
                                </a:schemeClr>
                              </a:solidFill>
                              <a:latin typeface="Cambria Math" panose="02040503050406030204" pitchFamily="18" charset="0"/>
                              <a:ea typeface="Cambria Math" panose="02040503050406030204" pitchFamily="18" charset="0"/>
                            </a:rPr>
                            <m:t> </m:t>
                          </m:r>
                          <m:eqArr>
                            <m:eqArrPr>
                              <m:ctrlPr>
                                <a:rPr lang="en-IN" sz="2800" i="1">
                                  <a:solidFill>
                                    <a:schemeClr val="tx2">
                                      <a:lumMod val="50000"/>
                                    </a:schemeClr>
                                  </a:solidFill>
                                  <a:latin typeface="Cambria Math" panose="02040503050406030204" pitchFamily="18" charset="0"/>
                                  <a:ea typeface="Cambria Math" panose="02040503050406030204" pitchFamily="18" charset="0"/>
                                </a:rPr>
                              </m:ctrlPr>
                            </m:eqArr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θ</m:t>
                              </m:r>
                              <m:sSup>
                                <m:sSupPr>
                                  <m:ctrlPr>
                                    <a:rPr lang="en-IN" sz="2800" i="1">
                                      <a:solidFill>
                                        <a:schemeClr val="tx2">
                                          <a:lumMod val="50000"/>
                                        </a:schemeClr>
                                      </a:solidFill>
                                      <a:latin typeface="Cambria Math" panose="02040503050406030204" pitchFamily="18" charset="0"/>
                                      <a:ea typeface="Cambria Math" panose="02040503050406030204" pitchFamily="18" charset="0"/>
                                    </a:rPr>
                                  </m:ctrlPr>
                                </m:sSup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e</m:t>
                                  </m:r>
                                </m:e>
                                <m:sup>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θx</m:t>
                                  </m:r>
                                </m:sup>
                              </m:sSup>
                              <m:r>
                                <a:rPr lang="en-US" sz="2800" b="0" i="0">
                                  <a:solidFill>
                                    <a:schemeClr val="tx2">
                                      <a:lumMod val="50000"/>
                                    </a:schemeClr>
                                  </a:solidFill>
                                  <a:latin typeface="Cambria Math" panose="02040503050406030204" pitchFamily="18" charset="0"/>
                                  <a:ea typeface="Cambria Math" panose="02040503050406030204" pitchFamily="18" charset="0"/>
                                </a:rPr>
                                <m:t>         &amp;; </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&gt;0</m:t>
                              </m:r>
                            </m:e>
                            <m:e/>
                            <m:e>
                              <m:r>
                                <a:rPr lang="en-US" sz="2800" b="0" i="0">
                                  <a:solidFill>
                                    <a:schemeClr val="tx2">
                                      <a:lumMod val="50000"/>
                                    </a:schemeClr>
                                  </a:solidFill>
                                  <a:latin typeface="Cambria Math" panose="02040503050406030204" pitchFamily="18" charset="0"/>
                                  <a:ea typeface="Cambria Math" panose="02040503050406030204" pitchFamily="18" charset="0"/>
                                </a:rPr>
                                <m:t>0           &amp;; </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≤0</m:t>
                              </m:r>
                            </m:e>
                          </m:eqArr>
                        </m:e>
                      </m:d>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787594" y="709417"/>
                <a:ext cx="6601665" cy="5153270"/>
              </a:xfrm>
              <a:prstGeom prst="rect">
                <a:avLst/>
              </a:prstGeom>
              <a:blipFill rotWithShape="0">
                <a:blip r:embed="rId2"/>
                <a:stretch>
                  <a:fillRect/>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B2D3FB0B-D709-43AC-B65F-29361B504B61}"/>
              </a:ext>
            </a:extLst>
          </p:cNvPr>
          <p:cNvSpPr/>
          <p:nvPr/>
        </p:nvSpPr>
        <p:spPr>
          <a:xfrm>
            <a:off x="131177" y="1102366"/>
            <a:ext cx="1478559"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9" name="Rectangle 8"/>
              <p:cNvSpPr/>
              <p:nvPr/>
            </p:nvSpPr>
            <p:spPr>
              <a:xfrm>
                <a:off x="9131660" y="2794500"/>
                <a:ext cx="2317942" cy="901785"/>
              </a:xfrm>
              <a:prstGeom prst="rect">
                <a:avLst/>
              </a:prstGeom>
            </p:spPr>
            <p:txBody>
              <a:bodyPr wrap="none">
                <a:spAutoFit/>
              </a:bodyPr>
              <a:lstStyle/>
              <a:p>
                <a:pPr algn="just">
                  <a:spcBef>
                    <a:spcPts val="1200"/>
                  </a:spcBef>
                  <a:spcAft>
                    <a:spcPts val="0"/>
                  </a:spcAft>
                  <a:tabLst>
                    <a:tab pos="447675" algn="l"/>
                  </a:tabLst>
                </a:pPr>
                <a14:m>
                  <m:oMathPara xmlns:m="http://schemas.openxmlformats.org/officeDocument/2006/math">
                    <m:oMathParaPr>
                      <m:jc m:val="centerGroup"/>
                    </m:oMathParaPr>
                    <m:oMath xmlns:m="http://schemas.openxmlformats.org/officeDocument/2006/math">
                      <m:r>
                        <m:rPr>
                          <m:sty m:val="p"/>
                        </m:rPr>
                        <a:rPr lang="en-IN" sz="2800" b="0" i="0" smtClean="0">
                          <a:solidFill>
                            <a:schemeClr val="tx2">
                              <a:lumMod val="50000"/>
                            </a:schemeClr>
                          </a:solidFill>
                          <a:effectLst/>
                          <a:latin typeface="Cambria Math" panose="02040503050406030204" pitchFamily="18" charset="0"/>
                          <a:ea typeface="Times New Roman" panose="02020603050405020304" pitchFamily="18" charset="0"/>
                          <a:cs typeface="Shruti"/>
                        </a:rPr>
                        <m:t>We</m:t>
                      </m:r>
                      <m:r>
                        <a:rPr lang="en-IN" sz="2800" b="0" i="0" smtClean="0">
                          <a:solidFill>
                            <a:schemeClr val="tx2">
                              <a:lumMod val="50000"/>
                            </a:schemeClr>
                          </a:solidFill>
                          <a:effectLst/>
                          <a:latin typeface="Cambria Math" panose="02040503050406030204" pitchFamily="18" charset="0"/>
                          <a:ea typeface="Times New Roman" panose="02020603050405020304" pitchFamily="18" charset="0"/>
                          <a:cs typeface="Shruti"/>
                        </a:rPr>
                        <m:t> </m:t>
                      </m:r>
                      <m:r>
                        <m:rPr>
                          <m:sty m:val="p"/>
                        </m:rPr>
                        <a:rPr lang="en-IN" sz="2800" b="0" i="0" smtClean="0">
                          <a:solidFill>
                            <a:schemeClr val="tx2">
                              <a:lumMod val="50000"/>
                            </a:schemeClr>
                          </a:solidFill>
                          <a:effectLst/>
                          <a:latin typeface="Cambria Math" panose="02040503050406030204" pitchFamily="18" charset="0"/>
                          <a:ea typeface="Times New Roman" panose="02020603050405020304" pitchFamily="18" charset="0"/>
                          <a:cs typeface="Shruti"/>
                        </a:rPr>
                        <m:t>get</m:t>
                      </m:r>
                      <m:r>
                        <a:rPr lang="en-IN" sz="2800" b="0" i="0" smtClean="0">
                          <a:solidFill>
                            <a:schemeClr val="tx2">
                              <a:lumMod val="50000"/>
                            </a:schemeClr>
                          </a:solidFill>
                          <a:effectLst/>
                          <a:latin typeface="Cambria Math" panose="02040503050406030204" pitchFamily="18" charset="0"/>
                          <a:ea typeface="Times New Roman" panose="02020603050405020304" pitchFamily="18" charset="0"/>
                          <a:cs typeface="Shruti"/>
                        </a:rPr>
                        <m:t>, </m:t>
                      </m:r>
                      <m:r>
                        <m:rPr>
                          <m:sty m:val="p"/>
                        </m:rPr>
                        <a:rPr lang="en-US" sz="2800" b="0" i="0">
                          <a:solidFill>
                            <a:schemeClr val="tx2">
                              <a:lumMod val="50000"/>
                            </a:schemeClr>
                          </a:solidFill>
                          <a:effectLst/>
                          <a:latin typeface="Cambria Math" panose="02040503050406030204" pitchFamily="18" charset="0"/>
                          <a:ea typeface="Times New Roman" panose="02020603050405020304" pitchFamily="18" charset="0"/>
                          <a:cs typeface="Shruti"/>
                        </a:rPr>
                        <m:t>θ</m:t>
                      </m:r>
                      <m:r>
                        <a:rPr lang="en-US" sz="2800" b="0" i="0">
                          <a:solidFill>
                            <a:schemeClr val="tx2">
                              <a:lumMod val="50000"/>
                            </a:schemeClr>
                          </a:solidFill>
                          <a:effectLst/>
                          <a:latin typeface="Cambria Math" panose="02040503050406030204" pitchFamily="18" charset="0"/>
                          <a:ea typeface="Times New Roman" panose="02020603050405020304" pitchFamily="18" charset="0"/>
                          <a:cs typeface="Shruti"/>
                        </a:rPr>
                        <m:t>=</m:t>
                      </m:r>
                      <m:f>
                        <m:fPr>
                          <m:ctrlPr>
                            <a:rPr lang="en-IN" sz="2800" i="1">
                              <a:solidFill>
                                <a:schemeClr val="tx2">
                                  <a:lumMod val="50000"/>
                                </a:schemeClr>
                              </a:solidFill>
                              <a:effectLst/>
                              <a:latin typeface="Cambria Math" panose="02040503050406030204" pitchFamily="18" charset="0"/>
                              <a:ea typeface="Times New Roman" panose="02020603050405020304" pitchFamily="18" charset="0"/>
                              <a:cs typeface="Shruti"/>
                            </a:rPr>
                          </m:ctrlPr>
                        </m:fPr>
                        <m:num>
                          <m:r>
                            <a:rPr lang="en-US" sz="2800" b="0" i="0">
                              <a:solidFill>
                                <a:schemeClr val="tx2">
                                  <a:lumMod val="50000"/>
                                </a:schemeClr>
                              </a:solidFill>
                              <a:effectLst/>
                              <a:latin typeface="Cambria Math" panose="02040503050406030204" pitchFamily="18" charset="0"/>
                              <a:ea typeface="Times New Roman" panose="02020603050405020304" pitchFamily="18" charset="0"/>
                              <a:cs typeface="Shruti"/>
                            </a:rPr>
                            <m:t>1</m:t>
                          </m:r>
                        </m:num>
                        <m:den>
                          <m:r>
                            <a:rPr lang="en-US" sz="2800" b="0" i="0">
                              <a:solidFill>
                                <a:schemeClr val="tx2">
                                  <a:lumMod val="50000"/>
                                </a:schemeClr>
                              </a:solidFill>
                              <a:effectLst/>
                              <a:latin typeface="Cambria Math" panose="02040503050406030204" pitchFamily="18" charset="0"/>
                              <a:ea typeface="Times New Roman" panose="02020603050405020304" pitchFamily="18" charset="0"/>
                              <a:cs typeface="Shruti"/>
                            </a:rPr>
                            <m:t>5</m:t>
                          </m:r>
                        </m:den>
                      </m:f>
                    </m:oMath>
                  </m:oMathPara>
                </a14:m>
                <a:endParaRPr lang="en-IN" sz="2800" dirty="0">
                  <a:solidFill>
                    <a:schemeClr val="tx2">
                      <a:lumMod val="50000"/>
                    </a:schemeClr>
                  </a:solidFill>
                  <a:effectLst/>
                  <a:latin typeface="Cambria" panose="02040503050406030204" pitchFamily="18" charset="0"/>
                  <a:ea typeface="Calibri" panose="020F0502020204030204" pitchFamily="34" charset="0"/>
                  <a:cs typeface="Shruti"/>
                </a:endParaRPr>
              </a:p>
            </p:txBody>
          </p:sp>
        </mc:Choice>
        <mc:Fallback xmlns="">
          <p:sp>
            <p:nvSpPr>
              <p:cNvPr id="9" name="Rectangle 8"/>
              <p:cNvSpPr>
                <a:spLocks noRot="1" noChangeAspect="1" noMove="1" noResize="1" noEditPoints="1" noAdjustHandles="1" noChangeArrowheads="1" noChangeShapeType="1" noTextEdit="1"/>
              </p:cNvSpPr>
              <p:nvPr/>
            </p:nvSpPr>
            <p:spPr>
              <a:xfrm>
                <a:off x="9131660" y="2794500"/>
                <a:ext cx="2317942" cy="901785"/>
              </a:xfrm>
              <a:prstGeom prst="rect">
                <a:avLst/>
              </a:prstGeom>
              <a:blipFill rotWithShape="0">
                <a:blip r:embed="rId3"/>
                <a:stretch>
                  <a:fillRect/>
                </a:stretch>
              </a:blipFill>
            </p:spPr>
            <p:txBody>
              <a:bodyPr/>
              <a:lstStyle/>
              <a:p>
                <a:r>
                  <a:rPr lang="en-IN">
                    <a:noFill/>
                  </a:rPr>
                  <a:t> </a:t>
                </a:r>
              </a:p>
            </p:txBody>
          </p:sp>
        </mc:Fallback>
      </mc:AlternateContent>
      <p:cxnSp>
        <p:nvCxnSpPr>
          <p:cNvPr id="7" name="Straight Connector 6"/>
          <p:cNvCxnSpPr/>
          <p:nvPr/>
        </p:nvCxnSpPr>
        <p:spPr>
          <a:xfrm>
            <a:off x="8810851" y="780077"/>
            <a:ext cx="0" cy="5759268"/>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90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249080" y="783771"/>
                <a:ext cx="4061663" cy="3646126"/>
              </a:xfrm>
              <a:prstGeom prst="rect">
                <a:avLst/>
              </a:prstGeom>
            </p:spPr>
            <p:txBody>
              <a:bodyPr wrap="square">
                <a:spAutoFit/>
              </a:bodyPr>
              <a:lstStyle/>
              <a:p>
                <a:pPr lvl="0">
                  <a:lnSpc>
                    <a:spcPct val="150000"/>
                  </a:lnSpc>
                  <a:spcBef>
                    <a:spcPts val="1200"/>
                  </a:spcBef>
                  <a:buClr>
                    <a:schemeClr val="accent6"/>
                  </a:buClr>
                  <a:tabLst>
                    <a:tab pos="447675" algn="l"/>
                  </a:tabLst>
                </a:pPr>
                <a:r>
                  <a:rPr lang="en-US" sz="2800" dirty="0">
                    <a:solidFill>
                      <a:srgbClr val="FF0000"/>
                    </a:solidFill>
                  </a:rPr>
                  <a:t>(a) To find</a:t>
                </a:r>
                <a:r>
                  <a:rPr lang="en-US" sz="2800" dirty="0">
                    <a:solidFill>
                      <a:srgbClr val="FF0000"/>
                    </a:solidFill>
                    <a:latin typeface="Cambria Math" panose="02040503050406030204" pitchFamily="18" charset="0"/>
                  </a:rPr>
                  <a:t> </a:t>
                </a:r>
                <a14:m>
                  <m:oMath xmlns:m="http://schemas.openxmlformats.org/officeDocument/2006/math">
                    <m:r>
                      <m:rPr>
                        <m:sty m:val="p"/>
                      </m:rPr>
                      <a:rPr lang="en-US" sz="2800" b="0" i="1">
                        <a:solidFill>
                          <a:srgbClr val="FF0000"/>
                        </a:solidFill>
                        <a:latin typeface="Cambria Math" panose="02040503050406030204" pitchFamily="18" charset="0"/>
                      </a:rPr>
                      <m:t>P</m:t>
                    </m:r>
                    <m:r>
                      <a:rPr lang="en-US" sz="2800" b="0">
                        <a:solidFill>
                          <a:srgbClr val="FF0000"/>
                        </a:solidFill>
                        <a:latin typeface="Cambria Math" panose="02040503050406030204" pitchFamily="18" charset="0"/>
                      </a:rPr>
                      <m:t>(</m:t>
                    </m:r>
                    <m:r>
                      <m:rPr>
                        <m:sty m:val="p"/>
                      </m:rPr>
                      <a:rPr lang="en-US" sz="2800" b="0" i="1">
                        <a:solidFill>
                          <a:srgbClr val="FF0000"/>
                        </a:solidFill>
                        <a:latin typeface="Cambria Math" panose="02040503050406030204" pitchFamily="18" charset="0"/>
                      </a:rPr>
                      <m:t>X</m:t>
                    </m:r>
                    <m:r>
                      <a:rPr lang="en-US" sz="2800" b="0">
                        <a:solidFill>
                          <a:srgbClr val="FF0000"/>
                        </a:solidFill>
                        <a:latin typeface="Cambria Math" panose="02040503050406030204" pitchFamily="18" charset="0"/>
                      </a:rPr>
                      <m:t>&gt;</m:t>
                    </m:r>
                    <m:r>
                      <a:rPr lang="en-US" sz="2800" b="0" i="1">
                        <a:solidFill>
                          <a:srgbClr val="FF0000"/>
                        </a:solidFill>
                        <a:latin typeface="Cambria Math" panose="02040503050406030204" pitchFamily="18" charset="0"/>
                      </a:rPr>
                      <m:t>5</m:t>
                    </m:r>
                    <m:r>
                      <a:rPr lang="en-US" sz="2800" b="0">
                        <a:solidFill>
                          <a:srgbClr val="FF0000"/>
                        </a:solidFill>
                        <a:latin typeface="Cambria Math" panose="02040503050406030204" pitchFamily="18" charset="0"/>
                      </a:rPr>
                      <m:t>)</m:t>
                    </m:r>
                  </m:oMath>
                </a14:m>
                <a:r>
                  <a:rPr lang="en-US" sz="2800" dirty="0">
                    <a:solidFill>
                      <a:srgbClr val="FF0000"/>
                    </a:solidFill>
                    <a:latin typeface="Cambria Math" panose="02040503050406030204" pitchFamily="18" charset="0"/>
                  </a:rPr>
                  <a:t>,</a:t>
                </a:r>
                <a:endParaRPr lang="en-IN" sz="2800" dirty="0">
                  <a:solidFill>
                    <a:srgbClr val="FF000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&gt;</m:t>
                          </m:r>
                          <m:r>
                            <m:rPr>
                              <m:sty m:val="p"/>
                            </m:rPr>
                            <a:rPr lang="en-US" sz="2800" b="0" i="1">
                              <a:solidFill>
                                <a:srgbClr val="002060"/>
                              </a:solidFill>
                              <a:latin typeface="Cambria Math" panose="02040503050406030204" pitchFamily="18" charset="0"/>
                            </a:rPr>
                            <m:t>x</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θx</m:t>
                          </m:r>
                        </m:sup>
                      </m:s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&gt;</m:t>
                          </m:r>
                          <m:r>
                            <a:rPr lang="en-US" sz="2800" b="0" i="1">
                              <a:solidFill>
                                <a:srgbClr val="002060"/>
                              </a:solidFill>
                              <a:latin typeface="Cambria Math" panose="02040503050406030204" pitchFamily="18" charset="0"/>
                            </a:rPr>
                            <m:t>5</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1">
                                  <a:solidFill>
                                    <a:srgbClr val="002060"/>
                                  </a:solidFill>
                                  <a:latin typeface="Cambria Math" panose="02040503050406030204" pitchFamily="18" charset="0"/>
                                </a:rPr>
                                <m:t>1</m:t>
                              </m:r>
                            </m:num>
                            <m:den>
                              <m:r>
                                <a:rPr lang="en-US" sz="2800" b="0" i="1">
                                  <a:solidFill>
                                    <a:srgbClr val="002060"/>
                                  </a:solidFill>
                                  <a:latin typeface="Cambria Math" panose="02040503050406030204" pitchFamily="18" charset="0"/>
                                </a:rPr>
                                <m:t>5</m:t>
                              </m:r>
                            </m:den>
                          </m:f>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5</m:t>
                          </m:r>
                        </m:sup>
                      </m:s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1">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X</m:t>
                          </m:r>
                          <m:r>
                            <a:rPr lang="en-US" sz="2800" b="0">
                              <a:solidFill>
                                <a:srgbClr val="002060"/>
                              </a:solidFill>
                              <a:latin typeface="Cambria Math" panose="02040503050406030204" pitchFamily="18" charset="0"/>
                            </a:rPr>
                            <m:t>&gt;</m:t>
                          </m:r>
                          <m:r>
                            <a:rPr lang="en-US" sz="2800" b="0" i="1">
                              <a:solidFill>
                                <a:srgbClr val="002060"/>
                              </a:solidFill>
                              <a:latin typeface="Cambria Math" panose="02040503050406030204" pitchFamily="18" charset="0"/>
                            </a:rPr>
                            <m:t>5</m:t>
                          </m:r>
                        </m:e>
                      </m:d>
                      <m:r>
                        <a:rPr lang="en-US" sz="2800" b="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e</m:t>
                          </m:r>
                        </m:e>
                        <m:sup>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1</m:t>
                          </m:r>
                        </m:sup>
                      </m:s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&gt;</m:t>
                          </m:r>
                          <m:r>
                            <a:rPr lang="en-US" sz="2800" b="1" i="0">
                              <a:solidFill>
                                <a:srgbClr val="FF0000"/>
                              </a:solidFill>
                              <a:latin typeface="Cambria Math" panose="02040503050406030204" pitchFamily="18" charset="0"/>
                            </a:rPr>
                            <m:t>𝟓</m:t>
                          </m:r>
                        </m:e>
                      </m:d>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𝟑𝟔𝟕𝟗</m:t>
                      </m:r>
                    </m:oMath>
                  </m:oMathPara>
                </a14:m>
                <a:endParaRPr lang="en-IN" sz="2800" b="1" dirty="0">
                  <a:solidFill>
                    <a:srgbClr val="FF000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249080" y="783771"/>
                <a:ext cx="4061663" cy="3646126"/>
              </a:xfrm>
              <a:prstGeom prst="rect">
                <a:avLst/>
              </a:prstGeom>
              <a:blipFill rotWithShape="0">
                <a:blip r:embed="rId2"/>
                <a:stretch>
                  <a:fillRect l="-3153"/>
                </a:stretch>
              </a:blipFill>
            </p:spPr>
            <p:txBody>
              <a:bodyPr/>
              <a:lstStyle/>
              <a:p>
                <a:r>
                  <a:rPr lang="en-IN">
                    <a:noFill/>
                  </a:rPr>
                  <a:t> </a:t>
                </a:r>
              </a:p>
            </p:txBody>
          </p:sp>
        </mc:Fallback>
      </mc:AlternateContent>
    </p:spTree>
    <p:extLst>
      <p:ext uri="{BB962C8B-B14F-4D97-AF65-F5344CB8AC3E}">
        <p14:creationId xmlns:p14="http://schemas.microsoft.com/office/powerpoint/2010/main" val="201978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(Continue)</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152779" y="706499"/>
                <a:ext cx="6301377" cy="5119543"/>
              </a:xfrm>
              <a:prstGeom prst="rect">
                <a:avLst/>
              </a:prstGeom>
            </p:spPr>
            <p:txBody>
              <a:bodyPr wrap="square">
                <a:spAutoFit/>
              </a:bodyPr>
              <a:lstStyle/>
              <a:p>
                <a:pPr lvl="0">
                  <a:lnSpc>
                    <a:spcPct val="150000"/>
                  </a:lnSpc>
                  <a:spcBef>
                    <a:spcPts val="1200"/>
                  </a:spcBef>
                  <a:buClr>
                    <a:schemeClr val="accent6"/>
                  </a:buClr>
                  <a:tabLst>
                    <a:tab pos="447675" algn="l"/>
                  </a:tabLst>
                </a:pPr>
                <a:r>
                  <a:rPr lang="en-US" sz="2800" dirty="0">
                    <a:solidFill>
                      <a:srgbClr val="FF0000"/>
                    </a:solidFill>
                  </a:rPr>
                  <a:t>(b) To find</a:t>
                </a:r>
                <a:r>
                  <a:rPr lang="en-US" sz="2800" dirty="0">
                    <a:solidFill>
                      <a:srgbClr val="FF0000"/>
                    </a:solidFill>
                    <a:latin typeface="Cambria Math" panose="02040503050406030204" pitchFamily="18" charset="0"/>
                  </a:rPr>
                  <a:t> </a:t>
                </a:r>
                <a14:m>
                  <m:oMath xmlns:m="http://schemas.openxmlformats.org/officeDocument/2006/math">
                    <m:r>
                      <m:rPr>
                        <m:sty m:val="p"/>
                      </m:rPr>
                      <a:rPr lang="en-US" sz="2800" b="0" i="0">
                        <a:solidFill>
                          <a:srgbClr val="FF0000"/>
                        </a:solidFill>
                        <a:latin typeface="Cambria Math" panose="02040503050406030204" pitchFamily="18" charset="0"/>
                      </a:rPr>
                      <m:t>P</m:t>
                    </m:r>
                    <m:r>
                      <a:rPr lang="en-US" sz="2800" b="0" i="0">
                        <a:solidFill>
                          <a:srgbClr val="FF0000"/>
                        </a:solidFill>
                        <a:latin typeface="Cambria Math" panose="02040503050406030204" pitchFamily="18" charset="0"/>
                      </a:rPr>
                      <m:t>(3≤</m:t>
                    </m:r>
                    <m:r>
                      <m:rPr>
                        <m:sty m:val="p"/>
                      </m:rPr>
                      <a:rPr lang="en-US" sz="2800" b="0" i="0">
                        <a:solidFill>
                          <a:srgbClr val="FF0000"/>
                        </a:solidFill>
                        <a:latin typeface="Cambria Math" panose="02040503050406030204" pitchFamily="18" charset="0"/>
                      </a:rPr>
                      <m:t>X</m:t>
                    </m:r>
                    <m:r>
                      <a:rPr lang="en-US" sz="2800" b="0" i="0">
                        <a:solidFill>
                          <a:srgbClr val="FF0000"/>
                        </a:solidFill>
                        <a:latin typeface="Cambria Math" panose="02040503050406030204" pitchFamily="18" charset="0"/>
                      </a:rPr>
                      <m:t>≤6)</m:t>
                    </m:r>
                  </m:oMath>
                </a14:m>
                <a:endParaRPr lang="en-IN" sz="2800" dirty="0">
                  <a:solidFill>
                    <a:srgbClr val="FF000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a</m:t>
                          </m:r>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b</m:t>
                          </m:r>
                        </m:e>
                      </m:d>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aθ</m:t>
                          </m:r>
                        </m:sup>
                      </m:sSup>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bθ</m:t>
                          </m:r>
                        </m:sup>
                      </m:s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r>
                  <a:rPr lang="en-US" sz="2800" dirty="0">
                    <a:solidFill>
                      <a:srgbClr val="002060"/>
                    </a:solidFill>
                  </a:rPr>
                  <a:t>Here</a:t>
                </a:r>
                <a:r>
                  <a:rPr lang="en-US" sz="2800" dirty="0">
                    <a:solidFill>
                      <a:srgbClr val="002060"/>
                    </a:solidFill>
                    <a:latin typeface="Cambria Math" panose="02040503050406030204" pitchFamily="18" charset="0"/>
                  </a:rPr>
                  <a:t> </a:t>
                </a:r>
                <a14:m>
                  <m:oMath xmlns:m="http://schemas.openxmlformats.org/officeDocument/2006/math">
                    <m:r>
                      <m:rPr>
                        <m:sty m:val="p"/>
                      </m:rPr>
                      <a:rPr lang="en-US" sz="2800" b="0" i="0">
                        <a:solidFill>
                          <a:srgbClr val="002060"/>
                        </a:solidFill>
                        <a:latin typeface="Cambria Math" panose="02040503050406030204" pitchFamily="18" charset="0"/>
                      </a:rPr>
                      <m:t>a</m:t>
                    </m:r>
                    <m:r>
                      <a:rPr lang="en-US" sz="2800" b="0" i="0">
                        <a:solidFill>
                          <a:srgbClr val="002060"/>
                        </a:solidFill>
                        <a:latin typeface="Cambria Math" panose="02040503050406030204" pitchFamily="18" charset="0"/>
                      </a:rPr>
                      <m:t>=3 &amp; </m:t>
                    </m:r>
                    <m:r>
                      <m:rPr>
                        <m:sty m:val="p"/>
                      </m:rPr>
                      <a:rPr lang="en-US" sz="2800" b="0" i="0">
                        <a:solidFill>
                          <a:srgbClr val="002060"/>
                        </a:solidFill>
                        <a:latin typeface="Cambria Math" panose="02040503050406030204" pitchFamily="18" charset="0"/>
                      </a:rPr>
                      <m:t>b</m:t>
                    </m:r>
                    <m:r>
                      <a:rPr lang="en-US" sz="2800" b="0" i="0">
                        <a:solidFill>
                          <a:srgbClr val="002060"/>
                        </a:solidFill>
                        <a:latin typeface="Cambria Math" panose="02040503050406030204" pitchFamily="18" charset="0"/>
                      </a:rPr>
                      <m:t>=6</m:t>
                    </m:r>
                  </m:oMath>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3≤</m:t>
                          </m:r>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≤6</m:t>
                          </m:r>
                        </m:e>
                      </m:d>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−3×</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5</m:t>
                              </m:r>
                            </m:den>
                          </m:f>
                        </m:sup>
                      </m:sSup>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−6×</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5</m:t>
                              </m:r>
                            </m:den>
                          </m:f>
                        </m:sup>
                      </m:s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3≤</m:t>
                          </m:r>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≤6</m:t>
                          </m:r>
                        </m:e>
                      </m:d>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−(0.6)</m:t>
                          </m:r>
                        </m:sup>
                      </m:sSup>
                      <m:r>
                        <a:rPr lang="en-US" sz="2800" b="0" i="0">
                          <a:solidFill>
                            <a:srgbClr val="002060"/>
                          </a:solidFill>
                          <a:latin typeface="Cambria Math" panose="02040503050406030204" pitchFamily="18" charset="0"/>
                        </a:rPr>
                        <m:t>−</m:t>
                      </m:r>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e</m:t>
                          </m:r>
                        </m:e>
                        <m:sup>
                          <m:r>
                            <a:rPr lang="en-US" sz="2800" b="0" i="0">
                              <a:solidFill>
                                <a:srgbClr val="002060"/>
                              </a:solidFill>
                              <a:latin typeface="Cambria Math" panose="02040503050406030204" pitchFamily="18" charset="0"/>
                            </a:rPr>
                            <m:t>−(1.2)</m:t>
                          </m:r>
                        </m:sup>
                      </m:s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3≤</m:t>
                          </m:r>
                          <m:r>
                            <m:rPr>
                              <m:sty m:val="p"/>
                            </m:rPr>
                            <a:rPr lang="en-US" sz="2800" b="0" i="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≤6</m:t>
                          </m:r>
                        </m:e>
                      </m:d>
                      <m:r>
                        <a:rPr lang="en-US" sz="2800" b="0" i="0">
                          <a:solidFill>
                            <a:srgbClr val="002060"/>
                          </a:solidFill>
                          <a:latin typeface="Cambria Math" panose="02040503050406030204" pitchFamily="18" charset="0"/>
                        </a:rPr>
                        <m:t>=0.548811−0.301194</m:t>
                      </m:r>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𝟑</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𝐗</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𝟔</m:t>
                          </m:r>
                        </m:e>
                      </m:d>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𝟐𝟒𝟕𝟔</m:t>
                      </m:r>
                    </m:oMath>
                  </m:oMathPara>
                </a14:m>
                <a:endParaRPr lang="en-IN" sz="2800" b="1" dirty="0">
                  <a:solidFill>
                    <a:srgbClr val="00206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52779" y="706499"/>
                <a:ext cx="6301377" cy="5119543"/>
              </a:xfrm>
              <a:prstGeom prst="rect">
                <a:avLst/>
              </a:prstGeom>
              <a:blipFill rotWithShape="0">
                <a:blip r:embed="rId2"/>
                <a:stretch>
                  <a:fillRect l="-1934"/>
                </a:stretch>
              </a:blipFill>
            </p:spPr>
            <p:txBody>
              <a:bodyPr/>
              <a:lstStyle/>
              <a:p>
                <a:r>
                  <a:rPr lang="en-IN">
                    <a:noFill/>
                  </a:rPr>
                  <a:t> </a:t>
                </a:r>
              </a:p>
            </p:txBody>
          </p:sp>
        </mc:Fallback>
      </mc:AlternateContent>
    </p:spTree>
    <p:extLst>
      <p:ext uri="{BB962C8B-B14F-4D97-AF65-F5344CB8AC3E}">
        <p14:creationId xmlns:p14="http://schemas.microsoft.com/office/powerpoint/2010/main" val="366940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(Continue)</a:t>
            </a:r>
            <a:endParaRPr lang="en-US" dirty="0"/>
          </a:p>
        </p:txBody>
      </p:sp>
      <mc:AlternateContent xmlns:mc="http://schemas.openxmlformats.org/markup-compatibility/2006" xmlns:a14="http://schemas.microsoft.com/office/drawing/2010/main">
        <mc:Choice Requires="a14">
          <p:sp>
            <p:nvSpPr>
              <p:cNvPr id="7" name="Rectangle 6"/>
              <p:cNvSpPr/>
              <p:nvPr/>
            </p:nvSpPr>
            <p:spPr>
              <a:xfrm>
                <a:off x="401480" y="936171"/>
                <a:ext cx="4751091" cy="4492640"/>
              </a:xfrm>
              <a:prstGeom prst="rect">
                <a:avLst/>
              </a:prstGeom>
            </p:spPr>
            <p:txBody>
              <a:bodyPr wrap="square">
                <a:spAutoFit/>
              </a:bodyPr>
              <a:lstStyle/>
              <a:p>
                <a:pPr lvl="0">
                  <a:lnSpc>
                    <a:spcPct val="150000"/>
                  </a:lnSpc>
                  <a:spcBef>
                    <a:spcPts val="1200"/>
                  </a:spcBef>
                  <a:buClr>
                    <a:schemeClr val="accent6"/>
                  </a:buClr>
                  <a:tabLst>
                    <a:tab pos="447675" algn="l"/>
                  </a:tabLst>
                </a:pPr>
                <a:r>
                  <a:rPr lang="en-US" sz="2800" dirty="0">
                    <a:solidFill>
                      <a:srgbClr val="FF0000"/>
                    </a:solidFill>
                  </a:rPr>
                  <a:t>(c) To find Mean</a:t>
                </a:r>
                <a:endParaRPr lang="en-IN" sz="2800" dirty="0">
                  <a:solidFill>
                    <a:srgbClr val="FF0000"/>
                  </a:solidFill>
                </a:endParaRPr>
              </a:p>
              <a:p>
                <a:pPr lvl="0">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Mean</m:t>
                      </m:r>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m:rPr>
                              <m:sty m:val="p"/>
                            </m:rPr>
                            <a:rPr lang="en-US" sz="2800" b="0" i="0">
                              <a:solidFill>
                                <a:srgbClr val="002060"/>
                              </a:solidFill>
                              <a:latin typeface="Cambria Math" panose="02040503050406030204" pitchFamily="18" charset="0"/>
                            </a:rPr>
                            <m:t>θ</m:t>
                          </m:r>
                        </m:den>
                      </m:f>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Mean</m:t>
                      </m:r>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r>
                                <a:rPr lang="en-US" sz="2800" b="0" i="0">
                                  <a:solidFill>
                                    <a:srgbClr val="002060"/>
                                  </a:solidFill>
                                  <a:latin typeface="Cambria Math" panose="02040503050406030204" pitchFamily="18" charset="0"/>
                                </a:rPr>
                                <m:t>5</m:t>
                              </m:r>
                            </m:den>
                          </m:f>
                        </m:den>
                      </m:f>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r>
                  <a:rPr lang="en-US" sz="2800" b="1" dirty="0">
                    <a:solidFill>
                      <a:srgbClr val="FF0000"/>
                    </a:solidFill>
                    <a:latin typeface="Cambria Math" panose="02040503050406030204" pitchFamily="18" charset="0"/>
                  </a:rPr>
                  <a:t>Mean </a:t>
                </a:r>
                <a14:m>
                  <m:oMath xmlns:m="http://schemas.openxmlformats.org/officeDocument/2006/math">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𝟓</m:t>
                    </m:r>
                  </m:oMath>
                </a14:m>
                <a:endParaRPr lang="en-IN" sz="2800" b="1" dirty="0">
                  <a:solidFill>
                    <a:srgbClr val="002060"/>
                  </a:solidFill>
                  <a:latin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401480" y="936171"/>
                <a:ext cx="4751091" cy="4492640"/>
              </a:xfrm>
              <a:prstGeom prst="rect">
                <a:avLst/>
              </a:prstGeom>
              <a:blipFill rotWithShape="0">
                <a:blip r:embed="rId3"/>
                <a:stretch>
                  <a:fillRect l="-2696" b="-1085"/>
                </a:stretch>
              </a:blipFill>
            </p:spPr>
            <p:txBody>
              <a:bodyPr/>
              <a:lstStyle/>
              <a:p>
                <a:r>
                  <a:rPr lang="en-IN">
                    <a:noFill/>
                  </a:rPr>
                  <a:t> </a:t>
                </a:r>
              </a:p>
            </p:txBody>
          </p:sp>
        </mc:Fallback>
      </mc:AlternateContent>
    </p:spTree>
    <p:extLst>
      <p:ext uri="{BB962C8B-B14F-4D97-AF65-F5344CB8AC3E}">
        <p14:creationId xmlns:p14="http://schemas.microsoft.com/office/powerpoint/2010/main" val="331896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3 ⇝ Example 8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65209" y="717230"/>
                <a:ext cx="5600177" cy="5431615"/>
              </a:xfrm>
              <a:prstGeom prst="rect">
                <a:avLst/>
              </a:prstGeom>
            </p:spPr>
            <p:txBody>
              <a:bodyPr wrap="square">
                <a:spAutoFit/>
              </a:bodyPr>
              <a:lstStyle/>
              <a:p>
                <a:pPr lvl="0">
                  <a:lnSpc>
                    <a:spcPct val="150000"/>
                  </a:lnSpc>
                  <a:spcBef>
                    <a:spcPts val="1200"/>
                  </a:spcBef>
                  <a:buClr>
                    <a:schemeClr val="accent6"/>
                  </a:buClr>
                  <a:tabLst>
                    <a:tab pos="447675" algn="l"/>
                  </a:tabLst>
                </a:pPr>
                <a:r>
                  <a:rPr lang="en-US" sz="2800" dirty="0">
                    <a:solidFill>
                      <a:srgbClr val="FF0000"/>
                    </a:solidFill>
                  </a:rPr>
                  <a:t>(d) To find Variance</a:t>
                </a:r>
                <a:endParaRPr lang="en-IN" sz="2800" dirty="0">
                  <a:solidFill>
                    <a:srgbClr val="FF0000"/>
                  </a:solidFill>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Variance</m:t>
                      </m:r>
                      <m:r>
                        <a:rPr lang="en-US" sz="2800" b="0" i="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b="0" i="0">
                              <a:solidFill>
                                <a:srgbClr val="002060"/>
                              </a:solidFill>
                              <a:latin typeface="Cambria Math" panose="02040503050406030204" pitchFamily="18" charset="0"/>
                            </a:rPr>
                            <m:t>1</m:t>
                          </m:r>
                        </m:num>
                        <m:den>
                          <m:sSup>
                            <m:sSupPr>
                              <m:ctrlPr>
                                <a:rPr lang="en-IN" sz="2800" i="1">
                                  <a:solidFill>
                                    <a:srgbClr val="002060"/>
                                  </a:solidFill>
                                  <a:latin typeface="Cambria Math" panose="02040503050406030204" pitchFamily="18" charset="0"/>
                                </a:rPr>
                              </m:ctrlPr>
                            </m:sSupPr>
                            <m:e>
                              <m:r>
                                <m:rPr>
                                  <m:sty m:val="p"/>
                                </m:rPr>
                                <a:rPr lang="en-US" sz="2800" b="0" i="0">
                                  <a:solidFill>
                                    <a:srgbClr val="002060"/>
                                  </a:solidFill>
                                  <a:latin typeface="Cambria Math" panose="02040503050406030204" pitchFamily="18" charset="0"/>
                                </a:rPr>
                                <m:t>θ</m:t>
                              </m:r>
                            </m:e>
                            <m:sup>
                              <m:r>
                                <a:rPr lang="en-US" sz="2800" b="0" i="0">
                                  <a:solidFill>
                                    <a:srgbClr val="002060"/>
                                  </a:solidFill>
                                  <a:latin typeface="Cambria Math" panose="02040503050406030204" pitchFamily="18" charset="0"/>
                                </a:rPr>
                                <m:t>2</m:t>
                              </m:r>
                            </m:sup>
                          </m:sSup>
                        </m:den>
                      </m:f>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Variance</m:t>
                      </m:r>
                      <m:r>
                        <a:rPr lang="en-US" sz="2800">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sSup>
                            <m:sSupPr>
                              <m:ctrlPr>
                                <a:rPr lang="en-IN" sz="2800" i="1">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f>
                                    <m:fPr>
                                      <m:ctrlPr>
                                        <a:rPr lang="en-IN" sz="2800" i="1">
                                          <a:solidFill>
                                            <a:srgbClr val="002060"/>
                                          </a:solidFill>
                                          <a:latin typeface="Cambria Math" panose="02040503050406030204" pitchFamily="18" charset="0"/>
                                        </a:rPr>
                                      </m:ctrlPr>
                                    </m:fPr>
                                    <m:num>
                                      <m:r>
                                        <a:rPr lang="en-US" sz="2800">
                                          <a:solidFill>
                                            <a:srgbClr val="002060"/>
                                          </a:solidFill>
                                          <a:latin typeface="Cambria Math" panose="02040503050406030204" pitchFamily="18" charset="0"/>
                                        </a:rPr>
                                        <m:t>1</m:t>
                                      </m:r>
                                    </m:num>
                                    <m:den>
                                      <m:r>
                                        <a:rPr lang="en-US" sz="2800">
                                          <a:solidFill>
                                            <a:srgbClr val="002060"/>
                                          </a:solidFill>
                                          <a:latin typeface="Cambria Math" panose="02040503050406030204" pitchFamily="18" charset="0"/>
                                        </a:rPr>
                                        <m:t>5</m:t>
                                      </m:r>
                                    </m:den>
                                  </m:f>
                                </m:e>
                              </m:d>
                            </m:e>
                            <m:sup>
                              <m:r>
                                <a:rPr lang="en-US" sz="2800">
                                  <a:solidFill>
                                    <a:srgbClr val="002060"/>
                                  </a:solidFill>
                                  <a:latin typeface="Cambria Math" panose="02040503050406030204" pitchFamily="18" charset="0"/>
                                </a:rPr>
                                <m:t>2</m:t>
                              </m:r>
                            </m:sup>
                          </m:sSup>
                        </m:den>
                      </m:f>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14:m>
                  <m:oMathPara xmlns:m="http://schemas.openxmlformats.org/officeDocument/2006/math">
                    <m:oMathParaPr>
                      <m:jc m:val="left"/>
                    </m:oMathParaPr>
                    <m:oMath xmlns:m="http://schemas.openxmlformats.org/officeDocument/2006/math">
                      <m:r>
                        <m:rPr>
                          <m:sty m:val="p"/>
                        </m:rPr>
                        <a:rPr lang="en-IN" sz="2800">
                          <a:solidFill>
                            <a:srgbClr val="002060"/>
                          </a:solidFill>
                          <a:latin typeface="Cambria Math" panose="02040503050406030204" pitchFamily="18" charset="0"/>
                        </a:rPr>
                        <m:t>Variance</m:t>
                      </m:r>
                      <m:r>
                        <a:rPr lang="en-US" sz="2800">
                          <a:solidFill>
                            <a:srgbClr val="002060"/>
                          </a:solidFill>
                          <a:latin typeface="Cambria Math" panose="02040503050406030204" pitchFamily="18" charset="0"/>
                        </a:rPr>
                        <m:t>=</m:t>
                      </m:r>
                      <m:sSup>
                        <m:sSupPr>
                          <m:ctrlPr>
                            <a:rPr lang="en-IN" sz="2800" i="1" smtClean="0">
                              <a:solidFill>
                                <a:srgbClr val="002060"/>
                              </a:solidFill>
                              <a:latin typeface="Cambria Math" panose="02040503050406030204" pitchFamily="18" charset="0"/>
                            </a:rPr>
                          </m:ctrlPr>
                        </m:sSupPr>
                        <m:e>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5</m:t>
                              </m:r>
                            </m:e>
                          </m:d>
                        </m:e>
                        <m:sup>
                          <m:r>
                            <a:rPr lang="en-US" sz="2800">
                              <a:solidFill>
                                <a:srgbClr val="002060"/>
                              </a:solidFill>
                              <a:latin typeface="Cambria Math" panose="02040503050406030204" pitchFamily="18" charset="0"/>
                            </a:rPr>
                            <m:t>2</m:t>
                          </m:r>
                        </m:sup>
                      </m:sSup>
                    </m:oMath>
                  </m:oMathPara>
                </a14:m>
                <a:endParaRPr lang="en-IN" sz="2800" dirty="0">
                  <a:solidFill>
                    <a:srgbClr val="002060"/>
                  </a:solidFill>
                  <a:latin typeface="Cambria Math" panose="02040503050406030204" pitchFamily="18" charset="0"/>
                </a:endParaRPr>
              </a:p>
              <a:p>
                <a:pPr>
                  <a:lnSpc>
                    <a:spcPct val="150000"/>
                  </a:lnSpc>
                  <a:spcBef>
                    <a:spcPts val="1200"/>
                  </a:spcBef>
                  <a:buClr>
                    <a:schemeClr val="accent6"/>
                  </a:buClr>
                  <a:tabLst>
                    <a:tab pos="447675" algn="l"/>
                  </a:tabLst>
                </a:pPr>
                <a:r>
                  <a:rPr lang="en-US" sz="2800" b="1" dirty="0">
                    <a:solidFill>
                      <a:srgbClr val="FF0000"/>
                    </a:solidFill>
                    <a:latin typeface="Cambria Math" panose="02040503050406030204" pitchFamily="18" charset="0"/>
                  </a:rPr>
                  <a:t>Variance</a:t>
                </a:r>
                <a14:m>
                  <m:oMath xmlns:m="http://schemas.openxmlformats.org/officeDocument/2006/math">
                    <m:r>
                      <a:rPr lang="en-US" sz="2800" b="1">
                        <a:solidFill>
                          <a:srgbClr val="FF0000"/>
                        </a:solidFill>
                        <a:latin typeface="Cambria Math" panose="02040503050406030204" pitchFamily="18" charset="0"/>
                      </a:rPr>
                      <m:t>=</m:t>
                    </m:r>
                    <m:r>
                      <a:rPr lang="en-US" sz="2800" b="1" i="1">
                        <a:solidFill>
                          <a:srgbClr val="FF0000"/>
                        </a:solidFill>
                        <a:latin typeface="Cambria Math" panose="02040503050406030204" pitchFamily="18" charset="0"/>
                      </a:rPr>
                      <m:t>𝟐𝟓</m:t>
                    </m:r>
                  </m:oMath>
                </a14:m>
                <a:endParaRPr lang="en-IN" sz="2800" b="1"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65209" y="717230"/>
                <a:ext cx="5600177" cy="5431615"/>
              </a:xfrm>
              <a:prstGeom prst="rect">
                <a:avLst/>
              </a:prstGeom>
              <a:blipFill rotWithShape="0">
                <a:blip r:embed="rId2"/>
                <a:stretch>
                  <a:fillRect l="-2176"/>
                </a:stretch>
              </a:blipFill>
            </p:spPr>
            <p:txBody>
              <a:bodyPr/>
              <a:lstStyle/>
              <a:p>
                <a:r>
                  <a:rPr lang="en-IN">
                    <a:noFill/>
                  </a:rPr>
                  <a:t> </a:t>
                </a:r>
              </a:p>
            </p:txBody>
          </p:sp>
        </mc:Fallback>
      </mc:AlternateContent>
    </p:spTree>
    <p:extLst>
      <p:ext uri="{BB962C8B-B14F-4D97-AF65-F5344CB8AC3E}">
        <p14:creationId xmlns:p14="http://schemas.microsoft.com/office/powerpoint/2010/main" val="113864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4</a:t>
            </a:r>
            <a:br>
              <a:rPr lang="en-IN" dirty="0"/>
            </a:br>
            <a:r>
              <a:rPr lang="en-IN" dirty="0"/>
              <a:t>Normal Distribution</a:t>
            </a:r>
          </a:p>
        </p:txBody>
      </p:sp>
      <p:sp>
        <p:nvSpPr>
          <p:cNvPr id="4" name="Text Placeholder 3">
            <a:extLst>
              <a:ext uri="{FF2B5EF4-FFF2-40B4-BE49-F238E27FC236}">
                <a16:creationId xmlns:a16="http://schemas.microsoft.com/office/drawing/2014/main" id="{4AF66629-F349-43A0-B5A5-A51D2BBB743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920942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Normal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p:txBody>
              <a:bodyPr/>
              <a:lstStyle/>
              <a:p>
                <a:pPr lvl="0"/>
                <a:r>
                  <a:rPr lang="en-US" dirty="0"/>
                  <a:t>A continuous random variable </a:t>
                </a:r>
                <a14:m>
                  <m:oMath xmlns:m="http://schemas.openxmlformats.org/officeDocument/2006/math">
                    <m:r>
                      <m:rPr>
                        <m:sty m:val="p"/>
                      </m:rPr>
                      <a:rPr lang="en-US">
                        <a:latin typeface="Cambria Math" panose="02040503050406030204" pitchFamily="18" charset="0"/>
                      </a:rPr>
                      <m:t>X</m:t>
                    </m:r>
                  </m:oMath>
                </a14:m>
                <a:r>
                  <a:rPr lang="en-US" dirty="0"/>
                  <a:t> is said to follows a </a:t>
                </a:r>
                <a:r>
                  <a:rPr lang="en-US" dirty="0">
                    <a:solidFill>
                      <a:srgbClr val="FF0000"/>
                    </a:solidFill>
                  </a:rPr>
                  <a:t>normal distribution</a:t>
                </a:r>
                <a:r>
                  <a:rPr lang="en-US" dirty="0"/>
                  <a:t> if its probability density function is given by</a:t>
                </a:r>
                <a:endParaRPr lang="en-IN" dirty="0"/>
              </a:p>
              <a:p>
                <a:pPr marL="0" indent="0">
                  <a:buNone/>
                </a:pPr>
                <a14:m>
                  <m:oMathPara xmlns:m="http://schemas.openxmlformats.org/officeDocument/2006/math">
                    <m:oMathParaPr>
                      <m:jc m:val="centerGroup"/>
                    </m:oMathParaPr>
                    <m:oMath xmlns:m="http://schemas.openxmlformats.org/officeDocument/2006/math">
                      <m:r>
                        <a:rPr lang="en-US" b="1" i="0" smtClean="0">
                          <a:solidFill>
                            <a:srgbClr val="FF0000"/>
                          </a:solidFill>
                          <a:latin typeface="Cambria Math" panose="02040503050406030204" pitchFamily="18" charset="0"/>
                        </a:rPr>
                        <m:t>𝐟</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𝐱</m:t>
                          </m:r>
                        </m:e>
                      </m:d>
                      <m:r>
                        <a:rPr lang="en-US" b="1" i="0">
                          <a:solidFill>
                            <a:srgbClr val="FF0000"/>
                          </a:solidFill>
                          <a:latin typeface="Cambria Math" panose="02040503050406030204" pitchFamily="18" charset="0"/>
                        </a:rPr>
                        <m:t>=</m:t>
                      </m:r>
                      <m:f>
                        <m:fPr>
                          <m:ctrlPr>
                            <a:rPr lang="en-IN"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 </m:t>
                          </m:r>
                          <m:r>
                            <a:rPr lang="en-US" b="1" i="0">
                              <a:solidFill>
                                <a:srgbClr val="FF0000"/>
                              </a:solidFill>
                              <a:latin typeface="Cambria Math" panose="02040503050406030204" pitchFamily="18" charset="0"/>
                            </a:rPr>
                            <m:t>𝟏</m:t>
                          </m:r>
                          <m:r>
                            <a:rPr lang="en-US" b="1" i="0">
                              <a:solidFill>
                                <a:srgbClr val="FF0000"/>
                              </a:solidFill>
                              <a:latin typeface="Cambria Math" panose="02040503050406030204" pitchFamily="18" charset="0"/>
                            </a:rPr>
                            <m:t> </m:t>
                          </m:r>
                        </m:num>
                        <m:den>
                          <m:r>
                            <a:rPr lang="en-US" b="1" i="0">
                              <a:solidFill>
                                <a:srgbClr val="FF0000"/>
                              </a:solidFill>
                              <a:latin typeface="Cambria Math" panose="02040503050406030204" pitchFamily="18" charset="0"/>
                            </a:rPr>
                            <m:t>𝛔</m:t>
                          </m:r>
                          <m:r>
                            <a:rPr lang="en-US" b="1" i="0">
                              <a:solidFill>
                                <a:srgbClr val="FF0000"/>
                              </a:solidFill>
                              <a:latin typeface="Cambria Math" panose="02040503050406030204" pitchFamily="18" charset="0"/>
                            </a:rPr>
                            <m:t> </m:t>
                          </m:r>
                          <m:rad>
                            <m:radPr>
                              <m:degHide m:val="on"/>
                              <m:ctrlPr>
                                <a:rPr lang="en-IN" b="1" i="1">
                                  <a:solidFill>
                                    <a:srgbClr val="FF0000"/>
                                  </a:solidFill>
                                  <a:latin typeface="Cambria Math" panose="02040503050406030204" pitchFamily="18" charset="0"/>
                                </a:rPr>
                              </m:ctrlPr>
                            </m:radPr>
                            <m:deg/>
                            <m:e>
                              <m:r>
                                <a:rPr lang="en-US" b="1" i="0">
                                  <a:solidFill>
                                    <a:srgbClr val="FF0000"/>
                                  </a:solidFill>
                                  <a:latin typeface="Cambria Math" panose="02040503050406030204" pitchFamily="18" charset="0"/>
                                </a:rPr>
                                <m:t>𝟐</m:t>
                              </m:r>
                              <m:r>
                                <a:rPr lang="en-US" b="1" i="0">
                                  <a:solidFill>
                                    <a:srgbClr val="FF0000"/>
                                  </a:solidFill>
                                  <a:latin typeface="Cambria Math" panose="02040503050406030204" pitchFamily="18" charset="0"/>
                                </a:rPr>
                                <m:t>𝛑</m:t>
                              </m:r>
                              <m:r>
                                <a:rPr lang="en-US" b="1" i="0">
                                  <a:solidFill>
                                    <a:srgbClr val="FF0000"/>
                                  </a:solidFill>
                                  <a:latin typeface="Cambria Math" panose="02040503050406030204" pitchFamily="18" charset="0"/>
                                </a:rPr>
                                <m:t> </m:t>
                              </m:r>
                            </m:e>
                          </m:rad>
                          <m:r>
                            <a:rPr lang="en-US" b="1" i="0">
                              <a:solidFill>
                                <a:srgbClr val="FF0000"/>
                              </a:solidFill>
                              <a:latin typeface="Cambria Math" panose="02040503050406030204" pitchFamily="18" charset="0"/>
                            </a:rPr>
                            <m:t> </m:t>
                          </m:r>
                        </m:den>
                      </m:f>
                      <m:r>
                        <a:rPr lang="en-US" b="1" i="0">
                          <a:solidFill>
                            <a:srgbClr val="FF0000"/>
                          </a:solidFill>
                          <a:latin typeface="Cambria Math" panose="02040503050406030204" pitchFamily="18" charset="0"/>
                        </a:rPr>
                        <m:t> </m:t>
                      </m:r>
                      <m:func>
                        <m:funcPr>
                          <m:ctrlPr>
                            <a:rPr lang="en-IN" b="1" i="1">
                              <a:solidFill>
                                <a:srgbClr val="FF0000"/>
                              </a:solidFill>
                              <a:latin typeface="Cambria Math" panose="02040503050406030204" pitchFamily="18" charset="0"/>
                            </a:rPr>
                          </m:ctrlPr>
                        </m:funcPr>
                        <m:fName>
                          <m:r>
                            <a:rPr lang="en-US" b="1" i="0">
                              <a:solidFill>
                                <a:srgbClr val="FF0000"/>
                              </a:solidFill>
                              <a:latin typeface="Cambria Math" panose="02040503050406030204" pitchFamily="18" charset="0"/>
                            </a:rPr>
                            <m:t>𝐞𝐱𝐩</m:t>
                          </m:r>
                        </m:fName>
                        <m:e>
                          <m:d>
                            <m:dPr>
                              <m:begChr m:val="["/>
                              <m:endChr m:val="]"/>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 −</m:t>
                              </m:r>
                              <m:f>
                                <m:fPr>
                                  <m:ctrlPr>
                                    <a:rPr lang="en-IN"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 </m:t>
                                  </m:r>
                                  <m:r>
                                    <a:rPr lang="en-US" b="1" i="0">
                                      <a:solidFill>
                                        <a:srgbClr val="FF0000"/>
                                      </a:solidFill>
                                      <a:latin typeface="Cambria Math" panose="02040503050406030204" pitchFamily="18" charset="0"/>
                                    </a:rPr>
                                    <m:t>𝟏</m:t>
                                  </m:r>
                                  <m:r>
                                    <a:rPr lang="en-US" b="1" i="0">
                                      <a:solidFill>
                                        <a:srgbClr val="FF0000"/>
                                      </a:solidFill>
                                      <a:latin typeface="Cambria Math" panose="02040503050406030204" pitchFamily="18" charset="0"/>
                                    </a:rPr>
                                    <m:t> </m:t>
                                  </m:r>
                                </m:num>
                                <m:den>
                                  <m:r>
                                    <a:rPr lang="en-US" b="1" i="0">
                                      <a:solidFill>
                                        <a:srgbClr val="FF0000"/>
                                      </a:solidFill>
                                      <a:latin typeface="Cambria Math" panose="02040503050406030204" pitchFamily="18" charset="0"/>
                                    </a:rPr>
                                    <m:t>𝟐</m:t>
                                  </m:r>
                                  <m:r>
                                    <a:rPr lang="en-US" b="1" i="0">
                                      <a:solidFill>
                                        <a:srgbClr val="FF0000"/>
                                      </a:solidFill>
                                      <a:latin typeface="Cambria Math" panose="02040503050406030204" pitchFamily="18" charset="0"/>
                                    </a:rPr>
                                    <m:t> </m:t>
                                  </m:r>
                                </m:den>
                              </m:f>
                              <m:sSup>
                                <m:sSupPr>
                                  <m:ctrlPr>
                                    <a:rPr lang="en-IN" b="1" i="1">
                                      <a:solidFill>
                                        <a:srgbClr val="FF0000"/>
                                      </a:solidFill>
                                      <a:latin typeface="Cambria Math" panose="02040503050406030204" pitchFamily="18" charset="0"/>
                                    </a:rPr>
                                  </m:ctrlPr>
                                </m:sSupPr>
                                <m:e>
                                  <m:d>
                                    <m:dPr>
                                      <m:ctrlPr>
                                        <a:rPr lang="en-IN" b="1" i="1">
                                          <a:solidFill>
                                            <a:srgbClr val="FF0000"/>
                                          </a:solidFill>
                                          <a:latin typeface="Cambria Math" panose="02040503050406030204" pitchFamily="18" charset="0"/>
                                        </a:rPr>
                                      </m:ctrlPr>
                                    </m:dPr>
                                    <m:e>
                                      <m:f>
                                        <m:fPr>
                                          <m:ctrlPr>
                                            <a:rPr lang="en-IN" b="1" i="1">
                                              <a:solidFill>
                                                <a:srgbClr val="FF0000"/>
                                              </a:solidFill>
                                              <a:latin typeface="Cambria Math" panose="02040503050406030204" pitchFamily="18" charset="0"/>
                                            </a:rPr>
                                          </m:ctrlPr>
                                        </m:fPr>
                                        <m:num>
                                          <m:r>
                                            <a:rPr lang="en-US" b="1" i="0">
                                              <a:solidFill>
                                                <a:srgbClr val="FF0000"/>
                                              </a:solidFill>
                                              <a:latin typeface="Cambria Math" panose="02040503050406030204" pitchFamily="18" charset="0"/>
                                            </a:rPr>
                                            <m:t>𝐱</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𝛍</m:t>
                                          </m:r>
                                          <m:r>
                                            <a:rPr lang="en-US" b="1" i="0">
                                              <a:solidFill>
                                                <a:srgbClr val="FF0000"/>
                                              </a:solidFill>
                                              <a:latin typeface="Cambria Math" panose="02040503050406030204" pitchFamily="18" charset="0"/>
                                            </a:rPr>
                                            <m:t> </m:t>
                                          </m:r>
                                        </m:num>
                                        <m:den>
                                          <m:r>
                                            <a:rPr lang="en-US" b="1" i="0">
                                              <a:solidFill>
                                                <a:srgbClr val="FF0000"/>
                                              </a:solidFill>
                                              <a:latin typeface="Cambria Math" panose="02040503050406030204" pitchFamily="18" charset="0"/>
                                            </a:rPr>
                                            <m:t>𝛔</m:t>
                                          </m:r>
                                          <m:r>
                                            <a:rPr lang="en-US" b="1" i="0">
                                              <a:solidFill>
                                                <a:srgbClr val="FF0000"/>
                                              </a:solidFill>
                                              <a:latin typeface="Cambria Math" panose="02040503050406030204" pitchFamily="18" charset="0"/>
                                            </a:rPr>
                                            <m:t> </m:t>
                                          </m:r>
                                        </m:den>
                                      </m:f>
                                    </m:e>
                                  </m:d>
                                </m:e>
                                <m:sup>
                                  <m:r>
                                    <a:rPr lang="en-US" b="1" i="0">
                                      <a:solidFill>
                                        <a:srgbClr val="FF0000"/>
                                      </a:solidFill>
                                      <a:latin typeface="Cambria Math" panose="02040503050406030204" pitchFamily="18" charset="0"/>
                                    </a:rPr>
                                    <m:t>𝟐</m:t>
                                  </m:r>
                                </m:sup>
                              </m:sSup>
                              <m:r>
                                <a:rPr lang="en-US" b="1" i="0">
                                  <a:solidFill>
                                    <a:srgbClr val="FF0000"/>
                                  </a:solidFill>
                                  <a:latin typeface="Cambria Math" panose="02040503050406030204" pitchFamily="18" charset="0"/>
                                </a:rPr>
                                <m:t> </m:t>
                              </m:r>
                            </m:e>
                          </m:d>
                        </m:e>
                      </m:func>
                    </m:oMath>
                  </m:oMathPara>
                </a14:m>
                <a:endParaRPr lang="en-IN" b="1" dirty="0">
                  <a:solidFill>
                    <a:srgbClr val="FF0000"/>
                  </a:solidFill>
                </a:endParaRPr>
              </a:p>
              <a:p>
                <a:pPr marL="0" indent="0">
                  <a:buNone/>
                </a:pPr>
                <a14:m>
                  <m:oMathPara xmlns:m="http://schemas.openxmlformats.org/officeDocument/2006/math">
                    <m:oMathParaPr>
                      <m:jc m:val="left"/>
                    </m:oMathParaPr>
                    <m:oMath xmlns:m="http://schemas.openxmlformats.org/officeDocument/2006/math">
                      <m:r>
                        <m:rPr>
                          <m:sty m:val="p"/>
                        </m:rPr>
                        <a:rPr lang="en-US">
                          <a:latin typeface="Cambria Math" panose="02040503050406030204" pitchFamily="18" charset="0"/>
                        </a:rPr>
                        <m:t>Where</m:t>
                      </m:r>
                      <m:r>
                        <a:rPr lang="en-US">
                          <a:latin typeface="Cambria Math" panose="02040503050406030204" pitchFamily="18" charset="0"/>
                        </a:rPr>
                        <m:t>,</m:t>
                      </m:r>
                      <m:r>
                        <a:rPr lang="en-US" i="1">
                          <a:latin typeface="Cambria Math" panose="02040503050406030204" pitchFamily="18" charset="0"/>
                        </a:rPr>
                        <m:t>−</m:t>
                      </m:r>
                      <m:r>
                        <a:rPr lang="en-US">
                          <a:latin typeface="Cambria Math" panose="02040503050406030204" pitchFamily="18" charset="0"/>
                        </a:rPr>
                        <m:t>∞&lt;</m:t>
                      </m:r>
                      <m:r>
                        <m:rPr>
                          <m:sty m:val="p"/>
                        </m:rPr>
                        <a:rPr lang="en-US">
                          <a:latin typeface="Cambria Math" panose="02040503050406030204" pitchFamily="18" charset="0"/>
                        </a:rPr>
                        <m:t>x</m:t>
                      </m:r>
                      <m:r>
                        <a:rPr lang="en-US">
                          <a:latin typeface="Cambria Math" panose="02040503050406030204" pitchFamily="18" charset="0"/>
                        </a:rPr>
                        <m:t>&lt;∞  &amp;  </m:t>
                      </m:r>
                      <m:r>
                        <m:rPr>
                          <m:sty m:val="p"/>
                        </m:rPr>
                        <a:rPr lang="en-US">
                          <a:latin typeface="Cambria Math" panose="02040503050406030204" pitchFamily="18" charset="0"/>
                        </a:rPr>
                        <m:t>σ</m:t>
                      </m:r>
                      <m:r>
                        <a:rPr lang="en-US">
                          <a:latin typeface="Cambria Math" panose="02040503050406030204" pitchFamily="18" charset="0"/>
                        </a:rPr>
                        <m:t>&gt;0</m:t>
                      </m:r>
                    </m:oMath>
                  </m:oMathPara>
                </a14:m>
                <a:endParaRPr lang="en-IN" dirty="0"/>
              </a:p>
              <a:p>
                <a:pPr marL="0" indent="0">
                  <a:buNone/>
                </a:pPr>
                <a:r>
                  <a:rPr lang="en-US" dirty="0">
                    <a:solidFill>
                      <a:srgbClr val="FF0000"/>
                    </a:solidFill>
                    <a:latin typeface="Cambria Math" panose="02040503050406030204" pitchFamily="18" charset="0"/>
                    <a:ea typeface="Cambria Math" panose="02040503050406030204" pitchFamily="18" charset="0"/>
                  </a:rPr>
                  <a:t>μ =</a:t>
                </a:r>
                <a:r>
                  <a:rPr lang="en-US" dirty="0">
                    <a:solidFill>
                      <a:srgbClr val="FF0000"/>
                    </a:solidFill>
                  </a:rPr>
                  <a:t> mean of the distribution</a:t>
                </a:r>
              </a:p>
              <a:p>
                <a:pPr marL="0" indent="0">
                  <a:buNone/>
                </a:pPr>
                <a14:m>
                  <m:oMath xmlns:m="http://schemas.openxmlformats.org/officeDocument/2006/math">
                    <m:r>
                      <m:rPr>
                        <m:sty m:val="p"/>
                      </m:rPr>
                      <a:rPr lang="en-US" i="0" dirty="0" smtClean="0">
                        <a:solidFill>
                          <a:srgbClr val="FF0000"/>
                        </a:solidFill>
                        <a:latin typeface="Cambria Math" panose="02040503050406030204" pitchFamily="18" charset="0"/>
                        <a:ea typeface="Cambria Math" panose="02040503050406030204" pitchFamily="18" charset="0"/>
                      </a:rPr>
                      <m:t>σ</m:t>
                    </m:r>
                  </m:oMath>
                </a14:m>
                <a:r>
                  <a:rPr lang="en-US" dirty="0">
                    <a:solidFill>
                      <a:srgbClr val="FF0000"/>
                    </a:solidFill>
                    <a:latin typeface="Cambria Math" panose="02040503050406030204" pitchFamily="18" charset="0"/>
                    <a:ea typeface="Cambria Math" panose="02040503050406030204" pitchFamily="18" charset="0"/>
                  </a:rPr>
                  <a:t> =</a:t>
                </a:r>
                <a:r>
                  <a:rPr lang="en-US" dirty="0">
                    <a:solidFill>
                      <a:srgbClr val="FF0000"/>
                    </a:solidFill>
                  </a:rPr>
                  <a:t> standard deviation of the distribution</a:t>
                </a:r>
                <a:endParaRPr lang="en-IN" dirty="0"/>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blipFill rotWithShape="0">
                <a:blip r:embed="rId2"/>
                <a:stretch>
                  <a:fillRect l="-1074" r="-1074"/>
                </a:stretch>
              </a:blipFill>
            </p:spPr>
            <p:txBody>
              <a:bodyPr/>
              <a:lstStyle/>
              <a:p>
                <a:r>
                  <a:rPr lang="en-IN">
                    <a:noFill/>
                  </a:rPr>
                  <a:t> </a:t>
                </a:r>
              </a:p>
            </p:txBody>
          </p:sp>
        </mc:Fallback>
      </mc:AlternateContent>
    </p:spTree>
    <p:extLst>
      <p:ext uri="{BB962C8B-B14F-4D97-AF65-F5344CB8AC3E}">
        <p14:creationId xmlns:p14="http://schemas.microsoft.com/office/powerpoint/2010/main" val="46769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Normal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63444"/>
                <a:ext cx="6643692" cy="5590565"/>
              </a:xfrm>
            </p:spPr>
            <p:txBody>
              <a:bodyPr/>
              <a:lstStyle/>
              <a:p>
                <a:pPr lvl="0"/>
                <a:r>
                  <a:rPr lang="en-US" dirty="0"/>
                  <a:t>Here, </a:t>
                </a:r>
                <a14:m>
                  <m:oMath xmlns:m="http://schemas.openxmlformats.org/officeDocument/2006/math">
                    <m:r>
                      <m:rPr>
                        <m:sty m:val="p"/>
                      </m:rPr>
                      <a:rPr lang="en-US" i="0" dirty="0" smtClean="0">
                        <a:solidFill>
                          <a:srgbClr val="FF0000"/>
                        </a:solidFill>
                        <a:latin typeface="Cambria Math" panose="02040503050406030204" pitchFamily="18" charset="0"/>
                      </a:rPr>
                      <m:t>μ</m:t>
                    </m:r>
                  </m:oMath>
                </a14:m>
                <a:r>
                  <a:rPr lang="en-US" dirty="0">
                    <a:solidFill>
                      <a:srgbClr val="FF0000"/>
                    </a:solidFill>
                  </a:rPr>
                  <a:t> (mean)</a:t>
                </a:r>
                <a:r>
                  <a:rPr lang="en-US" dirty="0"/>
                  <a:t> &amp; </a:t>
                </a:r>
                <a14:m>
                  <m:oMath xmlns:m="http://schemas.openxmlformats.org/officeDocument/2006/math">
                    <m:sSup>
                      <m:sSupPr>
                        <m:ctrlPr>
                          <a:rPr lang="en-IN" i="1" smtClean="0">
                            <a:solidFill>
                              <a:srgbClr val="FF0000"/>
                            </a:solidFill>
                            <a:latin typeface="Cambria Math" panose="02040503050406030204" pitchFamily="18" charset="0"/>
                          </a:rPr>
                        </m:ctrlPr>
                      </m:sSupPr>
                      <m:e>
                        <m:r>
                          <m:rPr>
                            <m:sty m:val="p"/>
                          </m:rPr>
                          <a:rPr lang="en-US">
                            <a:solidFill>
                              <a:srgbClr val="FF0000"/>
                            </a:solidFill>
                            <a:latin typeface="Cambria Math" panose="02040503050406030204" pitchFamily="18" charset="0"/>
                          </a:rPr>
                          <m:t>σ</m:t>
                        </m:r>
                      </m:e>
                      <m:sup>
                        <m:r>
                          <a:rPr lang="en-US">
                            <a:solidFill>
                              <a:srgbClr val="FF0000"/>
                            </a:solidFill>
                            <a:latin typeface="Cambria Math" panose="02040503050406030204" pitchFamily="18" charset="0"/>
                          </a:rPr>
                          <m:t>2</m:t>
                        </m:r>
                      </m:sup>
                    </m:sSup>
                  </m:oMath>
                </a14:m>
                <a:r>
                  <a:rPr lang="en-US" dirty="0">
                    <a:solidFill>
                      <a:srgbClr val="FF0000"/>
                    </a:solidFill>
                  </a:rPr>
                  <a:t> (variance)</a:t>
                </a:r>
                <a:r>
                  <a:rPr lang="en-US" dirty="0"/>
                  <a:t> are known as </a:t>
                </a:r>
                <a:r>
                  <a:rPr lang="en-US" dirty="0">
                    <a:solidFill>
                      <a:srgbClr val="FF0000"/>
                    </a:solidFill>
                  </a:rPr>
                  <a:t>parameters</a:t>
                </a:r>
                <a:r>
                  <a:rPr lang="en-US" dirty="0"/>
                  <a:t> of the distribution.</a:t>
                </a:r>
                <a:endParaRPr lang="en-IN" dirty="0"/>
              </a:p>
              <a:p>
                <a:pPr lvl="0"/>
                <a:r>
                  <a:rPr lang="en-US" dirty="0"/>
                  <a:t>If X is a normal random variable with mean </a:t>
                </a:r>
                <a14:m>
                  <m:oMath xmlns:m="http://schemas.openxmlformats.org/officeDocument/2006/math">
                    <m:r>
                      <m:rPr>
                        <m:sty m:val="p"/>
                      </m:rPr>
                      <a:rPr lang="en-US">
                        <a:latin typeface="Cambria Math" panose="02040503050406030204" pitchFamily="18" charset="0"/>
                        <a:ea typeface="Cambria Math" panose="02040503050406030204" pitchFamily="18" charset="0"/>
                      </a:rPr>
                      <m:t>μ</m:t>
                    </m:r>
                  </m:oMath>
                </a14:m>
                <a:r>
                  <a:rPr lang="en-US" dirty="0"/>
                  <a:t> and standard deviation </a:t>
                </a:r>
                <a14:m>
                  <m:oMath xmlns:m="http://schemas.openxmlformats.org/officeDocument/2006/math">
                    <m:r>
                      <m:rPr>
                        <m:sty m:val="p"/>
                      </m:rPr>
                      <a:rPr lang="en-US">
                        <a:latin typeface="Cambria Math" panose="02040503050406030204" pitchFamily="18" charset="0"/>
                        <a:ea typeface="Cambria Math" panose="02040503050406030204" pitchFamily="18" charset="0"/>
                      </a:rPr>
                      <m:t>σ</m:t>
                    </m:r>
                    <m:r>
                      <a:rPr lang="en-US">
                        <a:latin typeface="Cambria Math" panose="02040503050406030204" pitchFamily="18" charset="0"/>
                      </a:rPr>
                      <m:t>,</m:t>
                    </m:r>
                  </m:oMath>
                </a14:m>
                <a:r>
                  <a:rPr lang="en-US" dirty="0"/>
                  <a:t> then we can find the </a:t>
                </a:r>
                <a:r>
                  <a:rPr lang="en-US" dirty="0">
                    <a:solidFill>
                      <a:srgbClr val="FF0000"/>
                    </a:solidFill>
                  </a:rPr>
                  <a:t>random variable</a:t>
                </a:r>
                <a:r>
                  <a:rPr lang="en-US" dirty="0"/>
                  <a:t> defined as below</a:t>
                </a:r>
                <a:endParaRPr lang="en-IN" dirty="0"/>
              </a:p>
              <a:p>
                <a:pPr marL="0" indent="0">
                  <a:buNone/>
                </a:pPr>
                <a14:m>
                  <m:oMathPara xmlns:m="http://schemas.openxmlformats.org/officeDocument/2006/math">
                    <m:oMathParaPr>
                      <m:jc m:val="centerGroup"/>
                    </m:oMathParaPr>
                    <m:oMath xmlns:m="http://schemas.openxmlformats.org/officeDocument/2006/math">
                      <m:r>
                        <a:rPr lang="en-US" b="1" i="0" dirty="0" smtClean="0">
                          <a:solidFill>
                            <a:srgbClr val="FF0000"/>
                          </a:solidFill>
                          <a:latin typeface="Cambria Math" panose="02040503050406030204" pitchFamily="18" charset="0"/>
                        </a:rPr>
                        <m:t>𝐙</m:t>
                      </m:r>
                      <m:r>
                        <a:rPr lang="en-US" b="1" i="0" dirty="0" smtClean="0">
                          <a:solidFill>
                            <a:srgbClr val="FF0000"/>
                          </a:solidFill>
                          <a:latin typeface="Cambria Math" panose="02040503050406030204" pitchFamily="18" charset="0"/>
                        </a:rPr>
                        <m:t>=</m:t>
                      </m:r>
                      <m:f>
                        <m:fPr>
                          <m:ctrlPr>
                            <a:rPr lang="en-IN" b="1" i="1" dirty="0">
                              <a:solidFill>
                                <a:srgbClr val="FF0000"/>
                              </a:solidFill>
                              <a:latin typeface="Cambria Math" panose="02040503050406030204" pitchFamily="18" charset="0"/>
                            </a:rPr>
                          </m:ctrlPr>
                        </m:fPr>
                        <m:num>
                          <m:r>
                            <a:rPr lang="en-US" b="1" i="0" dirty="0">
                              <a:solidFill>
                                <a:srgbClr val="FF0000"/>
                              </a:solidFill>
                              <a:latin typeface="Cambria Math" panose="02040503050406030204" pitchFamily="18" charset="0"/>
                            </a:rPr>
                            <m:t> </m:t>
                          </m:r>
                          <m:r>
                            <a:rPr lang="en-IN" b="1" i="0" dirty="0" smtClean="0">
                              <a:solidFill>
                                <a:srgbClr val="FF0000"/>
                              </a:solidFill>
                              <a:latin typeface="Cambria Math" panose="02040503050406030204" pitchFamily="18" charset="0"/>
                            </a:rPr>
                            <m:t>𝐱</m:t>
                          </m:r>
                          <m:r>
                            <a:rPr lang="en-US" b="1" i="0" dirty="0">
                              <a:solidFill>
                                <a:srgbClr val="FF0000"/>
                              </a:solidFill>
                              <a:latin typeface="Cambria Math" panose="02040503050406030204" pitchFamily="18" charset="0"/>
                            </a:rPr>
                            <m:t>−</m:t>
                          </m:r>
                          <m:r>
                            <a:rPr lang="en-US" b="1" i="0" dirty="0">
                              <a:solidFill>
                                <a:srgbClr val="FF0000"/>
                              </a:solidFill>
                              <a:latin typeface="Cambria Math" panose="02040503050406030204" pitchFamily="18" charset="0"/>
                            </a:rPr>
                            <m:t>𝛍</m:t>
                          </m:r>
                          <m:r>
                            <a:rPr lang="en-US" b="1" i="0" dirty="0">
                              <a:solidFill>
                                <a:srgbClr val="FF0000"/>
                              </a:solidFill>
                              <a:latin typeface="Cambria Math" panose="02040503050406030204" pitchFamily="18" charset="0"/>
                            </a:rPr>
                            <m:t> </m:t>
                          </m:r>
                        </m:num>
                        <m:den>
                          <m:r>
                            <a:rPr lang="en-US" b="1" i="0" dirty="0">
                              <a:solidFill>
                                <a:srgbClr val="FF0000"/>
                              </a:solidFill>
                              <a:latin typeface="Cambria Math" panose="02040503050406030204" pitchFamily="18" charset="0"/>
                            </a:rPr>
                            <m:t>𝛔</m:t>
                          </m:r>
                          <m:r>
                            <a:rPr lang="en-US" b="1" i="0" dirty="0">
                              <a:solidFill>
                                <a:srgbClr val="FF0000"/>
                              </a:solidFill>
                              <a:latin typeface="Cambria Math" panose="02040503050406030204" pitchFamily="18" charset="0"/>
                            </a:rPr>
                            <m:t> </m:t>
                          </m:r>
                        </m:den>
                      </m:f>
                    </m:oMath>
                  </m:oMathPara>
                </a14:m>
                <a:endParaRPr lang="en-IN" dirty="0"/>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63444"/>
                <a:ext cx="6643692" cy="5590565"/>
              </a:xfrm>
              <a:blipFill rotWithShape="0">
                <a:blip r:embed="rId2"/>
                <a:stretch>
                  <a:fillRect l="-1745" r="-1928"/>
                </a:stretch>
              </a:blipFill>
            </p:spPr>
            <p:txBody>
              <a:bodyPr/>
              <a:lstStyle/>
              <a:p>
                <a:r>
                  <a:rPr lang="en-IN">
                    <a:noFill/>
                  </a:rPr>
                  <a:t> </a:t>
                </a:r>
              </a:p>
            </p:txBody>
          </p:sp>
        </mc:Fallback>
      </mc:AlternateContent>
      <p:grpSp>
        <p:nvGrpSpPr>
          <p:cNvPr id="6" name="Group 5"/>
          <p:cNvGrpSpPr/>
          <p:nvPr/>
        </p:nvGrpSpPr>
        <p:grpSpPr>
          <a:xfrm>
            <a:off x="7162805" y="1108363"/>
            <a:ext cx="4776186" cy="3435927"/>
            <a:chOff x="59886" y="179999"/>
            <a:chExt cx="2320679" cy="1381466"/>
          </a:xfrm>
        </p:grpSpPr>
        <mc:AlternateContent xmlns:mc="http://schemas.openxmlformats.org/markup-compatibility/2006" xmlns:a14="http://schemas.microsoft.com/office/drawing/2010/main">
          <mc:Choice Requires="a14">
            <p:sp>
              <p:nvSpPr>
                <p:cNvPr id="7" name="Text Box 611516291"/>
                <p:cNvSpPr txBox="1"/>
                <p:nvPr/>
              </p:nvSpPr>
              <p:spPr>
                <a:xfrm>
                  <a:off x="59886" y="1269105"/>
                  <a:ext cx="459087" cy="234934"/>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Calibri" panose="020F0502020204030204" pitchFamily="34" charset="0"/>
                            <a:cs typeface="Shruti"/>
                          </a:rPr>
                          <m:t>−∞</m:t>
                        </m:r>
                      </m:oMath>
                    </m:oMathPara>
                  </a14:m>
                  <a:endParaRPr lang="en-IN" sz="1100">
                    <a:effectLst/>
                    <a:latin typeface="Calibri" panose="020F0502020204030204" pitchFamily="34" charset="0"/>
                    <a:ea typeface="Calibri" panose="020F0502020204030204" pitchFamily="34" charset="0"/>
                    <a:cs typeface="Shruti"/>
                  </a:endParaRPr>
                </a:p>
              </p:txBody>
            </p:sp>
          </mc:Choice>
          <mc:Fallback xmlns="">
            <p:sp>
              <p:nvSpPr>
                <p:cNvPr id="7" name="Text Box 611516291"/>
                <p:cNvSpPr txBox="1">
                  <a:spLocks noRot="1" noChangeAspect="1" noMove="1" noResize="1" noEditPoints="1" noAdjustHandles="1" noChangeArrowheads="1" noChangeShapeType="1" noTextEdit="1"/>
                </p:cNvSpPr>
                <p:nvPr/>
              </p:nvSpPr>
              <p:spPr>
                <a:xfrm>
                  <a:off x="59886" y="1269105"/>
                  <a:ext cx="459087" cy="234934"/>
                </a:xfrm>
                <a:prstGeom prst="rect">
                  <a:avLst/>
                </a:prstGeom>
                <a:blipFill rotWithShape="0">
                  <a:blip r:embed="rId3"/>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 Box 2100617831"/>
                <p:cNvSpPr txBox="1"/>
                <p:nvPr/>
              </p:nvSpPr>
              <p:spPr>
                <a:xfrm>
                  <a:off x="2093972" y="1257591"/>
                  <a:ext cx="263856" cy="24645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Calibri" panose="020F0502020204030204" pitchFamily="34" charset="0"/>
                            <a:cs typeface="Shruti"/>
                          </a:rPr>
                          <m:t>∞</m:t>
                        </m:r>
                      </m:oMath>
                    </m:oMathPara>
                  </a14:m>
                  <a:endParaRPr lang="en-IN" sz="1100">
                    <a:effectLst/>
                    <a:latin typeface="Calibri" panose="020F0502020204030204" pitchFamily="34" charset="0"/>
                    <a:ea typeface="Calibri" panose="020F0502020204030204" pitchFamily="34" charset="0"/>
                    <a:cs typeface="Shruti"/>
                  </a:endParaRPr>
                </a:p>
              </p:txBody>
            </p:sp>
          </mc:Choice>
          <mc:Fallback xmlns="">
            <p:sp>
              <p:nvSpPr>
                <p:cNvPr id="8" name="Text Box 2100617831"/>
                <p:cNvSpPr txBox="1">
                  <a:spLocks noRot="1" noChangeAspect="1" noMove="1" noResize="1" noEditPoints="1" noAdjustHandles="1" noChangeArrowheads="1" noChangeShapeType="1" noTextEdit="1"/>
                </p:cNvSpPr>
                <p:nvPr/>
              </p:nvSpPr>
              <p:spPr>
                <a:xfrm>
                  <a:off x="2093972" y="1257591"/>
                  <a:ext cx="263856" cy="246450"/>
                </a:xfrm>
                <a:prstGeom prst="rect">
                  <a:avLst/>
                </a:prstGeom>
                <a:blipFill rotWithShape="0">
                  <a:blip r:embed="rId4"/>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 Box 1504199420"/>
                <p:cNvSpPr txBox="1"/>
                <p:nvPr/>
              </p:nvSpPr>
              <p:spPr>
                <a:xfrm>
                  <a:off x="969678" y="1273713"/>
                  <a:ext cx="640310" cy="28775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US" sz="1200">
                            <a:effectLst/>
                            <a:latin typeface="Cambria Math" panose="02040503050406030204" pitchFamily="18" charset="0"/>
                            <a:ea typeface="Calibri" panose="020F0502020204030204" pitchFamily="34" charset="0"/>
                            <a:cs typeface="Shruti"/>
                          </a:rPr>
                          <m:t>x</m:t>
                        </m:r>
                        <m:r>
                          <a:rPr lang="en-US" sz="1200">
                            <a:effectLst/>
                            <a:latin typeface="Cambria Math" panose="02040503050406030204" pitchFamily="18" charset="0"/>
                            <a:ea typeface="Calibri" panose="020F0502020204030204" pitchFamily="34" charset="0"/>
                            <a:cs typeface="Shruti"/>
                          </a:rPr>
                          <m:t>=</m:t>
                        </m:r>
                        <m:r>
                          <m:rPr>
                            <m:sty m:val="p"/>
                          </m:rPr>
                          <a:rPr lang="en-US" sz="1200">
                            <a:effectLst/>
                            <a:latin typeface="Cambria Math" panose="02040503050406030204" pitchFamily="18" charset="0"/>
                            <a:ea typeface="Calibri" panose="020F0502020204030204" pitchFamily="34" charset="0"/>
                            <a:cs typeface="Shruti"/>
                          </a:rPr>
                          <m:t>μ</m:t>
                        </m:r>
                      </m:oMath>
                    </m:oMathPara>
                  </a14:m>
                  <a:endParaRPr lang="en-IN" sz="1100">
                    <a:effectLst/>
                    <a:latin typeface="Calibri" panose="020F0502020204030204" pitchFamily="34" charset="0"/>
                    <a:ea typeface="Calibri" panose="020F0502020204030204" pitchFamily="34" charset="0"/>
                    <a:cs typeface="Shruti"/>
                  </a:endParaRPr>
                </a:p>
              </p:txBody>
            </p:sp>
          </mc:Choice>
          <mc:Fallback xmlns="">
            <p:sp>
              <p:nvSpPr>
                <p:cNvPr id="9" name="Text Box 1504199420"/>
                <p:cNvSpPr txBox="1">
                  <a:spLocks noRot="1" noChangeAspect="1" noMove="1" noResize="1" noEditPoints="1" noAdjustHandles="1" noChangeArrowheads="1" noChangeShapeType="1" noTextEdit="1"/>
                </p:cNvSpPr>
                <p:nvPr/>
              </p:nvSpPr>
              <p:spPr>
                <a:xfrm>
                  <a:off x="969678" y="1273713"/>
                  <a:ext cx="640310" cy="287752"/>
                </a:xfrm>
                <a:prstGeom prst="rect">
                  <a:avLst/>
                </a:prstGeom>
                <a:blipFill rotWithShape="0">
                  <a:blip r:embed="rId5"/>
                  <a:stretch>
                    <a:fillRect/>
                  </a:stretch>
                </a:blipFill>
                <a:ln w="6350">
                  <a:noFill/>
                </a:ln>
              </p:spPr>
              <p:txBody>
                <a:bodyPr/>
                <a:lstStyle/>
                <a:p>
                  <a:r>
                    <a:rPr lang="en-IN">
                      <a:noFill/>
                    </a:rPr>
                    <a:t> </a:t>
                  </a:r>
                </a:p>
              </p:txBody>
            </p:sp>
          </mc:Fallback>
        </mc:AlternateContent>
        <p:pic>
          <p:nvPicPr>
            <p:cNvPr id="10" name="Picture 9"/>
            <p:cNvPicPr>
              <a:picLocks noChangeAspect="1"/>
            </p:cNvPicPr>
            <p:nvPr/>
          </p:nvPicPr>
          <p:blipFill rotWithShape="1">
            <a:blip r:embed="rId6"/>
            <a:srcRect l="23446" t="37884" r="44187" b="32359"/>
            <a:stretch/>
          </p:blipFill>
          <p:spPr bwMode="auto">
            <a:xfrm>
              <a:off x="179999" y="179999"/>
              <a:ext cx="2200566" cy="1137600"/>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93797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Normal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63444"/>
                <a:ext cx="11839146" cy="5590565"/>
              </a:xfrm>
            </p:spPr>
            <p:txBody>
              <a:bodyPr/>
              <a:lstStyle/>
              <a:p>
                <a:pPr lvl="0"/>
                <a:r>
                  <a:rPr lang="en-US" dirty="0"/>
                  <a:t>If </a:t>
                </a:r>
                <a14:m>
                  <m:oMath xmlns:m="http://schemas.openxmlformats.org/officeDocument/2006/math">
                    <m:r>
                      <m:rPr>
                        <m:sty m:val="p"/>
                      </m:rPr>
                      <a:rPr lang="en-US" b="0" i="0" dirty="0" smtClean="0">
                        <a:solidFill>
                          <a:srgbClr val="FF0000"/>
                        </a:solidFill>
                        <a:latin typeface="Cambria Math" panose="02040503050406030204" pitchFamily="18" charset="0"/>
                      </a:rPr>
                      <m:t>μ</m:t>
                    </m:r>
                    <m:r>
                      <a:rPr lang="en-US" b="0" i="0" dirty="0" smtClean="0">
                        <a:solidFill>
                          <a:srgbClr val="FF0000"/>
                        </a:solidFill>
                        <a:latin typeface="Cambria Math" panose="02040503050406030204" pitchFamily="18" charset="0"/>
                      </a:rPr>
                      <m:t>=0</m:t>
                    </m:r>
                  </m:oMath>
                </a14:m>
                <a:r>
                  <a:rPr lang="en-US" dirty="0"/>
                  <a:t> and </a:t>
                </a:r>
                <a14:m>
                  <m:oMath xmlns:m="http://schemas.openxmlformats.org/officeDocument/2006/math">
                    <m:r>
                      <m:rPr>
                        <m:sty m:val="p"/>
                      </m:rPr>
                      <a:rPr lang="en-US" b="0" i="0" dirty="0" smtClean="0">
                        <a:solidFill>
                          <a:srgbClr val="FF0000"/>
                        </a:solidFill>
                        <a:latin typeface="Cambria Math" panose="02040503050406030204" pitchFamily="18" charset="0"/>
                      </a:rPr>
                      <m:t>σ</m:t>
                    </m:r>
                    <m:r>
                      <a:rPr lang="en-US" b="0" i="0" dirty="0" smtClean="0">
                        <a:solidFill>
                          <a:srgbClr val="FF0000"/>
                        </a:solidFill>
                        <a:latin typeface="Cambria Math" panose="02040503050406030204" pitchFamily="18" charset="0"/>
                      </a:rPr>
                      <m:t>=1</m:t>
                    </m:r>
                  </m:oMath>
                </a14:m>
                <a:r>
                  <a:rPr lang="en-US" dirty="0"/>
                  <a:t>, then </a:t>
                </a:r>
                <a:r>
                  <a:rPr lang="en-US" dirty="0">
                    <a:solidFill>
                      <a:srgbClr val="FF0000"/>
                    </a:solidFill>
                  </a:rPr>
                  <a:t>Z</a:t>
                </a:r>
                <a:r>
                  <a:rPr lang="en-US" dirty="0"/>
                  <a:t> is known as the </a:t>
                </a:r>
                <a:r>
                  <a:rPr lang="en-US" dirty="0">
                    <a:solidFill>
                      <a:srgbClr val="FF0000"/>
                    </a:solidFill>
                  </a:rPr>
                  <a:t>standard (standardized) normal variable</a:t>
                </a:r>
                <a:r>
                  <a:rPr lang="en-US" dirty="0"/>
                  <a:t> and probability destiny function (P.D.F.) is given by</a:t>
                </a:r>
                <a:endParaRPr lang="en-IN" dirty="0"/>
              </a:p>
              <a:p>
                <a:pPr marL="0" indent="0">
                  <a:buNone/>
                </a:pPr>
                <a14:m>
                  <m:oMathPara xmlns:m="http://schemas.openxmlformats.org/officeDocument/2006/math">
                    <m:oMathParaPr>
                      <m:jc m:val="centerGroup"/>
                    </m:oMathParaPr>
                    <m:oMath xmlns:m="http://schemas.openxmlformats.org/officeDocument/2006/math">
                      <m:r>
                        <m:rPr>
                          <m:sty m:val="p"/>
                        </m:rPr>
                        <a:rPr lang="en-US" i="0" dirty="0" smtClean="0">
                          <a:solidFill>
                            <a:srgbClr val="FF0000"/>
                          </a:solidFill>
                          <a:latin typeface="Cambria Math" panose="02040503050406030204" pitchFamily="18" charset="0"/>
                        </a:rPr>
                        <m:t>f</m:t>
                      </m:r>
                      <m:r>
                        <a:rPr lang="en-IN" i="0" dirty="0" smtClean="0">
                          <a:solidFill>
                            <a:srgbClr val="FF0000"/>
                          </a:solidFill>
                          <a:latin typeface="Cambria Math" panose="02040503050406030204" pitchFamily="18" charset="0"/>
                        </a:rPr>
                        <m:t>(</m:t>
                      </m:r>
                      <m:r>
                        <m:rPr>
                          <m:sty m:val="p"/>
                        </m:rPr>
                        <a:rPr lang="en-US" i="0" dirty="0">
                          <a:solidFill>
                            <a:srgbClr val="FF0000"/>
                          </a:solidFill>
                          <a:latin typeface="Cambria Math" panose="02040503050406030204" pitchFamily="18" charset="0"/>
                        </a:rPr>
                        <m:t>z</m:t>
                      </m:r>
                      <m:r>
                        <a:rPr lang="en-US" i="0" dirty="0">
                          <a:solidFill>
                            <a:srgbClr val="FF0000"/>
                          </a:solidFill>
                          <a:latin typeface="Cambria Math" panose="02040503050406030204" pitchFamily="18" charset="0"/>
                        </a:rPr>
                        <m:t>)=</m:t>
                      </m:r>
                      <m:f>
                        <m:fPr>
                          <m:ctrlPr>
                            <a:rPr lang="en-IN" i="1" dirty="0">
                              <a:solidFill>
                                <a:srgbClr val="FF0000"/>
                              </a:solidFill>
                              <a:latin typeface="Cambria Math" panose="02040503050406030204" pitchFamily="18" charset="0"/>
                            </a:rPr>
                          </m:ctrlPr>
                        </m:fPr>
                        <m:num>
                          <m:r>
                            <a:rPr lang="en-US" i="0" dirty="0">
                              <a:solidFill>
                                <a:srgbClr val="FF0000"/>
                              </a:solidFill>
                              <a:latin typeface="Cambria Math" panose="02040503050406030204" pitchFamily="18" charset="0"/>
                            </a:rPr>
                            <m:t>1</m:t>
                          </m:r>
                        </m:num>
                        <m:den>
                          <m:rad>
                            <m:radPr>
                              <m:degHide m:val="on"/>
                              <m:ctrlPr>
                                <a:rPr lang="en-IN" i="1" dirty="0">
                                  <a:solidFill>
                                    <a:srgbClr val="FF0000"/>
                                  </a:solidFill>
                                  <a:latin typeface="Cambria Math" panose="02040503050406030204" pitchFamily="18" charset="0"/>
                                </a:rPr>
                              </m:ctrlPr>
                            </m:radPr>
                            <m:deg/>
                            <m:e>
                              <m:r>
                                <a:rPr lang="en-US" i="0" dirty="0">
                                  <a:solidFill>
                                    <a:srgbClr val="FF0000"/>
                                  </a:solidFill>
                                  <a:latin typeface="Cambria Math" panose="02040503050406030204" pitchFamily="18" charset="0"/>
                                </a:rPr>
                                <m:t>2</m:t>
                              </m:r>
                              <m:r>
                                <m:rPr>
                                  <m:sty m:val="p"/>
                                </m:rPr>
                                <a:rPr lang="en-US" i="0" dirty="0">
                                  <a:solidFill>
                                    <a:srgbClr val="FF0000"/>
                                  </a:solidFill>
                                  <a:latin typeface="Cambria Math" panose="02040503050406030204" pitchFamily="18" charset="0"/>
                                </a:rPr>
                                <m:t>π</m:t>
                              </m:r>
                            </m:e>
                          </m:rad>
                        </m:den>
                      </m:f>
                      <m:sSup>
                        <m:sSupPr>
                          <m:ctrlPr>
                            <a:rPr lang="en-IN" i="1" dirty="0" smtClean="0">
                              <a:solidFill>
                                <a:srgbClr val="FF0000"/>
                              </a:solidFill>
                              <a:latin typeface="Cambria Math" panose="02040503050406030204" pitchFamily="18" charset="0"/>
                            </a:rPr>
                          </m:ctrlPr>
                        </m:sSupPr>
                        <m:e>
                          <m:r>
                            <m:rPr>
                              <m:sty m:val="p"/>
                            </m:rPr>
                            <a:rPr lang="en-US" i="0" dirty="0" smtClean="0">
                              <a:solidFill>
                                <a:srgbClr val="FF0000"/>
                              </a:solidFill>
                              <a:latin typeface="Cambria Math" panose="02040503050406030204" pitchFamily="18" charset="0"/>
                            </a:rPr>
                            <m:t>e</m:t>
                          </m:r>
                        </m:e>
                        <m:sup>
                          <m:r>
                            <a:rPr lang="en-US" i="0" dirty="0" smtClean="0">
                              <a:solidFill>
                                <a:srgbClr val="FF0000"/>
                              </a:solidFill>
                              <a:latin typeface="Cambria Math" panose="02040503050406030204" pitchFamily="18" charset="0"/>
                            </a:rPr>
                            <m:t>−</m:t>
                          </m:r>
                          <m:f>
                            <m:fPr>
                              <m:ctrlPr>
                                <a:rPr lang="en-IN" i="1" dirty="0" smtClean="0">
                                  <a:solidFill>
                                    <a:srgbClr val="FF0000"/>
                                  </a:solidFill>
                                  <a:latin typeface="Cambria Math" panose="02040503050406030204" pitchFamily="18" charset="0"/>
                                </a:rPr>
                              </m:ctrlPr>
                            </m:fPr>
                            <m:num>
                              <m:r>
                                <a:rPr lang="en-US" i="0" dirty="0" smtClean="0">
                                  <a:solidFill>
                                    <a:srgbClr val="FF0000"/>
                                  </a:solidFill>
                                  <a:latin typeface="Cambria Math" panose="02040503050406030204" pitchFamily="18" charset="0"/>
                                </a:rPr>
                                <m:t>1</m:t>
                              </m:r>
                            </m:num>
                            <m:den>
                              <m:r>
                                <a:rPr lang="en-US" i="0" dirty="0" smtClean="0">
                                  <a:solidFill>
                                    <a:srgbClr val="FF0000"/>
                                  </a:solidFill>
                                  <a:latin typeface="Cambria Math" panose="02040503050406030204" pitchFamily="18" charset="0"/>
                                </a:rPr>
                                <m:t>2</m:t>
                              </m:r>
                            </m:den>
                          </m:f>
                          <m:r>
                            <a:rPr lang="en-IN" b="0" i="0" dirty="0" smtClean="0">
                              <a:solidFill>
                                <a:srgbClr val="FF0000"/>
                              </a:solidFill>
                              <a:latin typeface="Cambria Math" panose="02040503050406030204" pitchFamily="18" charset="0"/>
                            </a:rPr>
                            <m:t> </m:t>
                          </m:r>
                          <m:sSup>
                            <m:sSupPr>
                              <m:ctrlPr>
                                <a:rPr lang="en-IN" i="1" dirty="0" smtClean="0">
                                  <a:solidFill>
                                    <a:srgbClr val="FF0000"/>
                                  </a:solidFill>
                                  <a:latin typeface="Cambria Math" panose="02040503050406030204" pitchFamily="18" charset="0"/>
                                </a:rPr>
                              </m:ctrlPr>
                            </m:sSupPr>
                            <m:e>
                              <m:r>
                                <m:rPr>
                                  <m:sty m:val="p"/>
                                </m:rPr>
                                <a:rPr lang="en-US" i="0" dirty="0" smtClean="0">
                                  <a:solidFill>
                                    <a:srgbClr val="FF0000"/>
                                  </a:solidFill>
                                  <a:latin typeface="Cambria Math" panose="02040503050406030204" pitchFamily="18" charset="0"/>
                                </a:rPr>
                                <m:t>z</m:t>
                              </m:r>
                            </m:e>
                            <m:sup>
                              <m:r>
                                <a:rPr lang="en-US" i="0" dirty="0" smtClean="0">
                                  <a:solidFill>
                                    <a:srgbClr val="FF0000"/>
                                  </a:solidFill>
                                  <a:latin typeface="Cambria Math" panose="02040503050406030204" pitchFamily="18" charset="0"/>
                                </a:rPr>
                                <m:t>2</m:t>
                              </m:r>
                            </m:sup>
                          </m:sSup>
                        </m:sup>
                      </m:sSup>
                      <m:r>
                        <a:rPr lang="en-US" i="0" dirty="0" smtClean="0">
                          <a:solidFill>
                            <a:srgbClr val="FF0000"/>
                          </a:solidFill>
                          <a:latin typeface="Cambria Math" panose="02040503050406030204" pitchFamily="18" charset="0"/>
                        </a:rPr>
                        <m:t> ; −∞&lt;</m:t>
                      </m:r>
                      <m:r>
                        <m:rPr>
                          <m:sty m:val="p"/>
                        </m:rPr>
                        <a:rPr lang="en-US" i="0" dirty="0" smtClean="0">
                          <a:solidFill>
                            <a:srgbClr val="FF0000"/>
                          </a:solidFill>
                          <a:latin typeface="Cambria Math" panose="02040503050406030204" pitchFamily="18" charset="0"/>
                        </a:rPr>
                        <m:t>z</m:t>
                      </m:r>
                      <m:r>
                        <a:rPr lang="en-US" i="0" dirty="0" smtClean="0">
                          <a:solidFill>
                            <a:srgbClr val="FF0000"/>
                          </a:solidFill>
                          <a:latin typeface="Cambria Math" panose="02040503050406030204" pitchFamily="18" charset="0"/>
                        </a:rPr>
                        <m:t>&lt;∞</m:t>
                      </m:r>
                    </m:oMath>
                  </m:oMathPara>
                </a14:m>
                <a:endParaRPr lang="en-IN" dirty="0"/>
              </a:p>
              <a:p>
                <a:pPr lvl="0"/>
                <a:r>
                  <a:rPr lang="en-US" dirty="0"/>
                  <a:t>The distribution of any normal </a:t>
                </a:r>
                <a:r>
                  <a:rPr lang="en-US" dirty="0" err="1"/>
                  <a:t>variate</a:t>
                </a:r>
                <a:r>
                  <a:rPr lang="en-US" dirty="0"/>
                  <a:t> </a:t>
                </a:r>
                <a14:m>
                  <m:oMath xmlns:m="http://schemas.openxmlformats.org/officeDocument/2006/math">
                    <m:r>
                      <m:rPr>
                        <m:sty m:val="p"/>
                      </m:rPr>
                      <a:rPr lang="en-US" i="0" dirty="0" smtClean="0">
                        <a:latin typeface="Cambria Math" panose="02040503050406030204" pitchFamily="18" charset="0"/>
                      </a:rPr>
                      <m:t>X</m:t>
                    </m:r>
                  </m:oMath>
                </a14:m>
                <a:r>
                  <a:rPr lang="en-US" dirty="0"/>
                  <a:t> can always be transformed into the distribution of the standard normal </a:t>
                </a:r>
                <a:r>
                  <a:rPr lang="en-US" dirty="0" err="1"/>
                  <a:t>variate</a:t>
                </a:r>
                <a:r>
                  <a:rPr lang="en-US" dirty="0"/>
                  <a:t> </a:t>
                </a:r>
                <a14:m>
                  <m:oMath xmlns:m="http://schemas.openxmlformats.org/officeDocument/2006/math">
                    <m:r>
                      <m:rPr>
                        <m:sty m:val="p"/>
                      </m:rPr>
                      <a:rPr lang="en-US" i="0" dirty="0" smtClean="0">
                        <a:latin typeface="Cambria Math" panose="02040503050406030204" pitchFamily="18" charset="0"/>
                      </a:rPr>
                      <m:t>Z</m:t>
                    </m:r>
                  </m:oMath>
                </a14:m>
                <a:r>
                  <a:rPr lang="en-US" dirty="0"/>
                  <a:t>.</a:t>
                </a:r>
                <a:endParaRPr lang="en-IN" dirty="0"/>
              </a:p>
              <a:p>
                <a:pPr marL="0" indent="0">
                  <a:buNone/>
                </a:pPr>
                <a14:m>
                  <m:oMathPara xmlns:m="http://schemas.openxmlformats.org/officeDocument/2006/math">
                    <m:oMathParaPr>
                      <m:jc m:val="centerGroup"/>
                    </m:oMathParaPr>
                    <m:oMath xmlns:m="http://schemas.openxmlformats.org/officeDocument/2006/math">
                      <m:r>
                        <m:rPr>
                          <m:sty m:val="p"/>
                        </m:rPr>
                        <a:rPr lang="en-US">
                          <a:solidFill>
                            <a:srgbClr val="FF0000"/>
                          </a:solidFill>
                          <a:latin typeface="Cambria Math" panose="02040503050406030204" pitchFamily="18" charset="0"/>
                          <a:ea typeface="Calibri" panose="020F0502020204030204" pitchFamily="34" charset="0"/>
                          <a:cs typeface="Shruti"/>
                        </a:rPr>
                        <m:t>P</m:t>
                      </m:r>
                      <m:d>
                        <m:dPr>
                          <m:ctrlPr>
                            <a:rPr lang="en-IN" i="1">
                              <a:solidFill>
                                <a:srgbClr val="FF0000"/>
                              </a:solidFill>
                              <a:latin typeface="Cambria Math" panose="02040503050406030204" pitchFamily="18" charset="0"/>
                              <a:cs typeface="Times-Italic"/>
                            </a:rPr>
                          </m:ctrlPr>
                        </m:dPr>
                        <m:e>
                          <m:sSub>
                            <m:sSubPr>
                              <m:ctrlPr>
                                <a:rPr lang="en-IN" i="1">
                                  <a:solidFill>
                                    <a:srgbClr val="FF0000"/>
                                  </a:solidFill>
                                  <a:latin typeface="Cambria Math" panose="02040503050406030204" pitchFamily="18" charset="0"/>
                                  <a:cs typeface="Times-Italic"/>
                                </a:rPr>
                              </m:ctrlPr>
                            </m:sSubPr>
                            <m:e>
                              <m:r>
                                <m:rPr>
                                  <m:sty m:val="p"/>
                                </m:rPr>
                                <a:rPr lang="en-US">
                                  <a:solidFill>
                                    <a:srgbClr val="FF0000"/>
                                  </a:solidFill>
                                  <a:latin typeface="Cambria Math" panose="02040503050406030204" pitchFamily="18" charset="0"/>
                                  <a:ea typeface="Calibri" panose="020F0502020204030204" pitchFamily="34" charset="0"/>
                                  <a:cs typeface="Shruti"/>
                                </a:rPr>
                                <m:t>x</m:t>
                              </m:r>
                            </m:e>
                            <m:sub>
                              <m:r>
                                <a:rPr lang="en-US">
                                  <a:solidFill>
                                    <a:srgbClr val="FF0000"/>
                                  </a:solidFill>
                                  <a:latin typeface="Cambria Math" panose="02040503050406030204" pitchFamily="18" charset="0"/>
                                  <a:ea typeface="Calibri" panose="020F0502020204030204" pitchFamily="34" charset="0"/>
                                  <a:cs typeface="Shruti"/>
                                </a:rPr>
                                <m:t>1</m:t>
                              </m:r>
                            </m:sub>
                          </m:sSub>
                          <m:r>
                            <a:rPr lang="en-US">
                              <a:solidFill>
                                <a:srgbClr val="FF0000"/>
                              </a:solidFill>
                              <a:latin typeface="Cambria Math" panose="02040503050406030204" pitchFamily="18" charset="0"/>
                              <a:ea typeface="Calibri" panose="020F0502020204030204" pitchFamily="34" charset="0"/>
                              <a:cs typeface="Shruti"/>
                            </a:rPr>
                            <m:t>≤</m:t>
                          </m:r>
                          <m:r>
                            <m:rPr>
                              <m:sty m:val="p"/>
                            </m:rPr>
                            <a:rPr lang="en-US">
                              <a:solidFill>
                                <a:srgbClr val="FF0000"/>
                              </a:solidFill>
                              <a:latin typeface="Cambria Math" panose="02040503050406030204" pitchFamily="18" charset="0"/>
                              <a:ea typeface="Calibri" panose="020F0502020204030204" pitchFamily="34" charset="0"/>
                              <a:cs typeface="Shruti"/>
                            </a:rPr>
                            <m:t>X</m:t>
                          </m:r>
                          <m:r>
                            <a:rPr lang="en-US">
                              <a:solidFill>
                                <a:srgbClr val="FF0000"/>
                              </a:solidFill>
                              <a:latin typeface="Cambria Math" panose="02040503050406030204" pitchFamily="18" charset="0"/>
                              <a:ea typeface="Calibri" panose="020F0502020204030204" pitchFamily="34" charset="0"/>
                              <a:cs typeface="Shruti"/>
                            </a:rPr>
                            <m:t>≤</m:t>
                          </m:r>
                          <m:sSub>
                            <m:sSubPr>
                              <m:ctrlPr>
                                <a:rPr lang="en-IN" i="1">
                                  <a:solidFill>
                                    <a:srgbClr val="FF0000"/>
                                  </a:solidFill>
                                  <a:latin typeface="Cambria Math" panose="02040503050406030204" pitchFamily="18" charset="0"/>
                                  <a:cs typeface="Times-Italic"/>
                                </a:rPr>
                              </m:ctrlPr>
                            </m:sSubPr>
                            <m:e>
                              <m:r>
                                <m:rPr>
                                  <m:sty m:val="p"/>
                                </m:rPr>
                                <a:rPr lang="en-US">
                                  <a:solidFill>
                                    <a:srgbClr val="FF0000"/>
                                  </a:solidFill>
                                  <a:latin typeface="Cambria Math" panose="02040503050406030204" pitchFamily="18" charset="0"/>
                                  <a:ea typeface="Calibri" panose="020F0502020204030204" pitchFamily="34" charset="0"/>
                                  <a:cs typeface="Shruti"/>
                                </a:rPr>
                                <m:t>x</m:t>
                              </m:r>
                            </m:e>
                            <m:sub>
                              <m:r>
                                <a:rPr lang="en-US">
                                  <a:solidFill>
                                    <a:srgbClr val="FF0000"/>
                                  </a:solidFill>
                                  <a:latin typeface="Cambria Math" panose="02040503050406030204" pitchFamily="18" charset="0"/>
                                  <a:ea typeface="Calibri" panose="020F0502020204030204" pitchFamily="34" charset="0"/>
                                  <a:cs typeface="Shruti"/>
                                </a:rPr>
                                <m:t>2</m:t>
                              </m:r>
                            </m:sub>
                          </m:sSub>
                        </m:e>
                      </m:d>
                      <m:r>
                        <a:rPr lang="en-US">
                          <a:solidFill>
                            <a:srgbClr val="FF0000"/>
                          </a:solidFill>
                          <a:latin typeface="Cambria Math" panose="02040503050406030204" pitchFamily="18" charset="0"/>
                          <a:ea typeface="Calibri" panose="020F0502020204030204" pitchFamily="34" charset="0"/>
                          <a:cs typeface="Shruti"/>
                        </a:rPr>
                        <m:t>=</m:t>
                      </m:r>
                      <m:r>
                        <m:rPr>
                          <m:sty m:val="p"/>
                        </m:rPr>
                        <a:rPr lang="en-US">
                          <a:solidFill>
                            <a:srgbClr val="FF0000"/>
                          </a:solidFill>
                          <a:latin typeface="Cambria Math" panose="02040503050406030204" pitchFamily="18" charset="0"/>
                          <a:ea typeface="Calibri" panose="020F0502020204030204" pitchFamily="34" charset="0"/>
                          <a:cs typeface="Shruti"/>
                        </a:rPr>
                        <m:t>P</m:t>
                      </m:r>
                      <m:d>
                        <m:dPr>
                          <m:ctrlPr>
                            <a:rPr lang="en-IN" i="1">
                              <a:solidFill>
                                <a:srgbClr val="FF0000"/>
                              </a:solidFill>
                              <a:latin typeface="Cambria Math" panose="02040503050406030204" pitchFamily="18" charset="0"/>
                              <a:cs typeface="Times-Italic"/>
                            </a:rPr>
                          </m:ctrlPr>
                        </m:dPr>
                        <m:e>
                          <m:f>
                            <m:fPr>
                              <m:ctrlPr>
                                <a:rPr lang="en-IN" i="1">
                                  <a:solidFill>
                                    <a:srgbClr val="FF0000"/>
                                  </a:solidFill>
                                  <a:latin typeface="Cambria Math" panose="02040503050406030204" pitchFamily="18" charset="0"/>
                                  <a:cs typeface="Times-Italic"/>
                                </a:rPr>
                              </m:ctrlPr>
                            </m:fPr>
                            <m:num>
                              <m:r>
                                <a:rPr lang="en-US" i="1">
                                  <a:solidFill>
                                    <a:srgbClr val="FF0000"/>
                                  </a:solidFill>
                                  <a:latin typeface="Cambria Math" panose="02040503050406030204" pitchFamily="18" charset="0"/>
                                  <a:ea typeface="Calibri" panose="020F0502020204030204" pitchFamily="34" charset="0"/>
                                  <a:cs typeface="Times-Italic"/>
                                </a:rPr>
                                <m:t> </m:t>
                              </m:r>
                              <m:sSub>
                                <m:sSubPr>
                                  <m:ctrlPr>
                                    <a:rPr lang="en-IN" i="1">
                                      <a:solidFill>
                                        <a:srgbClr val="FF0000"/>
                                      </a:solidFill>
                                      <a:latin typeface="Cambria Math" panose="02040503050406030204" pitchFamily="18" charset="0"/>
                                      <a:cs typeface="Times-Italic"/>
                                    </a:rPr>
                                  </m:ctrlPr>
                                </m:sSubPr>
                                <m:e>
                                  <m:r>
                                    <m:rPr>
                                      <m:sty m:val="p"/>
                                    </m:rPr>
                                    <a:rPr lang="en-US">
                                      <a:solidFill>
                                        <a:srgbClr val="FF0000"/>
                                      </a:solidFill>
                                      <a:latin typeface="Cambria Math" panose="02040503050406030204" pitchFamily="18" charset="0"/>
                                      <a:ea typeface="Calibri" panose="020F0502020204030204" pitchFamily="34" charset="0"/>
                                      <a:cs typeface="Shruti"/>
                                    </a:rPr>
                                    <m:t>x</m:t>
                                  </m:r>
                                </m:e>
                                <m:sub>
                                  <m:r>
                                    <a:rPr lang="en-US">
                                      <a:solidFill>
                                        <a:srgbClr val="FF0000"/>
                                      </a:solidFill>
                                      <a:latin typeface="Cambria Math" panose="02040503050406030204" pitchFamily="18" charset="0"/>
                                      <a:ea typeface="Calibri" panose="020F0502020204030204" pitchFamily="34" charset="0"/>
                                      <a:cs typeface="Shruti"/>
                                    </a:rPr>
                                    <m:t>1</m:t>
                                  </m:r>
                                </m:sub>
                              </m:sSub>
                              <m:r>
                                <a:rPr lang="en-US" i="1">
                                  <a:solidFill>
                                    <a:srgbClr val="FF0000"/>
                                  </a:solidFill>
                                  <a:latin typeface="Cambria Math" panose="02040503050406030204" pitchFamily="18" charset="0"/>
                                  <a:ea typeface="Calibri" panose="020F0502020204030204" pitchFamily="34" charset="0"/>
                                  <a:cs typeface="Shruti"/>
                                </a:rPr>
                                <m:t>−</m:t>
                              </m:r>
                              <m:r>
                                <m:rPr>
                                  <m:sty m:val="p"/>
                                </m:rPr>
                                <a:rPr lang="en-US">
                                  <a:solidFill>
                                    <a:srgbClr val="FF0000"/>
                                  </a:solidFill>
                                  <a:latin typeface="Cambria Math" panose="02040503050406030204" pitchFamily="18" charset="0"/>
                                  <a:ea typeface="Calibri" panose="020F0502020204030204" pitchFamily="34" charset="0"/>
                                  <a:cs typeface="Shruti"/>
                                </a:rPr>
                                <m:t>μ</m:t>
                              </m:r>
                              <m:r>
                                <a:rPr lang="en-US">
                                  <a:solidFill>
                                    <a:srgbClr val="FF0000"/>
                                  </a:solidFill>
                                  <a:latin typeface="Cambria Math" panose="02040503050406030204" pitchFamily="18" charset="0"/>
                                  <a:ea typeface="Calibri" panose="020F0502020204030204" pitchFamily="34" charset="0"/>
                                  <a:cs typeface="Shruti"/>
                                </a:rPr>
                                <m:t> </m:t>
                              </m:r>
                            </m:num>
                            <m:den>
                              <m:r>
                                <m:rPr>
                                  <m:sty m:val="p"/>
                                </m:rPr>
                                <a:rPr lang="en-US">
                                  <a:solidFill>
                                    <a:srgbClr val="FF0000"/>
                                  </a:solidFill>
                                  <a:latin typeface="Cambria Math" panose="02040503050406030204" pitchFamily="18" charset="0"/>
                                  <a:ea typeface="Calibri" panose="020F0502020204030204" pitchFamily="34" charset="0"/>
                                  <a:cs typeface="Shruti"/>
                                </a:rPr>
                                <m:t>σ</m:t>
                              </m:r>
                              <m:r>
                                <a:rPr lang="en-US">
                                  <a:solidFill>
                                    <a:srgbClr val="FF0000"/>
                                  </a:solidFill>
                                  <a:latin typeface="Cambria Math" panose="02040503050406030204" pitchFamily="18" charset="0"/>
                                  <a:ea typeface="Calibri" panose="020F0502020204030204" pitchFamily="34" charset="0"/>
                                  <a:cs typeface="Shruti"/>
                                </a:rPr>
                                <m:t> </m:t>
                              </m:r>
                            </m:den>
                          </m:f>
                          <m:r>
                            <a:rPr lang="en-US">
                              <a:solidFill>
                                <a:srgbClr val="FF0000"/>
                              </a:solidFill>
                              <a:latin typeface="Cambria Math" panose="02040503050406030204" pitchFamily="18" charset="0"/>
                              <a:ea typeface="Calibri" panose="020F0502020204030204" pitchFamily="34" charset="0"/>
                              <a:cs typeface="Shruti"/>
                            </a:rPr>
                            <m:t>≤</m:t>
                          </m:r>
                          <m:f>
                            <m:fPr>
                              <m:ctrlPr>
                                <a:rPr lang="en-IN" i="1">
                                  <a:solidFill>
                                    <a:srgbClr val="FF0000"/>
                                  </a:solidFill>
                                  <a:latin typeface="Cambria Math" panose="02040503050406030204" pitchFamily="18" charset="0"/>
                                  <a:cs typeface="Times-Italic"/>
                                </a:rPr>
                              </m:ctrlPr>
                            </m:fPr>
                            <m:num>
                              <m:r>
                                <a:rPr lang="en-US">
                                  <a:solidFill>
                                    <a:srgbClr val="FF0000"/>
                                  </a:solidFill>
                                  <a:latin typeface="Cambria Math" panose="02040503050406030204" pitchFamily="18" charset="0"/>
                                  <a:ea typeface="Calibri" panose="020F0502020204030204" pitchFamily="34" charset="0"/>
                                  <a:cs typeface="Shruti"/>
                                </a:rPr>
                                <m:t> </m:t>
                              </m:r>
                              <m:r>
                                <m:rPr>
                                  <m:sty m:val="p"/>
                                </m:rPr>
                                <a:rPr lang="en-US">
                                  <a:solidFill>
                                    <a:srgbClr val="FF0000"/>
                                  </a:solidFill>
                                  <a:latin typeface="Cambria Math" panose="02040503050406030204" pitchFamily="18" charset="0"/>
                                  <a:ea typeface="Calibri" panose="020F0502020204030204" pitchFamily="34" charset="0"/>
                                  <a:cs typeface="Shruti"/>
                                </a:rPr>
                                <m:t>X</m:t>
                              </m:r>
                              <m:r>
                                <a:rPr lang="en-US" i="1">
                                  <a:solidFill>
                                    <a:srgbClr val="FF0000"/>
                                  </a:solidFill>
                                  <a:latin typeface="Cambria Math" panose="02040503050406030204" pitchFamily="18" charset="0"/>
                                  <a:ea typeface="Calibri" panose="020F0502020204030204" pitchFamily="34" charset="0"/>
                                  <a:cs typeface="Shruti"/>
                                </a:rPr>
                                <m:t>−</m:t>
                              </m:r>
                              <m:r>
                                <m:rPr>
                                  <m:sty m:val="p"/>
                                </m:rPr>
                                <a:rPr lang="en-US">
                                  <a:solidFill>
                                    <a:srgbClr val="FF0000"/>
                                  </a:solidFill>
                                  <a:latin typeface="Cambria Math" panose="02040503050406030204" pitchFamily="18" charset="0"/>
                                  <a:ea typeface="Calibri" panose="020F0502020204030204" pitchFamily="34" charset="0"/>
                                  <a:cs typeface="Shruti"/>
                                </a:rPr>
                                <m:t>μ</m:t>
                              </m:r>
                              <m:r>
                                <a:rPr lang="en-US">
                                  <a:solidFill>
                                    <a:srgbClr val="FF0000"/>
                                  </a:solidFill>
                                  <a:latin typeface="Cambria Math" panose="02040503050406030204" pitchFamily="18" charset="0"/>
                                  <a:ea typeface="Calibri" panose="020F0502020204030204" pitchFamily="34" charset="0"/>
                                  <a:cs typeface="Shruti"/>
                                </a:rPr>
                                <m:t> </m:t>
                              </m:r>
                            </m:num>
                            <m:den>
                              <m:r>
                                <m:rPr>
                                  <m:sty m:val="p"/>
                                </m:rPr>
                                <a:rPr lang="en-US">
                                  <a:solidFill>
                                    <a:srgbClr val="FF0000"/>
                                  </a:solidFill>
                                  <a:latin typeface="Cambria Math" panose="02040503050406030204" pitchFamily="18" charset="0"/>
                                  <a:ea typeface="Calibri" panose="020F0502020204030204" pitchFamily="34" charset="0"/>
                                  <a:cs typeface="Shruti"/>
                                </a:rPr>
                                <m:t>σ</m:t>
                              </m:r>
                              <m:r>
                                <a:rPr lang="en-US">
                                  <a:solidFill>
                                    <a:srgbClr val="FF0000"/>
                                  </a:solidFill>
                                  <a:latin typeface="Cambria Math" panose="02040503050406030204" pitchFamily="18" charset="0"/>
                                  <a:ea typeface="Calibri" panose="020F0502020204030204" pitchFamily="34" charset="0"/>
                                  <a:cs typeface="Shruti"/>
                                </a:rPr>
                                <m:t> </m:t>
                              </m:r>
                            </m:den>
                          </m:f>
                          <m:r>
                            <a:rPr lang="en-US">
                              <a:solidFill>
                                <a:srgbClr val="FF0000"/>
                              </a:solidFill>
                              <a:latin typeface="Cambria Math" panose="02040503050406030204" pitchFamily="18" charset="0"/>
                              <a:ea typeface="Calibri" panose="020F0502020204030204" pitchFamily="34" charset="0"/>
                              <a:cs typeface="Shruti"/>
                            </a:rPr>
                            <m:t>≤ </m:t>
                          </m:r>
                          <m:f>
                            <m:fPr>
                              <m:ctrlPr>
                                <a:rPr lang="en-IN" i="1">
                                  <a:solidFill>
                                    <a:srgbClr val="FF0000"/>
                                  </a:solidFill>
                                  <a:latin typeface="Cambria Math" panose="02040503050406030204" pitchFamily="18" charset="0"/>
                                  <a:cs typeface="Times-Italic"/>
                                </a:rPr>
                              </m:ctrlPr>
                            </m:fPr>
                            <m:num>
                              <m:r>
                                <a:rPr lang="en-US" i="1">
                                  <a:solidFill>
                                    <a:srgbClr val="FF0000"/>
                                  </a:solidFill>
                                  <a:latin typeface="Cambria Math" panose="02040503050406030204" pitchFamily="18" charset="0"/>
                                  <a:ea typeface="Calibri" panose="020F0502020204030204" pitchFamily="34" charset="0"/>
                                  <a:cs typeface="Times-Italic"/>
                                </a:rPr>
                                <m:t> </m:t>
                              </m:r>
                              <m:sSub>
                                <m:sSubPr>
                                  <m:ctrlPr>
                                    <a:rPr lang="en-IN" i="1">
                                      <a:solidFill>
                                        <a:srgbClr val="FF0000"/>
                                      </a:solidFill>
                                      <a:latin typeface="Cambria Math" panose="02040503050406030204" pitchFamily="18" charset="0"/>
                                      <a:cs typeface="Times-Italic"/>
                                    </a:rPr>
                                  </m:ctrlPr>
                                </m:sSubPr>
                                <m:e>
                                  <m:r>
                                    <m:rPr>
                                      <m:sty m:val="p"/>
                                    </m:rPr>
                                    <a:rPr lang="en-US">
                                      <a:solidFill>
                                        <a:srgbClr val="FF0000"/>
                                      </a:solidFill>
                                      <a:latin typeface="Cambria Math" panose="02040503050406030204" pitchFamily="18" charset="0"/>
                                      <a:ea typeface="Calibri" panose="020F0502020204030204" pitchFamily="34" charset="0"/>
                                      <a:cs typeface="Shruti"/>
                                    </a:rPr>
                                    <m:t>x</m:t>
                                  </m:r>
                                </m:e>
                                <m:sub>
                                  <m:r>
                                    <a:rPr lang="en-US">
                                      <a:solidFill>
                                        <a:srgbClr val="FF0000"/>
                                      </a:solidFill>
                                      <a:latin typeface="Cambria Math" panose="02040503050406030204" pitchFamily="18" charset="0"/>
                                      <a:ea typeface="Calibri" panose="020F0502020204030204" pitchFamily="34" charset="0"/>
                                      <a:cs typeface="Shruti"/>
                                    </a:rPr>
                                    <m:t>2</m:t>
                                  </m:r>
                                </m:sub>
                              </m:sSub>
                              <m:r>
                                <a:rPr lang="en-US" i="1">
                                  <a:solidFill>
                                    <a:srgbClr val="FF0000"/>
                                  </a:solidFill>
                                  <a:latin typeface="Cambria Math" panose="02040503050406030204" pitchFamily="18" charset="0"/>
                                  <a:ea typeface="Calibri" panose="020F0502020204030204" pitchFamily="34" charset="0"/>
                                  <a:cs typeface="Shruti"/>
                                </a:rPr>
                                <m:t>−</m:t>
                              </m:r>
                              <m:r>
                                <m:rPr>
                                  <m:sty m:val="p"/>
                                </m:rPr>
                                <a:rPr lang="en-US">
                                  <a:solidFill>
                                    <a:srgbClr val="FF0000"/>
                                  </a:solidFill>
                                  <a:latin typeface="Cambria Math" panose="02040503050406030204" pitchFamily="18" charset="0"/>
                                  <a:ea typeface="Calibri" panose="020F0502020204030204" pitchFamily="34" charset="0"/>
                                  <a:cs typeface="Shruti"/>
                                </a:rPr>
                                <m:t>μ</m:t>
                              </m:r>
                              <m:r>
                                <a:rPr lang="en-US">
                                  <a:solidFill>
                                    <a:srgbClr val="FF0000"/>
                                  </a:solidFill>
                                  <a:latin typeface="Cambria Math" panose="02040503050406030204" pitchFamily="18" charset="0"/>
                                  <a:ea typeface="Calibri" panose="020F0502020204030204" pitchFamily="34" charset="0"/>
                                  <a:cs typeface="Shruti"/>
                                </a:rPr>
                                <m:t> </m:t>
                              </m:r>
                            </m:num>
                            <m:den>
                              <m:r>
                                <m:rPr>
                                  <m:sty m:val="p"/>
                                </m:rPr>
                                <a:rPr lang="en-US">
                                  <a:solidFill>
                                    <a:srgbClr val="FF0000"/>
                                  </a:solidFill>
                                  <a:latin typeface="Cambria Math" panose="02040503050406030204" pitchFamily="18" charset="0"/>
                                  <a:ea typeface="Calibri" panose="020F0502020204030204" pitchFamily="34" charset="0"/>
                                  <a:cs typeface="Shruti"/>
                                </a:rPr>
                                <m:t>σ</m:t>
                              </m:r>
                              <m:r>
                                <a:rPr lang="en-US">
                                  <a:solidFill>
                                    <a:srgbClr val="FF0000"/>
                                  </a:solidFill>
                                  <a:latin typeface="Cambria Math" panose="02040503050406030204" pitchFamily="18" charset="0"/>
                                  <a:ea typeface="Calibri" panose="020F0502020204030204" pitchFamily="34" charset="0"/>
                                  <a:cs typeface="Shruti"/>
                                </a:rPr>
                                <m:t> </m:t>
                              </m:r>
                            </m:den>
                          </m:f>
                        </m:e>
                      </m:d>
                      <m:r>
                        <a:rPr lang="en-US">
                          <a:solidFill>
                            <a:srgbClr val="FF0000"/>
                          </a:solidFill>
                          <a:latin typeface="Cambria Math" panose="02040503050406030204" pitchFamily="18" charset="0"/>
                          <a:ea typeface="Calibri" panose="020F0502020204030204" pitchFamily="34" charset="0"/>
                          <a:cs typeface="Shruti"/>
                        </a:rPr>
                        <m:t>=</m:t>
                      </m:r>
                      <m:r>
                        <m:rPr>
                          <m:sty m:val="p"/>
                        </m:rPr>
                        <a:rPr lang="en-US">
                          <a:solidFill>
                            <a:srgbClr val="FF0000"/>
                          </a:solidFill>
                          <a:latin typeface="Cambria Math" panose="02040503050406030204" pitchFamily="18" charset="0"/>
                          <a:ea typeface="Calibri" panose="020F0502020204030204" pitchFamily="34" charset="0"/>
                          <a:cs typeface="Shruti"/>
                        </a:rPr>
                        <m:t>P</m:t>
                      </m:r>
                      <m:d>
                        <m:dPr>
                          <m:ctrlPr>
                            <a:rPr lang="en-IN" i="1">
                              <a:solidFill>
                                <a:srgbClr val="FF0000"/>
                              </a:solidFill>
                              <a:latin typeface="Cambria Math" panose="02040503050406030204" pitchFamily="18" charset="0"/>
                            </a:rPr>
                          </m:ctrlPr>
                        </m:dPr>
                        <m:e>
                          <m:sSub>
                            <m:sSubPr>
                              <m:ctrlPr>
                                <a:rPr lang="en-IN"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ea typeface="Calibri" panose="020F0502020204030204" pitchFamily="34" charset="0"/>
                                  <a:cs typeface="Shruti"/>
                                </a:rPr>
                                <m:t>z</m:t>
                              </m:r>
                            </m:e>
                            <m:sub>
                              <m:r>
                                <a:rPr lang="en-US">
                                  <a:solidFill>
                                    <a:srgbClr val="FF0000"/>
                                  </a:solidFill>
                                  <a:latin typeface="Cambria Math" panose="02040503050406030204" pitchFamily="18" charset="0"/>
                                  <a:ea typeface="Calibri" panose="020F0502020204030204" pitchFamily="34" charset="0"/>
                                  <a:cs typeface="Shruti"/>
                                </a:rPr>
                                <m:t>1</m:t>
                              </m:r>
                            </m:sub>
                          </m:sSub>
                          <m:r>
                            <a:rPr lang="en-US">
                              <a:solidFill>
                                <a:srgbClr val="FF0000"/>
                              </a:solidFill>
                              <a:latin typeface="Cambria Math" panose="02040503050406030204" pitchFamily="18" charset="0"/>
                              <a:ea typeface="Calibri" panose="020F0502020204030204" pitchFamily="34" charset="0"/>
                              <a:cs typeface="Shruti"/>
                            </a:rPr>
                            <m:t>≤</m:t>
                          </m:r>
                          <m:r>
                            <m:rPr>
                              <m:sty m:val="p"/>
                            </m:rPr>
                            <a:rPr lang="en-US">
                              <a:solidFill>
                                <a:srgbClr val="FF0000"/>
                              </a:solidFill>
                              <a:latin typeface="Cambria Math" panose="02040503050406030204" pitchFamily="18" charset="0"/>
                              <a:ea typeface="Calibri" panose="020F0502020204030204" pitchFamily="34" charset="0"/>
                              <a:cs typeface="Shruti"/>
                            </a:rPr>
                            <m:t>Z</m:t>
                          </m:r>
                          <m:r>
                            <a:rPr lang="en-US">
                              <a:solidFill>
                                <a:srgbClr val="FF0000"/>
                              </a:solidFill>
                              <a:latin typeface="Cambria Math" panose="02040503050406030204" pitchFamily="18" charset="0"/>
                              <a:ea typeface="Calibri" panose="020F0502020204030204" pitchFamily="34" charset="0"/>
                              <a:cs typeface="Shruti"/>
                            </a:rPr>
                            <m:t>≤</m:t>
                          </m:r>
                          <m:sSub>
                            <m:sSubPr>
                              <m:ctrlPr>
                                <a:rPr lang="en-IN"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ea typeface="Calibri" panose="020F0502020204030204" pitchFamily="34" charset="0"/>
                                  <a:cs typeface="Shruti"/>
                                </a:rPr>
                                <m:t>z</m:t>
                              </m:r>
                            </m:e>
                            <m:sub>
                              <m:r>
                                <a:rPr lang="en-US">
                                  <a:solidFill>
                                    <a:srgbClr val="FF0000"/>
                                  </a:solidFill>
                                  <a:latin typeface="Cambria Math" panose="02040503050406030204" pitchFamily="18" charset="0"/>
                                  <a:ea typeface="Calibri" panose="020F0502020204030204" pitchFamily="34" charset="0"/>
                                  <a:cs typeface="Shruti"/>
                                </a:rPr>
                                <m:t>2</m:t>
                              </m:r>
                            </m:sub>
                          </m:sSub>
                        </m:e>
                      </m:d>
                    </m:oMath>
                  </m:oMathPara>
                </a14:m>
                <a:endParaRPr lang="en-IN" dirty="0"/>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63444"/>
                <a:ext cx="11839146" cy="5590565"/>
              </a:xfrm>
              <a:blipFill rotWithShape="0">
                <a:blip r:embed="rId2"/>
                <a:stretch>
                  <a:fillRect l="-978" r="-1030"/>
                </a:stretch>
              </a:blipFill>
            </p:spPr>
            <p:txBody>
              <a:bodyPr/>
              <a:lstStyle/>
              <a:p>
                <a:r>
                  <a:rPr lang="en-IN">
                    <a:noFill/>
                  </a:rPr>
                  <a:t> </a:t>
                </a:r>
              </a:p>
            </p:txBody>
          </p:sp>
        </mc:Fallback>
      </mc:AlternateContent>
    </p:spTree>
    <p:extLst>
      <p:ext uri="{BB962C8B-B14F-4D97-AF65-F5344CB8AC3E}">
        <p14:creationId xmlns:p14="http://schemas.microsoft.com/office/powerpoint/2010/main" val="355221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Normal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63444"/>
                <a:ext cx="11839146" cy="5590565"/>
              </a:xfrm>
            </p:spPr>
            <p:txBody>
              <a:bodyPr/>
              <a:lstStyle/>
              <a:p>
                <a:pPr lvl="0"/>
                <a:r>
                  <a:rPr lang="en-US" dirty="0"/>
                  <a:t>This probability is equal to area under the standard normal curve between the coordinates at </a:t>
                </a:r>
                <a14:m>
                  <m:oMath xmlns:m="http://schemas.openxmlformats.org/officeDocument/2006/math">
                    <m:r>
                      <m:rPr>
                        <m:sty m:val="p"/>
                      </m:rPr>
                      <a:rPr lang="en-US" i="0" dirty="0" smtClean="0">
                        <a:solidFill>
                          <a:srgbClr val="FF0000"/>
                        </a:solidFill>
                        <a:latin typeface="Cambria Math" panose="02040503050406030204" pitchFamily="18" charset="0"/>
                      </a:rPr>
                      <m:t>Z</m:t>
                    </m:r>
                    <m:r>
                      <a:rPr lang="en-US" i="0" dirty="0" smtClean="0">
                        <a:solidFill>
                          <a:srgbClr val="FF0000"/>
                        </a:solidFill>
                        <a:latin typeface="Cambria Math" panose="02040503050406030204" pitchFamily="18" charset="0"/>
                      </a:rPr>
                      <m:t>=</m:t>
                    </m:r>
                    <m:sSub>
                      <m:sSubPr>
                        <m:ctrlPr>
                          <a:rPr lang="en-IN" i="1" dirty="0">
                            <a:solidFill>
                              <a:srgbClr val="FF0000"/>
                            </a:solidFill>
                            <a:latin typeface="Cambria Math" panose="02040503050406030204" pitchFamily="18" charset="0"/>
                          </a:rPr>
                        </m:ctrlPr>
                      </m:sSubPr>
                      <m:e>
                        <m:r>
                          <m:rPr>
                            <m:sty m:val="p"/>
                          </m:rPr>
                          <a:rPr lang="en-US" i="0" dirty="0" smtClean="0">
                            <a:solidFill>
                              <a:srgbClr val="FF0000"/>
                            </a:solidFill>
                            <a:latin typeface="Cambria Math" panose="02040503050406030204" pitchFamily="18" charset="0"/>
                          </a:rPr>
                          <m:t>z</m:t>
                        </m:r>
                      </m:e>
                      <m:sub>
                        <m:r>
                          <a:rPr lang="en-US" i="0" dirty="0">
                            <a:solidFill>
                              <a:srgbClr val="FF0000"/>
                            </a:solidFill>
                            <a:latin typeface="Cambria Math" panose="02040503050406030204" pitchFamily="18" charset="0"/>
                          </a:rPr>
                          <m:t>1</m:t>
                        </m:r>
                      </m:sub>
                    </m:sSub>
                  </m:oMath>
                </a14:m>
                <a:r>
                  <a:rPr lang="en-US" dirty="0"/>
                  <a:t> and </a:t>
                </a:r>
                <a14:m>
                  <m:oMath xmlns:m="http://schemas.openxmlformats.org/officeDocument/2006/math">
                    <m:r>
                      <m:rPr>
                        <m:sty m:val="p"/>
                      </m:rPr>
                      <a:rPr lang="en-US" smtClean="0">
                        <a:solidFill>
                          <a:srgbClr val="FF0000"/>
                        </a:solidFill>
                        <a:latin typeface="Cambria Math" panose="02040503050406030204" pitchFamily="18" charset="0"/>
                      </a:rPr>
                      <m:t>Z</m:t>
                    </m:r>
                    <m:r>
                      <a:rPr lang="en-US" smtClean="0">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z</m:t>
                        </m:r>
                      </m:e>
                      <m:sub>
                        <m:r>
                          <a:rPr lang="en-US">
                            <a:solidFill>
                              <a:srgbClr val="FF0000"/>
                            </a:solidFill>
                            <a:latin typeface="Cambria Math" panose="02040503050406030204" pitchFamily="18" charset="0"/>
                          </a:rPr>
                          <m:t>2</m:t>
                        </m:r>
                      </m:sub>
                    </m:sSub>
                  </m:oMath>
                </a14:m>
                <a:r>
                  <a:rPr lang="en-US" dirty="0"/>
                  <a:t>.</a:t>
                </a:r>
                <a:endParaRPr lang="en-IN" dirty="0"/>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63444"/>
                <a:ext cx="11839146" cy="5590565"/>
              </a:xfrm>
              <a:blipFill rotWithShape="0">
                <a:blip r:embed="rId2"/>
                <a:stretch>
                  <a:fillRect l="-978" r="-1030"/>
                </a:stretch>
              </a:blipFill>
            </p:spPr>
            <p:txBody>
              <a:bodyPr/>
              <a:lstStyle/>
              <a:p>
                <a:r>
                  <a:rPr lang="en-IN">
                    <a:noFill/>
                  </a:rPr>
                  <a:t> </a:t>
                </a:r>
              </a:p>
            </p:txBody>
          </p:sp>
        </mc:Fallback>
      </mc:AlternateContent>
    </p:spTree>
    <p:extLst>
      <p:ext uri="{BB962C8B-B14F-4D97-AF65-F5344CB8AC3E}">
        <p14:creationId xmlns:p14="http://schemas.microsoft.com/office/powerpoint/2010/main" val="410135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Methods for Finding the Probability (area) from </a:t>
                </a:r>
                <a14:m>
                  <m:oMath xmlns:m="http://schemas.openxmlformats.org/officeDocument/2006/math">
                    <m:r>
                      <m:rPr>
                        <m:sty m:val="p"/>
                      </m:rPr>
                      <a:rPr lang="en-IN" i="0" dirty="0" smtClean="0">
                        <a:latin typeface="Cambria Math" panose="02040503050406030204" pitchFamily="18" charset="0"/>
                      </a:rPr>
                      <m:t>Z</m:t>
                    </m:r>
                    <m:r>
                      <a:rPr lang="en-IN" b="1" i="0" dirty="0" smtClean="0">
                        <a:latin typeface="Cambria Math" panose="02040503050406030204" pitchFamily="18" charset="0"/>
                      </a:rPr>
                      <m:t>−</m:t>
                    </m:r>
                  </m:oMath>
                </a14:m>
                <a:r>
                  <a:rPr lang="en-IN" dirty="0"/>
                  <a:t>Table  </a:t>
                </a:r>
              </a:p>
            </p:txBody>
          </p:sp>
        </mc:Choice>
        <mc:Fallback xmlns="">
          <p:sp>
            <p:nvSpPr>
              <p:cNvPr id="4" name="Title 3">
                <a:extLst>
                  <a:ext uri="{FF2B5EF4-FFF2-40B4-BE49-F238E27FC236}">
                    <a16:creationId xmlns:a16="http://schemas.microsoft.com/office/drawing/2014/main" xmlns="" id="{BCE1573B-CA90-43EC-9D0F-B94CEE0772BA}"/>
                  </a:ext>
                </a:extLst>
              </p:cNvPr>
              <p:cNvSpPr>
                <a:spLocks noGrp="1" noRot="1" noChangeAspect="1" noMove="1" noResize="1" noEditPoints="1" noAdjustHandles="1" noChangeArrowheads="1" noChangeShapeType="1" noTextEdit="1"/>
              </p:cNvSpPr>
              <p:nvPr>
                <p:ph type="title"/>
              </p:nvPr>
            </p:nvSpPr>
            <p:spPr>
              <a:blipFill rotWithShape="0">
                <a:blip r:embed="rId2"/>
                <a:stretch>
                  <a:fillRect l="-400" t="-8547" b="-196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63444"/>
                <a:ext cx="6532855" cy="3925615"/>
              </a:xfrm>
            </p:spPr>
            <p:txBody>
              <a:bodyPr/>
              <a:lstStyle/>
              <a:p>
                <a:pPr lvl="0"/>
                <a:r>
                  <a:rPr lang="en-US" dirty="0"/>
                  <a:t>Normal curve is a curve of normal density function and it can be seen in figure.</a:t>
                </a:r>
              </a:p>
              <a:p>
                <a:pPr lvl="0"/>
                <a:endParaRPr lang="en-US" dirty="0"/>
              </a:p>
              <a:p>
                <a:pPr marL="0" lvl="0" indent="0">
                  <a:buNone/>
                </a:pPr>
                <a:r>
                  <a:rPr lang="en-US" dirty="0"/>
                  <a:t> </a:t>
                </a:r>
                <a:endParaRPr lang="en-IN" dirty="0"/>
              </a:p>
              <a:p>
                <a:pPr lvl="0"/>
                <a:r>
                  <a:rPr lang="en-US" dirty="0"/>
                  <a:t>The probability(area) of shaded region between the curve and </a:t>
                </a:r>
                <a14:m>
                  <m:oMath xmlns:m="http://schemas.openxmlformats.org/officeDocument/2006/math">
                    <m:r>
                      <m:rPr>
                        <m:sty m:val="p"/>
                      </m:rPr>
                      <a:rPr lang="en-US" i="0" dirty="0" smtClean="0">
                        <a:latin typeface="Cambria Math" panose="02040503050406030204" pitchFamily="18" charset="0"/>
                      </a:rPr>
                      <m:t>x</m:t>
                    </m:r>
                    <m:r>
                      <a:rPr lang="en-US" i="0" dirty="0" smtClean="0">
                        <a:latin typeface="Cambria Math" panose="02040503050406030204" pitchFamily="18" charset="0"/>
                      </a:rPr>
                      <m:t>–</m:t>
                    </m:r>
                  </m:oMath>
                </a14:m>
                <a:r>
                  <a:rPr lang="en-US" dirty="0"/>
                  <a:t>axis is equal to 1.</a:t>
                </a:r>
                <a:endParaRPr lang="en-IN" dirty="0"/>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63444"/>
                <a:ext cx="6532855" cy="3925615"/>
              </a:xfrm>
              <a:blipFill rotWithShape="0">
                <a:blip r:embed="rId3"/>
                <a:stretch>
                  <a:fillRect l="-1774" r="-1867" b="-2795"/>
                </a:stretch>
              </a:blipFill>
            </p:spPr>
            <p:txBody>
              <a:bodyPr/>
              <a:lstStyle/>
              <a:p>
                <a:r>
                  <a:rPr lang="en-IN">
                    <a:noFill/>
                  </a:rPr>
                  <a:t> </a:t>
                </a:r>
              </a:p>
            </p:txBody>
          </p:sp>
        </mc:Fallback>
      </mc:AlternateContent>
      <p:pic>
        <p:nvPicPr>
          <p:cNvPr id="12" name="Picture 11"/>
          <p:cNvPicPr/>
          <p:nvPr/>
        </p:nvPicPr>
        <p:blipFill rotWithShape="1">
          <a:blip r:embed="rId4"/>
          <a:srcRect l="23045" t="42545" r="42721" b="30274"/>
          <a:stretch/>
        </p:blipFill>
        <p:spPr bwMode="auto">
          <a:xfrm>
            <a:off x="7370618" y="1385457"/>
            <a:ext cx="4696691" cy="2729346"/>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4" name="Text Box 60"/>
              <p:cNvSpPr txBox="1"/>
              <p:nvPr/>
            </p:nvSpPr>
            <p:spPr>
              <a:xfrm>
                <a:off x="7329052" y="4073237"/>
                <a:ext cx="651164" cy="52647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m:t>
                      </m:r>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4" name="Text Box 60"/>
              <p:cNvSpPr txBox="1">
                <a:spLocks noRot="1" noChangeAspect="1" noMove="1" noResize="1" noEditPoints="1" noAdjustHandles="1" noChangeArrowheads="1" noChangeShapeType="1" noTextEdit="1"/>
              </p:cNvSpPr>
              <p:nvPr/>
            </p:nvSpPr>
            <p:spPr>
              <a:xfrm>
                <a:off x="7329052" y="4073237"/>
                <a:ext cx="651164" cy="526471"/>
              </a:xfrm>
              <a:prstGeom prst="rect">
                <a:avLst/>
              </a:prstGeom>
              <a:blipFill rotWithShape="0">
                <a:blip r:embed="rId5"/>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 Box 60"/>
              <p:cNvSpPr txBox="1"/>
              <p:nvPr/>
            </p:nvSpPr>
            <p:spPr>
              <a:xfrm>
                <a:off x="11305307" y="4031675"/>
                <a:ext cx="651164" cy="52647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n-US" sz="2800" i="1" kern="0" dirty="0">
                          <a:solidFill>
                            <a:sysClr val="windowText" lastClr="000000"/>
                          </a:solidFill>
                          <a:latin typeface="Cambria Math" panose="02040503050406030204" pitchFamily="18" charset="0"/>
                          <a:ea typeface="Calibri" panose="020F0502020204030204" pitchFamily="34" charset="0"/>
                          <a:cs typeface="Shruti"/>
                        </a:rPr>
                        <m:t>+</m:t>
                      </m:r>
                      <m:r>
                        <a:rPr kumimoji="0" lang="en-US" sz="2800" b="0" i="1"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m:t>
                      </m:r>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5" name="Text Box 60"/>
              <p:cNvSpPr txBox="1">
                <a:spLocks noRot="1" noChangeAspect="1" noMove="1" noResize="1" noEditPoints="1" noAdjustHandles="1" noChangeArrowheads="1" noChangeShapeType="1" noTextEdit="1"/>
              </p:cNvSpPr>
              <p:nvPr/>
            </p:nvSpPr>
            <p:spPr>
              <a:xfrm>
                <a:off x="11305307" y="4031675"/>
                <a:ext cx="651164" cy="526471"/>
              </a:xfrm>
              <a:prstGeom prst="rect">
                <a:avLst/>
              </a:prstGeom>
              <a:blipFill rotWithShape="0">
                <a:blip r:embed="rId6"/>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 Box 60"/>
              <p:cNvSpPr txBox="1"/>
              <p:nvPr/>
            </p:nvSpPr>
            <p:spPr>
              <a:xfrm>
                <a:off x="9130149" y="4114803"/>
                <a:ext cx="1205346" cy="67425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IN" sz="2800" b="0" i="0"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z</m:t>
                      </m:r>
                      <m:r>
                        <a:rPr kumimoji="0" lang="en-IN" sz="2800" b="0" i="0"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=0</m:t>
                      </m:r>
                    </m:oMath>
                  </m:oMathPara>
                </a14:m>
                <a:endParaRPr kumimoji="0" lang="en-IN" sz="2800" b="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6" name="Text Box 60"/>
              <p:cNvSpPr txBox="1">
                <a:spLocks noRot="1" noChangeAspect="1" noMove="1" noResize="1" noEditPoints="1" noAdjustHandles="1" noChangeArrowheads="1" noChangeShapeType="1" noTextEdit="1"/>
              </p:cNvSpPr>
              <p:nvPr/>
            </p:nvSpPr>
            <p:spPr>
              <a:xfrm>
                <a:off x="9130149" y="4114803"/>
                <a:ext cx="1205346" cy="674256"/>
              </a:xfrm>
              <a:prstGeom prst="rect">
                <a:avLst/>
              </a:prstGeom>
              <a:blipFill rotWithShape="0">
                <a:blip r:embed="rId7"/>
                <a:stretch>
                  <a:fillRect/>
                </a:stretch>
              </a:blipFill>
              <a:ln w="6350">
                <a:noFill/>
              </a:ln>
            </p:spPr>
            <p:txBody>
              <a:bodyPr/>
              <a:lstStyle/>
              <a:p>
                <a:r>
                  <a:rPr lang="en-IN">
                    <a:noFill/>
                  </a:rPr>
                  <a:t> </a:t>
                </a:r>
              </a:p>
            </p:txBody>
          </p:sp>
        </mc:Fallback>
      </mc:AlternateContent>
    </p:spTree>
    <p:extLst>
      <p:ext uri="{BB962C8B-B14F-4D97-AF65-F5344CB8AC3E}">
        <p14:creationId xmlns:p14="http://schemas.microsoft.com/office/powerpoint/2010/main" val="2105255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4" grpId="0" animBg="1"/>
      <p:bldP spid="15" grpId="0" animBg="1"/>
      <p:bldP spid="1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Methods for Finding the Probability (area) from </a:t>
                </a:r>
                <a14:m>
                  <m:oMath xmlns:m="http://schemas.openxmlformats.org/officeDocument/2006/math">
                    <m:r>
                      <m:rPr>
                        <m:sty m:val="p"/>
                      </m:rPr>
                      <a:rPr lang="en-IN" i="0" dirty="0" smtClean="0">
                        <a:latin typeface="Cambria Math" panose="02040503050406030204" pitchFamily="18" charset="0"/>
                      </a:rPr>
                      <m:t>Z</m:t>
                    </m:r>
                    <m:r>
                      <a:rPr lang="en-IN" b="1" i="0" dirty="0" smtClean="0">
                        <a:latin typeface="Cambria Math" panose="02040503050406030204" pitchFamily="18" charset="0"/>
                      </a:rPr>
                      <m:t>−</m:t>
                    </m:r>
                  </m:oMath>
                </a14:m>
                <a:r>
                  <a:rPr lang="en-IN" dirty="0"/>
                  <a:t>Table  </a:t>
                </a:r>
              </a:p>
            </p:txBody>
          </p:sp>
        </mc:Choice>
        <mc:Fallback xmlns="">
          <p:sp>
            <p:nvSpPr>
              <p:cNvPr id="4" name="Title 3">
                <a:extLst>
                  <a:ext uri="{FF2B5EF4-FFF2-40B4-BE49-F238E27FC236}">
                    <a16:creationId xmlns:a16="http://schemas.microsoft.com/office/drawing/2014/main" xmlns="" id="{BCE1573B-CA90-43EC-9D0F-B94CEE0772BA}"/>
                  </a:ext>
                </a:extLst>
              </p:cNvPr>
              <p:cNvSpPr>
                <a:spLocks noGrp="1" noRot="1" noChangeAspect="1" noMove="1" noResize="1" noEditPoints="1" noAdjustHandles="1" noChangeArrowheads="1" noChangeShapeType="1" noTextEdit="1"/>
              </p:cNvSpPr>
              <p:nvPr>
                <p:ph type="title"/>
              </p:nvPr>
            </p:nvSpPr>
            <p:spPr>
              <a:blipFill rotWithShape="0">
                <a:blip r:embed="rId2"/>
                <a:stretch>
                  <a:fillRect l="-400" t="-8547" b="-196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63444"/>
                <a:ext cx="7128599" cy="5590565"/>
              </a:xfrm>
            </p:spPr>
            <p:txBody>
              <a:bodyPr/>
              <a:lstStyle/>
              <a:p>
                <a:pPr lvl="0"/>
                <a:r>
                  <a:rPr lang="en-US" dirty="0"/>
                  <a:t>The probability(area) to the right side of </a:t>
                </a:r>
                <a14:m>
                  <m:oMath xmlns:m="http://schemas.openxmlformats.org/officeDocument/2006/math">
                    <m:r>
                      <m:rPr>
                        <m:sty m:val="p"/>
                      </m:rPr>
                      <a:rPr lang="en-US" i="0" dirty="0" smtClean="0">
                        <a:latin typeface="Cambria Math" panose="02040503050406030204" pitchFamily="18" charset="0"/>
                      </a:rPr>
                      <m:t>X</m:t>
                    </m:r>
                    <m:r>
                      <a:rPr lang="en-US" i="0" dirty="0" smtClean="0">
                        <a:latin typeface="Cambria Math" panose="02040503050406030204" pitchFamily="18" charset="0"/>
                      </a:rPr>
                      <m:t>=</m:t>
                    </m:r>
                    <m:r>
                      <m:rPr>
                        <m:sty m:val="p"/>
                      </m:rPr>
                      <a:rPr lang="en-US" i="0" dirty="0" smtClean="0">
                        <a:latin typeface="Cambria Math" panose="02040503050406030204" pitchFamily="18" charset="0"/>
                      </a:rPr>
                      <m:t>μ</m:t>
                    </m:r>
                  </m:oMath>
                </a14:m>
                <a:r>
                  <a:rPr lang="en-US" dirty="0"/>
                  <a:t> is 0.5 and it is denoted by </a:t>
                </a:r>
                <a14:m>
                  <m:oMath xmlns:m="http://schemas.openxmlformats.org/officeDocument/2006/math">
                    <m:r>
                      <m:rPr>
                        <m:sty m:val="p"/>
                      </m:rPr>
                      <a:rPr lang="en-US" smtClean="0">
                        <a:solidFill>
                          <a:srgbClr val="FF0000"/>
                        </a:solidFill>
                        <a:latin typeface="Cambria Math" panose="02040503050406030204" pitchFamily="18" charset="0"/>
                      </a:rPr>
                      <m:t>P</m:t>
                    </m:r>
                    <m:d>
                      <m:dPr>
                        <m:ctrlPr>
                          <a:rPr lang="en-IN" i="1">
                            <a:solidFill>
                              <a:srgbClr val="FF0000"/>
                            </a:solidFill>
                            <a:latin typeface="Cambria Math" panose="02040503050406030204" pitchFamily="18" charset="0"/>
                          </a:rPr>
                        </m:ctrlPr>
                      </m:dPr>
                      <m:e>
                        <m:r>
                          <m:rPr>
                            <m:sty m:val="p"/>
                          </m:rPr>
                          <a:rPr lang="en-US">
                            <a:solidFill>
                              <a:srgbClr val="FF0000"/>
                            </a:solidFill>
                            <a:latin typeface="Cambria Math" panose="02040503050406030204" pitchFamily="18" charset="0"/>
                          </a:rPr>
                          <m:t>X</m:t>
                        </m:r>
                        <m:r>
                          <a:rPr lang="en-US">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μ</m:t>
                        </m:r>
                      </m:e>
                    </m:d>
                    <m:r>
                      <a:rPr lang="en-US">
                        <a:solidFill>
                          <a:srgbClr val="FF0000"/>
                        </a:solidFill>
                        <a:latin typeface="Cambria Math" panose="02040503050406030204" pitchFamily="18" charset="0"/>
                      </a:rPr>
                      <m:t>=0.5</m:t>
                    </m:r>
                  </m:oMath>
                </a14:m>
                <a:endParaRPr lang="en-IN" dirty="0">
                  <a:solidFill>
                    <a:srgbClr val="FF0000"/>
                  </a:solidFill>
                  <a:latin typeface="Cambria Math" panose="02040503050406030204" pitchFamily="18" charset="0"/>
                </a:endParaRPr>
              </a:p>
              <a:p>
                <a:pPr lvl="0"/>
                <a:endParaRPr lang="en-IN" dirty="0">
                  <a:latin typeface="Cambria Math" panose="02040503050406030204" pitchFamily="18" charset="0"/>
                </a:endParaRPr>
              </a:p>
              <a:p>
                <a:pPr lvl="0"/>
                <a:r>
                  <a:rPr lang="en-US" dirty="0"/>
                  <a:t>The probability(area) to the left side of </a:t>
                </a:r>
                <a14:m>
                  <m:oMath xmlns:m="http://schemas.openxmlformats.org/officeDocument/2006/math">
                    <m:r>
                      <m:rPr>
                        <m:sty m:val="p"/>
                      </m:rPr>
                      <a:rPr lang="en-US" dirty="0">
                        <a:latin typeface="Cambria Math" panose="02040503050406030204" pitchFamily="18" charset="0"/>
                      </a:rPr>
                      <m:t>X</m:t>
                    </m:r>
                    <m:r>
                      <a:rPr lang="en-US" dirty="0">
                        <a:latin typeface="Cambria Math" panose="02040503050406030204" pitchFamily="18" charset="0"/>
                      </a:rPr>
                      <m:t>=</m:t>
                    </m:r>
                    <m:r>
                      <m:rPr>
                        <m:sty m:val="p"/>
                      </m:rPr>
                      <a:rPr lang="en-US" dirty="0">
                        <a:latin typeface="Cambria Math" panose="02040503050406030204" pitchFamily="18" charset="0"/>
                      </a:rPr>
                      <m:t>μ</m:t>
                    </m:r>
                  </m:oMath>
                </a14:m>
                <a:r>
                  <a:rPr lang="en-US" dirty="0"/>
                  <a:t> is also 0.5 and it is denoted by </a:t>
                </a:r>
                <a14:m>
                  <m:oMath xmlns:m="http://schemas.openxmlformats.org/officeDocument/2006/math">
                    <m:r>
                      <m:rPr>
                        <m:sty m:val="p"/>
                      </m:rPr>
                      <a:rPr lang="en-US" smtClean="0">
                        <a:solidFill>
                          <a:srgbClr val="FF0000"/>
                        </a:solidFill>
                        <a:latin typeface="Cambria Math" panose="02040503050406030204" pitchFamily="18" charset="0"/>
                      </a:rPr>
                      <m:t>P</m:t>
                    </m:r>
                    <m:d>
                      <m:dPr>
                        <m:ctrlPr>
                          <a:rPr lang="en-IN" i="1">
                            <a:solidFill>
                              <a:srgbClr val="FF0000"/>
                            </a:solidFill>
                            <a:latin typeface="Cambria Math" panose="02040503050406030204" pitchFamily="18" charset="0"/>
                          </a:rPr>
                        </m:ctrlPr>
                      </m:dPr>
                      <m:e>
                        <m:r>
                          <m:rPr>
                            <m:sty m:val="p"/>
                          </m:rPr>
                          <a:rPr lang="en-US">
                            <a:solidFill>
                              <a:srgbClr val="FF0000"/>
                            </a:solidFill>
                            <a:latin typeface="Cambria Math" panose="02040503050406030204" pitchFamily="18" charset="0"/>
                          </a:rPr>
                          <m:t>X</m:t>
                        </m:r>
                        <m:r>
                          <a:rPr lang="en-US" i="1" smtClean="0">
                            <a:solidFill>
                              <a:srgbClr val="FF0000"/>
                            </a:solidFill>
                            <a:latin typeface="Cambria Math" panose="02040503050406030204" pitchFamily="18" charset="0"/>
                            <a:ea typeface="Cambria Math" panose="02040503050406030204" pitchFamily="18" charset="0"/>
                          </a:rPr>
                          <m:t>≤</m:t>
                        </m:r>
                        <m:r>
                          <m:rPr>
                            <m:sty m:val="p"/>
                          </m:rPr>
                          <a:rPr lang="en-US">
                            <a:solidFill>
                              <a:srgbClr val="FF0000"/>
                            </a:solidFill>
                            <a:latin typeface="Cambria Math" panose="02040503050406030204" pitchFamily="18" charset="0"/>
                          </a:rPr>
                          <m:t>μ</m:t>
                        </m:r>
                      </m:e>
                    </m:d>
                    <m:r>
                      <a:rPr lang="en-US">
                        <a:solidFill>
                          <a:srgbClr val="FF0000"/>
                        </a:solidFill>
                        <a:latin typeface="Cambria Math" panose="02040503050406030204" pitchFamily="18" charset="0"/>
                      </a:rPr>
                      <m:t>=0.5</m:t>
                    </m:r>
                  </m:oMath>
                </a14:m>
                <a:endParaRPr lang="en-IN" dirty="0">
                  <a:latin typeface="Cambria Math" panose="02040503050406030204" pitchFamily="18" charset="0"/>
                </a:endParaRPr>
              </a:p>
              <a:p>
                <a:pPr lvl="0"/>
                <a:endParaRPr lang="en-IN" dirty="0">
                  <a:latin typeface="Cambria Math" panose="02040503050406030204" pitchFamily="18" charset="0"/>
                </a:endParaRPr>
              </a:p>
              <a:p>
                <a:pPr lvl="0"/>
                <a:r>
                  <a:rPr lang="en-US" dirty="0"/>
                  <a:t>Let’s discuss some cases which is useful to solve examples</a:t>
                </a:r>
                <a:endParaRPr lang="en-IN" dirty="0">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63444"/>
                <a:ext cx="7128599" cy="5590565"/>
              </a:xfrm>
              <a:blipFill rotWithShape="0">
                <a:blip r:embed="rId3"/>
                <a:stretch>
                  <a:fillRect l="-1625" r="-1711"/>
                </a:stretch>
              </a:blipFill>
            </p:spPr>
            <p:txBody>
              <a:bodyPr/>
              <a:lstStyle/>
              <a:p>
                <a:r>
                  <a:rPr lang="en-IN">
                    <a:noFill/>
                  </a:rPr>
                  <a:t> </a:t>
                </a:r>
              </a:p>
            </p:txBody>
          </p:sp>
        </mc:Fallback>
      </mc:AlternateContent>
      <p:pic>
        <p:nvPicPr>
          <p:cNvPr id="12" name="Picture 11"/>
          <p:cNvPicPr/>
          <p:nvPr/>
        </p:nvPicPr>
        <p:blipFill rotWithShape="1">
          <a:blip r:embed="rId4"/>
          <a:srcRect l="23045" t="42545" r="42721" b="30274"/>
          <a:stretch/>
        </p:blipFill>
        <p:spPr bwMode="auto">
          <a:xfrm>
            <a:off x="7370618" y="1385457"/>
            <a:ext cx="4696691" cy="2729346"/>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4" name="Text Box 60"/>
              <p:cNvSpPr txBox="1"/>
              <p:nvPr/>
            </p:nvSpPr>
            <p:spPr>
              <a:xfrm>
                <a:off x="7329052" y="4073237"/>
                <a:ext cx="651164" cy="52647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m:t>
                      </m:r>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4" name="Text Box 60"/>
              <p:cNvSpPr txBox="1">
                <a:spLocks noRot="1" noChangeAspect="1" noMove="1" noResize="1" noEditPoints="1" noAdjustHandles="1" noChangeArrowheads="1" noChangeShapeType="1" noTextEdit="1"/>
              </p:cNvSpPr>
              <p:nvPr/>
            </p:nvSpPr>
            <p:spPr>
              <a:xfrm>
                <a:off x="7329052" y="4073237"/>
                <a:ext cx="651164" cy="526471"/>
              </a:xfrm>
              <a:prstGeom prst="rect">
                <a:avLst/>
              </a:prstGeom>
              <a:blipFill rotWithShape="0">
                <a:blip r:embed="rId5"/>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 Box 60"/>
              <p:cNvSpPr txBox="1"/>
              <p:nvPr/>
            </p:nvSpPr>
            <p:spPr>
              <a:xfrm>
                <a:off x="11305307" y="4031675"/>
                <a:ext cx="651164" cy="526471"/>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lang="en-US" sz="2800" i="1" kern="0" dirty="0">
                          <a:solidFill>
                            <a:sysClr val="windowText" lastClr="000000"/>
                          </a:solidFill>
                          <a:latin typeface="Cambria Math" panose="02040503050406030204" pitchFamily="18" charset="0"/>
                          <a:ea typeface="Calibri" panose="020F0502020204030204" pitchFamily="34" charset="0"/>
                          <a:cs typeface="Shruti"/>
                        </a:rPr>
                        <m:t>+</m:t>
                      </m:r>
                      <m:r>
                        <a:rPr kumimoji="0" lang="en-US" sz="2800" b="0" i="1"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m:t>
                      </m:r>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5" name="Text Box 60"/>
              <p:cNvSpPr txBox="1">
                <a:spLocks noRot="1" noChangeAspect="1" noMove="1" noResize="1" noEditPoints="1" noAdjustHandles="1" noChangeArrowheads="1" noChangeShapeType="1" noTextEdit="1"/>
              </p:cNvSpPr>
              <p:nvPr/>
            </p:nvSpPr>
            <p:spPr>
              <a:xfrm>
                <a:off x="11305307" y="4031675"/>
                <a:ext cx="651164" cy="526471"/>
              </a:xfrm>
              <a:prstGeom prst="rect">
                <a:avLst/>
              </a:prstGeom>
              <a:blipFill rotWithShape="0">
                <a:blip r:embed="rId6"/>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 Box 60"/>
              <p:cNvSpPr txBox="1"/>
              <p:nvPr/>
            </p:nvSpPr>
            <p:spPr>
              <a:xfrm>
                <a:off x="9130149" y="4114803"/>
                <a:ext cx="1205346" cy="67425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IN" sz="2800" b="0" i="0"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z</m:t>
                      </m:r>
                      <m:r>
                        <a:rPr kumimoji="0" lang="en-IN" sz="2800" b="0" i="0" u="none" strike="noStrike" kern="0" cap="none" spc="0" normalizeH="0" baseline="0" noProof="0" dirty="0" smtClean="0">
                          <a:ln>
                            <a:noFill/>
                          </a:ln>
                          <a:solidFill>
                            <a:sysClr val="windowText" lastClr="000000"/>
                          </a:solidFill>
                          <a:effectLst/>
                          <a:uLnTx/>
                          <a:uFillTx/>
                          <a:latin typeface="Cambria Math" panose="02040503050406030204" pitchFamily="18" charset="0"/>
                          <a:ea typeface="Calibri" panose="020F0502020204030204" pitchFamily="34" charset="0"/>
                          <a:cs typeface="Shruti"/>
                        </a:rPr>
                        <m:t>=0</m:t>
                      </m:r>
                    </m:oMath>
                  </m:oMathPara>
                </a14:m>
                <a:endParaRPr kumimoji="0" lang="en-IN" sz="2800" b="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6" name="Text Box 60"/>
              <p:cNvSpPr txBox="1">
                <a:spLocks noRot="1" noChangeAspect="1" noMove="1" noResize="1" noEditPoints="1" noAdjustHandles="1" noChangeArrowheads="1" noChangeShapeType="1" noTextEdit="1"/>
              </p:cNvSpPr>
              <p:nvPr/>
            </p:nvSpPr>
            <p:spPr>
              <a:xfrm>
                <a:off x="9130149" y="4114803"/>
                <a:ext cx="1205346" cy="674256"/>
              </a:xfrm>
              <a:prstGeom prst="rect">
                <a:avLst/>
              </a:prstGeom>
              <a:blipFill rotWithShape="0">
                <a:blip r:embed="rId7"/>
                <a:stretch>
                  <a:fillRect/>
                </a:stretch>
              </a:blipFill>
              <a:ln w="6350">
                <a:noFill/>
              </a:ln>
            </p:spPr>
            <p:txBody>
              <a:bodyPr/>
              <a:lstStyle/>
              <a:p>
                <a:r>
                  <a:rPr lang="en-IN">
                    <a:noFill/>
                  </a:rPr>
                  <a:t> </a:t>
                </a:r>
              </a:p>
            </p:txBody>
          </p:sp>
        </mc:Fallback>
      </mc:AlternateContent>
    </p:spTree>
    <p:extLst>
      <p:ext uri="{BB962C8B-B14F-4D97-AF65-F5344CB8AC3E}">
        <p14:creationId xmlns:p14="http://schemas.microsoft.com/office/powerpoint/2010/main" val="322816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up)">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4" grpId="0" animBg="1"/>
      <p:bldP spid="15" grpId="0" animBg="1"/>
      <p:bldP spid="16"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35734"/>
                <a:ext cx="11880710" cy="5590565"/>
              </a:xfrm>
            </p:spPr>
            <p:txBody>
              <a:bodyPr/>
              <a:lstStyle/>
              <a:p>
                <a:pPr marL="514350" lvl="0" indent="-514350">
                  <a:buAutoNum type="arabicParenBoth"/>
                </a:pPr>
                <a:r>
                  <a:rPr lang="en-US" dirty="0">
                    <a:ea typeface="Calibri" panose="020F0502020204030204" pitchFamily="34" charset="0"/>
                    <a:cs typeface="Shruti"/>
                  </a:rPr>
                  <a:t>Area between</a:t>
                </a:r>
                <a:r>
                  <a:rPr lang="en-US" dirty="0">
                    <a:latin typeface="Calibri" panose="020F0502020204030204" pitchFamily="34" charset="0"/>
                    <a:ea typeface="Calibri" panose="020F0502020204030204" pitchFamily="34" charset="0"/>
                    <a:cs typeface="Shruti"/>
                  </a:rPr>
                  <a:t> </a:t>
                </a:r>
                <a14:m>
                  <m:oMath xmlns:m="http://schemas.openxmlformats.org/officeDocument/2006/math">
                    <m:r>
                      <a:rPr lang="en-US" b="1" i="0" dirty="0" smtClean="0">
                        <a:solidFill>
                          <a:srgbClr val="FF0000"/>
                        </a:solidFill>
                        <a:effectLst/>
                        <a:latin typeface="Cambria Math" panose="02040503050406030204" pitchFamily="18" charset="0"/>
                        <a:ea typeface="Calibri" panose="020F0502020204030204" pitchFamily="34" charset="0"/>
                        <a:cs typeface="Shruti"/>
                      </a:rPr>
                      <m:t>𝐙</m:t>
                    </m:r>
                    <m:r>
                      <a:rPr lang="en-US" b="1" i="0" dirty="0" smtClean="0">
                        <a:solidFill>
                          <a:srgbClr val="FF0000"/>
                        </a:solidFill>
                        <a:effectLst/>
                        <a:latin typeface="Cambria Math" panose="02040503050406030204" pitchFamily="18" charset="0"/>
                        <a:ea typeface="Calibri" panose="020F0502020204030204" pitchFamily="34" charset="0"/>
                        <a:cs typeface="Shruti"/>
                      </a:rPr>
                      <m:t>=</m:t>
                    </m:r>
                    <m:r>
                      <a:rPr lang="en-US" b="1" i="0" dirty="0" smtClean="0">
                        <a:solidFill>
                          <a:srgbClr val="FF0000"/>
                        </a:solidFill>
                        <a:effectLst/>
                        <a:latin typeface="Cambria Math" panose="02040503050406030204" pitchFamily="18" charset="0"/>
                        <a:ea typeface="Calibri" panose="020F0502020204030204" pitchFamily="34" charset="0"/>
                        <a:cs typeface="Shruti"/>
                      </a:rPr>
                      <m:t>𝟎</m:t>
                    </m:r>
                    <m:r>
                      <a:rPr lang="en-US" b="1" i="0" dirty="0" smtClean="0">
                        <a:solidFill>
                          <a:srgbClr val="FF0000"/>
                        </a:solidFill>
                        <a:effectLst/>
                        <a:latin typeface="Cambria Math" panose="02040503050406030204" pitchFamily="18" charset="0"/>
                        <a:ea typeface="Calibri" panose="020F0502020204030204" pitchFamily="34" charset="0"/>
                        <a:cs typeface="Shruti"/>
                      </a:rPr>
                      <m:t> </m:t>
                    </m:r>
                    <m:r>
                      <a:rPr lang="en-US" b="1" i="0" dirty="0" smtClean="0">
                        <a:solidFill>
                          <a:srgbClr val="FF0000"/>
                        </a:solidFill>
                        <a:effectLst/>
                        <a:latin typeface="Cambria Math" panose="02040503050406030204" pitchFamily="18" charset="0"/>
                        <a:ea typeface="Calibri" panose="020F0502020204030204" pitchFamily="34" charset="0"/>
                        <a:cs typeface="Shruti"/>
                      </a:rPr>
                      <m:t>𝐭𝐨</m:t>
                    </m:r>
                    <m:r>
                      <a:rPr lang="en-US" b="1" i="0" dirty="0" smtClean="0">
                        <a:solidFill>
                          <a:srgbClr val="FF0000"/>
                        </a:solidFill>
                        <a:effectLst/>
                        <a:latin typeface="Cambria Math" panose="02040503050406030204" pitchFamily="18" charset="0"/>
                        <a:ea typeface="Calibri" panose="020F0502020204030204" pitchFamily="34" charset="0"/>
                        <a:cs typeface="Shruti"/>
                      </a:rPr>
                      <m:t> </m:t>
                    </m:r>
                    <m:r>
                      <a:rPr lang="en-US" b="1" i="0" dirty="0" smtClean="0">
                        <a:solidFill>
                          <a:srgbClr val="FF0000"/>
                        </a:solidFill>
                        <a:latin typeface="Cambria Math" panose="02040503050406030204" pitchFamily="18" charset="0"/>
                        <a:ea typeface="Calibri" panose="020F0502020204030204" pitchFamily="34" charset="0"/>
                        <a:cs typeface="Shruti"/>
                      </a:rPr>
                      <m:t>𝐙</m:t>
                    </m:r>
                    <m:r>
                      <a:rPr lang="en-US" b="1" i="0" dirty="0" smtClean="0">
                        <a:solidFill>
                          <a:srgbClr val="FF0000"/>
                        </a:solidFill>
                        <a:latin typeface="Cambria Math" panose="02040503050406030204" pitchFamily="18" charset="0"/>
                        <a:ea typeface="Calibri" panose="020F0502020204030204" pitchFamily="34" charset="0"/>
                        <a:cs typeface="Shruti"/>
                      </a:rPr>
                      <m:t>=</m:t>
                    </m:r>
                    <m:sSub>
                      <m:sSubPr>
                        <m:ctrlPr>
                          <a:rPr lang="en-IN" b="1" i="1" dirty="0">
                            <a:solidFill>
                              <a:srgbClr val="FF0000"/>
                            </a:solidFill>
                            <a:latin typeface="Cambria Math" panose="02040503050406030204" pitchFamily="18" charset="0"/>
                            <a:ea typeface="Calibri" panose="020F0502020204030204" pitchFamily="34" charset="0"/>
                            <a:cs typeface="Shruti"/>
                          </a:rPr>
                        </m:ctrlPr>
                      </m:sSubPr>
                      <m:e>
                        <m:r>
                          <a:rPr lang="en-US" b="1" i="0" dirty="0" smtClean="0">
                            <a:solidFill>
                              <a:srgbClr val="FF0000"/>
                            </a:solidFill>
                            <a:latin typeface="Cambria Math" panose="02040503050406030204" pitchFamily="18" charset="0"/>
                            <a:ea typeface="Calibri" panose="020F0502020204030204" pitchFamily="34" charset="0"/>
                            <a:cs typeface="Shruti"/>
                          </a:rPr>
                          <m:t>𝐳</m:t>
                        </m:r>
                      </m:e>
                      <m:sub>
                        <m:r>
                          <a:rPr lang="en-US" b="1" i="0" dirty="0">
                            <a:solidFill>
                              <a:srgbClr val="FF0000"/>
                            </a:solidFill>
                            <a:latin typeface="Cambria Math" panose="02040503050406030204" pitchFamily="18" charset="0"/>
                            <a:ea typeface="Calibri" panose="020F0502020204030204" pitchFamily="34" charset="0"/>
                            <a:cs typeface="Shruti"/>
                          </a:rPr>
                          <m:t>𝟏</m:t>
                        </m:r>
                      </m:sub>
                    </m:sSub>
                    <m:r>
                      <a:rPr lang="en-IN" b="1" i="0" dirty="0" smtClean="0">
                        <a:solidFill>
                          <a:srgbClr val="FF0000"/>
                        </a:solidFill>
                        <a:latin typeface="Cambria Math" panose="02040503050406030204" pitchFamily="18" charset="0"/>
                        <a:ea typeface="Calibri" panose="020F0502020204030204" pitchFamily="34" charset="0"/>
                        <a:cs typeface="Shruti"/>
                      </a:rPr>
                      <m:t>,</m:t>
                    </m:r>
                  </m:oMath>
                </a14:m>
                <a:r>
                  <a:rPr lang="en-IN" dirty="0">
                    <a:latin typeface="Cambria Math" panose="02040503050406030204" pitchFamily="18" charset="0"/>
                  </a:rPr>
                  <a:t> </a:t>
                </a:r>
                <a:r>
                  <a:rPr lang="en-IN" dirty="0"/>
                  <a:t>which</a:t>
                </a:r>
                <a:r>
                  <a:rPr lang="en-IN" dirty="0">
                    <a:latin typeface="Cambria Math" panose="02040503050406030204" pitchFamily="18" charset="0"/>
                  </a:rPr>
                  <a:t> </a:t>
                </a:r>
                <a:r>
                  <a:rPr lang="en-IN" dirty="0"/>
                  <a:t>can be represented as</a:t>
                </a:r>
                <a:r>
                  <a:rPr lang="en-IN" dirty="0">
                    <a:latin typeface="Cambria Math" panose="02040503050406030204" pitchFamily="18" charset="0"/>
                  </a:rPr>
                  <a:t> </a:t>
                </a:r>
                <a14:m>
                  <m:oMath xmlns:m="http://schemas.openxmlformats.org/officeDocument/2006/math">
                    <m:r>
                      <a:rPr lang="en-US" b="1">
                        <a:solidFill>
                          <a:srgbClr val="FF0000"/>
                        </a:solidFill>
                        <a:latin typeface="Cambria Math" panose="02040503050406030204" pitchFamily="18" charset="0"/>
                        <a:ea typeface="Calibri" panose="020F0502020204030204" pitchFamily="34" charset="0"/>
                        <a:cs typeface="Shruti"/>
                      </a:rPr>
                      <m:t>𝐏</m:t>
                    </m:r>
                    <m:d>
                      <m:dPr>
                        <m:ctrlPr>
                          <a:rPr lang="en-IN" b="1" i="1">
                            <a:solidFill>
                              <a:srgbClr val="FF0000"/>
                            </a:solidFill>
                            <a:latin typeface="Cambria Math" panose="02040503050406030204" pitchFamily="18" charset="0"/>
                            <a:ea typeface="Calibri" panose="020F0502020204030204" pitchFamily="34" charset="0"/>
                            <a:cs typeface="Shruti"/>
                          </a:rPr>
                        </m:ctrlPr>
                      </m:dPr>
                      <m:e>
                        <m:r>
                          <a:rPr lang="en-US" b="1">
                            <a:solidFill>
                              <a:srgbClr val="FF0000"/>
                            </a:solidFill>
                            <a:latin typeface="Cambria Math" panose="02040503050406030204" pitchFamily="18" charset="0"/>
                            <a:ea typeface="Calibri" panose="020F0502020204030204" pitchFamily="34" charset="0"/>
                            <a:cs typeface="Shruti"/>
                          </a:rPr>
                          <m:t>𝟎</m:t>
                        </m:r>
                        <m:r>
                          <a:rPr lang="en-US" b="1">
                            <a:solidFill>
                              <a:srgbClr val="FF0000"/>
                            </a:solidFill>
                            <a:latin typeface="Cambria Math" panose="02040503050406030204" pitchFamily="18" charset="0"/>
                            <a:ea typeface="Calibri" panose="020F0502020204030204" pitchFamily="34" charset="0"/>
                            <a:cs typeface="Shruti"/>
                          </a:rPr>
                          <m:t>≤</m:t>
                        </m:r>
                        <m:r>
                          <a:rPr lang="en-US" b="1">
                            <a:solidFill>
                              <a:srgbClr val="FF0000"/>
                            </a:solidFill>
                            <a:latin typeface="Cambria Math" panose="02040503050406030204" pitchFamily="18" charset="0"/>
                            <a:ea typeface="Calibri" panose="020F0502020204030204" pitchFamily="34" charset="0"/>
                            <a:cs typeface="Shruti"/>
                          </a:rPr>
                          <m:t>𝐙</m:t>
                        </m:r>
                        <m:r>
                          <a:rPr lang="en-US" b="1">
                            <a:solidFill>
                              <a:srgbClr val="FF0000"/>
                            </a:solidFill>
                            <a:latin typeface="Cambria Math" panose="02040503050406030204" pitchFamily="18" charset="0"/>
                            <a:ea typeface="Calibri" panose="020F0502020204030204" pitchFamily="34" charset="0"/>
                            <a:cs typeface="Shruti"/>
                          </a:rPr>
                          <m:t>≤</m:t>
                        </m:r>
                        <m:sSub>
                          <m:sSubPr>
                            <m:ctrlPr>
                              <a:rPr lang="en-IN" b="1" i="1">
                                <a:solidFill>
                                  <a:srgbClr val="FF0000"/>
                                </a:solidFill>
                                <a:latin typeface="Cambria Math" panose="02040503050406030204" pitchFamily="18" charset="0"/>
                                <a:ea typeface="Calibri" panose="020F0502020204030204" pitchFamily="34" charset="0"/>
                                <a:cs typeface="Shruti"/>
                              </a:rPr>
                            </m:ctrlPr>
                          </m:sSubPr>
                          <m:e>
                            <m:r>
                              <a:rPr lang="en-US" b="1">
                                <a:solidFill>
                                  <a:srgbClr val="FF0000"/>
                                </a:solidFill>
                                <a:latin typeface="Cambria Math" panose="02040503050406030204" pitchFamily="18" charset="0"/>
                                <a:ea typeface="Calibri" panose="020F0502020204030204" pitchFamily="34" charset="0"/>
                                <a:cs typeface="Shruti"/>
                              </a:rPr>
                              <m:t>𝐳</m:t>
                            </m:r>
                          </m:e>
                          <m:sub>
                            <m:r>
                              <a:rPr lang="en-US" b="1">
                                <a:solidFill>
                                  <a:srgbClr val="FF0000"/>
                                </a:solidFill>
                                <a:latin typeface="Cambria Math" panose="02040503050406030204" pitchFamily="18" charset="0"/>
                                <a:ea typeface="Calibri" panose="020F0502020204030204" pitchFamily="34" charset="0"/>
                                <a:cs typeface="Shruti"/>
                              </a:rPr>
                              <m:t>𝟏</m:t>
                            </m:r>
                          </m:sub>
                        </m:sSub>
                      </m:e>
                    </m:d>
                  </m:oMath>
                </a14:m>
                <a:endParaRPr lang="en-IN" b="1" dirty="0">
                  <a:solidFill>
                    <a:srgbClr val="FF0000"/>
                  </a:solidFill>
                  <a:latin typeface="Cambria Math" panose="02040503050406030204" pitchFamily="18" charset="0"/>
                  <a:ea typeface="Calibri" panose="020F0502020204030204" pitchFamily="34" charset="0"/>
                  <a:cs typeface="Shruti"/>
                </a:endParaRPr>
              </a:p>
              <a:p>
                <a:pPr marL="0" lvl="0" indent="0">
                  <a:buNone/>
                </a:pPr>
                <a:endParaRPr lang="en-IN" b="1" dirty="0">
                  <a:solidFill>
                    <a:srgbClr val="FF0000"/>
                  </a:solidFill>
                  <a:latin typeface="Cambria Math" panose="02040503050406030204" pitchFamily="18" charset="0"/>
                  <a:ea typeface="Calibri" panose="020F0502020204030204" pitchFamily="34" charset="0"/>
                  <a:cs typeface="Shruti"/>
                </a:endParaRPr>
              </a:p>
              <a:p>
                <a:pPr lvl="0"/>
                <a:r>
                  <a:rPr lang="en-US" sz="2700" dirty="0"/>
                  <a:t>Find </a:t>
                </a:r>
                <a14:m>
                  <m:oMath xmlns:m="http://schemas.openxmlformats.org/officeDocument/2006/math">
                    <m:sSub>
                      <m:sSubPr>
                        <m:ctrlPr>
                          <a:rPr lang="en-IN" sz="2700" i="1">
                            <a:solidFill>
                              <a:srgbClr val="FF0000"/>
                            </a:solidFill>
                            <a:latin typeface="Cambria Math" panose="02040503050406030204" pitchFamily="18" charset="0"/>
                            <a:ea typeface="Calibri" panose="020F0502020204030204" pitchFamily="34" charset="0"/>
                            <a:cs typeface="Shruti"/>
                          </a:rPr>
                        </m:ctrlPr>
                      </m:sSubPr>
                      <m:e>
                        <m:r>
                          <m:rPr>
                            <m:sty m:val="p"/>
                          </m:rPr>
                          <a:rPr lang="en-US" sz="2700" b="0" i="0">
                            <a:solidFill>
                              <a:srgbClr val="FF0000"/>
                            </a:solidFill>
                            <a:latin typeface="Cambria Math" panose="02040503050406030204" pitchFamily="18" charset="0"/>
                            <a:ea typeface="Calibri" panose="020F0502020204030204" pitchFamily="34" charset="0"/>
                            <a:cs typeface="Shruti"/>
                          </a:rPr>
                          <m:t>z</m:t>
                        </m:r>
                      </m:e>
                      <m:sub>
                        <m:r>
                          <a:rPr lang="en-US" sz="2700" b="0" i="0">
                            <a:solidFill>
                              <a:srgbClr val="FF0000"/>
                            </a:solidFill>
                            <a:latin typeface="Cambria Math" panose="02040503050406030204" pitchFamily="18" charset="0"/>
                            <a:ea typeface="Calibri" panose="020F0502020204030204" pitchFamily="34" charset="0"/>
                            <a:cs typeface="Shruti"/>
                          </a:rPr>
                          <m:t>1</m:t>
                        </m:r>
                      </m:sub>
                    </m:sSub>
                  </m:oMath>
                </a14:m>
                <a:r>
                  <a:rPr lang="en-US" sz="2700" dirty="0"/>
                  <a:t> by using first row and column of </a:t>
                </a:r>
                <a14:m>
                  <m:oMath xmlns:m="http://schemas.openxmlformats.org/officeDocument/2006/math">
                    <m:r>
                      <m:rPr>
                        <m:sty m:val="p"/>
                      </m:rPr>
                      <a:rPr lang="en-US" sz="2700" i="0" dirty="0" smtClean="0">
                        <a:latin typeface="Cambria Math" panose="02040503050406030204" pitchFamily="18" charset="0"/>
                      </a:rPr>
                      <m:t>Z</m:t>
                    </m:r>
                  </m:oMath>
                </a14:m>
                <a:r>
                  <a:rPr lang="en-US" sz="2700" dirty="0"/>
                  <a:t>-table to get the answer of </a:t>
                </a:r>
                <a14:m>
                  <m:oMath xmlns:m="http://schemas.openxmlformats.org/officeDocument/2006/math">
                    <m:r>
                      <m:rPr>
                        <m:sty m:val="p"/>
                      </m:rPr>
                      <a:rPr lang="en-US" sz="2700" b="0" i="0">
                        <a:solidFill>
                          <a:srgbClr val="FF0000"/>
                        </a:solidFill>
                        <a:latin typeface="Cambria Math" panose="02040503050406030204" pitchFamily="18" charset="0"/>
                        <a:ea typeface="Calibri" panose="020F0502020204030204" pitchFamily="34" charset="0"/>
                        <a:cs typeface="Shruti"/>
                      </a:rPr>
                      <m:t>P</m:t>
                    </m:r>
                    <m:d>
                      <m:dPr>
                        <m:ctrlPr>
                          <a:rPr lang="en-IN" sz="2700" i="1">
                            <a:solidFill>
                              <a:srgbClr val="FF0000"/>
                            </a:solidFill>
                            <a:latin typeface="Cambria Math" panose="02040503050406030204" pitchFamily="18" charset="0"/>
                            <a:ea typeface="Calibri" panose="020F0502020204030204" pitchFamily="34" charset="0"/>
                            <a:cs typeface="Shruti"/>
                          </a:rPr>
                        </m:ctrlPr>
                      </m:dPr>
                      <m:e>
                        <m:r>
                          <a:rPr lang="en-US" sz="2700" b="0" i="0">
                            <a:solidFill>
                              <a:srgbClr val="FF0000"/>
                            </a:solidFill>
                            <a:latin typeface="Cambria Math" panose="02040503050406030204" pitchFamily="18" charset="0"/>
                            <a:ea typeface="Calibri" panose="020F0502020204030204" pitchFamily="34" charset="0"/>
                            <a:cs typeface="Shruti"/>
                          </a:rPr>
                          <m:t>0≤</m:t>
                        </m:r>
                        <m:r>
                          <m:rPr>
                            <m:sty m:val="p"/>
                          </m:rPr>
                          <a:rPr lang="en-US" sz="2700" b="0" i="0">
                            <a:solidFill>
                              <a:srgbClr val="FF0000"/>
                            </a:solidFill>
                            <a:latin typeface="Cambria Math" panose="02040503050406030204" pitchFamily="18" charset="0"/>
                            <a:ea typeface="Calibri" panose="020F0502020204030204" pitchFamily="34" charset="0"/>
                            <a:cs typeface="Shruti"/>
                          </a:rPr>
                          <m:t>Z</m:t>
                        </m:r>
                        <m:r>
                          <a:rPr lang="en-US" sz="2700" b="0" i="0">
                            <a:solidFill>
                              <a:srgbClr val="FF0000"/>
                            </a:solidFill>
                            <a:latin typeface="Cambria Math" panose="02040503050406030204" pitchFamily="18" charset="0"/>
                            <a:ea typeface="Calibri" panose="020F0502020204030204" pitchFamily="34" charset="0"/>
                            <a:cs typeface="Shruti"/>
                          </a:rPr>
                          <m:t>≤</m:t>
                        </m:r>
                        <m:sSub>
                          <m:sSubPr>
                            <m:ctrlPr>
                              <a:rPr lang="en-IN" sz="2700" i="1">
                                <a:solidFill>
                                  <a:srgbClr val="FF0000"/>
                                </a:solidFill>
                                <a:latin typeface="Cambria Math" panose="02040503050406030204" pitchFamily="18" charset="0"/>
                                <a:ea typeface="Calibri" panose="020F0502020204030204" pitchFamily="34" charset="0"/>
                                <a:cs typeface="Shruti"/>
                              </a:rPr>
                            </m:ctrlPr>
                          </m:sSubPr>
                          <m:e>
                            <m:r>
                              <m:rPr>
                                <m:sty m:val="p"/>
                              </m:rPr>
                              <a:rPr lang="en-US" sz="2700" b="0" i="0">
                                <a:solidFill>
                                  <a:srgbClr val="FF0000"/>
                                </a:solidFill>
                                <a:latin typeface="Cambria Math" panose="02040503050406030204" pitchFamily="18" charset="0"/>
                                <a:ea typeface="Calibri" panose="020F0502020204030204" pitchFamily="34" charset="0"/>
                                <a:cs typeface="Shruti"/>
                              </a:rPr>
                              <m:t>z</m:t>
                            </m:r>
                          </m:e>
                          <m:sub>
                            <m:r>
                              <a:rPr lang="en-US" sz="2700" b="0" i="0">
                                <a:solidFill>
                                  <a:srgbClr val="FF0000"/>
                                </a:solidFill>
                                <a:latin typeface="Cambria Math" panose="02040503050406030204" pitchFamily="18" charset="0"/>
                                <a:ea typeface="Calibri" panose="020F0502020204030204" pitchFamily="34" charset="0"/>
                                <a:cs typeface="Shruti"/>
                              </a:rPr>
                              <m:t>1</m:t>
                            </m:r>
                          </m:sub>
                        </m:sSub>
                      </m:e>
                    </m:d>
                  </m:oMath>
                </a14:m>
                <a:endParaRPr lang="en-IN" sz="2700" dirty="0">
                  <a:solidFill>
                    <a:srgbClr val="FF0000"/>
                  </a:solidFill>
                  <a:latin typeface="Cambria Math" panose="02040503050406030204" pitchFamily="18" charset="0"/>
                  <a:ea typeface="Calibri" panose="020F0502020204030204" pitchFamily="34" charset="0"/>
                  <a:cs typeface="Shruti"/>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35734"/>
                <a:ext cx="11880710" cy="5590565"/>
              </a:xfrm>
              <a:blipFill rotWithShape="0">
                <a:blip r:embed="rId2"/>
                <a:stretch>
                  <a:fillRect l="-1078"/>
                </a:stretch>
              </a:blipFill>
            </p:spPr>
            <p:txBody>
              <a:bodyPr/>
              <a:lstStyle/>
              <a:p>
                <a:r>
                  <a:rPr lang="en-IN">
                    <a:noFill/>
                  </a:rPr>
                  <a:t> </a:t>
                </a:r>
              </a:p>
            </p:txBody>
          </p:sp>
        </mc:Fallback>
      </mc:AlternateContent>
    </p:spTree>
    <p:extLst>
      <p:ext uri="{BB962C8B-B14F-4D97-AF65-F5344CB8AC3E}">
        <p14:creationId xmlns:p14="http://schemas.microsoft.com/office/powerpoint/2010/main" val="394958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35734"/>
                <a:ext cx="11880710" cy="5590565"/>
              </a:xfrm>
            </p:spPr>
            <p:txBody>
              <a:bodyPr/>
              <a:lstStyle/>
              <a:p>
                <a:r>
                  <a:rPr lang="en-US" b="1" dirty="0">
                    <a:solidFill>
                      <a:schemeClr val="accent5">
                        <a:lumMod val="50000"/>
                      </a:schemeClr>
                    </a:solidFill>
                  </a:rPr>
                  <a:t>For Example: </a:t>
                </a:r>
                <a:endParaRPr lang="en-IN" b="1" dirty="0">
                  <a:solidFill>
                    <a:schemeClr val="accent5">
                      <a:lumMod val="50000"/>
                    </a:schemeClr>
                  </a:solidFill>
                </a:endParaRPr>
              </a:p>
              <a:p>
                <a:pPr lvl="0"/>
                <a:r>
                  <a:rPr lang="en-US" dirty="0"/>
                  <a:t>Suppose </a:t>
                </a:r>
                <a14:m>
                  <m:oMath xmlns:m="http://schemas.openxmlformats.org/officeDocument/2006/math">
                    <m:sSub>
                      <m:sSubPr>
                        <m:ctrlPr>
                          <a:rPr lang="en-IN" i="1" smtClean="0">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1</m:t>
                        </m:r>
                      </m:sub>
                    </m:sSub>
                    <m:r>
                      <a:rPr lang="en-US" i="1">
                        <a:latin typeface="Cambria Math" panose="02040503050406030204" pitchFamily="18" charset="0"/>
                      </a:rPr>
                      <m:t>=1.43</m:t>
                    </m:r>
                  </m:oMath>
                </a14:m>
                <a:r>
                  <a:rPr lang="en-US" dirty="0"/>
                  <a:t> Use below steps to find value at </a:t>
                </a:r>
                <a14:m>
                  <m:oMath xmlns:m="http://schemas.openxmlformats.org/officeDocument/2006/math">
                    <m:r>
                      <m:rPr>
                        <m:sty m:val="p"/>
                      </m:rPr>
                      <a:rPr lang="en-US">
                        <a:latin typeface="Cambria Math" panose="02040503050406030204" pitchFamily="18" charset="0"/>
                      </a:rPr>
                      <m:t>z</m:t>
                    </m:r>
                    <m:r>
                      <a:rPr lang="en-US">
                        <a:latin typeface="Cambria Math" panose="02040503050406030204" pitchFamily="18" charset="0"/>
                      </a:rPr>
                      <m:t>=</m:t>
                    </m:r>
                    <m:r>
                      <a:rPr lang="en-US" i="1">
                        <a:latin typeface="Cambria Math" panose="02040503050406030204" pitchFamily="18" charset="0"/>
                      </a:rPr>
                      <m:t>1.43</m:t>
                    </m:r>
                    <m:r>
                      <a:rPr lang="en-US" i="1" smtClean="0">
                        <a:latin typeface="Cambria Math" panose="02040503050406030204" pitchFamily="18" charset="0"/>
                      </a:rPr>
                      <m:t>.</m:t>
                    </m:r>
                  </m:oMath>
                </a14:m>
                <a:endParaRPr lang="en-IN" dirty="0"/>
              </a:p>
              <a:p>
                <a:pPr lvl="0"/>
                <a:r>
                  <a:rPr lang="en-US" dirty="0"/>
                  <a:t>Step 1: Split </a:t>
                </a:r>
                <a14:m>
                  <m:oMath xmlns:m="http://schemas.openxmlformats.org/officeDocument/2006/math">
                    <m:r>
                      <a:rPr lang="en-US">
                        <a:latin typeface="Cambria Math" panose="02040503050406030204" pitchFamily="18" charset="0"/>
                      </a:rPr>
                      <m:t>1.43</m:t>
                    </m:r>
                  </m:oMath>
                </a14:m>
                <a:r>
                  <a:rPr lang="en-US" dirty="0"/>
                  <a:t> as </a:t>
                </a:r>
                <a14:m>
                  <m:oMath xmlns:m="http://schemas.openxmlformats.org/officeDocument/2006/math">
                    <m:r>
                      <a:rPr lang="en-US" smtClean="0">
                        <a:latin typeface="Cambria Math" panose="02040503050406030204" pitchFamily="18" charset="0"/>
                      </a:rPr>
                      <m:t>1.4+0.03</m:t>
                    </m:r>
                  </m:oMath>
                </a14:m>
                <a:r>
                  <a:rPr lang="en-US" dirty="0"/>
                  <a:t>. </a:t>
                </a:r>
                <a:endParaRPr lang="en-IN" dirty="0"/>
              </a:p>
              <a:p>
                <a:pPr lvl="0"/>
                <a:r>
                  <a:rPr lang="en-US" dirty="0"/>
                  <a:t>Step 2: Find 1.4 in first column and 0.03 in first row.</a:t>
                </a:r>
                <a:endParaRPr lang="en-IN" dirty="0"/>
              </a:p>
              <a:p>
                <a:pPr lvl="0"/>
                <a:r>
                  <a:rPr lang="en-US" dirty="0"/>
                  <a:t>Step 3: Intersection of that row and column is answer of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0≤</m:t>
                        </m:r>
                        <m:r>
                          <m:rPr>
                            <m:sty m:val="p"/>
                          </m:rPr>
                          <a:rPr lang="en-US">
                            <a:latin typeface="Cambria Math" panose="02040503050406030204" pitchFamily="18" charset="0"/>
                          </a:rPr>
                          <m:t>Z</m:t>
                        </m:r>
                        <m:r>
                          <a:rPr lang="en-US">
                            <a:latin typeface="Cambria Math" panose="02040503050406030204" pitchFamily="18" charset="0"/>
                          </a:rPr>
                          <m:t>≤1.43</m:t>
                        </m:r>
                      </m:e>
                    </m:d>
                    <m:r>
                      <a:rPr lang="en-US">
                        <a:latin typeface="Cambria Math" panose="02040503050406030204" pitchFamily="18" charset="0"/>
                      </a:rPr>
                      <m:t>.</m:t>
                    </m:r>
                  </m:oMath>
                </a14:m>
                <a:endParaRPr lang="en-IN" dirty="0"/>
              </a:p>
              <a:p>
                <a:r>
                  <a:rPr lang="en-US" dirty="0"/>
                  <a:t>Here,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0≤</m:t>
                        </m:r>
                        <m:r>
                          <m:rPr>
                            <m:sty m:val="p"/>
                          </m:rPr>
                          <a:rPr lang="en-US">
                            <a:latin typeface="Cambria Math" panose="02040503050406030204" pitchFamily="18" charset="0"/>
                          </a:rPr>
                          <m:t>Z</m:t>
                        </m:r>
                        <m:r>
                          <a:rPr lang="en-US">
                            <a:latin typeface="Cambria Math" panose="02040503050406030204" pitchFamily="18" charset="0"/>
                          </a:rPr>
                          <m:t>≤1.43</m:t>
                        </m:r>
                      </m:e>
                    </m:d>
                    <m:r>
                      <a:rPr lang="en-US">
                        <a:latin typeface="Cambria Math" panose="02040503050406030204" pitchFamily="18" charset="0"/>
                      </a:rPr>
                      <m:t>=0.4236</m:t>
                    </m:r>
                  </m:oMath>
                </a14:m>
                <a:endParaRPr lang="en-IN" b="1" dirty="0">
                  <a:latin typeface="Cambria Math" panose="02040503050406030204" pitchFamily="18" charset="0"/>
                  <a:ea typeface="Calibri" panose="020F0502020204030204" pitchFamily="34" charset="0"/>
                  <a:cs typeface="Shruti"/>
                </a:endParaRPr>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35734"/>
                <a:ext cx="11880710" cy="5590565"/>
              </a:xfrm>
              <a:blipFill rotWithShape="0">
                <a:blip r:embed="rId2"/>
                <a:stretch>
                  <a:fillRect l="-975"/>
                </a:stretch>
              </a:blipFill>
            </p:spPr>
            <p:txBody>
              <a:bodyPr/>
              <a:lstStyle/>
              <a:p>
                <a:r>
                  <a:rPr lang="en-IN">
                    <a:noFill/>
                  </a:rPr>
                  <a:t> </a:t>
                </a:r>
              </a:p>
            </p:txBody>
          </p:sp>
        </mc:Fallback>
      </mc:AlternateContent>
    </p:spTree>
    <p:extLst>
      <p:ext uri="{BB962C8B-B14F-4D97-AF65-F5344CB8AC3E}">
        <p14:creationId xmlns:p14="http://schemas.microsoft.com/office/powerpoint/2010/main" val="154444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771339"/>
                <a:ext cx="11880710" cy="5590565"/>
              </a:xfrm>
            </p:spPr>
            <p:txBody>
              <a:bodyPr/>
              <a:lstStyle/>
              <a:p>
                <a:pPr marL="0" lvl="0" indent="0">
                  <a:buNone/>
                </a:pPr>
                <a:r>
                  <a:rPr lang="en-US" dirty="0">
                    <a:solidFill>
                      <a:schemeClr val="accent5">
                        <a:lumMod val="50000"/>
                      </a:schemeClr>
                    </a:solidFill>
                  </a:rPr>
                  <a:t>Note:</a:t>
                </a:r>
                <a:r>
                  <a:rPr lang="en-US" dirty="0"/>
                  <a:t> </a:t>
                </a:r>
                <a:endParaRPr lang="en-IN" dirty="0"/>
              </a:p>
              <a:p>
                <a:pPr lvl="0"/>
                <a:r>
                  <a:rPr lang="en-US" dirty="0"/>
                  <a:t>Area between </a:t>
                </a:r>
                <a14:m>
                  <m:oMath xmlns:m="http://schemas.openxmlformats.org/officeDocument/2006/math">
                    <m:r>
                      <a:rPr lang="en-US" b="1" i="0" smtClean="0">
                        <a:solidFill>
                          <a:srgbClr val="FF0000"/>
                        </a:solidFill>
                        <a:latin typeface="Cambria Math" panose="02040503050406030204" pitchFamily="18" charset="0"/>
                      </a:rPr>
                      <m:t>𝐙</m:t>
                    </m:r>
                    <m:r>
                      <a:rPr lang="en-US" b="1" i="0" smtClean="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oMath>
                </a14:m>
                <a:r>
                  <a:rPr lang="en-US" b="1" dirty="0">
                    <a:solidFill>
                      <a:srgbClr val="FF0000"/>
                    </a:solidFill>
                    <a:latin typeface="Cambria Math" panose="02040503050406030204" pitchFamily="18" charset="0"/>
                  </a:rPr>
                  <a:t> to </a:t>
                </a:r>
                <a14:m>
                  <m:oMath xmlns:m="http://schemas.openxmlformats.org/officeDocument/2006/math">
                    <m:r>
                      <a:rPr lang="en-US" b="1" i="0">
                        <a:solidFill>
                          <a:srgbClr val="FF0000"/>
                        </a:solidFill>
                        <a:latin typeface="Cambria Math" panose="02040503050406030204" pitchFamily="18" charset="0"/>
                      </a:rPr>
                      <m:t>𝐙</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oMath>
                </a14:m>
                <a:r>
                  <a:rPr lang="en-IN" i="1" dirty="0">
                    <a:latin typeface="Cambria Math" panose="02040503050406030204" pitchFamily="18" charset="0"/>
                  </a:rPr>
                  <a:t>, </a:t>
                </a:r>
                <a:r>
                  <a:rPr lang="en-US" dirty="0"/>
                  <a:t>which can be represented as</a:t>
                </a:r>
                <a14:m>
                  <m:oMath xmlns:m="http://schemas.openxmlformats.org/officeDocument/2006/math">
                    <m:r>
                      <a:rPr lang="en-US" b="1">
                        <a:solidFill>
                          <a:srgbClr val="FF0000"/>
                        </a:solidFill>
                        <a:latin typeface="Cambria Math" panose="02040503050406030204" pitchFamily="18" charset="0"/>
                      </a:rPr>
                      <m:t> </m:t>
                    </m:r>
                    <m:r>
                      <a:rPr lang="en-US" b="1" i="1">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𝐳</m:t>
                            </m:r>
                          </m:e>
                          <m:sub>
                            <m:r>
                              <a:rPr lang="en-US" b="1" i="1">
                                <a:solidFill>
                                  <a:srgbClr val="FF0000"/>
                                </a:solidFill>
                                <a:latin typeface="Cambria Math" panose="02040503050406030204" pitchFamily="18" charset="0"/>
                              </a:rPr>
                              <m:t>𝟏</m:t>
                            </m:r>
                          </m:sub>
                        </m:sSub>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e>
                    </m:d>
                  </m:oMath>
                </a14:m>
                <a:endParaRPr lang="en-IN" b="1" dirty="0">
                  <a:solidFill>
                    <a:srgbClr val="FF0000"/>
                  </a:solidFill>
                  <a:latin typeface="Cambria Math" panose="02040503050406030204" pitchFamily="18" charset="0"/>
                </a:endParaRPr>
              </a:p>
              <a:p>
                <a:pPr lvl="0"/>
                <a14:m>
                  <m:oMath xmlns:m="http://schemas.openxmlformats.org/officeDocument/2006/math">
                    <m:r>
                      <a:rPr lang="en-US" b="1" i="1">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𝐳</m:t>
                            </m:r>
                          </m:e>
                          <m:sub>
                            <m:r>
                              <a:rPr lang="en-US" b="1" i="1">
                                <a:solidFill>
                                  <a:srgbClr val="FF0000"/>
                                </a:solidFill>
                                <a:latin typeface="Cambria Math" panose="02040503050406030204" pitchFamily="18" charset="0"/>
                              </a:rPr>
                              <m:t>𝟏</m:t>
                            </m:r>
                          </m:sub>
                        </m:sSub>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𝐙</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𝟎</m:t>
                        </m:r>
                      </m:e>
                    </m:d>
                    <m:r>
                      <a:rPr lang="en-IN" b="1" i="1">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𝐙</m:t>
                        </m:r>
                        <m:r>
                          <a:rPr lang="en-US" b="1" i="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e>
                    </m:d>
                  </m:oMath>
                </a14:m>
                <a:r>
                  <a:rPr lang="en-US" dirty="0"/>
                  <a:t> as normal distribution is </a:t>
                </a:r>
                <a:r>
                  <a:rPr lang="en-US" dirty="0">
                    <a:solidFill>
                      <a:srgbClr val="FF0000"/>
                    </a:solidFill>
                  </a:rPr>
                  <a:t>symmetric</a:t>
                </a:r>
                <a:r>
                  <a:rPr lang="en-US" dirty="0"/>
                  <a:t> about   </a:t>
                </a:r>
                <a14:m>
                  <m:oMath xmlns:m="http://schemas.openxmlformats.org/officeDocument/2006/math">
                    <m:r>
                      <m:rPr>
                        <m:sty m:val="p"/>
                      </m:rPr>
                      <a:rPr lang="en-US" i="0" dirty="0" smtClean="0">
                        <a:latin typeface="Cambria Math" panose="02040503050406030204" pitchFamily="18" charset="0"/>
                      </a:rPr>
                      <m:t>x</m:t>
                    </m:r>
                    <m:r>
                      <a:rPr lang="en-US" i="0" dirty="0" smtClean="0">
                        <a:latin typeface="Cambria Math" panose="02040503050406030204" pitchFamily="18" charset="0"/>
                      </a:rPr>
                      <m:t> – </m:t>
                    </m:r>
                  </m:oMath>
                </a14:m>
                <a:r>
                  <a:rPr lang="en-US" dirty="0"/>
                  <a:t>axis.</a:t>
                </a:r>
                <a:r>
                  <a:rPr lang="en-IN" dirty="0"/>
                  <a:t> That is, </a:t>
                </a:r>
                <a14:m>
                  <m:oMath xmlns:m="http://schemas.openxmlformats.org/officeDocument/2006/math">
                    <m:r>
                      <m:rPr>
                        <m:sty m:val="p"/>
                      </m:rPr>
                      <a:rPr lang="en-US" i="0" dirty="0" smtClean="0">
                        <a:latin typeface="Cambria Math" panose="02040503050406030204" pitchFamily="18" charset="0"/>
                      </a:rPr>
                      <m:t>P</m:t>
                    </m:r>
                    <m:r>
                      <a:rPr lang="en-IN" i="0" dirty="0" smtClean="0">
                        <a:latin typeface="Cambria Math" panose="02040503050406030204" pitchFamily="18" charset="0"/>
                      </a:rPr>
                      <m:t>(</m:t>
                    </m:r>
                    <m:r>
                      <a:rPr lang="en-US" i="0" dirty="0">
                        <a:latin typeface="Cambria Math" panose="02040503050406030204" pitchFamily="18" charset="0"/>
                      </a:rPr>
                      <m:t>0≤</m:t>
                    </m:r>
                    <m:r>
                      <m:rPr>
                        <m:sty m:val="p"/>
                      </m:rPr>
                      <a:rPr lang="en-US" i="0" dirty="0">
                        <a:latin typeface="Cambria Math" panose="02040503050406030204" pitchFamily="18" charset="0"/>
                      </a:rPr>
                      <m:t>Z</m:t>
                    </m:r>
                    <m:r>
                      <a:rPr lang="en-US" i="0" dirty="0">
                        <a:latin typeface="Cambria Math" panose="02040503050406030204" pitchFamily="18" charset="0"/>
                      </a:rPr>
                      <m:t>≤1.43)=</m:t>
                    </m:r>
                    <m:r>
                      <m:rPr>
                        <m:sty m:val="p"/>
                      </m:rPr>
                      <a:rPr lang="en-US" i="0" dirty="0" smtClean="0">
                        <a:latin typeface="Cambria Math" panose="02040503050406030204" pitchFamily="18" charset="0"/>
                      </a:rPr>
                      <m:t>P</m:t>
                    </m:r>
                    <m:r>
                      <a:rPr lang="en-IN" i="0" dirty="0" smtClean="0">
                        <a:latin typeface="Cambria Math" panose="02040503050406030204" pitchFamily="18" charset="0"/>
                      </a:rPr>
                      <m:t>(</m:t>
                    </m:r>
                    <m:r>
                      <a:rPr lang="en-US" i="0" dirty="0">
                        <a:latin typeface="Cambria Math" panose="02040503050406030204" pitchFamily="18" charset="0"/>
                      </a:rPr>
                      <m:t>−1.43≤</m:t>
                    </m:r>
                    <m:r>
                      <m:rPr>
                        <m:sty m:val="p"/>
                      </m:rPr>
                      <a:rPr lang="en-US" i="0" dirty="0">
                        <a:latin typeface="Cambria Math" panose="02040503050406030204" pitchFamily="18" charset="0"/>
                      </a:rPr>
                      <m:t>Z</m:t>
                    </m:r>
                    <m:r>
                      <a:rPr lang="en-US" i="0" dirty="0">
                        <a:latin typeface="Cambria Math" panose="02040503050406030204" pitchFamily="18" charset="0"/>
                      </a:rPr>
                      <m:t>≤0)=0.4236</m:t>
                    </m:r>
                  </m:oMath>
                </a14:m>
                <a:endParaRPr lang="en-IN" b="1" dirty="0">
                  <a:latin typeface="Cambria Math" panose="02040503050406030204" pitchFamily="18" charset="0"/>
                  <a:ea typeface="Calibri" panose="020F0502020204030204" pitchFamily="34" charset="0"/>
                  <a:cs typeface="Shruti"/>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771339"/>
                <a:ext cx="11880710" cy="5590565"/>
              </a:xfrm>
              <a:blipFill rotWithShape="0">
                <a:blip r:embed="rId2"/>
                <a:stretch>
                  <a:fillRect l="-1078" r="-1078"/>
                </a:stretch>
              </a:blipFill>
            </p:spPr>
            <p:txBody>
              <a:bodyPr/>
              <a:lstStyle/>
              <a:p>
                <a:r>
                  <a:rPr lang="en-IN">
                    <a:noFill/>
                  </a:rPr>
                  <a:t> </a:t>
                </a:r>
              </a:p>
            </p:txBody>
          </p:sp>
        </mc:Fallback>
      </mc:AlternateContent>
      <p:grpSp>
        <p:nvGrpSpPr>
          <p:cNvPr id="6" name="Canvas 42"/>
          <p:cNvGrpSpPr/>
          <p:nvPr/>
        </p:nvGrpSpPr>
        <p:grpSpPr>
          <a:xfrm>
            <a:off x="1275009" y="3593207"/>
            <a:ext cx="9375819" cy="2768697"/>
            <a:chOff x="0" y="0"/>
            <a:chExt cx="5486400" cy="1434033"/>
          </a:xfrm>
        </p:grpSpPr>
        <mc:AlternateContent xmlns:mc="http://schemas.openxmlformats.org/markup-compatibility/2006" xmlns:a14="http://schemas.microsoft.com/office/drawing/2010/main">
          <mc:Choice Requires="a14">
            <p:sp>
              <p:nvSpPr>
                <p:cNvPr id="8" name="Text Box 47"/>
                <p:cNvSpPr txBox="1"/>
                <p:nvPr/>
              </p:nvSpPr>
              <p:spPr>
                <a:xfrm>
                  <a:off x="4541214" y="1020217"/>
                  <a:ext cx="373769" cy="41381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ctrlPr>
                          </m:sSubPr>
                          <m:e>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t>1</m:t>
                            </m:r>
                          </m:sub>
                        </m:sSub>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8" name="Text Box 47"/>
                <p:cNvSpPr txBox="1">
                  <a:spLocks noRot="1" noChangeAspect="1" noMove="1" noResize="1" noEditPoints="1" noAdjustHandles="1" noChangeArrowheads="1" noChangeShapeType="1" noTextEdit="1"/>
                </p:cNvSpPr>
                <p:nvPr/>
              </p:nvSpPr>
              <p:spPr>
                <a:xfrm>
                  <a:off x="4541214" y="1020217"/>
                  <a:ext cx="373769" cy="413816"/>
                </a:xfrm>
                <a:prstGeom prst="rect">
                  <a:avLst/>
                </a:prstGeom>
                <a:blipFill rotWithShape="0">
                  <a:blip r:embed="rId3"/>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 Box 46"/>
                <p:cNvSpPr txBox="1"/>
                <p:nvPr/>
              </p:nvSpPr>
              <p:spPr>
                <a:xfrm>
                  <a:off x="625034" y="1026891"/>
                  <a:ext cx="393793" cy="313699"/>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t>−</m:t>
                        </m:r>
                        <m:sSub>
                          <m:sSubPr>
                            <m:ctrlP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ctrlPr>
                          </m:sSubPr>
                          <m:e>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t>1</m:t>
                            </m:r>
                          </m:sub>
                        </m:sSub>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9" name="Text Box 46"/>
                <p:cNvSpPr txBox="1">
                  <a:spLocks noRot="1" noChangeAspect="1" noMove="1" noResize="1" noEditPoints="1" noAdjustHandles="1" noChangeArrowheads="1" noChangeShapeType="1" noTextEdit="1"/>
                </p:cNvSpPr>
                <p:nvPr/>
              </p:nvSpPr>
              <p:spPr>
                <a:xfrm>
                  <a:off x="625034" y="1026891"/>
                  <a:ext cx="393793" cy="313699"/>
                </a:xfrm>
                <a:prstGeom prst="rect">
                  <a:avLst/>
                </a:prstGeom>
                <a:blipFill rotWithShape="0">
                  <a:blip r:embed="rId4"/>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 Box 44"/>
                <p:cNvSpPr txBox="1"/>
                <p:nvPr/>
              </p:nvSpPr>
              <p:spPr>
                <a:xfrm>
                  <a:off x="1340062" y="1033563"/>
                  <a:ext cx="280327" cy="320374"/>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a:p>
                  <a:pPr marL="0" marR="0" lvl="0" indent="0" defTabSz="914400" eaLnBrk="1" fontAlgn="auto" latinLnBrk="0" hangingPunct="1">
                    <a:lnSpc>
                      <a:spcPct val="107000"/>
                    </a:lnSpc>
                    <a:spcBef>
                      <a:spcPts val="0"/>
                    </a:spcBef>
                    <a:spcAft>
                      <a:spcPts val="800"/>
                    </a:spcAft>
                    <a:buClrTx/>
                    <a:buSzTx/>
                    <a:buFontTx/>
                    <a:buNone/>
                    <a:tabLst/>
                    <a:defRPr/>
                  </a:pPr>
                  <a:r>
                    <a:rPr kumimoji="0" lang="en-US"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rPr>
                    <a:t> </a:t>
                  </a:r>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0" name="Text Box 44"/>
                <p:cNvSpPr txBox="1">
                  <a:spLocks noRot="1" noChangeAspect="1" noMove="1" noResize="1" noEditPoints="1" noAdjustHandles="1" noChangeArrowheads="1" noChangeShapeType="1" noTextEdit="1"/>
                </p:cNvSpPr>
                <p:nvPr/>
              </p:nvSpPr>
              <p:spPr>
                <a:xfrm>
                  <a:off x="1340062" y="1033563"/>
                  <a:ext cx="280327" cy="320374"/>
                </a:xfrm>
                <a:prstGeom prst="rect">
                  <a:avLst/>
                </a:prstGeom>
                <a:blipFill rotWithShape="0">
                  <a:blip r:embed="rId5"/>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 Box 45"/>
                <p:cNvSpPr txBox="1"/>
                <p:nvPr/>
              </p:nvSpPr>
              <p:spPr>
                <a:xfrm>
                  <a:off x="3969797" y="1046911"/>
                  <a:ext cx="413816" cy="24793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US" sz="2800" b="0" i="1" u="none" strike="noStrike" kern="0" cap="none" spc="0" normalizeH="0" baseline="0" noProof="0">
                            <a:ln>
                              <a:noFill/>
                            </a:ln>
                            <a:solidFill>
                              <a:sysClr val="windowText" lastClr="000000"/>
                            </a:solidFill>
                            <a:effectLst/>
                            <a:uLnTx/>
                            <a:uFillTx/>
                            <a:latin typeface="Cambria Math" panose="02040503050406030204" pitchFamily="18" charset="0"/>
                            <a:ea typeface="Calibri" panose="020F0502020204030204" pitchFamily="34"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Shruti"/>
                  </a:endParaRPr>
                </a:p>
              </p:txBody>
            </p:sp>
          </mc:Choice>
          <mc:Fallback xmlns="">
            <p:sp>
              <p:nvSpPr>
                <p:cNvPr id="11" name="Text Box 45"/>
                <p:cNvSpPr txBox="1">
                  <a:spLocks noRot="1" noChangeAspect="1" noMove="1" noResize="1" noEditPoints="1" noAdjustHandles="1" noChangeArrowheads="1" noChangeShapeType="1" noTextEdit="1"/>
                </p:cNvSpPr>
                <p:nvPr/>
              </p:nvSpPr>
              <p:spPr>
                <a:xfrm>
                  <a:off x="3969797" y="1046911"/>
                  <a:ext cx="413816" cy="247936"/>
                </a:xfrm>
                <a:prstGeom prst="rect">
                  <a:avLst/>
                </a:prstGeom>
                <a:blipFill rotWithShape="0">
                  <a:blip r:embed="rId6"/>
                  <a:stretch>
                    <a:fillRect/>
                  </a:stretch>
                </a:blipFill>
                <a:ln w="6350">
                  <a:noFill/>
                </a:ln>
              </p:spPr>
              <p:txBody>
                <a:bodyPr/>
                <a:lstStyle/>
                <a:p>
                  <a:r>
                    <a:rPr lang="en-IN">
                      <a:noFill/>
                    </a:rPr>
                    <a:t> </a:t>
                  </a:r>
                </a:p>
              </p:txBody>
            </p:sp>
          </mc:Fallback>
        </mc:AlternateContent>
        <p:pic>
          <p:nvPicPr>
            <p:cNvPr id="12" name="Picture 11"/>
            <p:cNvPicPr>
              <a:picLocks noChangeAspect="1"/>
            </p:cNvPicPr>
            <p:nvPr/>
          </p:nvPicPr>
          <p:blipFill rotWithShape="1">
            <a:blip r:embed="rId7" cstate="print">
              <a:extLst>
                <a:ext uri="{28A0092B-C50C-407E-A947-70E740481C1C}">
                  <a14:useLocalDpi xmlns:a14="http://schemas.microsoft.com/office/drawing/2010/main" val="0"/>
                </a:ext>
              </a:extLst>
            </a:blip>
            <a:srcRect l="10304" t="45499" r="29315" b="33623"/>
            <a:stretch/>
          </p:blipFill>
          <p:spPr bwMode="auto">
            <a:xfrm>
              <a:off x="0" y="0"/>
              <a:ext cx="5486400" cy="1066800"/>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330495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35734"/>
                <a:ext cx="11880710" cy="5590565"/>
              </a:xfrm>
            </p:spPr>
            <p:txBody>
              <a:bodyPr/>
              <a:lstStyle/>
              <a:p>
                <a:pPr marL="0" lvl="0" indent="0">
                  <a:buNone/>
                </a:pPr>
                <a:r>
                  <a:rPr lang="en-US" dirty="0">
                    <a:ea typeface="Calibri" panose="020F0502020204030204" pitchFamily="34" charset="0"/>
                    <a:cs typeface="Shruti"/>
                  </a:rPr>
                  <a:t>(2) Area between</a:t>
                </a:r>
                <a:r>
                  <a:rPr lang="en-US" dirty="0">
                    <a:latin typeface="Calibri" panose="020F0502020204030204" pitchFamily="34" charset="0"/>
                    <a:ea typeface="Calibri" panose="020F0502020204030204" pitchFamily="34" charset="0"/>
                    <a:cs typeface="Shruti"/>
                  </a:rPr>
                  <a:t> </a:t>
                </a:r>
                <a14:m>
                  <m:oMath xmlns:m="http://schemas.openxmlformats.org/officeDocument/2006/math">
                    <m:r>
                      <a:rPr lang="en-US" b="1" dirty="0">
                        <a:solidFill>
                          <a:srgbClr val="FF0000"/>
                        </a:solidFill>
                        <a:latin typeface="Cambria Math" panose="02040503050406030204" pitchFamily="18" charset="0"/>
                        <a:ea typeface="Calibri" panose="020F0502020204030204" pitchFamily="34" charset="0"/>
                        <a:cs typeface="Shruti"/>
                      </a:rPr>
                      <m:t>𝐙</m:t>
                    </m:r>
                    <m:r>
                      <a:rPr lang="en-US" b="1" dirty="0">
                        <a:solidFill>
                          <a:srgbClr val="FF0000"/>
                        </a:solidFill>
                        <a:latin typeface="Cambria Math" panose="02040503050406030204" pitchFamily="18" charset="0"/>
                        <a:ea typeface="Calibri" panose="020F0502020204030204" pitchFamily="34" charset="0"/>
                        <a:cs typeface="Shruti"/>
                      </a:rPr>
                      <m:t>=−∞ </m:t>
                    </m:r>
                    <m:r>
                      <a:rPr lang="en-US" b="1" dirty="0">
                        <a:solidFill>
                          <a:srgbClr val="FF0000"/>
                        </a:solidFill>
                        <a:latin typeface="Cambria Math" panose="02040503050406030204" pitchFamily="18" charset="0"/>
                        <a:ea typeface="Calibri" panose="020F0502020204030204" pitchFamily="34" charset="0"/>
                        <a:cs typeface="Shruti"/>
                      </a:rPr>
                      <m:t>𝐭𝐨</m:t>
                    </m:r>
                    <m:r>
                      <a:rPr lang="en-US" b="1" dirty="0">
                        <a:solidFill>
                          <a:srgbClr val="FF0000"/>
                        </a:solidFill>
                        <a:latin typeface="Cambria Math" panose="02040503050406030204" pitchFamily="18" charset="0"/>
                        <a:ea typeface="Calibri" panose="020F0502020204030204" pitchFamily="34" charset="0"/>
                        <a:cs typeface="Shruti"/>
                      </a:rPr>
                      <m:t> </m:t>
                    </m:r>
                    <m:r>
                      <a:rPr lang="en-US" b="1" dirty="0">
                        <a:solidFill>
                          <a:srgbClr val="FF0000"/>
                        </a:solidFill>
                        <a:latin typeface="Cambria Math" panose="02040503050406030204" pitchFamily="18" charset="0"/>
                        <a:ea typeface="Calibri" panose="020F0502020204030204" pitchFamily="34" charset="0"/>
                        <a:cs typeface="Shruti"/>
                      </a:rPr>
                      <m:t>𝐙</m:t>
                    </m:r>
                    <m:r>
                      <a:rPr lang="en-US" b="1" dirty="0">
                        <a:solidFill>
                          <a:srgbClr val="FF0000"/>
                        </a:solidFill>
                        <a:latin typeface="Cambria Math" panose="02040503050406030204" pitchFamily="18" charset="0"/>
                        <a:ea typeface="Calibri" panose="020F0502020204030204" pitchFamily="34" charset="0"/>
                        <a:cs typeface="Shruti"/>
                      </a:rPr>
                      <m:t>=</m:t>
                    </m:r>
                    <m:sSub>
                      <m:sSubPr>
                        <m:ctrlPr>
                          <a:rPr lang="en-IN" b="1" i="1" dirty="0">
                            <a:solidFill>
                              <a:srgbClr val="FF0000"/>
                            </a:solidFill>
                            <a:latin typeface="Cambria Math" panose="02040503050406030204" pitchFamily="18" charset="0"/>
                            <a:ea typeface="Calibri" panose="020F0502020204030204" pitchFamily="34" charset="0"/>
                            <a:cs typeface="Shruti"/>
                          </a:rPr>
                        </m:ctrlPr>
                      </m:sSubPr>
                      <m:e>
                        <m:r>
                          <a:rPr lang="en-US" b="1" dirty="0">
                            <a:solidFill>
                              <a:srgbClr val="FF0000"/>
                            </a:solidFill>
                            <a:latin typeface="Cambria Math" panose="02040503050406030204" pitchFamily="18" charset="0"/>
                            <a:ea typeface="Calibri" panose="020F0502020204030204" pitchFamily="34" charset="0"/>
                            <a:cs typeface="Shruti"/>
                          </a:rPr>
                          <m:t>𝐳</m:t>
                        </m:r>
                      </m:e>
                      <m:sub>
                        <m:r>
                          <a:rPr lang="en-US" b="1" dirty="0">
                            <a:solidFill>
                              <a:srgbClr val="FF0000"/>
                            </a:solidFill>
                            <a:latin typeface="Cambria Math" panose="02040503050406030204" pitchFamily="18" charset="0"/>
                            <a:ea typeface="Calibri" panose="020F0502020204030204" pitchFamily="34" charset="0"/>
                            <a:cs typeface="Shruti"/>
                          </a:rPr>
                          <m:t>𝟏</m:t>
                        </m:r>
                      </m:sub>
                    </m:sSub>
                    <m:r>
                      <a:rPr lang="en-IN" b="1" dirty="0">
                        <a:solidFill>
                          <a:srgbClr val="FF0000"/>
                        </a:solidFill>
                        <a:latin typeface="Cambria Math" panose="02040503050406030204" pitchFamily="18" charset="0"/>
                        <a:ea typeface="Calibri" panose="020F0502020204030204" pitchFamily="34" charset="0"/>
                        <a:cs typeface="Shruti"/>
                      </a:rPr>
                      <m:t>,</m:t>
                    </m:r>
                  </m:oMath>
                </a14:m>
                <a:r>
                  <a:rPr lang="en-IN" dirty="0">
                    <a:latin typeface="Cambria Math" panose="02040503050406030204" pitchFamily="18" charset="0"/>
                  </a:rPr>
                  <a:t> </a:t>
                </a:r>
                <a:r>
                  <a:rPr lang="en-IN" dirty="0"/>
                  <a:t>which</a:t>
                </a:r>
                <a:r>
                  <a:rPr lang="en-IN" dirty="0">
                    <a:latin typeface="Cambria Math" panose="02040503050406030204" pitchFamily="18" charset="0"/>
                  </a:rPr>
                  <a:t> </a:t>
                </a:r>
                <a:r>
                  <a:rPr lang="en-IN" dirty="0"/>
                  <a:t>can be represented as</a:t>
                </a:r>
                <a:r>
                  <a:rPr lang="en-IN" dirty="0">
                    <a:latin typeface="Cambria Math" panose="02040503050406030204" pitchFamily="18" charset="0"/>
                  </a:rPr>
                  <a:t> </a:t>
                </a:r>
                <a14:m>
                  <m:oMath xmlns:m="http://schemas.openxmlformats.org/officeDocument/2006/math">
                    <m:r>
                      <a:rPr lang="en-US" b="1">
                        <a:solidFill>
                          <a:srgbClr val="FF0000"/>
                        </a:solidFill>
                        <a:latin typeface="Cambria Math" panose="02040503050406030204" pitchFamily="18" charset="0"/>
                        <a:ea typeface="Calibri" panose="020F0502020204030204" pitchFamily="34" charset="0"/>
                        <a:cs typeface="Shruti"/>
                      </a:rPr>
                      <m:t>𝐏</m:t>
                    </m:r>
                    <m:d>
                      <m:dPr>
                        <m:ctrlPr>
                          <a:rPr lang="en-IN" b="1" i="1">
                            <a:solidFill>
                              <a:srgbClr val="FF0000"/>
                            </a:solidFill>
                            <a:latin typeface="Cambria Math" panose="02040503050406030204" pitchFamily="18" charset="0"/>
                            <a:ea typeface="Calibri" panose="020F0502020204030204" pitchFamily="34" charset="0"/>
                            <a:cs typeface="Shruti"/>
                          </a:rPr>
                        </m:ctrlPr>
                      </m:dPr>
                      <m:e>
                        <m:r>
                          <a:rPr lang="en-US" b="1">
                            <a:solidFill>
                              <a:srgbClr val="FF0000"/>
                            </a:solidFill>
                            <a:latin typeface="Cambria Math" panose="02040503050406030204" pitchFamily="18" charset="0"/>
                            <a:ea typeface="Calibri" panose="020F0502020204030204" pitchFamily="34" charset="0"/>
                            <a:cs typeface="Shruti"/>
                          </a:rPr>
                          <m:t>𝐙</m:t>
                        </m:r>
                        <m:r>
                          <a:rPr lang="en-US" b="1">
                            <a:solidFill>
                              <a:srgbClr val="FF0000"/>
                            </a:solidFill>
                            <a:latin typeface="Cambria Math" panose="02040503050406030204" pitchFamily="18" charset="0"/>
                            <a:ea typeface="Calibri" panose="020F0502020204030204" pitchFamily="34" charset="0"/>
                            <a:cs typeface="Shruti"/>
                          </a:rPr>
                          <m:t>≤</m:t>
                        </m:r>
                        <m:sSub>
                          <m:sSubPr>
                            <m:ctrlPr>
                              <a:rPr lang="en-IN" b="1" i="1">
                                <a:solidFill>
                                  <a:srgbClr val="FF0000"/>
                                </a:solidFill>
                                <a:latin typeface="Cambria Math" panose="02040503050406030204" pitchFamily="18" charset="0"/>
                                <a:ea typeface="Calibri" panose="020F0502020204030204" pitchFamily="34" charset="0"/>
                                <a:cs typeface="Shruti"/>
                              </a:rPr>
                            </m:ctrlPr>
                          </m:sSubPr>
                          <m:e>
                            <m:r>
                              <a:rPr lang="en-US" b="1">
                                <a:solidFill>
                                  <a:srgbClr val="FF0000"/>
                                </a:solidFill>
                                <a:latin typeface="Cambria Math" panose="02040503050406030204" pitchFamily="18" charset="0"/>
                                <a:ea typeface="Calibri" panose="020F0502020204030204" pitchFamily="34" charset="0"/>
                                <a:cs typeface="Shruti"/>
                              </a:rPr>
                              <m:t>𝐳</m:t>
                            </m:r>
                          </m:e>
                          <m:sub>
                            <m:r>
                              <a:rPr lang="en-US" b="1">
                                <a:solidFill>
                                  <a:srgbClr val="FF0000"/>
                                </a:solidFill>
                                <a:latin typeface="Cambria Math" panose="02040503050406030204" pitchFamily="18" charset="0"/>
                                <a:ea typeface="Calibri" panose="020F0502020204030204" pitchFamily="34" charset="0"/>
                                <a:cs typeface="Shruti"/>
                              </a:rPr>
                              <m:t>𝟏</m:t>
                            </m:r>
                          </m:sub>
                        </m:sSub>
                      </m:e>
                    </m:d>
                  </m:oMath>
                </a14:m>
                <a:endParaRPr lang="en-IN" b="1" dirty="0">
                  <a:solidFill>
                    <a:srgbClr val="FF0000"/>
                  </a:solidFill>
                  <a:latin typeface="Cambria Math" panose="02040503050406030204" pitchFamily="18" charset="0"/>
                  <a:ea typeface="Calibri" panose="020F0502020204030204" pitchFamily="34" charset="0"/>
                  <a:cs typeface="Shruti"/>
                </a:endParaRPr>
              </a:p>
              <a:p>
                <a:pPr lvl="0"/>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1</m:t>
                            </m:r>
                          </m:sub>
                        </m:sSub>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0≤</m:t>
                        </m:r>
                        <m:r>
                          <m:rPr>
                            <m:sty m:val="p"/>
                          </m:rPr>
                          <a:rPr lang="en-US">
                            <a:latin typeface="Cambria Math" panose="02040503050406030204" pitchFamily="18" charset="0"/>
                          </a:rPr>
                          <m:t>Z</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1</m:t>
                            </m:r>
                          </m:sub>
                        </m:sSub>
                      </m:e>
                    </m:d>
                  </m:oMath>
                </a14:m>
                <a:endParaRPr lang="en-IN" dirty="0">
                  <a:latin typeface="Cambria Math" panose="02040503050406030204" pitchFamily="18" charset="0"/>
                </a:endParaRPr>
              </a:p>
              <a:p>
                <a:pPr lvl="0"/>
                <a:r>
                  <a:rPr lang="en-US" dirty="0"/>
                  <a:t>Since,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m:t>
                        </m:r>
                      </m:e>
                    </m:d>
                    <m:r>
                      <a:rPr lang="en-US">
                        <a:latin typeface="Cambria Math" panose="02040503050406030204" pitchFamily="18" charset="0"/>
                      </a:rPr>
                      <m:t>=0.5</m:t>
                    </m:r>
                  </m:oMath>
                </a14:m>
                <a:r>
                  <a:rPr lang="en-US" dirty="0">
                    <a:latin typeface="Cambria Math" panose="02040503050406030204" pitchFamily="18" charset="0"/>
                  </a:rPr>
                  <a:t> </a:t>
                </a:r>
                <a:r>
                  <a:rPr lang="en-US" dirty="0"/>
                  <a:t>and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0≤</m:t>
                        </m:r>
                        <m:r>
                          <m:rPr>
                            <m:sty m:val="p"/>
                          </m:rPr>
                          <a:rPr lang="en-US">
                            <a:latin typeface="Cambria Math" panose="02040503050406030204" pitchFamily="18" charset="0"/>
                          </a:rPr>
                          <m:t>Z</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1</m:t>
                            </m:r>
                          </m:sub>
                        </m:sSub>
                      </m:e>
                    </m:d>
                  </m:oMath>
                </a14:m>
                <a:r>
                  <a:rPr lang="en-US" dirty="0"/>
                  <a:t> can be found by using case – I</a:t>
                </a:r>
                <a:endParaRPr lang="en-IN" dirty="0">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35734"/>
                <a:ext cx="11880710" cy="5590565"/>
              </a:xfrm>
              <a:blipFill rotWithShape="0">
                <a:blip r:embed="rId2"/>
                <a:stretch>
                  <a:fillRect l="-1078" r="-71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 Box 51"/>
              <p:cNvSpPr txBox="1"/>
              <p:nvPr/>
            </p:nvSpPr>
            <p:spPr>
              <a:xfrm>
                <a:off x="2222574" y="5267041"/>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0" name="Text Box 51"/>
              <p:cNvSpPr txBox="1">
                <a:spLocks noRot="1" noChangeAspect="1" noMove="1" noResize="1" noEditPoints="1" noAdjustHandles="1" noChangeArrowheads="1" noChangeShapeType="1" noTextEdit="1"/>
              </p:cNvSpPr>
              <p:nvPr/>
            </p:nvSpPr>
            <p:spPr>
              <a:xfrm>
                <a:off x="2222574" y="5267041"/>
                <a:ext cx="320040" cy="346710"/>
              </a:xfrm>
              <a:prstGeom prst="rect">
                <a:avLst/>
              </a:prstGeom>
              <a:blipFill rotWithShape="0">
                <a:blip r:embed="rId3"/>
                <a:stretch>
                  <a:fillRect b="-12281"/>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 Box 53"/>
              <p:cNvSpPr txBox="1"/>
              <p:nvPr/>
            </p:nvSpPr>
            <p:spPr>
              <a:xfrm>
                <a:off x="3129566" y="5154942"/>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1" name="Text Box 53"/>
              <p:cNvSpPr txBox="1">
                <a:spLocks noRot="1" noChangeAspect="1" noMove="1" noResize="1" noEditPoints="1" noAdjustHandles="1" noChangeArrowheads="1" noChangeShapeType="1" noTextEdit="1"/>
              </p:cNvSpPr>
              <p:nvPr/>
            </p:nvSpPr>
            <p:spPr>
              <a:xfrm>
                <a:off x="3129566" y="5154942"/>
                <a:ext cx="762353" cy="471376"/>
              </a:xfrm>
              <a:prstGeom prst="rect">
                <a:avLst/>
              </a:prstGeom>
              <a:blipFill rotWithShape="0">
                <a:blip r:embed="rId4"/>
                <a:stretch>
                  <a:fillRect/>
                </a:stretch>
              </a:blipFill>
              <a:ln w="6350">
                <a:noFill/>
              </a:ln>
            </p:spPr>
            <p:txBody>
              <a:bodyPr/>
              <a:lstStyle/>
              <a:p>
                <a:r>
                  <a:rPr lang="en-IN">
                    <a:noFill/>
                  </a:rPr>
                  <a:t> </a:t>
                </a:r>
              </a:p>
            </p:txBody>
          </p:sp>
        </mc:Fallback>
      </mc:AlternateContent>
      <p:pic>
        <p:nvPicPr>
          <p:cNvPr id="24" name="Picture 23"/>
          <p:cNvPicPr/>
          <p:nvPr/>
        </p:nvPicPr>
        <p:blipFill rotWithShape="1">
          <a:blip r:embed="rId5">
            <a:extLst>
              <a:ext uri="{28A0092B-C50C-407E-A947-70E740481C1C}">
                <a14:useLocalDpi xmlns:a14="http://schemas.microsoft.com/office/drawing/2010/main" val="0"/>
              </a:ext>
            </a:extLst>
          </a:blip>
          <a:srcRect l="10525" t="36637" r="30313" b="42091"/>
          <a:stretch/>
        </p:blipFill>
        <p:spPr bwMode="auto">
          <a:xfrm>
            <a:off x="450762" y="3057375"/>
            <a:ext cx="11346286" cy="2191251"/>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 name="Rectangle 1"/>
              <p:cNvSpPr/>
              <p:nvPr/>
            </p:nvSpPr>
            <p:spPr>
              <a:xfrm>
                <a:off x="335125" y="5237297"/>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2" name="Rectangle 1"/>
              <p:cNvSpPr>
                <a:spLocks noRot="1" noChangeAspect="1" noMove="1" noResize="1" noEditPoints="1" noAdjustHandles="1" noChangeArrowheads="1" noChangeShapeType="1" noTextEdit="1"/>
              </p:cNvSpPr>
              <p:nvPr/>
            </p:nvSpPr>
            <p:spPr>
              <a:xfrm>
                <a:off x="335125" y="5237297"/>
                <a:ext cx="837089" cy="655949"/>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4166734" y="5075743"/>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25" name="Rectangle 24"/>
              <p:cNvSpPr>
                <a:spLocks noRot="1" noChangeAspect="1" noMove="1" noResize="1" noEditPoints="1" noAdjustHandles="1" noChangeArrowheads="1" noChangeShapeType="1" noTextEdit="1"/>
              </p:cNvSpPr>
              <p:nvPr/>
            </p:nvSpPr>
            <p:spPr>
              <a:xfrm>
                <a:off x="4166734" y="5075743"/>
                <a:ext cx="837089" cy="655949"/>
              </a:xfrm>
              <a:prstGeom prst="rect">
                <a:avLst/>
              </a:prstGeom>
              <a:blipFill rotWithShape="0">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 Box 51"/>
              <p:cNvSpPr txBox="1"/>
              <p:nvPr/>
            </p:nvSpPr>
            <p:spPr>
              <a:xfrm>
                <a:off x="5963885" y="5158928"/>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6" name="Text Box 51"/>
              <p:cNvSpPr txBox="1">
                <a:spLocks noRot="1" noChangeAspect="1" noMove="1" noResize="1" noEditPoints="1" noAdjustHandles="1" noChangeArrowheads="1" noChangeShapeType="1" noTextEdit="1"/>
              </p:cNvSpPr>
              <p:nvPr/>
            </p:nvSpPr>
            <p:spPr>
              <a:xfrm>
                <a:off x="5963885" y="5158928"/>
                <a:ext cx="320040" cy="346710"/>
              </a:xfrm>
              <a:prstGeom prst="rect">
                <a:avLst/>
              </a:prstGeom>
              <a:blipFill rotWithShape="0">
                <a:blip r:embed="rId8"/>
                <a:stretch>
                  <a:fillRect b="-14035"/>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 Box 51"/>
              <p:cNvSpPr txBox="1"/>
              <p:nvPr/>
            </p:nvSpPr>
            <p:spPr>
              <a:xfrm>
                <a:off x="9754568" y="5154942"/>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7" name="Text Box 51"/>
              <p:cNvSpPr txBox="1">
                <a:spLocks noRot="1" noChangeAspect="1" noMove="1" noResize="1" noEditPoints="1" noAdjustHandles="1" noChangeArrowheads="1" noChangeShapeType="1" noTextEdit="1"/>
              </p:cNvSpPr>
              <p:nvPr/>
            </p:nvSpPr>
            <p:spPr>
              <a:xfrm>
                <a:off x="9754568" y="5154942"/>
                <a:ext cx="320040" cy="346710"/>
              </a:xfrm>
              <a:prstGeom prst="rect">
                <a:avLst/>
              </a:prstGeom>
              <a:blipFill rotWithShape="0">
                <a:blip r:embed="rId9"/>
                <a:stretch>
                  <a:fillRect b="-12281"/>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 Box 53"/>
              <p:cNvSpPr txBox="1"/>
              <p:nvPr/>
            </p:nvSpPr>
            <p:spPr>
              <a:xfrm>
                <a:off x="10532771" y="5092609"/>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8" name="Text Box 53"/>
              <p:cNvSpPr txBox="1">
                <a:spLocks noRot="1" noChangeAspect="1" noMove="1" noResize="1" noEditPoints="1" noAdjustHandles="1" noChangeArrowheads="1" noChangeShapeType="1" noTextEdit="1"/>
              </p:cNvSpPr>
              <p:nvPr/>
            </p:nvSpPr>
            <p:spPr>
              <a:xfrm>
                <a:off x="10532771" y="5092609"/>
                <a:ext cx="762353" cy="471376"/>
              </a:xfrm>
              <a:prstGeom prst="rect">
                <a:avLst/>
              </a:prstGeom>
              <a:blipFill rotWithShape="0">
                <a:blip r:embed="rId10"/>
                <a:stretch>
                  <a:fillRect/>
                </a:stretch>
              </a:blipFill>
              <a:ln w="6350">
                <a:noFill/>
              </a:ln>
            </p:spPr>
            <p:txBody>
              <a:bodyPr/>
              <a:lstStyle/>
              <a:p>
                <a:r>
                  <a:rPr lang="en-IN">
                    <a:noFill/>
                  </a:rPr>
                  <a:t> </a:t>
                </a:r>
              </a:p>
            </p:txBody>
          </p:sp>
        </mc:Fallback>
      </mc:AlternateContent>
    </p:spTree>
    <p:extLst>
      <p:ext uri="{BB962C8B-B14F-4D97-AF65-F5344CB8AC3E}">
        <p14:creationId xmlns:p14="http://schemas.microsoft.com/office/powerpoint/2010/main" val="397544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up)">
                                      <p:cBhvr>
                                        <p:cTn id="13" dur="500"/>
                                        <p:tgtEl>
                                          <p:spTgt spid="2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up)">
                                      <p:cBhvr>
                                        <p:cTn id="16" dur="500"/>
                                        <p:tgtEl>
                                          <p:spTgt spid="21"/>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up)">
                                      <p:cBhvr>
                                        <p:cTn id="19" dur="500"/>
                                        <p:tgtEl>
                                          <p:spTgt spid="25"/>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up)">
                                      <p:cBhvr>
                                        <p:cTn id="22" dur="500"/>
                                        <p:tgtEl>
                                          <p:spTgt spid="2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wipe(up)">
                                      <p:cBhvr>
                                        <p:cTn id="25" dur="500"/>
                                        <p:tgtEl>
                                          <p:spTgt spid="27"/>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up)">
                                      <p:cBhvr>
                                        <p:cTn id="28" dur="500"/>
                                        <p:tgtEl>
                                          <p:spTgt spid="2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0" grpId="0" animBg="1"/>
      <p:bldP spid="21" grpId="0" animBg="1"/>
      <p:bldP spid="2" grpId="0"/>
      <p:bldP spid="25" grpId="0"/>
      <p:bldP spid="26" grpId="0" animBg="1"/>
      <p:bldP spid="27" grpId="0" animBg="1"/>
      <p:bldP spid="28"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35734"/>
                <a:ext cx="11880710" cy="5590565"/>
              </a:xfrm>
            </p:spPr>
            <p:txBody>
              <a:bodyPr/>
              <a:lstStyle/>
              <a:p>
                <a:pPr marL="0" lvl="0" indent="0">
                  <a:buNone/>
                </a:pPr>
                <a:r>
                  <a:rPr lang="en-US" dirty="0">
                    <a:solidFill>
                      <a:schemeClr val="accent5">
                        <a:lumMod val="50000"/>
                      </a:schemeClr>
                    </a:solidFill>
                  </a:rPr>
                  <a:t>Note:</a:t>
                </a:r>
                <a:r>
                  <a:rPr lang="en-US" dirty="0"/>
                  <a:t> </a:t>
                </a:r>
                <a:endParaRPr lang="en-IN" dirty="0"/>
              </a:p>
              <a:p>
                <a:pPr lvl="0"/>
                <a:r>
                  <a:rPr lang="en-US" dirty="0"/>
                  <a:t>Area between </a:t>
                </a:r>
                <a14:m>
                  <m:oMath xmlns:m="http://schemas.openxmlformats.org/officeDocument/2006/math">
                    <m:r>
                      <a:rPr lang="en-US" b="1" i="0" dirty="0" smtClean="0">
                        <a:solidFill>
                          <a:srgbClr val="FF0000"/>
                        </a:solidFill>
                        <a:latin typeface="Cambria Math" panose="02040503050406030204" pitchFamily="18" charset="0"/>
                      </a:rPr>
                      <m:t>𝐙</m:t>
                    </m:r>
                    <m:r>
                      <a:rPr lang="en-US" b="1" i="0" dirty="0" smtClean="0">
                        <a:solidFill>
                          <a:srgbClr val="FF0000"/>
                        </a:solidFill>
                        <a:latin typeface="Cambria Math" panose="02040503050406030204" pitchFamily="18" charset="0"/>
                      </a:rPr>
                      <m:t>=−</m:t>
                    </m:r>
                    <m:sSub>
                      <m:sSubPr>
                        <m:ctrlPr>
                          <a:rPr lang="en-IN" b="1" i="1" dirty="0">
                            <a:solidFill>
                              <a:srgbClr val="FF0000"/>
                            </a:solidFill>
                            <a:latin typeface="Cambria Math" panose="02040503050406030204" pitchFamily="18" charset="0"/>
                          </a:rPr>
                        </m:ctrlPr>
                      </m:sSubPr>
                      <m:e>
                        <m:r>
                          <a:rPr lang="en-US" b="1" i="0" dirty="0" smtClean="0">
                            <a:solidFill>
                              <a:srgbClr val="FF0000"/>
                            </a:solidFill>
                            <a:latin typeface="Cambria Math" panose="02040503050406030204" pitchFamily="18" charset="0"/>
                          </a:rPr>
                          <m:t>𝐳</m:t>
                        </m:r>
                      </m:e>
                      <m:sub>
                        <m:r>
                          <a:rPr lang="en-US" b="1" i="0" dirty="0">
                            <a:solidFill>
                              <a:srgbClr val="FF0000"/>
                            </a:solidFill>
                            <a:latin typeface="Cambria Math" panose="02040503050406030204" pitchFamily="18" charset="0"/>
                          </a:rPr>
                          <m:t>𝟏</m:t>
                        </m:r>
                      </m:sub>
                    </m:sSub>
                    <m:r>
                      <a:rPr lang="en-US" b="1" i="0" dirty="0">
                        <a:solidFill>
                          <a:srgbClr val="FF0000"/>
                        </a:solidFill>
                        <a:latin typeface="Cambria Math" panose="02040503050406030204" pitchFamily="18" charset="0"/>
                      </a:rPr>
                      <m:t> </m:t>
                    </m:r>
                    <m:r>
                      <a:rPr lang="en-US" b="1" i="0" dirty="0">
                        <a:solidFill>
                          <a:srgbClr val="FF0000"/>
                        </a:solidFill>
                        <a:latin typeface="Cambria Math" panose="02040503050406030204" pitchFamily="18" charset="0"/>
                      </a:rPr>
                      <m:t>𝐭𝐨</m:t>
                    </m:r>
                    <m:r>
                      <a:rPr lang="en-US" b="1" i="0" dirty="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𝐙</m:t>
                    </m:r>
                    <m:r>
                      <a:rPr lang="en-US" b="1" i="0" dirty="0" smtClean="0">
                        <a:solidFill>
                          <a:srgbClr val="FF0000"/>
                        </a:solidFill>
                        <a:latin typeface="Cambria Math" panose="02040503050406030204" pitchFamily="18" charset="0"/>
                      </a:rPr>
                      <m:t>=∞</m:t>
                    </m:r>
                  </m:oMath>
                </a14:m>
                <a:r>
                  <a:rPr lang="en-IN" i="0" dirty="0">
                    <a:latin typeface="Cambria Math" panose="02040503050406030204" pitchFamily="18" charset="0"/>
                  </a:rPr>
                  <a:t> </a:t>
                </a:r>
                <a:r>
                  <a:rPr lang="en-US" dirty="0"/>
                  <a:t>which can be represented as </a:t>
                </a:r>
                <a14:m>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e>
                    </m:d>
                  </m:oMath>
                </a14:m>
                <a:endParaRPr lang="en-US" b="1" dirty="0"/>
              </a:p>
              <a:p>
                <a:pPr lvl="0"/>
                <a14:m>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e>
                    </m:d>
                  </m:oMath>
                </a14:m>
                <a:r>
                  <a:rPr lang="en-US" dirty="0"/>
                  <a:t> as normal distribution is </a:t>
                </a:r>
                <a:r>
                  <a:rPr lang="en-US" dirty="0">
                    <a:solidFill>
                      <a:srgbClr val="FF0000"/>
                    </a:solidFill>
                  </a:rPr>
                  <a:t>symmetric</a:t>
                </a:r>
                <a:r>
                  <a:rPr lang="en-US" dirty="0"/>
                  <a:t> about x – axis.</a:t>
                </a:r>
                <a:endParaRPr lang="en-IN" dirty="0"/>
              </a:p>
              <a:p>
                <a:pPr marL="0" indent="0">
                  <a:buNone/>
                </a:pPr>
                <a:r>
                  <a:rPr lang="en-US" dirty="0"/>
                  <a:t>That is,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m:t>
                        </m:r>
                        <m:r>
                          <a:rPr lang="en-US" i="1">
                            <a:latin typeface="Cambria Math" panose="02040503050406030204" pitchFamily="18" charset="0"/>
                          </a:rPr>
                          <m:t>−</m:t>
                        </m:r>
                        <m:r>
                          <a:rPr lang="en-US">
                            <a:latin typeface="Cambria Math" panose="02040503050406030204" pitchFamily="18" charset="0"/>
                          </a:rPr>
                          <m:t>1.43</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≤1.43</m:t>
                        </m:r>
                      </m:e>
                    </m:d>
                    <m:r>
                      <a:rPr lang="en-US">
                        <a:latin typeface="Cambria Math" panose="02040503050406030204" pitchFamily="18" charset="0"/>
                      </a:rPr>
                      <m:t>=0.9236</m:t>
                    </m:r>
                  </m:oMath>
                </a14:m>
                <a:endParaRPr lang="en-IN" dirty="0">
                  <a:latin typeface="Cambria Math" panose="02040503050406030204" pitchFamily="18" charset="0"/>
                </a:endParaRPr>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35734"/>
                <a:ext cx="11880710" cy="5590565"/>
              </a:xfrm>
              <a:blipFill rotWithShape="0">
                <a:blip r:embed="rId2"/>
                <a:stretch>
                  <a:fillRect l="-10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 Box 51"/>
              <p:cNvSpPr txBox="1"/>
              <p:nvPr/>
            </p:nvSpPr>
            <p:spPr>
              <a:xfrm>
                <a:off x="2437417" y="5532419"/>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0" name="Text Box 51"/>
              <p:cNvSpPr txBox="1">
                <a:spLocks noRot="1" noChangeAspect="1" noMove="1" noResize="1" noEditPoints="1" noAdjustHandles="1" noChangeArrowheads="1" noChangeShapeType="1" noTextEdit="1"/>
              </p:cNvSpPr>
              <p:nvPr/>
            </p:nvSpPr>
            <p:spPr>
              <a:xfrm>
                <a:off x="2437417" y="5532419"/>
                <a:ext cx="320040" cy="346710"/>
              </a:xfrm>
              <a:prstGeom prst="rect">
                <a:avLst/>
              </a:prstGeom>
              <a:blipFill rotWithShape="0">
                <a:blip r:embed="rId3"/>
                <a:stretch>
                  <a:fillRect b="-14286"/>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 Box 53"/>
              <p:cNvSpPr txBox="1"/>
              <p:nvPr/>
            </p:nvSpPr>
            <p:spPr>
              <a:xfrm>
                <a:off x="3344409" y="5478667"/>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1" name="Text Box 53"/>
              <p:cNvSpPr txBox="1">
                <a:spLocks noRot="1" noChangeAspect="1" noMove="1" noResize="1" noEditPoints="1" noAdjustHandles="1" noChangeArrowheads="1" noChangeShapeType="1" noTextEdit="1"/>
              </p:cNvSpPr>
              <p:nvPr/>
            </p:nvSpPr>
            <p:spPr>
              <a:xfrm>
                <a:off x="3344409" y="5478667"/>
                <a:ext cx="762353" cy="471376"/>
              </a:xfrm>
              <a:prstGeom prst="rect">
                <a:avLst/>
              </a:prstGeom>
              <a:blipFill rotWithShape="0">
                <a:blip r:embed="rId4"/>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549968" y="5502675"/>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2" name="Rectangle 1"/>
              <p:cNvSpPr>
                <a:spLocks noRot="1" noChangeAspect="1" noMove="1" noResize="1" noEditPoints="1" noAdjustHandles="1" noChangeArrowheads="1" noChangeShapeType="1" noTextEdit="1"/>
              </p:cNvSpPr>
              <p:nvPr/>
            </p:nvSpPr>
            <p:spPr>
              <a:xfrm>
                <a:off x="549968" y="5502675"/>
                <a:ext cx="837089" cy="655949"/>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4381577" y="5449234"/>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25" name="Rectangle 24"/>
              <p:cNvSpPr>
                <a:spLocks noRot="1" noChangeAspect="1" noMove="1" noResize="1" noEditPoints="1" noAdjustHandles="1" noChangeArrowheads="1" noChangeShapeType="1" noTextEdit="1"/>
              </p:cNvSpPr>
              <p:nvPr/>
            </p:nvSpPr>
            <p:spPr>
              <a:xfrm>
                <a:off x="4381577" y="5449234"/>
                <a:ext cx="837089" cy="655949"/>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 Box 51"/>
              <p:cNvSpPr txBox="1"/>
              <p:nvPr/>
            </p:nvSpPr>
            <p:spPr>
              <a:xfrm>
                <a:off x="6178728" y="5532419"/>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6" name="Text Box 51"/>
              <p:cNvSpPr txBox="1">
                <a:spLocks noRot="1" noChangeAspect="1" noMove="1" noResize="1" noEditPoints="1" noAdjustHandles="1" noChangeArrowheads="1" noChangeShapeType="1" noTextEdit="1"/>
              </p:cNvSpPr>
              <p:nvPr/>
            </p:nvSpPr>
            <p:spPr>
              <a:xfrm>
                <a:off x="6178728" y="5532419"/>
                <a:ext cx="320040" cy="346710"/>
              </a:xfrm>
              <a:prstGeom prst="rect">
                <a:avLst/>
              </a:prstGeom>
              <a:blipFill rotWithShape="0">
                <a:blip r:embed="rId7"/>
                <a:stretch>
                  <a:fillRect b="-14286"/>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 Box 51"/>
              <p:cNvSpPr txBox="1"/>
              <p:nvPr/>
            </p:nvSpPr>
            <p:spPr>
              <a:xfrm>
                <a:off x="9876645" y="5528433"/>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7" name="Text Box 51"/>
              <p:cNvSpPr txBox="1">
                <a:spLocks noRot="1" noChangeAspect="1" noMove="1" noResize="1" noEditPoints="1" noAdjustHandles="1" noChangeArrowheads="1" noChangeShapeType="1" noTextEdit="1"/>
              </p:cNvSpPr>
              <p:nvPr/>
            </p:nvSpPr>
            <p:spPr>
              <a:xfrm>
                <a:off x="9876645" y="5528433"/>
                <a:ext cx="320040" cy="346710"/>
              </a:xfrm>
              <a:prstGeom prst="rect">
                <a:avLst/>
              </a:prstGeom>
              <a:blipFill rotWithShape="0">
                <a:blip r:embed="rId8"/>
                <a:stretch>
                  <a:fillRect b="-12281"/>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 Box 53"/>
              <p:cNvSpPr txBox="1"/>
              <p:nvPr/>
            </p:nvSpPr>
            <p:spPr>
              <a:xfrm>
                <a:off x="10654848" y="5466100"/>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8" name="Text Box 53"/>
              <p:cNvSpPr txBox="1">
                <a:spLocks noRot="1" noChangeAspect="1" noMove="1" noResize="1" noEditPoints="1" noAdjustHandles="1" noChangeArrowheads="1" noChangeShapeType="1" noTextEdit="1"/>
              </p:cNvSpPr>
              <p:nvPr/>
            </p:nvSpPr>
            <p:spPr>
              <a:xfrm>
                <a:off x="10654848" y="5466100"/>
                <a:ext cx="762353" cy="471376"/>
              </a:xfrm>
              <a:prstGeom prst="rect">
                <a:avLst/>
              </a:prstGeom>
              <a:blipFill rotWithShape="0">
                <a:blip r:embed="rId9"/>
                <a:stretch>
                  <a:fillRect/>
                </a:stretch>
              </a:blipFill>
              <a:ln w="6350">
                <a:noFill/>
              </a:ln>
            </p:spPr>
            <p:txBody>
              <a:bodyPr/>
              <a:lstStyle/>
              <a:p>
                <a:r>
                  <a:rPr lang="en-IN">
                    <a:noFill/>
                  </a:rPr>
                  <a:t> </a:t>
                </a:r>
              </a:p>
            </p:txBody>
          </p:sp>
        </mc:Fallback>
      </mc:AlternateContent>
      <p:pic>
        <p:nvPicPr>
          <p:cNvPr id="11" name="Picture 10"/>
          <p:cNvPicPr/>
          <p:nvPr/>
        </p:nvPicPr>
        <p:blipFill rotWithShape="1">
          <a:blip r:embed="rId10">
            <a:extLst>
              <a:ext uri="{28A0092B-C50C-407E-A947-70E740481C1C}">
                <a14:useLocalDpi xmlns:a14="http://schemas.microsoft.com/office/drawing/2010/main" val="0"/>
              </a:ext>
            </a:extLst>
          </a:blip>
          <a:srcRect l="10525" t="36637" r="30313" b="42091"/>
          <a:stretch/>
        </p:blipFill>
        <p:spPr bwMode="auto">
          <a:xfrm>
            <a:off x="665605" y="3438664"/>
            <a:ext cx="11346286" cy="219125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6838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up)">
                                      <p:cBhvr>
                                        <p:cTn id="17" dur="500"/>
                                        <p:tgtEl>
                                          <p:spTgt spid="20"/>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up)">
                                      <p:cBhvr>
                                        <p:cTn id="20" dur="500"/>
                                        <p:tgtEl>
                                          <p:spTgt spid="21"/>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500"/>
                                        <p:tgtEl>
                                          <p:spTgt spid="25"/>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500"/>
                                        <p:tgtEl>
                                          <p:spTgt spid="2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up)">
                                      <p:cBhvr>
                                        <p:cTn id="29" dur="500"/>
                                        <p:tgtEl>
                                          <p:spTgt spid="27"/>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up)">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0" grpId="0" animBg="1"/>
      <p:bldP spid="21" grpId="0" animBg="1"/>
      <p:bldP spid="2" grpId="0"/>
      <p:bldP spid="25" grpId="0"/>
      <p:bldP spid="26" grpId="0" animBg="1"/>
      <p:bldP spid="27" grpId="0" animBg="1"/>
      <p:bldP spid="28"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35734"/>
                <a:ext cx="11880710" cy="5590565"/>
              </a:xfrm>
            </p:spPr>
            <p:txBody>
              <a:bodyPr/>
              <a:lstStyle/>
              <a:p>
                <a:pPr marL="0" lvl="0" indent="0">
                  <a:buNone/>
                </a:pPr>
                <a:r>
                  <a:rPr lang="en-US" dirty="0">
                    <a:ea typeface="Calibri" panose="020F0502020204030204" pitchFamily="34" charset="0"/>
                    <a:cs typeface="Shruti"/>
                  </a:rPr>
                  <a:t>(3) Area between</a:t>
                </a:r>
                <a:r>
                  <a:rPr lang="en-US" dirty="0">
                    <a:latin typeface="Calibri" panose="020F0502020204030204" pitchFamily="34" charset="0"/>
                    <a:ea typeface="Calibri" panose="020F0502020204030204" pitchFamily="34" charset="0"/>
                    <a:cs typeface="Shruti"/>
                  </a:rPr>
                  <a:t> </a:t>
                </a:r>
                <a14:m>
                  <m:oMath xmlns:m="http://schemas.openxmlformats.org/officeDocument/2006/math">
                    <m:r>
                      <a:rPr lang="en-US" b="1" dirty="0">
                        <a:solidFill>
                          <a:srgbClr val="FF0000"/>
                        </a:solidFill>
                        <a:latin typeface="Cambria Math" panose="02040503050406030204" pitchFamily="18" charset="0"/>
                        <a:ea typeface="Calibri" panose="020F0502020204030204" pitchFamily="34" charset="0"/>
                        <a:cs typeface="Shruti"/>
                      </a:rPr>
                      <m:t>𝐙</m:t>
                    </m:r>
                    <m:r>
                      <a:rPr lang="en-US" b="1" dirty="0">
                        <a:solidFill>
                          <a:srgbClr val="FF0000"/>
                        </a:solidFill>
                        <a:latin typeface="Cambria Math" panose="02040503050406030204" pitchFamily="18" charset="0"/>
                        <a:ea typeface="Calibri" panose="020F0502020204030204" pitchFamily="34" charset="0"/>
                        <a:cs typeface="Shruti"/>
                      </a:rPr>
                      <m:t>=−∞ </m:t>
                    </m:r>
                    <m:r>
                      <a:rPr lang="en-US" b="1" dirty="0">
                        <a:solidFill>
                          <a:srgbClr val="FF0000"/>
                        </a:solidFill>
                        <a:latin typeface="Cambria Math" panose="02040503050406030204" pitchFamily="18" charset="0"/>
                        <a:ea typeface="Calibri" panose="020F0502020204030204" pitchFamily="34" charset="0"/>
                        <a:cs typeface="Shruti"/>
                      </a:rPr>
                      <m:t>𝐭𝐨</m:t>
                    </m:r>
                    <m:r>
                      <a:rPr lang="en-US" b="1" dirty="0">
                        <a:solidFill>
                          <a:srgbClr val="FF0000"/>
                        </a:solidFill>
                        <a:latin typeface="Cambria Math" panose="02040503050406030204" pitchFamily="18" charset="0"/>
                        <a:ea typeface="Calibri" panose="020F0502020204030204" pitchFamily="34" charset="0"/>
                        <a:cs typeface="Shruti"/>
                      </a:rPr>
                      <m:t> </m:t>
                    </m:r>
                    <m:r>
                      <a:rPr lang="en-US" b="1" dirty="0">
                        <a:solidFill>
                          <a:srgbClr val="FF0000"/>
                        </a:solidFill>
                        <a:latin typeface="Cambria Math" panose="02040503050406030204" pitchFamily="18" charset="0"/>
                        <a:ea typeface="Calibri" panose="020F0502020204030204" pitchFamily="34" charset="0"/>
                        <a:cs typeface="Shruti"/>
                      </a:rPr>
                      <m:t>𝐙</m:t>
                    </m:r>
                    <m:r>
                      <a:rPr lang="en-US" b="1" dirty="0">
                        <a:solidFill>
                          <a:srgbClr val="FF0000"/>
                        </a:solidFill>
                        <a:latin typeface="Cambria Math" panose="02040503050406030204" pitchFamily="18" charset="0"/>
                        <a:ea typeface="Calibri" panose="020F0502020204030204" pitchFamily="34" charset="0"/>
                        <a:cs typeface="Shruti"/>
                      </a:rPr>
                      <m:t>=</m:t>
                    </m:r>
                    <m:sSub>
                      <m:sSubPr>
                        <m:ctrlPr>
                          <a:rPr lang="en-IN" b="1" i="1" dirty="0">
                            <a:solidFill>
                              <a:srgbClr val="FF0000"/>
                            </a:solidFill>
                            <a:latin typeface="Cambria Math" panose="02040503050406030204" pitchFamily="18" charset="0"/>
                            <a:ea typeface="Calibri" panose="020F0502020204030204" pitchFamily="34" charset="0"/>
                            <a:cs typeface="Shruti"/>
                          </a:rPr>
                        </m:ctrlPr>
                      </m:sSubPr>
                      <m:e>
                        <m:r>
                          <a:rPr lang="en-IN" b="1" i="1" dirty="0" smtClean="0">
                            <a:solidFill>
                              <a:srgbClr val="FF0000"/>
                            </a:solidFill>
                            <a:latin typeface="Cambria Math" panose="02040503050406030204" pitchFamily="18" charset="0"/>
                            <a:ea typeface="Calibri" panose="020F0502020204030204" pitchFamily="34" charset="0"/>
                            <a:cs typeface="Shruti"/>
                          </a:rPr>
                          <m:t>−</m:t>
                        </m:r>
                        <m:r>
                          <a:rPr lang="en-US" b="1" dirty="0">
                            <a:solidFill>
                              <a:srgbClr val="FF0000"/>
                            </a:solidFill>
                            <a:latin typeface="Cambria Math" panose="02040503050406030204" pitchFamily="18" charset="0"/>
                            <a:ea typeface="Calibri" panose="020F0502020204030204" pitchFamily="34" charset="0"/>
                            <a:cs typeface="Shruti"/>
                          </a:rPr>
                          <m:t>𝐳</m:t>
                        </m:r>
                      </m:e>
                      <m:sub>
                        <m:r>
                          <a:rPr lang="en-US" b="1" dirty="0">
                            <a:solidFill>
                              <a:srgbClr val="FF0000"/>
                            </a:solidFill>
                            <a:latin typeface="Cambria Math" panose="02040503050406030204" pitchFamily="18" charset="0"/>
                            <a:ea typeface="Calibri" panose="020F0502020204030204" pitchFamily="34" charset="0"/>
                            <a:cs typeface="Shruti"/>
                          </a:rPr>
                          <m:t>𝟏</m:t>
                        </m:r>
                      </m:sub>
                    </m:sSub>
                    <m:r>
                      <a:rPr lang="en-IN" b="1" dirty="0">
                        <a:solidFill>
                          <a:srgbClr val="FF0000"/>
                        </a:solidFill>
                        <a:latin typeface="Cambria Math" panose="02040503050406030204" pitchFamily="18" charset="0"/>
                        <a:ea typeface="Calibri" panose="020F0502020204030204" pitchFamily="34" charset="0"/>
                        <a:cs typeface="Shruti"/>
                      </a:rPr>
                      <m:t>,</m:t>
                    </m:r>
                  </m:oMath>
                </a14:m>
                <a:r>
                  <a:rPr lang="en-IN" dirty="0">
                    <a:latin typeface="Cambria Math" panose="02040503050406030204" pitchFamily="18" charset="0"/>
                  </a:rPr>
                  <a:t> </a:t>
                </a:r>
                <a:r>
                  <a:rPr lang="en-IN" dirty="0"/>
                  <a:t>which</a:t>
                </a:r>
                <a:r>
                  <a:rPr lang="en-IN" dirty="0">
                    <a:latin typeface="Cambria Math" panose="02040503050406030204" pitchFamily="18" charset="0"/>
                  </a:rPr>
                  <a:t> </a:t>
                </a:r>
                <a:r>
                  <a:rPr lang="en-IN" dirty="0"/>
                  <a:t>can be represented as</a:t>
                </a:r>
                <a:r>
                  <a:rPr lang="en-IN" dirty="0">
                    <a:latin typeface="Cambria Math" panose="02040503050406030204" pitchFamily="18" charset="0"/>
                  </a:rPr>
                  <a:t> </a:t>
                </a:r>
                <a14:m>
                  <m:oMath xmlns:m="http://schemas.openxmlformats.org/officeDocument/2006/math">
                    <m:r>
                      <a:rPr lang="en-US" b="1">
                        <a:solidFill>
                          <a:srgbClr val="FF0000"/>
                        </a:solidFill>
                        <a:latin typeface="Cambria Math" panose="02040503050406030204" pitchFamily="18" charset="0"/>
                        <a:ea typeface="Calibri" panose="020F0502020204030204" pitchFamily="34" charset="0"/>
                        <a:cs typeface="Shruti"/>
                      </a:rPr>
                      <m:t>𝐏</m:t>
                    </m:r>
                    <m:d>
                      <m:dPr>
                        <m:ctrlPr>
                          <a:rPr lang="en-IN" b="1" i="1">
                            <a:solidFill>
                              <a:srgbClr val="FF0000"/>
                            </a:solidFill>
                            <a:latin typeface="Cambria Math" panose="02040503050406030204" pitchFamily="18" charset="0"/>
                            <a:ea typeface="Calibri" panose="020F0502020204030204" pitchFamily="34" charset="0"/>
                            <a:cs typeface="Shruti"/>
                          </a:rPr>
                        </m:ctrlPr>
                      </m:dPr>
                      <m:e>
                        <m:r>
                          <a:rPr lang="en-US" b="1">
                            <a:solidFill>
                              <a:srgbClr val="FF0000"/>
                            </a:solidFill>
                            <a:latin typeface="Cambria Math" panose="02040503050406030204" pitchFamily="18" charset="0"/>
                            <a:ea typeface="Calibri" panose="020F0502020204030204" pitchFamily="34" charset="0"/>
                            <a:cs typeface="Shruti"/>
                          </a:rPr>
                          <m:t>𝐙</m:t>
                        </m:r>
                        <m:r>
                          <a:rPr lang="en-US" b="1">
                            <a:solidFill>
                              <a:srgbClr val="FF0000"/>
                            </a:solidFill>
                            <a:latin typeface="Cambria Math" panose="02040503050406030204" pitchFamily="18" charset="0"/>
                            <a:ea typeface="Calibri" panose="020F0502020204030204" pitchFamily="34" charset="0"/>
                            <a:cs typeface="Shruti"/>
                          </a:rPr>
                          <m:t>≤</m:t>
                        </m:r>
                        <m:sSub>
                          <m:sSubPr>
                            <m:ctrlPr>
                              <a:rPr lang="en-IN" b="1" i="1">
                                <a:solidFill>
                                  <a:srgbClr val="FF0000"/>
                                </a:solidFill>
                                <a:latin typeface="Cambria Math" panose="02040503050406030204" pitchFamily="18" charset="0"/>
                                <a:ea typeface="Calibri" panose="020F0502020204030204" pitchFamily="34" charset="0"/>
                                <a:cs typeface="Shruti"/>
                              </a:rPr>
                            </m:ctrlPr>
                          </m:sSubPr>
                          <m:e>
                            <m:r>
                              <a:rPr lang="en-IN" b="1" i="1" smtClean="0">
                                <a:solidFill>
                                  <a:srgbClr val="FF0000"/>
                                </a:solidFill>
                                <a:latin typeface="Cambria Math" panose="02040503050406030204" pitchFamily="18" charset="0"/>
                                <a:ea typeface="Calibri" panose="020F0502020204030204" pitchFamily="34" charset="0"/>
                                <a:cs typeface="Shruti"/>
                              </a:rPr>
                              <m:t>−</m:t>
                            </m:r>
                            <m:r>
                              <a:rPr lang="en-US" b="1">
                                <a:solidFill>
                                  <a:srgbClr val="FF0000"/>
                                </a:solidFill>
                                <a:latin typeface="Cambria Math" panose="02040503050406030204" pitchFamily="18" charset="0"/>
                                <a:ea typeface="Calibri" panose="020F0502020204030204" pitchFamily="34" charset="0"/>
                                <a:cs typeface="Shruti"/>
                              </a:rPr>
                              <m:t>𝐳</m:t>
                            </m:r>
                          </m:e>
                          <m:sub>
                            <m:r>
                              <a:rPr lang="en-US" b="1">
                                <a:solidFill>
                                  <a:srgbClr val="FF0000"/>
                                </a:solidFill>
                                <a:latin typeface="Cambria Math" panose="02040503050406030204" pitchFamily="18" charset="0"/>
                                <a:ea typeface="Calibri" panose="020F0502020204030204" pitchFamily="34" charset="0"/>
                                <a:cs typeface="Shruti"/>
                              </a:rPr>
                              <m:t>𝟏</m:t>
                            </m:r>
                          </m:sub>
                        </m:sSub>
                      </m:e>
                    </m:d>
                  </m:oMath>
                </a14:m>
                <a:endParaRPr lang="en-IN" b="1" dirty="0">
                  <a:solidFill>
                    <a:srgbClr val="FF0000"/>
                  </a:solidFill>
                  <a:latin typeface="Cambria Math" panose="02040503050406030204" pitchFamily="18" charset="0"/>
                  <a:ea typeface="Calibri" panose="020F0502020204030204" pitchFamily="34" charset="0"/>
                  <a:cs typeface="Shruti"/>
                </a:endParaRPr>
              </a:p>
              <a:p>
                <a:pPr lvl="0"/>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1</m:t>
                            </m:r>
                          </m:sub>
                        </m:sSub>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m:t>
                        </m:r>
                      </m:e>
                    </m:d>
                    <m:r>
                      <a:rPr lang="en-IN" b="0" i="0" smtClean="0">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0" i="1" smtClean="0">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1</m:t>
                            </m:r>
                          </m:sub>
                        </m:sSub>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m:t>
                        </m:r>
                      </m:e>
                    </m:d>
                  </m:oMath>
                </a14:m>
                <a:endParaRPr lang="en-IN" dirty="0">
                  <a:latin typeface="Cambria Math" panose="02040503050406030204" pitchFamily="18" charset="0"/>
                </a:endParaRPr>
              </a:p>
              <a:p>
                <a:pPr lvl="0"/>
                <a:r>
                  <a:rPr lang="en-US" dirty="0"/>
                  <a:t>Since,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m:t>
                        </m:r>
                      </m:e>
                    </m:d>
                    <m:r>
                      <a:rPr lang="en-US">
                        <a:latin typeface="Cambria Math" panose="02040503050406030204" pitchFamily="18" charset="0"/>
                      </a:rPr>
                      <m:t>=0.5</m:t>
                    </m:r>
                  </m:oMath>
                </a14:m>
                <a:r>
                  <a:rPr lang="en-US" dirty="0">
                    <a:latin typeface="Cambria Math" panose="02040503050406030204" pitchFamily="18" charset="0"/>
                  </a:rPr>
                  <a:t> </a:t>
                </a:r>
                <a:r>
                  <a:rPr lang="en-US" dirty="0"/>
                  <a:t>&amp;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0" i="1" smtClean="0">
                            <a:latin typeface="Cambria Math" panose="02040503050406030204" pitchFamily="18" charset="0"/>
                          </a:rPr>
                          <m:t>−</m:t>
                        </m:r>
                        <m:sSub>
                          <m:sSubPr>
                            <m:ctrlPr>
                              <a:rPr lang="en-IN" i="1">
                                <a:latin typeface="Cambria Math" panose="02040503050406030204" pitchFamily="18" charset="0"/>
                              </a:rPr>
                            </m:ctrlPr>
                          </m:sSubPr>
                          <m:e>
                            <m:r>
                              <m:rPr>
                                <m:sty m:val="p"/>
                              </m:rPr>
                              <a:rPr lang="en-US">
                                <a:latin typeface="Cambria Math" panose="02040503050406030204" pitchFamily="18" charset="0"/>
                              </a:rPr>
                              <m:t>z</m:t>
                            </m:r>
                          </m:e>
                          <m:sub>
                            <m:r>
                              <a:rPr lang="en-US">
                                <a:latin typeface="Cambria Math" panose="02040503050406030204" pitchFamily="18" charset="0"/>
                              </a:rPr>
                              <m:t>1</m:t>
                            </m:r>
                          </m:sub>
                        </m:sSub>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m:t>
                        </m:r>
                        <m:r>
                          <a:rPr lang="en-IN" b="0" i="1" smtClean="0">
                            <a:latin typeface="Cambria Math" panose="02040503050406030204" pitchFamily="18" charset="0"/>
                          </a:rPr>
                          <m:t>0</m:t>
                        </m:r>
                      </m:e>
                    </m:d>
                  </m:oMath>
                </a14:m>
                <a:r>
                  <a:rPr lang="en-US" dirty="0"/>
                  <a:t> can be found by using case – I</a:t>
                </a:r>
                <a:endParaRPr lang="en-IN" dirty="0">
                  <a:latin typeface="Cambria Math" panose="02040503050406030204" pitchFamily="18" charset="0"/>
                </a:endParaRPr>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35734"/>
                <a:ext cx="11880710" cy="5590565"/>
              </a:xfrm>
              <a:blipFill rotWithShape="0">
                <a:blip r:embed="rId2"/>
                <a:stretch>
                  <a:fillRect l="-1078" r="-2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 Box 51"/>
              <p:cNvSpPr txBox="1"/>
              <p:nvPr/>
            </p:nvSpPr>
            <p:spPr>
              <a:xfrm>
                <a:off x="2145300" y="5056034"/>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0" name="Text Box 51"/>
              <p:cNvSpPr txBox="1">
                <a:spLocks noRot="1" noChangeAspect="1" noMove="1" noResize="1" noEditPoints="1" noAdjustHandles="1" noChangeArrowheads="1" noChangeShapeType="1" noTextEdit="1"/>
              </p:cNvSpPr>
              <p:nvPr/>
            </p:nvSpPr>
            <p:spPr>
              <a:xfrm>
                <a:off x="2145300" y="5056034"/>
                <a:ext cx="320040" cy="346710"/>
              </a:xfrm>
              <a:prstGeom prst="rect">
                <a:avLst/>
              </a:prstGeom>
              <a:blipFill rotWithShape="0">
                <a:blip r:embed="rId3"/>
                <a:stretch>
                  <a:fillRect b="-14035"/>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 Box 53"/>
              <p:cNvSpPr txBox="1"/>
              <p:nvPr/>
            </p:nvSpPr>
            <p:spPr>
              <a:xfrm>
                <a:off x="1038999" y="5002594"/>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a:rPr kumimoji="0" lang="en-IN" sz="2800" b="0" i="0"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m:t>
                          </m:r>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1" name="Text Box 53"/>
              <p:cNvSpPr txBox="1">
                <a:spLocks noRot="1" noChangeAspect="1" noMove="1" noResize="1" noEditPoints="1" noAdjustHandles="1" noChangeArrowheads="1" noChangeShapeType="1" noTextEdit="1"/>
              </p:cNvSpPr>
              <p:nvPr/>
            </p:nvSpPr>
            <p:spPr>
              <a:xfrm>
                <a:off x="1038999" y="5002594"/>
                <a:ext cx="762353" cy="471376"/>
              </a:xfrm>
              <a:prstGeom prst="rect">
                <a:avLst/>
              </a:prstGeom>
              <a:blipFill rotWithShape="0">
                <a:blip r:embed="rId4"/>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54819" y="5013411"/>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2" name="Rectangle 1"/>
              <p:cNvSpPr>
                <a:spLocks noRot="1" noChangeAspect="1" noMove="1" noResize="1" noEditPoints="1" noAdjustHandles="1" noChangeArrowheads="1" noChangeShapeType="1" noTextEdit="1"/>
              </p:cNvSpPr>
              <p:nvPr/>
            </p:nvSpPr>
            <p:spPr>
              <a:xfrm>
                <a:off x="154819" y="5013411"/>
                <a:ext cx="837089" cy="655949"/>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3973549" y="4972849"/>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25" name="Rectangle 24"/>
              <p:cNvSpPr>
                <a:spLocks noRot="1" noChangeAspect="1" noMove="1" noResize="1" noEditPoints="1" noAdjustHandles="1" noChangeArrowheads="1" noChangeShapeType="1" noTextEdit="1"/>
              </p:cNvSpPr>
              <p:nvPr/>
            </p:nvSpPr>
            <p:spPr>
              <a:xfrm>
                <a:off x="3973549" y="4972849"/>
                <a:ext cx="837089" cy="655949"/>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 Box 51"/>
              <p:cNvSpPr txBox="1"/>
              <p:nvPr/>
            </p:nvSpPr>
            <p:spPr>
              <a:xfrm>
                <a:off x="5899490" y="5030276"/>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6" name="Text Box 51"/>
              <p:cNvSpPr txBox="1">
                <a:spLocks noRot="1" noChangeAspect="1" noMove="1" noResize="1" noEditPoints="1" noAdjustHandles="1" noChangeArrowheads="1" noChangeShapeType="1" noTextEdit="1"/>
              </p:cNvSpPr>
              <p:nvPr/>
            </p:nvSpPr>
            <p:spPr>
              <a:xfrm>
                <a:off x="5899490" y="5030276"/>
                <a:ext cx="320040" cy="346710"/>
              </a:xfrm>
              <a:prstGeom prst="rect">
                <a:avLst/>
              </a:prstGeom>
              <a:blipFill rotWithShape="0">
                <a:blip r:embed="rId7"/>
                <a:stretch>
                  <a:fillRect b="-14035"/>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 Box 51"/>
              <p:cNvSpPr txBox="1"/>
              <p:nvPr/>
            </p:nvSpPr>
            <p:spPr>
              <a:xfrm>
                <a:off x="9638657" y="5154942"/>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7" name="Text Box 51"/>
              <p:cNvSpPr txBox="1">
                <a:spLocks noRot="1" noChangeAspect="1" noMove="1" noResize="1" noEditPoints="1" noAdjustHandles="1" noChangeArrowheads="1" noChangeShapeType="1" noTextEdit="1"/>
              </p:cNvSpPr>
              <p:nvPr/>
            </p:nvSpPr>
            <p:spPr>
              <a:xfrm>
                <a:off x="9638657" y="5154942"/>
                <a:ext cx="320040" cy="346710"/>
              </a:xfrm>
              <a:prstGeom prst="rect">
                <a:avLst/>
              </a:prstGeom>
              <a:blipFill rotWithShape="0">
                <a:blip r:embed="rId8"/>
                <a:stretch>
                  <a:fillRect b="-12281"/>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 Box 53"/>
              <p:cNvSpPr txBox="1"/>
              <p:nvPr/>
            </p:nvSpPr>
            <p:spPr>
              <a:xfrm>
                <a:off x="8523663" y="5030276"/>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a:rPr kumimoji="0" lang="en-IN" sz="2800" b="0" i="1"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m:t>
                          </m:r>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8" name="Text Box 53"/>
              <p:cNvSpPr txBox="1">
                <a:spLocks noRot="1" noChangeAspect="1" noMove="1" noResize="1" noEditPoints="1" noAdjustHandles="1" noChangeArrowheads="1" noChangeShapeType="1" noTextEdit="1"/>
              </p:cNvSpPr>
              <p:nvPr/>
            </p:nvSpPr>
            <p:spPr>
              <a:xfrm>
                <a:off x="8523663" y="5030276"/>
                <a:ext cx="762353" cy="471376"/>
              </a:xfrm>
              <a:prstGeom prst="rect">
                <a:avLst/>
              </a:prstGeom>
              <a:blipFill rotWithShape="0">
                <a:blip r:embed="rId9"/>
                <a:stretch>
                  <a:fillRect/>
                </a:stretch>
              </a:blipFill>
              <a:ln w="6350">
                <a:noFill/>
              </a:ln>
            </p:spPr>
            <p:txBody>
              <a:bodyPr/>
              <a:lstStyle/>
              <a:p>
                <a:r>
                  <a:rPr lang="en-IN">
                    <a:noFill/>
                  </a:rPr>
                  <a:t> </a:t>
                </a:r>
              </a:p>
            </p:txBody>
          </p:sp>
        </mc:Fallback>
      </mc:AlternateContent>
      <p:pic>
        <p:nvPicPr>
          <p:cNvPr id="12" name="Picture 11"/>
          <p:cNvPicPr/>
          <p:nvPr/>
        </p:nvPicPr>
        <p:blipFill rotWithShape="1">
          <a:blip r:embed="rId10">
            <a:extLst>
              <a:ext uri="{28A0092B-C50C-407E-A947-70E740481C1C}">
                <a14:useLocalDpi xmlns:a14="http://schemas.microsoft.com/office/drawing/2010/main" val="0"/>
              </a:ext>
            </a:extLst>
          </a:blip>
          <a:srcRect l="9952" t="50766" r="30220" b="28059"/>
          <a:stretch/>
        </p:blipFill>
        <p:spPr bwMode="auto">
          <a:xfrm>
            <a:off x="231821" y="3116825"/>
            <a:ext cx="11490346" cy="19738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1994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up)">
                                      <p:cBhvr>
                                        <p:cTn id="20" dur="500"/>
                                        <p:tgtEl>
                                          <p:spTgt spid="20"/>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500"/>
                                        <p:tgtEl>
                                          <p:spTgt spid="25"/>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500"/>
                                        <p:tgtEl>
                                          <p:spTgt spid="2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up)">
                                      <p:cBhvr>
                                        <p:cTn id="29" dur="500"/>
                                        <p:tgtEl>
                                          <p:spTgt spid="28"/>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up)">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0" grpId="0" animBg="1"/>
      <p:bldP spid="21" grpId="0" animBg="1"/>
      <p:bldP spid="2" grpId="0"/>
      <p:bldP spid="25" grpId="0"/>
      <p:bldP spid="26" grpId="0" animBg="1"/>
      <p:bldP spid="27" grpId="0" animBg="1"/>
      <p:bldP spid="28"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35734"/>
                <a:ext cx="11880710" cy="5590565"/>
              </a:xfrm>
            </p:spPr>
            <p:txBody>
              <a:bodyPr/>
              <a:lstStyle/>
              <a:p>
                <a:pPr marL="0" lvl="0" indent="0">
                  <a:buNone/>
                </a:pPr>
                <a:r>
                  <a:rPr lang="en-US" dirty="0">
                    <a:solidFill>
                      <a:schemeClr val="accent5">
                        <a:lumMod val="50000"/>
                      </a:schemeClr>
                    </a:solidFill>
                  </a:rPr>
                  <a:t>Note:</a:t>
                </a:r>
                <a:r>
                  <a:rPr lang="en-US" dirty="0"/>
                  <a:t> </a:t>
                </a:r>
                <a:endParaRPr lang="en-IN" dirty="0"/>
              </a:p>
              <a:p>
                <a:pPr lvl="0"/>
                <a:r>
                  <a:rPr lang="en-US" dirty="0"/>
                  <a:t>Area between </a:t>
                </a:r>
                <a14:m>
                  <m:oMath xmlns:m="http://schemas.openxmlformats.org/officeDocument/2006/math">
                    <m:r>
                      <a:rPr lang="en-US" b="1" i="0" dirty="0" smtClean="0">
                        <a:solidFill>
                          <a:srgbClr val="FF0000"/>
                        </a:solidFill>
                        <a:latin typeface="Cambria Math" panose="02040503050406030204" pitchFamily="18" charset="0"/>
                      </a:rPr>
                      <m:t>𝐙</m:t>
                    </m:r>
                    <m:r>
                      <a:rPr lang="en-US" b="1" i="0" dirty="0" smtClean="0">
                        <a:solidFill>
                          <a:srgbClr val="FF0000"/>
                        </a:solidFill>
                        <a:latin typeface="Cambria Math" panose="02040503050406030204" pitchFamily="18" charset="0"/>
                      </a:rPr>
                      <m:t>=</m:t>
                    </m:r>
                    <m:sSub>
                      <m:sSubPr>
                        <m:ctrlPr>
                          <a:rPr lang="en-IN" b="1" i="1" dirty="0">
                            <a:solidFill>
                              <a:srgbClr val="FF0000"/>
                            </a:solidFill>
                            <a:latin typeface="Cambria Math" panose="02040503050406030204" pitchFamily="18" charset="0"/>
                          </a:rPr>
                        </m:ctrlPr>
                      </m:sSubPr>
                      <m:e>
                        <m:r>
                          <a:rPr lang="en-US" b="1" i="0" dirty="0" smtClean="0">
                            <a:solidFill>
                              <a:srgbClr val="FF0000"/>
                            </a:solidFill>
                            <a:latin typeface="Cambria Math" panose="02040503050406030204" pitchFamily="18" charset="0"/>
                          </a:rPr>
                          <m:t>𝐳</m:t>
                        </m:r>
                      </m:e>
                      <m:sub>
                        <m:r>
                          <a:rPr lang="en-US" b="1" i="0" dirty="0">
                            <a:solidFill>
                              <a:srgbClr val="FF0000"/>
                            </a:solidFill>
                            <a:latin typeface="Cambria Math" panose="02040503050406030204" pitchFamily="18" charset="0"/>
                          </a:rPr>
                          <m:t>𝟏</m:t>
                        </m:r>
                      </m:sub>
                    </m:sSub>
                    <m:r>
                      <a:rPr lang="en-US" b="1" i="0" dirty="0">
                        <a:solidFill>
                          <a:srgbClr val="FF0000"/>
                        </a:solidFill>
                        <a:latin typeface="Cambria Math" panose="02040503050406030204" pitchFamily="18" charset="0"/>
                      </a:rPr>
                      <m:t> </m:t>
                    </m:r>
                    <m:r>
                      <a:rPr lang="en-US" b="1" i="0" dirty="0">
                        <a:solidFill>
                          <a:srgbClr val="FF0000"/>
                        </a:solidFill>
                        <a:latin typeface="Cambria Math" panose="02040503050406030204" pitchFamily="18" charset="0"/>
                      </a:rPr>
                      <m:t>𝐭𝐨</m:t>
                    </m:r>
                    <m:r>
                      <a:rPr lang="en-US" b="1" i="0" dirty="0">
                        <a:solidFill>
                          <a:srgbClr val="FF0000"/>
                        </a:solidFill>
                        <a:latin typeface="Cambria Math" panose="02040503050406030204" pitchFamily="18" charset="0"/>
                      </a:rPr>
                      <m:t> </m:t>
                    </m:r>
                    <m:r>
                      <a:rPr lang="en-US" b="1" i="0" dirty="0" smtClean="0">
                        <a:solidFill>
                          <a:srgbClr val="FF0000"/>
                        </a:solidFill>
                        <a:latin typeface="Cambria Math" panose="02040503050406030204" pitchFamily="18" charset="0"/>
                      </a:rPr>
                      <m:t>𝐙</m:t>
                    </m:r>
                    <m:r>
                      <a:rPr lang="en-US" b="1" i="0" dirty="0" smtClean="0">
                        <a:solidFill>
                          <a:srgbClr val="FF0000"/>
                        </a:solidFill>
                        <a:latin typeface="Cambria Math" panose="02040503050406030204" pitchFamily="18" charset="0"/>
                      </a:rPr>
                      <m:t>=∞</m:t>
                    </m:r>
                  </m:oMath>
                </a14:m>
                <a:r>
                  <a:rPr lang="en-IN" i="0" dirty="0">
                    <a:latin typeface="Cambria Math" panose="02040503050406030204" pitchFamily="18" charset="0"/>
                  </a:rPr>
                  <a:t> </a:t>
                </a:r>
                <a:r>
                  <a:rPr lang="en-US" dirty="0"/>
                  <a:t>which can be represented as </a:t>
                </a:r>
                <a14:m>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e>
                    </m:d>
                  </m:oMath>
                </a14:m>
                <a:endParaRPr lang="en-US" b="1" dirty="0"/>
              </a:p>
              <a:p>
                <a:pPr lvl="0"/>
                <a14:m>
                  <m:oMath xmlns:m="http://schemas.openxmlformats.org/officeDocument/2006/math">
                    <m:r>
                      <a:rPr lang="en-US" b="1" i="1" smtClean="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1">
                            <a:solidFill>
                              <a:srgbClr val="FF0000"/>
                            </a:solidFill>
                            <a:latin typeface="Cambria Math" panose="02040503050406030204" pitchFamily="18" charset="0"/>
                          </a:rPr>
                          <m:t>𝐙</m:t>
                        </m:r>
                        <m:r>
                          <a:rPr lang="en-US" b="1">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𝐳</m:t>
                            </m:r>
                          </m:e>
                          <m:sub>
                            <m:r>
                              <a:rPr lang="en-US" b="1" i="0">
                                <a:solidFill>
                                  <a:srgbClr val="FF0000"/>
                                </a:solidFill>
                                <a:latin typeface="Cambria Math" panose="02040503050406030204" pitchFamily="18" charset="0"/>
                              </a:rPr>
                              <m:t>𝟏</m:t>
                            </m:r>
                          </m:sub>
                        </m:sSub>
                      </m:e>
                    </m:d>
                  </m:oMath>
                </a14:m>
                <a:r>
                  <a:rPr lang="en-US" dirty="0"/>
                  <a:t> as normal distribution is </a:t>
                </a:r>
                <a:r>
                  <a:rPr lang="en-US" dirty="0">
                    <a:solidFill>
                      <a:srgbClr val="FF0000"/>
                    </a:solidFill>
                  </a:rPr>
                  <a:t>symmetric</a:t>
                </a:r>
                <a:r>
                  <a:rPr lang="en-US" dirty="0"/>
                  <a:t> about x – axis.</a:t>
                </a:r>
                <a:endParaRPr lang="en-IN" dirty="0"/>
              </a:p>
              <a:p>
                <a:pPr marL="0" indent="0">
                  <a:buNone/>
                </a:pPr>
                <a:r>
                  <a:rPr lang="en-US" dirty="0"/>
                  <a:t>That is,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≥1.43</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≤−1.43</m:t>
                        </m:r>
                      </m:e>
                    </m:d>
                    <m:r>
                      <a:rPr lang="en-US">
                        <a:latin typeface="Cambria Math" panose="02040503050406030204" pitchFamily="18" charset="0"/>
                      </a:rPr>
                      <m:t>=0.</m:t>
                    </m:r>
                    <m:r>
                      <a:rPr lang="en-IN" b="0" i="0" smtClean="0">
                        <a:latin typeface="Cambria Math" panose="02040503050406030204" pitchFamily="18" charset="0"/>
                      </a:rPr>
                      <m:t>0764</m:t>
                    </m:r>
                  </m:oMath>
                </a14:m>
                <a:endParaRPr lang="en-IN" dirty="0">
                  <a:latin typeface="Cambria Math" panose="02040503050406030204" pitchFamily="18" charset="0"/>
                </a:endParaRPr>
              </a:p>
            </p:txBody>
          </p:sp>
        </mc:Choice>
        <mc:Fallback xmlns="">
          <p:sp>
            <p:nvSpPr>
              <p:cNvPr id="5" name="Content Placeholder 4">
                <a:extLst>
                  <a:ext uri="{FF2B5EF4-FFF2-40B4-BE49-F238E27FC236}">
                    <a16:creationId xmlns="" xmlns:a16="http://schemas.microsoft.com/office/drawing/2014/main"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35734"/>
                <a:ext cx="11880710" cy="5590565"/>
              </a:xfrm>
              <a:blipFill rotWithShape="0">
                <a:blip r:embed="rId2"/>
                <a:stretch>
                  <a:fillRect l="-10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 Box 51"/>
              <p:cNvSpPr txBox="1"/>
              <p:nvPr/>
            </p:nvSpPr>
            <p:spPr>
              <a:xfrm>
                <a:off x="2121662" y="5789999"/>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13" name="Text Box 51"/>
              <p:cNvSpPr txBox="1">
                <a:spLocks noRot="1" noChangeAspect="1" noMove="1" noResize="1" noEditPoints="1" noAdjustHandles="1" noChangeArrowheads="1" noChangeShapeType="1" noTextEdit="1"/>
              </p:cNvSpPr>
              <p:nvPr/>
            </p:nvSpPr>
            <p:spPr>
              <a:xfrm>
                <a:off x="2121662" y="5789999"/>
                <a:ext cx="320040" cy="346710"/>
              </a:xfrm>
              <a:prstGeom prst="rect">
                <a:avLst/>
              </a:prstGeom>
              <a:blipFill rotWithShape="0">
                <a:blip r:embed="rId3"/>
                <a:stretch>
                  <a:fillRect b="-12281"/>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 Box 53"/>
              <p:cNvSpPr txBox="1"/>
              <p:nvPr/>
            </p:nvSpPr>
            <p:spPr>
              <a:xfrm>
                <a:off x="1015361" y="5736559"/>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a:rPr kumimoji="0" lang="en-IN" sz="2800" b="0" i="0"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m:t>
                          </m:r>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14" name="Text Box 53"/>
              <p:cNvSpPr txBox="1">
                <a:spLocks noRot="1" noChangeAspect="1" noMove="1" noResize="1" noEditPoints="1" noAdjustHandles="1" noChangeArrowheads="1" noChangeShapeType="1" noTextEdit="1"/>
              </p:cNvSpPr>
              <p:nvPr/>
            </p:nvSpPr>
            <p:spPr>
              <a:xfrm>
                <a:off x="1015361" y="5736559"/>
                <a:ext cx="762353" cy="471376"/>
              </a:xfrm>
              <a:prstGeom prst="rect">
                <a:avLst/>
              </a:prstGeom>
              <a:blipFill rotWithShape="0">
                <a:blip r:embed="rId4"/>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131181" y="5747376"/>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15" name="Rectangle 14"/>
              <p:cNvSpPr>
                <a:spLocks noRot="1" noChangeAspect="1" noMove="1" noResize="1" noEditPoints="1" noAdjustHandles="1" noChangeArrowheads="1" noChangeShapeType="1" noTextEdit="1"/>
              </p:cNvSpPr>
              <p:nvPr/>
            </p:nvSpPr>
            <p:spPr>
              <a:xfrm>
                <a:off x="131181" y="5747376"/>
                <a:ext cx="837089" cy="655949"/>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3949911" y="5706814"/>
                <a:ext cx="837089" cy="655949"/>
              </a:xfrm>
              <a:prstGeom prst="rect">
                <a:avLst/>
              </a:prstGeom>
            </p:spPr>
            <p:txBody>
              <a:bodyPr wrap="none">
                <a:spAutoFit/>
              </a:bodyPr>
              <a:lstStyle/>
              <a:p>
                <a:pPr lvl="0">
                  <a:lnSpc>
                    <a:spcPct val="107000"/>
                  </a:lnSpc>
                  <a:spcAft>
                    <a:spcPts val="800"/>
                  </a:spcAft>
                  <a:defRPr/>
                </a:pPr>
                <a14:m>
                  <m:oMathPara xmlns:m="http://schemas.openxmlformats.org/officeDocument/2006/math">
                    <m:oMathParaPr>
                      <m:jc m:val="centerGroup"/>
                    </m:oMathParaPr>
                    <m:oMath xmlns:m="http://schemas.openxmlformats.org/officeDocument/2006/math">
                      <m:r>
                        <a:rPr lang="en-US" sz="2800" i="1" kern="0">
                          <a:solidFill>
                            <a:sysClr val="windowText" lastClr="000000"/>
                          </a:solidFill>
                          <a:latin typeface="Cambria Math" panose="02040503050406030204" pitchFamily="18" charset="0"/>
                          <a:ea typeface="Cambria Math" panose="02040503050406030204" pitchFamily="18" charset="0"/>
                          <a:cs typeface="Shruti"/>
                        </a:rPr>
                        <m:t>−∞</m:t>
                      </m:r>
                    </m:oMath>
                  </m:oMathPara>
                </a14:m>
                <a:endParaRPr lang="en-IN" sz="2800" kern="0" dirty="0">
                  <a:solidFill>
                    <a:sysClr val="windowText" lastClr="000000"/>
                  </a:solidFill>
                  <a:latin typeface="Cambria Math" panose="02040503050406030204" pitchFamily="18" charset="0"/>
                  <a:ea typeface="Cambria Math" panose="02040503050406030204" pitchFamily="18" charset="0"/>
                  <a:cs typeface="Shruti"/>
                </a:endParaRPr>
              </a:p>
            </p:txBody>
          </p:sp>
        </mc:Choice>
        <mc:Fallback xmlns="">
          <p:sp>
            <p:nvSpPr>
              <p:cNvPr id="16" name="Rectangle 15"/>
              <p:cNvSpPr>
                <a:spLocks noRot="1" noChangeAspect="1" noMove="1" noResize="1" noEditPoints="1" noAdjustHandles="1" noChangeArrowheads="1" noChangeShapeType="1" noTextEdit="1"/>
              </p:cNvSpPr>
              <p:nvPr/>
            </p:nvSpPr>
            <p:spPr>
              <a:xfrm>
                <a:off x="3949911" y="5706814"/>
                <a:ext cx="837089" cy="655949"/>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 Box 51"/>
              <p:cNvSpPr txBox="1"/>
              <p:nvPr/>
            </p:nvSpPr>
            <p:spPr>
              <a:xfrm>
                <a:off x="5875852" y="5764241"/>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17" name="Text Box 51"/>
              <p:cNvSpPr txBox="1">
                <a:spLocks noRot="1" noChangeAspect="1" noMove="1" noResize="1" noEditPoints="1" noAdjustHandles="1" noChangeArrowheads="1" noChangeShapeType="1" noTextEdit="1"/>
              </p:cNvSpPr>
              <p:nvPr/>
            </p:nvSpPr>
            <p:spPr>
              <a:xfrm>
                <a:off x="5875852" y="5764241"/>
                <a:ext cx="320040" cy="346710"/>
              </a:xfrm>
              <a:prstGeom prst="rect">
                <a:avLst/>
              </a:prstGeom>
              <a:blipFill rotWithShape="0">
                <a:blip r:embed="rId7"/>
                <a:stretch>
                  <a:fillRect b="-14286"/>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 Box 51"/>
              <p:cNvSpPr txBox="1"/>
              <p:nvPr/>
            </p:nvSpPr>
            <p:spPr>
              <a:xfrm>
                <a:off x="9615019" y="5786013"/>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18" name="Text Box 51"/>
              <p:cNvSpPr txBox="1">
                <a:spLocks noRot="1" noChangeAspect="1" noMove="1" noResize="1" noEditPoints="1" noAdjustHandles="1" noChangeArrowheads="1" noChangeShapeType="1" noTextEdit="1"/>
              </p:cNvSpPr>
              <p:nvPr/>
            </p:nvSpPr>
            <p:spPr>
              <a:xfrm>
                <a:off x="9615019" y="5786013"/>
                <a:ext cx="320040" cy="346710"/>
              </a:xfrm>
              <a:prstGeom prst="rect">
                <a:avLst/>
              </a:prstGeom>
              <a:blipFill rotWithShape="0">
                <a:blip r:embed="rId8"/>
                <a:stretch>
                  <a:fillRect b="-14035"/>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 Box 53"/>
              <p:cNvSpPr txBox="1"/>
              <p:nvPr/>
            </p:nvSpPr>
            <p:spPr>
              <a:xfrm>
                <a:off x="8500025" y="5723680"/>
                <a:ext cx="762353" cy="471376"/>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2800" i="1"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ctrlPr>
                        </m:sSubPr>
                        <m:e>
                          <m:r>
                            <a:rPr kumimoji="0" lang="en-IN" sz="2800" b="0" i="1" u="none" strike="noStrike" kern="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m:t>
                          </m:r>
                          <m:r>
                            <m:rPr>
                              <m:sty m:val="p"/>
                            </m:rP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z</m:t>
                          </m:r>
                        </m:e>
                        <m:sub>
                          <m:r>
                            <a:rPr kumimoji="0" lang="en-US" sz="2800" b="0" i="0"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1</m:t>
                          </m:r>
                        </m:sub>
                      </m:sSub>
                    </m:oMath>
                  </m:oMathPara>
                </a14:m>
                <a:endParaRPr kumimoji="0" lang="en-IN" sz="280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19" name="Text Box 53"/>
              <p:cNvSpPr txBox="1">
                <a:spLocks noRot="1" noChangeAspect="1" noMove="1" noResize="1" noEditPoints="1" noAdjustHandles="1" noChangeArrowheads="1" noChangeShapeType="1" noTextEdit="1"/>
              </p:cNvSpPr>
              <p:nvPr/>
            </p:nvSpPr>
            <p:spPr>
              <a:xfrm>
                <a:off x="8500025" y="5723680"/>
                <a:ext cx="762353" cy="471376"/>
              </a:xfrm>
              <a:prstGeom prst="rect">
                <a:avLst/>
              </a:prstGeom>
              <a:blipFill rotWithShape="0">
                <a:blip r:embed="rId9"/>
                <a:stretch>
                  <a:fillRect/>
                </a:stretch>
              </a:blipFill>
              <a:ln w="6350">
                <a:noFill/>
              </a:ln>
            </p:spPr>
            <p:txBody>
              <a:bodyPr/>
              <a:lstStyle/>
              <a:p>
                <a:r>
                  <a:rPr lang="en-IN">
                    <a:noFill/>
                  </a:rPr>
                  <a:t> </a:t>
                </a:r>
              </a:p>
            </p:txBody>
          </p:sp>
        </mc:Fallback>
      </mc:AlternateContent>
      <p:pic>
        <p:nvPicPr>
          <p:cNvPr id="22" name="Picture 21"/>
          <p:cNvPicPr/>
          <p:nvPr/>
        </p:nvPicPr>
        <p:blipFill rotWithShape="1">
          <a:blip r:embed="rId10">
            <a:extLst>
              <a:ext uri="{28A0092B-C50C-407E-A947-70E740481C1C}">
                <a14:useLocalDpi xmlns:a14="http://schemas.microsoft.com/office/drawing/2010/main" val="0"/>
              </a:ext>
            </a:extLst>
          </a:blip>
          <a:srcRect l="9952" t="50766" r="30220" b="28059"/>
          <a:stretch/>
        </p:blipFill>
        <p:spPr bwMode="auto">
          <a:xfrm>
            <a:off x="208183" y="3850790"/>
            <a:ext cx="11490346" cy="19738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3114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up)">
                                      <p:cBhvr>
                                        <p:cTn id="29" dur="500"/>
                                        <p:tgtEl>
                                          <p:spTgt spid="18"/>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up)">
                                      <p:cBhvr>
                                        <p:cTn id="35" dur="500"/>
                                        <p:tgtEl>
                                          <p:spTgt spid="14"/>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up)">
                                      <p:cBhvr>
                                        <p:cTn id="38" dur="500"/>
                                        <p:tgtEl>
                                          <p:spTgt spid="16"/>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up)">
                                      <p:cBhvr>
                                        <p:cTn id="41" dur="500"/>
                                        <p:tgtEl>
                                          <p:spTgt spid="19"/>
                                        </p:tgtEl>
                                      </p:cBhvr>
                                    </p:animEffect>
                                  </p:childTnLst>
                                </p:cTn>
                              </p:par>
                              <p:par>
                                <p:cTn id="42" presetID="22" presetClass="entr" presetSubtype="1"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up)">
                                      <p:cBhvr>
                                        <p:cTn id="4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3" grpId="0" animBg="1"/>
      <p:bldP spid="14" grpId="0" animBg="1"/>
      <p:bldP spid="15" grpId="0"/>
      <p:bldP spid="16" grpId="0"/>
      <p:bldP spid="17" grpId="0" animBg="1"/>
      <p:bldP spid="18" grpId="0" animBg="1"/>
      <p:bldP spid="19"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1" y="835734"/>
                <a:ext cx="11880710" cy="5590565"/>
              </a:xfrm>
            </p:spPr>
            <p:txBody>
              <a:bodyPr/>
              <a:lstStyle/>
              <a:p>
                <a:pPr marL="0" lvl="0" indent="0">
                  <a:buNone/>
                </a:pPr>
                <a:r>
                  <a:rPr lang="en-US" dirty="0">
                    <a:ea typeface="Calibri" panose="020F0502020204030204" pitchFamily="34" charset="0"/>
                    <a:cs typeface="Shruti"/>
                  </a:rPr>
                  <a:t>(4) Area between</a:t>
                </a:r>
                <a:r>
                  <a:rPr lang="en-US" dirty="0">
                    <a:latin typeface="Calibri" panose="020F0502020204030204" pitchFamily="34" charset="0"/>
                    <a:ea typeface="Calibri" panose="020F0502020204030204" pitchFamily="34" charset="0"/>
                    <a:cs typeface="Shruti"/>
                  </a:rPr>
                  <a:t> </a:t>
                </a:r>
                <a14:m>
                  <m:oMath xmlns:m="http://schemas.openxmlformats.org/officeDocument/2006/math">
                    <m:r>
                      <a:rPr lang="en-US" b="1" dirty="0">
                        <a:solidFill>
                          <a:srgbClr val="FF0000"/>
                        </a:solidFill>
                        <a:latin typeface="Cambria Math" panose="02040503050406030204" pitchFamily="18" charset="0"/>
                        <a:ea typeface="Calibri" panose="020F0502020204030204" pitchFamily="34" charset="0"/>
                        <a:cs typeface="Shruti"/>
                      </a:rPr>
                      <m:t>𝐙</m:t>
                    </m:r>
                    <m:r>
                      <a:rPr lang="en-US" b="1" dirty="0">
                        <a:solidFill>
                          <a:srgbClr val="FF0000"/>
                        </a:solidFill>
                        <a:latin typeface="Cambria Math" panose="02040503050406030204" pitchFamily="18" charset="0"/>
                        <a:ea typeface="Calibri" panose="020F0502020204030204" pitchFamily="34" charset="0"/>
                        <a:cs typeface="Shruti"/>
                      </a:rPr>
                      <m:t>=</m:t>
                    </m:r>
                    <m:sSub>
                      <m:sSubPr>
                        <m:ctrlPr>
                          <a:rPr lang="en-IN" b="1" i="1" dirty="0" smtClean="0">
                            <a:solidFill>
                              <a:srgbClr val="FF0000"/>
                            </a:solidFill>
                            <a:latin typeface="Cambria Math" panose="02040503050406030204" pitchFamily="18" charset="0"/>
                            <a:ea typeface="Calibri" panose="020F0502020204030204" pitchFamily="34" charset="0"/>
                            <a:cs typeface="Shruti"/>
                          </a:rPr>
                        </m:ctrlPr>
                      </m:sSubPr>
                      <m:e>
                        <m:r>
                          <a:rPr lang="en-IN" b="1" i="0" dirty="0" smtClean="0">
                            <a:solidFill>
                              <a:srgbClr val="FF0000"/>
                            </a:solidFill>
                            <a:latin typeface="Cambria Math" panose="02040503050406030204" pitchFamily="18" charset="0"/>
                            <a:ea typeface="Calibri" panose="020F0502020204030204" pitchFamily="34" charset="0"/>
                            <a:cs typeface="Shruti"/>
                          </a:rPr>
                          <m:t>𝐳</m:t>
                        </m:r>
                      </m:e>
                      <m:sub>
                        <m:r>
                          <a:rPr lang="en-IN" b="1" i="0" dirty="0" smtClean="0">
                            <a:solidFill>
                              <a:srgbClr val="FF0000"/>
                            </a:solidFill>
                            <a:latin typeface="Cambria Math" panose="02040503050406030204" pitchFamily="18" charset="0"/>
                            <a:ea typeface="Calibri" panose="020F0502020204030204" pitchFamily="34" charset="0"/>
                            <a:cs typeface="Shruti"/>
                          </a:rPr>
                          <m:t>𝟏</m:t>
                        </m:r>
                      </m:sub>
                    </m:sSub>
                    <m:r>
                      <a:rPr lang="en-US" b="1" dirty="0">
                        <a:solidFill>
                          <a:srgbClr val="FF0000"/>
                        </a:solidFill>
                        <a:latin typeface="Cambria Math" panose="02040503050406030204" pitchFamily="18" charset="0"/>
                        <a:ea typeface="Calibri" panose="020F0502020204030204" pitchFamily="34" charset="0"/>
                        <a:cs typeface="Shruti"/>
                      </a:rPr>
                      <m:t> </m:t>
                    </m:r>
                    <m:r>
                      <a:rPr lang="en-US" b="1" dirty="0">
                        <a:solidFill>
                          <a:srgbClr val="FF0000"/>
                        </a:solidFill>
                        <a:latin typeface="Cambria Math" panose="02040503050406030204" pitchFamily="18" charset="0"/>
                        <a:ea typeface="Calibri" panose="020F0502020204030204" pitchFamily="34" charset="0"/>
                        <a:cs typeface="Shruti"/>
                      </a:rPr>
                      <m:t>𝐭𝐨</m:t>
                    </m:r>
                    <m:r>
                      <a:rPr lang="en-US" b="1" dirty="0">
                        <a:solidFill>
                          <a:srgbClr val="FF0000"/>
                        </a:solidFill>
                        <a:latin typeface="Cambria Math" panose="02040503050406030204" pitchFamily="18" charset="0"/>
                        <a:ea typeface="Calibri" panose="020F0502020204030204" pitchFamily="34" charset="0"/>
                        <a:cs typeface="Shruti"/>
                      </a:rPr>
                      <m:t> </m:t>
                    </m:r>
                    <m:r>
                      <a:rPr lang="en-US" b="1" dirty="0">
                        <a:solidFill>
                          <a:srgbClr val="FF0000"/>
                        </a:solidFill>
                        <a:latin typeface="Cambria Math" panose="02040503050406030204" pitchFamily="18" charset="0"/>
                        <a:ea typeface="Calibri" panose="020F0502020204030204" pitchFamily="34" charset="0"/>
                        <a:cs typeface="Shruti"/>
                      </a:rPr>
                      <m:t>𝐙</m:t>
                    </m:r>
                    <m:r>
                      <a:rPr lang="en-US" b="1" dirty="0">
                        <a:solidFill>
                          <a:srgbClr val="FF0000"/>
                        </a:solidFill>
                        <a:latin typeface="Cambria Math" panose="02040503050406030204" pitchFamily="18" charset="0"/>
                        <a:ea typeface="Calibri" panose="020F0502020204030204" pitchFamily="34" charset="0"/>
                        <a:cs typeface="Shruti"/>
                      </a:rPr>
                      <m:t>=</m:t>
                    </m:r>
                    <m:sSub>
                      <m:sSubPr>
                        <m:ctrlPr>
                          <a:rPr lang="en-IN" b="1" i="1" dirty="0">
                            <a:solidFill>
                              <a:srgbClr val="FF0000"/>
                            </a:solidFill>
                            <a:latin typeface="Cambria Math" panose="02040503050406030204" pitchFamily="18" charset="0"/>
                            <a:ea typeface="Calibri" panose="020F0502020204030204" pitchFamily="34" charset="0"/>
                            <a:cs typeface="Shruti"/>
                          </a:rPr>
                        </m:ctrlPr>
                      </m:sSubPr>
                      <m:e>
                        <m:r>
                          <a:rPr lang="en-US" b="1" dirty="0">
                            <a:solidFill>
                              <a:srgbClr val="FF0000"/>
                            </a:solidFill>
                            <a:latin typeface="Cambria Math" panose="02040503050406030204" pitchFamily="18" charset="0"/>
                            <a:ea typeface="Calibri" panose="020F0502020204030204" pitchFamily="34" charset="0"/>
                            <a:cs typeface="Shruti"/>
                          </a:rPr>
                          <m:t>𝐳</m:t>
                        </m:r>
                      </m:e>
                      <m:sub>
                        <m:r>
                          <a:rPr lang="en-IN" b="1" i="1" dirty="0" smtClean="0">
                            <a:solidFill>
                              <a:srgbClr val="FF0000"/>
                            </a:solidFill>
                            <a:latin typeface="Cambria Math" panose="02040503050406030204" pitchFamily="18" charset="0"/>
                            <a:ea typeface="Calibri" panose="020F0502020204030204" pitchFamily="34" charset="0"/>
                            <a:cs typeface="Shruti"/>
                          </a:rPr>
                          <m:t>𝟐</m:t>
                        </m:r>
                      </m:sub>
                    </m:sSub>
                    <m:r>
                      <a:rPr lang="en-IN" b="1" dirty="0">
                        <a:solidFill>
                          <a:srgbClr val="FF0000"/>
                        </a:solidFill>
                        <a:latin typeface="Cambria Math" panose="02040503050406030204" pitchFamily="18" charset="0"/>
                        <a:ea typeface="Calibri" panose="020F0502020204030204" pitchFamily="34" charset="0"/>
                        <a:cs typeface="Shruti"/>
                      </a:rPr>
                      <m:t>,</m:t>
                    </m:r>
                  </m:oMath>
                </a14:m>
                <a:r>
                  <a:rPr lang="en-IN" dirty="0">
                    <a:latin typeface="Cambria Math" panose="02040503050406030204" pitchFamily="18" charset="0"/>
                  </a:rPr>
                  <a:t> </a:t>
                </a:r>
                <a:r>
                  <a:rPr lang="en-IN" dirty="0"/>
                  <a:t>which</a:t>
                </a:r>
                <a:r>
                  <a:rPr lang="en-IN" dirty="0">
                    <a:latin typeface="Cambria Math" panose="02040503050406030204" pitchFamily="18" charset="0"/>
                  </a:rPr>
                  <a:t> </a:t>
                </a:r>
                <a:r>
                  <a:rPr lang="en-IN" dirty="0"/>
                  <a:t>can be represented as</a:t>
                </a:r>
                <a:r>
                  <a:rPr lang="en-IN" dirty="0">
                    <a:latin typeface="Cambria Math" panose="02040503050406030204" pitchFamily="18" charset="0"/>
                  </a:rPr>
                  <a:t> </a:t>
                </a:r>
                <a14:m>
                  <m:oMath xmlns:m="http://schemas.openxmlformats.org/officeDocument/2006/math">
                    <m:r>
                      <a:rPr lang="en-US" b="1">
                        <a:solidFill>
                          <a:srgbClr val="FF0000"/>
                        </a:solidFill>
                        <a:latin typeface="Cambria Math" panose="02040503050406030204" pitchFamily="18" charset="0"/>
                        <a:ea typeface="Calibri" panose="020F0502020204030204" pitchFamily="34" charset="0"/>
                        <a:cs typeface="Shruti"/>
                      </a:rPr>
                      <m:t>𝐏</m:t>
                    </m:r>
                    <m:d>
                      <m:dPr>
                        <m:ctrlPr>
                          <a:rPr lang="en-IN" b="1" i="1">
                            <a:solidFill>
                              <a:srgbClr val="FF0000"/>
                            </a:solidFill>
                            <a:latin typeface="Cambria Math" panose="02040503050406030204" pitchFamily="18" charset="0"/>
                            <a:ea typeface="Calibri" panose="020F0502020204030204" pitchFamily="34" charset="0"/>
                            <a:cs typeface="Shruti"/>
                          </a:rPr>
                        </m:ctrlPr>
                      </m:dPr>
                      <m:e>
                        <m:sSub>
                          <m:sSubPr>
                            <m:ctrlPr>
                              <a:rPr lang="en-IN" b="1" i="1" smtClean="0">
                                <a:solidFill>
                                  <a:srgbClr val="FF0000"/>
                                </a:solidFill>
                                <a:latin typeface="Cambria Math" panose="02040503050406030204" pitchFamily="18" charset="0"/>
                                <a:ea typeface="Calibri" panose="020F0502020204030204" pitchFamily="34" charset="0"/>
                                <a:cs typeface="Shruti"/>
                              </a:rPr>
                            </m:ctrlPr>
                          </m:sSubPr>
                          <m:e>
                            <m:r>
                              <a:rPr lang="en-IN" b="1" i="0" smtClean="0">
                                <a:solidFill>
                                  <a:srgbClr val="FF0000"/>
                                </a:solidFill>
                                <a:latin typeface="Cambria Math" panose="02040503050406030204" pitchFamily="18" charset="0"/>
                                <a:ea typeface="Calibri" panose="020F0502020204030204" pitchFamily="34" charset="0"/>
                                <a:cs typeface="Shruti"/>
                              </a:rPr>
                              <m:t>𝐳</m:t>
                            </m:r>
                          </m:e>
                          <m:sub>
                            <m:r>
                              <a:rPr lang="en-IN" b="1" i="0" smtClean="0">
                                <a:solidFill>
                                  <a:srgbClr val="FF0000"/>
                                </a:solidFill>
                                <a:latin typeface="Cambria Math" panose="02040503050406030204" pitchFamily="18" charset="0"/>
                                <a:ea typeface="Calibri" panose="020F0502020204030204" pitchFamily="34" charset="0"/>
                                <a:cs typeface="Shruti"/>
                              </a:rPr>
                              <m:t>𝟏</m:t>
                            </m:r>
                          </m:sub>
                        </m:sSub>
                        <m:r>
                          <a:rPr lang="en-IN" b="1" i="1" smtClean="0">
                            <a:solidFill>
                              <a:srgbClr val="FF0000"/>
                            </a:solidFill>
                            <a:latin typeface="Cambria Math" panose="02040503050406030204" pitchFamily="18" charset="0"/>
                            <a:ea typeface="Cambria Math" panose="02040503050406030204" pitchFamily="18" charset="0"/>
                            <a:cs typeface="Shruti"/>
                          </a:rPr>
                          <m:t>≤</m:t>
                        </m:r>
                        <m:r>
                          <a:rPr lang="en-US" b="1">
                            <a:solidFill>
                              <a:srgbClr val="FF0000"/>
                            </a:solidFill>
                            <a:latin typeface="Cambria Math" panose="02040503050406030204" pitchFamily="18" charset="0"/>
                            <a:ea typeface="Calibri" panose="020F0502020204030204" pitchFamily="34" charset="0"/>
                            <a:cs typeface="Shruti"/>
                          </a:rPr>
                          <m:t>𝐙</m:t>
                        </m:r>
                        <m:r>
                          <a:rPr lang="en-US" b="1">
                            <a:solidFill>
                              <a:srgbClr val="FF0000"/>
                            </a:solidFill>
                            <a:latin typeface="Cambria Math" panose="02040503050406030204" pitchFamily="18" charset="0"/>
                            <a:ea typeface="Calibri" panose="020F0502020204030204" pitchFamily="34" charset="0"/>
                            <a:cs typeface="Shruti"/>
                          </a:rPr>
                          <m:t>≤</m:t>
                        </m:r>
                        <m:sSub>
                          <m:sSubPr>
                            <m:ctrlPr>
                              <a:rPr lang="en-IN" b="1" i="1">
                                <a:solidFill>
                                  <a:srgbClr val="FF0000"/>
                                </a:solidFill>
                                <a:latin typeface="Cambria Math" panose="02040503050406030204" pitchFamily="18" charset="0"/>
                                <a:ea typeface="Calibri" panose="020F0502020204030204" pitchFamily="34" charset="0"/>
                                <a:cs typeface="Shruti"/>
                              </a:rPr>
                            </m:ctrlPr>
                          </m:sSubPr>
                          <m:e>
                            <m:r>
                              <a:rPr lang="en-US" b="1">
                                <a:solidFill>
                                  <a:srgbClr val="FF0000"/>
                                </a:solidFill>
                                <a:latin typeface="Cambria Math" panose="02040503050406030204" pitchFamily="18" charset="0"/>
                                <a:ea typeface="Calibri" panose="020F0502020204030204" pitchFamily="34" charset="0"/>
                                <a:cs typeface="Shruti"/>
                              </a:rPr>
                              <m:t>𝐳</m:t>
                            </m:r>
                          </m:e>
                          <m:sub>
                            <m:r>
                              <a:rPr lang="en-IN" b="1" i="0" smtClean="0">
                                <a:solidFill>
                                  <a:srgbClr val="FF0000"/>
                                </a:solidFill>
                                <a:latin typeface="Cambria Math" panose="02040503050406030204" pitchFamily="18" charset="0"/>
                                <a:ea typeface="Calibri" panose="020F0502020204030204" pitchFamily="34" charset="0"/>
                                <a:cs typeface="Shruti"/>
                              </a:rPr>
                              <m:t>𝟐</m:t>
                            </m:r>
                          </m:sub>
                        </m:sSub>
                      </m:e>
                    </m:d>
                  </m:oMath>
                </a14:m>
                <a:endParaRPr lang="en-IN" b="1" dirty="0">
                  <a:solidFill>
                    <a:srgbClr val="FF0000"/>
                  </a:solidFill>
                  <a:latin typeface="Cambria Math" panose="02040503050406030204" pitchFamily="18" charset="0"/>
                  <a:ea typeface="Calibri" panose="020F0502020204030204" pitchFamily="34" charset="0"/>
                  <a:cs typeface="Shruti"/>
                </a:endParaRPr>
              </a:p>
              <a:p>
                <a:pPr lvl="0"/>
                <a14:m>
                  <m:oMath xmlns:m="http://schemas.openxmlformats.org/officeDocument/2006/math">
                    <m:r>
                      <m:rPr>
                        <m:sty m:val="p"/>
                      </m:rPr>
                      <a:rPr lang="en-US">
                        <a:latin typeface="Cambria Math" panose="02040503050406030204" pitchFamily="18" charset="0"/>
                      </a:rPr>
                      <m:t>P</m:t>
                    </m:r>
                    <m:d>
                      <m:dPr>
                        <m:ctrlPr>
                          <a:rPr lang="en-IN" i="1" smtClean="0">
                            <a:solidFill>
                              <a:schemeClr val="tx2">
                                <a:lumMod val="50000"/>
                              </a:schemeClr>
                            </a:solidFill>
                            <a:latin typeface="Cambria Math" panose="02040503050406030204" pitchFamily="18" charset="0"/>
                          </a:rPr>
                        </m:ctrlPr>
                      </m:dPr>
                      <m:e>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1">
                                <a:solidFill>
                                  <a:schemeClr val="tx2">
                                    <a:lumMod val="50000"/>
                                  </a:schemeClr>
                                </a:solidFill>
                                <a:latin typeface="Cambria Math" panose="02040503050406030204" pitchFamily="18" charset="0"/>
                                <a:ea typeface="Calibri" panose="020F0502020204030204" pitchFamily="34" charset="0"/>
                                <a:cs typeface="Shruti"/>
                              </a:rPr>
                              <m:t>1</m:t>
                            </m:r>
                          </m:sub>
                        </m:sSub>
                        <m:r>
                          <a:rPr lang="en-IN" b="0" i="1" smtClean="0">
                            <a:solidFill>
                              <a:schemeClr val="tx2">
                                <a:lumMod val="50000"/>
                              </a:schemeClr>
                            </a:solidFill>
                            <a:latin typeface="Cambria Math" panose="02040503050406030204" pitchFamily="18" charset="0"/>
                            <a:ea typeface="Cambria Math" panose="02040503050406030204" pitchFamily="18" charset="0"/>
                            <a:cs typeface="Shruti"/>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smtClean="0">
                                <a:solidFill>
                                  <a:schemeClr val="tx2">
                                    <a:lumMod val="50000"/>
                                  </a:schemeClr>
                                </a:solidFill>
                                <a:latin typeface="Cambria Math" panose="02040503050406030204" pitchFamily="18" charset="0"/>
                              </a:rPr>
                            </m:ctrlPr>
                          </m:sSubPr>
                          <m:e>
                            <m:r>
                              <m:rPr>
                                <m:sty m:val="p"/>
                              </m:rPr>
                              <a:rPr lang="en-US">
                                <a:solidFill>
                                  <a:schemeClr val="tx2">
                                    <a:lumMod val="50000"/>
                                  </a:schemeClr>
                                </a:solidFill>
                                <a:latin typeface="Cambria Math" panose="02040503050406030204" pitchFamily="18" charset="0"/>
                              </a:rPr>
                              <m:t>z</m:t>
                            </m:r>
                          </m:e>
                          <m:sub>
                            <m:r>
                              <a:rPr lang="en-IN" b="0" i="0" smtClean="0">
                                <a:solidFill>
                                  <a:schemeClr val="tx2">
                                    <a:lumMod val="50000"/>
                                  </a:schemeClr>
                                </a:solidFill>
                                <a:latin typeface="Cambria Math" panose="02040503050406030204" pitchFamily="18" charset="0"/>
                              </a:rPr>
                              <m:t>2</m:t>
                            </m:r>
                          </m:sub>
                        </m:sSub>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b="0" i="0" smtClean="0">
                            <a:solidFill>
                              <a:schemeClr val="tx2">
                                <a:lumMod val="50000"/>
                              </a:schemeClr>
                            </a:solidFill>
                            <a:latin typeface="Cambria Math" panose="02040503050406030204" pitchFamily="18" charset="0"/>
                          </a:rPr>
                          <m:t>0</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0" smtClean="0">
                                <a:solidFill>
                                  <a:schemeClr val="tx2">
                                    <a:lumMod val="50000"/>
                                  </a:schemeClr>
                                </a:solidFill>
                                <a:latin typeface="Cambria Math" panose="02040503050406030204" pitchFamily="18" charset="0"/>
                                <a:ea typeface="Calibri" panose="020F0502020204030204" pitchFamily="34" charset="0"/>
                                <a:cs typeface="Shruti"/>
                              </a:rPr>
                              <m:t>2</m:t>
                            </m:r>
                          </m:sub>
                        </m:sSub>
                      </m:e>
                    </m:d>
                    <m:r>
                      <a:rPr lang="en-IN" b="0" i="0" smtClean="0">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b="0" i="1" smtClean="0">
                            <a:solidFill>
                              <a:schemeClr val="tx2">
                                <a:lumMod val="50000"/>
                              </a:schemeClr>
                            </a:solidFill>
                            <a:latin typeface="Cambria Math" panose="02040503050406030204" pitchFamily="18" charset="0"/>
                          </a:rPr>
                          <m:t>0</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1">
                                <a:solidFill>
                                  <a:schemeClr val="tx2">
                                    <a:lumMod val="50000"/>
                                  </a:schemeClr>
                                </a:solidFill>
                                <a:latin typeface="Cambria Math" panose="02040503050406030204" pitchFamily="18" charset="0"/>
                                <a:ea typeface="Calibri" panose="020F0502020204030204" pitchFamily="34" charset="0"/>
                                <a:cs typeface="Shruti"/>
                              </a:rPr>
                              <m:t>1</m:t>
                            </m:r>
                          </m:sub>
                        </m:sSub>
                      </m:e>
                    </m:d>
                  </m:oMath>
                </a14:m>
                <a:endParaRPr lang="en-IN" dirty="0">
                  <a:solidFill>
                    <a:schemeClr val="tx2">
                      <a:lumMod val="50000"/>
                    </a:schemeClr>
                  </a:solidFill>
                  <a:latin typeface="Cambria Math" panose="02040503050406030204" pitchFamily="18" charset="0"/>
                </a:endParaRPr>
              </a:p>
              <a:p>
                <a:pPr lvl="0"/>
                <a:r>
                  <a:rPr lang="en-US" dirty="0">
                    <a:solidFill>
                      <a:schemeClr val="tx2">
                        <a:lumMod val="50000"/>
                      </a:schemeClr>
                    </a:solidFill>
                  </a:rPr>
                  <a:t>Since, </a:t>
                </a:r>
                <a14:m>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a:solidFill>
                              <a:schemeClr val="tx2">
                                <a:lumMod val="50000"/>
                              </a:schemeClr>
                            </a:solidFill>
                            <a:latin typeface="Cambria Math" panose="02040503050406030204" pitchFamily="18" charset="0"/>
                          </a:rPr>
                          <m:t>0</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0" smtClean="0">
                                <a:solidFill>
                                  <a:schemeClr val="tx2">
                                    <a:lumMod val="50000"/>
                                  </a:schemeClr>
                                </a:solidFill>
                                <a:latin typeface="Cambria Math" panose="02040503050406030204" pitchFamily="18" charset="0"/>
                                <a:ea typeface="Calibri" panose="020F0502020204030204" pitchFamily="34" charset="0"/>
                                <a:cs typeface="Shruti"/>
                              </a:rPr>
                              <m:t>1</m:t>
                            </m:r>
                          </m:sub>
                        </m:sSub>
                      </m:e>
                    </m:d>
                  </m:oMath>
                </a14:m>
                <a:r>
                  <a:rPr lang="en-US" dirty="0">
                    <a:solidFill>
                      <a:schemeClr val="tx2">
                        <a:lumMod val="50000"/>
                      </a:schemeClr>
                    </a:solidFill>
                    <a:latin typeface="Cambria Math" panose="02040503050406030204" pitchFamily="18" charset="0"/>
                  </a:rPr>
                  <a:t> </a:t>
                </a:r>
                <a:r>
                  <a:rPr lang="en-US" dirty="0">
                    <a:solidFill>
                      <a:schemeClr val="tx2">
                        <a:lumMod val="50000"/>
                      </a:schemeClr>
                    </a:solidFill>
                  </a:rPr>
                  <a:t>&amp; </a:t>
                </a:r>
                <a14:m>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a:solidFill>
                              <a:schemeClr val="tx2">
                                <a:lumMod val="50000"/>
                              </a:schemeClr>
                            </a:solidFill>
                            <a:latin typeface="Cambria Math" panose="02040503050406030204" pitchFamily="18" charset="0"/>
                          </a:rPr>
                          <m:t>0</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1">
                                <a:solidFill>
                                  <a:schemeClr val="tx2">
                                    <a:lumMod val="50000"/>
                                  </a:schemeClr>
                                </a:solidFill>
                                <a:latin typeface="Cambria Math" panose="02040503050406030204" pitchFamily="18" charset="0"/>
                                <a:ea typeface="Calibri" panose="020F0502020204030204" pitchFamily="34" charset="0"/>
                                <a:cs typeface="Shruti"/>
                              </a:rPr>
                              <m:t>2</m:t>
                            </m:r>
                          </m:sub>
                        </m:sSub>
                      </m:e>
                    </m:d>
                  </m:oMath>
                </a14:m>
                <a:r>
                  <a:rPr lang="en-US" dirty="0">
                    <a:solidFill>
                      <a:schemeClr val="tx2">
                        <a:lumMod val="50000"/>
                      </a:schemeClr>
                    </a:solidFill>
                  </a:rPr>
                  <a:t> can be found</a:t>
                </a:r>
                <a:r>
                  <a:rPr lang="en-US" dirty="0"/>
                  <a:t> by using case – I</a:t>
                </a:r>
                <a:endParaRPr lang="en-IN" dirty="0">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131181" y="835734"/>
                <a:ext cx="11880710" cy="5590565"/>
              </a:xfrm>
              <a:blipFill rotWithShape="0">
                <a:blip r:embed="rId2"/>
                <a:stretch>
                  <a:fillRect l="-10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 Box 51"/>
              <p:cNvSpPr txBox="1"/>
              <p:nvPr/>
            </p:nvSpPr>
            <p:spPr>
              <a:xfrm>
                <a:off x="5959766" y="5133170"/>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6" name="Text Box 51"/>
              <p:cNvSpPr txBox="1">
                <a:spLocks noRot="1" noChangeAspect="1" noMove="1" noResize="1" noEditPoints="1" noAdjustHandles="1" noChangeArrowheads="1" noChangeShapeType="1" noTextEdit="1"/>
              </p:cNvSpPr>
              <p:nvPr/>
            </p:nvSpPr>
            <p:spPr>
              <a:xfrm>
                <a:off x="5959766" y="5133170"/>
                <a:ext cx="320040" cy="346710"/>
              </a:xfrm>
              <a:prstGeom prst="rect">
                <a:avLst/>
              </a:prstGeom>
              <a:blipFill rotWithShape="0">
                <a:blip r:embed="rId3"/>
                <a:stretch>
                  <a:fillRect b="-14035"/>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 Box 51"/>
              <p:cNvSpPr txBox="1"/>
              <p:nvPr/>
            </p:nvSpPr>
            <p:spPr>
              <a:xfrm>
                <a:off x="9467111" y="5154942"/>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7" name="Text Box 51"/>
              <p:cNvSpPr txBox="1">
                <a:spLocks noRot="1" noChangeAspect="1" noMove="1" noResize="1" noEditPoints="1" noAdjustHandles="1" noChangeArrowheads="1" noChangeShapeType="1" noTextEdit="1"/>
              </p:cNvSpPr>
              <p:nvPr/>
            </p:nvSpPr>
            <p:spPr>
              <a:xfrm>
                <a:off x="9467111" y="5154942"/>
                <a:ext cx="320040" cy="346710"/>
              </a:xfrm>
              <a:prstGeom prst="rect">
                <a:avLst/>
              </a:prstGeom>
              <a:blipFill rotWithShape="0">
                <a:blip r:embed="rId4"/>
                <a:stretch>
                  <a:fillRect b="-12281"/>
                </a:stretch>
              </a:blipFill>
              <a:ln w="6350">
                <a:noFill/>
              </a:ln>
            </p:spPr>
            <p:txBody>
              <a:bodyPr/>
              <a:lstStyle/>
              <a:p>
                <a:r>
                  <a:rPr lang="en-IN">
                    <a:noFill/>
                  </a:rPr>
                  <a:t> </a:t>
                </a:r>
              </a:p>
            </p:txBody>
          </p:sp>
        </mc:Fallback>
      </mc:AlternateContent>
      <p:pic>
        <p:nvPicPr>
          <p:cNvPr id="13" name="Picture 12"/>
          <p:cNvPicPr/>
          <p:nvPr/>
        </p:nvPicPr>
        <p:blipFill rotWithShape="1">
          <a:blip r:embed="rId5">
            <a:extLst>
              <a:ext uri="{28A0092B-C50C-407E-A947-70E740481C1C}">
                <a14:useLocalDpi xmlns:a14="http://schemas.microsoft.com/office/drawing/2010/main" val="0"/>
              </a:ext>
            </a:extLst>
          </a:blip>
          <a:srcRect l="10968" t="49242" r="30092" b="30373"/>
          <a:stretch/>
        </p:blipFill>
        <p:spPr bwMode="auto">
          <a:xfrm>
            <a:off x="473365" y="3309870"/>
            <a:ext cx="11010471" cy="1733352"/>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3" name="Rectangle 2"/>
              <p:cNvSpPr/>
              <p:nvPr/>
            </p:nvSpPr>
            <p:spPr>
              <a:xfrm>
                <a:off x="2405571" y="5137529"/>
                <a:ext cx="58881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kern="0">
                              <a:solidFill>
                                <a:sysClr val="windowText" lastClr="000000"/>
                              </a:solidFill>
                              <a:latin typeface="Cambria Math" panose="02040503050406030204" pitchFamily="18" charset="0"/>
                              <a:ea typeface="Cambria Math" panose="02040503050406030204" pitchFamily="18" charset="0"/>
                              <a:cs typeface="Shruti"/>
                            </a:rPr>
                          </m:ctrlPr>
                        </m:sSubPr>
                        <m:e>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US" sz="2800" kern="0">
                              <a:solidFill>
                                <a:sysClr val="windowText" lastClr="000000"/>
                              </a:solidFill>
                              <a:latin typeface="Cambria Math" panose="02040503050406030204" pitchFamily="18" charset="0"/>
                              <a:ea typeface="Cambria Math" panose="02040503050406030204" pitchFamily="18" charset="0"/>
                              <a:cs typeface="Shruti"/>
                            </a:rPr>
                            <m:t>1</m:t>
                          </m:r>
                        </m:sub>
                      </m:sSub>
                    </m:oMath>
                  </m:oMathPara>
                </a14:m>
                <a:endParaRPr lang="en-IN" sz="2800" dirty="0"/>
              </a:p>
            </p:txBody>
          </p:sp>
        </mc:Choice>
        <mc:Fallback xmlns="">
          <p:sp>
            <p:nvSpPr>
              <p:cNvPr id="3" name="Rectangle 2"/>
              <p:cNvSpPr>
                <a:spLocks noRot="1" noChangeAspect="1" noMove="1" noResize="1" noEditPoints="1" noAdjustHandles="1" noChangeArrowheads="1" noChangeShapeType="1" noTextEdit="1"/>
              </p:cNvSpPr>
              <p:nvPr/>
            </p:nvSpPr>
            <p:spPr>
              <a:xfrm>
                <a:off x="2405571" y="5137529"/>
                <a:ext cx="588815" cy="523220"/>
              </a:xfrm>
              <a:prstGeom prst="rect">
                <a:avLst/>
              </a:prstGeom>
              <a:blipFill rotWithShape="0">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317825" y="5109623"/>
                <a:ext cx="588815"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kern="0" smtClean="0">
                              <a:solidFill>
                                <a:sysClr val="windowText" lastClr="000000"/>
                              </a:solidFill>
                              <a:latin typeface="Cambria Math" panose="02040503050406030204" pitchFamily="18" charset="0"/>
                              <a:ea typeface="Cambria Math" panose="02040503050406030204" pitchFamily="18" charset="0"/>
                              <a:cs typeface="Shruti"/>
                            </a:rPr>
                          </m:ctrlPr>
                        </m:sSubPr>
                        <m:e>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IN" sz="2800" b="0" i="0" kern="0" smtClean="0">
                              <a:solidFill>
                                <a:sysClr val="windowText" lastClr="000000"/>
                              </a:solidFill>
                              <a:latin typeface="Cambria Math" panose="02040503050406030204" pitchFamily="18" charset="0"/>
                              <a:ea typeface="Cambria Math" panose="02040503050406030204" pitchFamily="18" charset="0"/>
                              <a:cs typeface="Shruti"/>
                            </a:rPr>
                            <m:t>2</m:t>
                          </m:r>
                        </m:sub>
                      </m:sSub>
                    </m:oMath>
                  </m:oMathPara>
                </a14:m>
                <a:endParaRPr lang="en-IN" sz="2800" dirty="0"/>
              </a:p>
            </p:txBody>
          </p:sp>
        </mc:Choice>
        <mc:Fallback xmlns="">
          <p:sp>
            <p:nvSpPr>
              <p:cNvPr id="14" name="Rectangle 13"/>
              <p:cNvSpPr>
                <a:spLocks noRot="1" noChangeAspect="1" noMove="1" noResize="1" noEditPoints="1" noAdjustHandles="1" noChangeArrowheads="1" noChangeShapeType="1" noTextEdit="1"/>
              </p:cNvSpPr>
              <p:nvPr/>
            </p:nvSpPr>
            <p:spPr>
              <a:xfrm>
                <a:off x="3317825" y="5109623"/>
                <a:ext cx="588815" cy="523220"/>
              </a:xfrm>
              <a:prstGeom prst="rect">
                <a:avLst/>
              </a:prstGeom>
              <a:blipFill rotWithShape="0">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960401" y="5094596"/>
                <a:ext cx="588815"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kern="0" smtClean="0">
                              <a:solidFill>
                                <a:sysClr val="windowText" lastClr="000000"/>
                              </a:solidFill>
                              <a:latin typeface="Cambria Math" panose="02040503050406030204" pitchFamily="18" charset="0"/>
                              <a:ea typeface="Cambria Math" panose="02040503050406030204" pitchFamily="18" charset="0"/>
                              <a:cs typeface="Shruti"/>
                            </a:rPr>
                          </m:ctrlPr>
                        </m:sSubPr>
                        <m:e>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IN" sz="2800" b="0" i="0" kern="0" smtClean="0">
                              <a:solidFill>
                                <a:sysClr val="windowText" lastClr="000000"/>
                              </a:solidFill>
                              <a:latin typeface="Cambria Math" panose="02040503050406030204" pitchFamily="18" charset="0"/>
                              <a:ea typeface="Cambria Math" panose="02040503050406030204" pitchFamily="18" charset="0"/>
                              <a:cs typeface="Shruti"/>
                            </a:rPr>
                            <m:t>2</m:t>
                          </m:r>
                        </m:sub>
                      </m:sSub>
                    </m:oMath>
                  </m:oMathPara>
                </a14:m>
                <a:endParaRPr lang="en-IN" sz="2800" dirty="0"/>
              </a:p>
            </p:txBody>
          </p:sp>
        </mc:Choice>
        <mc:Fallback xmlns="">
          <p:sp>
            <p:nvSpPr>
              <p:cNvPr id="15" name="Rectangle 14"/>
              <p:cNvSpPr>
                <a:spLocks noRot="1" noChangeAspect="1" noMove="1" noResize="1" noEditPoints="1" noAdjustHandles="1" noChangeArrowheads="1" noChangeShapeType="1" noTextEdit="1"/>
              </p:cNvSpPr>
              <p:nvPr/>
            </p:nvSpPr>
            <p:spPr>
              <a:xfrm>
                <a:off x="6960401" y="5094596"/>
                <a:ext cx="588815" cy="523220"/>
              </a:xfrm>
              <a:prstGeom prst="rect">
                <a:avLst/>
              </a:prstGeom>
              <a:blipFill rotWithShape="0">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9787151" y="5122502"/>
                <a:ext cx="58881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kern="0">
                              <a:solidFill>
                                <a:sysClr val="windowText" lastClr="000000"/>
                              </a:solidFill>
                              <a:latin typeface="Cambria Math" panose="02040503050406030204" pitchFamily="18" charset="0"/>
                              <a:ea typeface="Cambria Math" panose="02040503050406030204" pitchFamily="18" charset="0"/>
                              <a:cs typeface="Shruti"/>
                            </a:rPr>
                          </m:ctrlPr>
                        </m:sSubPr>
                        <m:e>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US" sz="2800" kern="0">
                              <a:solidFill>
                                <a:sysClr val="windowText" lastClr="000000"/>
                              </a:solidFill>
                              <a:latin typeface="Cambria Math" panose="02040503050406030204" pitchFamily="18" charset="0"/>
                              <a:ea typeface="Cambria Math" panose="02040503050406030204" pitchFamily="18" charset="0"/>
                              <a:cs typeface="Shruti"/>
                            </a:rPr>
                            <m:t>1</m:t>
                          </m:r>
                        </m:sub>
                      </m:sSub>
                    </m:oMath>
                  </m:oMathPara>
                </a14:m>
                <a:endParaRPr lang="en-IN" sz="2800" dirty="0"/>
              </a:p>
            </p:txBody>
          </p:sp>
        </mc:Choice>
        <mc:Fallback xmlns="">
          <p:sp>
            <p:nvSpPr>
              <p:cNvPr id="16" name="Rectangle 15"/>
              <p:cNvSpPr>
                <a:spLocks noRot="1" noChangeAspect="1" noMove="1" noResize="1" noEditPoints="1" noAdjustHandles="1" noChangeArrowheads="1" noChangeShapeType="1" noTextEdit="1"/>
              </p:cNvSpPr>
              <p:nvPr/>
            </p:nvSpPr>
            <p:spPr>
              <a:xfrm>
                <a:off x="9787151" y="5122502"/>
                <a:ext cx="588815" cy="523220"/>
              </a:xfrm>
              <a:prstGeom prst="rect">
                <a:avLst/>
              </a:prstGeom>
              <a:blipFill rotWithShape="0">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052454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up)">
                                      <p:cBhvr>
                                        <p:cTn id="14" dur="500"/>
                                        <p:tgtEl>
                                          <p:spTgt spid="3"/>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up)">
                                      <p:cBhvr>
                                        <p:cTn id="20" dur="500"/>
                                        <p:tgtEl>
                                          <p:spTgt spid="26"/>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up)">
                                      <p:cBhvr>
                                        <p:cTn id="26" dur="500"/>
                                        <p:tgtEl>
                                          <p:spTgt spid="27"/>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6" grpId="0" animBg="1"/>
      <p:bldP spid="27" grpId="0" animBg="1"/>
      <p:bldP spid="3" grpId="0"/>
      <p:bldP spid="14" grpId="0"/>
      <p:bldP spid="15" grpId="0"/>
      <p:bldP spid="16"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92543" y="835734"/>
                <a:ext cx="12060819" cy="5590565"/>
              </a:xfrm>
            </p:spPr>
            <p:txBody>
              <a:bodyPr/>
              <a:lstStyle/>
              <a:p>
                <a:pPr marL="0" lvl="0" indent="0">
                  <a:buNone/>
                </a:pPr>
                <a:r>
                  <a:rPr lang="en-US" dirty="0">
                    <a:solidFill>
                      <a:schemeClr val="accent5">
                        <a:lumMod val="50000"/>
                      </a:schemeClr>
                    </a:solidFill>
                  </a:rPr>
                  <a:t>Note:</a:t>
                </a:r>
                <a:r>
                  <a:rPr lang="en-US" dirty="0"/>
                  <a:t> </a:t>
                </a:r>
                <a:endParaRPr lang="en-IN" dirty="0"/>
              </a:p>
              <a:p>
                <a:pPr lvl="0"/>
                <a:r>
                  <a:rPr lang="en-US" sz="2650" dirty="0"/>
                  <a:t>Area between </a:t>
                </a:r>
                <a14:m>
                  <m:oMath xmlns:m="http://schemas.openxmlformats.org/officeDocument/2006/math">
                    <m:r>
                      <a:rPr lang="en-US" sz="2650" b="1" i="0" dirty="0" smtClean="0">
                        <a:solidFill>
                          <a:srgbClr val="FF0000"/>
                        </a:solidFill>
                        <a:latin typeface="Cambria Math" panose="02040503050406030204" pitchFamily="18" charset="0"/>
                      </a:rPr>
                      <m:t>𝐙</m:t>
                    </m:r>
                    <m:r>
                      <a:rPr lang="en-US" sz="2650" b="1" i="0" dirty="0" smtClean="0">
                        <a:solidFill>
                          <a:srgbClr val="FF0000"/>
                        </a:solidFill>
                        <a:latin typeface="Cambria Math" panose="02040503050406030204" pitchFamily="18" charset="0"/>
                      </a:rPr>
                      <m:t>=</m:t>
                    </m:r>
                    <m:sSub>
                      <m:sSubPr>
                        <m:ctrlPr>
                          <a:rPr lang="en-IN" sz="2650" b="1" i="1" dirty="0">
                            <a:solidFill>
                              <a:srgbClr val="FF0000"/>
                            </a:solidFill>
                            <a:latin typeface="Cambria Math" panose="02040503050406030204" pitchFamily="18" charset="0"/>
                          </a:rPr>
                        </m:ctrlPr>
                      </m:sSubPr>
                      <m:e>
                        <m:r>
                          <a:rPr lang="en-IN" sz="2650" b="1" i="0" dirty="0" smtClean="0">
                            <a:solidFill>
                              <a:srgbClr val="FF0000"/>
                            </a:solidFill>
                            <a:latin typeface="Cambria Math" panose="02040503050406030204" pitchFamily="18" charset="0"/>
                          </a:rPr>
                          <m:t>−</m:t>
                        </m:r>
                        <m:r>
                          <a:rPr lang="en-US" sz="2650" b="1" i="0" dirty="0" smtClean="0">
                            <a:solidFill>
                              <a:srgbClr val="FF0000"/>
                            </a:solidFill>
                            <a:latin typeface="Cambria Math" panose="02040503050406030204" pitchFamily="18" charset="0"/>
                          </a:rPr>
                          <m:t>𝐳</m:t>
                        </m:r>
                      </m:e>
                      <m:sub>
                        <m:r>
                          <a:rPr lang="en-IN" sz="2650" b="1" i="0" dirty="0" smtClean="0">
                            <a:solidFill>
                              <a:srgbClr val="FF0000"/>
                            </a:solidFill>
                            <a:latin typeface="Cambria Math" panose="02040503050406030204" pitchFamily="18" charset="0"/>
                          </a:rPr>
                          <m:t>𝟐</m:t>
                        </m:r>
                      </m:sub>
                    </m:sSub>
                    <m:r>
                      <a:rPr lang="en-US" sz="2650" b="1" i="0" dirty="0">
                        <a:solidFill>
                          <a:srgbClr val="FF0000"/>
                        </a:solidFill>
                        <a:latin typeface="Cambria Math" panose="02040503050406030204" pitchFamily="18" charset="0"/>
                      </a:rPr>
                      <m:t> </m:t>
                    </m:r>
                    <m:r>
                      <a:rPr lang="en-US" sz="2650" b="1" i="0" dirty="0">
                        <a:solidFill>
                          <a:srgbClr val="FF0000"/>
                        </a:solidFill>
                        <a:latin typeface="Cambria Math" panose="02040503050406030204" pitchFamily="18" charset="0"/>
                      </a:rPr>
                      <m:t>𝐭𝐨</m:t>
                    </m:r>
                    <m:r>
                      <a:rPr lang="en-US" sz="2650" b="1" i="0" dirty="0">
                        <a:solidFill>
                          <a:srgbClr val="FF0000"/>
                        </a:solidFill>
                        <a:latin typeface="Cambria Math" panose="02040503050406030204" pitchFamily="18" charset="0"/>
                      </a:rPr>
                      <m:t> </m:t>
                    </m:r>
                    <m:r>
                      <a:rPr lang="en-US" sz="2650" b="1" i="0" dirty="0" smtClean="0">
                        <a:solidFill>
                          <a:srgbClr val="FF0000"/>
                        </a:solidFill>
                        <a:latin typeface="Cambria Math" panose="02040503050406030204" pitchFamily="18" charset="0"/>
                      </a:rPr>
                      <m:t>𝐙</m:t>
                    </m:r>
                    <m:r>
                      <a:rPr lang="en-US" sz="2650" b="1" i="0" dirty="0" smtClean="0">
                        <a:solidFill>
                          <a:srgbClr val="FF0000"/>
                        </a:solidFill>
                        <a:latin typeface="Cambria Math" panose="02040503050406030204" pitchFamily="18" charset="0"/>
                      </a:rPr>
                      <m:t>=−</m:t>
                    </m:r>
                    <m:sSub>
                      <m:sSubPr>
                        <m:ctrlPr>
                          <a:rPr lang="en-IN" sz="2650" b="1" i="1" dirty="0" smtClean="0">
                            <a:solidFill>
                              <a:srgbClr val="FF0000"/>
                            </a:solidFill>
                            <a:latin typeface="Cambria Math" panose="02040503050406030204" pitchFamily="18" charset="0"/>
                          </a:rPr>
                        </m:ctrlPr>
                      </m:sSubPr>
                      <m:e>
                        <m:r>
                          <a:rPr lang="en-IN" sz="2650" b="1" i="0" dirty="0" smtClean="0">
                            <a:solidFill>
                              <a:srgbClr val="FF0000"/>
                            </a:solidFill>
                            <a:latin typeface="Cambria Math" panose="02040503050406030204" pitchFamily="18" charset="0"/>
                          </a:rPr>
                          <m:t>𝐳</m:t>
                        </m:r>
                      </m:e>
                      <m:sub>
                        <m:r>
                          <a:rPr lang="en-IN" sz="2650" b="1" i="0" dirty="0" smtClean="0">
                            <a:solidFill>
                              <a:srgbClr val="FF0000"/>
                            </a:solidFill>
                            <a:latin typeface="Cambria Math" panose="02040503050406030204" pitchFamily="18" charset="0"/>
                          </a:rPr>
                          <m:t>𝟏</m:t>
                        </m:r>
                      </m:sub>
                    </m:sSub>
                  </m:oMath>
                </a14:m>
                <a:r>
                  <a:rPr lang="en-IN" sz="2650" i="0" dirty="0">
                    <a:latin typeface="Cambria Math" panose="02040503050406030204" pitchFamily="18" charset="0"/>
                  </a:rPr>
                  <a:t> </a:t>
                </a:r>
                <a:r>
                  <a:rPr lang="en-US" sz="2650" dirty="0"/>
                  <a:t>which can be represented as </a:t>
                </a:r>
                <a14:m>
                  <m:oMath xmlns:m="http://schemas.openxmlformats.org/officeDocument/2006/math">
                    <m:r>
                      <a:rPr lang="en-US" sz="2650" b="1" i="1" smtClean="0">
                        <a:solidFill>
                          <a:srgbClr val="FF0000"/>
                        </a:solidFill>
                        <a:latin typeface="Cambria Math" panose="02040503050406030204" pitchFamily="18" charset="0"/>
                      </a:rPr>
                      <m:t>𝐏</m:t>
                    </m:r>
                    <m:d>
                      <m:dPr>
                        <m:ctrlPr>
                          <a:rPr lang="en-IN" sz="2650" b="1" i="1">
                            <a:solidFill>
                              <a:srgbClr val="FF0000"/>
                            </a:solidFill>
                            <a:latin typeface="Cambria Math" panose="02040503050406030204" pitchFamily="18" charset="0"/>
                          </a:rPr>
                        </m:ctrlPr>
                      </m:dPr>
                      <m:e>
                        <m:r>
                          <a:rPr lang="en-IN" sz="2650" b="1" i="1" smtClean="0">
                            <a:solidFill>
                              <a:srgbClr val="FF0000"/>
                            </a:solidFill>
                            <a:latin typeface="Cambria Math" panose="02040503050406030204" pitchFamily="18" charset="0"/>
                          </a:rPr>
                          <m:t>−</m:t>
                        </m:r>
                        <m:sSub>
                          <m:sSubPr>
                            <m:ctrlPr>
                              <a:rPr lang="en-IN" sz="2650" b="1" i="1" smtClean="0">
                                <a:solidFill>
                                  <a:srgbClr val="FF0000"/>
                                </a:solidFill>
                                <a:latin typeface="Cambria Math" panose="02040503050406030204" pitchFamily="18" charset="0"/>
                              </a:rPr>
                            </m:ctrlPr>
                          </m:sSubPr>
                          <m:e>
                            <m:r>
                              <a:rPr lang="en-IN" sz="2650" b="1" i="1" smtClean="0">
                                <a:solidFill>
                                  <a:srgbClr val="FF0000"/>
                                </a:solidFill>
                                <a:latin typeface="Cambria Math" panose="02040503050406030204" pitchFamily="18" charset="0"/>
                              </a:rPr>
                              <m:t>𝒛</m:t>
                            </m:r>
                          </m:e>
                          <m:sub>
                            <m:r>
                              <a:rPr lang="en-IN" sz="2650" b="1" i="1" smtClean="0">
                                <a:solidFill>
                                  <a:srgbClr val="FF0000"/>
                                </a:solidFill>
                                <a:latin typeface="Cambria Math" panose="02040503050406030204" pitchFamily="18" charset="0"/>
                              </a:rPr>
                              <m:t>𝟐</m:t>
                            </m:r>
                          </m:sub>
                        </m:sSub>
                        <m:r>
                          <a:rPr lang="en-IN" sz="2650" b="1" i="1" smtClean="0">
                            <a:solidFill>
                              <a:srgbClr val="FF0000"/>
                            </a:solidFill>
                            <a:latin typeface="Cambria Math" panose="02040503050406030204" pitchFamily="18" charset="0"/>
                            <a:ea typeface="Cambria Math" panose="02040503050406030204" pitchFamily="18" charset="0"/>
                          </a:rPr>
                          <m:t>≤</m:t>
                        </m:r>
                        <m:r>
                          <a:rPr lang="en-US" sz="2650" b="1" i="1">
                            <a:solidFill>
                              <a:srgbClr val="FF0000"/>
                            </a:solidFill>
                            <a:latin typeface="Cambria Math" panose="02040503050406030204" pitchFamily="18" charset="0"/>
                          </a:rPr>
                          <m:t>𝐙</m:t>
                        </m:r>
                        <m:r>
                          <a:rPr lang="en-US" sz="2650" b="1" i="1" smtClean="0">
                            <a:solidFill>
                              <a:srgbClr val="FF0000"/>
                            </a:solidFill>
                            <a:latin typeface="Cambria Math" panose="02040503050406030204" pitchFamily="18" charset="0"/>
                            <a:ea typeface="Cambria Math" panose="02040503050406030204" pitchFamily="18" charset="0"/>
                          </a:rPr>
                          <m:t>≤</m:t>
                        </m:r>
                        <m:r>
                          <a:rPr lang="en-IN" sz="2650" b="1" i="1" smtClean="0">
                            <a:solidFill>
                              <a:srgbClr val="FF0000"/>
                            </a:solidFill>
                            <a:latin typeface="Cambria Math" panose="02040503050406030204" pitchFamily="18" charset="0"/>
                            <a:ea typeface="Cambria Math" panose="02040503050406030204" pitchFamily="18" charset="0"/>
                          </a:rPr>
                          <m:t>−</m:t>
                        </m:r>
                        <m:sSub>
                          <m:sSubPr>
                            <m:ctrlPr>
                              <a:rPr lang="en-IN" sz="2650" b="1" i="1">
                                <a:solidFill>
                                  <a:srgbClr val="FF0000"/>
                                </a:solidFill>
                                <a:latin typeface="Cambria Math" panose="02040503050406030204" pitchFamily="18" charset="0"/>
                              </a:rPr>
                            </m:ctrlPr>
                          </m:sSubPr>
                          <m:e>
                            <m:r>
                              <a:rPr lang="en-US" sz="2650" b="1" i="0">
                                <a:solidFill>
                                  <a:srgbClr val="FF0000"/>
                                </a:solidFill>
                                <a:latin typeface="Cambria Math" panose="02040503050406030204" pitchFamily="18" charset="0"/>
                              </a:rPr>
                              <m:t>𝐳</m:t>
                            </m:r>
                          </m:e>
                          <m:sub>
                            <m:r>
                              <a:rPr lang="en-US" sz="2650" b="1" i="0">
                                <a:solidFill>
                                  <a:srgbClr val="FF0000"/>
                                </a:solidFill>
                                <a:latin typeface="Cambria Math" panose="02040503050406030204" pitchFamily="18" charset="0"/>
                              </a:rPr>
                              <m:t>𝟏</m:t>
                            </m:r>
                          </m:sub>
                        </m:sSub>
                      </m:e>
                    </m:d>
                  </m:oMath>
                </a14:m>
                <a:endParaRPr lang="en-US" sz="2650" b="1" dirty="0"/>
              </a:p>
              <a:p>
                <a:pPr lvl="0"/>
                <a14:m>
                  <m:oMath xmlns:m="http://schemas.openxmlformats.org/officeDocument/2006/math">
                    <m:r>
                      <a:rPr lang="en-US" b="1" i="1">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IN" b="1" i="0">
                            <a:solidFill>
                              <a:srgbClr val="FF0000"/>
                            </a:solidFill>
                            <a:latin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IN" b="1" i="0">
                                <a:solidFill>
                                  <a:srgbClr val="FF0000"/>
                                </a:solidFill>
                                <a:latin typeface="Cambria Math" panose="02040503050406030204" pitchFamily="18" charset="0"/>
                              </a:rPr>
                              <m:t>𝐳</m:t>
                            </m:r>
                          </m:e>
                          <m:sub>
                            <m:r>
                              <a:rPr lang="en-IN" b="1" i="0">
                                <a:solidFill>
                                  <a:srgbClr val="FF0000"/>
                                </a:solidFill>
                                <a:latin typeface="Cambria Math" panose="02040503050406030204" pitchFamily="18" charset="0"/>
                              </a:rPr>
                              <m:t>𝟐</m:t>
                            </m:r>
                          </m:sub>
                        </m:sSub>
                        <m:r>
                          <a:rPr lang="en-IN"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rPr>
                          <m:t>𝐙</m:t>
                        </m:r>
                        <m:r>
                          <a:rPr lang="en-US" b="1" i="1">
                            <a:solidFill>
                              <a:srgbClr val="FF0000"/>
                            </a:solidFill>
                            <a:latin typeface="Cambria Math" panose="02040503050406030204" pitchFamily="18" charset="0"/>
                            <a:ea typeface="Cambria Math" panose="02040503050406030204" pitchFamily="18" charset="0"/>
                          </a:rPr>
                          <m:t>≤</m:t>
                        </m:r>
                        <m:r>
                          <a:rPr lang="en-IN" b="1" i="1">
                            <a:solidFill>
                              <a:srgbClr val="FF0000"/>
                            </a:solidFill>
                            <a:latin typeface="Cambria Math" panose="02040503050406030204" pitchFamily="18" charset="0"/>
                            <a:ea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𝐳</m:t>
                            </m:r>
                          </m:e>
                          <m:sub>
                            <m:r>
                              <a:rPr lang="en-US" b="1">
                                <a:solidFill>
                                  <a:srgbClr val="FF0000"/>
                                </a:solidFill>
                                <a:latin typeface="Cambria Math" panose="02040503050406030204" pitchFamily="18" charset="0"/>
                              </a:rPr>
                              <m:t>𝟏</m:t>
                            </m:r>
                          </m:sub>
                        </m:sSub>
                      </m:e>
                    </m:d>
                    <m:r>
                      <a:rPr lang="en-US" b="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sSub>
                          <m:sSubPr>
                            <m:ctrlPr>
                              <a:rPr lang="en-IN" b="1" i="1">
                                <a:solidFill>
                                  <a:srgbClr val="FF0000"/>
                                </a:solidFill>
                                <a:latin typeface="Cambria Math" panose="02040503050406030204" pitchFamily="18" charset="0"/>
                              </a:rPr>
                            </m:ctrlPr>
                          </m:sSubPr>
                          <m:e>
                            <m:r>
                              <a:rPr lang="en-IN" b="1" i="0">
                                <a:solidFill>
                                  <a:srgbClr val="FF0000"/>
                                </a:solidFill>
                                <a:latin typeface="Cambria Math" panose="02040503050406030204" pitchFamily="18" charset="0"/>
                              </a:rPr>
                              <m:t>𝐳</m:t>
                            </m:r>
                          </m:e>
                          <m:sub>
                            <m:r>
                              <a:rPr lang="en-IN" b="1" i="0" smtClean="0">
                                <a:solidFill>
                                  <a:srgbClr val="FF0000"/>
                                </a:solidFill>
                                <a:latin typeface="Cambria Math" panose="02040503050406030204" pitchFamily="18" charset="0"/>
                              </a:rPr>
                              <m:t>𝟏</m:t>
                            </m:r>
                          </m:sub>
                        </m:sSub>
                        <m:r>
                          <a:rPr lang="en-IN" b="1" i="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rPr>
                          <m:t>𝐙</m:t>
                        </m:r>
                        <m:r>
                          <a:rPr lang="en-US" b="1" i="1">
                            <a:solidFill>
                              <a:srgbClr val="FF0000"/>
                            </a:solidFill>
                            <a:latin typeface="Cambria Math" panose="02040503050406030204" pitchFamily="18" charset="0"/>
                            <a:ea typeface="Cambria Math" panose="02040503050406030204" pitchFamily="18" charset="0"/>
                          </a:rPr>
                          <m:t>≤</m:t>
                        </m:r>
                        <m:sSub>
                          <m:sSubPr>
                            <m:ctrlPr>
                              <a:rPr lang="en-IN" b="1"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𝐳</m:t>
                            </m:r>
                          </m:e>
                          <m:sub>
                            <m:r>
                              <a:rPr lang="en-IN" b="1" i="0" smtClean="0">
                                <a:solidFill>
                                  <a:srgbClr val="FF0000"/>
                                </a:solidFill>
                                <a:latin typeface="Cambria Math" panose="02040503050406030204" pitchFamily="18" charset="0"/>
                              </a:rPr>
                              <m:t>𝟐</m:t>
                            </m:r>
                          </m:sub>
                        </m:sSub>
                      </m:e>
                    </m:d>
                  </m:oMath>
                </a14:m>
                <a:r>
                  <a:rPr lang="en-US" dirty="0"/>
                  <a:t> as normal distribution is </a:t>
                </a:r>
                <a:r>
                  <a:rPr lang="en-US" dirty="0">
                    <a:solidFill>
                      <a:srgbClr val="FF0000"/>
                    </a:solidFill>
                  </a:rPr>
                  <a:t>symmetric</a:t>
                </a:r>
                <a:r>
                  <a:rPr lang="en-US" dirty="0"/>
                  <a:t> about x – axis. That is,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0" i="0" smtClean="0">
                            <a:latin typeface="Cambria Math" panose="02040503050406030204" pitchFamily="18" charset="0"/>
                          </a:rPr>
                          <m:t>−2</m:t>
                        </m:r>
                        <m:r>
                          <a:rPr lang="en-IN" b="0" i="1" smtClean="0">
                            <a:latin typeface="Cambria Math" panose="02040503050406030204" pitchFamily="18" charset="0"/>
                            <a:ea typeface="Cambria Math" panose="02040503050406030204" pitchFamily="18" charset="0"/>
                          </a:rPr>
                          <m:t>≤</m:t>
                        </m:r>
                        <m:r>
                          <m:rPr>
                            <m:sty m:val="p"/>
                          </m:rPr>
                          <a:rPr lang="en-IN" b="0" i="0" smtClean="0">
                            <a:latin typeface="Cambria Math" panose="02040503050406030204" pitchFamily="18" charset="0"/>
                            <a:ea typeface="Cambria Math" panose="02040503050406030204" pitchFamily="18" charset="0"/>
                          </a:rPr>
                          <m:t>Z</m:t>
                        </m:r>
                        <m:r>
                          <a:rPr lang="en-US"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m:t>
                        </m:r>
                        <m:r>
                          <a:rPr lang="en-US">
                            <a:latin typeface="Cambria Math" panose="02040503050406030204" pitchFamily="18" charset="0"/>
                          </a:rPr>
                          <m:t>1.43</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0" i="1" smtClean="0">
                            <a:latin typeface="Cambria Math" panose="02040503050406030204" pitchFamily="18" charset="0"/>
                          </a:rPr>
                          <m:t>1.43</m:t>
                        </m:r>
                        <m:r>
                          <a:rPr lang="en-IN" b="0" i="1"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≤2</m:t>
                        </m:r>
                      </m:e>
                    </m:d>
                    <m:r>
                      <a:rPr lang="en-US">
                        <a:latin typeface="Cambria Math" panose="02040503050406030204" pitchFamily="18" charset="0"/>
                      </a:rPr>
                      <m:t>=0.</m:t>
                    </m:r>
                    <m:r>
                      <a:rPr lang="en-IN" b="0" i="0" smtClean="0">
                        <a:latin typeface="Cambria Math" panose="02040503050406030204" pitchFamily="18" charset="0"/>
                      </a:rPr>
                      <m:t>0436</m:t>
                    </m:r>
                  </m:oMath>
                </a14:m>
                <a:endParaRPr lang="en-IN" dirty="0">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92543" y="835734"/>
                <a:ext cx="12060819" cy="5590565"/>
              </a:xfrm>
              <a:blipFill rotWithShape="0">
                <a:blip r:embed="rId2"/>
                <a:stretch>
                  <a:fillRect l="-1011" r="-1011"/>
                </a:stretch>
              </a:blipFill>
            </p:spPr>
            <p:txBody>
              <a:bodyPr/>
              <a:lstStyle/>
              <a:p>
                <a:r>
                  <a:rPr lang="en-IN">
                    <a:noFill/>
                  </a:rPr>
                  <a:t> </a:t>
                </a:r>
              </a:p>
            </p:txBody>
          </p:sp>
        </mc:Fallback>
      </mc:AlternateContent>
    </p:spTree>
    <p:extLst>
      <p:ext uri="{BB962C8B-B14F-4D97-AF65-F5344CB8AC3E}">
        <p14:creationId xmlns:p14="http://schemas.microsoft.com/office/powerpoint/2010/main" val="283393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66785" y="835734"/>
                <a:ext cx="12060819" cy="5590565"/>
              </a:xfrm>
            </p:spPr>
            <p:txBody>
              <a:bodyPr/>
              <a:lstStyle/>
              <a:p>
                <a:pPr marL="0" lvl="0" indent="0">
                  <a:buNone/>
                </a:pPr>
                <a:r>
                  <a:rPr lang="en-US" dirty="0">
                    <a:ea typeface="Calibri" panose="020F0502020204030204" pitchFamily="34" charset="0"/>
                    <a:cs typeface="Shruti"/>
                  </a:rPr>
                  <a:t>(5) </a:t>
                </a:r>
                <a:r>
                  <a:rPr lang="en-US" sz="2700" dirty="0">
                    <a:ea typeface="Calibri" panose="020F0502020204030204" pitchFamily="34" charset="0"/>
                    <a:cs typeface="Shruti"/>
                  </a:rPr>
                  <a:t>Area between</a:t>
                </a:r>
                <a:r>
                  <a:rPr lang="en-US" sz="2700" dirty="0">
                    <a:latin typeface="Calibri" panose="020F0502020204030204" pitchFamily="34" charset="0"/>
                    <a:ea typeface="Calibri" panose="020F0502020204030204" pitchFamily="34" charset="0"/>
                    <a:cs typeface="Shruti"/>
                  </a:rPr>
                  <a:t> </a:t>
                </a:r>
                <a14:m>
                  <m:oMath xmlns:m="http://schemas.openxmlformats.org/officeDocument/2006/math">
                    <m:r>
                      <a:rPr lang="en-US" sz="2700" b="1" dirty="0">
                        <a:solidFill>
                          <a:srgbClr val="FF0000"/>
                        </a:solidFill>
                        <a:latin typeface="Cambria Math" panose="02040503050406030204" pitchFamily="18" charset="0"/>
                        <a:ea typeface="Calibri" panose="020F0502020204030204" pitchFamily="34" charset="0"/>
                        <a:cs typeface="Shruti"/>
                      </a:rPr>
                      <m:t>𝐙</m:t>
                    </m:r>
                    <m:r>
                      <a:rPr lang="en-US" sz="2700" b="1" dirty="0">
                        <a:solidFill>
                          <a:srgbClr val="FF0000"/>
                        </a:solidFill>
                        <a:latin typeface="Cambria Math" panose="02040503050406030204" pitchFamily="18" charset="0"/>
                        <a:ea typeface="Calibri" panose="020F0502020204030204" pitchFamily="34" charset="0"/>
                        <a:cs typeface="Shruti"/>
                      </a:rPr>
                      <m:t>=</m:t>
                    </m:r>
                    <m:sSub>
                      <m:sSubPr>
                        <m:ctrlPr>
                          <a:rPr lang="en-IN" sz="2700" b="1" i="1" dirty="0" smtClean="0">
                            <a:solidFill>
                              <a:srgbClr val="FF0000"/>
                            </a:solidFill>
                            <a:latin typeface="Cambria Math" panose="02040503050406030204" pitchFamily="18" charset="0"/>
                            <a:ea typeface="Calibri" panose="020F0502020204030204" pitchFamily="34" charset="0"/>
                            <a:cs typeface="Shruti"/>
                          </a:rPr>
                        </m:ctrlPr>
                      </m:sSubPr>
                      <m:e>
                        <m:r>
                          <a:rPr lang="en-IN" sz="2700" b="1" i="0" dirty="0" smtClean="0">
                            <a:solidFill>
                              <a:srgbClr val="FF0000"/>
                            </a:solidFill>
                            <a:latin typeface="Cambria Math" panose="02040503050406030204" pitchFamily="18" charset="0"/>
                            <a:ea typeface="Calibri" panose="020F0502020204030204" pitchFamily="34" charset="0"/>
                            <a:cs typeface="Shruti"/>
                          </a:rPr>
                          <m:t>−</m:t>
                        </m:r>
                        <m:r>
                          <a:rPr lang="en-IN" sz="2700" b="1" i="0" dirty="0" smtClean="0">
                            <a:solidFill>
                              <a:srgbClr val="FF0000"/>
                            </a:solidFill>
                            <a:latin typeface="Cambria Math" panose="02040503050406030204" pitchFamily="18" charset="0"/>
                            <a:ea typeface="Calibri" panose="020F0502020204030204" pitchFamily="34" charset="0"/>
                            <a:cs typeface="Shruti"/>
                          </a:rPr>
                          <m:t>𝐳</m:t>
                        </m:r>
                      </m:e>
                      <m:sub>
                        <m:r>
                          <a:rPr lang="en-IN" sz="2700" b="1" i="0" dirty="0" smtClean="0">
                            <a:solidFill>
                              <a:srgbClr val="FF0000"/>
                            </a:solidFill>
                            <a:latin typeface="Cambria Math" panose="02040503050406030204" pitchFamily="18" charset="0"/>
                            <a:ea typeface="Calibri" panose="020F0502020204030204" pitchFamily="34" charset="0"/>
                            <a:cs typeface="Shruti"/>
                          </a:rPr>
                          <m:t>𝟏</m:t>
                        </m:r>
                      </m:sub>
                    </m:sSub>
                    <m:r>
                      <a:rPr lang="en-US" sz="2700" b="1" dirty="0">
                        <a:solidFill>
                          <a:srgbClr val="FF0000"/>
                        </a:solidFill>
                        <a:latin typeface="Cambria Math" panose="02040503050406030204" pitchFamily="18" charset="0"/>
                        <a:ea typeface="Calibri" panose="020F0502020204030204" pitchFamily="34" charset="0"/>
                        <a:cs typeface="Shruti"/>
                      </a:rPr>
                      <m:t> </m:t>
                    </m:r>
                    <m:r>
                      <a:rPr lang="en-US" sz="2700" b="1" dirty="0">
                        <a:solidFill>
                          <a:srgbClr val="FF0000"/>
                        </a:solidFill>
                        <a:latin typeface="Cambria Math" panose="02040503050406030204" pitchFamily="18" charset="0"/>
                        <a:ea typeface="Calibri" panose="020F0502020204030204" pitchFamily="34" charset="0"/>
                        <a:cs typeface="Shruti"/>
                      </a:rPr>
                      <m:t>𝐭𝐨</m:t>
                    </m:r>
                    <m:r>
                      <a:rPr lang="en-US" sz="2700" b="1" dirty="0">
                        <a:solidFill>
                          <a:srgbClr val="FF0000"/>
                        </a:solidFill>
                        <a:latin typeface="Cambria Math" panose="02040503050406030204" pitchFamily="18" charset="0"/>
                        <a:ea typeface="Calibri" panose="020F0502020204030204" pitchFamily="34" charset="0"/>
                        <a:cs typeface="Shruti"/>
                      </a:rPr>
                      <m:t> </m:t>
                    </m:r>
                    <m:r>
                      <a:rPr lang="en-US" sz="2700" b="1" dirty="0">
                        <a:solidFill>
                          <a:srgbClr val="FF0000"/>
                        </a:solidFill>
                        <a:latin typeface="Cambria Math" panose="02040503050406030204" pitchFamily="18" charset="0"/>
                        <a:ea typeface="Calibri" panose="020F0502020204030204" pitchFamily="34" charset="0"/>
                        <a:cs typeface="Shruti"/>
                      </a:rPr>
                      <m:t>𝐙</m:t>
                    </m:r>
                    <m:r>
                      <a:rPr lang="en-US" sz="2700" b="1" dirty="0">
                        <a:solidFill>
                          <a:srgbClr val="FF0000"/>
                        </a:solidFill>
                        <a:latin typeface="Cambria Math" panose="02040503050406030204" pitchFamily="18" charset="0"/>
                        <a:ea typeface="Calibri" panose="020F0502020204030204" pitchFamily="34" charset="0"/>
                        <a:cs typeface="Shruti"/>
                      </a:rPr>
                      <m:t>=</m:t>
                    </m:r>
                    <m:sSub>
                      <m:sSubPr>
                        <m:ctrlPr>
                          <a:rPr lang="en-IN" sz="2700" b="1" i="1" dirty="0">
                            <a:solidFill>
                              <a:srgbClr val="FF0000"/>
                            </a:solidFill>
                            <a:latin typeface="Cambria Math" panose="02040503050406030204" pitchFamily="18" charset="0"/>
                            <a:ea typeface="Calibri" panose="020F0502020204030204" pitchFamily="34" charset="0"/>
                            <a:cs typeface="Shruti"/>
                          </a:rPr>
                        </m:ctrlPr>
                      </m:sSubPr>
                      <m:e>
                        <m:r>
                          <a:rPr lang="en-US" sz="2700" b="1" dirty="0">
                            <a:solidFill>
                              <a:srgbClr val="FF0000"/>
                            </a:solidFill>
                            <a:latin typeface="Cambria Math" panose="02040503050406030204" pitchFamily="18" charset="0"/>
                            <a:ea typeface="Calibri" panose="020F0502020204030204" pitchFamily="34" charset="0"/>
                            <a:cs typeface="Shruti"/>
                          </a:rPr>
                          <m:t>𝐳</m:t>
                        </m:r>
                      </m:e>
                      <m:sub>
                        <m:r>
                          <a:rPr lang="en-IN" sz="2700" b="1" i="1" dirty="0" smtClean="0">
                            <a:solidFill>
                              <a:srgbClr val="FF0000"/>
                            </a:solidFill>
                            <a:latin typeface="Cambria Math" panose="02040503050406030204" pitchFamily="18" charset="0"/>
                            <a:ea typeface="Calibri" panose="020F0502020204030204" pitchFamily="34" charset="0"/>
                            <a:cs typeface="Shruti"/>
                          </a:rPr>
                          <m:t>𝟐</m:t>
                        </m:r>
                      </m:sub>
                    </m:sSub>
                    <m:r>
                      <a:rPr lang="en-IN" sz="2700" b="1" dirty="0">
                        <a:solidFill>
                          <a:srgbClr val="FF0000"/>
                        </a:solidFill>
                        <a:latin typeface="Cambria Math" panose="02040503050406030204" pitchFamily="18" charset="0"/>
                        <a:ea typeface="Calibri" panose="020F0502020204030204" pitchFamily="34" charset="0"/>
                        <a:cs typeface="Shruti"/>
                      </a:rPr>
                      <m:t>,</m:t>
                    </m:r>
                  </m:oMath>
                </a14:m>
                <a:r>
                  <a:rPr lang="en-IN" sz="2700" dirty="0">
                    <a:latin typeface="Cambria Math" panose="02040503050406030204" pitchFamily="18" charset="0"/>
                  </a:rPr>
                  <a:t> </a:t>
                </a:r>
                <a:r>
                  <a:rPr lang="en-IN" sz="2700" dirty="0"/>
                  <a:t>which</a:t>
                </a:r>
                <a:r>
                  <a:rPr lang="en-IN" sz="2700" dirty="0">
                    <a:latin typeface="Cambria Math" panose="02040503050406030204" pitchFamily="18" charset="0"/>
                  </a:rPr>
                  <a:t> </a:t>
                </a:r>
                <a:r>
                  <a:rPr lang="en-IN" sz="2700" dirty="0"/>
                  <a:t>can be represented as</a:t>
                </a:r>
                <a:r>
                  <a:rPr lang="en-IN" sz="2700" dirty="0">
                    <a:latin typeface="Cambria Math" panose="02040503050406030204" pitchFamily="18" charset="0"/>
                  </a:rPr>
                  <a:t> </a:t>
                </a:r>
                <a14:m>
                  <m:oMath xmlns:m="http://schemas.openxmlformats.org/officeDocument/2006/math">
                    <m:r>
                      <a:rPr lang="en-US" sz="2700" b="1">
                        <a:solidFill>
                          <a:srgbClr val="FF0000"/>
                        </a:solidFill>
                        <a:latin typeface="Cambria Math" panose="02040503050406030204" pitchFamily="18" charset="0"/>
                        <a:ea typeface="Calibri" panose="020F0502020204030204" pitchFamily="34" charset="0"/>
                        <a:cs typeface="Shruti"/>
                      </a:rPr>
                      <m:t>𝐏</m:t>
                    </m:r>
                    <m:d>
                      <m:dPr>
                        <m:ctrlPr>
                          <a:rPr lang="en-IN" sz="2700" b="1" i="1">
                            <a:solidFill>
                              <a:srgbClr val="FF0000"/>
                            </a:solidFill>
                            <a:latin typeface="Cambria Math" panose="02040503050406030204" pitchFamily="18" charset="0"/>
                            <a:ea typeface="Calibri" panose="020F0502020204030204" pitchFamily="34" charset="0"/>
                            <a:cs typeface="Shruti"/>
                          </a:rPr>
                        </m:ctrlPr>
                      </m:dPr>
                      <m:e>
                        <m:r>
                          <a:rPr lang="en-IN" sz="2700" b="1" i="1" smtClean="0">
                            <a:solidFill>
                              <a:srgbClr val="FF0000"/>
                            </a:solidFill>
                            <a:latin typeface="Cambria Math" panose="02040503050406030204" pitchFamily="18" charset="0"/>
                            <a:ea typeface="Calibri" panose="020F0502020204030204" pitchFamily="34" charset="0"/>
                            <a:cs typeface="Shruti"/>
                          </a:rPr>
                          <m:t>−</m:t>
                        </m:r>
                        <m:sSub>
                          <m:sSubPr>
                            <m:ctrlPr>
                              <a:rPr lang="en-IN" sz="2700" b="1" i="1" smtClean="0">
                                <a:solidFill>
                                  <a:srgbClr val="FF0000"/>
                                </a:solidFill>
                                <a:latin typeface="Cambria Math" panose="02040503050406030204" pitchFamily="18" charset="0"/>
                                <a:ea typeface="Calibri" panose="020F0502020204030204" pitchFamily="34" charset="0"/>
                                <a:cs typeface="Shruti"/>
                              </a:rPr>
                            </m:ctrlPr>
                          </m:sSubPr>
                          <m:e>
                            <m:r>
                              <a:rPr lang="en-IN" sz="2700" b="1" i="0" smtClean="0">
                                <a:solidFill>
                                  <a:srgbClr val="FF0000"/>
                                </a:solidFill>
                                <a:latin typeface="Cambria Math" panose="02040503050406030204" pitchFamily="18" charset="0"/>
                                <a:ea typeface="Calibri" panose="020F0502020204030204" pitchFamily="34" charset="0"/>
                                <a:cs typeface="Shruti"/>
                              </a:rPr>
                              <m:t>𝐳</m:t>
                            </m:r>
                          </m:e>
                          <m:sub>
                            <m:r>
                              <a:rPr lang="en-IN" sz="2700" b="1" i="0" smtClean="0">
                                <a:solidFill>
                                  <a:srgbClr val="FF0000"/>
                                </a:solidFill>
                                <a:latin typeface="Cambria Math" panose="02040503050406030204" pitchFamily="18" charset="0"/>
                                <a:ea typeface="Calibri" panose="020F0502020204030204" pitchFamily="34" charset="0"/>
                                <a:cs typeface="Shruti"/>
                              </a:rPr>
                              <m:t>𝟏</m:t>
                            </m:r>
                          </m:sub>
                        </m:sSub>
                        <m:r>
                          <a:rPr lang="en-IN" sz="2700" b="1" i="1" smtClean="0">
                            <a:solidFill>
                              <a:srgbClr val="FF0000"/>
                            </a:solidFill>
                            <a:latin typeface="Cambria Math" panose="02040503050406030204" pitchFamily="18" charset="0"/>
                            <a:ea typeface="Cambria Math" panose="02040503050406030204" pitchFamily="18" charset="0"/>
                            <a:cs typeface="Shruti"/>
                          </a:rPr>
                          <m:t>≤</m:t>
                        </m:r>
                        <m:r>
                          <a:rPr lang="en-US" sz="2700" b="1">
                            <a:solidFill>
                              <a:srgbClr val="FF0000"/>
                            </a:solidFill>
                            <a:latin typeface="Cambria Math" panose="02040503050406030204" pitchFamily="18" charset="0"/>
                            <a:ea typeface="Calibri" panose="020F0502020204030204" pitchFamily="34" charset="0"/>
                            <a:cs typeface="Shruti"/>
                          </a:rPr>
                          <m:t>𝐙</m:t>
                        </m:r>
                        <m:r>
                          <a:rPr lang="en-US" sz="2700" b="1">
                            <a:solidFill>
                              <a:srgbClr val="FF0000"/>
                            </a:solidFill>
                            <a:latin typeface="Cambria Math" panose="02040503050406030204" pitchFamily="18" charset="0"/>
                            <a:ea typeface="Calibri" panose="020F0502020204030204" pitchFamily="34" charset="0"/>
                            <a:cs typeface="Shruti"/>
                          </a:rPr>
                          <m:t>≤</m:t>
                        </m:r>
                        <m:sSub>
                          <m:sSubPr>
                            <m:ctrlPr>
                              <a:rPr lang="en-IN" sz="2700" b="1" i="1">
                                <a:solidFill>
                                  <a:srgbClr val="FF0000"/>
                                </a:solidFill>
                                <a:latin typeface="Cambria Math" panose="02040503050406030204" pitchFamily="18" charset="0"/>
                                <a:ea typeface="Calibri" panose="020F0502020204030204" pitchFamily="34" charset="0"/>
                                <a:cs typeface="Shruti"/>
                              </a:rPr>
                            </m:ctrlPr>
                          </m:sSubPr>
                          <m:e>
                            <m:r>
                              <a:rPr lang="en-US" sz="2700" b="1">
                                <a:solidFill>
                                  <a:srgbClr val="FF0000"/>
                                </a:solidFill>
                                <a:latin typeface="Cambria Math" panose="02040503050406030204" pitchFamily="18" charset="0"/>
                                <a:ea typeface="Calibri" panose="020F0502020204030204" pitchFamily="34" charset="0"/>
                                <a:cs typeface="Shruti"/>
                              </a:rPr>
                              <m:t>𝐳</m:t>
                            </m:r>
                          </m:e>
                          <m:sub>
                            <m:r>
                              <a:rPr lang="en-IN" sz="2700" b="1" i="0" smtClean="0">
                                <a:solidFill>
                                  <a:srgbClr val="FF0000"/>
                                </a:solidFill>
                                <a:latin typeface="Cambria Math" panose="02040503050406030204" pitchFamily="18" charset="0"/>
                                <a:ea typeface="Calibri" panose="020F0502020204030204" pitchFamily="34" charset="0"/>
                                <a:cs typeface="Shruti"/>
                              </a:rPr>
                              <m:t>𝟐</m:t>
                            </m:r>
                          </m:sub>
                        </m:sSub>
                      </m:e>
                    </m:d>
                  </m:oMath>
                </a14:m>
                <a:endParaRPr lang="en-IN" sz="2700" b="1" dirty="0">
                  <a:solidFill>
                    <a:srgbClr val="FF0000"/>
                  </a:solidFill>
                  <a:latin typeface="Cambria Math" panose="02040503050406030204" pitchFamily="18" charset="0"/>
                  <a:ea typeface="Calibri" panose="020F0502020204030204" pitchFamily="34" charset="0"/>
                  <a:cs typeface="Shruti"/>
                </a:endParaRPr>
              </a:p>
              <a:p>
                <a:pPr lvl="0"/>
                <a14:m>
                  <m:oMath xmlns:m="http://schemas.openxmlformats.org/officeDocument/2006/math">
                    <m:r>
                      <m:rPr>
                        <m:sty m:val="p"/>
                      </m:rPr>
                      <a:rPr lang="en-US">
                        <a:latin typeface="Cambria Math" panose="02040503050406030204" pitchFamily="18" charset="0"/>
                      </a:rPr>
                      <m:t>P</m:t>
                    </m:r>
                    <m:d>
                      <m:dPr>
                        <m:ctrlPr>
                          <a:rPr lang="en-IN" i="1" smtClean="0">
                            <a:solidFill>
                              <a:schemeClr val="tx2">
                                <a:lumMod val="50000"/>
                              </a:schemeClr>
                            </a:solidFill>
                            <a:latin typeface="Cambria Math" panose="02040503050406030204" pitchFamily="18" charset="0"/>
                          </a:rPr>
                        </m:ctrlPr>
                      </m:dPr>
                      <m:e>
                        <m:r>
                          <a:rPr lang="en-IN" b="0" i="1" smtClean="0">
                            <a:solidFill>
                              <a:schemeClr val="tx2">
                                <a:lumMod val="50000"/>
                              </a:schemeClr>
                            </a:solidFill>
                            <a:latin typeface="Cambria Math" panose="02040503050406030204" pitchFamily="18" charset="0"/>
                          </a:rPr>
                          <m:t>−</m:t>
                        </m:r>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1">
                                <a:solidFill>
                                  <a:schemeClr val="tx2">
                                    <a:lumMod val="50000"/>
                                  </a:schemeClr>
                                </a:solidFill>
                                <a:latin typeface="Cambria Math" panose="02040503050406030204" pitchFamily="18" charset="0"/>
                                <a:ea typeface="Calibri" panose="020F0502020204030204" pitchFamily="34" charset="0"/>
                                <a:cs typeface="Shruti"/>
                              </a:rPr>
                              <m:t>1</m:t>
                            </m:r>
                          </m:sub>
                        </m:sSub>
                        <m:r>
                          <a:rPr lang="en-IN" b="0" i="1" smtClean="0">
                            <a:solidFill>
                              <a:schemeClr val="tx2">
                                <a:lumMod val="50000"/>
                              </a:schemeClr>
                            </a:solidFill>
                            <a:latin typeface="Cambria Math" panose="02040503050406030204" pitchFamily="18" charset="0"/>
                            <a:ea typeface="Cambria Math" panose="02040503050406030204" pitchFamily="18" charset="0"/>
                            <a:cs typeface="Shruti"/>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smtClean="0">
                                <a:solidFill>
                                  <a:schemeClr val="tx2">
                                    <a:lumMod val="50000"/>
                                  </a:schemeClr>
                                </a:solidFill>
                                <a:latin typeface="Cambria Math" panose="02040503050406030204" pitchFamily="18" charset="0"/>
                              </a:rPr>
                            </m:ctrlPr>
                          </m:sSubPr>
                          <m:e>
                            <m:r>
                              <m:rPr>
                                <m:sty m:val="p"/>
                              </m:rPr>
                              <a:rPr lang="en-US">
                                <a:solidFill>
                                  <a:schemeClr val="tx2">
                                    <a:lumMod val="50000"/>
                                  </a:schemeClr>
                                </a:solidFill>
                                <a:latin typeface="Cambria Math" panose="02040503050406030204" pitchFamily="18" charset="0"/>
                              </a:rPr>
                              <m:t>z</m:t>
                            </m:r>
                          </m:e>
                          <m:sub>
                            <m:r>
                              <a:rPr lang="en-IN" b="0" i="0" smtClean="0">
                                <a:solidFill>
                                  <a:schemeClr val="tx2">
                                    <a:lumMod val="50000"/>
                                  </a:schemeClr>
                                </a:solidFill>
                                <a:latin typeface="Cambria Math" panose="02040503050406030204" pitchFamily="18" charset="0"/>
                              </a:rPr>
                              <m:t>2</m:t>
                            </m:r>
                          </m:sub>
                        </m:sSub>
                      </m:e>
                    </m:d>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b="0" i="0" smtClean="0">
                            <a:solidFill>
                              <a:schemeClr val="tx2">
                                <a:lumMod val="50000"/>
                              </a:schemeClr>
                            </a:solidFill>
                            <a:latin typeface="Cambria Math" panose="02040503050406030204" pitchFamily="18" charset="0"/>
                          </a:rPr>
                          <m:t>−</m:t>
                        </m:r>
                        <m:sSub>
                          <m:sSubPr>
                            <m:ctrlPr>
                              <a:rPr lang="en-IN" b="0" i="1" smtClean="0">
                                <a:solidFill>
                                  <a:schemeClr val="tx2">
                                    <a:lumMod val="50000"/>
                                  </a:schemeClr>
                                </a:solidFill>
                                <a:latin typeface="Cambria Math" panose="02040503050406030204" pitchFamily="18" charset="0"/>
                              </a:rPr>
                            </m:ctrlPr>
                          </m:sSubPr>
                          <m:e>
                            <m:r>
                              <m:rPr>
                                <m:sty m:val="p"/>
                              </m:rPr>
                              <a:rPr lang="en-IN" b="0" i="0" smtClean="0">
                                <a:solidFill>
                                  <a:schemeClr val="tx2">
                                    <a:lumMod val="50000"/>
                                  </a:schemeClr>
                                </a:solidFill>
                                <a:latin typeface="Cambria Math" panose="02040503050406030204" pitchFamily="18" charset="0"/>
                              </a:rPr>
                              <m:t>z</m:t>
                            </m:r>
                          </m:e>
                          <m:sub>
                            <m:r>
                              <a:rPr lang="en-IN" b="0" i="0" smtClean="0">
                                <a:solidFill>
                                  <a:schemeClr val="tx2">
                                    <a:lumMod val="50000"/>
                                  </a:schemeClr>
                                </a:solidFill>
                                <a:latin typeface="Cambria Math" panose="02040503050406030204" pitchFamily="18" charset="0"/>
                              </a:rPr>
                              <m:t>1</m:t>
                            </m:r>
                          </m:sub>
                        </m:sSub>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r>
                          <a:rPr lang="en-IN" i="1" smtClean="0">
                            <a:solidFill>
                              <a:schemeClr val="tx2">
                                <a:lumMod val="50000"/>
                              </a:schemeClr>
                            </a:solidFill>
                            <a:latin typeface="Cambria Math" panose="02040503050406030204" pitchFamily="18" charset="0"/>
                            <a:ea typeface="Calibri" panose="020F0502020204030204" pitchFamily="34" charset="0"/>
                            <a:cs typeface="Shruti"/>
                          </a:rPr>
                          <m:t>0</m:t>
                        </m:r>
                      </m:e>
                    </m:d>
                    <m:r>
                      <a:rPr lang="en-IN" b="0" i="0" smtClean="0">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b="0" i="1" smtClean="0">
                            <a:solidFill>
                              <a:schemeClr val="tx2">
                                <a:lumMod val="50000"/>
                              </a:schemeClr>
                            </a:solidFill>
                            <a:latin typeface="Cambria Math" panose="02040503050406030204" pitchFamily="18" charset="0"/>
                          </a:rPr>
                          <m:t>0</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1" smtClean="0">
                                <a:solidFill>
                                  <a:schemeClr val="tx2">
                                    <a:lumMod val="50000"/>
                                  </a:schemeClr>
                                </a:solidFill>
                                <a:latin typeface="Cambria Math" panose="02040503050406030204" pitchFamily="18" charset="0"/>
                                <a:ea typeface="Calibri" panose="020F0502020204030204" pitchFamily="34" charset="0"/>
                                <a:cs typeface="Shruti"/>
                              </a:rPr>
                              <m:t>2</m:t>
                            </m:r>
                          </m:sub>
                        </m:sSub>
                      </m:e>
                    </m:d>
                  </m:oMath>
                </a14:m>
                <a:endParaRPr lang="en-IN" dirty="0">
                  <a:solidFill>
                    <a:schemeClr val="tx2">
                      <a:lumMod val="50000"/>
                    </a:schemeClr>
                  </a:solidFill>
                  <a:latin typeface="Cambria Math" panose="02040503050406030204" pitchFamily="18" charset="0"/>
                </a:endParaRPr>
              </a:p>
              <a:p>
                <a:pPr lvl="0"/>
                <a:r>
                  <a:rPr lang="en-US" dirty="0">
                    <a:solidFill>
                      <a:schemeClr val="tx2">
                        <a:lumMod val="50000"/>
                      </a:schemeClr>
                    </a:solidFill>
                  </a:rPr>
                  <a:t>Since, </a:t>
                </a:r>
                <a14:m>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b="0" i="0" smtClean="0">
                            <a:solidFill>
                              <a:schemeClr val="tx2">
                                <a:lumMod val="50000"/>
                              </a:schemeClr>
                            </a:solidFill>
                            <a:latin typeface="Cambria Math" panose="02040503050406030204" pitchFamily="18" charset="0"/>
                          </a:rPr>
                          <m:t>−</m:t>
                        </m:r>
                        <m:sSub>
                          <m:sSubPr>
                            <m:ctrlPr>
                              <a:rPr lang="en-IN" b="0" i="1" smtClean="0">
                                <a:solidFill>
                                  <a:schemeClr val="tx2">
                                    <a:lumMod val="50000"/>
                                  </a:schemeClr>
                                </a:solidFill>
                                <a:latin typeface="Cambria Math" panose="02040503050406030204" pitchFamily="18" charset="0"/>
                              </a:rPr>
                            </m:ctrlPr>
                          </m:sSubPr>
                          <m:e>
                            <m:r>
                              <m:rPr>
                                <m:sty m:val="p"/>
                              </m:rPr>
                              <a:rPr lang="en-IN" b="0" i="0" smtClean="0">
                                <a:solidFill>
                                  <a:schemeClr val="tx2">
                                    <a:lumMod val="50000"/>
                                  </a:schemeClr>
                                </a:solidFill>
                                <a:latin typeface="Cambria Math" panose="02040503050406030204" pitchFamily="18" charset="0"/>
                              </a:rPr>
                              <m:t>z</m:t>
                            </m:r>
                          </m:e>
                          <m:sub>
                            <m:r>
                              <a:rPr lang="en-IN" b="0" i="0" smtClean="0">
                                <a:solidFill>
                                  <a:schemeClr val="tx2">
                                    <a:lumMod val="50000"/>
                                  </a:schemeClr>
                                </a:solidFill>
                                <a:latin typeface="Cambria Math" panose="02040503050406030204" pitchFamily="18" charset="0"/>
                              </a:rPr>
                              <m:t>1</m:t>
                            </m:r>
                          </m:sub>
                        </m:sSub>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r>
                          <a:rPr lang="en-IN" i="1" smtClean="0">
                            <a:solidFill>
                              <a:schemeClr val="tx2">
                                <a:lumMod val="50000"/>
                              </a:schemeClr>
                            </a:solidFill>
                            <a:latin typeface="Cambria Math" panose="02040503050406030204" pitchFamily="18" charset="0"/>
                            <a:ea typeface="Calibri" panose="020F0502020204030204" pitchFamily="34" charset="0"/>
                            <a:cs typeface="Shruti"/>
                          </a:rPr>
                          <m:t>0</m:t>
                        </m:r>
                      </m:e>
                    </m:d>
                  </m:oMath>
                </a14:m>
                <a:r>
                  <a:rPr lang="en-US" dirty="0">
                    <a:solidFill>
                      <a:schemeClr val="tx2">
                        <a:lumMod val="50000"/>
                      </a:schemeClr>
                    </a:solidFill>
                    <a:latin typeface="Cambria Math" panose="02040503050406030204" pitchFamily="18" charset="0"/>
                  </a:rPr>
                  <a:t> </a:t>
                </a:r>
                <a:r>
                  <a:rPr lang="en-US" dirty="0">
                    <a:solidFill>
                      <a:schemeClr val="tx2">
                        <a:lumMod val="50000"/>
                      </a:schemeClr>
                    </a:solidFill>
                  </a:rPr>
                  <a:t>&amp; </a:t>
                </a:r>
                <a14:m>
                  <m:oMath xmlns:m="http://schemas.openxmlformats.org/officeDocument/2006/math">
                    <m:r>
                      <m:rPr>
                        <m:sty m:val="p"/>
                      </m:rPr>
                      <a:rPr lang="en-US">
                        <a:solidFill>
                          <a:schemeClr val="tx2">
                            <a:lumMod val="50000"/>
                          </a:schemeClr>
                        </a:solidFill>
                        <a:latin typeface="Cambria Math" panose="02040503050406030204" pitchFamily="18" charset="0"/>
                      </a:rPr>
                      <m:t>P</m:t>
                    </m:r>
                    <m:d>
                      <m:dPr>
                        <m:ctrlPr>
                          <a:rPr lang="en-IN" i="1">
                            <a:solidFill>
                              <a:schemeClr val="tx2">
                                <a:lumMod val="50000"/>
                              </a:schemeClr>
                            </a:solidFill>
                            <a:latin typeface="Cambria Math" panose="02040503050406030204" pitchFamily="18" charset="0"/>
                          </a:rPr>
                        </m:ctrlPr>
                      </m:dPr>
                      <m:e>
                        <m:r>
                          <a:rPr lang="en-IN">
                            <a:solidFill>
                              <a:schemeClr val="tx2">
                                <a:lumMod val="50000"/>
                              </a:schemeClr>
                            </a:solidFill>
                            <a:latin typeface="Cambria Math" panose="02040503050406030204" pitchFamily="18" charset="0"/>
                          </a:rPr>
                          <m:t>0</m:t>
                        </m:r>
                        <m:r>
                          <a:rPr lang="en-US">
                            <a:solidFill>
                              <a:schemeClr val="tx2">
                                <a:lumMod val="50000"/>
                              </a:schemeClr>
                            </a:solidFill>
                            <a:latin typeface="Cambria Math" panose="02040503050406030204" pitchFamily="18" charset="0"/>
                          </a:rPr>
                          <m:t>≤</m:t>
                        </m:r>
                        <m:r>
                          <m:rPr>
                            <m:sty m:val="p"/>
                          </m:rPr>
                          <a:rPr lang="en-US">
                            <a:solidFill>
                              <a:schemeClr val="tx2">
                                <a:lumMod val="50000"/>
                              </a:schemeClr>
                            </a:solidFill>
                            <a:latin typeface="Cambria Math" panose="02040503050406030204" pitchFamily="18" charset="0"/>
                          </a:rPr>
                          <m:t>Z</m:t>
                        </m:r>
                        <m:r>
                          <a:rPr lang="en-US">
                            <a:solidFill>
                              <a:schemeClr val="tx2">
                                <a:lumMod val="50000"/>
                              </a:schemeClr>
                            </a:solidFill>
                            <a:latin typeface="Cambria Math" panose="02040503050406030204" pitchFamily="18" charset="0"/>
                          </a:rPr>
                          <m:t>≤</m:t>
                        </m:r>
                        <m:sSub>
                          <m:sSubPr>
                            <m:ctrlPr>
                              <a:rPr lang="en-IN" i="1">
                                <a:solidFill>
                                  <a:schemeClr val="tx2">
                                    <a:lumMod val="50000"/>
                                  </a:schemeClr>
                                </a:solidFill>
                                <a:latin typeface="Cambria Math" panose="02040503050406030204" pitchFamily="18" charset="0"/>
                                <a:ea typeface="Calibri" panose="020F0502020204030204" pitchFamily="34" charset="0"/>
                                <a:cs typeface="Shruti"/>
                              </a:rPr>
                            </m:ctrlPr>
                          </m:sSubPr>
                          <m:e>
                            <m:r>
                              <m:rPr>
                                <m:sty m:val="p"/>
                              </m:rPr>
                              <a:rPr lang="en-IN" b="0" i="1">
                                <a:solidFill>
                                  <a:schemeClr val="tx2">
                                    <a:lumMod val="50000"/>
                                  </a:schemeClr>
                                </a:solidFill>
                                <a:latin typeface="Cambria Math" panose="02040503050406030204" pitchFamily="18" charset="0"/>
                                <a:ea typeface="Calibri" panose="020F0502020204030204" pitchFamily="34" charset="0"/>
                                <a:cs typeface="Shruti"/>
                              </a:rPr>
                              <m:t>z</m:t>
                            </m:r>
                          </m:e>
                          <m:sub>
                            <m:r>
                              <a:rPr lang="en-IN" b="0" i="1">
                                <a:solidFill>
                                  <a:schemeClr val="tx2">
                                    <a:lumMod val="50000"/>
                                  </a:schemeClr>
                                </a:solidFill>
                                <a:latin typeface="Cambria Math" panose="02040503050406030204" pitchFamily="18" charset="0"/>
                                <a:ea typeface="Calibri" panose="020F0502020204030204" pitchFamily="34" charset="0"/>
                                <a:cs typeface="Shruti"/>
                              </a:rPr>
                              <m:t>2</m:t>
                            </m:r>
                          </m:sub>
                        </m:sSub>
                      </m:e>
                    </m:d>
                  </m:oMath>
                </a14:m>
                <a:r>
                  <a:rPr lang="en-US" dirty="0">
                    <a:solidFill>
                      <a:schemeClr val="tx2">
                        <a:lumMod val="50000"/>
                      </a:schemeClr>
                    </a:solidFill>
                  </a:rPr>
                  <a:t> can be found</a:t>
                </a:r>
                <a:r>
                  <a:rPr lang="en-US" dirty="0"/>
                  <a:t> by using case – I</a:t>
                </a:r>
                <a:endParaRPr lang="en-IN" dirty="0">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66785" y="835734"/>
                <a:ext cx="12060819" cy="5590565"/>
              </a:xfrm>
              <a:blipFill rotWithShape="0">
                <a:blip r:embed="rId2"/>
                <a:stretch>
                  <a:fillRect l="-106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 Box 51"/>
              <p:cNvSpPr txBox="1"/>
              <p:nvPr/>
            </p:nvSpPr>
            <p:spPr>
              <a:xfrm>
                <a:off x="5899490" y="5133170"/>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6" name="Text Box 51"/>
              <p:cNvSpPr txBox="1">
                <a:spLocks noRot="1" noChangeAspect="1" noMove="1" noResize="1" noEditPoints="1" noAdjustHandles="1" noChangeArrowheads="1" noChangeShapeType="1" noTextEdit="1"/>
              </p:cNvSpPr>
              <p:nvPr/>
            </p:nvSpPr>
            <p:spPr>
              <a:xfrm>
                <a:off x="5899490" y="5133170"/>
                <a:ext cx="320040" cy="346710"/>
              </a:xfrm>
              <a:prstGeom prst="rect">
                <a:avLst/>
              </a:prstGeom>
              <a:blipFill rotWithShape="0">
                <a:blip r:embed="rId3"/>
                <a:stretch>
                  <a:fillRect b="-14035"/>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 Box 51"/>
              <p:cNvSpPr txBox="1"/>
              <p:nvPr/>
            </p:nvSpPr>
            <p:spPr>
              <a:xfrm>
                <a:off x="9741684" y="5142063"/>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27" name="Text Box 51"/>
              <p:cNvSpPr txBox="1">
                <a:spLocks noRot="1" noChangeAspect="1" noMove="1" noResize="1" noEditPoints="1" noAdjustHandles="1" noChangeArrowheads="1" noChangeShapeType="1" noTextEdit="1"/>
              </p:cNvSpPr>
              <p:nvPr/>
            </p:nvSpPr>
            <p:spPr>
              <a:xfrm>
                <a:off x="9741684" y="5142063"/>
                <a:ext cx="320040" cy="346710"/>
              </a:xfrm>
              <a:prstGeom prst="rect">
                <a:avLst/>
              </a:prstGeom>
              <a:blipFill rotWithShape="0">
                <a:blip r:embed="rId4"/>
                <a:stretch>
                  <a:fillRect b="-14286"/>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192135" y="5070300"/>
                <a:ext cx="85651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kern="0" smtClean="0">
                              <a:solidFill>
                                <a:sysClr val="windowText" lastClr="000000"/>
                              </a:solidFill>
                              <a:latin typeface="Cambria Math" panose="02040503050406030204" pitchFamily="18" charset="0"/>
                              <a:ea typeface="Cambria Math" panose="02040503050406030204" pitchFamily="18" charset="0"/>
                              <a:cs typeface="Shruti"/>
                            </a:rPr>
                          </m:ctrlPr>
                        </m:sSubPr>
                        <m:e>
                          <m:r>
                            <a:rPr lang="en-IN" sz="2800" b="0" i="0" kern="0" smtClean="0">
                              <a:solidFill>
                                <a:sysClr val="windowText" lastClr="000000"/>
                              </a:solidFill>
                              <a:latin typeface="Cambria Math" panose="02040503050406030204" pitchFamily="18" charset="0"/>
                              <a:ea typeface="Cambria Math" panose="02040503050406030204" pitchFamily="18" charset="0"/>
                              <a:cs typeface="Shruti"/>
                            </a:rPr>
                            <m:t>−</m:t>
                          </m:r>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US" sz="2800" kern="0">
                              <a:solidFill>
                                <a:sysClr val="windowText" lastClr="000000"/>
                              </a:solidFill>
                              <a:latin typeface="Cambria Math" panose="02040503050406030204" pitchFamily="18" charset="0"/>
                              <a:ea typeface="Cambria Math" panose="02040503050406030204" pitchFamily="18" charset="0"/>
                              <a:cs typeface="Shruti"/>
                            </a:rPr>
                            <m:t>1</m:t>
                          </m:r>
                        </m:sub>
                      </m:sSub>
                    </m:oMath>
                  </m:oMathPara>
                </a14:m>
                <a:endParaRPr lang="en-IN" sz="2800" dirty="0"/>
              </a:p>
            </p:txBody>
          </p:sp>
        </mc:Choice>
        <mc:Fallback xmlns="">
          <p:sp>
            <p:nvSpPr>
              <p:cNvPr id="3" name="Rectangle 2"/>
              <p:cNvSpPr>
                <a:spLocks noRot="1" noChangeAspect="1" noMove="1" noResize="1" noEditPoints="1" noAdjustHandles="1" noChangeArrowheads="1" noChangeShapeType="1" noTextEdit="1"/>
              </p:cNvSpPr>
              <p:nvPr/>
            </p:nvSpPr>
            <p:spPr>
              <a:xfrm>
                <a:off x="1192135" y="5070300"/>
                <a:ext cx="856517" cy="523220"/>
              </a:xfrm>
              <a:prstGeom prst="rect">
                <a:avLst/>
              </a:prstGeom>
              <a:blipFill rotWithShape="0">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2819668" y="5096744"/>
                <a:ext cx="588815"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kern="0" smtClean="0">
                              <a:solidFill>
                                <a:sysClr val="windowText" lastClr="000000"/>
                              </a:solidFill>
                              <a:latin typeface="Cambria Math" panose="02040503050406030204" pitchFamily="18" charset="0"/>
                              <a:ea typeface="Cambria Math" panose="02040503050406030204" pitchFamily="18" charset="0"/>
                              <a:cs typeface="Shruti"/>
                            </a:rPr>
                          </m:ctrlPr>
                        </m:sSubPr>
                        <m:e>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IN" sz="2800" b="0" i="0" kern="0" smtClean="0">
                              <a:solidFill>
                                <a:sysClr val="windowText" lastClr="000000"/>
                              </a:solidFill>
                              <a:latin typeface="Cambria Math" panose="02040503050406030204" pitchFamily="18" charset="0"/>
                              <a:ea typeface="Cambria Math" panose="02040503050406030204" pitchFamily="18" charset="0"/>
                              <a:cs typeface="Shruti"/>
                            </a:rPr>
                            <m:t>2</m:t>
                          </m:r>
                        </m:sub>
                      </m:sSub>
                    </m:oMath>
                  </m:oMathPara>
                </a14:m>
                <a:endParaRPr lang="en-IN" sz="2800" dirty="0"/>
              </a:p>
            </p:txBody>
          </p:sp>
        </mc:Choice>
        <mc:Fallback xmlns="">
          <p:sp>
            <p:nvSpPr>
              <p:cNvPr id="14" name="Rectangle 13"/>
              <p:cNvSpPr>
                <a:spLocks noRot="1" noChangeAspect="1" noMove="1" noResize="1" noEditPoints="1" noAdjustHandles="1" noChangeArrowheads="1" noChangeShapeType="1" noTextEdit="1"/>
              </p:cNvSpPr>
              <p:nvPr/>
            </p:nvSpPr>
            <p:spPr>
              <a:xfrm>
                <a:off x="2819668" y="5096744"/>
                <a:ext cx="588815" cy="523220"/>
              </a:xfrm>
              <a:prstGeom prst="rect">
                <a:avLst/>
              </a:prstGeom>
              <a:blipFill rotWithShape="0">
                <a:blip r:embed="rId6"/>
                <a:stretch>
                  <a:fillRect/>
                </a:stretch>
              </a:blipFill>
            </p:spPr>
            <p:txBody>
              <a:bodyPr/>
              <a:lstStyle/>
              <a:p>
                <a:r>
                  <a:rPr lang="en-IN">
                    <a:noFill/>
                  </a:rPr>
                  <a:t> </a:t>
                </a:r>
              </a:p>
            </p:txBody>
          </p:sp>
        </mc:Fallback>
      </mc:AlternateContent>
      <p:pic>
        <p:nvPicPr>
          <p:cNvPr id="11" name="Picture 10"/>
          <p:cNvPicPr/>
          <p:nvPr/>
        </p:nvPicPr>
        <p:blipFill rotWithShape="1">
          <a:blip r:embed="rId7">
            <a:extLst>
              <a:ext uri="{28A0092B-C50C-407E-A947-70E740481C1C}">
                <a14:useLocalDpi xmlns:a14="http://schemas.microsoft.com/office/drawing/2010/main" val="0"/>
              </a:ext>
            </a:extLst>
          </a:blip>
          <a:srcRect l="10082" t="44712" r="29426" b="35591"/>
          <a:stretch/>
        </p:blipFill>
        <p:spPr bwMode="auto">
          <a:xfrm>
            <a:off x="66785" y="2884869"/>
            <a:ext cx="11923446" cy="2237634"/>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2" name="Text Box 51"/>
              <p:cNvSpPr txBox="1"/>
              <p:nvPr/>
            </p:nvSpPr>
            <p:spPr>
              <a:xfrm>
                <a:off x="2007925" y="5143901"/>
                <a:ext cx="320040" cy="34671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14:m>
                  <m:oMathPara xmlns:m="http://schemas.openxmlformats.org/officeDocument/2006/math">
                    <m:oMathParaPr>
                      <m:jc m:val="centerGroup"/>
                    </m:oMathParaPr>
                    <m:oMath xmlns:m="http://schemas.openxmlformats.org/officeDocument/2006/math">
                      <m:r>
                        <a:rPr kumimoji="0" lang="en-IN" sz="2800" b="0" i="1" u="none" strike="noStrike" kern="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Shruti"/>
                        </a:rPr>
                        <m:t>0</m:t>
                      </m:r>
                    </m:oMath>
                  </m:oMathPara>
                </a14:m>
                <a:endParaRPr kumimoji="0" lang="en-IN" sz="2800" b="0" i="0" u="none" strike="noStrike" kern="0" cap="none" spc="0" normalizeH="0" baseline="0" noProof="0" dirty="0">
                  <a:ln>
                    <a:noFill/>
                  </a:ln>
                  <a:solidFill>
                    <a:sysClr val="windowText" lastClr="000000"/>
                  </a:solidFill>
                  <a:effectLst/>
                  <a:uLnTx/>
                  <a:uFillTx/>
                  <a:latin typeface="Cambria Math" panose="02040503050406030204" pitchFamily="18" charset="0"/>
                  <a:ea typeface="Cambria Math" panose="02040503050406030204" pitchFamily="18" charset="0"/>
                  <a:cs typeface="Shruti"/>
                </a:endParaRPr>
              </a:p>
            </p:txBody>
          </p:sp>
        </mc:Choice>
        <mc:Fallback xmlns="">
          <p:sp>
            <p:nvSpPr>
              <p:cNvPr id="12" name="Text Box 51"/>
              <p:cNvSpPr txBox="1">
                <a:spLocks noRot="1" noChangeAspect="1" noMove="1" noResize="1" noEditPoints="1" noAdjustHandles="1" noChangeArrowheads="1" noChangeShapeType="1" noTextEdit="1"/>
              </p:cNvSpPr>
              <p:nvPr/>
            </p:nvSpPr>
            <p:spPr>
              <a:xfrm>
                <a:off x="2007925" y="5143901"/>
                <a:ext cx="320040" cy="346710"/>
              </a:xfrm>
              <a:prstGeom prst="rect">
                <a:avLst/>
              </a:prstGeom>
              <a:blipFill rotWithShape="0">
                <a:blip r:embed="rId8"/>
                <a:stretch>
                  <a:fillRect b="-12281"/>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10594283" y="5083552"/>
                <a:ext cx="588815"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2800" i="1" kern="0" smtClean="0">
                              <a:solidFill>
                                <a:sysClr val="windowText" lastClr="000000"/>
                              </a:solidFill>
                              <a:latin typeface="Cambria Math" panose="02040503050406030204" pitchFamily="18" charset="0"/>
                              <a:ea typeface="Cambria Math" panose="02040503050406030204" pitchFamily="18" charset="0"/>
                              <a:cs typeface="Shruti"/>
                            </a:rPr>
                          </m:ctrlPr>
                        </m:sSubPr>
                        <m:e>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IN" sz="2800" b="0" i="0" kern="0" smtClean="0">
                              <a:solidFill>
                                <a:sysClr val="windowText" lastClr="000000"/>
                              </a:solidFill>
                              <a:latin typeface="Cambria Math" panose="02040503050406030204" pitchFamily="18" charset="0"/>
                              <a:ea typeface="Cambria Math" panose="02040503050406030204" pitchFamily="18" charset="0"/>
                              <a:cs typeface="Shruti"/>
                            </a:rPr>
                            <m:t>2</m:t>
                          </m:r>
                        </m:sub>
                      </m:sSub>
                    </m:oMath>
                  </m:oMathPara>
                </a14:m>
                <a:endParaRPr lang="en-IN" sz="2800" dirty="0"/>
              </a:p>
            </p:txBody>
          </p:sp>
        </mc:Choice>
        <mc:Fallback xmlns="">
          <p:sp>
            <p:nvSpPr>
              <p:cNvPr id="17" name="Rectangle 16"/>
              <p:cNvSpPr>
                <a:spLocks noRot="1" noChangeAspect="1" noMove="1" noResize="1" noEditPoints="1" noAdjustHandles="1" noChangeArrowheads="1" noChangeShapeType="1" noTextEdit="1"/>
              </p:cNvSpPr>
              <p:nvPr/>
            </p:nvSpPr>
            <p:spPr>
              <a:xfrm>
                <a:off x="10594283" y="5083552"/>
                <a:ext cx="588815" cy="523220"/>
              </a:xfrm>
              <a:prstGeom prst="rect">
                <a:avLst/>
              </a:prstGeom>
              <a:blipFill rotWithShape="0">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4921505" y="5120041"/>
                <a:ext cx="85651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kern="0" smtClean="0">
                              <a:solidFill>
                                <a:sysClr val="windowText" lastClr="000000"/>
                              </a:solidFill>
                              <a:latin typeface="Cambria Math" panose="02040503050406030204" pitchFamily="18" charset="0"/>
                              <a:ea typeface="Cambria Math" panose="02040503050406030204" pitchFamily="18" charset="0"/>
                              <a:cs typeface="Shruti"/>
                            </a:rPr>
                          </m:ctrlPr>
                        </m:sSubPr>
                        <m:e>
                          <m:r>
                            <a:rPr lang="en-IN" sz="2800" b="0" i="0" kern="0" smtClean="0">
                              <a:solidFill>
                                <a:sysClr val="windowText" lastClr="000000"/>
                              </a:solidFill>
                              <a:latin typeface="Cambria Math" panose="02040503050406030204" pitchFamily="18" charset="0"/>
                              <a:ea typeface="Cambria Math" panose="02040503050406030204" pitchFamily="18" charset="0"/>
                              <a:cs typeface="Shruti"/>
                            </a:rPr>
                            <m:t>−</m:t>
                          </m:r>
                          <m:r>
                            <m:rPr>
                              <m:sty m:val="p"/>
                            </m:rPr>
                            <a:rPr lang="en-US" sz="2800" kern="0">
                              <a:solidFill>
                                <a:sysClr val="windowText" lastClr="000000"/>
                              </a:solidFill>
                              <a:latin typeface="Cambria Math" panose="02040503050406030204" pitchFamily="18" charset="0"/>
                              <a:ea typeface="Cambria Math" panose="02040503050406030204" pitchFamily="18" charset="0"/>
                              <a:cs typeface="Shruti"/>
                            </a:rPr>
                            <m:t>z</m:t>
                          </m:r>
                        </m:e>
                        <m:sub>
                          <m:r>
                            <a:rPr lang="en-US" sz="2800" kern="0">
                              <a:solidFill>
                                <a:sysClr val="windowText" lastClr="000000"/>
                              </a:solidFill>
                              <a:latin typeface="Cambria Math" panose="02040503050406030204" pitchFamily="18" charset="0"/>
                              <a:ea typeface="Cambria Math" panose="02040503050406030204" pitchFamily="18" charset="0"/>
                              <a:cs typeface="Shruti"/>
                            </a:rPr>
                            <m:t>1</m:t>
                          </m:r>
                        </m:sub>
                      </m:sSub>
                    </m:oMath>
                  </m:oMathPara>
                </a14:m>
                <a:endParaRPr lang="en-IN" sz="2800" dirty="0"/>
              </a:p>
            </p:txBody>
          </p:sp>
        </mc:Choice>
        <mc:Fallback xmlns="">
          <p:sp>
            <p:nvSpPr>
              <p:cNvPr id="18" name="Rectangle 17"/>
              <p:cNvSpPr>
                <a:spLocks noRot="1" noChangeAspect="1" noMove="1" noResize="1" noEditPoints="1" noAdjustHandles="1" noChangeArrowheads="1" noChangeShapeType="1" noTextEdit="1"/>
              </p:cNvSpPr>
              <p:nvPr/>
            </p:nvSpPr>
            <p:spPr>
              <a:xfrm>
                <a:off x="4921505" y="5120041"/>
                <a:ext cx="856517" cy="523220"/>
              </a:xfrm>
              <a:prstGeom prst="rect">
                <a:avLst/>
              </a:prstGeom>
              <a:blipFill rotWithShape="0">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5889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Important Cases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92543" y="835734"/>
                <a:ext cx="12060819" cy="5590565"/>
              </a:xfrm>
            </p:spPr>
            <p:txBody>
              <a:bodyPr/>
              <a:lstStyle/>
              <a:p>
                <a:pPr marL="0" lvl="0" indent="0">
                  <a:buNone/>
                </a:pPr>
                <a:r>
                  <a:rPr lang="en-US" dirty="0">
                    <a:solidFill>
                      <a:schemeClr val="accent5">
                        <a:lumMod val="50000"/>
                      </a:schemeClr>
                    </a:solidFill>
                  </a:rPr>
                  <a:t>Note:</a:t>
                </a:r>
                <a:r>
                  <a:rPr lang="en-US" dirty="0"/>
                  <a:t> </a:t>
                </a:r>
                <a:endParaRPr lang="en-IN" dirty="0"/>
              </a:p>
              <a:p>
                <a:pPr lvl="0"/>
                <a:r>
                  <a:rPr lang="en-US" sz="2650" dirty="0"/>
                  <a:t>Area between </a:t>
                </a:r>
                <a14:m>
                  <m:oMath xmlns:m="http://schemas.openxmlformats.org/officeDocument/2006/math">
                    <m:r>
                      <a:rPr lang="en-US" sz="2650" b="1" i="0" dirty="0" smtClean="0">
                        <a:solidFill>
                          <a:srgbClr val="FF0000"/>
                        </a:solidFill>
                        <a:latin typeface="Cambria Math" panose="02040503050406030204" pitchFamily="18" charset="0"/>
                      </a:rPr>
                      <m:t>𝐙</m:t>
                    </m:r>
                    <m:r>
                      <a:rPr lang="en-US" sz="2650" b="1" i="0" dirty="0" smtClean="0">
                        <a:solidFill>
                          <a:srgbClr val="FF0000"/>
                        </a:solidFill>
                        <a:latin typeface="Cambria Math" panose="02040503050406030204" pitchFamily="18" charset="0"/>
                      </a:rPr>
                      <m:t>=</m:t>
                    </m:r>
                    <m:sSub>
                      <m:sSubPr>
                        <m:ctrlPr>
                          <a:rPr lang="en-IN" sz="2650" b="1" i="1" dirty="0">
                            <a:solidFill>
                              <a:srgbClr val="FF0000"/>
                            </a:solidFill>
                            <a:latin typeface="Cambria Math" panose="02040503050406030204" pitchFamily="18" charset="0"/>
                          </a:rPr>
                        </m:ctrlPr>
                      </m:sSubPr>
                      <m:e>
                        <m:r>
                          <a:rPr lang="en-IN" sz="2650" b="1" i="0" dirty="0" smtClean="0">
                            <a:solidFill>
                              <a:srgbClr val="FF0000"/>
                            </a:solidFill>
                            <a:latin typeface="Cambria Math" panose="02040503050406030204" pitchFamily="18" charset="0"/>
                          </a:rPr>
                          <m:t>−</m:t>
                        </m:r>
                        <m:r>
                          <a:rPr lang="en-US" sz="2650" b="1" i="0" dirty="0" smtClean="0">
                            <a:solidFill>
                              <a:srgbClr val="FF0000"/>
                            </a:solidFill>
                            <a:latin typeface="Cambria Math" panose="02040503050406030204" pitchFamily="18" charset="0"/>
                          </a:rPr>
                          <m:t>𝐳</m:t>
                        </m:r>
                      </m:e>
                      <m:sub>
                        <m:r>
                          <a:rPr lang="en-IN" sz="2650" b="1" i="0" dirty="0" smtClean="0">
                            <a:solidFill>
                              <a:srgbClr val="FF0000"/>
                            </a:solidFill>
                            <a:latin typeface="Cambria Math" panose="02040503050406030204" pitchFamily="18" charset="0"/>
                          </a:rPr>
                          <m:t>𝟏</m:t>
                        </m:r>
                      </m:sub>
                    </m:sSub>
                    <m:r>
                      <a:rPr lang="en-US" sz="2650" b="1" i="0" dirty="0">
                        <a:solidFill>
                          <a:srgbClr val="FF0000"/>
                        </a:solidFill>
                        <a:latin typeface="Cambria Math" panose="02040503050406030204" pitchFamily="18" charset="0"/>
                      </a:rPr>
                      <m:t> </m:t>
                    </m:r>
                    <m:r>
                      <a:rPr lang="en-US" sz="2650" b="1" i="0" dirty="0">
                        <a:solidFill>
                          <a:srgbClr val="FF0000"/>
                        </a:solidFill>
                        <a:latin typeface="Cambria Math" panose="02040503050406030204" pitchFamily="18" charset="0"/>
                      </a:rPr>
                      <m:t>𝐭𝐨</m:t>
                    </m:r>
                    <m:r>
                      <a:rPr lang="en-US" sz="2650" b="1" i="0" dirty="0">
                        <a:solidFill>
                          <a:srgbClr val="FF0000"/>
                        </a:solidFill>
                        <a:latin typeface="Cambria Math" panose="02040503050406030204" pitchFamily="18" charset="0"/>
                      </a:rPr>
                      <m:t> </m:t>
                    </m:r>
                    <m:r>
                      <a:rPr lang="en-US" sz="2650" b="1" i="0" dirty="0" smtClean="0">
                        <a:solidFill>
                          <a:srgbClr val="FF0000"/>
                        </a:solidFill>
                        <a:latin typeface="Cambria Math" panose="02040503050406030204" pitchFamily="18" charset="0"/>
                      </a:rPr>
                      <m:t>𝐙</m:t>
                    </m:r>
                    <m:r>
                      <a:rPr lang="en-US" sz="2650" b="1" i="0" dirty="0" smtClean="0">
                        <a:solidFill>
                          <a:srgbClr val="FF0000"/>
                        </a:solidFill>
                        <a:latin typeface="Cambria Math" panose="02040503050406030204" pitchFamily="18" charset="0"/>
                      </a:rPr>
                      <m:t>=</m:t>
                    </m:r>
                    <m:sSub>
                      <m:sSubPr>
                        <m:ctrlPr>
                          <a:rPr lang="en-IN" sz="2650" b="1" i="1" dirty="0" smtClean="0">
                            <a:solidFill>
                              <a:srgbClr val="FF0000"/>
                            </a:solidFill>
                            <a:latin typeface="Cambria Math" panose="02040503050406030204" pitchFamily="18" charset="0"/>
                          </a:rPr>
                        </m:ctrlPr>
                      </m:sSubPr>
                      <m:e>
                        <m:r>
                          <a:rPr lang="en-IN" sz="2650" b="1" i="0" dirty="0" smtClean="0">
                            <a:solidFill>
                              <a:srgbClr val="FF0000"/>
                            </a:solidFill>
                            <a:latin typeface="Cambria Math" panose="02040503050406030204" pitchFamily="18" charset="0"/>
                          </a:rPr>
                          <m:t>𝐳</m:t>
                        </m:r>
                      </m:e>
                      <m:sub>
                        <m:r>
                          <a:rPr lang="en-IN" sz="2650" b="1" i="0" dirty="0" smtClean="0">
                            <a:solidFill>
                              <a:srgbClr val="FF0000"/>
                            </a:solidFill>
                            <a:latin typeface="Cambria Math" panose="02040503050406030204" pitchFamily="18" charset="0"/>
                          </a:rPr>
                          <m:t>𝟐</m:t>
                        </m:r>
                      </m:sub>
                    </m:sSub>
                  </m:oMath>
                </a14:m>
                <a:r>
                  <a:rPr lang="en-IN" sz="2650" i="0" dirty="0">
                    <a:latin typeface="Cambria Math" panose="02040503050406030204" pitchFamily="18" charset="0"/>
                  </a:rPr>
                  <a:t> </a:t>
                </a:r>
                <a:r>
                  <a:rPr lang="en-US" sz="2650" dirty="0"/>
                  <a:t>which can be represented as </a:t>
                </a:r>
                <a14:m>
                  <m:oMath xmlns:m="http://schemas.openxmlformats.org/officeDocument/2006/math">
                    <m:r>
                      <a:rPr lang="en-US" sz="2650" b="1" i="1" smtClean="0">
                        <a:solidFill>
                          <a:srgbClr val="FF0000"/>
                        </a:solidFill>
                        <a:latin typeface="Cambria Math" panose="02040503050406030204" pitchFamily="18" charset="0"/>
                      </a:rPr>
                      <m:t>𝐏</m:t>
                    </m:r>
                    <m:d>
                      <m:dPr>
                        <m:ctrlPr>
                          <a:rPr lang="en-IN" sz="2650" b="1" i="1">
                            <a:solidFill>
                              <a:srgbClr val="FF0000"/>
                            </a:solidFill>
                            <a:latin typeface="Cambria Math" panose="02040503050406030204" pitchFamily="18" charset="0"/>
                          </a:rPr>
                        </m:ctrlPr>
                      </m:dPr>
                      <m:e>
                        <m:r>
                          <a:rPr lang="en-IN" sz="2650" b="1" i="1" smtClean="0">
                            <a:solidFill>
                              <a:srgbClr val="FF0000"/>
                            </a:solidFill>
                            <a:latin typeface="Cambria Math" panose="02040503050406030204" pitchFamily="18" charset="0"/>
                          </a:rPr>
                          <m:t>−</m:t>
                        </m:r>
                        <m:sSub>
                          <m:sSubPr>
                            <m:ctrlPr>
                              <a:rPr lang="en-IN" sz="2650" b="1" i="1" smtClean="0">
                                <a:solidFill>
                                  <a:srgbClr val="FF0000"/>
                                </a:solidFill>
                                <a:latin typeface="Cambria Math" panose="02040503050406030204" pitchFamily="18" charset="0"/>
                              </a:rPr>
                            </m:ctrlPr>
                          </m:sSubPr>
                          <m:e>
                            <m:r>
                              <a:rPr lang="en-IN" sz="2650" b="1" i="0" smtClean="0">
                                <a:solidFill>
                                  <a:srgbClr val="FF0000"/>
                                </a:solidFill>
                                <a:latin typeface="Cambria Math" panose="02040503050406030204" pitchFamily="18" charset="0"/>
                              </a:rPr>
                              <m:t>𝐳</m:t>
                            </m:r>
                          </m:e>
                          <m:sub>
                            <m:r>
                              <a:rPr lang="en-IN" sz="2650" b="1" i="0" smtClean="0">
                                <a:solidFill>
                                  <a:srgbClr val="FF0000"/>
                                </a:solidFill>
                                <a:latin typeface="Cambria Math" panose="02040503050406030204" pitchFamily="18" charset="0"/>
                              </a:rPr>
                              <m:t>𝟏</m:t>
                            </m:r>
                          </m:sub>
                        </m:sSub>
                        <m:r>
                          <a:rPr lang="en-IN" sz="2650" b="1" i="1" smtClean="0">
                            <a:solidFill>
                              <a:srgbClr val="FF0000"/>
                            </a:solidFill>
                            <a:latin typeface="Cambria Math" panose="02040503050406030204" pitchFamily="18" charset="0"/>
                            <a:ea typeface="Cambria Math" panose="02040503050406030204" pitchFamily="18" charset="0"/>
                          </a:rPr>
                          <m:t>≤</m:t>
                        </m:r>
                        <m:r>
                          <a:rPr lang="en-US" sz="2650" b="1" i="1">
                            <a:solidFill>
                              <a:srgbClr val="FF0000"/>
                            </a:solidFill>
                            <a:latin typeface="Cambria Math" panose="02040503050406030204" pitchFamily="18" charset="0"/>
                          </a:rPr>
                          <m:t>𝐙</m:t>
                        </m:r>
                        <m:r>
                          <a:rPr lang="en-US" sz="2650" b="1" i="1" smtClean="0">
                            <a:solidFill>
                              <a:srgbClr val="FF0000"/>
                            </a:solidFill>
                            <a:latin typeface="Cambria Math" panose="02040503050406030204" pitchFamily="18" charset="0"/>
                            <a:ea typeface="Cambria Math" panose="02040503050406030204" pitchFamily="18" charset="0"/>
                          </a:rPr>
                          <m:t>≤</m:t>
                        </m:r>
                        <m:sSub>
                          <m:sSubPr>
                            <m:ctrlPr>
                              <a:rPr lang="en-IN" sz="2650" b="1" i="1">
                                <a:solidFill>
                                  <a:srgbClr val="FF0000"/>
                                </a:solidFill>
                                <a:latin typeface="Cambria Math" panose="02040503050406030204" pitchFamily="18" charset="0"/>
                              </a:rPr>
                            </m:ctrlPr>
                          </m:sSubPr>
                          <m:e>
                            <m:r>
                              <a:rPr lang="en-US" sz="2650" b="1" i="0">
                                <a:solidFill>
                                  <a:srgbClr val="FF0000"/>
                                </a:solidFill>
                                <a:latin typeface="Cambria Math" panose="02040503050406030204" pitchFamily="18" charset="0"/>
                              </a:rPr>
                              <m:t>𝐳</m:t>
                            </m:r>
                          </m:e>
                          <m:sub>
                            <m:r>
                              <a:rPr lang="en-IN" sz="2650" b="1" i="0" smtClean="0">
                                <a:solidFill>
                                  <a:srgbClr val="FF0000"/>
                                </a:solidFill>
                                <a:latin typeface="Cambria Math" panose="02040503050406030204" pitchFamily="18" charset="0"/>
                              </a:rPr>
                              <m:t>𝟐</m:t>
                            </m:r>
                          </m:sub>
                        </m:sSub>
                      </m:e>
                    </m:d>
                  </m:oMath>
                </a14:m>
                <a:r>
                  <a:rPr lang="en-US" dirty="0"/>
                  <a:t> as normal distribution is </a:t>
                </a:r>
                <a:r>
                  <a:rPr lang="en-US" dirty="0">
                    <a:solidFill>
                      <a:srgbClr val="FF0000"/>
                    </a:solidFill>
                  </a:rPr>
                  <a:t>symmetric</a:t>
                </a:r>
                <a:r>
                  <a:rPr lang="en-US" dirty="0"/>
                  <a:t> about x – axis. </a:t>
                </a:r>
              </a:p>
              <a:p>
                <a:pPr lvl="0"/>
                <a:r>
                  <a:rPr lang="en-US" dirty="0"/>
                  <a:t>That is, </a:t>
                </a:r>
                <a14:m>
                  <m:oMath xmlns:m="http://schemas.openxmlformats.org/officeDocument/2006/math">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0" i="0" smtClean="0">
                            <a:latin typeface="Cambria Math" panose="02040503050406030204" pitchFamily="18" charset="0"/>
                          </a:rPr>
                          <m:t>−1</m:t>
                        </m:r>
                        <m:r>
                          <a:rPr lang="en-IN" b="0" i="1" smtClean="0">
                            <a:latin typeface="Cambria Math" panose="02040503050406030204" pitchFamily="18" charset="0"/>
                            <a:ea typeface="Cambria Math" panose="02040503050406030204" pitchFamily="18" charset="0"/>
                          </a:rPr>
                          <m:t>≤</m:t>
                        </m:r>
                        <m:r>
                          <m:rPr>
                            <m:sty m:val="p"/>
                          </m:rPr>
                          <a:rPr lang="en-IN" b="0" i="0" smtClean="0">
                            <a:latin typeface="Cambria Math" panose="02040503050406030204" pitchFamily="18" charset="0"/>
                            <a:ea typeface="Cambria Math" panose="02040503050406030204" pitchFamily="18" charset="0"/>
                          </a:rPr>
                          <m:t>Z</m:t>
                        </m:r>
                        <m:r>
                          <a:rPr lang="en-US"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2</m:t>
                        </m:r>
                      </m:e>
                    </m:d>
                    <m:r>
                      <a:rPr lang="en-US">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m:t>
                        </m:r>
                      </m:e>
                    </m:d>
                    <m:r>
                      <a:rPr lang="en-IN" b="0" i="1" smtClean="0">
                        <a:latin typeface="Cambria Math" panose="02040503050406030204" pitchFamily="18" charset="0"/>
                      </a:rPr>
                      <m:t>+</m:t>
                    </m:r>
                    <m:r>
                      <m:rPr>
                        <m:sty m:val="p"/>
                      </m:rPr>
                      <a:rPr lang="en-US">
                        <a:latin typeface="Cambria Math" panose="02040503050406030204" pitchFamily="18" charset="0"/>
                      </a:rPr>
                      <m:t>P</m:t>
                    </m:r>
                    <m:d>
                      <m:dPr>
                        <m:ctrlPr>
                          <a:rPr lang="en-IN" i="1">
                            <a:latin typeface="Cambria Math" panose="02040503050406030204" pitchFamily="18" charset="0"/>
                          </a:rPr>
                        </m:ctrlPr>
                      </m:dPr>
                      <m:e>
                        <m:r>
                          <a:rPr lang="en-IN" b="0" i="1" smtClean="0">
                            <a:latin typeface="Cambria Math" panose="02040503050406030204" pitchFamily="18" charset="0"/>
                          </a:rPr>
                          <m:t>0</m:t>
                        </m:r>
                        <m:r>
                          <a:rPr lang="en-IN" i="1">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≤2</m:t>
                        </m:r>
                      </m:e>
                    </m:d>
                  </m:oMath>
                </a14:m>
                <a:endParaRPr lang="en-IN" i="1" dirty="0">
                  <a:latin typeface="Cambria Math" panose="02040503050406030204" pitchFamily="18" charset="0"/>
                </a:endParaRPr>
              </a:p>
              <a:p>
                <a:pPr marL="2249487" lvl="5" indent="0">
                  <a:lnSpc>
                    <a:spcPct val="150000"/>
                  </a:lnSpc>
                  <a:buNone/>
                </a:pPr>
                <a:r>
                  <a:rPr lang="en-US" sz="2800" dirty="0"/>
                  <a:t> 		 </a:t>
                </a:r>
                <a14:m>
                  <m:oMath xmlns:m="http://schemas.openxmlformats.org/officeDocument/2006/math">
                    <m:r>
                      <a:rPr lang="en-US" sz="2800" smtClean="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3413+0.4772</m:t>
                    </m:r>
                  </m:oMath>
                </a14:m>
                <a:endParaRPr lang="en-IN" sz="2800" dirty="0">
                  <a:solidFill>
                    <a:srgbClr val="002060"/>
                  </a:solidFill>
                  <a:latin typeface="Cambria Math" panose="02040503050406030204" pitchFamily="18" charset="0"/>
                </a:endParaRPr>
              </a:p>
              <a:p>
                <a:pPr marL="2249487" lvl="5" indent="0">
                  <a:lnSpc>
                    <a:spcPct val="150000"/>
                  </a:lnSpc>
                  <a:buNone/>
                </a:pPr>
                <a:r>
                  <a:rPr lang="en-US" sz="2800" dirty="0">
                    <a:solidFill>
                      <a:srgbClr val="002060"/>
                    </a:solidFill>
                  </a:rPr>
                  <a:t>		 </a:t>
                </a:r>
                <a14:m>
                  <m:oMath xmlns:m="http://schemas.openxmlformats.org/officeDocument/2006/math">
                    <m:r>
                      <a:rPr lang="en-US" sz="2800">
                        <a:solidFill>
                          <a:srgbClr val="002060"/>
                        </a:solidFill>
                        <a:latin typeface="Cambria Math" panose="02040503050406030204" pitchFamily="18" charset="0"/>
                      </a:rPr>
                      <m:t>=0.</m:t>
                    </m:r>
                    <m:r>
                      <a:rPr lang="en-IN" sz="2800" b="0" i="0" smtClean="0">
                        <a:solidFill>
                          <a:srgbClr val="002060"/>
                        </a:solidFill>
                        <a:latin typeface="Cambria Math" panose="02040503050406030204" pitchFamily="18" charset="0"/>
                      </a:rPr>
                      <m:t>8185</m:t>
                    </m:r>
                  </m:oMath>
                </a14:m>
                <a:endParaRPr lang="en-IN" sz="2800" dirty="0">
                  <a:solidFill>
                    <a:srgbClr val="002060"/>
                  </a:solidFill>
                  <a:latin typeface="Cambria Math" panose="02040503050406030204" pitchFamily="18" charset="0"/>
                </a:endParaRPr>
              </a:p>
              <a:p>
                <a:pPr marL="2249487" lvl="5" indent="0">
                  <a:buNone/>
                </a:pPr>
                <a:endParaRPr lang="en-IN" sz="2800" dirty="0">
                  <a:latin typeface="Cambria Math" panose="02040503050406030204" pitchFamily="18" charset="0"/>
                </a:endParaRPr>
              </a:p>
            </p:txBody>
          </p:sp>
        </mc:Choice>
        <mc:Fallback xmlns="">
          <p:sp>
            <p:nvSpPr>
              <p:cNvPr id="5" name="Content Placeholder 4">
                <a:extLst>
                  <a:ext uri="{FF2B5EF4-FFF2-40B4-BE49-F238E27FC236}">
                    <a16:creationId xmlns:a16="http://schemas.microsoft.com/office/drawing/2014/main" xmlns="" xmlns:a14="http://schemas.microsoft.com/office/drawing/2010/main" id="{0346D6E4-2CDF-4CD2-9674-A490F9F9E356}"/>
                  </a:ext>
                </a:extLst>
              </p:cNvPr>
              <p:cNvSpPr>
                <a:spLocks noGrp="1" noRot="1" noChangeAspect="1" noMove="1" noResize="1" noEditPoints="1" noAdjustHandles="1" noChangeArrowheads="1" noChangeShapeType="1" noTextEdit="1"/>
              </p:cNvSpPr>
              <p:nvPr>
                <p:ph idx="1"/>
              </p:nvPr>
            </p:nvSpPr>
            <p:spPr>
              <a:xfrm>
                <a:off x="92543" y="835734"/>
                <a:ext cx="12060819" cy="5590565"/>
              </a:xfrm>
              <a:blipFill rotWithShape="0">
                <a:blip r:embed="rId2"/>
                <a:stretch>
                  <a:fillRect l="-1011" r="-1011"/>
                </a:stretch>
              </a:blipFill>
            </p:spPr>
            <p:txBody>
              <a:bodyPr/>
              <a:lstStyle/>
              <a:p>
                <a:r>
                  <a:rPr lang="en-IN">
                    <a:noFill/>
                  </a:rPr>
                  <a:t> </a:t>
                </a:r>
              </a:p>
            </p:txBody>
          </p:sp>
        </mc:Fallback>
      </mc:AlternateContent>
    </p:spTree>
    <p:extLst>
      <p:ext uri="{BB962C8B-B14F-4D97-AF65-F5344CB8AC3E}">
        <p14:creationId xmlns:p14="http://schemas.microsoft.com/office/powerpoint/2010/main" val="340702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Properties of Normal Distribution </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0" y="863444"/>
                <a:ext cx="11929641" cy="5590565"/>
              </a:xfrm>
            </p:spPr>
            <p:txBody>
              <a:bodyPr/>
              <a:lstStyle/>
              <a:p>
                <a:pPr lvl="0"/>
                <a:r>
                  <a:rPr lang="en-US" dirty="0"/>
                  <a:t>The curve is </a:t>
                </a:r>
                <a:r>
                  <a:rPr lang="en-US" dirty="0">
                    <a:solidFill>
                      <a:srgbClr val="FF0000"/>
                    </a:solidFill>
                  </a:rPr>
                  <a:t>bell shaped</a:t>
                </a:r>
                <a:r>
                  <a:rPr lang="en-US" dirty="0"/>
                  <a:t> and </a:t>
                </a:r>
                <a:r>
                  <a:rPr lang="en-US" dirty="0">
                    <a:solidFill>
                      <a:srgbClr val="FF0000"/>
                    </a:solidFill>
                  </a:rPr>
                  <a:t>symmetrical</a:t>
                </a:r>
                <a:r>
                  <a:rPr lang="en-US" dirty="0"/>
                  <a:t> about the line </a:t>
                </a:r>
                <a14:m>
                  <m:oMath xmlns:m="http://schemas.openxmlformats.org/officeDocument/2006/math">
                    <m:r>
                      <m:rPr>
                        <m:sty m:val="p"/>
                      </m:rPr>
                      <a:rPr lang="en-US" i="0" dirty="0" smtClean="0">
                        <a:latin typeface="Cambria Math" panose="02040503050406030204" pitchFamily="18" charset="0"/>
                      </a:rPr>
                      <m:t>x</m:t>
                    </m:r>
                    <m:r>
                      <a:rPr lang="en-US" i="0" dirty="0" smtClean="0">
                        <a:latin typeface="Cambria Math" panose="02040503050406030204" pitchFamily="18" charset="0"/>
                      </a:rPr>
                      <m:t>=</m:t>
                    </m:r>
                    <m:r>
                      <m:rPr>
                        <m:sty m:val="p"/>
                      </m:rPr>
                      <a:rPr lang="en-US" i="0" dirty="0" smtClean="0">
                        <a:latin typeface="Cambria Math" panose="02040503050406030204" pitchFamily="18" charset="0"/>
                      </a:rPr>
                      <m:t>μ</m:t>
                    </m:r>
                    <m:r>
                      <a:rPr lang="en-US">
                        <a:latin typeface="Cambria Math" panose="02040503050406030204" pitchFamily="18" charset="0"/>
                      </a:rPr>
                      <m:t>.</m:t>
                    </m:r>
                  </m:oMath>
                </a14:m>
                <a:endParaRPr lang="en-IN" dirty="0"/>
              </a:p>
              <a:p>
                <a:pPr lvl="0"/>
                <a:r>
                  <a:rPr lang="en-US" dirty="0"/>
                  <a:t>Mean, median and mode of the distribution coincide. i.e. the </a:t>
                </a:r>
                <a:r>
                  <a:rPr lang="en-US" dirty="0">
                    <a:solidFill>
                      <a:srgbClr val="FF0000"/>
                    </a:solidFill>
                  </a:rPr>
                  <a:t>normal distribution</a:t>
                </a:r>
                <a:r>
                  <a:rPr lang="en-US" dirty="0"/>
                  <a:t> is </a:t>
                </a:r>
                <a:r>
                  <a:rPr lang="en-US" dirty="0">
                    <a:solidFill>
                      <a:srgbClr val="FF0000"/>
                    </a:solidFill>
                  </a:rPr>
                  <a:t>symmetrical</a:t>
                </a:r>
                <a:r>
                  <a:rPr lang="en-US" dirty="0"/>
                  <a:t>.</a:t>
                </a:r>
                <a:endParaRPr lang="en-IN" dirty="0"/>
              </a:p>
              <a:p>
                <a:pPr lvl="0"/>
                <a:r>
                  <a:rPr lang="en-US" dirty="0"/>
                  <a:t>As </a:t>
                </a:r>
                <a14:m>
                  <m:oMath xmlns:m="http://schemas.openxmlformats.org/officeDocument/2006/math">
                    <m:r>
                      <m:rPr>
                        <m:sty m:val="p"/>
                      </m:rPr>
                      <a:rPr lang="en-US" i="0" dirty="0" smtClean="0">
                        <a:latin typeface="Cambria Math" panose="02040503050406030204" pitchFamily="18" charset="0"/>
                      </a:rPr>
                      <m:t>x</m:t>
                    </m:r>
                  </m:oMath>
                </a14:m>
                <a:r>
                  <a:rPr lang="en-US" dirty="0"/>
                  <a:t> increases numerically, </a:t>
                </a:r>
                <a14:m>
                  <m:oMath xmlns:m="http://schemas.openxmlformats.org/officeDocument/2006/math">
                    <m:r>
                      <m:rPr>
                        <m:sty m:val="p"/>
                      </m:rPr>
                      <a:rPr lang="en-US" i="0" dirty="0" smtClean="0">
                        <a:latin typeface="Cambria Math" panose="02040503050406030204" pitchFamily="18" charset="0"/>
                      </a:rPr>
                      <m:t>f</m:t>
                    </m:r>
                    <m:r>
                      <a:rPr lang="en-US" i="0" dirty="0" smtClean="0">
                        <a:latin typeface="Cambria Math" panose="02040503050406030204" pitchFamily="18" charset="0"/>
                      </a:rPr>
                      <m:t>(</m:t>
                    </m:r>
                    <m:r>
                      <m:rPr>
                        <m:sty m:val="p"/>
                      </m:rPr>
                      <a:rPr lang="en-US" i="0" dirty="0" smtClean="0">
                        <a:latin typeface="Cambria Math" panose="02040503050406030204" pitchFamily="18" charset="0"/>
                      </a:rPr>
                      <m:t>x</m:t>
                    </m:r>
                    <m:r>
                      <a:rPr lang="en-US" i="0" dirty="0" smtClean="0">
                        <a:latin typeface="Cambria Math" panose="02040503050406030204" pitchFamily="18" charset="0"/>
                      </a:rPr>
                      <m:t>)</m:t>
                    </m:r>
                  </m:oMath>
                </a14:m>
                <a:r>
                  <a:rPr lang="en-US" dirty="0"/>
                  <a:t> decreases rapidly, the maximum probability occurring at the point </a:t>
                </a:r>
                <a14:m>
                  <m:oMath xmlns:m="http://schemas.openxmlformats.org/officeDocument/2006/math">
                    <m:r>
                      <m:rPr>
                        <m:sty m:val="p"/>
                      </m:rPr>
                      <a:rPr lang="en-US" i="0" dirty="0" smtClean="0">
                        <a:latin typeface="Cambria Math" panose="02040503050406030204" pitchFamily="18" charset="0"/>
                      </a:rPr>
                      <m:t>x</m:t>
                    </m:r>
                    <m:r>
                      <a:rPr lang="en-US" i="0" dirty="0" smtClean="0">
                        <a:latin typeface="Cambria Math" panose="02040503050406030204" pitchFamily="18" charset="0"/>
                      </a:rPr>
                      <m:t>=</m:t>
                    </m:r>
                    <m:r>
                      <m:rPr>
                        <m:sty m:val="p"/>
                      </m:rPr>
                      <a:rPr lang="en-US" i="0" dirty="0" smtClean="0">
                        <a:latin typeface="Cambria Math" panose="02040503050406030204" pitchFamily="18" charset="0"/>
                      </a:rPr>
                      <m:t>μ</m:t>
                    </m:r>
                  </m:oMath>
                </a14:m>
                <a:r>
                  <a:rPr lang="en-US" dirty="0"/>
                  <a:t>.</a:t>
                </a:r>
                <a:endParaRPr lang="en-IN" dirty="0"/>
              </a:p>
              <a:p>
                <a:pPr lvl="0"/>
                <a14:m>
                  <m:oMath xmlns:m="http://schemas.openxmlformats.org/officeDocument/2006/math">
                    <m:r>
                      <m:rPr>
                        <m:sty m:val="p"/>
                      </m:rPr>
                      <a:rPr lang="en-US" i="0" dirty="0" smtClean="0">
                        <a:latin typeface="Cambria Math" panose="02040503050406030204" pitchFamily="18" charset="0"/>
                      </a:rPr>
                      <m:t>x</m:t>
                    </m:r>
                  </m:oMath>
                </a14:m>
                <a:r>
                  <a:rPr lang="en-US" dirty="0"/>
                  <a:t> - axis is an asymptote to the curve.</a:t>
                </a:r>
                <a:endParaRPr lang="en-IN" dirty="0"/>
              </a:p>
            </p:txBody>
          </p:sp>
        </mc:Choice>
        <mc:Fallback xmlns="">
          <p:sp>
            <p:nvSpPr>
              <p:cNvPr id="5" name="Content Placeholder 4">
                <a:extLst>
                  <a:ext uri="{FF2B5EF4-FFF2-40B4-BE49-F238E27FC236}">
                    <a16:creationId xmlns:a14="http://schemas.microsoft.com/office/drawing/2010/main" xmlns:a16="http://schemas.microsoft.com/office/drawing/2014/main" xmlns="" id="{0346D6E4-2CDF-4CD2-9674-A490F9F9E356}"/>
                  </a:ext>
                </a:extLst>
              </p:cNvPr>
              <p:cNvSpPr>
                <a:spLocks noGrp="1" noRot="1" noChangeAspect="1" noMove="1" noResize="1" noEditPoints="1" noAdjustHandles="1" noChangeArrowheads="1" noChangeShapeType="1" noTextEdit="1"/>
              </p:cNvSpPr>
              <p:nvPr>
                <p:ph idx="1"/>
              </p:nvPr>
            </p:nvSpPr>
            <p:spPr>
              <a:xfrm>
                <a:off x="131180" y="863444"/>
                <a:ext cx="11929641" cy="5590565"/>
              </a:xfrm>
              <a:blipFill rotWithShape="0">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74753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E1573B-CA90-43EC-9D0F-B94CEE0772BA}"/>
              </a:ext>
            </a:extLst>
          </p:cNvPr>
          <p:cNvSpPr>
            <a:spLocks noGrp="1"/>
          </p:cNvSpPr>
          <p:nvPr>
            <p:ph type="title"/>
          </p:nvPr>
        </p:nvSpPr>
        <p:spPr/>
        <p:txBody>
          <a:bodyPr/>
          <a:lstStyle/>
          <a:p>
            <a:r>
              <a:rPr lang="en-IN" dirty="0"/>
              <a:t>Importance</a:t>
            </a:r>
          </a:p>
        </p:txBody>
      </p:sp>
      <p:sp>
        <p:nvSpPr>
          <p:cNvPr id="5" name="Content Placeholder 4">
            <a:extLst>
              <a:ext uri="{FF2B5EF4-FFF2-40B4-BE49-F238E27FC236}">
                <a16:creationId xmlns:a16="http://schemas.microsoft.com/office/drawing/2014/main" id="{0346D6E4-2CDF-4CD2-9674-A490F9F9E356}"/>
              </a:ext>
            </a:extLst>
          </p:cNvPr>
          <p:cNvSpPr>
            <a:spLocks noGrp="1"/>
          </p:cNvSpPr>
          <p:nvPr>
            <p:ph idx="1"/>
          </p:nvPr>
        </p:nvSpPr>
        <p:spPr>
          <a:xfrm>
            <a:off x="131180" y="863444"/>
            <a:ext cx="11929641" cy="5590565"/>
          </a:xfrm>
        </p:spPr>
        <p:txBody>
          <a:bodyPr/>
          <a:lstStyle/>
          <a:p>
            <a:pPr lvl="0"/>
            <a:r>
              <a:rPr lang="en-US" dirty="0"/>
              <a:t>Most of the distributions occurring in practice, e.g., Binomial, Poisson, etc. can be approximated by </a:t>
            </a:r>
            <a:r>
              <a:rPr lang="en-US" dirty="0">
                <a:solidFill>
                  <a:srgbClr val="FF0000"/>
                </a:solidFill>
              </a:rPr>
              <a:t>normal distribution</a:t>
            </a:r>
            <a:r>
              <a:rPr lang="en-US" dirty="0"/>
              <a:t>.</a:t>
            </a:r>
            <a:endParaRPr lang="en-IN" dirty="0"/>
          </a:p>
          <a:p>
            <a:pPr lvl="0"/>
            <a:r>
              <a:rPr lang="en-US" dirty="0"/>
              <a:t>Even if a variable is not normally distributed, it can sometimes be brought to normal form by simple transformation of variable.</a:t>
            </a:r>
            <a:endParaRPr lang="en-IN" dirty="0"/>
          </a:p>
          <a:p>
            <a:r>
              <a:rPr lang="en-US" dirty="0"/>
              <a:t>The entire theory of small sample tests is based on the fundamental assumption that the parent populations from which the samples have been drawn follows </a:t>
            </a:r>
            <a:r>
              <a:rPr lang="en-US" dirty="0">
                <a:solidFill>
                  <a:srgbClr val="FF0000"/>
                </a:solidFill>
              </a:rPr>
              <a:t>normal distribution</a:t>
            </a:r>
            <a:r>
              <a:rPr lang="en-US" dirty="0"/>
              <a:t>.</a:t>
            </a:r>
            <a:endParaRPr lang="en-IN" dirty="0"/>
          </a:p>
        </p:txBody>
      </p:sp>
    </p:spTree>
    <p:extLst>
      <p:ext uri="{BB962C8B-B14F-4D97-AF65-F5344CB8AC3E}">
        <p14:creationId xmlns:p14="http://schemas.microsoft.com/office/powerpoint/2010/main" val="381406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 4</a:t>
            </a:r>
          </a:p>
        </p:txBody>
      </p:sp>
      <p:sp>
        <p:nvSpPr>
          <p:cNvPr id="3" name="Text Placeholder 2"/>
          <p:cNvSpPr>
            <a:spLocks noGrp="1"/>
          </p:cNvSpPr>
          <p:nvPr>
            <p:ph type="body" idx="1"/>
          </p:nvPr>
        </p:nvSpPr>
        <p:spPr>
          <a:xfrm>
            <a:off x="831850" y="4561050"/>
            <a:ext cx="10515600" cy="1500187"/>
          </a:xfrm>
        </p:spPr>
        <p:txBody>
          <a:bodyPr>
            <a:normAutofit/>
          </a:bodyPr>
          <a:lstStyle/>
          <a:p>
            <a:r>
              <a:rPr lang="en-US" sz="2800" dirty="0"/>
              <a:t>Normal Distribution </a:t>
            </a:r>
          </a:p>
        </p:txBody>
      </p:sp>
    </p:spTree>
    <p:extLst>
      <p:ext uri="{BB962C8B-B14F-4D97-AF65-F5344CB8AC3E}">
        <p14:creationId xmlns:p14="http://schemas.microsoft.com/office/powerpoint/2010/main" val="101493947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1"/>
                <a:ext cx="11929643" cy="25438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If </a:t>
                </a:r>
                <a14:m>
                  <m:oMath xmlns:m="http://schemas.openxmlformats.org/officeDocument/2006/math">
                    <m:r>
                      <m:rPr>
                        <m:sty m:val="p"/>
                      </m:rPr>
                      <a:rPr lang="en-US" i="0" dirty="0" smtClean="0">
                        <a:latin typeface="Cambria Math" panose="02040503050406030204" pitchFamily="18" charset="0"/>
                      </a:rPr>
                      <m:t>X</m:t>
                    </m:r>
                  </m:oMath>
                </a14:m>
                <a:r>
                  <a:rPr lang="en-US" dirty="0"/>
                  <a:t> is normally distributed and the mean of </a:t>
                </a:r>
                <a14:m>
                  <m:oMath xmlns:m="http://schemas.openxmlformats.org/officeDocument/2006/math">
                    <m:r>
                      <m:rPr>
                        <m:sty m:val="p"/>
                      </m:rPr>
                      <a:rPr lang="en-US" i="0" dirty="0" smtClean="0">
                        <a:latin typeface="Cambria Math" panose="02040503050406030204" pitchFamily="18" charset="0"/>
                      </a:rPr>
                      <m:t>X</m:t>
                    </m:r>
                  </m:oMath>
                </a14:m>
                <a:r>
                  <a:rPr lang="en-US" dirty="0"/>
                  <a:t> is 12 and the SD is 4. Find out the probability of the following.</a:t>
                </a:r>
                <a:endParaRPr lang="en-IN" dirty="0"/>
              </a:p>
              <a:p>
                <a:pPr algn="l"/>
                <a:r>
                  <a:rPr lang="en-US" dirty="0"/>
                  <a:t>(a) </a:t>
                </a:r>
                <a14:m>
                  <m:oMath xmlns:m="http://schemas.openxmlformats.org/officeDocument/2006/math">
                    <m:r>
                      <m:rPr>
                        <m:sty m:val="p"/>
                      </m:rPr>
                      <a:rPr lang="en-US" i="0" dirty="0" smtClean="0">
                        <a:latin typeface="Cambria Math" panose="02040503050406030204" pitchFamily="18" charset="0"/>
                      </a:rPr>
                      <m:t>X</m:t>
                    </m:r>
                    <m:r>
                      <a:rPr lang="en-US" i="0" dirty="0" smtClean="0">
                        <a:latin typeface="Cambria Math" panose="02040503050406030204" pitchFamily="18" charset="0"/>
                      </a:rPr>
                      <m:t>≥20,  (</m:t>
                    </m:r>
                    <m:r>
                      <m:rPr>
                        <m:sty m:val="p"/>
                      </m:rPr>
                      <a:rPr lang="en-US" i="0" dirty="0" smtClean="0">
                        <a:latin typeface="Cambria Math" panose="02040503050406030204" pitchFamily="18" charset="0"/>
                      </a:rPr>
                      <m:t>b</m:t>
                    </m:r>
                    <m:r>
                      <a:rPr lang="en-US" i="0" dirty="0" smtClean="0">
                        <a:latin typeface="Cambria Math" panose="02040503050406030204" pitchFamily="18" charset="0"/>
                      </a:rPr>
                      <m:t>) </m:t>
                    </m:r>
                    <m:r>
                      <m:rPr>
                        <m:sty m:val="p"/>
                      </m:rPr>
                      <a:rPr lang="en-US" i="0" dirty="0" smtClean="0">
                        <a:latin typeface="Cambria Math" panose="02040503050406030204" pitchFamily="18" charset="0"/>
                      </a:rPr>
                      <m:t>X</m:t>
                    </m:r>
                    <m:r>
                      <a:rPr lang="en-US" i="0" dirty="0" smtClean="0">
                        <a:latin typeface="Cambria Math" panose="02040503050406030204" pitchFamily="18" charset="0"/>
                      </a:rPr>
                      <m:t>≤20,  (</m:t>
                    </m:r>
                    <m:r>
                      <m:rPr>
                        <m:sty m:val="p"/>
                      </m:rPr>
                      <a:rPr lang="en-US" i="0" dirty="0" smtClean="0">
                        <a:latin typeface="Cambria Math" panose="02040503050406030204" pitchFamily="18" charset="0"/>
                      </a:rPr>
                      <m:t>c</m:t>
                    </m:r>
                    <m:r>
                      <a:rPr lang="en-US" i="0" dirty="0" smtClean="0">
                        <a:latin typeface="Cambria Math" panose="02040503050406030204" pitchFamily="18" charset="0"/>
                      </a:rPr>
                      <m:t>) 0≤</m:t>
                    </m:r>
                    <m:r>
                      <m:rPr>
                        <m:sty m:val="p"/>
                      </m:rPr>
                      <a:rPr lang="en-US" i="0" dirty="0" smtClean="0">
                        <a:latin typeface="Cambria Math" panose="02040503050406030204" pitchFamily="18" charset="0"/>
                      </a:rPr>
                      <m:t>X</m:t>
                    </m:r>
                    <m:r>
                      <a:rPr lang="en-US" i="0" dirty="0" smtClean="0">
                        <a:latin typeface="Cambria Math" panose="02040503050406030204" pitchFamily="18" charset="0"/>
                      </a:rPr>
                      <m:t>≤12</m:t>
                    </m:r>
                  </m:oMath>
                </a14:m>
                <a:endParaRPr lang="en-IN" dirty="0"/>
              </a:p>
              <a:p>
                <a:pPr/>
                <a14:m>
                  <m:oMathPara xmlns:m="http://schemas.openxmlformats.org/officeDocument/2006/math">
                    <m:oMathParaPr>
                      <m:jc m:val="left"/>
                    </m:oMathParaPr>
                    <m:oMath xmlns:m="http://schemas.openxmlformats.org/officeDocument/2006/math">
                      <m:d>
                        <m:dPr>
                          <m:begChr m:val="["/>
                          <m:endChr m:val="]"/>
                          <m:ctrlPr>
                            <a:rPr lang="en-IN" b="0" i="1" smtClean="0">
                              <a:latin typeface="Cambria Math" panose="02040503050406030204" pitchFamily="18" charset="0"/>
                            </a:rPr>
                          </m:ctrlPr>
                        </m:dPr>
                        <m:e>
                          <m:r>
                            <m:rPr>
                              <m:sty m:val="p"/>
                            </m:rPr>
                            <a:rPr lang="en-US">
                              <a:latin typeface="Cambria Math" panose="02040503050406030204" pitchFamily="18" charset="0"/>
                            </a:rPr>
                            <m:t>P</m:t>
                          </m:r>
                          <m:d>
                            <m:dPr>
                              <m:ctrlPr>
                                <a:rPr lang="en-IN"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=2</m:t>
                              </m:r>
                            </m:e>
                          </m:d>
                          <m:r>
                            <a:rPr lang="en-US">
                              <a:latin typeface="Cambria Math" panose="02040503050406030204" pitchFamily="18" charset="0"/>
                            </a:rPr>
                            <m:t>=0.4773</m:t>
                          </m:r>
                          <m:r>
                            <a:rPr lang="en-US" i="1">
                              <a:latin typeface="Cambria Math" panose="02040503050406030204" pitchFamily="18" charset="0"/>
                            </a:rPr>
                            <m:t>, </m:t>
                          </m:r>
                          <m:r>
                            <m:rPr>
                              <m:sty m:val="p"/>
                            </m:rPr>
                            <a:rPr lang="en-US">
                              <a:latin typeface="Cambria Math" panose="02040503050406030204" pitchFamily="18" charset="0"/>
                            </a:rPr>
                            <m:t>P</m:t>
                          </m:r>
                          <m:d>
                            <m:dPr>
                              <m:ctrlPr>
                                <a:rPr lang="en-US" i="1">
                                  <a:latin typeface="Cambria Math" panose="02040503050406030204" pitchFamily="18" charset="0"/>
                                </a:rPr>
                              </m:ctrlPr>
                            </m:dPr>
                            <m:e>
                              <m:r>
                                <m:rPr>
                                  <m:sty m:val="p"/>
                                </m:rPr>
                                <a:rPr lang="en-US">
                                  <a:latin typeface="Cambria Math" panose="02040503050406030204" pitchFamily="18" charset="0"/>
                                </a:rPr>
                                <m:t>z</m:t>
                              </m:r>
                              <m:r>
                                <a:rPr lang="en-US">
                                  <a:latin typeface="Cambria Math" panose="02040503050406030204" pitchFamily="18" charset="0"/>
                                </a:rPr>
                                <m:t>=2</m:t>
                              </m:r>
                            </m:e>
                          </m:d>
                          <m:r>
                            <a:rPr lang="en-US">
                              <a:latin typeface="Cambria Math" panose="02040503050406030204" pitchFamily="18" charset="0"/>
                            </a:rPr>
                            <m:t>=0.4987</m:t>
                          </m:r>
                        </m:e>
                      </m:d>
                    </m:oMath>
                  </m:oMathPara>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1"/>
                <a:ext cx="11929643" cy="2543820"/>
              </a:xfrm>
              <a:prstGeom prst="rect">
                <a:avLst/>
              </a:prstGeom>
              <a:blipFill rotWithShape="0">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1 </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658294"/>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3549110"/>
                <a:ext cx="10290991"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Mean </a:t>
                </a:r>
                <a14:m>
                  <m:oMath xmlns:m="http://schemas.openxmlformats.org/officeDocument/2006/math">
                    <m:r>
                      <m:rPr>
                        <m:sty m:val="p"/>
                      </m:rPr>
                      <a:rPr lang="en-US" dirty="0">
                        <a:solidFill>
                          <a:schemeClr val="tx2">
                            <a:lumMod val="50000"/>
                          </a:schemeClr>
                        </a:solidFill>
                        <a:latin typeface="Cambria Math" panose="02040503050406030204" pitchFamily="18" charset="0"/>
                      </a:rPr>
                      <m:t>μ</m:t>
                    </m:r>
                    <m:r>
                      <a:rPr lang="en-US" dirty="0">
                        <a:solidFill>
                          <a:schemeClr val="tx2">
                            <a:lumMod val="50000"/>
                          </a:schemeClr>
                        </a:solidFill>
                        <a:latin typeface="Cambria Math" panose="02040503050406030204" pitchFamily="18" charset="0"/>
                      </a:rPr>
                      <m:t>=12</m:t>
                    </m:r>
                  </m:oMath>
                </a14:m>
                <a:r>
                  <a:rPr lang="en-US" dirty="0">
                    <a:solidFill>
                      <a:schemeClr val="tx2">
                        <a:lumMod val="50000"/>
                      </a:schemeClr>
                    </a:solidFill>
                  </a:rPr>
                  <a:t> and </a:t>
                </a:r>
                <a14:m>
                  <m:oMath xmlns:m="http://schemas.openxmlformats.org/officeDocument/2006/math">
                    <m:r>
                      <m:rPr>
                        <m:sty m:val="p"/>
                      </m:rPr>
                      <a:rPr lang="en-US" dirty="0">
                        <a:solidFill>
                          <a:schemeClr val="tx2">
                            <a:lumMod val="50000"/>
                          </a:schemeClr>
                        </a:solidFill>
                        <a:latin typeface="Cambria Math" panose="02040503050406030204" pitchFamily="18" charset="0"/>
                      </a:rPr>
                      <m:t>σ</m:t>
                    </m:r>
                    <m:r>
                      <a:rPr lang="en-US" dirty="0">
                        <a:solidFill>
                          <a:schemeClr val="tx2">
                            <a:lumMod val="50000"/>
                          </a:schemeClr>
                        </a:solidFill>
                        <a:latin typeface="Cambria Math" panose="02040503050406030204" pitchFamily="18" charset="0"/>
                      </a:rPr>
                      <m:t>=4</m:t>
                    </m:r>
                  </m:oMath>
                </a14:m>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3549110"/>
                <a:ext cx="10290991" cy="738664"/>
              </a:xfrm>
              <a:prstGeom prst="rect">
                <a:avLst/>
              </a:prstGeom>
              <a:blipFill rotWithShape="0">
                <a:blip r:embed="rId3"/>
                <a:stretch>
                  <a:fillRect l="-1185" b="-13223"/>
                </a:stretch>
              </a:blipFill>
            </p:spPr>
            <p:txBody>
              <a:bodyPr/>
              <a:lstStyle/>
              <a:p>
                <a:r>
                  <a:rPr lang="en-IN">
                    <a:noFill/>
                  </a:rPr>
                  <a:t> </a:t>
                </a:r>
              </a:p>
            </p:txBody>
          </p:sp>
        </mc:Fallback>
      </mc:AlternateContent>
    </p:spTree>
    <p:extLst>
      <p:ext uri="{BB962C8B-B14F-4D97-AF65-F5344CB8AC3E}">
        <p14:creationId xmlns:p14="http://schemas.microsoft.com/office/powerpoint/2010/main" val="44192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 </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(a) To find </a:t>
                </a:r>
                <a14:m>
                  <m:oMath xmlns:m="http://schemas.openxmlformats.org/officeDocument/2006/math">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𝐗</m:t>
                    </m:r>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𝟐𝟎</m:t>
                    </m:r>
                    <m:r>
                      <a:rPr lang="en-US">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597320"/>
                <a:ext cx="3974586" cy="3804824"/>
              </a:xfrm>
              <a:prstGeom prst="rect">
                <a:avLst/>
              </a:prstGeom>
            </p:spPr>
            <p:txBody>
              <a:bodyPr wrap="square">
                <a:spAutoFit/>
              </a:bodyPr>
              <a:lstStyle/>
              <a:p>
                <a:pPr>
                  <a:lnSpc>
                    <a:spcPct val="150000"/>
                  </a:lnSpc>
                  <a:buClr>
                    <a:schemeClr val="accent6"/>
                  </a:buClr>
                </a:pPr>
                <a:r>
                  <a:rPr lang="en-US" sz="2800" dirty="0">
                    <a:solidFill>
                      <a:srgbClr val="002060"/>
                    </a:solidFill>
                  </a:rPr>
                  <a:t>For,</a:t>
                </a:r>
                <a:r>
                  <a:rPr lang="en-US" sz="2800" i="1" dirty="0">
                    <a:solidFill>
                      <a:srgbClr val="002060"/>
                    </a:solidFill>
                    <a:latin typeface="Cambria Math" panose="02040503050406030204" pitchFamily="18" charset="0"/>
                  </a:rPr>
                  <a:t> </a:t>
                </a:r>
                <a14:m>
                  <m:oMath xmlns:m="http://schemas.openxmlformats.org/officeDocument/2006/math">
                    <m:r>
                      <m:rPr>
                        <m:sty m:val="p"/>
                      </m:rPr>
                      <a:rPr lang="en-IN" sz="2800" b="0" i="0" smtClean="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=20</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i="1">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m:rPr>
                              <m:sty m:val="p"/>
                            </m:rPr>
                            <a:rPr lang="en-US" sz="2800" i="1">
                              <a:solidFill>
                                <a:srgbClr val="002060"/>
                              </a:solidFill>
                              <a:latin typeface="Cambria Math" panose="02040503050406030204" pitchFamily="18" charset="0"/>
                            </a:rPr>
                            <m:t>μ</m:t>
                          </m:r>
                          <m:r>
                            <a:rPr lang="en-US" sz="2800" i="1">
                              <a:solidFill>
                                <a:srgbClr val="002060"/>
                              </a:solidFill>
                              <a:latin typeface="Cambria Math" panose="02040503050406030204" pitchFamily="18" charset="0"/>
                            </a:rPr>
                            <m:t> </m:t>
                          </m:r>
                        </m:num>
                        <m:den>
                          <m:r>
                            <m:rPr>
                              <m:sty m:val="p"/>
                            </m:rPr>
                            <a:rPr lang="en-US" sz="2800" i="1">
                              <a:solidFill>
                                <a:srgbClr val="002060"/>
                              </a:solidFill>
                              <a:latin typeface="Cambria Math" panose="02040503050406030204" pitchFamily="18" charset="0"/>
                            </a:rPr>
                            <m:t>σ</m:t>
                          </m:r>
                          <m:r>
                            <a:rPr lang="en-US" sz="2800" i="1">
                              <a:solidFill>
                                <a:srgbClr val="002060"/>
                              </a:solidFill>
                              <a:latin typeface="Cambria Math" panose="02040503050406030204" pitchFamily="18" charset="0"/>
                            </a:rPr>
                            <m:t> </m:t>
                          </m:r>
                        </m:den>
                      </m:f>
                    </m:oMath>
                  </m:oMathPara>
                </a14:m>
                <a:endParaRPr lang="en-IN" sz="2800" i="1"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i="1">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 20−12 </m:t>
                          </m:r>
                        </m:num>
                        <m:den>
                          <m:r>
                            <a:rPr lang="en-US" sz="2800" i="1">
                              <a:solidFill>
                                <a:srgbClr val="002060"/>
                              </a:solidFill>
                              <a:latin typeface="Cambria Math" panose="02040503050406030204" pitchFamily="18" charset="0"/>
                            </a:rPr>
                            <m:t>4</m:t>
                          </m:r>
                        </m:den>
                      </m:f>
                    </m:oMath>
                  </m:oMathPara>
                </a14:m>
                <a:endParaRPr lang="en-IN" sz="2800" i="1"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=2</m:t>
                      </m:r>
                    </m:oMath>
                  </m:oMathPara>
                </a14:m>
                <a:endParaRPr lang="en-IN" sz="2800" i="1"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597320"/>
                <a:ext cx="3974586" cy="3804824"/>
              </a:xfrm>
              <a:prstGeom prst="rect">
                <a:avLst/>
              </a:prstGeom>
              <a:blipFill rotWithShape="0">
                <a:blip r:embed="rId3"/>
                <a:stretch>
                  <a:fillRect l="-3067"/>
                </a:stretch>
              </a:blipFill>
            </p:spPr>
            <p:txBody>
              <a:bodyPr/>
              <a:lstStyle/>
              <a:p>
                <a:r>
                  <a:rPr lang="en-IN">
                    <a:noFill/>
                  </a:rPr>
                  <a:t> </a:t>
                </a:r>
              </a:p>
            </p:txBody>
          </p:sp>
        </mc:Fallback>
      </mc:AlternateContent>
    </p:spTree>
    <p:extLst>
      <p:ext uri="{BB962C8B-B14F-4D97-AF65-F5344CB8AC3E}">
        <p14:creationId xmlns:p14="http://schemas.microsoft.com/office/powerpoint/2010/main" val="365900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 </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141667" y="711201"/>
                <a:ext cx="6555347" cy="2031325"/>
              </a:xfrm>
              <a:prstGeom prst="rect">
                <a:avLst/>
              </a:prstGeom>
            </p:spPr>
            <p:txBody>
              <a:bodyPr wrap="square">
                <a:spAutoFit/>
              </a:bodyPr>
              <a:lstStyle/>
              <a:p>
                <a:pPr>
                  <a:lnSpc>
                    <a:spcPct val="150000"/>
                  </a:lnSpc>
                  <a:buClr>
                    <a:schemeClr val="accent6"/>
                  </a:buClr>
                </a:pPr>
                <a:r>
                  <a:rPr lang="en-US" sz="2800" dirty="0">
                    <a:solidFill>
                      <a:srgbClr val="002060"/>
                    </a:solidFill>
                  </a:rPr>
                  <a:t>We find </a:t>
                </a:r>
                <a14:m>
                  <m:oMath xmlns:m="http://schemas.openxmlformats.org/officeDocument/2006/math">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≥2)</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≥2</m:t>
                          </m:r>
                        </m:e>
                      </m:d>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0&lt;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&lt;∞</m:t>
                          </m:r>
                        </m:e>
                      </m:d>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(0&lt;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&lt;2)</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≥2</m:t>
                          </m:r>
                        </m:e>
                      </m:d>
                      <m:r>
                        <a:rPr lang="en-US" sz="2800" b="0" i="0">
                          <a:solidFill>
                            <a:srgbClr val="002060"/>
                          </a:solidFill>
                          <a:latin typeface="Cambria Math" panose="02040503050406030204" pitchFamily="18" charset="0"/>
                        </a:rPr>
                        <m:t>=0.5−</m:t>
                      </m:r>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41667" y="711201"/>
                <a:ext cx="6555347" cy="2031325"/>
              </a:xfrm>
              <a:prstGeom prst="rect">
                <a:avLst/>
              </a:prstGeom>
              <a:blipFill rotWithShape="0">
                <a:blip r:embed="rId3"/>
                <a:stretch>
                  <a:fillRect l="-18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888308" y="711201"/>
                <a:ext cx="4162024" cy="1384995"/>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≥2</m:t>
                          </m:r>
                        </m:e>
                      </m:d>
                      <m:r>
                        <a:rPr lang="en-US" sz="2800" b="0" i="0">
                          <a:solidFill>
                            <a:srgbClr val="002060"/>
                          </a:solidFill>
                          <a:latin typeface="Cambria Math" panose="02040503050406030204" pitchFamily="18" charset="0"/>
                        </a:rPr>
                        <m:t>=0.5−0.4773</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i="0">
                              <a:solidFill>
                                <a:srgbClr val="FF0000"/>
                              </a:solidFill>
                              <a:latin typeface="Cambria Math" panose="02040503050406030204" pitchFamily="18" charset="0"/>
                            </a:rPr>
                            <m:t>𝐙</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𝟐</m:t>
                          </m:r>
                        </m:e>
                      </m:d>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m:t>
                      </m:r>
                      <m:r>
                        <a:rPr lang="en-US" sz="2800" b="1" i="0">
                          <a:solidFill>
                            <a:srgbClr val="FF0000"/>
                          </a:solidFill>
                          <a:latin typeface="Cambria Math" panose="02040503050406030204" pitchFamily="18" charset="0"/>
                        </a:rPr>
                        <m:t>.</m:t>
                      </m:r>
                      <m:r>
                        <a:rPr lang="en-US" sz="2800" b="1" i="0">
                          <a:solidFill>
                            <a:srgbClr val="FF0000"/>
                          </a:solidFill>
                          <a:latin typeface="Cambria Math" panose="02040503050406030204" pitchFamily="18" charset="0"/>
                        </a:rPr>
                        <m:t>𝟎𝟐</m:t>
                      </m:r>
                      <m:r>
                        <a:rPr lang="en-US" sz="2800" b="1" i="1">
                          <a:solidFill>
                            <a:srgbClr val="FF0000"/>
                          </a:solidFill>
                          <a:latin typeface="Cambria Math" panose="02040503050406030204" pitchFamily="18" charset="0"/>
                        </a:rPr>
                        <m:t>𝟐𝟕</m:t>
                      </m:r>
                    </m:oMath>
                  </m:oMathPara>
                </a14:m>
                <a:endParaRPr lang="en-IN" sz="2800" b="1" i="1" dirty="0">
                  <a:solidFill>
                    <a:srgbClr val="002060"/>
                  </a:solidFill>
                  <a:latin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7888308" y="711201"/>
                <a:ext cx="4162024" cy="1384995"/>
              </a:xfrm>
              <a:prstGeom prst="rect">
                <a:avLst/>
              </a:prstGeom>
              <a:blipFill rotWithShape="0">
                <a:blip r:embed="rId4"/>
                <a:stretch>
                  <a:fillRect/>
                </a:stretch>
              </a:blipFill>
            </p:spPr>
            <p:txBody>
              <a:bodyPr/>
              <a:lstStyle/>
              <a:p>
                <a:r>
                  <a:rPr lang="en-IN">
                    <a:noFill/>
                  </a:rPr>
                  <a:t> </a:t>
                </a:r>
              </a:p>
            </p:txBody>
          </p:sp>
        </mc:Fallback>
      </mc:AlternateContent>
      <p:cxnSp>
        <p:nvCxnSpPr>
          <p:cNvPr id="6" name="Straight Connector 5"/>
          <p:cNvCxnSpPr/>
          <p:nvPr/>
        </p:nvCxnSpPr>
        <p:spPr>
          <a:xfrm>
            <a:off x="7315198" y="811369"/>
            <a:ext cx="0" cy="1661375"/>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4208435135"/>
                  </p:ext>
                </p:extLst>
              </p:nvPr>
            </p:nvGraphicFramePr>
            <p:xfrm>
              <a:off x="334853" y="3115132"/>
              <a:ext cx="11475075" cy="2459703"/>
            </p:xfrm>
            <a:graphic>
              <a:graphicData uri="http://schemas.openxmlformats.org/drawingml/2006/table">
                <a:tbl>
                  <a:tblPr firstRow="1" bandRow="1">
                    <a:tableStyleId>{5C22544A-7EE6-4342-B048-85BDC9FD1C3A}</a:tableStyleId>
                  </a:tblPr>
                  <a:tblGrid>
                    <a:gridCol w="3593203">
                      <a:extLst>
                        <a:ext uri="{9D8B030D-6E8A-4147-A177-3AD203B41FA5}">
                          <a16:colId xmlns:a16="http://schemas.microsoft.com/office/drawing/2014/main" val="20000"/>
                        </a:ext>
                      </a:extLst>
                    </a:gridCol>
                    <a:gridCol w="360609">
                      <a:extLst>
                        <a:ext uri="{9D8B030D-6E8A-4147-A177-3AD203B41FA5}">
                          <a16:colId xmlns:a16="http://schemas.microsoft.com/office/drawing/2014/main" val="20001"/>
                        </a:ext>
                      </a:extLst>
                    </a:gridCol>
                    <a:gridCol w="3709115">
                      <a:extLst>
                        <a:ext uri="{9D8B030D-6E8A-4147-A177-3AD203B41FA5}">
                          <a16:colId xmlns:a16="http://schemas.microsoft.com/office/drawing/2014/main" val="20002"/>
                        </a:ext>
                      </a:extLst>
                    </a:gridCol>
                    <a:gridCol w="309093">
                      <a:extLst>
                        <a:ext uri="{9D8B030D-6E8A-4147-A177-3AD203B41FA5}">
                          <a16:colId xmlns:a16="http://schemas.microsoft.com/office/drawing/2014/main" val="20003"/>
                        </a:ext>
                      </a:extLst>
                    </a:gridCol>
                    <a:gridCol w="3503055">
                      <a:extLst>
                        <a:ext uri="{9D8B030D-6E8A-4147-A177-3AD203B41FA5}">
                          <a16:colId xmlns:a16="http://schemas.microsoft.com/office/drawing/2014/main" val="20004"/>
                        </a:ext>
                      </a:extLst>
                    </a:gridCol>
                  </a:tblGrid>
                  <a:tr h="1972023">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6366">
                    <a:tc gridSpan="5">
                      <a:txBody>
                        <a:bodyPr/>
                        <a:lstStyle/>
                        <a:p>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4208435135"/>
                  </p:ext>
                </p:extLst>
              </p:nvPr>
            </p:nvGraphicFramePr>
            <p:xfrm>
              <a:off x="334853" y="3115132"/>
              <a:ext cx="11475075" cy="2459703"/>
            </p:xfrm>
            <a:graphic>
              <a:graphicData uri="http://schemas.openxmlformats.org/drawingml/2006/table">
                <a:tbl>
                  <a:tblPr firstRow="1" bandRow="1">
                    <a:tableStyleId>{5C22544A-7EE6-4342-B048-85BDC9FD1C3A}</a:tableStyleId>
                  </a:tblPr>
                  <a:tblGrid>
                    <a:gridCol w="3593203"/>
                    <a:gridCol w="360609"/>
                    <a:gridCol w="3709115"/>
                    <a:gridCol w="309093"/>
                    <a:gridCol w="3503055"/>
                  </a:tblGrid>
                  <a:tr h="1972023">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1000000" r="-2093220" b="-24691"/>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466667" r="-1127451" b="-24691"/>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gridSpan="5">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t="-405000"/>
                          </a:stretch>
                        </a:blip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pic>
        <p:nvPicPr>
          <p:cNvPr id="19" name="Picture 18"/>
          <p:cNvPicPr/>
          <p:nvPr/>
        </p:nvPicPr>
        <p:blipFill rotWithShape="1">
          <a:blip r:embed="rId6">
            <a:extLst>
              <a:ext uri="{28A0092B-C50C-407E-A947-70E740481C1C}">
                <a14:useLocalDpi xmlns:a14="http://schemas.microsoft.com/office/drawing/2010/main" val="0"/>
              </a:ext>
            </a:extLst>
          </a:blip>
          <a:srcRect r="65463"/>
          <a:stretch/>
        </p:blipFill>
        <p:spPr bwMode="auto">
          <a:xfrm flipH="1">
            <a:off x="463639" y="3171421"/>
            <a:ext cx="3374265" cy="1880315"/>
          </a:xfrm>
          <a:prstGeom prst="rect">
            <a:avLst/>
          </a:prstGeom>
          <a:noFill/>
          <a:ln>
            <a:noFill/>
          </a:ln>
          <a:extLst>
            <a:ext uri="{53640926-AAD7-44D8-BBD7-CCE9431645EC}">
              <a14:shadowObscured xmlns:a14="http://schemas.microsoft.com/office/drawing/2010/main"/>
            </a:ext>
          </a:extLst>
        </p:spPr>
      </p:pic>
      <p:pic>
        <p:nvPicPr>
          <p:cNvPr id="20" name="Picture 19"/>
          <p:cNvPicPr/>
          <p:nvPr/>
        </p:nvPicPr>
        <p:blipFill rotWithShape="1">
          <a:blip r:embed="rId6">
            <a:extLst>
              <a:ext uri="{28A0092B-C50C-407E-A947-70E740481C1C}">
                <a14:useLocalDpi xmlns:a14="http://schemas.microsoft.com/office/drawing/2010/main" val="0"/>
              </a:ext>
            </a:extLst>
          </a:blip>
          <a:srcRect l="37507" r="36326"/>
          <a:stretch/>
        </p:blipFill>
        <p:spPr bwMode="auto">
          <a:xfrm flipH="1">
            <a:off x="4468969" y="3171421"/>
            <a:ext cx="3419338" cy="1880315"/>
          </a:xfrm>
          <a:prstGeom prst="rect">
            <a:avLst/>
          </a:prstGeom>
          <a:noFill/>
          <a:ln>
            <a:noFill/>
          </a:ln>
          <a:extLst>
            <a:ext uri="{53640926-AAD7-44D8-BBD7-CCE9431645EC}">
              <a14:shadowObscured xmlns:a14="http://schemas.microsoft.com/office/drawing/2010/main"/>
            </a:ext>
          </a:extLst>
        </p:spPr>
      </p:pic>
      <p:pic>
        <p:nvPicPr>
          <p:cNvPr id="22" name="Picture 21"/>
          <p:cNvPicPr/>
          <p:nvPr/>
        </p:nvPicPr>
        <p:blipFill rotWithShape="1">
          <a:blip r:embed="rId6">
            <a:extLst>
              <a:ext uri="{28A0092B-C50C-407E-A947-70E740481C1C}">
                <a14:useLocalDpi xmlns:a14="http://schemas.microsoft.com/office/drawing/2010/main" val="0"/>
              </a:ext>
            </a:extLst>
          </a:blip>
          <a:srcRect l="67226"/>
          <a:stretch/>
        </p:blipFill>
        <p:spPr bwMode="auto">
          <a:xfrm flipH="1">
            <a:off x="8409903" y="3171421"/>
            <a:ext cx="3335627" cy="188031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6234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par>
                                <p:cTn id="12" presetID="22" presetClass="entr" presetSubtype="1" fill="hold" nodeType="with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up)">
                                      <p:cBhvr>
                                        <p:cTn id="14" dur="500"/>
                                        <p:tgtEl>
                                          <p:spTgt spid="20"/>
                                        </p:tgtEl>
                                      </p:cBhvr>
                                    </p:animEffect>
                                  </p:childTnLst>
                                </p:cTn>
                              </p:par>
                              <p:par>
                                <p:cTn id="15" presetID="22" presetClass="entr" presetSubtype="1"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up)">
                                      <p:cBhvr>
                                        <p:cTn id="17" dur="500"/>
                                        <p:tgtEl>
                                          <p:spTgt spid="22"/>
                                        </p:tgtEl>
                                      </p:cBhvr>
                                    </p:animEffect>
                                  </p:childTnLst>
                                </p:cTn>
                              </p:par>
                              <p:par>
                                <p:cTn id="18" presetID="22" presetClass="entr" presetSubtype="1"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up)">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 </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(b) To find </a:t>
                </a:r>
                <a14:m>
                  <m:oMath xmlns:m="http://schemas.openxmlformats.org/officeDocument/2006/math">
                    <m:r>
                      <a:rPr lang="en-US">
                        <a:solidFill>
                          <a:srgbClr val="FF0000"/>
                        </a:solidFill>
                        <a:latin typeface="Cambria Math" panose="02040503050406030204" pitchFamily="18" charset="0"/>
                      </a:rPr>
                      <m:t>(</m:t>
                    </m:r>
                    <m:r>
                      <a:rPr lang="en-US">
                        <a:solidFill>
                          <a:srgbClr val="FF0000"/>
                        </a:solidFill>
                        <a:latin typeface="Cambria Math" panose="02040503050406030204" pitchFamily="18" charset="0"/>
                      </a:rPr>
                      <m:t>𝐗</m:t>
                    </m:r>
                    <m:r>
                      <a:rPr lang="en-US" i="1" smtClean="0">
                        <a:solidFill>
                          <a:srgbClr val="FF0000"/>
                        </a:solidFill>
                        <a:latin typeface="Cambria Math" panose="02040503050406030204" pitchFamily="18" charset="0"/>
                        <a:ea typeface="Cambria Math" panose="02040503050406030204" pitchFamily="18" charset="0"/>
                      </a:rPr>
                      <m:t>≤</m:t>
                    </m:r>
                    <m:r>
                      <a:rPr lang="en-US">
                        <a:solidFill>
                          <a:srgbClr val="FF0000"/>
                        </a:solidFill>
                        <a:latin typeface="Cambria Math" panose="02040503050406030204" pitchFamily="18" charset="0"/>
                      </a:rPr>
                      <m:t>𝟐𝟎</m:t>
                    </m:r>
                    <m:r>
                      <a:rPr lang="en-US">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597320"/>
                <a:ext cx="3974586" cy="3804824"/>
              </a:xfrm>
              <a:prstGeom prst="rect">
                <a:avLst/>
              </a:prstGeom>
            </p:spPr>
            <p:txBody>
              <a:bodyPr wrap="square">
                <a:spAutoFit/>
              </a:bodyPr>
              <a:lstStyle/>
              <a:p>
                <a:pPr>
                  <a:lnSpc>
                    <a:spcPct val="150000"/>
                  </a:lnSpc>
                  <a:buClr>
                    <a:schemeClr val="accent6"/>
                  </a:buClr>
                </a:pPr>
                <a:r>
                  <a:rPr lang="en-US" sz="2800" dirty="0">
                    <a:solidFill>
                      <a:srgbClr val="002060"/>
                    </a:solidFill>
                  </a:rPr>
                  <a:t>For, </a:t>
                </a:r>
                <a14:m>
                  <m:oMath xmlns:m="http://schemas.openxmlformats.org/officeDocument/2006/math">
                    <m:r>
                      <m:rPr>
                        <m:sty m:val="p"/>
                      </m:rPr>
                      <a:rPr lang="en-IN" sz="2800" smtClean="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=20</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i="1">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m:rPr>
                              <m:sty m:val="p"/>
                            </m:rPr>
                            <a:rPr lang="en-US" sz="2800" i="1">
                              <a:solidFill>
                                <a:srgbClr val="002060"/>
                              </a:solidFill>
                              <a:latin typeface="Cambria Math" panose="02040503050406030204" pitchFamily="18" charset="0"/>
                            </a:rPr>
                            <m:t>μ</m:t>
                          </m:r>
                          <m:r>
                            <a:rPr lang="en-US" sz="2800" i="1">
                              <a:solidFill>
                                <a:srgbClr val="002060"/>
                              </a:solidFill>
                              <a:latin typeface="Cambria Math" panose="02040503050406030204" pitchFamily="18" charset="0"/>
                            </a:rPr>
                            <m:t> </m:t>
                          </m:r>
                        </m:num>
                        <m:den>
                          <m:r>
                            <m:rPr>
                              <m:sty m:val="p"/>
                            </m:rPr>
                            <a:rPr lang="en-US" sz="2800" i="1">
                              <a:solidFill>
                                <a:srgbClr val="002060"/>
                              </a:solidFill>
                              <a:latin typeface="Cambria Math" panose="02040503050406030204" pitchFamily="18" charset="0"/>
                            </a:rPr>
                            <m:t>σ</m:t>
                          </m:r>
                          <m:r>
                            <a:rPr lang="en-US" sz="2800" i="1">
                              <a:solidFill>
                                <a:srgbClr val="002060"/>
                              </a:solidFill>
                              <a:latin typeface="Cambria Math" panose="02040503050406030204" pitchFamily="18" charset="0"/>
                            </a:rPr>
                            <m:t> </m:t>
                          </m:r>
                        </m:den>
                      </m:f>
                    </m:oMath>
                  </m:oMathPara>
                </a14:m>
                <a:endParaRPr lang="en-IN" sz="2800" i="1"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i="1">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 20−12 </m:t>
                          </m:r>
                        </m:num>
                        <m:den>
                          <m:r>
                            <a:rPr lang="en-US" sz="2800" i="1">
                              <a:solidFill>
                                <a:srgbClr val="002060"/>
                              </a:solidFill>
                              <a:latin typeface="Cambria Math" panose="02040503050406030204" pitchFamily="18" charset="0"/>
                            </a:rPr>
                            <m:t>4</m:t>
                          </m:r>
                        </m:den>
                      </m:f>
                    </m:oMath>
                  </m:oMathPara>
                </a14:m>
                <a:endParaRPr lang="en-IN" sz="2800" i="1"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IN" sz="2800" b="0" i="0" smtClean="0">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=2</m:t>
                      </m:r>
                    </m:oMath>
                  </m:oMathPara>
                </a14:m>
                <a:endParaRPr lang="en-IN" sz="2800" i="1"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597320"/>
                <a:ext cx="3974586" cy="3804824"/>
              </a:xfrm>
              <a:prstGeom prst="rect">
                <a:avLst/>
              </a:prstGeom>
              <a:blipFill rotWithShape="0">
                <a:blip r:embed="rId3"/>
                <a:stretch>
                  <a:fillRect l="-3067"/>
                </a:stretch>
              </a:blipFill>
            </p:spPr>
            <p:txBody>
              <a:bodyPr/>
              <a:lstStyle/>
              <a:p>
                <a:r>
                  <a:rPr lang="en-IN">
                    <a:noFill/>
                  </a:rPr>
                  <a:t> </a:t>
                </a:r>
              </a:p>
            </p:txBody>
          </p:sp>
        </mc:Fallback>
      </mc:AlternateContent>
    </p:spTree>
    <p:extLst>
      <p:ext uri="{BB962C8B-B14F-4D97-AF65-F5344CB8AC3E}">
        <p14:creationId xmlns:p14="http://schemas.microsoft.com/office/powerpoint/2010/main" val="99435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 </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77274" y="760532"/>
                <a:ext cx="6825803" cy="2031325"/>
              </a:xfrm>
              <a:prstGeom prst="rect">
                <a:avLst/>
              </a:prstGeom>
            </p:spPr>
            <p:txBody>
              <a:bodyPr wrap="square">
                <a:spAutoFit/>
              </a:bodyPr>
              <a:lstStyle/>
              <a:p>
                <a:pPr>
                  <a:lnSpc>
                    <a:spcPct val="150000"/>
                  </a:lnSpc>
                  <a:buClr>
                    <a:schemeClr val="accent6"/>
                  </a:buClr>
                </a:pPr>
                <a:r>
                  <a:rPr lang="en-US" sz="2800" dirty="0">
                    <a:solidFill>
                      <a:srgbClr val="002060"/>
                    </a:solidFill>
                  </a:rPr>
                  <a:t>We find </a:t>
                </a:r>
                <a14:m>
                  <m:oMath xmlns:m="http://schemas.openxmlformats.org/officeDocument/2006/math">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Z</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0">
                        <a:solidFill>
                          <a:srgbClr val="002060"/>
                        </a:solidFill>
                        <a:latin typeface="Cambria Math" panose="02040503050406030204" pitchFamily="18" charset="0"/>
                      </a:rPr>
                      <m:t>2)</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≤2</m:t>
                          </m:r>
                        </m:e>
                      </m:d>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−∞&lt;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&lt;0</m:t>
                          </m:r>
                        </m:e>
                      </m:d>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(0&lt;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&lt;2)</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≤2</m:t>
                          </m:r>
                        </m:e>
                      </m:d>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b="0" i="0">
                              <a:solidFill>
                                <a:srgbClr val="002060"/>
                              </a:solidFill>
                              <a:latin typeface="Cambria Math" panose="02040503050406030204" pitchFamily="18" charset="0"/>
                            </a:rPr>
                            <m:t>0&lt;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&lt;∞</m:t>
                          </m:r>
                        </m:e>
                      </m:d>
                      <m:r>
                        <a:rPr lang="en-US" sz="2800" b="0" i="0">
                          <a:solidFill>
                            <a:srgbClr val="002060"/>
                          </a:solidFill>
                          <a:latin typeface="Cambria Math" panose="02040503050406030204" pitchFamily="18" charset="0"/>
                        </a:rPr>
                        <m:t>+</m:t>
                      </m:r>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(0&lt;</m:t>
                      </m:r>
                      <m:r>
                        <m:rPr>
                          <m:sty m:val="p"/>
                        </m:rPr>
                        <a:rPr lang="en-US" sz="2800" b="0" i="0">
                          <a:solidFill>
                            <a:srgbClr val="002060"/>
                          </a:solidFill>
                          <a:latin typeface="Cambria Math" panose="02040503050406030204" pitchFamily="18" charset="0"/>
                        </a:rPr>
                        <m:t>Z</m:t>
                      </m:r>
                      <m:r>
                        <a:rPr lang="en-US" sz="2800" b="0" i="0">
                          <a:solidFill>
                            <a:srgbClr val="002060"/>
                          </a:solidFill>
                          <a:latin typeface="Cambria Math" panose="02040503050406030204" pitchFamily="18" charset="0"/>
                        </a:rPr>
                        <m:t>&lt;2)</m:t>
                      </m:r>
                    </m:oMath>
                  </m:oMathPara>
                </a14:m>
                <a:endParaRPr lang="en-IN" sz="2800" dirty="0">
                  <a:solidFill>
                    <a:srgbClr val="00206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77274" y="760532"/>
                <a:ext cx="6825803" cy="2031325"/>
              </a:xfrm>
              <a:prstGeom prst="rect">
                <a:avLst/>
              </a:prstGeom>
              <a:blipFill rotWithShape="0">
                <a:blip r:embed="rId3"/>
                <a:stretch>
                  <a:fillRect l="-1877"/>
                </a:stretch>
              </a:blipFill>
            </p:spPr>
            <p:txBody>
              <a:bodyPr/>
              <a:lstStyle/>
              <a:p>
                <a:r>
                  <a:rPr lang="en-IN">
                    <a:noFill/>
                  </a:rPr>
                  <a:t> </a:t>
                </a:r>
              </a:p>
            </p:txBody>
          </p:sp>
        </mc:Fallback>
      </mc:AlternateContent>
      <p:cxnSp>
        <p:nvCxnSpPr>
          <p:cNvPr id="8" name="Straight Connector 7"/>
          <p:cNvCxnSpPr/>
          <p:nvPr/>
        </p:nvCxnSpPr>
        <p:spPr>
          <a:xfrm>
            <a:off x="7109141" y="786290"/>
            <a:ext cx="22785" cy="1789485"/>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p:cNvSpPr/>
              <p:nvPr/>
            </p:nvSpPr>
            <p:spPr>
              <a:xfrm>
                <a:off x="7464561" y="749081"/>
                <a:ext cx="4487036" cy="2031325"/>
              </a:xfrm>
              <a:prstGeom prst="rect">
                <a:avLst/>
              </a:prstGeom>
            </p:spPr>
            <p:txBody>
              <a:bodyPr wrap="square">
                <a:spAutoFit/>
              </a:bodyPr>
              <a:lstStyle/>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Z</m:t>
                          </m:r>
                          <m:r>
                            <a:rPr lang="en-US" sz="2800">
                              <a:solidFill>
                                <a:srgbClr val="002060"/>
                              </a:solidFill>
                              <a:latin typeface="Cambria Math" panose="02040503050406030204" pitchFamily="18" charset="0"/>
                            </a:rPr>
                            <m:t>≤2</m:t>
                          </m:r>
                        </m:e>
                      </m:d>
                      <m:r>
                        <a:rPr lang="en-US" sz="2800">
                          <a:solidFill>
                            <a:srgbClr val="002060"/>
                          </a:solidFill>
                          <a:latin typeface="Cambria Math" panose="02040503050406030204" pitchFamily="18" charset="0"/>
                        </a:rPr>
                        <m:t>=0.5+</m:t>
                      </m:r>
                      <m:r>
                        <m:rPr>
                          <m:sty m:val="p"/>
                        </m:rPr>
                        <a:rPr lang="en-US" sz="2800">
                          <a:solidFill>
                            <a:srgbClr val="002060"/>
                          </a:solidFill>
                          <a:latin typeface="Cambria Math" panose="02040503050406030204" pitchFamily="18" charset="0"/>
                        </a:rPr>
                        <m:t>P</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z</m:t>
                      </m:r>
                      <m:r>
                        <a:rPr lang="en-US" sz="2800">
                          <a:solidFill>
                            <a:srgbClr val="002060"/>
                          </a:solidFill>
                          <a:latin typeface="Cambria Math" panose="02040503050406030204" pitchFamily="18" charset="0"/>
                        </a:rPr>
                        <m:t>=2)</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Z</m:t>
                          </m:r>
                          <m:r>
                            <a:rPr lang="en-US" sz="2800">
                              <a:solidFill>
                                <a:srgbClr val="002060"/>
                              </a:solidFill>
                              <a:latin typeface="Cambria Math" panose="02040503050406030204" pitchFamily="18" charset="0"/>
                            </a:rPr>
                            <m:t>≤2</m:t>
                          </m:r>
                        </m:e>
                      </m:d>
                      <m:r>
                        <a:rPr lang="en-US" sz="2800">
                          <a:solidFill>
                            <a:srgbClr val="002060"/>
                          </a:solidFill>
                          <a:latin typeface="Cambria Math" panose="02040503050406030204" pitchFamily="18" charset="0"/>
                        </a:rPr>
                        <m:t>=0.5+0.4773</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b="1">
                          <a:solidFill>
                            <a:srgbClr val="FF0000"/>
                          </a:solidFill>
                          <a:latin typeface="Cambria Math" panose="02040503050406030204" pitchFamily="18" charset="0"/>
                        </a:rPr>
                        <m:t>𝐏</m:t>
                      </m:r>
                      <m:d>
                        <m:dPr>
                          <m:ctrlPr>
                            <a:rPr lang="en-IN" sz="2800" b="1" i="1">
                              <a:solidFill>
                                <a:srgbClr val="FF0000"/>
                              </a:solidFill>
                              <a:latin typeface="Cambria Math" panose="02040503050406030204" pitchFamily="18" charset="0"/>
                            </a:rPr>
                          </m:ctrlPr>
                        </m:dPr>
                        <m:e>
                          <m:r>
                            <a:rPr lang="en-US" sz="2800" b="1">
                              <a:solidFill>
                                <a:srgbClr val="FF0000"/>
                              </a:solidFill>
                              <a:latin typeface="Cambria Math" panose="02040503050406030204" pitchFamily="18" charset="0"/>
                            </a:rPr>
                            <m:t>𝐙</m:t>
                          </m:r>
                          <m:r>
                            <a:rPr lang="en-US" sz="2800" b="1">
                              <a:solidFill>
                                <a:srgbClr val="FF0000"/>
                              </a:solidFill>
                              <a:latin typeface="Cambria Math" panose="02040503050406030204" pitchFamily="18" charset="0"/>
                            </a:rPr>
                            <m:t>≤</m:t>
                          </m:r>
                          <m:r>
                            <a:rPr lang="en-US" sz="2800" b="1">
                              <a:solidFill>
                                <a:srgbClr val="FF0000"/>
                              </a:solidFill>
                              <a:latin typeface="Cambria Math" panose="02040503050406030204" pitchFamily="18" charset="0"/>
                            </a:rPr>
                            <m:t>𝟐</m:t>
                          </m:r>
                        </m:e>
                      </m:d>
                      <m:r>
                        <a:rPr lang="en-US" sz="2800" b="1">
                          <a:solidFill>
                            <a:srgbClr val="FF0000"/>
                          </a:solidFill>
                          <a:latin typeface="Cambria Math" panose="02040503050406030204" pitchFamily="18" charset="0"/>
                        </a:rPr>
                        <m:t>=</m:t>
                      </m:r>
                      <m:r>
                        <a:rPr lang="en-US" sz="2800" b="1">
                          <a:solidFill>
                            <a:srgbClr val="FF0000"/>
                          </a:solidFill>
                          <a:latin typeface="Cambria Math" panose="02040503050406030204" pitchFamily="18" charset="0"/>
                        </a:rPr>
                        <m:t>𝟎</m:t>
                      </m:r>
                      <m:r>
                        <a:rPr lang="en-US" sz="2800" b="1">
                          <a:solidFill>
                            <a:srgbClr val="FF0000"/>
                          </a:solidFill>
                          <a:latin typeface="Cambria Math" panose="02040503050406030204" pitchFamily="18" charset="0"/>
                        </a:rPr>
                        <m:t>.</m:t>
                      </m:r>
                      <m:r>
                        <a:rPr lang="en-US" sz="2800" b="1">
                          <a:solidFill>
                            <a:srgbClr val="FF0000"/>
                          </a:solidFill>
                          <a:latin typeface="Cambria Math" panose="02040503050406030204" pitchFamily="18" charset="0"/>
                        </a:rPr>
                        <m:t>𝟗𝟕𝟕𝟑</m:t>
                      </m:r>
                    </m:oMath>
                  </m:oMathPara>
                </a14:m>
                <a:endParaRPr lang="en-IN" sz="2800" b="1" dirty="0">
                  <a:solidFill>
                    <a:srgbClr val="002060"/>
                  </a:solidFill>
                  <a:latin typeface="Cambria Math" panose="020405030504060302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7464561" y="749081"/>
                <a:ext cx="4487036" cy="2031325"/>
              </a:xfrm>
              <a:prstGeom prst="rect">
                <a:avLst/>
              </a:prstGeom>
              <a:blipFill rotWithShape="0">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18" name="Table 17"/>
              <p:cNvGraphicFramePr>
                <a:graphicFrameLocks noGrp="1"/>
              </p:cNvGraphicFramePr>
              <p:nvPr>
                <p:extLst>
                  <p:ext uri="{D42A27DB-BD31-4B8C-83A1-F6EECF244321}">
                    <p14:modId xmlns:p14="http://schemas.microsoft.com/office/powerpoint/2010/main" val="1542171116"/>
                  </p:ext>
                </p:extLst>
              </p:nvPr>
            </p:nvGraphicFramePr>
            <p:xfrm>
              <a:off x="618186" y="2995930"/>
              <a:ext cx="10805374" cy="2886077"/>
            </p:xfrm>
            <a:graphic>
              <a:graphicData uri="http://schemas.openxmlformats.org/drawingml/2006/table">
                <a:tbl>
                  <a:tblPr firstRow="1" bandRow="1">
                    <a:tableStyleId>{5C22544A-7EE6-4342-B048-85BDC9FD1C3A}</a:tableStyleId>
                  </a:tblPr>
                  <a:tblGrid>
                    <a:gridCol w="10805374">
                      <a:extLst>
                        <a:ext uri="{9D8B030D-6E8A-4147-A177-3AD203B41FA5}">
                          <a16:colId xmlns:a16="http://schemas.microsoft.com/office/drawing/2014/main" val="20000"/>
                        </a:ext>
                      </a:extLst>
                    </a:gridCol>
                  </a:tblGrid>
                  <a:tr h="2155619">
                    <a:tc>
                      <a:txBody>
                        <a:bodyPr/>
                        <a:lstStyle/>
                        <a:p>
                          <a:pPr algn="ct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0458">
                    <a:tc>
                      <a:txBody>
                        <a:bodyPr/>
                        <a:lstStyle/>
                        <a:p>
                          <a:pPr algn="l"/>
                          <a14:m>
                            <m:oMath xmlns:m="http://schemas.openxmlformats.org/officeDocument/2006/math">
                              <m:r>
                                <a:rPr lang="en-US" sz="2600" b="0" i="1" kern="1200" smtClean="0">
                                  <a:solidFill>
                                    <a:schemeClr val="dk1"/>
                                  </a:solidFill>
                                  <a:effectLst/>
                                  <a:latin typeface="Cambria Math" panose="02040503050406030204" pitchFamily="18" charset="0"/>
                                  <a:ea typeface="+mn-ea"/>
                                  <a:cs typeface="+mn-cs"/>
                                </a:rPr>
                                <m:t>−∞</m:t>
                              </m:r>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2</m:t>
                              </m:r>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m:t>
                              </m:r>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2</m:t>
                              </m:r>
                            </m:oMath>
                          </a14:m>
                          <a:endParaRPr lang="en-IN" sz="26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18" name="Table 17"/>
              <p:cNvGraphicFramePr>
                <a:graphicFrameLocks noGrp="1"/>
              </p:cNvGraphicFramePr>
              <p:nvPr>
                <p:extLst>
                  <p:ext uri="{D42A27DB-BD31-4B8C-83A1-F6EECF244321}">
                    <p14:modId xmlns:p14="http://schemas.microsoft.com/office/powerpoint/2010/main" val="1542171116"/>
                  </p:ext>
                </p:extLst>
              </p:nvPr>
            </p:nvGraphicFramePr>
            <p:xfrm>
              <a:off x="618186" y="2995930"/>
              <a:ext cx="10805374" cy="2886077"/>
            </p:xfrm>
            <a:graphic>
              <a:graphicData uri="http://schemas.openxmlformats.org/drawingml/2006/table">
                <a:tbl>
                  <a:tblPr firstRow="1" bandRow="1">
                    <a:tableStyleId>{5C22544A-7EE6-4342-B048-85BDC9FD1C3A}</a:tableStyleId>
                  </a:tblPr>
                  <a:tblGrid>
                    <a:gridCol w="10805374"/>
                  </a:tblGrid>
                  <a:tr h="2155619">
                    <a:tc>
                      <a:txBody>
                        <a:bodyPr/>
                        <a:lstStyle/>
                        <a:p>
                          <a:pPr algn="ct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30458">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t="-295000"/>
                          </a:stretch>
                        </a:blipFill>
                      </a:tcPr>
                    </a:tc>
                  </a:tr>
                </a:tbl>
              </a:graphicData>
            </a:graphic>
          </p:graphicFrame>
        </mc:Fallback>
      </mc:AlternateContent>
      <p:pic>
        <p:nvPicPr>
          <p:cNvPr id="25" name="Picture 24"/>
          <p:cNvPicPr/>
          <p:nvPr/>
        </p:nvPicPr>
        <p:blipFill rotWithShape="1">
          <a:blip r:embed="rId6">
            <a:extLst>
              <a:ext uri="{28A0092B-C50C-407E-A947-70E740481C1C}">
                <a14:useLocalDpi xmlns:a14="http://schemas.microsoft.com/office/drawing/2010/main" val="0"/>
              </a:ext>
            </a:extLst>
          </a:blip>
          <a:srcRect l="1" t="9318" r="-883"/>
          <a:stretch/>
        </p:blipFill>
        <p:spPr bwMode="auto">
          <a:xfrm>
            <a:off x="618185" y="2995928"/>
            <a:ext cx="10805375" cy="220713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1097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par>
                                <p:cTn id="12" presetID="22" presetClass="entr" presetSubtype="1"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up)">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(c) To find </a:t>
                </a:r>
                <a14:m>
                  <m:oMath xmlns:m="http://schemas.openxmlformats.org/officeDocument/2006/math">
                    <m:r>
                      <a:rPr lang="en-US">
                        <a:solidFill>
                          <a:srgbClr val="FF0000"/>
                        </a:solidFill>
                        <a:latin typeface="Cambria Math" panose="02040503050406030204" pitchFamily="18" charset="0"/>
                      </a:rPr>
                      <m:t>(</m:t>
                    </m:r>
                    <m:r>
                      <a:rPr lang="en-IN" b="0" i="0" smtClean="0">
                        <a:solidFill>
                          <a:srgbClr val="FF0000"/>
                        </a:solidFill>
                        <a:latin typeface="Cambria Math" panose="02040503050406030204" pitchFamily="18" charset="0"/>
                      </a:rPr>
                      <m:t>0</m:t>
                    </m:r>
                    <m:r>
                      <a:rPr lang="en-IN" b="0" i="1" smtClean="0">
                        <a:solidFill>
                          <a:srgbClr val="FF0000"/>
                        </a:solidFill>
                        <a:latin typeface="Cambria Math" panose="02040503050406030204" pitchFamily="18" charset="0"/>
                        <a:ea typeface="Cambria Math" panose="02040503050406030204" pitchFamily="18" charset="0"/>
                      </a:rPr>
                      <m:t>≤</m:t>
                    </m:r>
                    <m:r>
                      <a:rPr lang="en-US">
                        <a:solidFill>
                          <a:srgbClr val="FF0000"/>
                        </a:solidFill>
                        <a:latin typeface="Cambria Math" panose="02040503050406030204" pitchFamily="18" charset="0"/>
                      </a:rPr>
                      <m:t>𝐗</m:t>
                    </m:r>
                    <m:r>
                      <a:rPr lang="en-US" i="1" smtClean="0">
                        <a:solidFill>
                          <a:srgbClr val="FF0000"/>
                        </a:solidFill>
                        <a:latin typeface="Cambria Math" panose="02040503050406030204" pitchFamily="18" charset="0"/>
                        <a:ea typeface="Cambria Math" panose="02040503050406030204" pitchFamily="18" charset="0"/>
                      </a:rPr>
                      <m:t>≤</m:t>
                    </m:r>
                    <m:r>
                      <a:rPr lang="en-IN" b="0" i="0" smtClean="0">
                        <a:solidFill>
                          <a:srgbClr val="FF0000"/>
                        </a:solidFill>
                        <a:latin typeface="Cambria Math" panose="02040503050406030204" pitchFamily="18" charset="0"/>
                      </a:rPr>
                      <m:t>12</m:t>
                    </m:r>
                    <m:r>
                      <a:rPr lang="en-US">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597320"/>
                <a:ext cx="4728078" cy="3813223"/>
              </a:xfrm>
              <a:prstGeom prst="rect">
                <a:avLst/>
              </a:prstGeom>
            </p:spPr>
            <p:txBody>
              <a:bodyPr wrap="square">
                <a:spAutoFit/>
              </a:bodyPr>
              <a:lstStyle/>
              <a:p>
                <a:pPr>
                  <a:lnSpc>
                    <a:spcPct val="150000"/>
                  </a:lnSpc>
                  <a:buClr>
                    <a:schemeClr val="accent6"/>
                  </a:buClr>
                </a:pPr>
                <a:r>
                  <a:rPr lang="en-US" sz="2800" dirty="0">
                    <a:solidFill>
                      <a:srgbClr val="002060"/>
                    </a:solidFill>
                  </a:rPr>
                  <a:t>For, </a:t>
                </a:r>
                <a14:m>
                  <m:oMath xmlns:m="http://schemas.openxmlformats.org/officeDocument/2006/math">
                    <m:r>
                      <m:rPr>
                        <m:sty m:val="p"/>
                      </m:rPr>
                      <a:rPr lang="en-IN" sz="2800">
                        <a:solidFill>
                          <a:srgbClr val="002060"/>
                        </a:solidFill>
                        <a:latin typeface="Cambria Math" panose="02040503050406030204" pitchFamily="18" charset="0"/>
                      </a:rPr>
                      <m:t>x</m:t>
                    </m:r>
                    <m:r>
                      <a:rPr lang="en-US" sz="2800" b="0" i="0">
                        <a:solidFill>
                          <a:srgbClr val="002060"/>
                        </a:solidFill>
                        <a:latin typeface="Cambria Math" panose="02040503050406030204" pitchFamily="18" charset="0"/>
                      </a:rPr>
                      <m:t>=0</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i="1">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m:rPr>
                              <m:sty m:val="p"/>
                            </m:rPr>
                            <a:rPr lang="en-US" sz="2800" i="1">
                              <a:solidFill>
                                <a:srgbClr val="002060"/>
                              </a:solidFill>
                              <a:latin typeface="Cambria Math" panose="02040503050406030204" pitchFamily="18" charset="0"/>
                            </a:rPr>
                            <m:t>μ</m:t>
                          </m:r>
                          <m:r>
                            <a:rPr lang="en-US" sz="2800" i="1">
                              <a:solidFill>
                                <a:srgbClr val="002060"/>
                              </a:solidFill>
                              <a:latin typeface="Cambria Math" panose="02040503050406030204" pitchFamily="18" charset="0"/>
                            </a:rPr>
                            <m:t> </m:t>
                          </m:r>
                        </m:num>
                        <m:den>
                          <m:r>
                            <m:rPr>
                              <m:sty m:val="p"/>
                            </m:rPr>
                            <a:rPr lang="en-US" sz="2800" i="1">
                              <a:solidFill>
                                <a:srgbClr val="002060"/>
                              </a:solidFill>
                              <a:latin typeface="Cambria Math" panose="02040503050406030204" pitchFamily="18" charset="0"/>
                            </a:rPr>
                            <m:t>σ</m:t>
                          </m:r>
                          <m:r>
                            <a:rPr lang="en-US" sz="2800" i="1">
                              <a:solidFill>
                                <a:srgbClr val="002060"/>
                              </a:solidFill>
                              <a:latin typeface="Cambria Math" panose="02040503050406030204" pitchFamily="18" charset="0"/>
                            </a:rPr>
                            <m:t> </m:t>
                          </m:r>
                        </m:den>
                      </m:f>
                      <m:r>
                        <a:rPr lang="en-IN" sz="2800" b="0" i="1" smtClean="0">
                          <a:solidFill>
                            <a:srgbClr val="002060"/>
                          </a:solidFill>
                          <a:latin typeface="Cambria Math" panose="02040503050406030204" pitchFamily="18" charset="0"/>
                        </a:rPr>
                        <m:t>=</m:t>
                      </m:r>
                      <m:f>
                        <m:fPr>
                          <m:ctrlPr>
                            <a:rPr lang="en-IN" sz="2800" i="1" smtClean="0">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0</m:t>
                          </m:r>
                          <m:r>
                            <a:rPr lang="en-US" sz="2800" i="1">
                              <a:solidFill>
                                <a:srgbClr val="002060"/>
                              </a:solidFill>
                              <a:latin typeface="Cambria Math" panose="02040503050406030204" pitchFamily="18" charset="0"/>
                            </a:rPr>
                            <m:t>−12 </m:t>
                          </m:r>
                        </m:num>
                        <m:den>
                          <m:r>
                            <a:rPr lang="en-US" sz="2800" i="1">
                              <a:solidFill>
                                <a:srgbClr val="002060"/>
                              </a:solidFill>
                              <a:latin typeface="Cambria Math" panose="02040503050406030204" pitchFamily="18" charset="0"/>
                            </a:rPr>
                            <m:t>4</m:t>
                          </m:r>
                        </m:den>
                      </m:f>
                      <m:r>
                        <a:rPr lang="en-IN" sz="2800" b="0" i="1" smtClean="0">
                          <a:solidFill>
                            <a:srgbClr val="002060"/>
                          </a:solidFill>
                          <a:latin typeface="Cambria Math" panose="02040503050406030204" pitchFamily="18" charset="0"/>
                        </a:rPr>
                        <m:t>=</m:t>
                      </m:r>
                      <m:r>
                        <a:rPr lang="en-IN" sz="2800" b="1" i="1" smtClean="0">
                          <a:solidFill>
                            <a:srgbClr val="FF0000"/>
                          </a:solidFill>
                          <a:latin typeface="Cambria Math" panose="02040503050406030204" pitchFamily="18" charset="0"/>
                        </a:rPr>
                        <m:t>−</m:t>
                      </m:r>
                      <m:r>
                        <a:rPr lang="en-IN" sz="2800" b="1" i="1" smtClean="0">
                          <a:solidFill>
                            <a:srgbClr val="FF0000"/>
                          </a:solidFill>
                          <a:latin typeface="Cambria Math" panose="02040503050406030204" pitchFamily="18" charset="0"/>
                        </a:rPr>
                        <m:t>𝟑</m:t>
                      </m:r>
                    </m:oMath>
                  </m:oMathPara>
                </a14:m>
                <a:endParaRPr lang="en-IN" sz="2800" b="1" i="1"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nor/>
                        </m:rPr>
                        <a:rPr lang="en-US" sz="2800" dirty="0">
                          <a:solidFill>
                            <a:srgbClr val="002060"/>
                          </a:solidFill>
                        </a:rPr>
                        <m:t>For</m:t>
                      </m:r>
                      <m:r>
                        <m:rPr>
                          <m:nor/>
                        </m:rPr>
                        <a:rPr lang="en-US" sz="2800" dirty="0">
                          <a:solidFill>
                            <a:srgbClr val="002060"/>
                          </a:solidFill>
                        </a:rPr>
                        <m:t>,</m:t>
                      </m:r>
                      <m:r>
                        <m:rPr>
                          <m:nor/>
                        </m:rPr>
                        <a:rPr lang="en-US" sz="2800" i="1" dirty="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X</m:t>
                      </m:r>
                      <m:r>
                        <a:rPr lang="en-US" sz="2800">
                          <a:solidFill>
                            <a:srgbClr val="002060"/>
                          </a:solidFill>
                          <a:latin typeface="Cambria Math" panose="02040503050406030204" pitchFamily="18" charset="0"/>
                        </a:rPr>
                        <m:t>=12</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i="1">
                          <a:solidFill>
                            <a:srgbClr val="002060"/>
                          </a:solidFill>
                          <a:latin typeface="Cambria Math" panose="02040503050406030204" pitchFamily="18" charset="0"/>
                        </a:rPr>
                        <m:t>Z</m:t>
                      </m:r>
                      <m:r>
                        <a:rPr lang="en-US"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i="1">
                              <a:solidFill>
                                <a:srgbClr val="002060"/>
                              </a:solidFill>
                              <a:latin typeface="Cambria Math" panose="02040503050406030204" pitchFamily="18" charset="0"/>
                            </a:rPr>
                            <m:t>−</m:t>
                          </m:r>
                          <m:r>
                            <m:rPr>
                              <m:sty m:val="p"/>
                            </m:rPr>
                            <a:rPr lang="en-US" sz="2800" i="1">
                              <a:solidFill>
                                <a:srgbClr val="002060"/>
                              </a:solidFill>
                              <a:latin typeface="Cambria Math" panose="02040503050406030204" pitchFamily="18" charset="0"/>
                            </a:rPr>
                            <m:t>μ</m:t>
                          </m:r>
                          <m:r>
                            <a:rPr lang="en-US" sz="2800" i="1">
                              <a:solidFill>
                                <a:srgbClr val="002060"/>
                              </a:solidFill>
                              <a:latin typeface="Cambria Math" panose="02040503050406030204" pitchFamily="18" charset="0"/>
                            </a:rPr>
                            <m:t> </m:t>
                          </m:r>
                        </m:num>
                        <m:den>
                          <m:r>
                            <m:rPr>
                              <m:sty m:val="p"/>
                            </m:rPr>
                            <a:rPr lang="en-US" sz="2800" i="1">
                              <a:solidFill>
                                <a:srgbClr val="002060"/>
                              </a:solidFill>
                              <a:latin typeface="Cambria Math" panose="02040503050406030204" pitchFamily="18" charset="0"/>
                            </a:rPr>
                            <m:t>σ</m:t>
                          </m:r>
                          <m:r>
                            <a:rPr lang="en-US" sz="2800" i="1">
                              <a:solidFill>
                                <a:srgbClr val="002060"/>
                              </a:solidFill>
                              <a:latin typeface="Cambria Math" panose="02040503050406030204" pitchFamily="18" charset="0"/>
                            </a:rPr>
                            <m:t> </m:t>
                          </m:r>
                        </m:den>
                      </m:f>
                      <m:r>
                        <a:rPr lang="en-IN" sz="2800" i="1">
                          <a:solidFill>
                            <a:srgbClr val="002060"/>
                          </a:solidFill>
                          <a:latin typeface="Cambria Math" panose="02040503050406030204" pitchFamily="18" charset="0"/>
                        </a:rPr>
                        <m:t>=</m:t>
                      </m:r>
                      <m:f>
                        <m:fPr>
                          <m:ctrlPr>
                            <a:rPr lang="en-IN" sz="2800" i="1">
                              <a:solidFill>
                                <a:srgbClr val="002060"/>
                              </a:solidFill>
                              <a:latin typeface="Cambria Math" panose="02040503050406030204" pitchFamily="18" charset="0"/>
                            </a:rPr>
                          </m:ctrlPr>
                        </m:fPr>
                        <m:num>
                          <m:r>
                            <a:rPr lang="en-US" sz="2800" i="1">
                              <a:solidFill>
                                <a:srgbClr val="002060"/>
                              </a:solidFill>
                              <a:latin typeface="Cambria Math" panose="02040503050406030204" pitchFamily="18" charset="0"/>
                            </a:rPr>
                            <m:t> </m:t>
                          </m:r>
                          <m:r>
                            <a:rPr lang="en-IN" sz="2800" b="0" i="1" smtClean="0">
                              <a:solidFill>
                                <a:srgbClr val="002060"/>
                              </a:solidFill>
                              <a:latin typeface="Cambria Math" panose="02040503050406030204" pitchFamily="18" charset="0"/>
                            </a:rPr>
                            <m:t>12</m:t>
                          </m:r>
                          <m:r>
                            <a:rPr lang="en-US" sz="2800" i="1">
                              <a:solidFill>
                                <a:srgbClr val="002060"/>
                              </a:solidFill>
                              <a:latin typeface="Cambria Math" panose="02040503050406030204" pitchFamily="18" charset="0"/>
                            </a:rPr>
                            <m:t>−12 </m:t>
                          </m:r>
                        </m:num>
                        <m:den>
                          <m:r>
                            <a:rPr lang="en-US" sz="2800" i="1">
                              <a:solidFill>
                                <a:srgbClr val="002060"/>
                              </a:solidFill>
                              <a:latin typeface="Cambria Math" panose="02040503050406030204" pitchFamily="18" charset="0"/>
                            </a:rPr>
                            <m:t>4</m:t>
                          </m:r>
                        </m:den>
                      </m:f>
                      <m:r>
                        <a:rPr lang="en-IN" sz="2800" i="1">
                          <a:solidFill>
                            <a:srgbClr val="002060"/>
                          </a:solidFill>
                          <a:latin typeface="Cambria Math" panose="02040503050406030204" pitchFamily="18" charset="0"/>
                        </a:rPr>
                        <m:t>=</m:t>
                      </m:r>
                      <m:r>
                        <a:rPr lang="en-IN" sz="2800" b="1" i="1" smtClean="0">
                          <a:solidFill>
                            <a:srgbClr val="FF0000"/>
                          </a:solidFill>
                          <a:latin typeface="Cambria Math" panose="02040503050406030204" pitchFamily="18" charset="0"/>
                        </a:rPr>
                        <m:t>𝟎</m:t>
                      </m:r>
                    </m:oMath>
                  </m:oMathPara>
                </a14:m>
                <a:endParaRPr lang="en-IN" sz="2800" i="1" dirty="0">
                  <a:solidFill>
                    <a:srgbClr val="002060"/>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597320"/>
                <a:ext cx="4728078" cy="3813223"/>
              </a:xfrm>
              <a:prstGeom prst="rect">
                <a:avLst/>
              </a:prstGeom>
              <a:blipFill rotWithShape="0">
                <a:blip r:embed="rId3"/>
                <a:stretch>
                  <a:fillRect l="-2577"/>
                </a:stretch>
              </a:blipFill>
            </p:spPr>
            <p:txBody>
              <a:bodyPr/>
              <a:lstStyle/>
              <a:p>
                <a:r>
                  <a:rPr lang="en-IN">
                    <a:noFill/>
                  </a:rPr>
                  <a:t> </a:t>
                </a:r>
              </a:p>
            </p:txBody>
          </p:sp>
        </mc:Fallback>
      </mc:AlternateContent>
    </p:spTree>
    <p:extLst>
      <p:ext uri="{BB962C8B-B14F-4D97-AF65-F5344CB8AC3E}">
        <p14:creationId xmlns:p14="http://schemas.microsoft.com/office/powerpoint/2010/main" val="170882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1 (Continue)</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180305" y="711201"/>
                <a:ext cx="6825803" cy="2677656"/>
              </a:xfrm>
              <a:prstGeom prst="rect">
                <a:avLst/>
              </a:prstGeom>
            </p:spPr>
            <p:txBody>
              <a:bodyPr wrap="square">
                <a:spAutoFit/>
              </a:bodyPr>
              <a:lstStyle/>
              <a:p>
                <a:pPr>
                  <a:lnSpc>
                    <a:spcPct val="150000"/>
                  </a:lnSpc>
                  <a:buClr>
                    <a:schemeClr val="accent6"/>
                  </a:buClr>
                </a:pPr>
                <a:r>
                  <a:rPr lang="en-US" sz="2800" dirty="0">
                    <a:solidFill>
                      <a:srgbClr val="002060"/>
                    </a:solidFill>
                  </a:rPr>
                  <a:t>We find </a:t>
                </a:r>
                <a14:m>
                  <m:oMath xmlns:m="http://schemas.openxmlformats.org/officeDocument/2006/math">
                    <m:r>
                      <m:rPr>
                        <m:sty m:val="p"/>
                      </m:rPr>
                      <a:rPr lang="en-US" sz="2800" b="0" i="0">
                        <a:solidFill>
                          <a:srgbClr val="002060"/>
                        </a:solidFill>
                        <a:latin typeface="Cambria Math" panose="02040503050406030204" pitchFamily="18" charset="0"/>
                      </a:rPr>
                      <m:t>P</m:t>
                    </m:r>
                    <m:r>
                      <a:rPr lang="en-US" sz="2800" b="0" i="0">
                        <a:solidFill>
                          <a:srgbClr val="002060"/>
                        </a:solidFill>
                        <a:latin typeface="Cambria Math" panose="02040503050406030204" pitchFamily="18" charset="0"/>
                      </a:rPr>
                      <m:t>(−3</m:t>
                    </m:r>
                    <m:r>
                      <a:rPr lang="en-IN" sz="2800" b="0" i="1" smtClean="0">
                        <a:solidFill>
                          <a:srgbClr val="002060"/>
                        </a:solidFill>
                        <a:latin typeface="Cambria Math" panose="02040503050406030204" pitchFamily="18" charset="0"/>
                        <a:ea typeface="Cambria Math" panose="02040503050406030204" pitchFamily="18" charset="0"/>
                      </a:rPr>
                      <m:t>≤</m:t>
                    </m:r>
                    <m:r>
                      <m:rPr>
                        <m:sty m:val="p"/>
                      </m:rPr>
                      <a:rPr lang="en-US" sz="2800" b="0" i="0">
                        <a:solidFill>
                          <a:srgbClr val="002060"/>
                        </a:solidFill>
                        <a:latin typeface="Cambria Math" panose="02040503050406030204" pitchFamily="18" charset="0"/>
                      </a:rPr>
                      <m:t>Z</m:t>
                    </m:r>
                    <m:r>
                      <a:rPr lang="en-US" sz="2800" b="0" i="1" smtClean="0">
                        <a:solidFill>
                          <a:srgbClr val="002060"/>
                        </a:solidFill>
                        <a:latin typeface="Cambria Math" panose="02040503050406030204" pitchFamily="18" charset="0"/>
                        <a:ea typeface="Cambria Math" panose="02040503050406030204" pitchFamily="18" charset="0"/>
                      </a:rPr>
                      <m:t>≤</m:t>
                    </m:r>
                    <m:r>
                      <a:rPr lang="en-IN" sz="2800" b="0" i="0" smtClean="0">
                        <a:solidFill>
                          <a:srgbClr val="002060"/>
                        </a:solidFill>
                        <a:latin typeface="Cambria Math" panose="02040503050406030204" pitchFamily="18" charset="0"/>
                      </a:rPr>
                      <m:t>0</m:t>
                    </m:r>
                    <m:r>
                      <a:rPr lang="en-US" sz="2800" b="0" i="0">
                        <a:solidFill>
                          <a:srgbClr val="002060"/>
                        </a:solidFill>
                        <a:latin typeface="Cambria Math" panose="02040503050406030204" pitchFamily="18" charset="0"/>
                      </a:rPr>
                      <m:t>)</m:t>
                    </m:r>
                  </m:oMath>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−3≤</m:t>
                          </m:r>
                          <m:r>
                            <m:rPr>
                              <m:sty m:val="p"/>
                            </m:rPr>
                            <a:rPr lang="en-US" sz="2800">
                              <a:solidFill>
                                <a:srgbClr val="002060"/>
                              </a:solidFill>
                              <a:latin typeface="Cambria Math" panose="02040503050406030204" pitchFamily="18" charset="0"/>
                            </a:rPr>
                            <m:t>Z</m:t>
                          </m:r>
                          <m:r>
                            <a:rPr lang="en-US" sz="2800">
                              <a:solidFill>
                                <a:srgbClr val="002060"/>
                              </a:solidFill>
                              <a:latin typeface="Cambria Math" panose="02040503050406030204" pitchFamily="18" charset="0"/>
                            </a:rPr>
                            <m:t>≤0</m:t>
                          </m:r>
                        </m:e>
                      </m:d>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P</m:t>
                      </m:r>
                      <m:r>
                        <a:rPr lang="en-US" sz="2800">
                          <a:solidFill>
                            <a:srgbClr val="002060"/>
                          </a:solidFill>
                          <a:latin typeface="Cambria Math" panose="02040503050406030204" pitchFamily="18" charset="0"/>
                        </a:rPr>
                        <m:t>(0≤</m:t>
                      </m:r>
                      <m:r>
                        <m:rPr>
                          <m:sty m:val="p"/>
                        </m:rPr>
                        <a:rPr lang="en-US" sz="2800">
                          <a:solidFill>
                            <a:srgbClr val="002060"/>
                          </a:solidFill>
                          <a:latin typeface="Cambria Math" panose="02040503050406030204" pitchFamily="18" charset="0"/>
                        </a:rPr>
                        <m:t>Z</m:t>
                      </m:r>
                      <m:r>
                        <a:rPr lang="en-US" sz="2800">
                          <a:solidFill>
                            <a:srgbClr val="002060"/>
                          </a:solidFill>
                          <a:latin typeface="Cambria Math" panose="02040503050406030204" pitchFamily="18" charset="0"/>
                        </a:rPr>
                        <m:t>≤3)</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m:rPr>
                          <m:sty m:val="p"/>
                        </m:rPr>
                        <a:rPr lang="en-US" sz="2800">
                          <a:solidFill>
                            <a:srgbClr val="002060"/>
                          </a:solidFill>
                          <a:latin typeface="Cambria Math" panose="02040503050406030204" pitchFamily="18" charset="0"/>
                        </a:rPr>
                        <m:t>P</m:t>
                      </m:r>
                      <m:d>
                        <m:dPr>
                          <m:ctrlPr>
                            <a:rPr lang="en-IN" sz="2800" i="1">
                              <a:solidFill>
                                <a:srgbClr val="002060"/>
                              </a:solidFill>
                              <a:latin typeface="Cambria Math" panose="02040503050406030204" pitchFamily="18" charset="0"/>
                            </a:rPr>
                          </m:ctrlPr>
                        </m:dPr>
                        <m:e>
                          <m:r>
                            <a:rPr lang="en-US" sz="2800">
                              <a:solidFill>
                                <a:srgbClr val="002060"/>
                              </a:solidFill>
                              <a:latin typeface="Cambria Math" panose="02040503050406030204" pitchFamily="18" charset="0"/>
                            </a:rPr>
                            <m:t>−3≤</m:t>
                          </m:r>
                          <m:r>
                            <m:rPr>
                              <m:sty m:val="p"/>
                            </m:rPr>
                            <a:rPr lang="en-US" sz="2800">
                              <a:solidFill>
                                <a:srgbClr val="002060"/>
                              </a:solidFill>
                              <a:latin typeface="Cambria Math" panose="02040503050406030204" pitchFamily="18" charset="0"/>
                            </a:rPr>
                            <m:t>Z</m:t>
                          </m:r>
                          <m:r>
                            <a:rPr lang="en-US" sz="2800">
                              <a:solidFill>
                                <a:srgbClr val="002060"/>
                              </a:solidFill>
                              <a:latin typeface="Cambria Math" panose="02040503050406030204" pitchFamily="18" charset="0"/>
                            </a:rPr>
                            <m:t>≤0</m:t>
                          </m:r>
                        </m:e>
                      </m:d>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P</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z</m:t>
                      </m:r>
                      <m:r>
                        <a:rPr lang="en-US" sz="2800">
                          <a:solidFill>
                            <a:srgbClr val="002060"/>
                          </a:solidFill>
                          <a:latin typeface="Cambria Math" panose="02040503050406030204" pitchFamily="18" charset="0"/>
                        </a:rPr>
                        <m:t>=3)</m:t>
                      </m:r>
                    </m:oMath>
                  </m:oMathPara>
                </a14:m>
                <a:endParaRPr lang="en-IN" sz="2800" dirty="0">
                  <a:solidFill>
                    <a:srgbClr val="002060"/>
                  </a:solidFill>
                  <a:latin typeface="Cambria Math" panose="02040503050406030204" pitchFamily="18" charset="0"/>
                </a:endParaRPr>
              </a:p>
              <a:p>
                <a:pPr>
                  <a:lnSpc>
                    <a:spcPct val="150000"/>
                  </a:lnSpc>
                  <a:buClr>
                    <a:schemeClr val="accent6"/>
                  </a:buClr>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rPr>
                        <m:t>𝐏</m:t>
                      </m:r>
                      <m:d>
                        <m:dPr>
                          <m:ctrlPr>
                            <a:rPr lang="en-IN" sz="2800" i="1">
                              <a:solidFill>
                                <a:srgbClr val="FF0000"/>
                              </a:solidFill>
                              <a:latin typeface="Cambria Math" panose="02040503050406030204" pitchFamily="18" charset="0"/>
                            </a:rPr>
                          </m:ctrlPr>
                        </m:dPr>
                        <m:e>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𝟑</m:t>
                          </m:r>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𝐙</m:t>
                          </m:r>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𝟎</m:t>
                          </m:r>
                        </m:e>
                      </m:d>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𝟎</m:t>
                      </m:r>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𝟒𝟗𝟖𝟕</m:t>
                      </m:r>
                    </m:oMath>
                  </m:oMathPara>
                </a14:m>
                <a:endParaRPr lang="en-IN" sz="2800" dirty="0">
                  <a:solidFill>
                    <a:srgbClr val="FF000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80305" y="711201"/>
                <a:ext cx="6825803" cy="2677656"/>
              </a:xfrm>
              <a:prstGeom prst="rect">
                <a:avLst/>
              </a:prstGeom>
              <a:blipFill rotWithShape="0">
                <a:blip r:embed="rId2"/>
                <a:stretch>
                  <a:fillRect l="-18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875197254"/>
                  </p:ext>
                </p:extLst>
              </p:nvPr>
            </p:nvGraphicFramePr>
            <p:xfrm>
              <a:off x="1056068" y="3266389"/>
              <a:ext cx="9852338" cy="2799563"/>
            </p:xfrm>
            <a:graphic>
              <a:graphicData uri="http://schemas.openxmlformats.org/drawingml/2006/table">
                <a:tbl>
                  <a:tblPr firstRow="1" bandRow="1">
                    <a:tableStyleId>{5C22544A-7EE6-4342-B048-85BDC9FD1C3A}</a:tableStyleId>
                  </a:tblPr>
                  <a:tblGrid>
                    <a:gridCol w="9852338">
                      <a:extLst>
                        <a:ext uri="{9D8B030D-6E8A-4147-A177-3AD203B41FA5}">
                          <a16:colId xmlns:a16="http://schemas.microsoft.com/office/drawing/2014/main" val="20000"/>
                        </a:ext>
                      </a:extLst>
                    </a:gridCol>
                  </a:tblGrid>
                  <a:tr h="2091002">
                    <a:tc>
                      <a:txBody>
                        <a:bodyPr/>
                        <a:lstStyle/>
                        <a:p>
                          <a:pPr algn="l"/>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08561">
                    <a:tc>
                      <a:txBody>
                        <a:bodyPr/>
                        <a:lstStyle/>
                        <a:p>
                          <a:pPr algn="l"/>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r>
                                <a:rPr lang="en-US" sz="2600" i="1" kern="1200">
                                  <a:solidFill>
                                    <a:schemeClr val="dk1"/>
                                  </a:solidFill>
                                  <a:effectLst/>
                                  <a:latin typeface="Cambria Math" panose="02040503050406030204" pitchFamily="18" charset="0"/>
                                  <a:ea typeface="+mn-ea"/>
                                  <a:cs typeface="+mn-cs"/>
                                </a:rPr>
                                <m:t>3</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3</m:t>
                              </m:r>
                            </m:oMath>
                          </a14:m>
                          <a:endParaRPr lang="en-IN" sz="26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875197254"/>
                  </p:ext>
                </p:extLst>
              </p:nvPr>
            </p:nvGraphicFramePr>
            <p:xfrm>
              <a:off x="1056068" y="3266389"/>
              <a:ext cx="9852338" cy="2799563"/>
            </p:xfrm>
            <a:graphic>
              <a:graphicData uri="http://schemas.openxmlformats.org/drawingml/2006/table">
                <a:tbl>
                  <a:tblPr firstRow="1" bandRow="1">
                    <a:tableStyleId>{5C22544A-7EE6-4342-B048-85BDC9FD1C3A}</a:tableStyleId>
                  </a:tblPr>
                  <a:tblGrid>
                    <a:gridCol w="9852338"/>
                  </a:tblGrid>
                  <a:tr h="2091002">
                    <a:tc>
                      <a:txBody>
                        <a:bodyPr/>
                        <a:lstStyle/>
                        <a:p>
                          <a:pPr algn="l"/>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08561">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294017"/>
                          </a:stretch>
                        </a:blipFill>
                      </a:tcPr>
                    </a:tc>
                  </a:tr>
                </a:tbl>
              </a:graphicData>
            </a:graphic>
          </p:graphicFrame>
        </mc:Fallback>
      </mc:AlternateContent>
      <p:pic>
        <p:nvPicPr>
          <p:cNvPr id="10" name="Picture 9"/>
          <p:cNvPicPr/>
          <p:nvPr/>
        </p:nvPicPr>
        <p:blipFill rotWithShape="1">
          <a:blip r:embed="rId4">
            <a:extLst>
              <a:ext uri="{28A0092B-C50C-407E-A947-70E740481C1C}">
                <a14:useLocalDpi xmlns:a14="http://schemas.microsoft.com/office/drawing/2010/main" val="0"/>
              </a:ext>
            </a:extLst>
          </a:blip>
          <a:srcRect l="3965" r="2441"/>
          <a:stretch/>
        </p:blipFill>
        <p:spPr bwMode="auto">
          <a:xfrm>
            <a:off x="1601276" y="3438662"/>
            <a:ext cx="8165205" cy="197046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85440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par>
                                <p:cTn id="12" presetID="22" presetClass="entr" presetSubtype="1"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up)">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1"/>
                <a:ext cx="11929643" cy="1899877"/>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For a random variable having the normal distribution with </a:t>
                </a:r>
                <a14:m>
                  <m:oMath xmlns:m="http://schemas.openxmlformats.org/officeDocument/2006/math">
                    <m:r>
                      <m:rPr>
                        <m:sty m:val="p"/>
                      </m:rPr>
                      <a:rPr lang="en-US" i="0" dirty="0" smtClean="0">
                        <a:latin typeface="Cambria Math" panose="02040503050406030204" pitchFamily="18" charset="0"/>
                      </a:rPr>
                      <m:t>μ</m:t>
                    </m:r>
                    <m:r>
                      <a:rPr lang="en-US" i="0" dirty="0" smtClean="0">
                        <a:latin typeface="Cambria Math" panose="02040503050406030204" pitchFamily="18" charset="0"/>
                      </a:rPr>
                      <m:t>=18.2</m:t>
                    </m:r>
                  </m:oMath>
                </a14:m>
                <a:r>
                  <a:rPr lang="en-US" dirty="0"/>
                  <a:t> and </a:t>
                </a:r>
                <a14:m>
                  <m:oMath xmlns:m="http://schemas.openxmlformats.org/officeDocument/2006/math">
                    <m:r>
                      <m:rPr>
                        <m:sty m:val="p"/>
                      </m:rPr>
                      <a:rPr lang="en-US" i="0" dirty="0" smtClean="0">
                        <a:latin typeface="Cambria Math" panose="02040503050406030204" pitchFamily="18" charset="0"/>
                      </a:rPr>
                      <m:t>σ</m:t>
                    </m:r>
                    <m:r>
                      <a:rPr lang="en-US" i="0" dirty="0" smtClean="0">
                        <a:latin typeface="Cambria Math" panose="02040503050406030204" pitchFamily="18" charset="0"/>
                      </a:rPr>
                      <m:t>=1.25</m:t>
                    </m:r>
                  </m:oMath>
                </a14:m>
                <a:r>
                  <a:rPr lang="en-US" dirty="0"/>
                  <a:t>, find the probabilities that it will take on a value less than 16.5, between 16.5 and 18.8  </a:t>
                </a:r>
                <a14:m>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=1.36)=0.4131,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=0.48)=0.1843]</m:t>
                    </m:r>
                  </m:oMath>
                </a14:m>
                <a:endParaRPr lang="en-IN"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1"/>
                <a:ext cx="11929643" cy="1899877"/>
              </a:xfrm>
              <a:prstGeom prst="rect">
                <a:avLst/>
              </a:prstGeom>
              <a:blipFill rotWithShape="0">
                <a:blip r:embed="rId2"/>
                <a:stretch>
                  <a:fillRect l="-1074" r="-1074" b="-8360"/>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2</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302723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2918046"/>
                <a:ext cx="10290991" cy="1433277"/>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Mean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μ</m:t>
                    </m:r>
                    <m:r>
                      <a:rPr lang="en-US" i="0" dirty="0" smtClean="0">
                        <a:solidFill>
                          <a:schemeClr val="tx2">
                            <a:lumMod val="50000"/>
                          </a:schemeClr>
                        </a:solidFill>
                        <a:latin typeface="Cambria Math" panose="02040503050406030204" pitchFamily="18" charset="0"/>
                      </a:rPr>
                      <m:t>=18.2</m:t>
                    </m:r>
                  </m:oMath>
                </a14:m>
                <a:r>
                  <a:rPr lang="en-US" dirty="0">
                    <a:solidFill>
                      <a:schemeClr val="tx2">
                        <a:lumMod val="50000"/>
                      </a:schemeClr>
                    </a:solidFill>
                  </a:rPr>
                  <a:t> and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σ</m:t>
                    </m:r>
                    <m:r>
                      <a:rPr lang="en-US" i="0" dirty="0" smtClean="0">
                        <a:solidFill>
                          <a:schemeClr val="tx2">
                            <a:lumMod val="50000"/>
                          </a:schemeClr>
                        </a:solidFill>
                        <a:latin typeface="Cambria Math" panose="02040503050406030204" pitchFamily="18" charset="0"/>
                      </a:rPr>
                      <m:t>=1.25</m:t>
                    </m:r>
                  </m:oMath>
                </a14:m>
                <a:endParaRPr lang="en-IN" dirty="0">
                  <a:solidFill>
                    <a:schemeClr val="tx2">
                      <a:lumMod val="50000"/>
                    </a:schemeClr>
                  </a:solidFill>
                  <a:latin typeface="Cambria Math" panose="02040503050406030204" pitchFamily="18" charset="0"/>
                </a:endParaRPr>
              </a:p>
              <a:p>
                <a:pPr marL="0" indent="0" algn="l">
                  <a:lnSpc>
                    <a:spcPct val="150000"/>
                  </a:lnSpc>
                  <a:buNone/>
                  <a:tabLst>
                    <a:tab pos="447675" algn="l"/>
                  </a:tabLst>
                </a:pPr>
                <a:endParaRPr lang="en-IN" dirty="0">
                  <a:solidFill>
                    <a:schemeClr val="tx2">
                      <a:lumMod val="50000"/>
                    </a:schemeClr>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2918046"/>
                <a:ext cx="10290991" cy="1433277"/>
              </a:xfrm>
              <a:prstGeom prst="rect">
                <a:avLst/>
              </a:prstGeom>
              <a:blipFill rotWithShape="0">
                <a:blip r:embed="rId3"/>
                <a:stretch>
                  <a:fillRect l="-1185"/>
                </a:stretch>
              </a:blipFill>
            </p:spPr>
            <p:txBody>
              <a:bodyPr/>
              <a:lstStyle/>
              <a:p>
                <a:r>
                  <a:rPr lang="en-IN">
                    <a:noFill/>
                  </a:rPr>
                  <a:t> </a:t>
                </a:r>
              </a:p>
            </p:txBody>
          </p:sp>
        </mc:Fallback>
      </mc:AlternateContent>
    </p:spTree>
    <p:extLst>
      <p:ext uri="{BB962C8B-B14F-4D97-AF65-F5344CB8AC3E}">
        <p14:creationId xmlns:p14="http://schemas.microsoft.com/office/powerpoint/2010/main" val="61003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(a)To find the probability of a value less than </a:t>
                </a:r>
                <a14:m>
                  <m:oMath xmlns:m="http://schemas.openxmlformats.org/officeDocument/2006/math">
                    <m:r>
                      <a:rPr lang="en-US" i="1" dirty="0" smtClean="0">
                        <a:solidFill>
                          <a:srgbClr val="FF0000"/>
                        </a:solidFill>
                        <a:latin typeface="Cambria Math" panose="02040503050406030204" pitchFamily="18" charset="0"/>
                      </a:rPr>
                      <m:t>16.5</m:t>
                    </m:r>
                  </m:oMath>
                </a14:m>
                <a:r>
                  <a:rPr lang="en-IN" b="1" dirty="0">
                    <a:solidFill>
                      <a:srgbClr val="FF0000"/>
                    </a:solidFill>
                  </a:rPr>
                  <a:t> </a:t>
                </a:r>
                <a14:m>
                  <m:oMath xmlns:m="http://schemas.openxmlformats.org/officeDocument/2006/math">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IN" b="1" i="0" smtClean="0">
                            <a:solidFill>
                              <a:srgbClr val="FF0000"/>
                            </a:solidFill>
                            <a:latin typeface="Cambria Math" panose="02040503050406030204" pitchFamily="18" charset="0"/>
                          </a:rPr>
                          <m:t>&lt;</m:t>
                        </m:r>
                        <m:r>
                          <a:rPr lang="en-IN" b="1" i="0" smtClean="0">
                            <a:solidFill>
                              <a:srgbClr val="FF0000"/>
                            </a:solidFill>
                            <a:latin typeface="Cambria Math" panose="02040503050406030204" pitchFamily="18" charset="0"/>
                          </a:rPr>
                          <m:t>𝟏𝟔</m:t>
                        </m:r>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𝟓</m:t>
                        </m:r>
                      </m:e>
                    </m:d>
                    <m:r>
                      <a:rPr lang="en-US">
                        <a:solidFill>
                          <a:srgbClr val="FF0000"/>
                        </a:solidFill>
                        <a:latin typeface="Cambria Math" panose="02040503050406030204" pitchFamily="18" charset="0"/>
                      </a:rPr>
                      <m:t>,</m:t>
                    </m:r>
                  </m:oMath>
                </a14:m>
                <a:endParaRPr lang="en-IN"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1519" b="-354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597320"/>
                <a:ext cx="5554395" cy="4468596"/>
              </a:xfrm>
              <a:prstGeom prst="rect">
                <a:avLst/>
              </a:prstGeom>
            </p:spPr>
            <p:txBody>
              <a:bodyPr wrap="square">
                <a:spAutoFit/>
              </a:bodyPr>
              <a:lstStyle/>
              <a:p>
                <a:pPr>
                  <a:lnSpc>
                    <a:spcPct val="150000"/>
                  </a:lnSpc>
                </a:pPr>
                <a:r>
                  <a:rPr lang="en-US" sz="2800" dirty="0">
                    <a:solidFill>
                      <a:schemeClr val="tx2">
                        <a:lumMod val="50000"/>
                      </a:schemeClr>
                    </a:solidFill>
                  </a:rPr>
                  <a:t>For, </a:t>
                </a:r>
                <a14:m>
                  <m:oMath xmlns:m="http://schemas.openxmlformats.org/officeDocument/2006/math">
                    <m:r>
                      <m:rPr>
                        <m:sty m:val="p"/>
                      </m:rPr>
                      <a:rPr lang="en-IN" sz="2800">
                        <a:solidFill>
                          <a:srgbClr val="002060"/>
                        </a:solidFill>
                        <a:latin typeface="Cambria Math" panose="02040503050406030204" pitchFamily="18" charset="0"/>
                      </a:rPr>
                      <m:t>x</m:t>
                    </m:r>
                    <m:r>
                      <a:rPr lang="en-US" sz="2800" b="0" i="0" dirty="0" smtClean="0">
                        <a:solidFill>
                          <a:schemeClr val="tx2">
                            <a:lumMod val="50000"/>
                          </a:schemeClr>
                        </a:solidFill>
                        <a:latin typeface="Cambria Math" panose="02040503050406030204" pitchFamily="18" charset="0"/>
                      </a:rPr>
                      <m:t>=16.5</m:t>
                    </m:r>
                  </m:oMath>
                </a14:m>
                <a:endParaRPr lang="en-IN" sz="2800" dirty="0">
                  <a:solidFill>
                    <a:schemeClr val="tx2">
                      <a:lumMod val="50000"/>
                    </a:schemeClr>
                  </a:solidFill>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Z</m:t>
                      </m:r>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μ</m:t>
                          </m:r>
                          <m:r>
                            <a:rPr lang="en-US" sz="2800">
                              <a:solidFill>
                                <a:schemeClr val="tx2">
                                  <a:lumMod val="50000"/>
                                </a:schemeClr>
                              </a:solidFill>
                              <a:latin typeface="Cambria Math" panose="02040503050406030204" pitchFamily="18" charset="0"/>
                            </a:rPr>
                            <m:t> </m:t>
                          </m:r>
                        </m:num>
                        <m:den>
                          <m:r>
                            <m:rPr>
                              <m:sty m:val="p"/>
                            </m:rPr>
                            <a:rPr lang="en-US" sz="2800">
                              <a:solidFill>
                                <a:schemeClr val="tx2">
                                  <a:lumMod val="50000"/>
                                </a:schemeClr>
                              </a:solidFill>
                              <a:latin typeface="Cambria Math" panose="02040503050406030204" pitchFamily="18" charset="0"/>
                            </a:rPr>
                            <m:t>σ</m:t>
                          </m:r>
                          <m:r>
                            <a:rPr lang="en-US" sz="2800">
                              <a:solidFill>
                                <a:schemeClr val="tx2">
                                  <a:lumMod val="50000"/>
                                </a:schemeClr>
                              </a:solidFill>
                              <a:latin typeface="Cambria Math" panose="02040503050406030204" pitchFamily="18" charset="0"/>
                            </a:rPr>
                            <m:t> </m:t>
                          </m:r>
                        </m:den>
                      </m:f>
                    </m:oMath>
                  </m:oMathPara>
                </a14:m>
                <a:endParaRPr lang="en-IN" sz="2800" dirty="0">
                  <a:solidFill>
                    <a:schemeClr val="tx2">
                      <a:lumMod val="50000"/>
                    </a:schemeClr>
                  </a:solidFill>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Z</m:t>
                      </m:r>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 16.5</m:t>
                          </m:r>
                          <m:r>
                            <a:rPr lang="en-US" sz="2800" i="1">
                              <a:solidFill>
                                <a:schemeClr val="tx2">
                                  <a:lumMod val="50000"/>
                                </a:schemeClr>
                              </a:solidFill>
                              <a:latin typeface="Cambria Math" panose="02040503050406030204" pitchFamily="18" charset="0"/>
                            </a:rPr>
                            <m:t>−</m:t>
                          </m:r>
                          <m:r>
                            <a:rPr lang="en-US" sz="2800">
                              <a:solidFill>
                                <a:schemeClr val="tx2">
                                  <a:lumMod val="50000"/>
                                </a:schemeClr>
                              </a:solidFill>
                              <a:latin typeface="Cambria Math" panose="02040503050406030204" pitchFamily="18" charset="0"/>
                            </a:rPr>
                            <m:t>18.2 </m:t>
                          </m:r>
                        </m:num>
                        <m:den>
                          <m:r>
                            <a:rPr lang="en-US" sz="2800">
                              <a:solidFill>
                                <a:schemeClr val="tx2">
                                  <a:lumMod val="50000"/>
                                </a:schemeClr>
                              </a:solidFill>
                              <a:latin typeface="Cambria Math" panose="02040503050406030204" pitchFamily="18" charset="0"/>
                            </a:rPr>
                            <m:t>1.25 </m:t>
                          </m:r>
                        </m:den>
                      </m:f>
                      <m:r>
                        <a:rPr lang="en-US" sz="2800" i="1">
                          <a:solidFill>
                            <a:schemeClr val="tx2">
                              <a:lumMod val="50000"/>
                            </a:schemeClr>
                          </a:solidFill>
                          <a:latin typeface="Cambria Math" panose="02040503050406030204" pitchFamily="18" charset="0"/>
                        </a:rPr>
                        <m:t>=−1.36</m:t>
                      </m:r>
                    </m:oMath>
                  </m:oMathPara>
                </a14:m>
                <a:endParaRPr lang="en-IN" sz="2800" dirty="0">
                  <a:solidFill>
                    <a:schemeClr val="tx2">
                      <a:lumMod val="50000"/>
                    </a:schemeClr>
                  </a:solidFill>
                </a:endParaRPr>
              </a:p>
              <a:p>
                <a:pPr>
                  <a:lnSpc>
                    <a:spcPct val="150000"/>
                  </a:lnSpc>
                </a:pPr>
                <a:endParaRPr lang="en-IN" sz="2800" dirty="0">
                  <a:solidFill>
                    <a:schemeClr val="tx2">
                      <a:lumMod val="50000"/>
                    </a:schemeClr>
                  </a:solidFill>
                </a:endParaRPr>
              </a:p>
              <a:p>
                <a:pPr>
                  <a:lnSpc>
                    <a:spcPct val="150000"/>
                  </a:lnSpc>
                </a:pPr>
                <a:r>
                  <a:rPr lang="en-US" sz="2800" dirty="0">
                    <a:solidFill>
                      <a:schemeClr val="tx2">
                        <a:lumMod val="50000"/>
                      </a:schemeClr>
                    </a:solidFill>
                  </a:rPr>
                  <a:t>We find </a:t>
                </a:r>
                <a14:m>
                  <m:oMath xmlns:m="http://schemas.openxmlformats.org/officeDocument/2006/math">
                    <m:r>
                      <m:rPr>
                        <m:sty m:val="p"/>
                      </m:rPr>
                      <a:rPr lang="en-US" sz="2800">
                        <a:solidFill>
                          <a:schemeClr val="tx2">
                            <a:lumMod val="50000"/>
                          </a:schemeClr>
                        </a:solidFill>
                        <a:latin typeface="Cambria Math" panose="02040503050406030204" pitchFamily="18" charset="0"/>
                      </a:rPr>
                      <m:t>P</m:t>
                    </m:r>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Z</m:t>
                    </m:r>
                    <m:r>
                      <a:rPr lang="en-US" sz="2800">
                        <a:solidFill>
                          <a:schemeClr val="tx2">
                            <a:lumMod val="50000"/>
                          </a:schemeClr>
                        </a:solidFill>
                        <a:latin typeface="Cambria Math" panose="02040503050406030204" pitchFamily="18" charset="0"/>
                      </a:rPr>
                      <m:t>&lt;</m:t>
                    </m:r>
                    <m:r>
                      <a:rPr lang="en-US" sz="2800" i="1">
                        <a:solidFill>
                          <a:schemeClr val="tx2">
                            <a:lumMod val="50000"/>
                          </a:schemeClr>
                        </a:solidFill>
                        <a:latin typeface="Cambria Math" panose="02040503050406030204" pitchFamily="18" charset="0"/>
                      </a:rPr>
                      <m:t>−</m:t>
                    </m:r>
                    <m:r>
                      <a:rPr lang="en-US" sz="2800">
                        <a:solidFill>
                          <a:schemeClr val="tx2">
                            <a:lumMod val="50000"/>
                          </a:schemeClr>
                        </a:solidFill>
                        <a:latin typeface="Cambria Math" panose="02040503050406030204" pitchFamily="18" charset="0"/>
                      </a:rPr>
                      <m:t>1.36)</m:t>
                    </m:r>
                  </m:oMath>
                </a14:m>
                <a:endParaRPr lang="en-IN" sz="2800" dirty="0">
                  <a:solidFill>
                    <a:schemeClr val="tx2">
                      <a:lumMod val="50000"/>
                    </a:schemeClr>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597320"/>
                <a:ext cx="5554395" cy="4468596"/>
              </a:xfrm>
              <a:prstGeom prst="rect">
                <a:avLst/>
              </a:prstGeom>
              <a:blipFill rotWithShape="0">
                <a:blip r:embed="rId3"/>
                <a:stretch>
                  <a:fillRect l="-2193"/>
                </a:stretch>
              </a:blipFill>
            </p:spPr>
            <p:txBody>
              <a:bodyPr/>
              <a:lstStyle/>
              <a:p>
                <a:r>
                  <a:rPr lang="en-IN">
                    <a:noFill/>
                  </a:rPr>
                  <a:t> </a:t>
                </a:r>
              </a:p>
            </p:txBody>
          </p:sp>
        </mc:Fallback>
      </mc:AlternateContent>
    </p:spTree>
    <p:extLst>
      <p:ext uri="{BB962C8B-B14F-4D97-AF65-F5344CB8AC3E}">
        <p14:creationId xmlns:p14="http://schemas.microsoft.com/office/powerpoint/2010/main" val="2124571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80767" y="801354"/>
                <a:ext cx="6399548" cy="2031325"/>
              </a:xfrm>
              <a:prstGeom prst="rect">
                <a:avLst/>
              </a:prstGeom>
            </p:spPr>
            <p:txBody>
              <a:bodyPr wrap="square">
                <a:spAutoFit/>
              </a:bodyPr>
              <a:lstStyle/>
              <a:p>
                <a:pPr>
                  <a:lnSpc>
                    <a:spcPct val="150000"/>
                  </a:lnSpc>
                </a:pPr>
                <a:r>
                  <a:rPr lang="en-US" sz="2800" dirty="0">
                    <a:solidFill>
                      <a:schemeClr val="tx2">
                        <a:lumMod val="50000"/>
                      </a:schemeClr>
                    </a:solidFill>
                  </a:rPr>
                  <a:t>To find </a:t>
                </a:r>
                <a14:m>
                  <m:oMath xmlns:m="http://schemas.openxmlformats.org/officeDocument/2006/math">
                    <m:r>
                      <m:rPr>
                        <m:sty m:val="p"/>
                      </m:rPr>
                      <a:rPr lang="en-US" sz="2800" i="0" dirty="0" smtClean="0">
                        <a:solidFill>
                          <a:schemeClr val="tx2">
                            <a:lumMod val="50000"/>
                          </a:schemeClr>
                        </a:solidFill>
                        <a:latin typeface="Cambria Math" panose="02040503050406030204" pitchFamily="18" charset="0"/>
                      </a:rPr>
                      <m:t>P</m:t>
                    </m:r>
                    <m:r>
                      <a:rPr lang="en-US" sz="2800" i="0" dirty="0" smtClean="0">
                        <a:solidFill>
                          <a:schemeClr val="tx2">
                            <a:lumMod val="50000"/>
                          </a:schemeClr>
                        </a:solidFill>
                        <a:latin typeface="Cambria Math" panose="02040503050406030204" pitchFamily="18" charset="0"/>
                      </a:rPr>
                      <m:t>(</m:t>
                    </m:r>
                    <m:r>
                      <m:rPr>
                        <m:sty m:val="p"/>
                      </m:rPr>
                      <a:rPr lang="en-US" sz="2800" i="0" dirty="0" smtClean="0">
                        <a:solidFill>
                          <a:schemeClr val="tx2">
                            <a:lumMod val="50000"/>
                          </a:schemeClr>
                        </a:solidFill>
                        <a:latin typeface="Cambria Math" panose="02040503050406030204" pitchFamily="18" charset="0"/>
                      </a:rPr>
                      <m:t>Z</m:t>
                    </m:r>
                    <m:r>
                      <a:rPr lang="en-US" sz="2800" i="0" dirty="0" smtClean="0">
                        <a:solidFill>
                          <a:schemeClr val="tx2">
                            <a:lumMod val="50000"/>
                          </a:schemeClr>
                        </a:solidFill>
                        <a:latin typeface="Cambria Math" panose="02040503050406030204" pitchFamily="18" charset="0"/>
                      </a:rPr>
                      <m:t>&lt;−1.36)</m:t>
                    </m:r>
                  </m:oMath>
                </a14:m>
                <a:endParaRPr lang="en-IN" sz="2800" dirty="0">
                  <a:solidFill>
                    <a:schemeClr val="tx2">
                      <a:lumMod val="50000"/>
                    </a:schemeClr>
                  </a:solidFill>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P</m:t>
                      </m:r>
                      <m:r>
                        <a:rPr lang="en-IN" sz="2800" i="0" dirty="0" smtClean="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0" dirty="0">
                          <a:solidFill>
                            <a:schemeClr val="tx2">
                              <a:lumMod val="50000"/>
                            </a:schemeClr>
                          </a:solidFill>
                          <a:latin typeface="Cambria Math" panose="02040503050406030204" pitchFamily="18" charset="0"/>
                          <a:ea typeface="Cambria Math" panose="02040503050406030204" pitchFamily="18" charset="0"/>
                        </a:rPr>
                        <m:t>Z</m:t>
                      </m:r>
                      <m:r>
                        <a:rPr lang="en-US" sz="2800" i="0" dirty="0">
                          <a:solidFill>
                            <a:schemeClr val="tx2">
                              <a:lumMod val="50000"/>
                            </a:schemeClr>
                          </a:solidFill>
                          <a:latin typeface="Cambria Math" panose="02040503050406030204" pitchFamily="18" charset="0"/>
                          <a:ea typeface="Cambria Math" panose="02040503050406030204" pitchFamily="18" charset="0"/>
                        </a:rPr>
                        <m:t>&lt;−1.36)=0.5−</m:t>
                      </m:r>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P</m:t>
                      </m:r>
                      <m:r>
                        <a:rPr lang="en-US" sz="2800" i="0" dirty="0" smtClean="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Z</m:t>
                      </m:r>
                      <m:r>
                        <a:rPr lang="en-US" sz="2800" i="0" dirty="0" smtClean="0">
                          <a:solidFill>
                            <a:schemeClr val="tx2">
                              <a:lumMod val="50000"/>
                            </a:schemeClr>
                          </a:solidFill>
                          <a:latin typeface="Cambria Math" panose="02040503050406030204" pitchFamily="18" charset="0"/>
                          <a:ea typeface="Cambria Math" panose="02040503050406030204" pitchFamily="18" charset="0"/>
                        </a:rPr>
                        <m:t>&lt;0)</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P</m:t>
                      </m:r>
                      <m:r>
                        <a:rPr lang="en-IN" sz="2800" i="0" dirty="0" smtClean="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0" dirty="0">
                          <a:solidFill>
                            <a:schemeClr val="tx2">
                              <a:lumMod val="50000"/>
                            </a:schemeClr>
                          </a:solidFill>
                          <a:latin typeface="Cambria Math" panose="02040503050406030204" pitchFamily="18" charset="0"/>
                          <a:ea typeface="Cambria Math" panose="02040503050406030204" pitchFamily="18" charset="0"/>
                        </a:rPr>
                        <m:t>Z</m:t>
                      </m:r>
                      <m:r>
                        <a:rPr lang="en-US" sz="2800" i="0" dirty="0">
                          <a:solidFill>
                            <a:schemeClr val="tx2">
                              <a:lumMod val="50000"/>
                            </a:schemeClr>
                          </a:solidFill>
                          <a:latin typeface="Cambria Math" panose="02040503050406030204" pitchFamily="18" charset="0"/>
                          <a:ea typeface="Cambria Math" panose="02040503050406030204" pitchFamily="18" charset="0"/>
                        </a:rPr>
                        <m:t>&lt;−1.36)=0.5−</m:t>
                      </m:r>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P</m:t>
                      </m:r>
                      <m:r>
                        <a:rPr lang="en-US" sz="2800" i="0" dirty="0" smtClean="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Z</m:t>
                      </m:r>
                      <m:r>
                        <a:rPr lang="en-US" sz="2800" i="0" dirty="0" smtClean="0">
                          <a:solidFill>
                            <a:schemeClr val="tx2">
                              <a:lumMod val="50000"/>
                            </a:schemeClr>
                          </a:solidFill>
                          <a:latin typeface="Cambria Math" panose="02040503050406030204" pitchFamily="18" charset="0"/>
                          <a:ea typeface="Cambria Math" panose="02040503050406030204" pitchFamily="18" charset="0"/>
                        </a:rPr>
                        <m:t>&lt;1.36)</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80767" y="801354"/>
                <a:ext cx="6399548" cy="2031325"/>
              </a:xfrm>
              <a:prstGeom prst="rect">
                <a:avLst/>
              </a:prstGeom>
              <a:blipFill rotWithShape="0">
                <a:blip r:embed="rId2"/>
                <a:stretch>
                  <a:fillRect l="-19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6665843" y="801354"/>
                <a:ext cx="5425512" cy="2031325"/>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P</m:t>
                      </m:r>
                      <m:r>
                        <a:rPr lang="en-IN" sz="2800" i="0" dirty="0" smtClean="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0" dirty="0">
                          <a:solidFill>
                            <a:schemeClr val="tx2">
                              <a:lumMod val="50000"/>
                            </a:schemeClr>
                          </a:solidFill>
                          <a:latin typeface="Cambria Math" panose="02040503050406030204" pitchFamily="18" charset="0"/>
                          <a:ea typeface="Cambria Math" panose="02040503050406030204" pitchFamily="18" charset="0"/>
                        </a:rPr>
                        <m:t>Z</m:t>
                      </m:r>
                      <m:r>
                        <a:rPr lang="en-US" sz="2800" i="0" dirty="0">
                          <a:solidFill>
                            <a:schemeClr val="tx2">
                              <a:lumMod val="50000"/>
                            </a:schemeClr>
                          </a:solidFill>
                          <a:latin typeface="Cambria Math" panose="02040503050406030204" pitchFamily="18" charset="0"/>
                          <a:ea typeface="Cambria Math" panose="02040503050406030204" pitchFamily="18" charset="0"/>
                        </a:rPr>
                        <m:t>&lt;−1.36)=0.5−</m:t>
                      </m:r>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P</m:t>
                      </m:r>
                      <m:r>
                        <a:rPr lang="en-US" sz="2800" i="0" dirty="0" smtClean="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z</m:t>
                      </m:r>
                      <m:r>
                        <a:rPr lang="en-US" sz="2800" i="0" dirty="0" smtClean="0">
                          <a:solidFill>
                            <a:schemeClr val="tx2">
                              <a:lumMod val="50000"/>
                            </a:schemeClr>
                          </a:solidFill>
                          <a:latin typeface="Cambria Math" panose="02040503050406030204" pitchFamily="18" charset="0"/>
                          <a:ea typeface="Cambria Math" panose="02040503050406030204" pitchFamily="18" charset="0"/>
                        </a:rPr>
                        <m:t>=1.36)</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i="0" dirty="0" smtClean="0">
                          <a:solidFill>
                            <a:schemeClr val="tx2">
                              <a:lumMod val="50000"/>
                            </a:schemeClr>
                          </a:solidFill>
                          <a:latin typeface="Cambria Math" panose="02040503050406030204" pitchFamily="18" charset="0"/>
                          <a:ea typeface="Cambria Math" panose="02040503050406030204" pitchFamily="18" charset="0"/>
                        </a:rPr>
                        <m:t>P</m:t>
                      </m:r>
                      <m:r>
                        <a:rPr lang="en-IN" sz="2800" i="0" dirty="0" smtClean="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0" dirty="0">
                          <a:solidFill>
                            <a:schemeClr val="tx2">
                              <a:lumMod val="50000"/>
                            </a:schemeClr>
                          </a:solidFill>
                          <a:latin typeface="Cambria Math" panose="02040503050406030204" pitchFamily="18" charset="0"/>
                          <a:ea typeface="Cambria Math" panose="02040503050406030204" pitchFamily="18" charset="0"/>
                        </a:rPr>
                        <m:t>Z</m:t>
                      </m:r>
                      <m:r>
                        <a:rPr lang="en-US" sz="2800" i="0" dirty="0">
                          <a:solidFill>
                            <a:schemeClr val="tx2">
                              <a:lumMod val="50000"/>
                            </a:schemeClr>
                          </a:solidFill>
                          <a:latin typeface="Cambria Math" panose="02040503050406030204" pitchFamily="18" charset="0"/>
                          <a:ea typeface="Cambria Math" panose="02040503050406030204" pitchFamily="18" charset="0"/>
                        </a:rPr>
                        <m:t>&lt;−1.36)=0.5−0.4131</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1" i="0" dirty="0" smtClean="0">
                          <a:solidFill>
                            <a:srgbClr val="FF0000"/>
                          </a:solidFill>
                          <a:latin typeface="Cambria Math" panose="02040503050406030204" pitchFamily="18" charset="0"/>
                          <a:ea typeface="Cambria Math" panose="02040503050406030204" pitchFamily="18" charset="0"/>
                        </a:rPr>
                        <m:t>𝐏</m:t>
                      </m:r>
                      <m:r>
                        <a:rPr lang="en-IN" sz="2800" b="1" i="0" dirty="0" smtClean="0">
                          <a:solidFill>
                            <a:srgbClr val="FF0000"/>
                          </a:solidFill>
                          <a:latin typeface="Cambria Math" panose="02040503050406030204" pitchFamily="18" charset="0"/>
                          <a:ea typeface="Cambria Math" panose="02040503050406030204" pitchFamily="18" charset="0"/>
                        </a:rPr>
                        <m:t>(</m:t>
                      </m:r>
                      <m:r>
                        <a:rPr lang="en-US" sz="2800" b="1" i="0" dirty="0">
                          <a:solidFill>
                            <a:srgbClr val="FF0000"/>
                          </a:solidFill>
                          <a:latin typeface="Cambria Math" panose="02040503050406030204" pitchFamily="18" charset="0"/>
                          <a:ea typeface="Cambria Math" panose="02040503050406030204" pitchFamily="18" charset="0"/>
                        </a:rPr>
                        <m:t>𝐙</m:t>
                      </m:r>
                      <m:r>
                        <a:rPr lang="en-US" sz="2800" b="1" i="0" dirty="0">
                          <a:solidFill>
                            <a:srgbClr val="FF0000"/>
                          </a:solidFill>
                          <a:latin typeface="Cambria Math" panose="02040503050406030204" pitchFamily="18" charset="0"/>
                          <a:ea typeface="Cambria Math" panose="02040503050406030204" pitchFamily="18" charset="0"/>
                        </a:rPr>
                        <m:t>&lt;−</m:t>
                      </m:r>
                      <m:r>
                        <a:rPr lang="en-US" sz="2800" b="1" i="0" dirty="0">
                          <a:solidFill>
                            <a:srgbClr val="FF0000"/>
                          </a:solidFill>
                          <a:latin typeface="Cambria Math" panose="02040503050406030204" pitchFamily="18" charset="0"/>
                          <a:ea typeface="Cambria Math" panose="02040503050406030204" pitchFamily="18" charset="0"/>
                        </a:rPr>
                        <m:t>𝟏</m:t>
                      </m:r>
                      <m:r>
                        <a:rPr lang="en-US" sz="2800" b="1" i="0" dirty="0">
                          <a:solidFill>
                            <a:srgbClr val="FF0000"/>
                          </a:solidFill>
                          <a:latin typeface="Cambria Math" panose="02040503050406030204" pitchFamily="18" charset="0"/>
                          <a:ea typeface="Cambria Math" panose="02040503050406030204" pitchFamily="18" charset="0"/>
                        </a:rPr>
                        <m:t>.</m:t>
                      </m:r>
                      <m:r>
                        <a:rPr lang="en-US" sz="2800" b="1" i="0" dirty="0">
                          <a:solidFill>
                            <a:srgbClr val="FF0000"/>
                          </a:solidFill>
                          <a:latin typeface="Cambria Math" panose="02040503050406030204" pitchFamily="18" charset="0"/>
                          <a:ea typeface="Cambria Math" panose="02040503050406030204" pitchFamily="18" charset="0"/>
                        </a:rPr>
                        <m:t>𝟑𝟔</m:t>
                      </m:r>
                      <m:r>
                        <a:rPr lang="en-US" sz="2800" b="1" i="0" dirty="0">
                          <a:solidFill>
                            <a:srgbClr val="FF0000"/>
                          </a:solidFill>
                          <a:latin typeface="Cambria Math" panose="02040503050406030204" pitchFamily="18" charset="0"/>
                          <a:ea typeface="Cambria Math" panose="02040503050406030204" pitchFamily="18" charset="0"/>
                        </a:rPr>
                        <m:t>)=</m:t>
                      </m:r>
                      <m:r>
                        <a:rPr lang="en-US" sz="2800" b="1" i="0" dirty="0" smtClean="0">
                          <a:solidFill>
                            <a:srgbClr val="FF0000"/>
                          </a:solidFill>
                          <a:latin typeface="Cambria Math" panose="02040503050406030204" pitchFamily="18" charset="0"/>
                          <a:ea typeface="Cambria Math" panose="02040503050406030204" pitchFamily="18" charset="0"/>
                        </a:rPr>
                        <m:t>𝟎</m:t>
                      </m:r>
                      <m:r>
                        <a:rPr lang="en-US" sz="2800" b="1" i="0" dirty="0" smtClean="0">
                          <a:solidFill>
                            <a:srgbClr val="FF0000"/>
                          </a:solidFill>
                          <a:latin typeface="Cambria Math" panose="02040503050406030204" pitchFamily="18" charset="0"/>
                          <a:ea typeface="Cambria Math" panose="02040503050406030204" pitchFamily="18" charset="0"/>
                        </a:rPr>
                        <m:t>.</m:t>
                      </m:r>
                      <m:r>
                        <a:rPr lang="en-US" sz="2800" b="1" i="0" dirty="0" smtClean="0">
                          <a:solidFill>
                            <a:srgbClr val="FF0000"/>
                          </a:solidFill>
                          <a:latin typeface="Cambria Math" panose="02040503050406030204" pitchFamily="18" charset="0"/>
                          <a:ea typeface="Cambria Math" panose="02040503050406030204" pitchFamily="18" charset="0"/>
                        </a:rPr>
                        <m:t>𝟎𝟖𝟔𝟗</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6665843" y="801354"/>
                <a:ext cx="5425512" cy="2031325"/>
              </a:xfrm>
              <a:prstGeom prst="rect">
                <a:avLst/>
              </a:prstGeom>
              <a:blipFill rotWithShape="0">
                <a:blip r:embed="rId3"/>
                <a:stretch>
                  <a:fillRect/>
                </a:stretch>
              </a:blipFill>
            </p:spPr>
            <p:txBody>
              <a:bodyPr/>
              <a:lstStyle/>
              <a:p>
                <a:r>
                  <a:rPr lang="en-IN">
                    <a:noFill/>
                  </a:rPr>
                  <a:t> </a:t>
                </a:r>
              </a:p>
            </p:txBody>
          </p:sp>
        </mc:Fallback>
      </mc:AlternateContent>
      <p:cxnSp>
        <p:nvCxnSpPr>
          <p:cNvPr id="7" name="Straight Connector 6"/>
          <p:cNvCxnSpPr/>
          <p:nvPr/>
        </p:nvCxnSpPr>
        <p:spPr>
          <a:xfrm>
            <a:off x="6480315" y="817217"/>
            <a:ext cx="0" cy="1846469"/>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6" name="Table 15"/>
              <p:cNvGraphicFramePr>
                <a:graphicFrameLocks noGrp="1"/>
              </p:cNvGraphicFramePr>
              <p:nvPr>
                <p:extLst>
                  <p:ext uri="{D42A27DB-BD31-4B8C-83A1-F6EECF244321}">
                    <p14:modId xmlns:p14="http://schemas.microsoft.com/office/powerpoint/2010/main" val="1569698633"/>
                  </p:ext>
                </p:extLst>
              </p:nvPr>
            </p:nvGraphicFramePr>
            <p:xfrm>
              <a:off x="569843" y="3154019"/>
              <a:ext cx="11092069" cy="2769704"/>
            </p:xfrm>
            <a:graphic>
              <a:graphicData uri="http://schemas.openxmlformats.org/drawingml/2006/table">
                <a:tbl>
                  <a:tblPr firstRow="1" bandRow="1">
                    <a:tableStyleId>{5C22544A-7EE6-4342-B048-85BDC9FD1C3A}</a:tableStyleId>
                  </a:tblPr>
                  <a:tblGrid>
                    <a:gridCol w="11092069">
                      <a:extLst>
                        <a:ext uri="{9D8B030D-6E8A-4147-A177-3AD203B41FA5}">
                          <a16:colId xmlns:a16="http://schemas.microsoft.com/office/drawing/2014/main" val="20000"/>
                        </a:ext>
                      </a:extLst>
                    </a:gridCol>
                  </a:tblGrid>
                  <a:tr h="2083299">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86405">
                    <a:tc>
                      <a:txBody>
                        <a:bodyPr/>
                        <a:lstStyle/>
                        <a:p>
                          <a:r>
                            <a:rPr lang="en-US" sz="2600" kern="1200" dirty="0">
                              <a:solidFill>
                                <a:schemeClr val="dk1"/>
                              </a:solidFill>
                              <a:effectLst/>
                              <a:ea typeface="+mn-ea"/>
                              <a:cs typeface="+mn-cs"/>
                            </a:rPr>
                            <a:t>      </a:t>
                          </a:r>
                          <a14:m>
                            <m:oMath xmlns:m="http://schemas.openxmlformats.org/officeDocument/2006/math">
                              <m:r>
                                <a:rPr lang="en-US" sz="2600" i="1" kern="1200" smtClean="0">
                                  <a:solidFill>
                                    <a:schemeClr val="dk1"/>
                                  </a:solidFill>
                                  <a:effectLst/>
                                  <a:latin typeface="Cambria Math" panose="02040503050406030204" pitchFamily="18" charset="0"/>
                                  <a:ea typeface="+mn-ea"/>
                                  <a:cs typeface="+mn-cs"/>
                                </a:rPr>
                                <m:t>−1.36</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−1.36</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16" name="Table 15"/>
              <p:cNvGraphicFramePr>
                <a:graphicFrameLocks noGrp="1"/>
              </p:cNvGraphicFramePr>
              <p:nvPr>
                <p:extLst>
                  <p:ext uri="{D42A27DB-BD31-4B8C-83A1-F6EECF244321}">
                    <p14:modId xmlns:p14="http://schemas.microsoft.com/office/powerpoint/2010/main" val="1569698633"/>
                  </p:ext>
                </p:extLst>
              </p:nvPr>
            </p:nvGraphicFramePr>
            <p:xfrm>
              <a:off x="569843" y="3154019"/>
              <a:ext cx="11092069" cy="2769704"/>
            </p:xfrm>
            <a:graphic>
              <a:graphicData uri="http://schemas.openxmlformats.org/drawingml/2006/table">
                <a:tbl>
                  <a:tblPr firstRow="1" bandRow="1">
                    <a:tableStyleId>{5C22544A-7EE6-4342-B048-85BDC9FD1C3A}</a:tableStyleId>
                  </a:tblPr>
                  <a:tblGrid>
                    <a:gridCol w="11092069"/>
                  </a:tblGrid>
                  <a:tr h="2083299">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686405">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02655"/>
                          </a:stretch>
                        </a:blipFill>
                      </a:tcPr>
                    </a:tc>
                  </a:tr>
                </a:tbl>
              </a:graphicData>
            </a:graphic>
          </p:graphicFrame>
        </mc:Fallback>
      </mc:AlternateContent>
      <p:pic>
        <p:nvPicPr>
          <p:cNvPr id="22" name="Picture 21"/>
          <p:cNvPicPr/>
          <p:nvPr/>
        </p:nvPicPr>
        <p:blipFill>
          <a:blip r:embed="rId5">
            <a:extLst>
              <a:ext uri="{28A0092B-C50C-407E-A947-70E740481C1C}">
                <a14:useLocalDpi xmlns:a14="http://schemas.microsoft.com/office/drawing/2010/main" val="0"/>
              </a:ext>
            </a:extLst>
          </a:blip>
          <a:srcRect/>
          <a:stretch>
            <a:fillRect/>
          </a:stretch>
        </p:blipFill>
        <p:spPr bwMode="auto">
          <a:xfrm>
            <a:off x="556591" y="3254596"/>
            <a:ext cx="10959547" cy="2059526"/>
          </a:xfrm>
          <a:prstGeom prst="rect">
            <a:avLst/>
          </a:prstGeom>
          <a:noFill/>
        </p:spPr>
      </p:pic>
    </p:spTree>
    <p:extLst>
      <p:ext uri="{BB962C8B-B14F-4D97-AF65-F5344CB8AC3E}">
        <p14:creationId xmlns:p14="http://schemas.microsoft.com/office/powerpoint/2010/main" val="370752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500"/>
                                        <p:tgtEl>
                                          <p:spTgt spid="22"/>
                                        </p:tgtEl>
                                      </p:cBhvr>
                                    </p:animEffect>
                                  </p:childTnLst>
                                </p:cTn>
                              </p:par>
                              <p:par>
                                <p:cTn id="12" presetID="22" presetClass="entr" presetSubtype="1"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up)">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33774" y="801354"/>
                <a:ext cx="11882215" cy="5317161"/>
              </a:xfrm>
              <a:prstGeom prst="rect">
                <a:avLst/>
              </a:prstGeom>
            </p:spPr>
            <p:txBody>
              <a:bodyPr wrap="square">
                <a:spAutoFit/>
              </a:bodyPr>
              <a:lstStyle/>
              <a:p>
                <a:pPr lvl="0"/>
                <a:r>
                  <a:rPr lang="en-US" sz="2800" dirty="0">
                    <a:solidFill>
                      <a:srgbClr val="FF0000"/>
                    </a:solidFill>
                  </a:rPr>
                  <a:t>(b) To find the probabilities that it will take a value between 16.5 and 18.8,  </a:t>
                </a:r>
                <a14:m>
                  <m:oMath xmlns:m="http://schemas.openxmlformats.org/officeDocument/2006/math">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𝟏𝟔</m:t>
                    </m:r>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𝟓</m:t>
                    </m:r>
                    <m:r>
                      <a:rPr lang="en-US" sz="2800">
                        <a:solidFill>
                          <a:srgbClr val="FF0000"/>
                        </a:solidFill>
                        <a:latin typeface="Cambria Math" panose="02040503050406030204" pitchFamily="18" charset="0"/>
                      </a:rPr>
                      <m:t>&lt;</m:t>
                    </m:r>
                    <m:r>
                      <a:rPr lang="en-US" sz="2800">
                        <a:solidFill>
                          <a:srgbClr val="FF0000"/>
                        </a:solidFill>
                        <a:latin typeface="Cambria Math" panose="02040503050406030204" pitchFamily="18" charset="0"/>
                      </a:rPr>
                      <m:t>𝐗</m:t>
                    </m:r>
                    <m:r>
                      <a:rPr lang="en-US" sz="2800">
                        <a:solidFill>
                          <a:srgbClr val="FF0000"/>
                        </a:solidFill>
                        <a:latin typeface="Cambria Math" panose="02040503050406030204" pitchFamily="18" charset="0"/>
                      </a:rPr>
                      <m:t>&lt;</m:t>
                    </m:r>
                    <m:r>
                      <a:rPr lang="en-US" sz="2800">
                        <a:solidFill>
                          <a:srgbClr val="FF0000"/>
                        </a:solidFill>
                        <a:latin typeface="Cambria Math" panose="02040503050406030204" pitchFamily="18" charset="0"/>
                      </a:rPr>
                      <m:t>𝟏𝟖</m:t>
                    </m:r>
                    <m:r>
                      <a:rPr lang="en-US" sz="2800">
                        <a:solidFill>
                          <a:srgbClr val="FF0000"/>
                        </a:solidFill>
                        <a:latin typeface="Cambria Math" panose="02040503050406030204" pitchFamily="18" charset="0"/>
                      </a:rPr>
                      <m:t>.</m:t>
                    </m:r>
                    <m:r>
                      <a:rPr lang="en-US" sz="2800">
                        <a:solidFill>
                          <a:srgbClr val="FF0000"/>
                        </a:solidFill>
                        <a:latin typeface="Cambria Math" panose="02040503050406030204" pitchFamily="18" charset="0"/>
                      </a:rPr>
                      <m:t>𝟖</m:t>
                    </m:r>
                    <m:r>
                      <a:rPr lang="en-US" sz="2800">
                        <a:solidFill>
                          <a:srgbClr val="FF0000"/>
                        </a:solidFill>
                        <a:latin typeface="Cambria Math" panose="02040503050406030204" pitchFamily="18" charset="0"/>
                      </a:rPr>
                      <m:t>)</m:t>
                    </m:r>
                  </m:oMath>
                </a14:m>
                <a:endParaRPr lang="en-IN" sz="2800" dirty="0"/>
              </a:p>
              <a:p>
                <a:pPr>
                  <a:lnSpc>
                    <a:spcPct val="150000"/>
                  </a:lnSpc>
                </a:pPr>
                <a:r>
                  <a:rPr lang="en-US" sz="2800" dirty="0">
                    <a:solidFill>
                      <a:schemeClr val="tx2">
                        <a:lumMod val="50000"/>
                      </a:schemeClr>
                    </a:solidFill>
                  </a:rPr>
                  <a:t>For</a:t>
                </a:r>
                <a:r>
                  <a:rPr lang="en-US" sz="2800" dirty="0">
                    <a:solidFill>
                      <a:schemeClr val="tx2">
                        <a:lumMod val="50000"/>
                      </a:schemeClr>
                    </a:solidFill>
                    <a:latin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16</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5</m:t>
                    </m:r>
                    <m:r>
                      <a:rPr lang="en-US" sz="2800" b="0">
                        <a:solidFill>
                          <a:schemeClr val="tx2">
                            <a:lumMod val="50000"/>
                          </a:schemeClr>
                        </a:solidFill>
                        <a:latin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rPr>
                      <m:t>Z</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1</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36</m:t>
                    </m:r>
                  </m:oMath>
                </a14:m>
                <a:r>
                  <a:rPr lang="en-US" sz="2800" dirty="0">
                    <a:solidFill>
                      <a:schemeClr val="tx2">
                        <a:lumMod val="50000"/>
                      </a:schemeClr>
                    </a:solidFill>
                    <a:latin typeface="Cambria Math" panose="02040503050406030204" pitchFamily="18" charset="0"/>
                  </a:rPr>
                  <a:t>,</a:t>
                </a:r>
                <a:endParaRPr lang="en-IN" sz="2800" dirty="0">
                  <a:solidFill>
                    <a:schemeClr val="tx2">
                      <a:lumMod val="50000"/>
                    </a:schemeClr>
                  </a:solidFill>
                  <a:latin typeface="Cambria Math" panose="02040503050406030204" pitchFamily="18" charset="0"/>
                </a:endParaRPr>
              </a:p>
              <a:p>
                <a:pPr>
                  <a:lnSpc>
                    <a:spcPct val="150000"/>
                  </a:lnSpc>
                </a:pPr>
                <a:r>
                  <a:rPr lang="en-US" sz="2800" dirty="0">
                    <a:solidFill>
                      <a:schemeClr val="tx2">
                        <a:lumMod val="50000"/>
                      </a:schemeClr>
                    </a:solidFill>
                  </a:rPr>
                  <a:t>For, </a:t>
                </a:r>
                <a14:m>
                  <m:oMath xmlns:m="http://schemas.openxmlformats.org/officeDocument/2006/math">
                    <m:r>
                      <m:rPr>
                        <m:sty m:val="p"/>
                      </m:rPr>
                      <a:rPr lang="en-IN" sz="2800">
                        <a:solidFill>
                          <a:srgbClr val="002060"/>
                        </a:solidFill>
                        <a:latin typeface="Cambria Math" panose="02040503050406030204" pitchFamily="18" charset="0"/>
                      </a:rPr>
                      <m:t>x</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18</m:t>
                    </m:r>
                    <m:r>
                      <a:rPr lang="en-US" sz="2800" b="0">
                        <a:solidFill>
                          <a:schemeClr val="tx2">
                            <a:lumMod val="50000"/>
                          </a:schemeClr>
                        </a:solidFill>
                        <a:latin typeface="Cambria Math" panose="02040503050406030204" pitchFamily="18" charset="0"/>
                      </a:rPr>
                      <m:t>.</m:t>
                    </m:r>
                    <m:r>
                      <a:rPr lang="en-US" sz="2800" b="0" i="1">
                        <a:solidFill>
                          <a:schemeClr val="tx2">
                            <a:lumMod val="50000"/>
                          </a:schemeClr>
                        </a:solidFill>
                        <a:latin typeface="Cambria Math" panose="02040503050406030204" pitchFamily="18" charset="0"/>
                      </a:rPr>
                      <m:t>8</m:t>
                    </m:r>
                  </m:oMath>
                </a14:m>
                <a:endParaRPr lang="en-IN" sz="2800" dirty="0">
                  <a:solidFill>
                    <a:schemeClr val="tx2">
                      <a:lumMod val="50000"/>
                    </a:schemeClr>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Z</m:t>
                      </m:r>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a:solidFill>
                                <a:schemeClr val="tx2">
                                  <a:lumMod val="50000"/>
                                </a:schemeClr>
                              </a:solidFill>
                              <a:latin typeface="Cambria Math" panose="02040503050406030204" pitchFamily="18" charset="0"/>
                            </a:rPr>
                            <m:t>−</m:t>
                          </m:r>
                          <m:r>
                            <m:rPr>
                              <m:sty m:val="p"/>
                            </m:rPr>
                            <a:rPr lang="en-US" sz="2800">
                              <a:solidFill>
                                <a:schemeClr val="tx2">
                                  <a:lumMod val="50000"/>
                                </a:schemeClr>
                              </a:solidFill>
                              <a:latin typeface="Cambria Math" panose="02040503050406030204" pitchFamily="18" charset="0"/>
                            </a:rPr>
                            <m:t>μ</m:t>
                          </m:r>
                          <m:r>
                            <a:rPr lang="en-US" sz="2800">
                              <a:solidFill>
                                <a:schemeClr val="tx2">
                                  <a:lumMod val="50000"/>
                                </a:schemeClr>
                              </a:solidFill>
                              <a:latin typeface="Cambria Math" panose="02040503050406030204" pitchFamily="18" charset="0"/>
                            </a:rPr>
                            <m:t> </m:t>
                          </m:r>
                        </m:num>
                        <m:den>
                          <m:r>
                            <m:rPr>
                              <m:sty m:val="p"/>
                            </m:rPr>
                            <a:rPr lang="en-US" sz="2800">
                              <a:solidFill>
                                <a:schemeClr val="tx2">
                                  <a:lumMod val="50000"/>
                                </a:schemeClr>
                              </a:solidFill>
                              <a:latin typeface="Cambria Math" panose="02040503050406030204" pitchFamily="18" charset="0"/>
                            </a:rPr>
                            <m:t>σ</m:t>
                          </m:r>
                          <m:r>
                            <a:rPr lang="en-US" sz="2800">
                              <a:solidFill>
                                <a:schemeClr val="tx2">
                                  <a:lumMod val="50000"/>
                                </a:schemeClr>
                              </a:solidFill>
                              <a:latin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rPr>
                        <m:t>Z</m:t>
                      </m:r>
                      <m:r>
                        <a:rPr lang="en-US" sz="2800">
                          <a:solidFill>
                            <a:schemeClr val="tx2">
                              <a:lumMod val="50000"/>
                            </a:schemeClr>
                          </a:solidFill>
                          <a:latin typeface="Cambria Math" panose="02040503050406030204" pitchFamily="18" charset="0"/>
                        </a:rPr>
                        <m:t>=</m:t>
                      </m:r>
                      <m:f>
                        <m:fPr>
                          <m:ctrlPr>
                            <a:rPr lang="en-IN" sz="2800" i="1">
                              <a:solidFill>
                                <a:schemeClr val="tx2">
                                  <a:lumMod val="50000"/>
                                </a:schemeClr>
                              </a:solidFill>
                              <a:latin typeface="Cambria Math" panose="02040503050406030204" pitchFamily="18" charset="0"/>
                            </a:rPr>
                          </m:ctrlPr>
                        </m:fPr>
                        <m:num>
                          <m:r>
                            <a:rPr lang="en-US" sz="2800">
                              <a:solidFill>
                                <a:schemeClr val="tx2">
                                  <a:lumMod val="50000"/>
                                </a:schemeClr>
                              </a:solidFill>
                              <a:latin typeface="Cambria Math" panose="02040503050406030204" pitchFamily="18" charset="0"/>
                            </a:rPr>
                            <m:t> 18.8−18.2 </m:t>
                          </m:r>
                        </m:num>
                        <m:den>
                          <m:r>
                            <a:rPr lang="en-US" sz="2800">
                              <a:solidFill>
                                <a:schemeClr val="tx2">
                                  <a:lumMod val="50000"/>
                                </a:schemeClr>
                              </a:solidFill>
                              <a:latin typeface="Cambria Math" panose="02040503050406030204" pitchFamily="18" charset="0"/>
                            </a:rPr>
                            <m:t>1.25 </m:t>
                          </m:r>
                        </m:den>
                      </m:f>
                      <m:r>
                        <a:rPr lang="en-US" sz="2800">
                          <a:solidFill>
                            <a:schemeClr val="tx2">
                              <a:lumMod val="50000"/>
                            </a:schemeClr>
                          </a:solidFill>
                          <a:latin typeface="Cambria Math" panose="02040503050406030204" pitchFamily="18" charset="0"/>
                        </a:rPr>
                        <m:t>=0.48</m:t>
                      </m:r>
                    </m:oMath>
                  </m:oMathPara>
                </a14:m>
                <a:endParaRPr lang="en-IN" sz="2800" dirty="0">
                  <a:solidFill>
                    <a:schemeClr val="tx2">
                      <a:lumMod val="50000"/>
                    </a:schemeClr>
                  </a:solidFill>
                  <a:latin typeface="Cambria Math" panose="02040503050406030204" pitchFamily="18" charset="0"/>
                </a:endParaRPr>
              </a:p>
              <a:p>
                <a:pPr>
                  <a:lnSpc>
                    <a:spcPct val="150000"/>
                  </a:lnSpc>
                </a:pPr>
                <a:r>
                  <a:rPr lang="en-US" sz="2800" dirty="0">
                    <a:solidFill>
                      <a:schemeClr val="tx2">
                        <a:lumMod val="50000"/>
                      </a:schemeClr>
                    </a:solidFill>
                    <a:latin typeface="Cambria Math" panose="02040503050406030204" pitchFamily="18" charset="0"/>
                  </a:rPr>
                  <a:t>We find </a:t>
                </a:r>
                <a14:m>
                  <m:oMath xmlns:m="http://schemas.openxmlformats.org/officeDocument/2006/math">
                    <m:r>
                      <m:rPr>
                        <m:sty m:val="p"/>
                      </m:rPr>
                      <a:rPr lang="en-US" sz="2800">
                        <a:solidFill>
                          <a:schemeClr val="tx2">
                            <a:lumMod val="50000"/>
                          </a:schemeClr>
                        </a:solidFill>
                        <a:latin typeface="Cambria Math" panose="02040503050406030204" pitchFamily="18" charset="0"/>
                      </a:rPr>
                      <m:t>P</m:t>
                    </m:r>
                    <m:r>
                      <a:rPr lang="en-US" sz="2800">
                        <a:solidFill>
                          <a:schemeClr val="tx2">
                            <a:lumMod val="50000"/>
                          </a:schemeClr>
                        </a:solidFill>
                        <a:latin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rPr>
                      <m:t>Z</m:t>
                    </m:r>
                    <m:r>
                      <a:rPr lang="en-US" sz="2800">
                        <a:solidFill>
                          <a:schemeClr val="tx2">
                            <a:lumMod val="50000"/>
                          </a:schemeClr>
                        </a:solidFill>
                        <a:latin typeface="Cambria Math" panose="02040503050406030204" pitchFamily="18" charset="0"/>
                      </a:rPr>
                      <m:t>&lt;0.48)</m:t>
                    </m:r>
                  </m:oMath>
                </a14:m>
                <a:endParaRPr lang="en-IN" sz="2800" dirty="0">
                  <a:solidFill>
                    <a:schemeClr val="tx2">
                      <a:lumMod val="50000"/>
                    </a:schemeClr>
                  </a:solidFill>
                  <a:latin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3774" y="801354"/>
                <a:ext cx="11882215" cy="5317161"/>
              </a:xfrm>
              <a:prstGeom prst="rect">
                <a:avLst/>
              </a:prstGeom>
              <a:blipFill rotWithShape="0">
                <a:blip r:embed="rId2"/>
                <a:stretch>
                  <a:fillRect l="-1077" t="-1145"/>
                </a:stretch>
              </a:blipFill>
            </p:spPr>
            <p:txBody>
              <a:bodyPr/>
              <a:lstStyle/>
              <a:p>
                <a:r>
                  <a:rPr lang="en-IN">
                    <a:noFill/>
                  </a:rPr>
                  <a:t> </a:t>
                </a:r>
              </a:p>
            </p:txBody>
          </p:sp>
        </mc:Fallback>
      </mc:AlternateContent>
    </p:spTree>
    <p:extLst>
      <p:ext uri="{BB962C8B-B14F-4D97-AF65-F5344CB8AC3E}">
        <p14:creationId xmlns:p14="http://schemas.microsoft.com/office/powerpoint/2010/main" val="147825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33774" y="801354"/>
                <a:ext cx="11882215"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&lt;1.36</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3774" y="801354"/>
                <a:ext cx="11882215" cy="2031325"/>
              </a:xfrm>
              <a:prstGeom prst="rect">
                <a:avLst/>
              </a:prstGeom>
              <a:blipFill rotWithShape="0">
                <a:blip r:embed="rId2"/>
                <a:stretch>
                  <a:fillRect l="-10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97073865"/>
                  </p:ext>
                </p:extLst>
              </p:nvPr>
            </p:nvGraphicFramePr>
            <p:xfrm>
              <a:off x="643944" y="3155324"/>
              <a:ext cx="10779617" cy="2781837"/>
            </p:xfrm>
            <a:graphic>
              <a:graphicData uri="http://schemas.openxmlformats.org/drawingml/2006/table">
                <a:tbl>
                  <a:tblPr firstRow="1" bandRow="1">
                    <a:tableStyleId>{5C22544A-7EE6-4342-B048-85BDC9FD1C3A}</a:tableStyleId>
                  </a:tblPr>
                  <a:tblGrid>
                    <a:gridCol w="10779617">
                      <a:extLst>
                        <a:ext uri="{9D8B030D-6E8A-4147-A177-3AD203B41FA5}">
                          <a16:colId xmlns:a16="http://schemas.microsoft.com/office/drawing/2014/main" val="20000"/>
                        </a:ext>
                      </a:extLst>
                    </a:gridCol>
                  </a:tblGrid>
                  <a:tr h="2150772">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31065">
                    <a:tc>
                      <a:txBody>
                        <a:bodyPr/>
                        <a:lstStyle/>
                        <a:p>
                          <a:r>
                            <a:rPr lang="en-US" sz="2600" kern="1200" dirty="0">
                              <a:solidFill>
                                <a:schemeClr val="dk1"/>
                              </a:solidFill>
                              <a:effectLst/>
                              <a:ea typeface="+mn-ea"/>
                              <a:cs typeface="+mn-cs"/>
                            </a:rPr>
                            <a:t>     </a:t>
                          </a:r>
                          <a14:m>
                            <m:oMath xmlns:m="http://schemas.openxmlformats.org/officeDocument/2006/math">
                              <m:r>
                                <a:rPr lang="en-US" sz="2600" i="1" kern="1200" smtClean="0">
                                  <a:solidFill>
                                    <a:schemeClr val="dk1"/>
                                  </a:solidFill>
                                  <a:effectLst/>
                                  <a:latin typeface="Cambria Math" panose="02040503050406030204" pitchFamily="18" charset="0"/>
                                  <a:ea typeface="+mn-ea"/>
                                  <a:cs typeface="+mn-cs"/>
                                </a:rPr>
                                <m:t>−1.36</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0.48</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r>
                                <a:rPr lang="en-US" sz="2600" i="1" kern="1200">
                                  <a:solidFill>
                                    <a:schemeClr val="dk1"/>
                                  </a:solidFill>
                                  <a:effectLst/>
                                  <a:latin typeface="Cambria Math" panose="02040503050406030204" pitchFamily="18" charset="0"/>
                                  <a:ea typeface="+mn-ea"/>
                                  <a:cs typeface="+mn-cs"/>
                                </a:rPr>
                                <m:t>1.36</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0.48</m:t>
                              </m:r>
                            </m:oMath>
                          </a14:m>
                          <a:r>
                            <a:rPr lang="en-US" sz="2600" kern="1200" dirty="0">
                              <a:solidFill>
                                <a:schemeClr val="dk1"/>
                              </a:solidFill>
                              <a:effectLst/>
                              <a:latin typeface="+mn-lt"/>
                              <a:ea typeface="+mn-ea"/>
                              <a:cs typeface="+mn-cs"/>
                            </a:rPr>
                            <a:t> </a:t>
                          </a:r>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97073865"/>
                  </p:ext>
                </p:extLst>
              </p:nvPr>
            </p:nvGraphicFramePr>
            <p:xfrm>
              <a:off x="643944" y="3155324"/>
              <a:ext cx="10779617" cy="2781837"/>
            </p:xfrm>
            <a:graphic>
              <a:graphicData uri="http://schemas.openxmlformats.org/drawingml/2006/table">
                <a:tbl>
                  <a:tblPr firstRow="1" bandRow="1">
                    <a:tableStyleId>{5C22544A-7EE6-4342-B048-85BDC9FD1C3A}</a:tableStyleId>
                  </a:tblPr>
                  <a:tblGrid>
                    <a:gridCol w="10779617"/>
                  </a:tblGrid>
                  <a:tr h="2150772">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631065">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39423"/>
                          </a:stretch>
                        </a:blipFill>
                      </a:tcPr>
                    </a:tc>
                  </a:tr>
                </a:tbl>
              </a:graphicData>
            </a:graphic>
          </p:graphicFrame>
        </mc:Fallback>
      </mc:AlternateContent>
      <p:pic>
        <p:nvPicPr>
          <p:cNvPr id="7" name="Picture 6"/>
          <p:cNvPicPr/>
          <p:nvPr/>
        </p:nvPicPr>
        <p:blipFill rotWithShape="1">
          <a:blip r:embed="rId4">
            <a:extLst>
              <a:ext uri="{28A0092B-C50C-407E-A947-70E740481C1C}">
                <a14:useLocalDpi xmlns:a14="http://schemas.microsoft.com/office/drawing/2010/main" val="0"/>
              </a:ext>
            </a:extLst>
          </a:blip>
          <a:srcRect l="11298" t="44712" r="29910" b="35591"/>
          <a:stretch/>
        </p:blipFill>
        <p:spPr bwMode="auto">
          <a:xfrm>
            <a:off x="772732" y="3155324"/>
            <a:ext cx="10509161" cy="21507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53643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par>
                                <p:cTn id="12" presetID="22" presetClass="entr" presetSubtype="1"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2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33774" y="801354"/>
                <a:ext cx="11882215" cy="3970318"/>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&lt;1.36</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=1.36</m:t>
                          </m:r>
                        </m:e>
                      </m:d>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=0.48)</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−1.36&lt;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&lt;0.48</m:t>
                          </m:r>
                        </m:e>
                      </m:d>
                      <m:r>
                        <a:rPr lang="en-US" sz="2800">
                          <a:solidFill>
                            <a:schemeClr val="tx2">
                              <a:lumMod val="50000"/>
                            </a:schemeClr>
                          </a:solidFill>
                          <a:latin typeface="Cambria Math" panose="02040503050406030204" pitchFamily="18" charset="0"/>
                          <a:ea typeface="Cambria Math" panose="02040503050406030204" pitchFamily="18" charset="0"/>
                        </a:rPr>
                        <m:t>=0.4131+0.1843</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𝟏</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𝟑𝟔</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𝟒𝟖</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𝟓𝟗𝟕𝟒</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33774" y="801354"/>
                <a:ext cx="11882215" cy="3970318"/>
              </a:xfrm>
              <a:prstGeom prst="rect">
                <a:avLst/>
              </a:prstGeom>
              <a:blipFill rotWithShape="0">
                <a:blip r:embed="rId2"/>
                <a:stretch>
                  <a:fillRect l="-1077"/>
                </a:stretch>
              </a:blipFill>
            </p:spPr>
            <p:txBody>
              <a:bodyPr/>
              <a:lstStyle/>
              <a:p>
                <a:r>
                  <a:rPr lang="en-IN">
                    <a:noFill/>
                  </a:rPr>
                  <a:t> </a:t>
                </a:r>
              </a:p>
            </p:txBody>
          </p:sp>
        </mc:Fallback>
      </mc:AlternateContent>
    </p:spTree>
    <p:extLst>
      <p:ext uri="{BB962C8B-B14F-4D97-AF65-F5344CB8AC3E}">
        <p14:creationId xmlns:p14="http://schemas.microsoft.com/office/powerpoint/2010/main" val="263004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80"/>
                <a:ext cx="11929643" cy="3793072"/>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The compressive strength of the sample of cement can be modelled by normal distribution with mean 6000</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kg</m:t>
                    </m:r>
                    <m:r>
                      <a:rPr lang="en-US">
                        <a:latin typeface="Cambria Math" panose="02040503050406030204" pitchFamily="18" charset="0"/>
                      </a:rPr>
                      <m:t>/</m:t>
                    </m:r>
                    <m:r>
                      <m:rPr>
                        <m:sty m:val="p"/>
                      </m:rPr>
                      <a:rPr lang="en-US">
                        <a:latin typeface="Cambria Math" panose="02040503050406030204" pitchFamily="18" charset="0"/>
                      </a:rPr>
                      <m:t>c</m:t>
                    </m:r>
                    <m:sSup>
                      <m:sSupPr>
                        <m:ctrlPr>
                          <a:rPr lang="en-IN" i="1">
                            <a:latin typeface="Cambria Math" panose="02040503050406030204" pitchFamily="18" charset="0"/>
                          </a:rPr>
                        </m:ctrlPr>
                      </m:sSupPr>
                      <m:e>
                        <m:r>
                          <m:rPr>
                            <m:sty m:val="p"/>
                          </m:rPr>
                          <a:rPr lang="en-US">
                            <a:latin typeface="Cambria Math" panose="02040503050406030204" pitchFamily="18" charset="0"/>
                          </a:rPr>
                          <m:t>m</m:t>
                        </m:r>
                      </m:e>
                      <m:sup>
                        <m:r>
                          <a:rPr lang="en-US">
                            <a:latin typeface="Cambria Math" panose="02040503050406030204" pitchFamily="18" charset="0"/>
                          </a:rPr>
                          <m:t>2</m:t>
                        </m:r>
                      </m:sup>
                    </m:sSup>
                    <m:r>
                      <a:rPr lang="en-US">
                        <a:latin typeface="Cambria Math" panose="02040503050406030204" pitchFamily="18" charset="0"/>
                      </a:rPr>
                      <m:t> </m:t>
                    </m:r>
                  </m:oMath>
                </a14:m>
                <a:r>
                  <a:rPr lang="en-US" dirty="0"/>
                  <a:t>and standard deviation 100</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kg</m:t>
                    </m:r>
                    <m:r>
                      <a:rPr lang="en-US">
                        <a:latin typeface="Cambria Math" panose="02040503050406030204" pitchFamily="18" charset="0"/>
                      </a:rPr>
                      <m:t>/</m:t>
                    </m:r>
                    <m:r>
                      <m:rPr>
                        <m:sty m:val="p"/>
                      </m:rPr>
                      <a:rPr lang="en-US">
                        <a:latin typeface="Cambria Math" panose="02040503050406030204" pitchFamily="18" charset="0"/>
                      </a:rPr>
                      <m:t>c</m:t>
                    </m:r>
                    <m:sSup>
                      <m:sSupPr>
                        <m:ctrlPr>
                          <a:rPr lang="en-IN" i="1">
                            <a:latin typeface="Cambria Math" panose="02040503050406030204" pitchFamily="18" charset="0"/>
                          </a:rPr>
                        </m:ctrlPr>
                      </m:sSupPr>
                      <m:e>
                        <m:r>
                          <m:rPr>
                            <m:sty m:val="p"/>
                          </m:rPr>
                          <a:rPr lang="en-US">
                            <a:latin typeface="Cambria Math" panose="02040503050406030204" pitchFamily="18" charset="0"/>
                          </a:rPr>
                          <m:t>m</m:t>
                        </m:r>
                      </m:e>
                      <m:sup>
                        <m:r>
                          <a:rPr lang="en-US">
                            <a:latin typeface="Cambria Math" panose="02040503050406030204" pitchFamily="18" charset="0"/>
                          </a:rPr>
                          <m:t>2</m:t>
                        </m:r>
                      </m:sup>
                    </m:sSup>
                  </m:oMath>
                </a14:m>
                <a:r>
                  <a:rPr lang="en-US" dirty="0"/>
                  <a:t>. </a:t>
                </a:r>
                <a:endParaRPr lang="en-IN" dirty="0"/>
              </a:p>
              <a:p>
                <a:r>
                  <a:rPr lang="en-US" dirty="0"/>
                  <a:t>(a)   What is the probability that a sample strength is less than 6250</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kg</m:t>
                    </m:r>
                    <m:r>
                      <a:rPr lang="en-US">
                        <a:latin typeface="Cambria Math" panose="02040503050406030204" pitchFamily="18" charset="0"/>
                      </a:rPr>
                      <m:t>/</m:t>
                    </m:r>
                    <m:r>
                      <m:rPr>
                        <m:sty m:val="p"/>
                      </m:rPr>
                      <a:rPr lang="en-US">
                        <a:latin typeface="Cambria Math" panose="02040503050406030204" pitchFamily="18" charset="0"/>
                      </a:rPr>
                      <m:t>c</m:t>
                    </m:r>
                    <m:sSup>
                      <m:sSupPr>
                        <m:ctrlPr>
                          <a:rPr lang="en-IN" i="1">
                            <a:latin typeface="Cambria Math" panose="02040503050406030204" pitchFamily="18" charset="0"/>
                          </a:rPr>
                        </m:ctrlPr>
                      </m:sSupPr>
                      <m:e>
                        <m:r>
                          <m:rPr>
                            <m:sty m:val="p"/>
                          </m:rPr>
                          <a:rPr lang="en-US">
                            <a:latin typeface="Cambria Math" panose="02040503050406030204" pitchFamily="18" charset="0"/>
                          </a:rPr>
                          <m:t>m</m:t>
                        </m:r>
                      </m:e>
                      <m:sup>
                        <m:r>
                          <a:rPr lang="en-US">
                            <a:latin typeface="Cambria Math" panose="02040503050406030204" pitchFamily="18" charset="0"/>
                          </a:rPr>
                          <m:t>2</m:t>
                        </m:r>
                      </m:sup>
                    </m:sSup>
                  </m:oMath>
                </a14:m>
                <a:r>
                  <a:rPr lang="en-US" dirty="0"/>
                  <a:t>?</a:t>
                </a:r>
                <a:endParaRPr lang="en-IN" dirty="0"/>
              </a:p>
              <a:p>
                <a:r>
                  <a:rPr lang="en-US" dirty="0"/>
                  <a:t>(b)   What is probability if sample strength is between 5800 and 5900</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kg</m:t>
                    </m:r>
                    <m:r>
                      <a:rPr lang="en-US">
                        <a:latin typeface="Cambria Math" panose="02040503050406030204" pitchFamily="18" charset="0"/>
                      </a:rPr>
                      <m:t>/</m:t>
                    </m:r>
                    <m:r>
                      <m:rPr>
                        <m:sty m:val="p"/>
                      </m:rPr>
                      <a:rPr lang="en-US">
                        <a:latin typeface="Cambria Math" panose="02040503050406030204" pitchFamily="18" charset="0"/>
                      </a:rPr>
                      <m:t>c</m:t>
                    </m:r>
                    <m:sSup>
                      <m:sSupPr>
                        <m:ctrlPr>
                          <a:rPr lang="en-IN" i="1">
                            <a:latin typeface="Cambria Math" panose="02040503050406030204" pitchFamily="18" charset="0"/>
                          </a:rPr>
                        </m:ctrlPr>
                      </m:sSupPr>
                      <m:e>
                        <m:r>
                          <m:rPr>
                            <m:sty m:val="p"/>
                          </m:rPr>
                          <a:rPr lang="en-US">
                            <a:latin typeface="Cambria Math" panose="02040503050406030204" pitchFamily="18" charset="0"/>
                          </a:rPr>
                          <m:t>m</m:t>
                        </m:r>
                      </m:e>
                      <m:sup>
                        <m:r>
                          <a:rPr lang="en-US">
                            <a:latin typeface="Cambria Math" panose="02040503050406030204" pitchFamily="18" charset="0"/>
                          </a:rPr>
                          <m:t>2</m:t>
                        </m:r>
                      </m:sup>
                    </m:sSup>
                  </m:oMath>
                </a14:m>
                <a:r>
                  <a:rPr lang="en-US" dirty="0"/>
                  <a:t>?</a:t>
                </a:r>
                <a:endParaRPr lang="en-IN" dirty="0"/>
              </a:p>
              <a:p>
                <a:r>
                  <a:rPr lang="en-US" dirty="0"/>
                  <a:t>(c)   What strength is exceeded by 95% of the samples?</a:t>
                </a:r>
                <a:endParaRPr lang="en-IN" dirty="0"/>
              </a:p>
              <a:p>
                <a:pPr/>
                <a14:m>
                  <m:oMathPara xmlns:m="http://schemas.openxmlformats.org/officeDocument/2006/math">
                    <m:oMathParaPr>
                      <m:jc m:val="left"/>
                    </m:oMathParaPr>
                    <m:oMath xmlns:m="http://schemas.openxmlformats.org/officeDocument/2006/math">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P</m:t>
                      </m:r>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z</m:t>
                      </m:r>
                      <m:r>
                        <a:rPr lang="en-US" sz="2400">
                          <a:latin typeface="Cambria Math" panose="02040503050406030204" pitchFamily="18" charset="0"/>
                          <a:ea typeface="Cambria Math" panose="02040503050406030204" pitchFamily="18" charset="0"/>
                        </a:rPr>
                        <m:t>=2.5)=0.4938, </m:t>
                      </m:r>
                      <m:r>
                        <m:rPr>
                          <m:sty m:val="p"/>
                        </m:rPr>
                        <a:rPr lang="en-US" sz="2400">
                          <a:latin typeface="Cambria Math" panose="02040503050406030204" pitchFamily="18" charset="0"/>
                          <a:ea typeface="Cambria Math" panose="02040503050406030204" pitchFamily="18" charset="0"/>
                        </a:rPr>
                        <m:t>P</m:t>
                      </m:r>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z</m:t>
                      </m:r>
                      <m:r>
                        <a:rPr lang="en-US" sz="2400">
                          <a:latin typeface="Cambria Math" panose="02040503050406030204" pitchFamily="18" charset="0"/>
                          <a:ea typeface="Cambria Math" panose="02040503050406030204" pitchFamily="18" charset="0"/>
                        </a:rPr>
                        <m:t>=1)=0.3413, </m:t>
                      </m:r>
                      <m:r>
                        <m:rPr>
                          <m:sty m:val="p"/>
                        </m:rPr>
                        <a:rPr lang="en-US" sz="2400">
                          <a:latin typeface="Cambria Math" panose="02040503050406030204" pitchFamily="18" charset="0"/>
                          <a:ea typeface="Cambria Math" panose="02040503050406030204" pitchFamily="18" charset="0"/>
                        </a:rPr>
                        <m:t>P</m:t>
                      </m:r>
                      <m:r>
                        <a:rPr lang="en-US" sz="2400">
                          <a:latin typeface="Cambria Math" panose="02040503050406030204" pitchFamily="18" charset="0"/>
                          <a:ea typeface="Cambria Math" panose="02040503050406030204" pitchFamily="18" charset="0"/>
                        </a:rPr>
                        <m:t>(</m:t>
                      </m:r>
                      <m:r>
                        <m:rPr>
                          <m:sty m:val="p"/>
                        </m:rPr>
                        <a:rPr lang="en-US" sz="2400">
                          <a:latin typeface="Cambria Math" panose="02040503050406030204" pitchFamily="18" charset="0"/>
                          <a:ea typeface="Cambria Math" panose="02040503050406030204" pitchFamily="18" charset="0"/>
                        </a:rPr>
                        <m:t>z</m:t>
                      </m:r>
                      <m:r>
                        <a:rPr lang="en-US" sz="2400">
                          <a:latin typeface="Cambria Math" panose="02040503050406030204" pitchFamily="18" charset="0"/>
                          <a:ea typeface="Cambria Math" panose="02040503050406030204" pitchFamily="18" charset="0"/>
                        </a:rPr>
                        <m:t>=2)=0.4773, </m:t>
                      </m:r>
                      <m:r>
                        <m:rPr>
                          <m:sty m:val="p"/>
                        </m:rPr>
                        <a:rPr lang="en-US" sz="2400">
                          <a:latin typeface="Cambria Math" panose="02040503050406030204" pitchFamily="18" charset="0"/>
                        </a:rPr>
                        <m:t>P</m:t>
                      </m:r>
                      <m:d>
                        <m:dPr>
                          <m:ctrlPr>
                            <a:rPr lang="en-IN" sz="2400" i="1">
                              <a:latin typeface="Cambria Math" panose="02040503050406030204" pitchFamily="18" charset="0"/>
                            </a:rPr>
                          </m:ctrlPr>
                        </m:dPr>
                        <m:e>
                          <m:r>
                            <m:rPr>
                              <m:sty m:val="p"/>
                            </m:rPr>
                            <a:rPr lang="en-US" sz="2400">
                              <a:latin typeface="Cambria Math" panose="02040503050406030204" pitchFamily="18" charset="0"/>
                            </a:rPr>
                            <m:t>z</m:t>
                          </m:r>
                          <m:r>
                            <a:rPr lang="en-US" sz="2400">
                              <a:latin typeface="Cambria Math" panose="02040503050406030204" pitchFamily="18" charset="0"/>
                            </a:rPr>
                            <m:t>=1.65</m:t>
                          </m:r>
                        </m:e>
                      </m:d>
                      <m:r>
                        <a:rPr lang="en-US" sz="2400">
                          <a:latin typeface="Cambria Math" panose="02040503050406030204" pitchFamily="18" charset="0"/>
                        </a:rPr>
                        <m:t>=0.4505]</m:t>
                      </m:r>
                    </m:oMath>
                  </m:oMathPara>
                </a14:m>
                <a:endParaRPr lang="en-IN" sz="2400"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80"/>
                <a:ext cx="11929643" cy="3793072"/>
              </a:xfrm>
              <a:prstGeom prst="rect">
                <a:avLst/>
              </a:prstGeom>
              <a:blipFill rotWithShape="0">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3</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5036353"/>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4927169"/>
                <a:ext cx="10290991" cy="66684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Mean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μ</m:t>
                    </m:r>
                    <m:r>
                      <a:rPr lang="en-US" i="0" dirty="0" smtClean="0">
                        <a:solidFill>
                          <a:schemeClr val="tx2">
                            <a:lumMod val="50000"/>
                          </a:schemeClr>
                        </a:solidFill>
                        <a:latin typeface="Cambria Math" panose="02040503050406030204" pitchFamily="18" charset="0"/>
                      </a:rPr>
                      <m:t>=6000</m:t>
                    </m:r>
                  </m:oMath>
                </a14:m>
                <a:r>
                  <a:rPr lang="en-US" dirty="0">
                    <a:solidFill>
                      <a:schemeClr val="tx2">
                        <a:lumMod val="50000"/>
                      </a:schemeClr>
                    </a:solidFill>
                  </a:rPr>
                  <a:t> and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σ</m:t>
                    </m:r>
                    <m:r>
                      <a:rPr lang="en-US" i="0" dirty="0" smtClean="0">
                        <a:solidFill>
                          <a:schemeClr val="tx2">
                            <a:lumMod val="50000"/>
                          </a:schemeClr>
                        </a:solidFill>
                        <a:latin typeface="Cambria Math" panose="02040503050406030204" pitchFamily="18" charset="0"/>
                      </a:rPr>
                      <m:t>=100</m:t>
                    </m:r>
                  </m:oMath>
                </a14:m>
                <a:endParaRPr lang="en-US" dirty="0">
                  <a:solidFill>
                    <a:schemeClr val="tx2">
                      <a:lumMod val="50000"/>
                    </a:schemeClr>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4927169"/>
                <a:ext cx="10290991" cy="666849"/>
              </a:xfrm>
              <a:prstGeom prst="rect">
                <a:avLst/>
              </a:prstGeom>
              <a:blipFill rotWithShape="0">
                <a:blip r:embed="rId3"/>
                <a:stretch>
                  <a:fillRect l="-1185" b="-24545"/>
                </a:stretch>
              </a:blipFill>
            </p:spPr>
            <p:txBody>
              <a:bodyPr/>
              <a:lstStyle/>
              <a:p>
                <a:r>
                  <a:rPr lang="en-IN">
                    <a:noFill/>
                  </a:rPr>
                  <a:t> </a:t>
                </a:r>
              </a:p>
            </p:txBody>
          </p:sp>
        </mc:Fallback>
      </mc:AlternateContent>
    </p:spTree>
    <p:extLst>
      <p:ext uri="{BB962C8B-B14F-4D97-AF65-F5344CB8AC3E}">
        <p14:creationId xmlns:p14="http://schemas.microsoft.com/office/powerpoint/2010/main" val="170713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9">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(a) To find the probabilities that a sample strength is less than 6250,  </a:t>
                </a:r>
                <a14:m>
                  <m:oMath xmlns:m="http://schemas.openxmlformats.org/officeDocument/2006/math">
                    <m:r>
                      <a:rPr lang="en-IN"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𝐗</m:t>
                    </m:r>
                    <m:r>
                      <a:rPr lang="en-US" b="1" i="0" dirty="0" smtClean="0">
                        <a:solidFill>
                          <a:srgbClr val="FF0000"/>
                        </a:solidFill>
                        <a:latin typeface="Cambria Math" panose="02040503050406030204" pitchFamily="18" charset="0"/>
                      </a:rPr>
                      <m:t>&lt;</m:t>
                    </m:r>
                    <m:r>
                      <a:rPr lang="en-US" b="1" i="0" dirty="0" smtClean="0">
                        <a:solidFill>
                          <a:srgbClr val="FF0000"/>
                        </a:solidFill>
                        <a:latin typeface="Cambria Math" panose="02040503050406030204" pitchFamily="18" charset="0"/>
                      </a:rPr>
                      <m:t>𝟔𝟐𝟓𝟎</m:t>
                    </m:r>
                    <m:r>
                      <a:rPr lang="en-US" b="1" i="0" dirty="0" smtClean="0">
                        <a:solidFill>
                          <a:srgbClr val="FF0000"/>
                        </a:solidFill>
                        <a:latin typeface="Cambria Math" panose="02040503050406030204" pitchFamily="18" charset="0"/>
                      </a:rPr>
                      <m:t>)</m:t>
                    </m:r>
                  </m:oMath>
                </a14:m>
                <a:endParaRPr lang="en-IN" b="1" dirty="0">
                  <a:solidFill>
                    <a:srgbClr val="FF0000"/>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480131"/>
              </a:xfrm>
              <a:prstGeom prst="rect">
                <a:avLst/>
              </a:prstGeom>
              <a:blipFill rotWithShape="0">
                <a:blip r:embed="rId2"/>
                <a:stretch>
                  <a:fillRect l="-1016" t="-22785" b="-3417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597320"/>
                <a:ext cx="3974586" cy="4468596"/>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=6250</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6250−6000 </m:t>
                          </m:r>
                        </m:num>
                        <m:den>
                          <m:r>
                            <a:rPr lang="en-US" sz="2800" b="0" i="0">
                              <a:solidFill>
                                <a:schemeClr val="tx2">
                                  <a:lumMod val="50000"/>
                                </a:schemeClr>
                              </a:solidFill>
                              <a:latin typeface="Cambria Math" panose="02040503050406030204" pitchFamily="18" charset="0"/>
                              <a:ea typeface="Cambria Math" panose="02040503050406030204" pitchFamily="18" charset="0"/>
                            </a:rPr>
                            <m:t>100 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=2.5</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&lt;2.5)</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597320"/>
                <a:ext cx="3974586" cy="4468596"/>
              </a:xfrm>
              <a:prstGeom prst="rect">
                <a:avLst/>
              </a:prstGeom>
              <a:blipFill rotWithShape="0">
                <a:blip r:embed="rId3"/>
                <a:stretch>
                  <a:fillRect l="-3067"/>
                </a:stretch>
              </a:blipFill>
            </p:spPr>
            <p:txBody>
              <a:bodyPr/>
              <a:lstStyle/>
              <a:p>
                <a:r>
                  <a:rPr lang="en-IN">
                    <a:noFill/>
                  </a:rPr>
                  <a:t> </a:t>
                </a:r>
              </a:p>
            </p:txBody>
          </p:sp>
        </mc:Fallback>
      </mc:AlternateContent>
    </p:spTree>
    <p:extLst>
      <p:ext uri="{BB962C8B-B14F-4D97-AF65-F5344CB8AC3E}">
        <p14:creationId xmlns:p14="http://schemas.microsoft.com/office/powerpoint/2010/main" val="531252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66626" y="776210"/>
                <a:ext cx="6088214"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&lt;2.5)</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&lt;2.5</m:t>
                          </m:r>
                        </m:e>
                      </m:d>
                      <m:r>
                        <a:rPr lang="en-US" sz="2800">
                          <a:solidFill>
                            <a:schemeClr val="tx2">
                              <a:lumMod val="50000"/>
                            </a:schemeClr>
                          </a:solidFill>
                          <a:latin typeface="Cambria Math" panose="02040503050406030204" pitchFamily="18" charset="0"/>
                          <a:ea typeface="Cambria Math" panose="02040503050406030204" pitchFamily="18" charset="0"/>
                        </a:rPr>
                        <m:t>=0.5+</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&lt;2.5)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&lt;2.5</m:t>
                          </m:r>
                        </m:e>
                      </m:d>
                      <m:r>
                        <a:rPr lang="en-US" sz="2800">
                          <a:solidFill>
                            <a:schemeClr val="tx2">
                              <a:lumMod val="50000"/>
                            </a:schemeClr>
                          </a:solidFill>
                          <a:latin typeface="Cambria Math" panose="02040503050406030204" pitchFamily="18" charset="0"/>
                          <a:ea typeface="Cambria Math" panose="02040503050406030204" pitchFamily="18" charset="0"/>
                        </a:rPr>
                        <m:t>=0.5+</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=2.5)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66626" y="776210"/>
                <a:ext cx="6088214" cy="2031325"/>
              </a:xfrm>
              <a:prstGeom prst="rect">
                <a:avLst/>
              </a:prstGeom>
              <a:blipFill rotWithShape="0">
                <a:blip r:embed="rId2"/>
                <a:stretch>
                  <a:fillRect l="-200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705600" y="776210"/>
                <a:ext cx="5486400" cy="1384995"/>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&lt;2.5</m:t>
                          </m:r>
                        </m:e>
                      </m:d>
                      <m:r>
                        <a:rPr lang="en-US" sz="2800">
                          <a:solidFill>
                            <a:schemeClr val="tx2">
                              <a:lumMod val="50000"/>
                            </a:schemeClr>
                          </a:solidFill>
                          <a:latin typeface="Cambria Math" panose="02040503050406030204" pitchFamily="18" charset="0"/>
                          <a:ea typeface="Cambria Math" panose="02040503050406030204" pitchFamily="18" charset="0"/>
                        </a:rPr>
                        <m:t>=0.5+0.4938</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𝟐</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𝟓</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𝟗𝟗𝟑𝟖</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705600" y="776210"/>
                <a:ext cx="5486400" cy="1384995"/>
              </a:xfrm>
              <a:prstGeom prst="rect">
                <a:avLst/>
              </a:prstGeom>
              <a:blipFill rotWithShape="0">
                <a:blip r:embed="rId3"/>
                <a:stretch>
                  <a:fillRect/>
                </a:stretch>
              </a:blipFill>
            </p:spPr>
            <p:txBody>
              <a:bodyPr/>
              <a:lstStyle/>
              <a:p>
                <a:r>
                  <a:rPr lang="en-IN">
                    <a:noFill/>
                  </a:rPr>
                  <a:t> </a:t>
                </a:r>
              </a:p>
            </p:txBody>
          </p:sp>
        </mc:Fallback>
      </mc:AlternateContent>
      <p:cxnSp>
        <p:nvCxnSpPr>
          <p:cNvPr id="6" name="Straight Connector 5"/>
          <p:cNvCxnSpPr/>
          <p:nvPr/>
        </p:nvCxnSpPr>
        <p:spPr>
          <a:xfrm>
            <a:off x="6431597" y="776210"/>
            <a:ext cx="0" cy="186097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534905407"/>
                  </p:ext>
                </p:extLst>
              </p:nvPr>
            </p:nvGraphicFramePr>
            <p:xfrm>
              <a:off x="496956" y="2968486"/>
              <a:ext cx="11198087" cy="2915479"/>
            </p:xfrm>
            <a:graphic>
              <a:graphicData uri="http://schemas.openxmlformats.org/drawingml/2006/table">
                <a:tbl>
                  <a:tblPr firstRow="1" bandRow="1">
                    <a:tableStyleId>{5C22544A-7EE6-4342-B048-85BDC9FD1C3A}</a:tableStyleId>
                  </a:tblPr>
                  <a:tblGrid>
                    <a:gridCol w="11198087">
                      <a:extLst>
                        <a:ext uri="{9D8B030D-6E8A-4147-A177-3AD203B41FA5}">
                          <a16:colId xmlns:a16="http://schemas.microsoft.com/office/drawing/2014/main" val="20000"/>
                        </a:ext>
                      </a:extLst>
                    </a:gridCol>
                  </a:tblGrid>
                  <a:tr h="242515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90329">
                    <a:tc>
                      <a:txBody>
                        <a:bodyPr/>
                        <a:lstStyle/>
                        <a:p>
                          <a14:m>
                            <m:oMath xmlns:m="http://schemas.openxmlformats.org/officeDocument/2006/math">
                              <m:r>
                                <a:rPr lang="en-US" sz="2600" b="1" i="1" kern="1200" smtClean="0">
                                  <a:solidFill>
                                    <a:schemeClr val="dk1"/>
                                  </a:solidFill>
                                  <a:effectLst/>
                                  <a:latin typeface="Cambria Math" panose="02040503050406030204" pitchFamily="18" charset="0"/>
                                  <a:ea typeface="+mn-ea"/>
                                  <a:cs typeface="+mn-cs"/>
                                </a:rPr>
                                <m:t>−∞</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2.5</m:t>
                              </m:r>
                            </m:oMath>
                          </a14:m>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2.5</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534905407"/>
                  </p:ext>
                </p:extLst>
              </p:nvPr>
            </p:nvGraphicFramePr>
            <p:xfrm>
              <a:off x="496956" y="2968486"/>
              <a:ext cx="11198087" cy="2915479"/>
            </p:xfrm>
            <a:graphic>
              <a:graphicData uri="http://schemas.openxmlformats.org/drawingml/2006/table">
                <a:tbl>
                  <a:tblPr firstRow="1" bandRow="1">
                    <a:tableStyleId>{5C22544A-7EE6-4342-B048-85BDC9FD1C3A}</a:tableStyleId>
                  </a:tblPr>
                  <a:tblGrid>
                    <a:gridCol w="11198087"/>
                  </a:tblGrid>
                  <a:tr h="242515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90329">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492593"/>
                          </a:stretch>
                        </a:blipFill>
                      </a:tcPr>
                    </a:tc>
                  </a:tr>
                </a:tbl>
              </a:graphicData>
            </a:graphic>
          </p:graphicFrame>
        </mc:Fallback>
      </mc:AlternateContent>
      <p:pic>
        <p:nvPicPr>
          <p:cNvPr id="9" name="Picture 8"/>
          <p:cNvPicPr/>
          <p:nvPr/>
        </p:nvPicPr>
        <p:blipFill rotWithShape="1">
          <a:blip r:embed="rId5">
            <a:extLst>
              <a:ext uri="{28A0092B-C50C-407E-A947-70E740481C1C}">
                <a14:useLocalDpi xmlns:a14="http://schemas.microsoft.com/office/drawing/2010/main" val="0"/>
              </a:ext>
            </a:extLst>
          </a:blip>
          <a:srcRect l="1" t="9318" r="-883"/>
          <a:stretch/>
        </p:blipFill>
        <p:spPr bwMode="auto">
          <a:xfrm>
            <a:off x="569843" y="2968487"/>
            <a:ext cx="11078818" cy="234563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4540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par>
                                <p:cTn id="12" presetID="22" presetClass="entr" presetSubtype="1"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(b) To find the probabilities that a sample strength is between 5800 and 5900,  </a:t>
                </a:r>
                <a14:m>
                  <m:oMath xmlns:m="http://schemas.openxmlformats.org/officeDocument/2006/math">
                    <m:r>
                      <a:rPr lang="en-IN"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𝟓𝟖𝟎𝟎</m:t>
                    </m:r>
                    <m:r>
                      <a:rPr lang="en-US" b="1" i="0" dirty="0" smtClean="0">
                        <a:solidFill>
                          <a:srgbClr val="FF0000"/>
                        </a:solidFill>
                        <a:latin typeface="Cambria Math" panose="02040503050406030204" pitchFamily="18" charset="0"/>
                      </a:rPr>
                      <m:t>&lt;</m:t>
                    </m:r>
                    <m:r>
                      <a:rPr lang="en-US" b="1" i="0" dirty="0" smtClean="0">
                        <a:solidFill>
                          <a:srgbClr val="FF0000"/>
                        </a:solidFill>
                        <a:latin typeface="Cambria Math" panose="02040503050406030204" pitchFamily="18" charset="0"/>
                      </a:rPr>
                      <m:t>𝐗</m:t>
                    </m:r>
                    <m:r>
                      <a:rPr lang="en-US" b="1" i="0" dirty="0" smtClean="0">
                        <a:solidFill>
                          <a:srgbClr val="FF0000"/>
                        </a:solidFill>
                        <a:latin typeface="Cambria Math" panose="02040503050406030204" pitchFamily="18" charset="0"/>
                      </a:rPr>
                      <m:t>&lt;</m:t>
                    </m:r>
                    <m:r>
                      <a:rPr lang="en-US" b="1" i="0" dirty="0" smtClean="0">
                        <a:solidFill>
                          <a:srgbClr val="FF0000"/>
                        </a:solidFill>
                        <a:latin typeface="Cambria Math" panose="02040503050406030204" pitchFamily="18" charset="0"/>
                      </a:rPr>
                      <m:t>𝟓𝟗𝟎𝟎</m:t>
                    </m:r>
                    <m:r>
                      <a:rPr lang="en-US" b="1" i="0" dirty="0" smtClean="0">
                        <a:solidFill>
                          <a:srgbClr val="FF0000"/>
                        </a:solidFill>
                        <a:latin typeface="Cambria Math" panose="02040503050406030204" pitchFamily="18" charset="0"/>
                      </a:rPr>
                      <m:t>)</m:t>
                    </m:r>
                  </m:oMath>
                </a14:m>
                <a:endParaRPr lang="en-IN" b="1" dirty="0">
                  <a:solidFill>
                    <a:srgbClr val="FF0000"/>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364656" y="1607527"/>
                <a:ext cx="5702848" cy="1966051"/>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=5900</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5900−6000 </m:t>
                          </m:r>
                        </m:num>
                        <m:den>
                          <m:r>
                            <a:rPr lang="en-US" sz="2800" b="0" i="0">
                              <a:solidFill>
                                <a:schemeClr val="tx2">
                                  <a:lumMod val="50000"/>
                                </a:schemeClr>
                              </a:solidFill>
                              <a:latin typeface="Cambria Math" panose="02040503050406030204" pitchFamily="18" charset="0"/>
                              <a:ea typeface="Cambria Math" panose="02040503050406030204" pitchFamily="18" charset="0"/>
                            </a:rPr>
                            <m:t>100 </m:t>
                          </m:r>
                        </m:den>
                      </m:f>
                      <m:r>
                        <a:rPr lang="en-US" sz="2800" b="0" i="0">
                          <a:solidFill>
                            <a:schemeClr val="tx2">
                              <a:lumMod val="50000"/>
                            </a:schemeClr>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𝟏</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364656" y="1607527"/>
                <a:ext cx="5702848" cy="1966051"/>
              </a:xfrm>
              <a:prstGeom prst="rect">
                <a:avLst/>
              </a:prstGeom>
              <a:blipFill rotWithShape="0">
                <a:blip r:embed="rId3"/>
                <a:stretch>
                  <a:fillRect l="-213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9380" y="1620779"/>
                <a:ext cx="5702848" cy="1966051"/>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=5800</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5800−6000 </m:t>
                          </m:r>
                        </m:num>
                        <m:den>
                          <m:r>
                            <a:rPr lang="en-US" sz="2800" b="0" i="0">
                              <a:solidFill>
                                <a:schemeClr val="tx2">
                                  <a:lumMod val="50000"/>
                                </a:schemeClr>
                              </a:solidFill>
                              <a:latin typeface="Cambria Math" panose="02040503050406030204" pitchFamily="18" charset="0"/>
                              <a:ea typeface="Cambria Math" panose="02040503050406030204" pitchFamily="18" charset="0"/>
                            </a:rPr>
                            <m:t>100 </m:t>
                          </m:r>
                        </m:den>
                      </m:f>
                      <m:r>
                        <a:rPr lang="en-US" sz="2800" b="0" i="0">
                          <a:solidFill>
                            <a:schemeClr val="tx2">
                              <a:lumMod val="50000"/>
                            </a:schemeClr>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𝟐</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9380" y="1620779"/>
                <a:ext cx="5702848" cy="1966051"/>
              </a:xfrm>
              <a:prstGeom prst="rect">
                <a:avLst/>
              </a:prstGeom>
              <a:blipFill rotWithShape="0">
                <a:blip r:embed="rId4"/>
                <a:stretch>
                  <a:fillRect l="-2137"/>
                </a:stretch>
              </a:blipFill>
            </p:spPr>
            <p:txBody>
              <a:bodyPr/>
              <a:lstStyle/>
              <a:p>
                <a:r>
                  <a:rPr lang="en-IN">
                    <a:noFill/>
                  </a:rPr>
                  <a:t> </a:t>
                </a:r>
              </a:p>
            </p:txBody>
          </p:sp>
        </mc:Fallback>
      </mc:AlternateContent>
      <p:cxnSp>
        <p:nvCxnSpPr>
          <p:cNvPr id="6" name="Straight Connector 5"/>
          <p:cNvCxnSpPr/>
          <p:nvPr/>
        </p:nvCxnSpPr>
        <p:spPr>
          <a:xfrm>
            <a:off x="6100292" y="1660535"/>
            <a:ext cx="0" cy="186097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2580812724"/>
                  </p:ext>
                </p:extLst>
              </p:nvPr>
            </p:nvGraphicFramePr>
            <p:xfrm>
              <a:off x="501248" y="3591339"/>
              <a:ext cx="11198087" cy="2714045"/>
            </p:xfrm>
            <a:graphic>
              <a:graphicData uri="http://schemas.openxmlformats.org/drawingml/2006/table">
                <a:tbl>
                  <a:tblPr firstRow="1" bandRow="1">
                    <a:tableStyleId>{5C22544A-7EE6-4342-B048-85BDC9FD1C3A}</a:tableStyleId>
                  </a:tblPr>
                  <a:tblGrid>
                    <a:gridCol w="11198087">
                      <a:extLst>
                        <a:ext uri="{9D8B030D-6E8A-4147-A177-3AD203B41FA5}">
                          <a16:colId xmlns:a16="http://schemas.microsoft.com/office/drawing/2014/main" val="20000"/>
                        </a:ext>
                      </a:extLst>
                    </a:gridCol>
                  </a:tblGrid>
                  <a:tr h="2226365">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63826">
                    <a:tc>
                      <a:txBody>
                        <a:bodyPr/>
                        <a:lstStyle/>
                        <a:p>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1</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1</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580812724"/>
                  </p:ext>
                </p:extLst>
              </p:nvPr>
            </p:nvGraphicFramePr>
            <p:xfrm>
              <a:off x="501248" y="3591339"/>
              <a:ext cx="11198087" cy="2714045"/>
            </p:xfrm>
            <a:graphic>
              <a:graphicData uri="http://schemas.openxmlformats.org/drawingml/2006/table">
                <a:tbl>
                  <a:tblPr firstRow="1" bandRow="1">
                    <a:tableStyleId>{5C22544A-7EE6-4342-B048-85BDC9FD1C3A}</a:tableStyleId>
                  </a:tblPr>
                  <a:tblGrid>
                    <a:gridCol w="11198087"/>
                  </a:tblGrid>
                  <a:tr h="2226365">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t="-457500"/>
                          </a:stretch>
                        </a:blipFill>
                      </a:tcPr>
                    </a:tc>
                  </a:tr>
                </a:tbl>
              </a:graphicData>
            </a:graphic>
          </p:graphicFrame>
        </mc:Fallback>
      </mc:AlternateContent>
      <p:pic>
        <p:nvPicPr>
          <p:cNvPr id="8" name="Picture 7"/>
          <p:cNvPicPr/>
          <p:nvPr/>
        </p:nvPicPr>
        <p:blipFill>
          <a:blip r:embed="rId6">
            <a:extLst>
              <a:ext uri="{28A0092B-C50C-407E-A947-70E740481C1C}">
                <a14:useLocalDpi xmlns:a14="http://schemas.microsoft.com/office/drawing/2010/main" val="0"/>
              </a:ext>
            </a:extLst>
          </a:blip>
          <a:srcRect/>
          <a:stretch>
            <a:fillRect/>
          </a:stretch>
        </p:blipFill>
        <p:spPr bwMode="auto">
          <a:xfrm>
            <a:off x="675861" y="3697358"/>
            <a:ext cx="10906539" cy="2107094"/>
          </a:xfrm>
          <a:prstGeom prst="rect">
            <a:avLst/>
          </a:prstGeom>
          <a:noFill/>
          <a:ln>
            <a:noFill/>
          </a:ln>
        </p:spPr>
      </p:pic>
    </p:spTree>
    <p:extLst>
      <p:ext uri="{BB962C8B-B14F-4D97-AF65-F5344CB8AC3E}">
        <p14:creationId xmlns:p14="http://schemas.microsoft.com/office/powerpoint/2010/main" val="204896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500"/>
                                        <p:tgtEl>
                                          <p:spTgt spid="8"/>
                                        </p:tgtEl>
                                      </p:cBhvr>
                                    </p:animEffect>
                                  </p:childTnLst>
                                </p:cTn>
                              </p:par>
                              <p:par>
                                <p:cTn id="33" presetID="22" presetClass="entr" presetSubtype="1"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up)">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(b) To find the probabilities that a sample strength is between 5800 and 5900,  </a:t>
                </a:r>
                <a14:m>
                  <m:oMath xmlns:m="http://schemas.openxmlformats.org/officeDocument/2006/math">
                    <m:r>
                      <a:rPr lang="en-IN" b="1" i="0" dirty="0" smtClean="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𝟓𝟖𝟎𝟎</m:t>
                    </m:r>
                    <m:r>
                      <a:rPr lang="en-US" b="1" i="0" dirty="0" smtClean="0">
                        <a:solidFill>
                          <a:srgbClr val="FF0000"/>
                        </a:solidFill>
                        <a:latin typeface="Cambria Math" panose="02040503050406030204" pitchFamily="18" charset="0"/>
                      </a:rPr>
                      <m:t>&lt;</m:t>
                    </m:r>
                    <m:r>
                      <a:rPr lang="en-US" b="1" i="0" dirty="0" smtClean="0">
                        <a:solidFill>
                          <a:srgbClr val="FF0000"/>
                        </a:solidFill>
                        <a:latin typeface="Cambria Math" panose="02040503050406030204" pitchFamily="18" charset="0"/>
                      </a:rPr>
                      <m:t>𝐗</m:t>
                    </m:r>
                    <m:r>
                      <a:rPr lang="en-US" b="1" i="0" dirty="0" smtClean="0">
                        <a:solidFill>
                          <a:srgbClr val="FF0000"/>
                        </a:solidFill>
                        <a:latin typeface="Cambria Math" panose="02040503050406030204" pitchFamily="18" charset="0"/>
                      </a:rPr>
                      <m:t>&lt;</m:t>
                    </m:r>
                    <m:r>
                      <a:rPr lang="en-US" b="1" i="0" dirty="0" smtClean="0">
                        <a:solidFill>
                          <a:srgbClr val="FF0000"/>
                        </a:solidFill>
                        <a:latin typeface="Cambria Math" panose="02040503050406030204" pitchFamily="18" charset="0"/>
                      </a:rPr>
                      <m:t>𝟓𝟗𝟎𝟎</m:t>
                    </m:r>
                    <m:r>
                      <a:rPr lang="en-US" b="1" i="0" dirty="0" smtClean="0">
                        <a:solidFill>
                          <a:srgbClr val="FF0000"/>
                        </a:solidFill>
                        <a:latin typeface="Cambria Math" panose="02040503050406030204" pitchFamily="18" charset="0"/>
                      </a:rPr>
                      <m:t>)</m:t>
                    </m:r>
                  </m:oMath>
                </a14:m>
                <a:endParaRPr lang="en-IN" b="1" dirty="0">
                  <a:solidFill>
                    <a:srgbClr val="FF0000"/>
                  </a:solidFill>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9379" y="1905897"/>
                <a:ext cx="10414023" cy="3970318"/>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We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(−2&lt;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4773</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3413</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𝟐</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𝟏</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𝟏𝟑𝟔𝟎</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9379" y="1905897"/>
                <a:ext cx="10414023" cy="3970318"/>
              </a:xfrm>
              <a:prstGeom prst="rect">
                <a:avLst/>
              </a:prstGeom>
              <a:blipFill rotWithShape="0">
                <a:blip r:embed="rId3"/>
                <a:stretch>
                  <a:fillRect l="-1170"/>
                </a:stretch>
              </a:blipFill>
            </p:spPr>
            <p:txBody>
              <a:bodyPr/>
              <a:lstStyle/>
              <a:p>
                <a:r>
                  <a:rPr lang="en-IN">
                    <a:noFill/>
                  </a:rPr>
                  <a:t> </a:t>
                </a:r>
              </a:p>
            </p:txBody>
          </p:sp>
        </mc:Fallback>
      </mc:AlternateContent>
    </p:spTree>
    <p:extLst>
      <p:ext uri="{BB962C8B-B14F-4D97-AF65-F5344CB8AC3E}">
        <p14:creationId xmlns:p14="http://schemas.microsoft.com/office/powerpoint/2010/main" val="239469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57342"/>
                <a:ext cx="11998124" cy="99617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dirty="0">
                    <a:solidFill>
                      <a:srgbClr val="FF0000"/>
                    </a:solidFill>
                  </a:rPr>
                  <a:t>(c) To find the strength that exceeded by 95% of the samples</a:t>
                </a:r>
              </a:p>
              <a:p>
                <a:pPr marL="0" lvl="0" indent="0">
                  <a:buNone/>
                </a:pPr>
                <a:r>
                  <a:rPr lang="en-US" dirty="0">
                    <a:solidFill>
                      <a:srgbClr val="FF0000"/>
                    </a:solidFill>
                  </a:rPr>
                  <a:t>That is, </a:t>
                </a:r>
                <a14:m>
                  <m:oMath xmlns:m="http://schemas.openxmlformats.org/officeDocument/2006/math">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&gt;</m:t>
                        </m:r>
                        <m:r>
                          <a:rPr lang="en-US" b="1" i="0">
                            <a:solidFill>
                              <a:srgbClr val="FF0000"/>
                            </a:solidFill>
                            <a:latin typeface="Cambria Math" panose="02040503050406030204" pitchFamily="18" charset="0"/>
                          </a:rPr>
                          <m:t>𝐱</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𝟗𝟓</m:t>
                    </m:r>
                  </m:oMath>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57342"/>
                <a:ext cx="11998124" cy="996170"/>
              </a:xfrm>
              <a:prstGeom prst="rect">
                <a:avLst/>
              </a:prstGeom>
              <a:blipFill rotWithShape="0">
                <a:blip r:embed="rId2"/>
                <a:stretch>
                  <a:fillRect l="-1016" t="-10366" b="-164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701996"/>
                <a:ext cx="11998124" cy="2031325"/>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i="1">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x</m:t>
                          </m:r>
                        </m:e>
                      </m:d>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i="1">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&lt;∞</m:t>
                          </m:r>
                        </m:e>
                      </m:d>
                      <m:r>
                        <a:rPr lang="en-US" sz="2800" i="1">
                          <a:solidFill>
                            <a:schemeClr val="tx2">
                              <a:lumMod val="50000"/>
                            </a:schemeClr>
                          </a:solidFill>
                          <a:latin typeface="Cambria Math" panose="02040503050406030204" pitchFamily="18" charset="0"/>
                          <a:ea typeface="Cambria Math" panose="02040503050406030204" pitchFamily="18" charset="0"/>
                        </a:rPr>
                        <m:t>=0.95</m:t>
                      </m:r>
                    </m:oMath>
                  </m:oMathPara>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i="1">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x</m:t>
                          </m:r>
                        </m:e>
                      </m:d>
                      <m:r>
                        <a:rPr lang="en-US" sz="2800" i="1">
                          <a:solidFill>
                            <a:schemeClr val="tx2">
                              <a:lumMod val="50000"/>
                            </a:schemeClr>
                          </a:solidFill>
                          <a:latin typeface="Cambria Math" panose="02040503050406030204" pitchFamily="18" charset="0"/>
                          <a:ea typeface="Cambria Math" panose="02040503050406030204" pitchFamily="18" charset="0"/>
                        </a:rPr>
                        <m:t>+0.5=0.95</m:t>
                      </m:r>
                    </m:oMath>
                  </m:oMathPara>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i="1">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x</m:t>
                        </m:r>
                      </m:e>
                    </m:d>
                    <m:r>
                      <a:rPr lang="en-US" sz="2800" i="1">
                        <a:solidFill>
                          <a:schemeClr val="tx2">
                            <a:lumMod val="50000"/>
                          </a:schemeClr>
                        </a:solidFill>
                        <a:latin typeface="Cambria Math" panose="02040503050406030204" pitchFamily="18" charset="0"/>
                        <a:ea typeface="Cambria Math" panose="02040503050406030204" pitchFamily="18" charset="0"/>
                      </a:rPr>
                      <m:t>=0.45</m:t>
                    </m:r>
                  </m:oMath>
                </a14:m>
                <a:r>
                  <a:rPr lang="en-IN"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tx2">
                            <a:lumMod val="50000"/>
                          </a:schemeClr>
                        </a:solidFill>
                        <a:latin typeface="Cambria Math" panose="02040503050406030204" pitchFamily="18" charset="0"/>
                        <a:ea typeface="Cambria Math" panose="02040503050406030204" pitchFamily="18" charset="0"/>
                      </a:rPr>
                      <m:t>⇒</m:t>
                    </m:r>
                    <m:r>
                      <a:rPr lang="en-US" sz="2800" i="1" smtClean="0">
                        <a:solidFill>
                          <a:srgbClr val="FF0000"/>
                        </a:solidFill>
                        <a:latin typeface="Cambria Math" panose="02040503050406030204" pitchFamily="18" charset="0"/>
                        <a:ea typeface="Cambria Math" panose="02040503050406030204" pitchFamily="18" charset="0"/>
                      </a:rPr>
                      <m:t>𝐙</m:t>
                    </m:r>
                    <m:r>
                      <a:rPr lang="en-US" sz="2800" i="1" smtClean="0">
                        <a:solidFill>
                          <a:srgbClr val="FF0000"/>
                        </a:solidFill>
                        <a:latin typeface="Cambria Math" panose="02040503050406030204" pitchFamily="18" charset="0"/>
                        <a:ea typeface="Cambria Math" panose="02040503050406030204" pitchFamily="18" charset="0"/>
                      </a:rPr>
                      <m:t>=</m:t>
                    </m:r>
                    <m:r>
                      <a:rPr lang="en-US" sz="2800" i="1" smtClean="0">
                        <a:solidFill>
                          <a:srgbClr val="FF0000"/>
                        </a:solidFill>
                        <a:latin typeface="Cambria Math" panose="02040503050406030204" pitchFamily="18" charset="0"/>
                        <a:ea typeface="Cambria Math" panose="02040503050406030204" pitchFamily="18" charset="0"/>
                      </a:rPr>
                      <m:t>𝟏</m:t>
                    </m:r>
                    <m:r>
                      <a:rPr lang="en-US" sz="2800" i="1" smtClean="0">
                        <a:solidFill>
                          <a:srgbClr val="FF0000"/>
                        </a:solidFill>
                        <a:latin typeface="Cambria Math" panose="02040503050406030204" pitchFamily="18" charset="0"/>
                        <a:ea typeface="Cambria Math" panose="02040503050406030204" pitchFamily="18" charset="0"/>
                      </a:rPr>
                      <m:t>.</m:t>
                    </m:r>
                    <m:r>
                      <a:rPr lang="en-US" sz="2800" i="1" smtClean="0">
                        <a:solidFill>
                          <a:srgbClr val="FF0000"/>
                        </a:solidFill>
                        <a:latin typeface="Cambria Math" panose="02040503050406030204" pitchFamily="18" charset="0"/>
                        <a:ea typeface="Cambria Math" panose="02040503050406030204" pitchFamily="18" charset="0"/>
                      </a:rPr>
                      <m:t>𝟔𝟓</m:t>
                    </m:r>
                  </m:oMath>
                </a14:m>
                <a:r>
                  <a:rPr lang="en-US" sz="2800" i="1" dirty="0">
                    <a:solidFill>
                      <a:srgbClr val="FF0000"/>
                    </a:solidFill>
                    <a:latin typeface="Cambria Math" panose="02040503050406030204" pitchFamily="18" charset="0"/>
                    <a:ea typeface="Cambria Math" panose="02040503050406030204" pitchFamily="18" charset="0"/>
                  </a:rPr>
                  <a:t> </a:t>
                </a:r>
                <a:r>
                  <a:rPr lang="en-US" sz="2800" i="1" dirty="0">
                    <a:solidFill>
                      <a:schemeClr val="tx2">
                        <a:lumMod val="50000"/>
                      </a:schemeClr>
                    </a:solidFill>
                    <a:latin typeface="Cambria Math" panose="02040503050406030204" pitchFamily="18" charset="0"/>
                    <a:ea typeface="Cambria Math" panose="02040503050406030204" pitchFamily="18" charset="0"/>
                  </a:rPr>
                  <a:t>  </a:t>
                </a:r>
                <a:r>
                  <a:rPr lang="en-US" sz="2800" dirty="0">
                    <a:solidFill>
                      <a:schemeClr val="tx2">
                        <a:lumMod val="50000"/>
                      </a:schemeClr>
                    </a:solidFill>
                    <a:latin typeface="Cambria Math" panose="02040503050406030204" pitchFamily="18" charset="0"/>
                    <a:ea typeface="Cambria Math" panose="02040503050406030204" pitchFamily="18" charset="0"/>
                  </a:rPr>
                  <a:t>[Note that:</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a:rPr lang="en-US" sz="2800" i="1">
                        <a:solidFill>
                          <a:schemeClr val="tx2">
                            <a:lumMod val="50000"/>
                          </a:schemeClr>
                        </a:solidFill>
                        <a:latin typeface="Cambria Math" panose="02040503050406030204" pitchFamily="18" charset="0"/>
                        <a:ea typeface="Cambria Math" panose="02040503050406030204" pitchFamily="18" charset="0"/>
                      </a:rPr>
                      <m:t>𝐏</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i="1">
                            <a:solidFill>
                              <a:schemeClr val="tx2">
                                <a:lumMod val="50000"/>
                              </a:schemeClr>
                            </a:solidFill>
                            <a:latin typeface="Cambria Math" panose="02040503050406030204" pitchFamily="18" charset="0"/>
                            <a:ea typeface="Cambria Math" panose="02040503050406030204" pitchFamily="18" charset="0"/>
                          </a:rPr>
                          <m:t>𝐳</m:t>
                        </m:r>
                        <m:r>
                          <a:rPr lang="en-US" sz="2800" i="1">
                            <a:solidFill>
                              <a:schemeClr val="tx2">
                                <a:lumMod val="50000"/>
                              </a:schemeClr>
                            </a:solidFill>
                            <a:latin typeface="Cambria Math" panose="02040503050406030204" pitchFamily="18" charset="0"/>
                            <a:ea typeface="Cambria Math" panose="02040503050406030204" pitchFamily="18" charset="0"/>
                          </a:rPr>
                          <m:t>=</m:t>
                        </m:r>
                        <m:r>
                          <a:rPr lang="en-US" sz="2800" i="1">
                            <a:solidFill>
                              <a:schemeClr val="tx2">
                                <a:lumMod val="50000"/>
                              </a:schemeClr>
                            </a:solidFill>
                            <a:latin typeface="Cambria Math" panose="02040503050406030204" pitchFamily="18" charset="0"/>
                            <a:ea typeface="Cambria Math" panose="02040503050406030204" pitchFamily="18" charset="0"/>
                          </a:rPr>
                          <m:t>𝟏</m:t>
                        </m:r>
                        <m:r>
                          <a:rPr lang="en-US" sz="2800" i="1">
                            <a:solidFill>
                              <a:schemeClr val="tx2">
                                <a:lumMod val="50000"/>
                              </a:schemeClr>
                            </a:solidFill>
                            <a:latin typeface="Cambria Math" panose="02040503050406030204" pitchFamily="18" charset="0"/>
                            <a:ea typeface="Cambria Math" panose="02040503050406030204" pitchFamily="18" charset="0"/>
                          </a:rPr>
                          <m:t>.</m:t>
                        </m:r>
                        <m:r>
                          <a:rPr lang="en-US" sz="2800" i="1">
                            <a:solidFill>
                              <a:schemeClr val="tx2">
                                <a:lumMod val="50000"/>
                              </a:schemeClr>
                            </a:solidFill>
                            <a:latin typeface="Cambria Math" panose="02040503050406030204" pitchFamily="18" charset="0"/>
                            <a:ea typeface="Cambria Math" panose="02040503050406030204" pitchFamily="18" charset="0"/>
                          </a:rPr>
                          <m:t>𝟔𝟓</m:t>
                        </m:r>
                      </m:e>
                    </m:d>
                    <m:r>
                      <a:rPr lang="en-US" sz="2800" i="1">
                        <a:solidFill>
                          <a:schemeClr val="tx2">
                            <a:lumMod val="50000"/>
                          </a:schemeClr>
                        </a:solidFill>
                        <a:latin typeface="Cambria Math" panose="02040503050406030204" pitchFamily="18" charset="0"/>
                        <a:ea typeface="Cambria Math" panose="02040503050406030204" pitchFamily="18" charset="0"/>
                      </a:rPr>
                      <m:t>=</m:t>
                    </m:r>
                    <m:r>
                      <a:rPr lang="en-US" sz="2800" i="1">
                        <a:solidFill>
                          <a:schemeClr val="tx2">
                            <a:lumMod val="50000"/>
                          </a:schemeClr>
                        </a:solidFill>
                        <a:latin typeface="Cambria Math" panose="02040503050406030204" pitchFamily="18" charset="0"/>
                        <a:ea typeface="Cambria Math" panose="02040503050406030204" pitchFamily="18" charset="0"/>
                      </a:rPr>
                      <m:t>𝟎</m:t>
                    </m:r>
                    <m:r>
                      <a:rPr lang="en-US" sz="2800" i="1">
                        <a:solidFill>
                          <a:schemeClr val="tx2">
                            <a:lumMod val="50000"/>
                          </a:schemeClr>
                        </a:solidFill>
                        <a:latin typeface="Cambria Math" panose="02040503050406030204" pitchFamily="18" charset="0"/>
                        <a:ea typeface="Cambria Math" panose="02040503050406030204" pitchFamily="18" charset="0"/>
                      </a:rPr>
                      <m:t>.</m:t>
                    </m:r>
                    <m:r>
                      <a:rPr lang="en-US" sz="2800" i="1">
                        <a:solidFill>
                          <a:schemeClr val="tx2">
                            <a:lumMod val="50000"/>
                          </a:schemeClr>
                        </a:solidFill>
                        <a:latin typeface="Cambria Math" panose="02040503050406030204" pitchFamily="18" charset="0"/>
                        <a:ea typeface="Cambria Math" panose="02040503050406030204" pitchFamily="18" charset="0"/>
                      </a:rPr>
                      <m:t>𝟒𝟓𝟎𝟓</m:t>
                    </m:r>
                  </m:oMath>
                </a14:m>
                <a:r>
                  <a:rPr lang="en-US" sz="2800" dirty="0">
                    <a:solidFill>
                      <a:schemeClr val="tx2">
                        <a:lumMod val="50000"/>
                      </a:schemeClr>
                    </a:solidFill>
                    <a:latin typeface="Cambria Math" panose="02040503050406030204" pitchFamily="18" charset="0"/>
                    <a:ea typeface="Cambria Math" panose="02040503050406030204" pitchFamily="18" charset="0"/>
                  </a:rPr>
                  <a:t>]</a:t>
                </a:r>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701996"/>
                <a:ext cx="11998124" cy="2031325"/>
              </a:xfrm>
              <a:prstGeom prst="rect">
                <a:avLst/>
              </a:prstGeom>
              <a:blipFill rotWithShape="0">
                <a:blip r:embed="rId3"/>
                <a:stretch>
                  <a:fillRect b="-36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925103807"/>
                  </p:ext>
                </p:extLst>
              </p:nvPr>
            </p:nvGraphicFramePr>
            <p:xfrm>
              <a:off x="180304" y="3845633"/>
              <a:ext cx="10419008" cy="2394575"/>
            </p:xfrm>
            <a:graphic>
              <a:graphicData uri="http://schemas.openxmlformats.org/drawingml/2006/table">
                <a:tbl>
                  <a:tblPr firstRow="1" bandRow="1">
                    <a:tableStyleId>{5C22544A-7EE6-4342-B048-85BDC9FD1C3A}</a:tableStyleId>
                  </a:tblPr>
                  <a:tblGrid>
                    <a:gridCol w="3142445">
                      <a:extLst>
                        <a:ext uri="{9D8B030D-6E8A-4147-A177-3AD203B41FA5}">
                          <a16:colId xmlns:a16="http://schemas.microsoft.com/office/drawing/2014/main" val="20000"/>
                        </a:ext>
                      </a:extLst>
                    </a:gridCol>
                    <a:gridCol w="361527">
                      <a:extLst>
                        <a:ext uri="{9D8B030D-6E8A-4147-A177-3AD203B41FA5}">
                          <a16:colId xmlns:a16="http://schemas.microsoft.com/office/drawing/2014/main" val="20001"/>
                        </a:ext>
                      </a:extLst>
                    </a:gridCol>
                    <a:gridCol w="3566530">
                      <a:extLst>
                        <a:ext uri="{9D8B030D-6E8A-4147-A177-3AD203B41FA5}">
                          <a16:colId xmlns:a16="http://schemas.microsoft.com/office/drawing/2014/main" val="20002"/>
                        </a:ext>
                      </a:extLst>
                    </a:gridCol>
                    <a:gridCol w="335621">
                      <a:extLst>
                        <a:ext uri="{9D8B030D-6E8A-4147-A177-3AD203B41FA5}">
                          <a16:colId xmlns:a16="http://schemas.microsoft.com/office/drawing/2014/main" val="20003"/>
                        </a:ext>
                      </a:extLst>
                    </a:gridCol>
                    <a:gridCol w="3012885">
                      <a:extLst>
                        <a:ext uri="{9D8B030D-6E8A-4147-A177-3AD203B41FA5}">
                          <a16:colId xmlns:a16="http://schemas.microsoft.com/office/drawing/2014/main" val="20004"/>
                        </a:ext>
                      </a:extLst>
                    </a:gridCol>
                  </a:tblGrid>
                  <a:tr h="1906895">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5091">
                    <a:tc gridSpan="5">
                      <a:txBody>
                        <a:bodyPr/>
                        <a:lstStyle/>
                        <a:p>
                          <a:r>
                            <a:rPr lang="en-IN" sz="2600" kern="1200" dirty="0">
                              <a:solidFill>
                                <a:schemeClr val="dk1"/>
                              </a:solidFill>
                              <a:effectLst/>
                              <a:latin typeface="+mn-lt"/>
                              <a:ea typeface="+mn-ea"/>
                              <a:cs typeface="+mn-cs"/>
                            </a:rPr>
                            <a:t>       </a:t>
                          </a:r>
                          <a14:m>
                            <m:oMath xmlns:m="http://schemas.openxmlformats.org/officeDocument/2006/math">
                              <m:r>
                                <m:rPr>
                                  <m:sty m:val="p"/>
                                </m:rPr>
                                <a:rPr lang="en-IN" sz="2600" kern="1200">
                                  <a:solidFill>
                                    <a:schemeClr val="dk1"/>
                                  </a:solidFill>
                                  <a:effectLst/>
                                  <a:latin typeface="Cambria Math" panose="02040503050406030204" pitchFamily="18" charset="0"/>
                                  <a:ea typeface="+mn-ea"/>
                                  <a:cs typeface="+mn-cs"/>
                                </a:rPr>
                                <m:t>x</m:t>
                              </m:r>
                            </m:oMath>
                          </a14:m>
                          <a:r>
                            <a:rPr lang="en-IN" sz="2600" kern="1200" dirty="0">
                              <a:solidFill>
                                <a:schemeClr val="dk1"/>
                              </a:solidFill>
                              <a:effectLst/>
                              <a:latin typeface="+mn-lt"/>
                              <a:ea typeface="+mn-ea"/>
                              <a:cs typeface="+mn-cs"/>
                            </a:rPr>
                            <a:t>        </a:t>
                          </a:r>
                          <a14:m>
                            <m:oMath xmlns:m="http://schemas.openxmlformats.org/officeDocument/2006/math">
                              <m:r>
                                <a:rPr lang="en-IN" sz="2600" i="1" kern="1200">
                                  <a:solidFill>
                                    <a:schemeClr val="dk1"/>
                                  </a:solidFill>
                                  <a:effectLst/>
                                  <a:latin typeface="Cambria Math" panose="02040503050406030204" pitchFamily="18" charset="0"/>
                                  <a:ea typeface="+mn-ea"/>
                                  <a:cs typeface="+mn-cs"/>
                                </a:rPr>
                                <m:t>0</m:t>
                              </m:r>
                            </m:oMath>
                          </a14:m>
                          <a:r>
                            <a:rPr lang="en-IN" sz="2600" kern="1200" dirty="0">
                              <a:solidFill>
                                <a:schemeClr val="dk1"/>
                              </a:solidFill>
                              <a:effectLst/>
                              <a:latin typeface="+mn-lt"/>
                              <a:ea typeface="+mn-ea"/>
                              <a:cs typeface="+mn-cs"/>
                            </a:rPr>
                            <a:t>                      </a:t>
                          </a:r>
                          <a:r>
                            <a:rPr lang="en-IN" sz="2600" b="1" kern="1200" dirty="0">
                              <a:solidFill>
                                <a:schemeClr val="dk1"/>
                              </a:solidFill>
                              <a:effectLst/>
                              <a:latin typeface="+mn-lt"/>
                              <a:ea typeface="+mn-ea"/>
                              <a:cs typeface="+mn-cs"/>
                            </a:rPr>
                            <a:t>              </a:t>
                          </a:r>
                          <a14:m>
                            <m:oMath xmlns:m="http://schemas.openxmlformats.org/officeDocument/2006/math">
                              <m:r>
                                <m:rPr>
                                  <m:sty m:val="p"/>
                                </m:rPr>
                                <a:rPr lang="en-IN" sz="2600" kern="1200">
                                  <a:solidFill>
                                    <a:schemeClr val="dk1"/>
                                  </a:solidFill>
                                  <a:effectLst/>
                                  <a:latin typeface="Cambria Math" panose="02040503050406030204" pitchFamily="18" charset="0"/>
                                  <a:ea typeface="+mn-ea"/>
                                  <a:cs typeface="+mn-cs"/>
                                </a:rPr>
                                <m:t>x</m:t>
                              </m:r>
                            </m:oMath>
                          </a14:m>
                          <a:r>
                            <a:rPr lang="en-IN" sz="2600" b="1" kern="1200" dirty="0">
                              <a:solidFill>
                                <a:schemeClr val="dk1"/>
                              </a:solidFill>
                              <a:effectLst/>
                              <a:latin typeface="+mn-lt"/>
                              <a:ea typeface="+mn-ea"/>
                              <a:cs typeface="+mn-cs"/>
                            </a:rPr>
                            <a:t>        </a:t>
                          </a:r>
                          <a14:m>
                            <m:oMath xmlns:m="http://schemas.openxmlformats.org/officeDocument/2006/math">
                              <m:r>
                                <a:rPr lang="en-IN" sz="2600" i="1" kern="1200">
                                  <a:solidFill>
                                    <a:schemeClr val="dk1"/>
                                  </a:solidFill>
                                  <a:effectLst/>
                                  <a:latin typeface="Cambria Math" panose="02040503050406030204" pitchFamily="18" charset="0"/>
                                  <a:ea typeface="+mn-ea"/>
                                  <a:cs typeface="+mn-cs"/>
                                </a:rPr>
                                <m:t>0</m:t>
                              </m:r>
                            </m:oMath>
                          </a14:m>
                          <a:r>
                            <a:rPr lang="en-IN" sz="2600" kern="1200" dirty="0">
                              <a:solidFill>
                                <a:schemeClr val="dk1"/>
                              </a:solidFill>
                              <a:effectLst/>
                              <a:latin typeface="+mn-lt"/>
                              <a:ea typeface="+mn-ea"/>
                              <a:cs typeface="+mn-cs"/>
                            </a:rPr>
                            <a:t>                                              </a:t>
                          </a:r>
                          <a14:m>
                            <m:oMath xmlns:m="http://schemas.openxmlformats.org/officeDocument/2006/math">
                              <m:r>
                                <a:rPr lang="en-IN" sz="2600" i="1" kern="1200">
                                  <a:solidFill>
                                    <a:schemeClr val="dk1"/>
                                  </a:solidFill>
                                  <a:effectLst/>
                                  <a:latin typeface="Cambria Math" panose="02040503050406030204" pitchFamily="18" charset="0"/>
                                  <a:ea typeface="+mn-ea"/>
                                  <a:cs typeface="+mn-cs"/>
                                </a:rPr>
                                <m:t>0</m:t>
                              </m:r>
                            </m:oMath>
                          </a14:m>
                          <a:r>
                            <a:rPr lang="en-IN" sz="2600" kern="1200" dirty="0">
                              <a:solidFill>
                                <a:schemeClr val="dk1"/>
                              </a:solidFill>
                              <a:effectLst/>
                              <a:latin typeface="+mn-lt"/>
                              <a:ea typeface="+mn-ea"/>
                              <a:cs typeface="+mn-cs"/>
                            </a:rPr>
                            <a:t>            </a:t>
                          </a:r>
                          <a:r>
                            <a:rPr lang="en-IN" sz="2600" kern="1200" baseline="0" dirty="0">
                              <a:solidFill>
                                <a:schemeClr val="dk1"/>
                              </a:solidFill>
                              <a:effectLst/>
                              <a:latin typeface="+mn-lt"/>
                              <a:ea typeface="+mn-ea"/>
                              <a:cs typeface="+mn-cs"/>
                            </a:rPr>
                            <a:t> </a:t>
                          </a:r>
                          <a:r>
                            <a:rPr lang="en-IN" sz="2600" kern="1200" dirty="0">
                              <a:solidFill>
                                <a:schemeClr val="dk1"/>
                              </a:solidFill>
                              <a:effectLst/>
                              <a:latin typeface="+mn-lt"/>
                              <a:ea typeface="+mn-ea"/>
                              <a:cs typeface="+mn-cs"/>
                            </a:rPr>
                            <a:t> </a:t>
                          </a:r>
                          <a14:m>
                            <m:oMath xmlns:m="http://schemas.openxmlformats.org/officeDocument/2006/math">
                              <m:r>
                                <a:rPr lang="en-IN" sz="2600" b="1" i="1" kern="1200">
                                  <a:solidFill>
                                    <a:schemeClr val="dk1"/>
                                  </a:solidFill>
                                  <a:effectLst/>
                                  <a:latin typeface="Cambria Math" panose="02040503050406030204" pitchFamily="18" charset="0"/>
                                  <a:ea typeface="+mn-ea"/>
                                  <a:cs typeface="+mn-cs"/>
                                </a:rPr>
                                <m:t>∞</m:t>
                              </m:r>
                            </m:oMath>
                          </a14:m>
                          <a:r>
                            <a:rPr lang="en-IN" sz="2600" kern="1200" dirty="0">
                              <a:solidFill>
                                <a:schemeClr val="dk1"/>
                              </a:solidFill>
                              <a:effectLst/>
                              <a:latin typeface="+mn-lt"/>
                              <a:ea typeface="+mn-ea"/>
                              <a:cs typeface="+mn-cs"/>
                            </a:rPr>
                            <a:t> </a:t>
                          </a:r>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925103807"/>
                  </p:ext>
                </p:extLst>
              </p:nvPr>
            </p:nvGraphicFramePr>
            <p:xfrm>
              <a:off x="180304" y="3845633"/>
              <a:ext cx="10419008" cy="2394575"/>
            </p:xfrm>
            <a:graphic>
              <a:graphicData uri="http://schemas.openxmlformats.org/drawingml/2006/table">
                <a:tbl>
                  <a:tblPr firstRow="1" bandRow="1">
                    <a:tableStyleId>{5C22544A-7EE6-4342-B048-85BDC9FD1C3A}</a:tableStyleId>
                  </a:tblPr>
                  <a:tblGrid>
                    <a:gridCol w="3142445"/>
                    <a:gridCol w="361527"/>
                    <a:gridCol w="3566530"/>
                    <a:gridCol w="335621"/>
                    <a:gridCol w="3012885"/>
                  </a:tblGrid>
                  <a:tr h="1906895">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874576" r="-1923729" b="-25478"/>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071429" r="-882143" b="-25478"/>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gridSpan="5">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92500"/>
                          </a:stretch>
                        </a:blip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pic>
        <p:nvPicPr>
          <p:cNvPr id="7" name="Picture 6"/>
          <p:cNvPicPr/>
          <p:nvPr/>
        </p:nvPicPr>
        <p:blipFill rotWithShape="1">
          <a:blip r:embed="rId5">
            <a:extLst>
              <a:ext uri="{28A0092B-C50C-407E-A947-70E740481C1C}">
                <a14:useLocalDpi xmlns:a14="http://schemas.microsoft.com/office/drawing/2010/main" val="0"/>
              </a:ext>
            </a:extLst>
          </a:blip>
          <a:srcRect l="1" t="9318" r="66789"/>
          <a:stretch/>
        </p:blipFill>
        <p:spPr bwMode="auto">
          <a:xfrm flipH="1">
            <a:off x="257575" y="3850783"/>
            <a:ext cx="3013658" cy="1880316"/>
          </a:xfrm>
          <a:prstGeom prst="rect">
            <a:avLst/>
          </a:prstGeom>
          <a:noFill/>
          <a:ln>
            <a:noFill/>
          </a:ln>
          <a:extLst>
            <a:ext uri="{53640926-AAD7-44D8-BBD7-CCE9431645EC}">
              <a14:shadowObscured xmlns:a14="http://schemas.microsoft.com/office/drawing/2010/main"/>
            </a:ext>
          </a:extLst>
        </p:spPr>
      </p:pic>
      <p:pic>
        <p:nvPicPr>
          <p:cNvPr id="8" name="Picture 7"/>
          <p:cNvPicPr/>
          <p:nvPr/>
        </p:nvPicPr>
        <p:blipFill rotWithShape="1">
          <a:blip r:embed="rId5">
            <a:extLst>
              <a:ext uri="{28A0092B-C50C-407E-A947-70E740481C1C}">
                <a14:useLocalDpi xmlns:a14="http://schemas.microsoft.com/office/drawing/2010/main" val="0"/>
              </a:ext>
            </a:extLst>
          </a:blip>
          <a:srcRect l="67147" t="9318" r="659"/>
          <a:stretch/>
        </p:blipFill>
        <p:spPr bwMode="auto">
          <a:xfrm flipH="1">
            <a:off x="3889419" y="3850783"/>
            <a:ext cx="3052291" cy="1880316"/>
          </a:xfrm>
          <a:prstGeom prst="rect">
            <a:avLst/>
          </a:prstGeom>
          <a:noFill/>
          <a:ln>
            <a:noFill/>
          </a:ln>
          <a:extLst>
            <a:ext uri="{53640926-AAD7-44D8-BBD7-CCE9431645EC}">
              <a14:shadowObscured xmlns:a14="http://schemas.microsoft.com/office/drawing/2010/main"/>
            </a:ext>
          </a:extLst>
        </p:spPr>
      </p:pic>
      <p:pic>
        <p:nvPicPr>
          <p:cNvPr id="9" name="Picture 8"/>
          <p:cNvPicPr/>
          <p:nvPr/>
        </p:nvPicPr>
        <p:blipFill rotWithShape="1">
          <a:blip r:embed="rId5">
            <a:extLst>
              <a:ext uri="{28A0092B-C50C-407E-A947-70E740481C1C}">
                <a14:useLocalDpi xmlns:a14="http://schemas.microsoft.com/office/drawing/2010/main" val="0"/>
              </a:ext>
            </a:extLst>
          </a:blip>
          <a:srcRect l="37089" t="9318" r="37926"/>
          <a:stretch/>
        </p:blipFill>
        <p:spPr bwMode="auto">
          <a:xfrm flipH="1">
            <a:off x="7701564" y="3850783"/>
            <a:ext cx="2794717" cy="188031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013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par>
                                <p:cTn id="16" presetID="22" presetClass="entr" presetSubtype="1"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up)">
                                      <p:cBhvr>
                                        <p:cTn id="18" dur="500"/>
                                        <p:tgtEl>
                                          <p:spTgt spid="8"/>
                                        </p:tgtEl>
                                      </p:cBhvr>
                                    </p:animEffect>
                                  </p:childTnLst>
                                </p:cTn>
                              </p:par>
                              <p:par>
                                <p:cTn id="19" presetID="22" presetClass="entr" presetSubtype="1"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par>
                                <p:cTn id="22" presetID="22" presetClass="entr" presetSubtype="1"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up)">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3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99617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dirty="0">
                    <a:solidFill>
                      <a:srgbClr val="FF0000"/>
                    </a:solidFill>
                  </a:rPr>
                  <a:t>(c) To find the strength that exceeded by 95% of the samples</a:t>
                </a:r>
              </a:p>
              <a:p>
                <a:pPr marL="0" lvl="0" indent="0">
                  <a:buNone/>
                </a:pPr>
                <a:r>
                  <a:rPr lang="en-US" dirty="0">
                    <a:solidFill>
                      <a:srgbClr val="FF0000"/>
                    </a:solidFill>
                  </a:rPr>
                  <a:t>That is, </a:t>
                </a:r>
                <a14:m>
                  <m:oMath xmlns:m="http://schemas.openxmlformats.org/officeDocument/2006/math">
                    <m:r>
                      <a:rPr lang="en-US" b="1" i="0">
                        <a:solidFill>
                          <a:srgbClr val="FF0000"/>
                        </a:solidFill>
                        <a:latin typeface="Cambria Math" panose="02040503050406030204" pitchFamily="18" charset="0"/>
                      </a:rPr>
                      <m:t>𝐏</m:t>
                    </m:r>
                    <m:d>
                      <m:dPr>
                        <m:ctrlPr>
                          <a:rPr lang="en-IN" b="1" i="1">
                            <a:solidFill>
                              <a:srgbClr val="FF0000"/>
                            </a:solidFill>
                            <a:latin typeface="Cambria Math" panose="02040503050406030204" pitchFamily="18" charset="0"/>
                          </a:rPr>
                        </m:ctrlPr>
                      </m:dPr>
                      <m:e>
                        <m:r>
                          <a:rPr lang="en-US" b="1" i="0">
                            <a:solidFill>
                              <a:srgbClr val="FF0000"/>
                            </a:solidFill>
                            <a:latin typeface="Cambria Math" panose="02040503050406030204" pitchFamily="18" charset="0"/>
                          </a:rPr>
                          <m:t>𝐗</m:t>
                        </m:r>
                        <m:r>
                          <a:rPr lang="en-US" b="1" i="0">
                            <a:solidFill>
                              <a:srgbClr val="FF0000"/>
                            </a:solidFill>
                            <a:latin typeface="Cambria Math" panose="02040503050406030204" pitchFamily="18" charset="0"/>
                          </a:rPr>
                          <m:t>&gt;</m:t>
                        </m:r>
                        <m:r>
                          <a:rPr lang="en-US" b="1" i="0">
                            <a:solidFill>
                              <a:srgbClr val="FF0000"/>
                            </a:solidFill>
                            <a:latin typeface="Cambria Math" panose="02040503050406030204" pitchFamily="18" charset="0"/>
                          </a:rPr>
                          <m:t>𝐱</m:t>
                        </m:r>
                      </m:e>
                    </m:d>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𝟎</m:t>
                    </m:r>
                    <m:r>
                      <a:rPr lang="en-US" b="1" i="0">
                        <a:solidFill>
                          <a:srgbClr val="FF0000"/>
                        </a:solidFill>
                        <a:latin typeface="Cambria Math" panose="02040503050406030204" pitchFamily="18" charset="0"/>
                      </a:rPr>
                      <m:t>.</m:t>
                    </m:r>
                    <m:r>
                      <a:rPr lang="en-US" b="1" i="0">
                        <a:solidFill>
                          <a:srgbClr val="FF0000"/>
                        </a:solidFill>
                        <a:latin typeface="Cambria Math" panose="02040503050406030204" pitchFamily="18" charset="0"/>
                      </a:rPr>
                      <m:t>𝟗𝟓</m:t>
                    </m:r>
                  </m:oMath>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996170"/>
              </a:xfrm>
              <a:prstGeom prst="rect">
                <a:avLst/>
              </a:prstGeom>
              <a:blipFill rotWithShape="0">
                <a:blip r:embed="rId2"/>
                <a:stretch>
                  <a:fillRect l="-1016" t="-11043" b="-171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0" y="1920939"/>
                <a:ext cx="7722337" cy="3789499"/>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Now, </a:t>
                </a:r>
                <a:endParaRPr lang="en-IN" sz="2800" dirty="0">
                  <a:solidFill>
                    <a:schemeClr val="tx2">
                      <a:lumMod val="50000"/>
                    </a:schemeClr>
                  </a:solidFill>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Zσ</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d>
                        <m:dPr>
                          <m:begChr m:val="["/>
                          <m:endChr m:val="]"/>
                          <m:ctrlPr>
                            <a:rPr lang="en-IN" sz="2800" i="1">
                              <a:solidFill>
                                <a:schemeClr val="tx2">
                                  <a:lumMod val="50000"/>
                                </a:schemeClr>
                              </a:solidFill>
                              <a:latin typeface="Cambria Math" panose="02040503050406030204" pitchFamily="18" charset="0"/>
                              <a:ea typeface="Cambria Math" panose="02040503050406030204" pitchFamily="18" charset="0"/>
                            </a:rPr>
                          </m:ctrlPr>
                        </m:dPr>
                        <m:e>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0">
                                  <a:solidFill>
                                    <a:schemeClr val="tx2">
                                      <a:lumMod val="50000"/>
                                    </a:schemeClr>
                                  </a:solidFill>
                                  <a:latin typeface="Cambria Math" panose="02040503050406030204" pitchFamily="18" charset="0"/>
                                  <a:ea typeface="Cambria Math" panose="02040503050406030204" pitchFamily="18" charset="0"/>
                                </a:rPr>
                                <m:t>1.65</m:t>
                              </m:r>
                            </m:e>
                          </m:d>
                          <m:r>
                            <a:rPr lang="en-US" sz="2800" b="0" i="0">
                              <a:solidFill>
                                <a:schemeClr val="tx2">
                                  <a:lumMod val="50000"/>
                                </a:schemeClr>
                              </a:solidFill>
                              <a:latin typeface="Cambria Math" panose="02040503050406030204" pitchFamily="18" charset="0"/>
                              <a:ea typeface="Cambria Math" panose="02040503050406030204" pitchFamily="18" charset="0"/>
                            </a:rPr>
                            <m:t>×100</m:t>
                          </m:r>
                        </m:e>
                      </m:d>
                      <m:r>
                        <a:rPr lang="en-US" sz="2800" b="0" i="0">
                          <a:solidFill>
                            <a:schemeClr val="tx2">
                              <a:lumMod val="50000"/>
                            </a:schemeClr>
                          </a:solidFill>
                          <a:latin typeface="Cambria Math" panose="02040503050406030204" pitchFamily="18" charset="0"/>
                          <a:ea typeface="Cambria Math" panose="02040503050406030204" pitchFamily="18" charset="0"/>
                        </a:rPr>
                        <m:t>+6000</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ea typeface="Cambria Math" panose="02040503050406030204" pitchFamily="18" charset="0"/>
                        </a:rPr>
                        <m:t>𝐱</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𝟔𝟏𝟔𝟓</m:t>
                      </m:r>
                    </m:oMath>
                  </m:oMathPara>
                </a14:m>
                <a:endParaRPr lang="en-IN" sz="2800" b="1"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0" y="1920939"/>
                <a:ext cx="7722337" cy="3789499"/>
              </a:xfrm>
              <a:prstGeom prst="rect">
                <a:avLst/>
              </a:prstGeom>
              <a:blipFill rotWithShape="0">
                <a:blip r:embed="rId3"/>
                <a:stretch>
                  <a:fillRect l="-1579"/>
                </a:stretch>
              </a:blipFill>
            </p:spPr>
            <p:txBody>
              <a:bodyPr/>
              <a:lstStyle/>
              <a:p>
                <a:r>
                  <a:rPr lang="en-IN">
                    <a:noFill/>
                  </a:rPr>
                  <a:t> </a:t>
                </a:r>
              </a:p>
            </p:txBody>
          </p:sp>
        </mc:Fallback>
      </mc:AlternateContent>
    </p:spTree>
    <p:extLst>
      <p:ext uri="{BB962C8B-B14F-4D97-AF65-F5344CB8AC3E}">
        <p14:creationId xmlns:p14="http://schemas.microsoft.com/office/powerpoint/2010/main" val="33039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69079"/>
                <a:ext cx="11929643" cy="4424137"/>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sample of 100 dry battery cell tested &amp; found that average life is 12 hours &amp; standard deviation 3 hours. Assuming data to be normally distributed what % of battery cells are expected to have life </a:t>
                </a:r>
                <a:endParaRPr lang="en-IN" dirty="0"/>
              </a:p>
              <a:p>
                <a:r>
                  <a:rPr lang="en-US" dirty="0"/>
                  <a:t>(a)   more than 15 hrs.? </a:t>
                </a:r>
                <a:endParaRPr lang="en-IN" dirty="0"/>
              </a:p>
              <a:p>
                <a:r>
                  <a:rPr lang="en-US" dirty="0"/>
                  <a:t>(b)   less than 6 hrs.? </a:t>
                </a:r>
                <a:endParaRPr lang="en-IN" dirty="0"/>
              </a:p>
              <a:p>
                <a:r>
                  <a:rPr lang="en-US" dirty="0"/>
                  <a:t>(c)   between 10 &amp; 14 hrs.? </a:t>
                </a:r>
                <a:endParaRPr lang="en-IN" dirty="0"/>
              </a:p>
              <a:p>
                <a:pP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=1)=0.3413,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=2)=0.4773,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=0.67)=0.2486]</m:t>
                      </m:r>
                    </m:oMath>
                  </m:oMathPara>
                </a14:m>
                <a:endParaRPr lang="en-IN" sz="2400"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69079"/>
                <a:ext cx="11929643" cy="4424137"/>
              </a:xfrm>
              <a:prstGeom prst="rect">
                <a:avLst/>
              </a:prstGeom>
              <a:blipFill rotWithShape="0">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4</a:t>
            </a:r>
            <a:endParaRPr lang="en-US" dirty="0"/>
          </a:p>
        </p:txBody>
      </p:sp>
      <p:sp>
        <p:nvSpPr>
          <p:cNvPr id="50" name="Rectangle 49">
            <a:extLst>
              <a:ext uri="{FF2B5EF4-FFF2-40B4-BE49-F238E27FC236}">
                <a16:creationId xmlns:a16="http://schemas.microsoft.com/office/drawing/2014/main" id="{B2D3FB0B-D709-43AC-B65F-29361B504B61}"/>
              </a:ext>
            </a:extLst>
          </p:cNvPr>
          <p:cNvSpPr/>
          <p:nvPr/>
        </p:nvSpPr>
        <p:spPr>
          <a:xfrm>
            <a:off x="131177" y="5590150"/>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1769829" y="5480966"/>
                <a:ext cx="10290991" cy="66684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Mean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μ</m:t>
                    </m:r>
                    <m:r>
                      <a:rPr lang="en-US" i="0" dirty="0" smtClean="0">
                        <a:solidFill>
                          <a:schemeClr val="tx2">
                            <a:lumMod val="50000"/>
                          </a:schemeClr>
                        </a:solidFill>
                        <a:latin typeface="Cambria Math" panose="02040503050406030204" pitchFamily="18" charset="0"/>
                      </a:rPr>
                      <m:t>=12</m:t>
                    </m:r>
                  </m:oMath>
                </a14:m>
                <a:r>
                  <a:rPr lang="en-US" dirty="0">
                    <a:solidFill>
                      <a:schemeClr val="tx2">
                        <a:lumMod val="50000"/>
                      </a:schemeClr>
                    </a:solidFill>
                  </a:rPr>
                  <a:t> and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σ</m:t>
                    </m:r>
                    <m:r>
                      <a:rPr lang="en-US" i="0" dirty="0" smtClean="0">
                        <a:solidFill>
                          <a:schemeClr val="tx2">
                            <a:lumMod val="50000"/>
                          </a:schemeClr>
                        </a:solidFill>
                        <a:latin typeface="Cambria Math" panose="02040503050406030204" pitchFamily="18" charset="0"/>
                      </a:rPr>
                      <m:t>=3</m:t>
                    </m:r>
                  </m:oMath>
                </a14:m>
                <a:endParaRPr lang="en-US" dirty="0">
                  <a:solidFill>
                    <a:schemeClr val="tx2">
                      <a:lumMod val="50000"/>
                    </a:schemeClr>
                  </a:solidFill>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5480966"/>
                <a:ext cx="10290991" cy="666849"/>
              </a:xfrm>
              <a:prstGeom prst="rect">
                <a:avLst/>
              </a:prstGeom>
              <a:blipFill rotWithShape="0">
                <a:blip r:embed="rId3"/>
                <a:stretch>
                  <a:fillRect l="-1185" b="-25688"/>
                </a:stretch>
              </a:blipFill>
            </p:spPr>
            <p:txBody>
              <a:bodyPr/>
              <a:lstStyle/>
              <a:p>
                <a:r>
                  <a:rPr lang="en-IN">
                    <a:noFill/>
                  </a:rPr>
                  <a:t> </a:t>
                </a:r>
              </a:p>
            </p:txBody>
          </p:sp>
        </mc:Fallback>
      </mc:AlternateContent>
    </p:spTree>
    <p:extLst>
      <p:ext uri="{BB962C8B-B14F-4D97-AF65-F5344CB8AC3E}">
        <p14:creationId xmlns:p14="http://schemas.microsoft.com/office/powerpoint/2010/main" val="25754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9">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1"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(a) To find the probabilities of percentage (%) of battery cells are expected to have life more than 15 hours </a:t>
                </a:r>
                <a14:m>
                  <m:oMath xmlns:m="http://schemas.openxmlformats.org/officeDocument/2006/math">
                    <m:d>
                      <m:dPr>
                        <m:ctrlPr>
                          <a:rPr lang="en-IN" b="1" i="1">
                            <a:solidFill>
                              <a:srgbClr val="FF0000"/>
                            </a:solidFill>
                            <a:latin typeface="Cambria Math" panose="02040503050406030204" pitchFamily="18" charset="0"/>
                          </a:rPr>
                        </m:ctrlPr>
                      </m:dPr>
                      <m:e>
                        <m:r>
                          <a:rPr lang="en-US" b="1">
                            <a:solidFill>
                              <a:srgbClr val="FF0000"/>
                            </a:solidFill>
                            <a:latin typeface="Cambria Math" panose="02040503050406030204" pitchFamily="18" charset="0"/>
                          </a:rPr>
                          <m:t>𝐗</m:t>
                        </m:r>
                        <m:r>
                          <a:rPr lang="en-US" b="1">
                            <a:solidFill>
                              <a:srgbClr val="FF0000"/>
                            </a:solidFill>
                            <a:latin typeface="Cambria Math" panose="02040503050406030204" pitchFamily="18" charset="0"/>
                          </a:rPr>
                          <m:t>&gt;</m:t>
                        </m:r>
                        <m:r>
                          <a:rPr lang="en-US" b="1">
                            <a:solidFill>
                              <a:srgbClr val="FF0000"/>
                            </a:solidFill>
                            <a:latin typeface="Cambria Math" panose="02040503050406030204" pitchFamily="18" charset="0"/>
                          </a:rPr>
                          <m:t>𝟏𝟓</m:t>
                        </m:r>
                      </m:e>
                    </m:d>
                    <m:r>
                      <a:rPr lang="en-US" b="1">
                        <a:solidFill>
                          <a:srgbClr val="FF0000"/>
                        </a:solidFill>
                        <a:latin typeface="Cambria Math" panose="02040503050406030204" pitchFamily="18" charset="0"/>
                      </a:rPr>
                      <m:t>, </m:t>
                    </m:r>
                  </m:oMath>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b="-197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726110"/>
                <a:ext cx="3974586" cy="4468596"/>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=15</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15</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12</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3</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a:t>
                </a:r>
                <a:r>
                  <a:rPr lang="en-US" sz="2800" dirty="0"/>
                  <a:t>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&gt;1)</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726110"/>
                <a:ext cx="3974586" cy="4468596"/>
              </a:xfrm>
              <a:prstGeom prst="rect">
                <a:avLst/>
              </a:prstGeom>
              <a:blipFill rotWithShape="0">
                <a:blip r:embed="rId3"/>
                <a:stretch>
                  <a:fillRect l="-3067"/>
                </a:stretch>
              </a:blipFill>
            </p:spPr>
            <p:txBody>
              <a:bodyPr/>
              <a:lstStyle/>
              <a:p>
                <a:r>
                  <a:rPr lang="en-IN">
                    <a:noFill/>
                  </a:rPr>
                  <a:t> </a:t>
                </a:r>
              </a:p>
            </p:txBody>
          </p:sp>
        </mc:Fallback>
      </mc:AlternateContent>
    </p:spTree>
    <p:extLst>
      <p:ext uri="{BB962C8B-B14F-4D97-AF65-F5344CB8AC3E}">
        <p14:creationId xmlns:p14="http://schemas.microsoft.com/office/powerpoint/2010/main" val="425596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72412" y="811709"/>
                <a:ext cx="6586197"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&gt;1)</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&gt;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&gt;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72412" y="811709"/>
                <a:ext cx="6586197" cy="2031325"/>
              </a:xfrm>
              <a:prstGeom prst="rect">
                <a:avLst/>
              </a:prstGeom>
              <a:blipFill rotWithShape="0">
                <a:blip r:embed="rId2"/>
                <a:stretch>
                  <a:fillRect l="-185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7798970" y="811709"/>
                <a:ext cx="4220751" cy="1384995"/>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&gt;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3413</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&gt;</m:t>
                          </m:r>
                          <m:r>
                            <a:rPr lang="en-US" sz="2800">
                              <a:solidFill>
                                <a:srgbClr val="FF0000"/>
                              </a:solidFill>
                              <a:latin typeface="Cambria Math" panose="02040503050406030204" pitchFamily="18" charset="0"/>
                              <a:ea typeface="Cambria Math" panose="02040503050406030204" pitchFamily="18" charset="0"/>
                            </a:rPr>
                            <m:t>𝟏</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𝟏𝟓𝟖𝟕</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7798970" y="811709"/>
                <a:ext cx="4220751" cy="1384995"/>
              </a:xfrm>
              <a:prstGeom prst="rect">
                <a:avLst/>
              </a:prstGeom>
              <a:blipFill rotWithShape="0">
                <a:blip r:embed="rId3"/>
                <a:stretch>
                  <a:fillRect/>
                </a:stretch>
              </a:blipFill>
            </p:spPr>
            <p:txBody>
              <a:bodyPr/>
              <a:lstStyle/>
              <a:p>
                <a:r>
                  <a:rPr lang="en-IN">
                    <a:noFill/>
                  </a:rPr>
                  <a:t> </a:t>
                </a:r>
              </a:p>
            </p:txBody>
          </p:sp>
        </mc:Fallback>
      </mc:AlternateContent>
      <p:cxnSp>
        <p:nvCxnSpPr>
          <p:cNvPr id="5" name="Straight Connector 4"/>
          <p:cNvCxnSpPr/>
          <p:nvPr/>
        </p:nvCxnSpPr>
        <p:spPr>
          <a:xfrm>
            <a:off x="7213475" y="811709"/>
            <a:ext cx="0" cy="186097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2360456376"/>
                  </p:ext>
                </p:extLst>
              </p:nvPr>
            </p:nvGraphicFramePr>
            <p:xfrm>
              <a:off x="334853" y="3115132"/>
              <a:ext cx="11475075" cy="2459703"/>
            </p:xfrm>
            <a:graphic>
              <a:graphicData uri="http://schemas.openxmlformats.org/drawingml/2006/table">
                <a:tbl>
                  <a:tblPr firstRow="1" bandRow="1">
                    <a:tableStyleId>{5C22544A-7EE6-4342-B048-85BDC9FD1C3A}</a:tableStyleId>
                  </a:tblPr>
                  <a:tblGrid>
                    <a:gridCol w="3593203">
                      <a:extLst>
                        <a:ext uri="{9D8B030D-6E8A-4147-A177-3AD203B41FA5}">
                          <a16:colId xmlns:a16="http://schemas.microsoft.com/office/drawing/2014/main" val="20000"/>
                        </a:ext>
                      </a:extLst>
                    </a:gridCol>
                    <a:gridCol w="360609">
                      <a:extLst>
                        <a:ext uri="{9D8B030D-6E8A-4147-A177-3AD203B41FA5}">
                          <a16:colId xmlns:a16="http://schemas.microsoft.com/office/drawing/2014/main" val="20001"/>
                        </a:ext>
                      </a:extLst>
                    </a:gridCol>
                    <a:gridCol w="3709115">
                      <a:extLst>
                        <a:ext uri="{9D8B030D-6E8A-4147-A177-3AD203B41FA5}">
                          <a16:colId xmlns:a16="http://schemas.microsoft.com/office/drawing/2014/main" val="20002"/>
                        </a:ext>
                      </a:extLst>
                    </a:gridCol>
                    <a:gridCol w="309093">
                      <a:extLst>
                        <a:ext uri="{9D8B030D-6E8A-4147-A177-3AD203B41FA5}">
                          <a16:colId xmlns:a16="http://schemas.microsoft.com/office/drawing/2014/main" val="20003"/>
                        </a:ext>
                      </a:extLst>
                    </a:gridCol>
                    <a:gridCol w="3503055">
                      <a:extLst>
                        <a:ext uri="{9D8B030D-6E8A-4147-A177-3AD203B41FA5}">
                          <a16:colId xmlns:a16="http://schemas.microsoft.com/office/drawing/2014/main" val="20004"/>
                        </a:ext>
                      </a:extLst>
                    </a:gridCol>
                  </a:tblGrid>
                  <a:tr h="1972023">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dirty="0"/>
                            <a:t>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6366">
                    <a:tc gridSpan="5">
                      <a:txBody>
                        <a:bodyPr/>
                        <a:lstStyle/>
                        <a:p>
                          <a:r>
                            <a:rPr lang="en-US" sz="2600" kern="1200" dirty="0">
                              <a:solidFill>
                                <a:schemeClr val="dk1"/>
                              </a:solidFill>
                              <a:effectLst/>
                              <a:ea typeface="+mn-ea"/>
                              <a:cs typeface="+mn-cs"/>
                            </a:rPr>
                            <a:t>                    </a:t>
                          </a:r>
                          <a14:m>
                            <m:oMath xmlns:m="http://schemas.openxmlformats.org/officeDocument/2006/math">
                              <m:r>
                                <a:rPr lang="en-IN" sz="2600" b="0" i="1" kern="1200" smtClean="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1</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1</m:t>
                              </m:r>
                            </m:oMath>
                          </a14:m>
                          <a:r>
                            <a:rPr lang="en-US" sz="2600" kern="1200" dirty="0">
                              <a:solidFill>
                                <a:schemeClr val="dk1"/>
                              </a:solidFill>
                              <a:effectLst/>
                              <a:latin typeface="+mn-lt"/>
                              <a:ea typeface="+mn-ea"/>
                              <a:cs typeface="+mn-cs"/>
                            </a:rPr>
                            <a:t> </a:t>
                          </a:r>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2360456376"/>
                  </p:ext>
                </p:extLst>
              </p:nvPr>
            </p:nvGraphicFramePr>
            <p:xfrm>
              <a:off x="334853" y="3115132"/>
              <a:ext cx="11475075" cy="2459703"/>
            </p:xfrm>
            <a:graphic>
              <a:graphicData uri="http://schemas.openxmlformats.org/drawingml/2006/table">
                <a:tbl>
                  <a:tblPr firstRow="1" bandRow="1">
                    <a:tableStyleId>{5C22544A-7EE6-4342-B048-85BDC9FD1C3A}</a:tableStyleId>
                  </a:tblPr>
                  <a:tblGrid>
                    <a:gridCol w="3593203"/>
                    <a:gridCol w="360609"/>
                    <a:gridCol w="3709115"/>
                    <a:gridCol w="309093"/>
                    <a:gridCol w="3503055"/>
                  </a:tblGrid>
                  <a:tr h="1972023">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1000000" r="-2093220" b="-24691"/>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466667" r="-1127451" b="-24691"/>
                          </a:stretch>
                        </a:blipFill>
                      </a:tcPr>
                    </a:tc>
                    <a:tc>
                      <a:txBody>
                        <a:bodyPr/>
                        <a:lstStyle/>
                        <a:p>
                          <a:r>
                            <a:rPr lang="en-IN" dirty="0" smtClean="0"/>
                            <a:t>   </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gridSpan="5">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405000"/>
                          </a:stretch>
                        </a:blip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pic>
        <p:nvPicPr>
          <p:cNvPr id="13" name="Picture 12"/>
          <p:cNvPicPr/>
          <p:nvPr/>
        </p:nvPicPr>
        <p:blipFill rotWithShape="1">
          <a:blip r:embed="rId5">
            <a:extLst>
              <a:ext uri="{28A0092B-C50C-407E-A947-70E740481C1C}">
                <a14:useLocalDpi xmlns:a14="http://schemas.microsoft.com/office/drawing/2010/main" val="0"/>
              </a:ext>
            </a:extLst>
          </a:blip>
          <a:srcRect r="65463"/>
          <a:stretch/>
        </p:blipFill>
        <p:spPr bwMode="auto">
          <a:xfrm flipH="1">
            <a:off x="463638" y="3206839"/>
            <a:ext cx="3425782" cy="1803043"/>
          </a:xfrm>
          <a:prstGeom prst="rect">
            <a:avLst/>
          </a:prstGeom>
          <a:noFill/>
          <a:ln>
            <a:noFill/>
          </a:ln>
          <a:extLst>
            <a:ext uri="{53640926-AAD7-44D8-BBD7-CCE9431645EC}">
              <a14:shadowObscured xmlns:a14="http://schemas.microsoft.com/office/drawing/2010/main"/>
            </a:ext>
          </a:extLst>
        </p:spPr>
      </p:pic>
      <p:pic>
        <p:nvPicPr>
          <p:cNvPr id="14" name="Picture 13"/>
          <p:cNvPicPr/>
          <p:nvPr/>
        </p:nvPicPr>
        <p:blipFill rotWithShape="1">
          <a:blip r:embed="rId5">
            <a:extLst>
              <a:ext uri="{28A0092B-C50C-407E-A947-70E740481C1C}">
                <a14:useLocalDpi xmlns:a14="http://schemas.microsoft.com/office/drawing/2010/main" val="0"/>
              </a:ext>
            </a:extLst>
          </a:blip>
          <a:srcRect l="37507" r="36326"/>
          <a:stretch/>
        </p:blipFill>
        <p:spPr bwMode="auto">
          <a:xfrm flipH="1">
            <a:off x="4417453" y="3206839"/>
            <a:ext cx="3381516" cy="1803043"/>
          </a:xfrm>
          <a:prstGeom prst="rect">
            <a:avLst/>
          </a:prstGeom>
          <a:noFill/>
          <a:ln>
            <a:noFill/>
          </a:ln>
          <a:extLst>
            <a:ext uri="{53640926-AAD7-44D8-BBD7-CCE9431645EC}">
              <a14:shadowObscured xmlns:a14="http://schemas.microsoft.com/office/drawing/2010/main"/>
            </a:ext>
          </a:extLst>
        </p:spPr>
      </p:pic>
      <p:pic>
        <p:nvPicPr>
          <p:cNvPr id="15" name="Picture 14"/>
          <p:cNvPicPr/>
          <p:nvPr/>
        </p:nvPicPr>
        <p:blipFill rotWithShape="1">
          <a:blip r:embed="rId5">
            <a:extLst>
              <a:ext uri="{28A0092B-C50C-407E-A947-70E740481C1C}">
                <a14:useLocalDpi xmlns:a14="http://schemas.microsoft.com/office/drawing/2010/main" val="0"/>
              </a:ext>
            </a:extLst>
          </a:blip>
          <a:srcRect l="67226"/>
          <a:stretch/>
        </p:blipFill>
        <p:spPr bwMode="auto">
          <a:xfrm flipH="1">
            <a:off x="8327002" y="3206840"/>
            <a:ext cx="3431408" cy="180304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6338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par>
                                <p:cTn id="12" presetID="22" presetClass="entr" presetSubtype="1"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up)">
                                      <p:cBhvr>
                                        <p:cTn id="14" dur="500"/>
                                        <p:tgtEl>
                                          <p:spTgt spid="14"/>
                                        </p:tgtEl>
                                      </p:cBhvr>
                                    </p:animEffect>
                                  </p:childTnLst>
                                </p:cTn>
                              </p:par>
                              <p:par>
                                <p:cTn id="15" presetID="22" presetClass="entr" presetSubtype="1"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par>
                                <p:cTn id="18" presetID="22" presetClass="entr" presetSubtype="1"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up)">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72412" y="811709"/>
                <a:ext cx="11740546"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the percentage of battery cells,</a:t>
                </a:r>
                <a:endParaRPr lang="en-IN" sz="2800" dirty="0">
                  <a:solidFill>
                    <a:schemeClr val="tx2">
                      <a:lumMod val="50000"/>
                    </a:schemeClr>
                  </a:solidFill>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&gt;</m:t>
                          </m:r>
                          <m:r>
                            <a:rPr lang="en-US" sz="2800" b="0" i="1">
                              <a:solidFill>
                                <a:schemeClr val="tx2">
                                  <a:lumMod val="50000"/>
                                </a:schemeClr>
                              </a:solidFill>
                              <a:latin typeface="Cambria Math" panose="02040503050406030204" pitchFamily="18" charset="0"/>
                              <a:ea typeface="Cambria Math" panose="02040503050406030204" pitchFamily="18" charset="0"/>
                            </a:rPr>
                            <m:t>1</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1587</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100</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1" i="1" smtClean="0">
                          <a:solidFill>
                            <a:srgbClr val="FF0000"/>
                          </a:solidFill>
                          <a:latin typeface="Cambria Math" panose="02040503050406030204" pitchFamily="18" charset="0"/>
                          <a:ea typeface="Cambria Math" panose="02040503050406030204" pitchFamily="18" charset="0"/>
                        </a:rPr>
                        <m:t>𝐏</m:t>
                      </m:r>
                      <m:d>
                        <m:dPr>
                          <m:ctrlPr>
                            <a:rPr lang="en-IN" sz="2800" b="1" i="1">
                              <a:solidFill>
                                <a:srgbClr val="FF0000"/>
                              </a:solidFill>
                              <a:latin typeface="Cambria Math" panose="02040503050406030204" pitchFamily="18" charset="0"/>
                              <a:ea typeface="Cambria Math" panose="02040503050406030204" pitchFamily="18" charset="0"/>
                            </a:rPr>
                          </m:ctrlPr>
                        </m:dPr>
                        <m:e>
                          <m:r>
                            <a:rPr lang="en-US" sz="2800" b="1" i="1">
                              <a:solidFill>
                                <a:srgbClr val="FF0000"/>
                              </a:solidFill>
                              <a:latin typeface="Cambria Math" panose="02040503050406030204" pitchFamily="18" charset="0"/>
                              <a:ea typeface="Cambria Math" panose="02040503050406030204" pitchFamily="18" charset="0"/>
                            </a:rPr>
                            <m:t>𝐙</m:t>
                          </m:r>
                          <m:r>
                            <a:rPr lang="en-US" sz="2800" b="1">
                              <a:solidFill>
                                <a:srgbClr val="FF0000"/>
                              </a:solidFill>
                              <a:latin typeface="Cambria Math" panose="02040503050406030204" pitchFamily="18" charset="0"/>
                              <a:ea typeface="Cambria Math" panose="02040503050406030204" pitchFamily="18" charset="0"/>
                            </a:rPr>
                            <m:t>&gt;</m:t>
                          </m:r>
                          <m:r>
                            <a:rPr lang="en-US" sz="2800" b="1" i="1">
                              <a:solidFill>
                                <a:srgbClr val="FF0000"/>
                              </a:solidFill>
                              <a:latin typeface="Cambria Math" panose="02040503050406030204" pitchFamily="18" charset="0"/>
                              <a:ea typeface="Cambria Math" panose="02040503050406030204" pitchFamily="18" charset="0"/>
                            </a:rPr>
                            <m:t>𝟏</m:t>
                          </m:r>
                        </m:e>
                      </m:d>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𝟏𝟓</m:t>
                      </m:r>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𝟖𝟕</m:t>
                      </m:r>
                      <m:r>
                        <a:rPr lang="en-US" sz="2800" b="1">
                          <a:solidFill>
                            <a:srgbClr val="FF0000"/>
                          </a:solidFill>
                          <a:latin typeface="Cambria Math" panose="02040503050406030204" pitchFamily="18" charset="0"/>
                          <a:ea typeface="Cambria Math" panose="02040503050406030204" pitchFamily="18" charset="0"/>
                        </a:rPr>
                        <m:t>%</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72412" y="811709"/>
                <a:ext cx="11740546" cy="2031325"/>
              </a:xfrm>
              <a:prstGeom prst="rect">
                <a:avLst/>
              </a:prstGeom>
              <a:blipFill rotWithShape="0">
                <a:blip r:embed="rId2"/>
                <a:stretch>
                  <a:fillRect l="-1038"/>
                </a:stretch>
              </a:blipFill>
            </p:spPr>
            <p:txBody>
              <a:bodyPr/>
              <a:lstStyle/>
              <a:p>
                <a:r>
                  <a:rPr lang="en-IN">
                    <a:noFill/>
                  </a:rPr>
                  <a:t> </a:t>
                </a:r>
              </a:p>
            </p:txBody>
          </p:sp>
        </mc:Fallback>
      </mc:AlternateContent>
    </p:spTree>
    <p:extLst>
      <p:ext uri="{BB962C8B-B14F-4D97-AF65-F5344CB8AC3E}">
        <p14:creationId xmlns:p14="http://schemas.microsoft.com/office/powerpoint/2010/main" val="4101550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(b) To find the probabilities of percentage (%) of battery cells are expected to have life less than 6 hours </a:t>
                </a:r>
                <a14:m>
                  <m:oMath xmlns:m="http://schemas.openxmlformats.org/officeDocument/2006/math">
                    <m:d>
                      <m:dPr>
                        <m:ctrlPr>
                          <a:rPr lang="en-IN" b="1" i="1">
                            <a:solidFill>
                              <a:srgbClr val="FF0000"/>
                            </a:solidFill>
                            <a:latin typeface="Cambria Math" panose="02040503050406030204" pitchFamily="18" charset="0"/>
                          </a:rPr>
                        </m:ctrlPr>
                      </m:dPr>
                      <m:e>
                        <m:r>
                          <a:rPr lang="en-US" b="1">
                            <a:solidFill>
                              <a:srgbClr val="FF0000"/>
                            </a:solidFill>
                            <a:latin typeface="Cambria Math" panose="02040503050406030204" pitchFamily="18" charset="0"/>
                          </a:rPr>
                          <m:t>𝐗</m:t>
                        </m:r>
                        <m:r>
                          <a:rPr lang="en-IN" b="1" i="0" smtClean="0">
                            <a:solidFill>
                              <a:srgbClr val="FF0000"/>
                            </a:solidFill>
                            <a:latin typeface="Cambria Math" panose="02040503050406030204" pitchFamily="18" charset="0"/>
                          </a:rPr>
                          <m:t>&lt;</m:t>
                        </m:r>
                        <m:r>
                          <a:rPr lang="en-IN" b="1" i="0" smtClean="0">
                            <a:solidFill>
                              <a:srgbClr val="FF0000"/>
                            </a:solidFill>
                            <a:latin typeface="Cambria Math" panose="02040503050406030204" pitchFamily="18" charset="0"/>
                          </a:rPr>
                          <m:t>𝟔</m:t>
                        </m:r>
                      </m:e>
                    </m:d>
                    <m:r>
                      <a:rPr lang="en-US" b="1">
                        <a:solidFill>
                          <a:srgbClr val="FF0000"/>
                        </a:solidFill>
                        <a:latin typeface="Cambria Math" panose="02040503050406030204" pitchFamily="18" charset="0"/>
                      </a:rPr>
                      <m:t>, </m:t>
                    </m:r>
                  </m:oMath>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b="-197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726110"/>
                <a:ext cx="3974586" cy="4468596"/>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=6</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6</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12</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3</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−2</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a:t>
                </a:r>
                <a:r>
                  <a:rPr lang="en-US" sz="2800" dirty="0"/>
                  <a:t>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IN" sz="2800" b="0" i="1" smtClean="0">
                        <a:solidFill>
                          <a:schemeClr val="tx2">
                            <a:lumMod val="50000"/>
                          </a:schemeClr>
                        </a:solidFill>
                        <a:latin typeface="Cambria Math" panose="02040503050406030204" pitchFamily="18" charset="0"/>
                        <a:ea typeface="Cambria Math" panose="02040503050406030204" pitchFamily="18" charset="0"/>
                      </a:rPr>
                      <m:t>&lt;−2</m:t>
                    </m:r>
                    <m:r>
                      <a:rPr lang="en-US" sz="2800" i="1">
                        <a:solidFill>
                          <a:schemeClr val="tx2">
                            <a:lumMod val="50000"/>
                          </a:schemeClr>
                        </a:solidFill>
                        <a:latin typeface="Cambria Math" panose="02040503050406030204" pitchFamily="18" charset="0"/>
                        <a:ea typeface="Cambria Math" panose="02040503050406030204" pitchFamily="18" charset="0"/>
                      </a:rPr>
                      <m:t>)</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726110"/>
                <a:ext cx="3974586" cy="4468596"/>
              </a:xfrm>
              <a:prstGeom prst="rect">
                <a:avLst/>
              </a:prstGeom>
              <a:blipFill rotWithShape="0">
                <a:blip r:embed="rId3"/>
                <a:stretch>
                  <a:fillRect l="-3067"/>
                </a:stretch>
              </a:blipFill>
            </p:spPr>
            <p:txBody>
              <a:bodyPr/>
              <a:lstStyle/>
              <a:p>
                <a:r>
                  <a:rPr lang="en-IN">
                    <a:noFill/>
                  </a:rPr>
                  <a:t> </a:t>
                </a:r>
              </a:p>
            </p:txBody>
          </p:sp>
        </mc:Fallback>
      </mc:AlternateContent>
    </p:spTree>
    <p:extLst>
      <p:ext uri="{BB962C8B-B14F-4D97-AF65-F5344CB8AC3E}">
        <p14:creationId xmlns:p14="http://schemas.microsoft.com/office/powerpoint/2010/main" val="99869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59533" y="734435"/>
                <a:ext cx="7341197"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&lt;−2)</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&lt;0</m:t>
                          </m:r>
                        </m:e>
                      </m:d>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(−2&lt;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&lt;0)</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&lt;−2)=0.5−</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59533" y="734435"/>
                <a:ext cx="7341197" cy="2031325"/>
              </a:xfrm>
              <a:prstGeom prst="rect">
                <a:avLst/>
              </a:prstGeom>
              <a:blipFill rotWithShape="0">
                <a:blip r:embed="rId2"/>
                <a:stretch>
                  <a:fillRect l="-16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7693395" y="734435"/>
                <a:ext cx="4498605" cy="2031325"/>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&lt;−2)=0.5−</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=2)</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&lt;−2)=0.5−0.4773</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ea typeface="Cambria Math" panose="02040503050406030204" pitchFamily="18" charset="0"/>
                        </a:rPr>
                        <m:t>𝐏</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𝐙</m:t>
                      </m:r>
                      <m:r>
                        <a:rPr lang="en-US" sz="2800" b="1" i="0" smtClean="0">
                          <a:solidFill>
                            <a:srgbClr val="FF0000"/>
                          </a:solidFill>
                          <a:latin typeface="Cambria Math" panose="02040503050406030204" pitchFamily="18" charset="0"/>
                          <a:ea typeface="Cambria Math" panose="02040503050406030204" pitchFamily="18" charset="0"/>
                        </a:rPr>
                        <m:t>&lt;−</m:t>
                      </m:r>
                      <m:r>
                        <a:rPr lang="en-US" sz="2800" b="1" i="0" smtClean="0">
                          <a:solidFill>
                            <a:srgbClr val="FF0000"/>
                          </a:solidFill>
                          <a:latin typeface="Cambria Math" panose="02040503050406030204" pitchFamily="18" charset="0"/>
                          <a:ea typeface="Cambria Math" panose="02040503050406030204" pitchFamily="18" charset="0"/>
                        </a:rPr>
                        <m:t>𝟐</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𝟎</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𝟎𝟐𝟐𝟕</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7693395" y="734435"/>
                <a:ext cx="4498605" cy="2031325"/>
              </a:xfrm>
              <a:prstGeom prst="rect">
                <a:avLst/>
              </a:prstGeom>
              <a:blipFill rotWithShape="0">
                <a:blip r:embed="rId3"/>
                <a:stretch>
                  <a:fillRect/>
                </a:stretch>
              </a:blipFill>
            </p:spPr>
            <p:txBody>
              <a:bodyPr/>
              <a:lstStyle/>
              <a:p>
                <a:r>
                  <a:rPr lang="en-IN">
                    <a:noFill/>
                  </a:rPr>
                  <a:t> </a:t>
                </a:r>
              </a:p>
            </p:txBody>
          </p:sp>
        </mc:Fallback>
      </mc:AlternateContent>
      <p:cxnSp>
        <p:nvCxnSpPr>
          <p:cNvPr id="5" name="Straight Connector 4"/>
          <p:cNvCxnSpPr/>
          <p:nvPr/>
        </p:nvCxnSpPr>
        <p:spPr>
          <a:xfrm>
            <a:off x="7518275" y="904787"/>
            <a:ext cx="0" cy="1860973"/>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474164340"/>
                  </p:ext>
                </p:extLst>
              </p:nvPr>
            </p:nvGraphicFramePr>
            <p:xfrm>
              <a:off x="567509" y="3034746"/>
              <a:ext cx="11198087" cy="2912830"/>
            </p:xfrm>
            <a:graphic>
              <a:graphicData uri="http://schemas.openxmlformats.org/drawingml/2006/table">
                <a:tbl>
                  <a:tblPr firstRow="1" bandRow="1">
                    <a:tableStyleId>{5C22544A-7EE6-4342-B048-85BDC9FD1C3A}</a:tableStyleId>
                  </a:tblPr>
                  <a:tblGrid>
                    <a:gridCol w="11198087">
                      <a:extLst>
                        <a:ext uri="{9D8B030D-6E8A-4147-A177-3AD203B41FA5}">
                          <a16:colId xmlns:a16="http://schemas.microsoft.com/office/drawing/2014/main" val="20000"/>
                        </a:ext>
                      </a:extLst>
                    </a:gridCol>
                  </a:tblGrid>
                  <a:tr h="242515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63826">
                    <a:tc>
                      <a:txBody>
                        <a:bodyPr/>
                        <a:lstStyle/>
                        <a:p>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474164340"/>
                  </p:ext>
                </p:extLst>
              </p:nvPr>
            </p:nvGraphicFramePr>
            <p:xfrm>
              <a:off x="567509" y="3034746"/>
              <a:ext cx="11198087" cy="2912830"/>
            </p:xfrm>
            <a:graphic>
              <a:graphicData uri="http://schemas.openxmlformats.org/drawingml/2006/table">
                <a:tbl>
                  <a:tblPr firstRow="1" bandRow="1">
                    <a:tableStyleId>{5C22544A-7EE6-4342-B048-85BDC9FD1C3A}</a:tableStyleId>
                  </a:tblPr>
                  <a:tblGrid>
                    <a:gridCol w="11198087"/>
                  </a:tblGrid>
                  <a:tr h="242515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498750"/>
                          </a:stretch>
                        </a:blipFill>
                      </a:tcPr>
                    </a:tc>
                  </a:tr>
                </a:tbl>
              </a:graphicData>
            </a:graphic>
          </p:graphicFrame>
        </mc:Fallback>
      </mc:AlternateContent>
      <p:pic>
        <p:nvPicPr>
          <p:cNvPr id="7" name="Picture 6"/>
          <p:cNvPicPr/>
          <p:nvPr/>
        </p:nvPicPr>
        <p:blipFill>
          <a:blip r:embed="rId5">
            <a:extLst>
              <a:ext uri="{28A0092B-C50C-407E-A947-70E740481C1C}">
                <a14:useLocalDpi xmlns:a14="http://schemas.microsoft.com/office/drawing/2010/main" val="0"/>
              </a:ext>
            </a:extLst>
          </a:blip>
          <a:srcRect/>
          <a:stretch>
            <a:fillRect/>
          </a:stretch>
        </p:blipFill>
        <p:spPr bwMode="auto">
          <a:xfrm>
            <a:off x="609600" y="3167271"/>
            <a:ext cx="11224592" cy="2266120"/>
          </a:xfrm>
          <a:prstGeom prst="rect">
            <a:avLst/>
          </a:prstGeom>
          <a:noFill/>
        </p:spPr>
      </p:pic>
    </p:spTree>
    <p:extLst>
      <p:ext uri="{BB962C8B-B14F-4D97-AF65-F5344CB8AC3E}">
        <p14:creationId xmlns:p14="http://schemas.microsoft.com/office/powerpoint/2010/main" val="183060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par>
                                <p:cTn id="12" presetID="22" presetClass="entr" presetSubtype="1"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59533" y="734435"/>
                <a:ext cx="11740546"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the percentage of battery cells,</a:t>
                </a:r>
                <a:endParaRPr lang="en-IN" sz="2800" dirty="0">
                  <a:solidFill>
                    <a:schemeClr val="tx2">
                      <a:lumMod val="50000"/>
                    </a:schemeClr>
                  </a:solidFill>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m:t>
                          </m:r>
                        </m:e>
                      </m:d>
                      <m:r>
                        <a:rPr lang="en-US" sz="2800" b="0" i="0">
                          <a:solidFill>
                            <a:schemeClr val="tx2">
                              <a:lumMod val="50000"/>
                            </a:schemeClr>
                          </a:solidFill>
                          <a:latin typeface="Cambria Math" panose="02040503050406030204" pitchFamily="18" charset="0"/>
                          <a:ea typeface="Cambria Math" panose="02040503050406030204" pitchFamily="18" charset="0"/>
                        </a:rPr>
                        <m:t>=0.0227×100</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i="1">
                              <a:solidFill>
                                <a:srgbClr val="FF0000"/>
                              </a:solidFill>
                              <a:latin typeface="Cambria Math" panose="02040503050406030204" pitchFamily="18" charset="0"/>
                              <a:ea typeface="Cambria Math" panose="02040503050406030204" pitchFamily="18" charset="0"/>
                            </a:rPr>
                            <m:t>𝐙</m:t>
                          </m:r>
                          <m:r>
                            <a:rPr lang="en-US" sz="2800" i="1">
                              <a:solidFill>
                                <a:srgbClr val="FF0000"/>
                              </a:solidFill>
                              <a:latin typeface="Cambria Math" panose="02040503050406030204" pitchFamily="18" charset="0"/>
                              <a:ea typeface="Cambria Math" panose="02040503050406030204" pitchFamily="18" charset="0"/>
                            </a:rPr>
                            <m:t>&lt;−</m:t>
                          </m:r>
                          <m:r>
                            <a:rPr lang="en-US" sz="2800" i="1">
                              <a:solidFill>
                                <a:srgbClr val="FF0000"/>
                              </a:solidFill>
                              <a:latin typeface="Cambria Math" panose="02040503050406030204" pitchFamily="18" charset="0"/>
                              <a:ea typeface="Cambria Math" panose="02040503050406030204" pitchFamily="18" charset="0"/>
                            </a:rPr>
                            <m:t>𝟐</m:t>
                          </m:r>
                        </m:e>
                      </m:d>
                      <m:r>
                        <a:rPr lang="en-US" sz="2800" i="1">
                          <a:solidFill>
                            <a:srgbClr val="FF0000"/>
                          </a:solidFill>
                          <a:latin typeface="Cambria Math" panose="02040503050406030204" pitchFamily="18" charset="0"/>
                          <a:ea typeface="Cambria Math" panose="02040503050406030204" pitchFamily="18" charset="0"/>
                        </a:rPr>
                        <m:t>=</m:t>
                      </m:r>
                      <m:r>
                        <a:rPr lang="en-US" sz="2800" i="1">
                          <a:solidFill>
                            <a:srgbClr val="FF0000"/>
                          </a:solidFill>
                          <a:latin typeface="Cambria Math" panose="02040503050406030204" pitchFamily="18" charset="0"/>
                          <a:ea typeface="Cambria Math" panose="02040503050406030204" pitchFamily="18" charset="0"/>
                        </a:rPr>
                        <m:t>𝟐</m:t>
                      </m:r>
                      <m:r>
                        <a:rPr lang="en-US" sz="2800" i="1">
                          <a:solidFill>
                            <a:srgbClr val="FF0000"/>
                          </a:solidFill>
                          <a:latin typeface="Cambria Math" panose="02040503050406030204" pitchFamily="18" charset="0"/>
                          <a:ea typeface="Cambria Math" panose="02040503050406030204" pitchFamily="18" charset="0"/>
                        </a:rPr>
                        <m:t>.</m:t>
                      </m:r>
                      <m:r>
                        <a:rPr lang="en-US" sz="2800" i="1">
                          <a:solidFill>
                            <a:srgbClr val="FF0000"/>
                          </a:solidFill>
                          <a:latin typeface="Cambria Math" panose="02040503050406030204" pitchFamily="18" charset="0"/>
                          <a:ea typeface="Cambria Math" panose="02040503050406030204" pitchFamily="18" charset="0"/>
                        </a:rPr>
                        <m:t>𝟐𝟕</m:t>
                      </m:r>
                      <m:r>
                        <a:rPr lang="en-US" sz="2800" i="1">
                          <a:solidFill>
                            <a:srgbClr val="FF0000"/>
                          </a:solidFill>
                          <a:latin typeface="Cambria Math" panose="02040503050406030204" pitchFamily="18" charset="0"/>
                          <a:ea typeface="Cambria Math" panose="02040503050406030204" pitchFamily="18" charset="0"/>
                        </a:rPr>
                        <m:t>%</m:t>
                      </m:r>
                    </m:oMath>
                  </m:oMathPara>
                </a14:m>
                <a:endParaRPr lang="en-IN" sz="2800" i="1"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59533" y="734435"/>
                <a:ext cx="11740546" cy="2031325"/>
              </a:xfrm>
              <a:prstGeom prst="rect">
                <a:avLst/>
              </a:prstGeom>
              <a:blipFill rotWithShape="0">
                <a:blip r:embed="rId2"/>
                <a:stretch>
                  <a:fillRect l="-1038"/>
                </a:stretch>
              </a:blipFill>
            </p:spPr>
            <p:txBody>
              <a:bodyPr/>
              <a:lstStyle/>
              <a:p>
                <a:r>
                  <a:rPr lang="en-IN">
                    <a:noFill/>
                  </a:rPr>
                  <a:t> </a:t>
                </a:r>
              </a:p>
            </p:txBody>
          </p:sp>
        </mc:Fallback>
      </mc:AlternateContent>
    </p:spTree>
    <p:extLst>
      <p:ext uri="{BB962C8B-B14F-4D97-AF65-F5344CB8AC3E}">
        <p14:creationId xmlns:p14="http://schemas.microsoft.com/office/powerpoint/2010/main" val="281572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(c) To find the probabilities of percentage (%) of battery cells are expected to have life between 10 to 14 hours </a:t>
                </a:r>
                <a14:m>
                  <m:oMath xmlns:m="http://schemas.openxmlformats.org/officeDocument/2006/math">
                    <m:d>
                      <m:dPr>
                        <m:ctrlPr>
                          <a:rPr lang="en-IN" b="1" i="1">
                            <a:solidFill>
                              <a:srgbClr val="FF0000"/>
                            </a:solidFill>
                            <a:latin typeface="Cambria Math" panose="02040503050406030204" pitchFamily="18" charset="0"/>
                          </a:rPr>
                        </m:ctrlPr>
                      </m:dPr>
                      <m:e>
                        <m:r>
                          <a:rPr lang="en-IN" b="1" i="1" smtClean="0">
                            <a:solidFill>
                              <a:srgbClr val="FF0000"/>
                            </a:solidFill>
                            <a:latin typeface="Cambria Math" panose="02040503050406030204" pitchFamily="18" charset="0"/>
                          </a:rPr>
                          <m:t>𝟏𝟎</m:t>
                        </m:r>
                        <m:r>
                          <a:rPr lang="en-IN" b="1" i="1" smtClean="0">
                            <a:solidFill>
                              <a:srgbClr val="FF0000"/>
                            </a:solidFill>
                            <a:latin typeface="Cambria Math" panose="02040503050406030204" pitchFamily="18" charset="0"/>
                          </a:rPr>
                          <m:t>&lt;</m:t>
                        </m:r>
                        <m:r>
                          <a:rPr lang="en-US" b="1">
                            <a:solidFill>
                              <a:srgbClr val="FF0000"/>
                            </a:solidFill>
                            <a:latin typeface="Cambria Math" panose="02040503050406030204" pitchFamily="18" charset="0"/>
                          </a:rPr>
                          <m:t>𝐗</m:t>
                        </m:r>
                        <m:r>
                          <a:rPr lang="en-IN" b="1" i="0" smtClean="0">
                            <a:solidFill>
                              <a:srgbClr val="FF0000"/>
                            </a:solidFill>
                            <a:latin typeface="Cambria Math" panose="02040503050406030204" pitchFamily="18" charset="0"/>
                          </a:rPr>
                          <m:t>&lt;</m:t>
                        </m:r>
                        <m:r>
                          <a:rPr lang="en-IN" b="1" i="0" smtClean="0">
                            <a:solidFill>
                              <a:srgbClr val="FF0000"/>
                            </a:solidFill>
                            <a:latin typeface="Cambria Math" panose="02040503050406030204" pitchFamily="18" charset="0"/>
                          </a:rPr>
                          <m:t>𝟏𝟒</m:t>
                        </m:r>
                      </m:e>
                    </m:d>
                    <m:r>
                      <a:rPr lang="en-US" b="1">
                        <a:solidFill>
                          <a:srgbClr val="FF0000"/>
                        </a:solidFill>
                        <a:latin typeface="Cambria Math" panose="02040503050406030204" pitchFamily="18" charset="0"/>
                      </a:rPr>
                      <m:t>, </m:t>
                    </m:r>
                  </m:oMath>
                </a14:m>
                <a:endParaRPr lang="en-IN" b="1" dirty="0">
                  <a:solidFill>
                    <a:srgbClr val="FF0000"/>
                  </a:solidFill>
                  <a:latin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b="-197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726110"/>
                <a:ext cx="3974586" cy="3809056"/>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=10</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10</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12</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3</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−0.6667</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69381" y="1726110"/>
                <a:ext cx="3974586" cy="3809056"/>
              </a:xfrm>
              <a:prstGeom prst="rect">
                <a:avLst/>
              </a:prstGeom>
              <a:blipFill rotWithShape="0">
                <a:blip r:embed="rId3"/>
                <a:stretch>
                  <a:fillRect l="-30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281530" y="1666215"/>
                <a:ext cx="5420140" cy="4455387"/>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=14</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14</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12</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3</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0.6667</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(−0.6667&lt;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&lt;0.6667)</m:t>
                    </m:r>
                  </m:oMath>
                </a14:m>
                <a:endParaRPr lang="en-US" sz="2800" i="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281530" y="1666215"/>
                <a:ext cx="5420140" cy="4455387"/>
              </a:xfrm>
              <a:prstGeom prst="rect">
                <a:avLst/>
              </a:prstGeom>
              <a:blipFill rotWithShape="0">
                <a:blip r:embed="rId4"/>
                <a:stretch>
                  <a:fillRect l="-2247"/>
                </a:stretch>
              </a:blipFill>
            </p:spPr>
            <p:txBody>
              <a:bodyPr/>
              <a:lstStyle/>
              <a:p>
                <a:r>
                  <a:rPr lang="en-IN">
                    <a:noFill/>
                  </a:rPr>
                  <a:t> </a:t>
                </a:r>
              </a:p>
            </p:txBody>
          </p:sp>
        </mc:Fallback>
      </mc:AlternateContent>
      <p:cxnSp>
        <p:nvCxnSpPr>
          <p:cNvPr id="8" name="Straight Connector 7"/>
          <p:cNvCxnSpPr/>
          <p:nvPr/>
        </p:nvCxnSpPr>
        <p:spPr>
          <a:xfrm>
            <a:off x="5731099" y="1753299"/>
            <a:ext cx="0" cy="4711895"/>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576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59533" y="811709"/>
                <a:ext cx="11740546"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(−0.6667&lt;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&lt;0.6667)</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59533" y="811709"/>
                <a:ext cx="11740546" cy="2031325"/>
              </a:xfrm>
              <a:prstGeom prst="rect">
                <a:avLst/>
              </a:prstGeom>
              <a:blipFill rotWithShape="0">
                <a:blip r:embed="rId2"/>
                <a:stretch>
                  <a:fillRect l="-10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266169145"/>
                  </p:ext>
                </p:extLst>
              </p:nvPr>
            </p:nvGraphicFramePr>
            <p:xfrm>
              <a:off x="475491" y="2987898"/>
              <a:ext cx="11198087" cy="2894350"/>
            </p:xfrm>
            <a:graphic>
              <a:graphicData uri="http://schemas.openxmlformats.org/drawingml/2006/table">
                <a:tbl>
                  <a:tblPr firstRow="1" bandRow="1">
                    <a:tableStyleId>{5C22544A-7EE6-4342-B048-85BDC9FD1C3A}</a:tableStyleId>
                  </a:tblPr>
                  <a:tblGrid>
                    <a:gridCol w="11198087">
                      <a:extLst>
                        <a:ext uri="{9D8B030D-6E8A-4147-A177-3AD203B41FA5}">
                          <a16:colId xmlns:a16="http://schemas.microsoft.com/office/drawing/2014/main" val="20000"/>
                        </a:ext>
                      </a:extLst>
                    </a:gridCol>
                  </a:tblGrid>
                  <a:tr h="240667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63826">
                    <a:tc>
                      <a:txBody>
                        <a:bodyPr/>
                        <a:lstStyle/>
                        <a:p>
                          <a:r>
                            <a:rPr lang="en-IN"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−0.66</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0.66</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r>
                                <a:rPr lang="en-US" sz="2600" i="1" kern="1200">
                                  <a:solidFill>
                                    <a:schemeClr val="dk1"/>
                                  </a:solidFill>
                                  <a:effectLst/>
                                  <a:latin typeface="Cambria Math" panose="02040503050406030204" pitchFamily="18" charset="0"/>
                                  <a:ea typeface="+mn-ea"/>
                                  <a:cs typeface="+mn-cs"/>
                                </a:rPr>
                                <m:t>0.66</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0.66</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266169145"/>
                  </p:ext>
                </p:extLst>
              </p:nvPr>
            </p:nvGraphicFramePr>
            <p:xfrm>
              <a:off x="475491" y="2987898"/>
              <a:ext cx="11198087" cy="2894350"/>
            </p:xfrm>
            <a:graphic>
              <a:graphicData uri="http://schemas.openxmlformats.org/drawingml/2006/table">
                <a:tbl>
                  <a:tblPr firstRow="1" bandRow="1">
                    <a:tableStyleId>{5C22544A-7EE6-4342-B048-85BDC9FD1C3A}</a:tableStyleId>
                  </a:tblPr>
                  <a:tblGrid>
                    <a:gridCol w="11198087"/>
                  </a:tblGrid>
                  <a:tr h="240667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493750"/>
                          </a:stretch>
                        </a:blipFill>
                      </a:tcPr>
                    </a:tc>
                  </a:tr>
                </a:tbl>
              </a:graphicData>
            </a:graphic>
          </p:graphicFrame>
        </mc:Fallback>
      </mc:AlternateContent>
      <p:pic>
        <p:nvPicPr>
          <p:cNvPr id="5" name="Picture 4"/>
          <p:cNvPicPr/>
          <p:nvPr/>
        </p:nvPicPr>
        <p:blipFill rotWithShape="1">
          <a:blip r:embed="rId4">
            <a:extLst>
              <a:ext uri="{28A0092B-C50C-407E-A947-70E740481C1C}">
                <a14:useLocalDpi xmlns:a14="http://schemas.microsoft.com/office/drawing/2010/main" val="0"/>
              </a:ext>
            </a:extLst>
          </a:blip>
          <a:srcRect l="1279" r="1272"/>
          <a:stretch/>
        </p:blipFill>
        <p:spPr bwMode="auto">
          <a:xfrm>
            <a:off x="502276" y="3065172"/>
            <a:ext cx="11075831" cy="227955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2060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59533" y="811709"/>
                <a:ext cx="11740546" cy="4616648"/>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(−0.6667&lt;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&lt;0.6667)</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 </m:t>
                      </m:r>
                      <m:d>
                        <m:dPr>
                          <m:begChr m:val="["/>
                          <m:endChr m:val="]"/>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e>
                      </m:d>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 </m:t>
                      </m:r>
                      <m:d>
                        <m:dPr>
                          <m:begChr m:val="["/>
                          <m:endChr m:val="]"/>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67</m:t>
                              </m:r>
                            </m:e>
                          </m:d>
                        </m:e>
                      </m:d>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 ×</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2486</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1" i="0" smtClean="0">
                          <a:solidFill>
                            <a:srgbClr val="FF0000"/>
                          </a:solidFill>
                          <a:latin typeface="Cambria Math" panose="02040503050406030204" pitchFamily="18" charset="0"/>
                          <a:ea typeface="Cambria Math" panose="02040503050406030204" pitchFamily="18" charset="0"/>
                        </a:rPr>
                        <m:t>𝐏</m:t>
                      </m:r>
                      <m:d>
                        <m:dPr>
                          <m:ctrlPr>
                            <a:rPr lang="en-IN" sz="2800" b="1" i="1">
                              <a:solidFill>
                                <a:srgbClr val="FF0000"/>
                              </a:solidFill>
                              <a:latin typeface="Cambria Math" panose="02040503050406030204" pitchFamily="18" charset="0"/>
                              <a:ea typeface="Cambria Math" panose="02040503050406030204" pitchFamily="18" charset="0"/>
                            </a:rPr>
                          </m:ctrlPr>
                        </m:dPr>
                        <m:e>
                          <m:r>
                            <a:rPr lang="en-US" sz="2800" b="1" i="0">
                              <a:solidFill>
                                <a:srgbClr val="FF0000"/>
                              </a:solidFill>
                              <a:latin typeface="Cambria Math" panose="02040503050406030204" pitchFamily="18" charset="0"/>
                              <a:ea typeface="Cambria Math" panose="02040503050406030204" pitchFamily="18" charset="0"/>
                            </a:rPr>
                            <m:t>−</m:t>
                          </m:r>
                          <m:r>
                            <a:rPr lang="en-US" sz="2800" b="1" i="0">
                              <a:solidFill>
                                <a:srgbClr val="FF0000"/>
                              </a:solidFill>
                              <a:latin typeface="Cambria Math" panose="02040503050406030204" pitchFamily="18" charset="0"/>
                              <a:ea typeface="Cambria Math" panose="02040503050406030204" pitchFamily="18" charset="0"/>
                            </a:rPr>
                            <m:t>𝟎</m:t>
                          </m:r>
                          <m:r>
                            <a:rPr lang="en-US" sz="2800" b="1" i="0">
                              <a:solidFill>
                                <a:srgbClr val="FF0000"/>
                              </a:solidFill>
                              <a:latin typeface="Cambria Math" panose="02040503050406030204" pitchFamily="18" charset="0"/>
                              <a:ea typeface="Cambria Math" panose="02040503050406030204" pitchFamily="18" charset="0"/>
                            </a:rPr>
                            <m:t>.</m:t>
                          </m:r>
                          <m:r>
                            <a:rPr lang="en-US" sz="2800" b="1" i="0">
                              <a:solidFill>
                                <a:srgbClr val="FF0000"/>
                              </a:solidFill>
                              <a:latin typeface="Cambria Math" panose="02040503050406030204" pitchFamily="18" charset="0"/>
                              <a:ea typeface="Cambria Math" panose="02040503050406030204" pitchFamily="18" charset="0"/>
                            </a:rPr>
                            <m:t>𝟔𝟔𝟔𝟕</m:t>
                          </m:r>
                          <m:r>
                            <a:rPr lang="en-US" sz="2800" b="1" i="0">
                              <a:solidFill>
                                <a:srgbClr val="FF0000"/>
                              </a:solidFill>
                              <a:latin typeface="Cambria Math" panose="02040503050406030204" pitchFamily="18" charset="0"/>
                              <a:ea typeface="Cambria Math" panose="02040503050406030204" pitchFamily="18" charset="0"/>
                            </a:rPr>
                            <m:t>&lt;</m:t>
                          </m:r>
                          <m:r>
                            <a:rPr lang="en-US" sz="2800" b="1" i="0">
                              <a:solidFill>
                                <a:srgbClr val="FF0000"/>
                              </a:solidFill>
                              <a:latin typeface="Cambria Math" panose="02040503050406030204" pitchFamily="18" charset="0"/>
                              <a:ea typeface="Cambria Math" panose="02040503050406030204" pitchFamily="18" charset="0"/>
                            </a:rPr>
                            <m:t>𝐙</m:t>
                          </m:r>
                          <m:r>
                            <a:rPr lang="en-US" sz="2800" b="1" i="0">
                              <a:solidFill>
                                <a:srgbClr val="FF0000"/>
                              </a:solidFill>
                              <a:latin typeface="Cambria Math" panose="02040503050406030204" pitchFamily="18" charset="0"/>
                              <a:ea typeface="Cambria Math" panose="02040503050406030204" pitchFamily="18" charset="0"/>
                            </a:rPr>
                            <m:t>&lt;</m:t>
                          </m:r>
                          <m:r>
                            <a:rPr lang="en-US" sz="2800" b="1" i="0">
                              <a:solidFill>
                                <a:srgbClr val="FF0000"/>
                              </a:solidFill>
                              <a:latin typeface="Cambria Math" panose="02040503050406030204" pitchFamily="18" charset="0"/>
                              <a:ea typeface="Cambria Math" panose="02040503050406030204" pitchFamily="18" charset="0"/>
                            </a:rPr>
                            <m:t>𝟎</m:t>
                          </m:r>
                          <m:r>
                            <a:rPr lang="en-US" sz="2800" b="1" i="0">
                              <a:solidFill>
                                <a:srgbClr val="FF0000"/>
                              </a:solidFill>
                              <a:latin typeface="Cambria Math" panose="02040503050406030204" pitchFamily="18" charset="0"/>
                              <a:ea typeface="Cambria Math" panose="02040503050406030204" pitchFamily="18" charset="0"/>
                            </a:rPr>
                            <m:t>.</m:t>
                          </m:r>
                          <m:r>
                            <a:rPr lang="en-US" sz="2800" b="1" i="0">
                              <a:solidFill>
                                <a:srgbClr val="FF0000"/>
                              </a:solidFill>
                              <a:latin typeface="Cambria Math" panose="02040503050406030204" pitchFamily="18" charset="0"/>
                              <a:ea typeface="Cambria Math" panose="02040503050406030204" pitchFamily="18" charset="0"/>
                            </a:rPr>
                            <m:t>𝟔𝟔𝟔𝟕</m:t>
                          </m:r>
                        </m:e>
                      </m:d>
                      <m:r>
                        <a:rPr lang="en-US" sz="2800" b="1" i="0">
                          <a:solidFill>
                            <a:srgbClr val="FF0000"/>
                          </a:solidFill>
                          <a:latin typeface="Cambria Math" panose="02040503050406030204" pitchFamily="18" charset="0"/>
                          <a:ea typeface="Cambria Math" panose="02040503050406030204" pitchFamily="18" charset="0"/>
                        </a:rPr>
                        <m:t>=</m:t>
                      </m:r>
                      <m:r>
                        <a:rPr lang="en-US" sz="2800" b="1" i="0">
                          <a:solidFill>
                            <a:srgbClr val="FF0000"/>
                          </a:solidFill>
                          <a:latin typeface="Cambria Math" panose="02040503050406030204" pitchFamily="18" charset="0"/>
                          <a:ea typeface="Cambria Math" panose="02040503050406030204" pitchFamily="18" charset="0"/>
                        </a:rPr>
                        <m:t>𝟎</m:t>
                      </m:r>
                      <m:r>
                        <a:rPr lang="en-US" sz="2800" b="1" i="0">
                          <a:solidFill>
                            <a:srgbClr val="FF0000"/>
                          </a:solidFill>
                          <a:latin typeface="Cambria Math" panose="02040503050406030204" pitchFamily="18" charset="0"/>
                          <a:ea typeface="Cambria Math" panose="02040503050406030204" pitchFamily="18" charset="0"/>
                        </a:rPr>
                        <m:t>.</m:t>
                      </m:r>
                      <m:r>
                        <a:rPr lang="en-US" sz="2800" b="1" i="0">
                          <a:solidFill>
                            <a:srgbClr val="FF0000"/>
                          </a:solidFill>
                          <a:latin typeface="Cambria Math" panose="02040503050406030204" pitchFamily="18" charset="0"/>
                          <a:ea typeface="Cambria Math" panose="02040503050406030204" pitchFamily="18" charset="0"/>
                        </a:rPr>
                        <m:t>𝟒𝟗𝟕𝟐</m:t>
                      </m:r>
                    </m:oMath>
                  </m:oMathPara>
                </a14:m>
                <a:endParaRPr lang="en-IN" sz="2800" b="1"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59533" y="811709"/>
                <a:ext cx="11740546" cy="4616648"/>
              </a:xfrm>
              <a:prstGeom prst="rect">
                <a:avLst/>
              </a:prstGeom>
              <a:blipFill rotWithShape="0">
                <a:blip r:embed="rId2"/>
                <a:stretch>
                  <a:fillRect l="-1038"/>
                </a:stretch>
              </a:blipFill>
            </p:spPr>
            <p:txBody>
              <a:bodyPr/>
              <a:lstStyle/>
              <a:p>
                <a:r>
                  <a:rPr lang="en-IN">
                    <a:noFill/>
                  </a:rPr>
                  <a:t> </a:t>
                </a:r>
              </a:p>
            </p:txBody>
          </p:sp>
        </mc:Fallback>
      </mc:AlternateContent>
    </p:spTree>
    <p:extLst>
      <p:ext uri="{BB962C8B-B14F-4D97-AF65-F5344CB8AC3E}">
        <p14:creationId xmlns:p14="http://schemas.microsoft.com/office/powerpoint/2010/main" val="234808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4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59533" y="824588"/>
                <a:ext cx="11740546"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the percentage of battery cells,</a:t>
                </a:r>
                <a:endParaRPr lang="en-IN" sz="2800" dirty="0">
                  <a:solidFill>
                    <a:schemeClr val="tx2">
                      <a:lumMod val="50000"/>
                    </a:schemeClr>
                  </a:solidFill>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4972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100</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𝟔𝟔𝟔𝟕</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𝟔𝟔𝟔𝟕</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𝟒𝟗</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𝟕𝟐</m:t>
                      </m:r>
                      <m:r>
                        <a:rPr lang="en-US" sz="2800">
                          <a:solidFill>
                            <a:srgbClr val="FF0000"/>
                          </a:solidFill>
                          <a:latin typeface="Cambria Math" panose="02040503050406030204" pitchFamily="18" charset="0"/>
                          <a:ea typeface="Cambria Math" panose="02040503050406030204" pitchFamily="18" charset="0"/>
                        </a:rPr>
                        <m:t>%</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59533" y="824588"/>
                <a:ext cx="11740546" cy="2031325"/>
              </a:xfrm>
              <a:prstGeom prst="rect">
                <a:avLst/>
              </a:prstGeom>
              <a:blipFill rotWithShape="0">
                <a:blip r:embed="rId2"/>
                <a:stretch>
                  <a:fillRect l="-1038"/>
                </a:stretch>
              </a:blipFill>
            </p:spPr>
            <p:txBody>
              <a:bodyPr/>
              <a:lstStyle/>
              <a:p>
                <a:r>
                  <a:rPr lang="en-IN">
                    <a:noFill/>
                  </a:rPr>
                  <a:t> </a:t>
                </a:r>
              </a:p>
            </p:txBody>
          </p:sp>
        </mc:Fallback>
      </mc:AlternateContent>
    </p:spTree>
    <p:extLst>
      <p:ext uri="{BB962C8B-B14F-4D97-AF65-F5344CB8AC3E}">
        <p14:creationId xmlns:p14="http://schemas.microsoft.com/office/powerpoint/2010/main" val="21135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43322"/>
                <a:ext cx="11929643" cy="4385502"/>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 photographic process, the developing time of prints may be looked upon as a random variable having normal distribution with mean of 16.28 seconds and standard deviation of 0.12 seconds. Find the probability that </a:t>
                </a:r>
                <a:endParaRPr lang="en-IN" dirty="0"/>
              </a:p>
              <a:p>
                <a:r>
                  <a:rPr lang="en-US" dirty="0"/>
                  <a:t>(a)   It will take anywhere from 16.00 to 16.50 sec to develop one of the prints</a:t>
                </a:r>
                <a:endParaRPr lang="en-IN" dirty="0"/>
              </a:p>
              <a:p>
                <a:r>
                  <a:rPr lang="en-US" dirty="0"/>
                  <a:t>(b)   At least 16.20 sec to develop one of the prints</a:t>
                </a:r>
                <a:endParaRPr lang="en-IN" dirty="0"/>
              </a:p>
              <a:p>
                <a:r>
                  <a:rPr lang="en-US" dirty="0"/>
                  <a:t>(c)   At most 16.35 sec to develop one of the prints.</a:t>
                </a:r>
                <a:endParaRPr lang="en-IN" dirty="0"/>
              </a:p>
              <a:p>
                <a:pPr/>
                <a14:m>
                  <m:oMathPara xmlns:m="http://schemas.openxmlformats.org/officeDocument/2006/math">
                    <m:oMathParaPr>
                      <m:jc m:val="left"/>
                    </m:oMathParaPr>
                    <m:oMath xmlns:m="http://schemas.openxmlformats.org/officeDocument/2006/math">
                      <m:d>
                        <m:dPr>
                          <m:begChr m:val="["/>
                          <m:endChr m:val="]"/>
                          <m:ctrlPr>
                            <a:rPr lang="en-IN" sz="2300" i="1" smtClean="0">
                              <a:latin typeface="Cambria Math" panose="02040503050406030204" pitchFamily="18" charset="0"/>
                            </a:rPr>
                          </m:ctrlPr>
                        </m:dPr>
                        <m:e>
                          <m:r>
                            <m:rPr>
                              <m:sty m:val="p"/>
                            </m:rPr>
                            <a:rPr lang="en-US" sz="2300">
                              <a:latin typeface="Cambria Math" panose="02040503050406030204" pitchFamily="18" charset="0"/>
                            </a:rPr>
                            <m:t>P</m:t>
                          </m:r>
                          <m:d>
                            <m:dPr>
                              <m:ctrlPr>
                                <a:rPr lang="en-IN" sz="2300" i="1">
                                  <a:latin typeface="Cambria Math" panose="02040503050406030204" pitchFamily="18" charset="0"/>
                                </a:rPr>
                              </m:ctrlPr>
                            </m:dPr>
                            <m:e>
                              <m:r>
                                <m:rPr>
                                  <m:sty m:val="p"/>
                                </m:rPr>
                                <a:rPr lang="en-US" sz="2300">
                                  <a:latin typeface="Cambria Math" panose="02040503050406030204" pitchFamily="18" charset="0"/>
                                </a:rPr>
                                <m:t>z</m:t>
                              </m:r>
                              <m:r>
                                <a:rPr lang="en-US" sz="2300">
                                  <a:latin typeface="Cambria Math" panose="02040503050406030204" pitchFamily="18" charset="0"/>
                                </a:rPr>
                                <m:t>=1.83</m:t>
                              </m:r>
                            </m:e>
                          </m:d>
                          <m:r>
                            <a:rPr lang="en-US" sz="2300">
                              <a:latin typeface="Cambria Math" panose="02040503050406030204" pitchFamily="18" charset="0"/>
                            </a:rPr>
                            <m:t>=0.4664, </m:t>
                          </m:r>
                          <m:r>
                            <m:rPr>
                              <m:sty m:val="p"/>
                            </m:rPr>
                            <a:rPr lang="en-US" sz="2300">
                              <a:latin typeface="Cambria Math" panose="02040503050406030204" pitchFamily="18" charset="0"/>
                            </a:rPr>
                            <m:t>P</m:t>
                          </m:r>
                          <m:d>
                            <m:dPr>
                              <m:ctrlPr>
                                <a:rPr lang="en-IN" sz="2300" i="1">
                                  <a:latin typeface="Cambria Math" panose="02040503050406030204" pitchFamily="18" charset="0"/>
                                </a:rPr>
                              </m:ctrlPr>
                            </m:dPr>
                            <m:e>
                              <m:r>
                                <m:rPr>
                                  <m:sty m:val="p"/>
                                </m:rPr>
                                <a:rPr lang="en-US" sz="2300">
                                  <a:latin typeface="Cambria Math" panose="02040503050406030204" pitchFamily="18" charset="0"/>
                                </a:rPr>
                                <m:t>z</m:t>
                              </m:r>
                              <m:r>
                                <a:rPr lang="en-US" sz="2300">
                                  <a:latin typeface="Cambria Math" panose="02040503050406030204" pitchFamily="18" charset="0"/>
                                </a:rPr>
                                <m:t>=2.33</m:t>
                              </m:r>
                            </m:e>
                          </m:d>
                          <m:r>
                            <a:rPr lang="en-US" sz="2300">
                              <a:latin typeface="Cambria Math" panose="02040503050406030204" pitchFamily="18" charset="0"/>
                            </a:rPr>
                            <m:t>=0.4901</m:t>
                          </m:r>
                        </m:e>
                      </m:d>
                      <m:r>
                        <a:rPr lang="en-IN" sz="2300" b="0" i="1" smtClean="0">
                          <a:latin typeface="Cambria Math" panose="02040503050406030204" pitchFamily="18" charset="0"/>
                        </a:rPr>
                        <m:t>, </m:t>
                      </m:r>
                      <m:r>
                        <a:rPr lang="en-US" sz="2300">
                          <a:latin typeface="Cambria Math" panose="02040503050406030204" pitchFamily="18" charset="0"/>
                        </a:rPr>
                        <m:t>[</m:t>
                      </m:r>
                      <m:r>
                        <m:rPr>
                          <m:sty m:val="p"/>
                        </m:rPr>
                        <a:rPr lang="en-US" sz="2300">
                          <a:latin typeface="Cambria Math" panose="02040503050406030204" pitchFamily="18" charset="0"/>
                        </a:rPr>
                        <m:t>P</m:t>
                      </m:r>
                      <m:r>
                        <a:rPr lang="en-US" sz="2300">
                          <a:latin typeface="Cambria Math" panose="02040503050406030204" pitchFamily="18" charset="0"/>
                        </a:rPr>
                        <m:t>(</m:t>
                      </m:r>
                      <m:r>
                        <m:rPr>
                          <m:sty m:val="p"/>
                        </m:rPr>
                        <a:rPr lang="en-US" sz="2300">
                          <a:latin typeface="Cambria Math" panose="02040503050406030204" pitchFamily="18" charset="0"/>
                        </a:rPr>
                        <m:t>z</m:t>
                      </m:r>
                      <m:r>
                        <a:rPr lang="en-US" sz="2300">
                          <a:latin typeface="Cambria Math" panose="02040503050406030204" pitchFamily="18" charset="0"/>
                        </a:rPr>
                        <m:t>=0.67)=0.2486, </m:t>
                      </m:r>
                      <m:r>
                        <m:rPr>
                          <m:sty m:val="p"/>
                        </m:rPr>
                        <a:rPr lang="en-US" sz="2300">
                          <a:latin typeface="Cambria Math" panose="02040503050406030204" pitchFamily="18" charset="0"/>
                        </a:rPr>
                        <m:t>P</m:t>
                      </m:r>
                      <m:r>
                        <a:rPr lang="en-US" sz="2300">
                          <a:latin typeface="Cambria Math" panose="02040503050406030204" pitchFamily="18" charset="0"/>
                        </a:rPr>
                        <m:t>(</m:t>
                      </m:r>
                      <m:r>
                        <m:rPr>
                          <m:sty m:val="p"/>
                        </m:rPr>
                        <a:rPr lang="en-US" sz="2300">
                          <a:latin typeface="Cambria Math" panose="02040503050406030204" pitchFamily="18" charset="0"/>
                        </a:rPr>
                        <m:t>z</m:t>
                      </m:r>
                      <m:r>
                        <a:rPr lang="en-US" sz="2300">
                          <a:latin typeface="Cambria Math" panose="02040503050406030204" pitchFamily="18" charset="0"/>
                        </a:rPr>
                        <m:t>=0.58)=0.2190]</m:t>
                      </m:r>
                    </m:oMath>
                  </m:oMathPara>
                </a14:m>
                <a:endParaRPr lang="en-IN" sz="2300" dirty="0"/>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43322"/>
                <a:ext cx="11929643" cy="4385502"/>
              </a:xfrm>
              <a:prstGeom prst="rect">
                <a:avLst/>
              </a:prstGeom>
              <a:blipFill rotWithShape="0">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4 ⇝ Example 5</a:t>
            </a:r>
            <a:endParaRPr lang="en-US" dirty="0"/>
          </a:p>
        </p:txBody>
      </p:sp>
      <p:sp>
        <p:nvSpPr>
          <p:cNvPr id="6" name="Rectangle 5">
            <a:extLst>
              <a:ext uri="{FF2B5EF4-FFF2-40B4-BE49-F238E27FC236}">
                <a16:creationId xmlns:a16="http://schemas.microsoft.com/office/drawing/2014/main" id="{B2D3FB0B-D709-43AC-B65F-29361B504B61}"/>
              </a:ext>
            </a:extLst>
          </p:cNvPr>
          <p:cNvSpPr/>
          <p:nvPr/>
        </p:nvSpPr>
        <p:spPr>
          <a:xfrm>
            <a:off x="131177" y="544848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0C88CCD-ABF6-487A-A003-269BE830EF70}"/>
                  </a:ext>
                </a:extLst>
              </p:cNvPr>
              <p:cNvSpPr txBox="1">
                <a:spLocks/>
              </p:cNvSpPr>
              <p:nvPr/>
            </p:nvSpPr>
            <p:spPr>
              <a:xfrm>
                <a:off x="1769829" y="5339297"/>
                <a:ext cx="10290991" cy="666849"/>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Mean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μ</m:t>
                    </m:r>
                    <m:r>
                      <a:rPr lang="en-US" i="0" dirty="0" smtClean="0">
                        <a:solidFill>
                          <a:schemeClr val="tx2">
                            <a:lumMod val="50000"/>
                          </a:schemeClr>
                        </a:solidFill>
                        <a:latin typeface="Cambria Math" panose="02040503050406030204" pitchFamily="18" charset="0"/>
                      </a:rPr>
                      <m:t>=16.28</m:t>
                    </m:r>
                  </m:oMath>
                </a14:m>
                <a:r>
                  <a:rPr lang="en-US" dirty="0">
                    <a:solidFill>
                      <a:schemeClr val="tx2">
                        <a:lumMod val="50000"/>
                      </a:schemeClr>
                    </a:solidFill>
                  </a:rPr>
                  <a:t> and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σ</m:t>
                    </m:r>
                    <m:r>
                      <a:rPr lang="en-US" i="0" dirty="0" smtClean="0">
                        <a:solidFill>
                          <a:schemeClr val="tx2">
                            <a:lumMod val="50000"/>
                          </a:schemeClr>
                        </a:solidFill>
                        <a:latin typeface="Cambria Math" panose="02040503050406030204" pitchFamily="18" charset="0"/>
                      </a:rPr>
                      <m:t>=0.12</m:t>
                    </m:r>
                  </m:oMath>
                </a14:m>
                <a:endParaRPr lang="en-US" dirty="0">
                  <a:solidFill>
                    <a:schemeClr val="tx2">
                      <a:lumMod val="50000"/>
                    </a:schemeClr>
                  </a:solidFill>
                </a:endParaRPr>
              </a:p>
            </p:txBody>
          </p:sp>
        </mc:Choice>
        <mc:Fallback xmlns="">
          <p:sp>
            <p:nvSpPr>
              <p:cNvPr id="7"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5339297"/>
                <a:ext cx="10290991" cy="666849"/>
              </a:xfrm>
              <a:prstGeom prst="rect">
                <a:avLst/>
              </a:prstGeom>
              <a:blipFill rotWithShape="0">
                <a:blip r:embed="rId3"/>
                <a:stretch>
                  <a:fillRect l="-1185" b="-25688"/>
                </a:stretch>
              </a:blipFill>
            </p:spPr>
            <p:txBody>
              <a:bodyPr/>
              <a:lstStyle/>
              <a:p>
                <a:r>
                  <a:rPr lang="en-IN">
                    <a:noFill/>
                  </a:rPr>
                  <a:t> </a:t>
                </a:r>
              </a:p>
            </p:txBody>
          </p:sp>
        </mc:Fallback>
      </mc:AlternateContent>
    </p:spTree>
    <p:extLst>
      <p:ext uri="{BB962C8B-B14F-4D97-AF65-F5344CB8AC3E}">
        <p14:creationId xmlns:p14="http://schemas.microsoft.com/office/powerpoint/2010/main" val="353534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9">
                                            <p:txEl>
                                              <p:pRg st="3" end="3"/>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(a) To find the probabilities of developing time of prints from 16.00 to 16.50 sec,  </a:t>
                </a:r>
                <a14:m>
                  <m:oMath xmlns:m="http://schemas.openxmlformats.org/officeDocument/2006/math">
                    <m:d>
                      <m:dPr>
                        <m:ctrlPr>
                          <a:rPr lang="en-IN" i="1">
                            <a:solidFill>
                              <a:srgbClr val="FF0000"/>
                            </a:solidFill>
                            <a:latin typeface="Cambria Math" panose="02040503050406030204" pitchFamily="18" charset="0"/>
                            <a:ea typeface="Cambria Math" panose="02040503050406030204" pitchFamily="18" charset="0"/>
                          </a:rPr>
                        </m:ctrlPr>
                      </m:dPr>
                      <m:e>
                        <m:r>
                          <a:rPr lang="en-US">
                            <a:solidFill>
                              <a:srgbClr val="FF0000"/>
                            </a:solidFill>
                            <a:latin typeface="Cambria Math" panose="02040503050406030204" pitchFamily="18" charset="0"/>
                            <a:ea typeface="Cambria Math" panose="02040503050406030204" pitchFamily="18" charset="0"/>
                          </a:rPr>
                          <m:t>𝟏𝟔</m:t>
                        </m:r>
                        <m:r>
                          <a:rPr lang="en-US">
                            <a:solidFill>
                              <a:srgbClr val="FF0000"/>
                            </a:solidFill>
                            <a:latin typeface="Cambria Math" panose="02040503050406030204" pitchFamily="18" charset="0"/>
                            <a:ea typeface="Cambria Math" panose="02040503050406030204" pitchFamily="18" charset="0"/>
                          </a:rPr>
                          <m:t>.</m:t>
                        </m:r>
                        <m:r>
                          <a:rPr lang="en-US">
                            <a:solidFill>
                              <a:srgbClr val="FF0000"/>
                            </a:solidFill>
                            <a:latin typeface="Cambria Math" panose="02040503050406030204" pitchFamily="18" charset="0"/>
                            <a:ea typeface="Cambria Math" panose="02040503050406030204" pitchFamily="18" charset="0"/>
                          </a:rPr>
                          <m:t>𝟎𝟎</m:t>
                        </m:r>
                        <m:r>
                          <a:rPr lang="en-US">
                            <a:solidFill>
                              <a:srgbClr val="FF0000"/>
                            </a:solidFill>
                            <a:latin typeface="Cambria Math" panose="02040503050406030204" pitchFamily="18" charset="0"/>
                            <a:ea typeface="Cambria Math" panose="02040503050406030204" pitchFamily="18" charset="0"/>
                          </a:rPr>
                          <m:t>&lt;</m:t>
                        </m:r>
                        <m:r>
                          <a:rPr lang="en-US">
                            <a:solidFill>
                              <a:srgbClr val="FF0000"/>
                            </a:solidFill>
                            <a:latin typeface="Cambria Math" panose="02040503050406030204" pitchFamily="18" charset="0"/>
                            <a:ea typeface="Cambria Math" panose="02040503050406030204" pitchFamily="18" charset="0"/>
                          </a:rPr>
                          <m:t>𝐗</m:t>
                        </m:r>
                        <m:r>
                          <a:rPr lang="en-US">
                            <a:solidFill>
                              <a:srgbClr val="FF0000"/>
                            </a:solidFill>
                            <a:latin typeface="Cambria Math" panose="02040503050406030204" pitchFamily="18" charset="0"/>
                            <a:ea typeface="Cambria Math" panose="02040503050406030204" pitchFamily="18" charset="0"/>
                          </a:rPr>
                          <m:t>&lt;</m:t>
                        </m:r>
                        <m:r>
                          <a:rPr lang="en-US">
                            <a:solidFill>
                              <a:srgbClr val="FF0000"/>
                            </a:solidFill>
                            <a:latin typeface="Cambria Math" panose="02040503050406030204" pitchFamily="18" charset="0"/>
                            <a:ea typeface="Cambria Math" panose="02040503050406030204" pitchFamily="18" charset="0"/>
                          </a:rPr>
                          <m:t>𝟏𝟔</m:t>
                        </m:r>
                        <m:r>
                          <a:rPr lang="en-US">
                            <a:solidFill>
                              <a:srgbClr val="FF0000"/>
                            </a:solidFill>
                            <a:latin typeface="Cambria Math" panose="02040503050406030204" pitchFamily="18" charset="0"/>
                            <a:ea typeface="Cambria Math" panose="02040503050406030204" pitchFamily="18" charset="0"/>
                          </a:rPr>
                          <m:t>.</m:t>
                        </m:r>
                        <m:r>
                          <a:rPr lang="en-US">
                            <a:solidFill>
                              <a:srgbClr val="FF0000"/>
                            </a:solidFill>
                            <a:latin typeface="Cambria Math" panose="02040503050406030204" pitchFamily="18" charset="0"/>
                            <a:ea typeface="Cambria Math" panose="02040503050406030204" pitchFamily="18" charset="0"/>
                          </a:rPr>
                          <m:t>𝟓𝟎</m:t>
                        </m:r>
                      </m:e>
                    </m:d>
                  </m:oMath>
                </a14:m>
                <a:endParaRPr lang="en-IN" dirty="0">
                  <a:solidFill>
                    <a:srgbClr val="FF0000"/>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726110"/>
                <a:ext cx="3974586" cy="3809056"/>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=16</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16</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16.28</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0.12</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−2.3333</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p:txBody>
          </p:sp>
        </mc:Choice>
        <mc:Fallback xmlns="">
          <p:sp>
            <p:nvSpPr>
              <p:cNvPr id="3" name="Rectangle 2"/>
              <p:cNvSpPr>
                <a:spLocks noRot="1" noChangeAspect="1" noMove="1" noResize="1" noEditPoints="1" noAdjustHandles="1" noChangeArrowheads="1" noChangeShapeType="1" noTextEdit="1"/>
              </p:cNvSpPr>
              <p:nvPr/>
            </p:nvSpPr>
            <p:spPr>
              <a:xfrm>
                <a:off x="69381" y="1726110"/>
                <a:ext cx="3974586" cy="3809056"/>
              </a:xfrm>
              <a:prstGeom prst="rect">
                <a:avLst/>
              </a:prstGeom>
              <a:blipFill rotWithShape="0">
                <a:blip r:embed="rId3"/>
                <a:stretch>
                  <a:fillRect l="-30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281530" y="1666215"/>
                <a:ext cx="5420140" cy="4455387"/>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=16.50</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16.50</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16.28</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0.12</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1.8333</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(−2.3333&lt;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&lt;1.8333)</m:t>
                    </m:r>
                  </m:oMath>
                </a14:m>
                <a:endParaRPr lang="en-US" sz="2800" i="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281530" y="1666215"/>
                <a:ext cx="5420140" cy="4455387"/>
              </a:xfrm>
              <a:prstGeom prst="rect">
                <a:avLst/>
              </a:prstGeom>
              <a:blipFill rotWithShape="0">
                <a:blip r:embed="rId4"/>
                <a:stretch>
                  <a:fillRect l="-2247"/>
                </a:stretch>
              </a:blipFill>
            </p:spPr>
            <p:txBody>
              <a:bodyPr/>
              <a:lstStyle/>
              <a:p>
                <a:r>
                  <a:rPr lang="en-IN">
                    <a:noFill/>
                  </a:rPr>
                  <a:t> </a:t>
                </a:r>
              </a:p>
            </p:txBody>
          </p:sp>
        </mc:Fallback>
      </mc:AlternateContent>
      <p:cxnSp>
        <p:nvCxnSpPr>
          <p:cNvPr id="8" name="Straight Connector 7"/>
          <p:cNvCxnSpPr/>
          <p:nvPr/>
        </p:nvCxnSpPr>
        <p:spPr>
          <a:xfrm>
            <a:off x="5731099" y="1753299"/>
            <a:ext cx="0" cy="4711895"/>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1620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20896" y="811710"/>
                <a:ext cx="11740545"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We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(−2.3333&lt;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&lt;1.8333)</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(−2.3333&lt;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&lt;1.8333)=</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(−2.3333&lt;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&lt;1.8333)</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3333</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8333</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3333</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8333</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20896" y="811710"/>
                <a:ext cx="11740545" cy="2031325"/>
              </a:xfrm>
              <a:prstGeom prst="rect">
                <a:avLst/>
              </a:prstGeom>
              <a:blipFill rotWithShape="0">
                <a:blip r:embed="rId2"/>
                <a:stretch>
                  <a:fillRect l="-10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37232631"/>
                  </p:ext>
                </p:extLst>
              </p:nvPr>
            </p:nvGraphicFramePr>
            <p:xfrm>
              <a:off x="487996" y="3021497"/>
              <a:ext cx="11198087" cy="2912828"/>
            </p:xfrm>
            <a:graphic>
              <a:graphicData uri="http://schemas.openxmlformats.org/drawingml/2006/table">
                <a:tbl>
                  <a:tblPr firstRow="1" bandRow="1">
                    <a:tableStyleId>{5C22544A-7EE6-4342-B048-85BDC9FD1C3A}</a:tableStyleId>
                  </a:tblPr>
                  <a:tblGrid>
                    <a:gridCol w="11198087">
                      <a:extLst>
                        <a:ext uri="{9D8B030D-6E8A-4147-A177-3AD203B41FA5}">
                          <a16:colId xmlns:a16="http://schemas.microsoft.com/office/drawing/2014/main" val="20000"/>
                        </a:ext>
                      </a:extLst>
                    </a:gridCol>
                  </a:tblGrid>
                  <a:tr h="2425148">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63826">
                    <a:tc>
                      <a:txBody>
                        <a:bodyPr/>
                        <a:lstStyle/>
                        <a:p>
                          <a:r>
                            <a:rPr lang="en-US" sz="2600" kern="1200" dirty="0">
                              <a:solidFill>
                                <a:schemeClr val="dk1"/>
                              </a:solidFill>
                              <a:effectLst/>
                              <a:ea typeface="+mn-ea"/>
                              <a:cs typeface="+mn-cs"/>
                            </a:rPr>
                            <a:t>       </a:t>
                          </a:r>
                          <a14:m>
                            <m:oMath xmlns:m="http://schemas.openxmlformats.org/officeDocument/2006/math">
                              <m:r>
                                <a:rPr lang="en-US" sz="2600" i="1" kern="1200" smtClean="0">
                                  <a:solidFill>
                                    <a:schemeClr val="dk1"/>
                                  </a:solidFill>
                                  <a:effectLst/>
                                  <a:latin typeface="Cambria Math" panose="02040503050406030204" pitchFamily="18" charset="0"/>
                                  <a:ea typeface="+mn-ea"/>
                                  <a:cs typeface="+mn-cs"/>
                                </a:rPr>
                                <m:t>−2.33</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1.83</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r>
                                <a:rPr lang="en-US" sz="2600" i="1" kern="1200">
                                  <a:solidFill>
                                    <a:schemeClr val="dk1"/>
                                  </a:solidFill>
                                  <a:effectLst/>
                                  <a:latin typeface="Cambria Math" panose="02040503050406030204" pitchFamily="18" charset="0"/>
                                  <a:ea typeface="+mn-ea"/>
                                  <a:cs typeface="+mn-cs"/>
                                </a:rPr>
                                <m:t>2.33</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1.83</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37232631"/>
                  </p:ext>
                </p:extLst>
              </p:nvPr>
            </p:nvGraphicFramePr>
            <p:xfrm>
              <a:off x="487996" y="3021497"/>
              <a:ext cx="11198087" cy="2912828"/>
            </p:xfrm>
            <a:graphic>
              <a:graphicData uri="http://schemas.openxmlformats.org/drawingml/2006/table">
                <a:tbl>
                  <a:tblPr firstRow="1" bandRow="1">
                    <a:tableStyleId>{5C22544A-7EE6-4342-B048-85BDC9FD1C3A}</a:tableStyleId>
                  </a:tblPr>
                  <a:tblGrid>
                    <a:gridCol w="11198087"/>
                  </a:tblGrid>
                  <a:tr h="2425148">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498750"/>
                          </a:stretch>
                        </a:blipFill>
                      </a:tcPr>
                    </a:tc>
                  </a:tr>
                </a:tbl>
              </a:graphicData>
            </a:graphic>
          </p:graphicFrame>
        </mc:Fallback>
      </mc:AlternateContent>
      <p:pic>
        <p:nvPicPr>
          <p:cNvPr id="5" name="Picture 4"/>
          <p:cNvPicPr/>
          <p:nvPr/>
        </p:nvPicPr>
        <p:blipFill rotWithShape="1">
          <a:blip r:embed="rId4">
            <a:extLst>
              <a:ext uri="{28A0092B-C50C-407E-A947-70E740481C1C}">
                <a14:useLocalDpi xmlns:a14="http://schemas.microsoft.com/office/drawing/2010/main" val="0"/>
              </a:ext>
            </a:extLst>
          </a:blip>
          <a:srcRect l="1279" r="1272"/>
          <a:stretch/>
        </p:blipFill>
        <p:spPr bwMode="auto">
          <a:xfrm>
            <a:off x="583096" y="3107717"/>
            <a:ext cx="10986052" cy="2312421"/>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604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20896" y="811710"/>
                <a:ext cx="11740545" cy="3970318"/>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We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(−2.3333&lt;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&lt;1.8333)</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(−2.3333&lt;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&lt;1.8333)=</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(−2.3333&lt;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&lt;0)+</m:t>
                      </m:r>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(0&lt;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&lt;1.8333)</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3333</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8333</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3333</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8333</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3333</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8333</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33</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83</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3333</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8333</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4901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4664</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𝟐</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𝟑𝟑𝟑𝟑</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&lt;</m:t>
                          </m:r>
                          <m:r>
                            <a:rPr lang="en-US" sz="2800">
                              <a:solidFill>
                                <a:srgbClr val="FF0000"/>
                              </a:solidFill>
                              <a:latin typeface="Cambria Math" panose="02040503050406030204" pitchFamily="18" charset="0"/>
                              <a:ea typeface="Cambria Math" panose="02040503050406030204" pitchFamily="18" charset="0"/>
                            </a:rPr>
                            <m:t>𝟏</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𝟖𝟑𝟑𝟑</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𝟗𝟓𝟔𝟓</m:t>
                      </m:r>
                    </m:oMath>
                  </m:oMathPara>
                </a14:m>
                <a:endParaRPr lang="en-US"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20896" y="811710"/>
                <a:ext cx="11740545" cy="3970318"/>
              </a:xfrm>
              <a:prstGeom prst="rect">
                <a:avLst/>
              </a:prstGeom>
              <a:blipFill rotWithShape="0">
                <a:blip r:embed="rId2"/>
                <a:stretch>
                  <a:fillRect l="-1090"/>
                </a:stretch>
              </a:blipFill>
            </p:spPr>
            <p:txBody>
              <a:bodyPr/>
              <a:lstStyle/>
              <a:p>
                <a:r>
                  <a:rPr lang="en-IN">
                    <a:noFill/>
                  </a:rPr>
                  <a:t> </a:t>
                </a:r>
              </a:p>
            </p:txBody>
          </p:sp>
        </mc:Fallback>
      </mc:AlternateContent>
    </p:spTree>
    <p:extLst>
      <p:ext uri="{BB962C8B-B14F-4D97-AF65-F5344CB8AC3E}">
        <p14:creationId xmlns:p14="http://schemas.microsoft.com/office/powerpoint/2010/main" val="293107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(b) To find the probabilities of developing time of prints take at least 16.20 sec,  </a:t>
                </a:r>
                <a14:m>
                  <m:oMath xmlns:m="http://schemas.openxmlformats.org/officeDocument/2006/math">
                    <m:d>
                      <m:dPr>
                        <m:ctrlPr>
                          <a:rPr lang="en-IN" i="1">
                            <a:solidFill>
                              <a:srgbClr val="FF0000"/>
                            </a:solidFill>
                            <a:latin typeface="Cambria Math" panose="02040503050406030204" pitchFamily="18" charset="0"/>
                            <a:ea typeface="Cambria Math" panose="02040503050406030204" pitchFamily="18" charset="0"/>
                          </a:rPr>
                        </m:ctrlPr>
                      </m:dPr>
                      <m:e>
                        <m:r>
                          <a:rPr lang="en-US">
                            <a:solidFill>
                              <a:srgbClr val="FF0000"/>
                            </a:solidFill>
                            <a:latin typeface="Cambria Math" panose="02040503050406030204" pitchFamily="18" charset="0"/>
                            <a:ea typeface="Cambria Math" panose="02040503050406030204" pitchFamily="18" charset="0"/>
                          </a:rPr>
                          <m:t>𝐗</m:t>
                        </m:r>
                        <m:r>
                          <a:rPr lang="en-US" i="1" smtClean="0">
                            <a:solidFill>
                              <a:srgbClr val="FF0000"/>
                            </a:solidFill>
                            <a:latin typeface="Cambria Math" panose="02040503050406030204" pitchFamily="18" charset="0"/>
                            <a:ea typeface="Cambria Math" panose="02040503050406030204" pitchFamily="18" charset="0"/>
                          </a:rPr>
                          <m:t>≥</m:t>
                        </m:r>
                        <m:r>
                          <a:rPr lang="en-US">
                            <a:solidFill>
                              <a:srgbClr val="FF0000"/>
                            </a:solidFill>
                            <a:latin typeface="Cambria Math" panose="02040503050406030204" pitchFamily="18" charset="0"/>
                            <a:ea typeface="Cambria Math" panose="02040503050406030204" pitchFamily="18" charset="0"/>
                          </a:rPr>
                          <m:t>𝟏𝟔</m:t>
                        </m:r>
                        <m:r>
                          <a:rPr lang="en-US">
                            <a:solidFill>
                              <a:srgbClr val="FF0000"/>
                            </a:solidFill>
                            <a:latin typeface="Cambria Math" panose="02040503050406030204" pitchFamily="18" charset="0"/>
                            <a:ea typeface="Cambria Math" panose="02040503050406030204" pitchFamily="18" charset="0"/>
                          </a:rPr>
                          <m:t>.</m:t>
                        </m:r>
                        <m:r>
                          <a:rPr lang="en-IN" b="1" i="0" smtClean="0">
                            <a:solidFill>
                              <a:srgbClr val="FF0000"/>
                            </a:solidFill>
                            <a:latin typeface="Cambria Math" panose="02040503050406030204" pitchFamily="18" charset="0"/>
                            <a:ea typeface="Cambria Math" panose="02040503050406030204" pitchFamily="18" charset="0"/>
                          </a:rPr>
                          <m:t>𝟐</m:t>
                        </m:r>
                        <m:r>
                          <a:rPr lang="en-US">
                            <a:solidFill>
                              <a:srgbClr val="FF0000"/>
                            </a:solidFill>
                            <a:latin typeface="Cambria Math" panose="02040503050406030204" pitchFamily="18" charset="0"/>
                            <a:ea typeface="Cambria Math" panose="02040503050406030204" pitchFamily="18" charset="0"/>
                          </a:rPr>
                          <m:t>𝟎</m:t>
                        </m:r>
                      </m:e>
                    </m:d>
                  </m:oMath>
                </a14:m>
                <a:endParaRPr lang="en-IN" dirty="0">
                  <a:solidFill>
                    <a:srgbClr val="FF0000"/>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726110"/>
                <a:ext cx="5584444" cy="4455387"/>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=16.20</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16.20</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16.28</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0.12</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−0.6667</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smtClean="0">
                        <a:solidFill>
                          <a:schemeClr val="tx2">
                            <a:lumMod val="50000"/>
                          </a:schemeClr>
                        </a:solidFill>
                        <a:latin typeface="Cambria Math" panose="02040503050406030204" pitchFamily="18" charset="0"/>
                        <a:ea typeface="Cambria Math" panose="02040503050406030204" pitchFamily="18" charset="0"/>
                      </a:rPr>
                      <m:t>≥</m:t>
                    </m:r>
                    <m:r>
                      <a:rPr lang="en-IN" sz="2800" b="0" i="1" smtClean="0">
                        <a:solidFill>
                          <a:schemeClr val="tx2">
                            <a:lumMod val="50000"/>
                          </a:schemeClr>
                        </a:solidFill>
                        <a:latin typeface="Cambria Math" panose="02040503050406030204" pitchFamily="18" charset="0"/>
                        <a:ea typeface="Cambria Math" panose="02040503050406030204" pitchFamily="18" charset="0"/>
                      </a:rPr>
                      <m:t>−0.6667</m:t>
                    </m:r>
                    <m:r>
                      <a:rPr lang="en-IN" sz="2800" i="1">
                        <a:solidFill>
                          <a:schemeClr val="tx2">
                            <a:lumMod val="50000"/>
                          </a:schemeClr>
                        </a:solidFill>
                        <a:latin typeface="Cambria Math" panose="02040503050406030204" pitchFamily="18" charset="0"/>
                        <a:ea typeface="Cambria Math" panose="02040503050406030204" pitchFamily="18" charset="0"/>
                      </a:rPr>
                      <m:t>)</m:t>
                    </m:r>
                  </m:oMath>
                </a14:m>
                <a:endParaRPr lang="en-US"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726110"/>
                <a:ext cx="5584444" cy="4455387"/>
              </a:xfrm>
              <a:prstGeom prst="rect">
                <a:avLst/>
              </a:prstGeom>
              <a:blipFill rotWithShape="0">
                <a:blip r:embed="rId3"/>
                <a:stretch>
                  <a:fillRect l="-2183"/>
                </a:stretch>
              </a:blipFill>
            </p:spPr>
            <p:txBody>
              <a:bodyPr/>
              <a:lstStyle/>
              <a:p>
                <a:r>
                  <a:rPr lang="en-IN">
                    <a:noFill/>
                  </a:rPr>
                  <a:t> </a:t>
                </a:r>
              </a:p>
            </p:txBody>
          </p:sp>
        </mc:Fallback>
      </mc:AlternateContent>
    </p:spTree>
    <p:extLst>
      <p:ext uri="{BB962C8B-B14F-4D97-AF65-F5344CB8AC3E}">
        <p14:creationId xmlns:p14="http://schemas.microsoft.com/office/powerpoint/2010/main" val="345354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20896" y="811710"/>
                <a:ext cx="11740545"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≥−0.6667)</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20896" y="811710"/>
                <a:ext cx="11740545" cy="2031325"/>
              </a:xfrm>
              <a:prstGeom prst="rect">
                <a:avLst/>
              </a:prstGeom>
              <a:blipFill rotWithShape="0">
                <a:blip r:embed="rId2"/>
                <a:stretch>
                  <a:fillRect l="-10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470024616"/>
                  </p:ext>
                </p:extLst>
              </p:nvPr>
            </p:nvGraphicFramePr>
            <p:xfrm>
              <a:off x="334853" y="3115132"/>
              <a:ext cx="11475075" cy="2444463"/>
            </p:xfrm>
            <a:graphic>
              <a:graphicData uri="http://schemas.openxmlformats.org/drawingml/2006/table">
                <a:tbl>
                  <a:tblPr firstRow="1" bandRow="1">
                    <a:tableStyleId>{5C22544A-7EE6-4342-B048-85BDC9FD1C3A}</a:tableStyleId>
                  </a:tblPr>
                  <a:tblGrid>
                    <a:gridCol w="3593203">
                      <a:extLst>
                        <a:ext uri="{9D8B030D-6E8A-4147-A177-3AD203B41FA5}">
                          <a16:colId xmlns:a16="http://schemas.microsoft.com/office/drawing/2014/main" val="20000"/>
                        </a:ext>
                      </a:extLst>
                    </a:gridCol>
                    <a:gridCol w="360609">
                      <a:extLst>
                        <a:ext uri="{9D8B030D-6E8A-4147-A177-3AD203B41FA5}">
                          <a16:colId xmlns:a16="http://schemas.microsoft.com/office/drawing/2014/main" val="20001"/>
                        </a:ext>
                      </a:extLst>
                    </a:gridCol>
                    <a:gridCol w="3709115">
                      <a:extLst>
                        <a:ext uri="{9D8B030D-6E8A-4147-A177-3AD203B41FA5}">
                          <a16:colId xmlns:a16="http://schemas.microsoft.com/office/drawing/2014/main" val="20002"/>
                        </a:ext>
                      </a:extLst>
                    </a:gridCol>
                    <a:gridCol w="309093">
                      <a:extLst>
                        <a:ext uri="{9D8B030D-6E8A-4147-A177-3AD203B41FA5}">
                          <a16:colId xmlns:a16="http://schemas.microsoft.com/office/drawing/2014/main" val="20003"/>
                        </a:ext>
                      </a:extLst>
                    </a:gridCol>
                    <a:gridCol w="3503055">
                      <a:extLst>
                        <a:ext uri="{9D8B030D-6E8A-4147-A177-3AD203B41FA5}">
                          <a16:colId xmlns:a16="http://schemas.microsoft.com/office/drawing/2014/main" val="20004"/>
                        </a:ext>
                      </a:extLst>
                    </a:gridCol>
                  </a:tblGrid>
                  <a:tr h="1972023">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6366">
                    <a:tc gridSpan="5">
                      <a:txBody>
                        <a:bodyPr/>
                        <a:lstStyle/>
                        <a:p>
                          <a14:m>
                            <m:oMath xmlns:m="http://schemas.openxmlformats.org/officeDocument/2006/math">
                              <m:r>
                                <a:rPr lang="en-US" sz="2500" i="1" kern="1200" smtClean="0">
                                  <a:solidFill>
                                    <a:schemeClr val="dk1"/>
                                  </a:solidFill>
                                  <a:effectLst/>
                                  <a:latin typeface="Cambria Math" panose="02040503050406030204" pitchFamily="18" charset="0"/>
                                  <a:ea typeface="+mn-ea"/>
                                  <a:cs typeface="+mn-cs"/>
                                </a:rPr>
                                <m:t>−0.6667</m:t>
                              </m:r>
                            </m:oMath>
                          </a14:m>
                          <a:r>
                            <a:rPr lang="en-US" sz="2500" kern="1200" dirty="0">
                              <a:solidFill>
                                <a:schemeClr val="dk1"/>
                              </a:solidFill>
                              <a:effectLst/>
                              <a:latin typeface="+mn-lt"/>
                              <a:ea typeface="+mn-ea"/>
                              <a:cs typeface="+mn-cs"/>
                            </a:rPr>
                            <a:t>      </a:t>
                          </a:r>
                          <a14:m>
                            <m:oMath xmlns:m="http://schemas.openxmlformats.org/officeDocument/2006/math">
                              <m:r>
                                <a:rPr lang="en-US" sz="2500" i="1" kern="1200">
                                  <a:solidFill>
                                    <a:schemeClr val="dk1"/>
                                  </a:solidFill>
                                  <a:effectLst/>
                                  <a:latin typeface="Cambria Math" panose="02040503050406030204" pitchFamily="18" charset="0"/>
                                  <a:ea typeface="+mn-ea"/>
                                  <a:cs typeface="+mn-cs"/>
                                </a:rPr>
                                <m:t>0</m:t>
                              </m:r>
                            </m:oMath>
                          </a14:m>
                          <a:r>
                            <a:rPr lang="en-US" sz="2500" kern="1200" dirty="0">
                              <a:solidFill>
                                <a:schemeClr val="dk1"/>
                              </a:solidFill>
                              <a:effectLst/>
                              <a:latin typeface="+mn-lt"/>
                              <a:ea typeface="+mn-ea"/>
                              <a:cs typeface="+mn-cs"/>
                            </a:rPr>
                            <a:t>                </a:t>
                          </a:r>
                          <a:r>
                            <a:rPr lang="en-US" sz="2500" b="1" kern="1200" dirty="0">
                              <a:solidFill>
                                <a:schemeClr val="dk1"/>
                              </a:solidFill>
                              <a:effectLst/>
                              <a:latin typeface="+mn-lt"/>
                              <a:ea typeface="+mn-ea"/>
                              <a:cs typeface="+mn-cs"/>
                            </a:rPr>
                            <a:t>            </a:t>
                          </a:r>
                          <a14:m>
                            <m:oMath xmlns:m="http://schemas.openxmlformats.org/officeDocument/2006/math">
                              <m:r>
                                <a:rPr lang="en-US" sz="2500" i="1" kern="1200">
                                  <a:solidFill>
                                    <a:schemeClr val="dk1"/>
                                  </a:solidFill>
                                  <a:effectLst/>
                                  <a:latin typeface="Cambria Math" panose="02040503050406030204" pitchFamily="18" charset="0"/>
                                  <a:ea typeface="+mn-ea"/>
                                  <a:cs typeface="+mn-cs"/>
                                </a:rPr>
                                <m:t>−0.6667</m:t>
                              </m:r>
                            </m:oMath>
                          </a14:m>
                          <a:r>
                            <a:rPr lang="en-US" sz="2500" b="1" kern="1200" dirty="0">
                              <a:solidFill>
                                <a:schemeClr val="dk1"/>
                              </a:solidFill>
                              <a:effectLst/>
                              <a:latin typeface="+mn-lt"/>
                              <a:ea typeface="+mn-ea"/>
                              <a:cs typeface="+mn-cs"/>
                            </a:rPr>
                            <a:t>        </a:t>
                          </a:r>
                          <a14:m>
                            <m:oMath xmlns:m="http://schemas.openxmlformats.org/officeDocument/2006/math">
                              <m:r>
                                <a:rPr lang="en-US" sz="2500" i="1" kern="1200">
                                  <a:solidFill>
                                    <a:schemeClr val="dk1"/>
                                  </a:solidFill>
                                  <a:effectLst/>
                                  <a:latin typeface="Cambria Math" panose="02040503050406030204" pitchFamily="18" charset="0"/>
                                  <a:ea typeface="+mn-ea"/>
                                  <a:cs typeface="+mn-cs"/>
                                </a:rPr>
                                <m:t>0</m:t>
                              </m:r>
                            </m:oMath>
                          </a14:m>
                          <a:r>
                            <a:rPr lang="en-US" sz="2500" kern="1200" dirty="0">
                              <a:solidFill>
                                <a:schemeClr val="dk1"/>
                              </a:solidFill>
                              <a:effectLst/>
                              <a:latin typeface="+mn-lt"/>
                              <a:ea typeface="+mn-ea"/>
                              <a:cs typeface="+mn-cs"/>
                            </a:rPr>
                            <a:t>                                                   </a:t>
                          </a:r>
                          <a14:m>
                            <m:oMath xmlns:m="http://schemas.openxmlformats.org/officeDocument/2006/math">
                              <m:r>
                                <a:rPr lang="en-US" sz="2500" i="1" kern="1200">
                                  <a:solidFill>
                                    <a:schemeClr val="dk1"/>
                                  </a:solidFill>
                                  <a:effectLst/>
                                  <a:latin typeface="Cambria Math" panose="02040503050406030204" pitchFamily="18" charset="0"/>
                                  <a:ea typeface="+mn-ea"/>
                                  <a:cs typeface="+mn-cs"/>
                                </a:rPr>
                                <m:t>0</m:t>
                              </m:r>
                            </m:oMath>
                          </a14:m>
                          <a:r>
                            <a:rPr lang="en-US" sz="2500" kern="1200" dirty="0">
                              <a:solidFill>
                                <a:schemeClr val="dk1"/>
                              </a:solidFill>
                              <a:effectLst/>
                              <a:latin typeface="+mn-lt"/>
                              <a:ea typeface="+mn-ea"/>
                              <a:cs typeface="+mn-cs"/>
                            </a:rPr>
                            <a:t>                  </a:t>
                          </a:r>
                          <a14:m>
                            <m:oMath xmlns:m="http://schemas.openxmlformats.org/officeDocument/2006/math">
                              <m:r>
                                <a:rPr lang="en-US" sz="2500" b="1" i="1" kern="1200">
                                  <a:solidFill>
                                    <a:schemeClr val="dk1"/>
                                  </a:solidFill>
                                  <a:effectLst/>
                                  <a:latin typeface="Cambria Math" panose="02040503050406030204" pitchFamily="18" charset="0"/>
                                  <a:ea typeface="+mn-ea"/>
                                  <a:cs typeface="+mn-cs"/>
                                </a:rPr>
                                <m:t>∞</m:t>
                              </m:r>
                            </m:oMath>
                          </a14:m>
                          <a:endParaRPr lang="en-IN" sz="25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470024616"/>
                  </p:ext>
                </p:extLst>
              </p:nvPr>
            </p:nvGraphicFramePr>
            <p:xfrm>
              <a:off x="334853" y="3115132"/>
              <a:ext cx="11475075" cy="2444463"/>
            </p:xfrm>
            <a:graphic>
              <a:graphicData uri="http://schemas.openxmlformats.org/drawingml/2006/table">
                <a:tbl>
                  <a:tblPr firstRow="1" bandRow="1">
                    <a:tableStyleId>{5C22544A-7EE6-4342-B048-85BDC9FD1C3A}</a:tableStyleId>
                  </a:tblPr>
                  <a:tblGrid>
                    <a:gridCol w="3593203"/>
                    <a:gridCol w="360609"/>
                    <a:gridCol w="3709115"/>
                    <a:gridCol w="309093"/>
                    <a:gridCol w="3503055"/>
                  </a:tblGrid>
                  <a:tr h="1972023">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0000" r="-2093220" b="-24074"/>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2466667" r="-1127451" b="-24074"/>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72440">
                    <a:tc gridSpan="5">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415385"/>
                          </a:stretch>
                        </a:blipFill>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pic>
        <p:nvPicPr>
          <p:cNvPr id="6" name="Picture 5"/>
          <p:cNvPicPr/>
          <p:nvPr/>
        </p:nvPicPr>
        <p:blipFill rotWithShape="1">
          <a:blip r:embed="rId4">
            <a:extLst>
              <a:ext uri="{28A0092B-C50C-407E-A947-70E740481C1C}">
                <a14:useLocalDpi xmlns:a14="http://schemas.microsoft.com/office/drawing/2010/main" val="0"/>
              </a:ext>
            </a:extLst>
          </a:blip>
          <a:srcRect l="1" t="9318" r="66789"/>
          <a:stretch/>
        </p:blipFill>
        <p:spPr bwMode="auto">
          <a:xfrm flipH="1">
            <a:off x="489396" y="3181082"/>
            <a:ext cx="3400023" cy="1854557"/>
          </a:xfrm>
          <a:prstGeom prst="rect">
            <a:avLst/>
          </a:prstGeom>
          <a:noFill/>
          <a:ln>
            <a:noFill/>
          </a:ln>
          <a:extLst>
            <a:ext uri="{53640926-AAD7-44D8-BBD7-CCE9431645EC}">
              <a14:shadowObscured xmlns:a14="http://schemas.microsoft.com/office/drawing/2010/main"/>
            </a:ext>
          </a:extLst>
        </p:spPr>
      </p:pic>
      <p:pic>
        <p:nvPicPr>
          <p:cNvPr id="7" name="Picture 6"/>
          <p:cNvPicPr/>
          <p:nvPr/>
        </p:nvPicPr>
        <p:blipFill rotWithShape="1">
          <a:blip r:embed="rId4">
            <a:extLst>
              <a:ext uri="{28A0092B-C50C-407E-A947-70E740481C1C}">
                <a14:useLocalDpi xmlns:a14="http://schemas.microsoft.com/office/drawing/2010/main" val="0"/>
              </a:ext>
            </a:extLst>
          </a:blip>
          <a:srcRect l="67147" t="9318" r="659"/>
          <a:stretch/>
        </p:blipFill>
        <p:spPr bwMode="auto">
          <a:xfrm flipH="1">
            <a:off x="4391695" y="3181082"/>
            <a:ext cx="3425779" cy="1854557"/>
          </a:xfrm>
          <a:prstGeom prst="rect">
            <a:avLst/>
          </a:prstGeom>
          <a:noFill/>
          <a:ln>
            <a:noFill/>
          </a:ln>
          <a:extLst>
            <a:ext uri="{53640926-AAD7-44D8-BBD7-CCE9431645EC}">
              <a14:shadowObscured xmlns:a14="http://schemas.microsoft.com/office/drawing/2010/main"/>
            </a:ext>
          </a:extLst>
        </p:spPr>
      </p:pic>
      <p:pic>
        <p:nvPicPr>
          <p:cNvPr id="8" name="Picture 7"/>
          <p:cNvPicPr/>
          <p:nvPr/>
        </p:nvPicPr>
        <p:blipFill rotWithShape="1">
          <a:blip r:embed="rId4">
            <a:extLst>
              <a:ext uri="{28A0092B-C50C-407E-A947-70E740481C1C}">
                <a14:useLocalDpi xmlns:a14="http://schemas.microsoft.com/office/drawing/2010/main" val="0"/>
              </a:ext>
            </a:extLst>
          </a:blip>
          <a:srcRect l="37089" t="9318" r="37926"/>
          <a:stretch/>
        </p:blipFill>
        <p:spPr bwMode="auto">
          <a:xfrm flipH="1">
            <a:off x="8487177" y="3181081"/>
            <a:ext cx="3181082" cy="185455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0401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par>
                                <p:cTn id="12" presetID="22" presetClass="entr" presetSubtype="1"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par>
                                <p:cTn id="15" presetID="22" presetClass="entr" presetSubtype="1"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22" presetClass="entr" presetSubtype="1"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20896" y="811710"/>
                <a:ext cx="11740545" cy="3970318"/>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≥−0.6667)</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6667</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2486</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𝟔𝟔𝟔𝟕</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𝟕𝟒𝟖𝟔</m:t>
                      </m:r>
                    </m:oMath>
                  </m:oMathPara>
                </a14:m>
                <a:endParaRPr lang="en-US"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20896" y="811710"/>
                <a:ext cx="11740545" cy="3970318"/>
              </a:xfrm>
              <a:prstGeom prst="rect">
                <a:avLst/>
              </a:prstGeom>
              <a:blipFill rotWithShape="0">
                <a:blip r:embed="rId2"/>
                <a:stretch>
                  <a:fillRect l="-1090"/>
                </a:stretch>
              </a:blipFill>
            </p:spPr>
            <p:txBody>
              <a:bodyPr/>
              <a:lstStyle/>
              <a:p>
                <a:r>
                  <a:rPr lang="en-IN">
                    <a:noFill/>
                  </a:rPr>
                  <a:t> </a:t>
                </a:r>
              </a:p>
            </p:txBody>
          </p:sp>
        </mc:Fallback>
      </mc:AlternateContent>
    </p:spTree>
    <p:extLst>
      <p:ext uri="{BB962C8B-B14F-4D97-AF65-F5344CB8AC3E}">
        <p14:creationId xmlns:p14="http://schemas.microsoft.com/office/powerpoint/2010/main" val="35700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86793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(c) To find the probabilities of developing time of prints take at most 16.35 sec,  </a:t>
                </a:r>
                <a14:m>
                  <m:oMath xmlns:m="http://schemas.openxmlformats.org/officeDocument/2006/math">
                    <m:d>
                      <m:dPr>
                        <m:ctrlPr>
                          <a:rPr lang="en-IN" i="1">
                            <a:solidFill>
                              <a:srgbClr val="FF0000"/>
                            </a:solidFill>
                            <a:latin typeface="Cambria Math" panose="02040503050406030204" pitchFamily="18" charset="0"/>
                            <a:ea typeface="Cambria Math" panose="02040503050406030204" pitchFamily="18" charset="0"/>
                          </a:rPr>
                        </m:ctrlPr>
                      </m:dPr>
                      <m:e>
                        <m:r>
                          <a:rPr lang="en-US">
                            <a:solidFill>
                              <a:srgbClr val="FF0000"/>
                            </a:solidFill>
                            <a:latin typeface="Cambria Math" panose="02040503050406030204" pitchFamily="18" charset="0"/>
                            <a:ea typeface="Cambria Math" panose="02040503050406030204" pitchFamily="18" charset="0"/>
                          </a:rPr>
                          <m:t>𝐗</m:t>
                        </m:r>
                        <m:r>
                          <a:rPr lang="en-US" i="1" smtClean="0">
                            <a:solidFill>
                              <a:srgbClr val="FF0000"/>
                            </a:solidFill>
                            <a:latin typeface="Cambria Math" panose="02040503050406030204" pitchFamily="18" charset="0"/>
                            <a:ea typeface="Cambria Math" panose="02040503050406030204" pitchFamily="18" charset="0"/>
                          </a:rPr>
                          <m:t>≤</m:t>
                        </m:r>
                        <m:r>
                          <a:rPr lang="en-US">
                            <a:solidFill>
                              <a:srgbClr val="FF0000"/>
                            </a:solidFill>
                            <a:latin typeface="Cambria Math" panose="02040503050406030204" pitchFamily="18" charset="0"/>
                            <a:ea typeface="Cambria Math" panose="02040503050406030204" pitchFamily="18" charset="0"/>
                          </a:rPr>
                          <m:t>𝟏𝟔</m:t>
                        </m:r>
                        <m:r>
                          <a:rPr lang="en-US">
                            <a:solidFill>
                              <a:srgbClr val="FF0000"/>
                            </a:solidFill>
                            <a:latin typeface="Cambria Math" panose="02040503050406030204" pitchFamily="18" charset="0"/>
                            <a:ea typeface="Cambria Math" panose="02040503050406030204" pitchFamily="18" charset="0"/>
                          </a:rPr>
                          <m:t>.</m:t>
                        </m:r>
                        <m:r>
                          <a:rPr lang="en-IN" b="1" i="1" smtClean="0">
                            <a:solidFill>
                              <a:srgbClr val="FF0000"/>
                            </a:solidFill>
                            <a:latin typeface="Cambria Math" panose="02040503050406030204" pitchFamily="18" charset="0"/>
                            <a:ea typeface="Cambria Math" panose="02040503050406030204" pitchFamily="18" charset="0"/>
                          </a:rPr>
                          <m:t>𝟑𝟓</m:t>
                        </m:r>
                      </m:e>
                    </m:d>
                  </m:oMath>
                </a14:m>
                <a:endParaRPr lang="en-IN" dirty="0">
                  <a:solidFill>
                    <a:srgbClr val="FF0000"/>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 xmlns:a16="http://schemas.microsoft.com/office/drawing/2014/main"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867930"/>
              </a:xfrm>
              <a:prstGeom prst="rect">
                <a:avLst/>
              </a:prstGeom>
              <a:blipFill rotWithShape="0">
                <a:blip r:embed="rId2"/>
                <a:stretch>
                  <a:fillRect l="-1016" t="-12676" r="-101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674594"/>
                <a:ext cx="4373830" cy="470577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=16.35</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a:solidFill>
                                <a:schemeClr val="tx2">
                                  <a:lumMod val="50000"/>
                                </a:schemeClr>
                              </a:solidFill>
                              <a:latin typeface="Cambria Math" panose="02040503050406030204" pitchFamily="18" charset="0"/>
                              <a:ea typeface="Cambria Math" panose="02040503050406030204" pitchFamily="18" charset="0"/>
                            </a:rPr>
                            <m:t> </m:t>
                          </m:r>
                          <m:r>
                            <a:rPr lang="en-IN" sz="2800">
                              <a:solidFill>
                                <a:schemeClr val="tx2">
                                  <a:lumMod val="50000"/>
                                </a:schemeClr>
                              </a:solidFill>
                              <a:latin typeface="Cambria Math" panose="02040503050406030204" pitchFamily="18" charset="0"/>
                              <a:ea typeface="Cambria Math" panose="02040503050406030204" pitchFamily="18" charset="0"/>
                            </a:rPr>
                            <m:t>16.35</m:t>
                          </m:r>
                          <m:r>
                            <a:rPr lang="en-US" sz="2800">
                              <a:solidFill>
                                <a:schemeClr val="tx2">
                                  <a:lumMod val="50000"/>
                                </a:schemeClr>
                              </a:solidFill>
                              <a:latin typeface="Cambria Math" panose="02040503050406030204" pitchFamily="18" charset="0"/>
                              <a:ea typeface="Cambria Math" panose="02040503050406030204" pitchFamily="18" charset="0"/>
                            </a:rPr>
                            <m:t>−</m:t>
                          </m:r>
                          <m:r>
                            <a:rPr lang="en-IN" sz="2800">
                              <a:solidFill>
                                <a:schemeClr val="tx2">
                                  <a:lumMod val="50000"/>
                                </a:schemeClr>
                              </a:solidFill>
                              <a:latin typeface="Cambria Math" panose="02040503050406030204" pitchFamily="18" charset="0"/>
                              <a:ea typeface="Cambria Math" panose="02040503050406030204" pitchFamily="18" charset="0"/>
                            </a:rPr>
                            <m:t>16.28</m:t>
                          </m:r>
                          <m:r>
                            <a:rPr lang="en-US" sz="2800">
                              <a:solidFill>
                                <a:schemeClr val="tx2">
                                  <a:lumMod val="50000"/>
                                </a:schemeClr>
                              </a:solidFill>
                              <a:latin typeface="Cambria Math" panose="02040503050406030204" pitchFamily="18" charset="0"/>
                              <a:ea typeface="Cambria Math" panose="02040503050406030204" pitchFamily="18" charset="0"/>
                            </a:rPr>
                            <m:t> </m:t>
                          </m:r>
                        </m:num>
                        <m:den>
                          <m:r>
                            <a:rPr lang="en-IN" sz="2800">
                              <a:solidFill>
                                <a:schemeClr val="tx2">
                                  <a:lumMod val="50000"/>
                                </a:schemeClr>
                              </a:solidFill>
                              <a:latin typeface="Cambria Math" panose="02040503050406030204" pitchFamily="18" charset="0"/>
                              <a:ea typeface="Cambria Math" panose="02040503050406030204" pitchFamily="18" charset="0"/>
                            </a:rPr>
                            <m:t>0.12</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=0.5833</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≤0.5833)</m:t>
                    </m:r>
                  </m:oMath>
                </a14:m>
                <a:endParaRPr lang="en-US"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674594"/>
                <a:ext cx="4373830" cy="4705775"/>
              </a:xfrm>
              <a:prstGeom prst="rect">
                <a:avLst/>
              </a:prstGeom>
              <a:blipFill rotWithShape="0">
                <a:blip r:embed="rId3"/>
                <a:stretch>
                  <a:fillRect l="-2786"/>
                </a:stretch>
              </a:blipFill>
            </p:spPr>
            <p:txBody>
              <a:bodyPr/>
              <a:lstStyle/>
              <a:p>
                <a:r>
                  <a:rPr lang="en-IN">
                    <a:noFill/>
                  </a:rPr>
                  <a:t> </a:t>
                </a:r>
              </a:p>
            </p:txBody>
          </p:sp>
        </mc:Fallback>
      </mc:AlternateContent>
    </p:spTree>
    <p:extLst>
      <p:ext uri="{BB962C8B-B14F-4D97-AF65-F5344CB8AC3E}">
        <p14:creationId xmlns:p14="http://schemas.microsoft.com/office/powerpoint/2010/main" val="1967225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5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120896" y="695799"/>
                <a:ext cx="11740545" cy="3323987"/>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P</m:t>
                    </m:r>
                    <m:r>
                      <a:rPr lang="en-US" sz="280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a:solidFill>
                          <a:schemeClr val="tx2">
                            <a:lumMod val="50000"/>
                          </a:schemeClr>
                        </a:solidFill>
                        <a:latin typeface="Cambria Math" panose="02040503050406030204" pitchFamily="18" charset="0"/>
                        <a:ea typeface="Cambria Math" panose="02040503050406030204" pitchFamily="18" charset="0"/>
                      </a:rPr>
                      <m:t>≤0.5833)</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5833</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5833</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5833</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58</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5833</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2190</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smtClean="0">
                          <a:solidFill>
                            <a:srgbClr val="FF0000"/>
                          </a:solidFill>
                          <a:latin typeface="Cambria Math" panose="02040503050406030204" pitchFamily="18" charset="0"/>
                          <a:ea typeface="Cambria Math" panose="02040503050406030204" pitchFamily="18" charset="0"/>
                        </a:rPr>
                        <m:t>𝐏</m:t>
                      </m:r>
                      <m:d>
                        <m:dPr>
                          <m:ctrlPr>
                            <a:rPr lang="en-IN" sz="2800" i="1">
                              <a:solidFill>
                                <a:srgbClr val="FF0000"/>
                              </a:solidFill>
                              <a:latin typeface="Cambria Math" panose="02040503050406030204" pitchFamily="18" charset="0"/>
                              <a:ea typeface="Cambria Math" panose="02040503050406030204" pitchFamily="18" charset="0"/>
                            </a:rPr>
                          </m:ctrlPr>
                        </m:dPr>
                        <m:e>
                          <m:r>
                            <a:rPr lang="en-US" sz="2800">
                              <a:solidFill>
                                <a:srgbClr val="FF0000"/>
                              </a:solidFill>
                              <a:latin typeface="Cambria Math" panose="02040503050406030204" pitchFamily="18" charset="0"/>
                              <a:ea typeface="Cambria Math" panose="02040503050406030204" pitchFamily="18" charset="0"/>
                            </a:rPr>
                            <m:t>𝐙</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𝟓𝟖𝟑𝟑</m:t>
                          </m:r>
                        </m:e>
                      </m:d>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𝟎</m:t>
                      </m:r>
                      <m:r>
                        <a:rPr lang="en-US" sz="2800">
                          <a:solidFill>
                            <a:srgbClr val="FF0000"/>
                          </a:solidFill>
                          <a:latin typeface="Cambria Math" panose="02040503050406030204" pitchFamily="18" charset="0"/>
                          <a:ea typeface="Cambria Math" panose="02040503050406030204" pitchFamily="18" charset="0"/>
                        </a:rPr>
                        <m:t>.</m:t>
                      </m:r>
                      <m:r>
                        <a:rPr lang="en-US" sz="2800">
                          <a:solidFill>
                            <a:srgbClr val="FF0000"/>
                          </a:solidFill>
                          <a:latin typeface="Cambria Math" panose="02040503050406030204" pitchFamily="18" charset="0"/>
                          <a:ea typeface="Cambria Math" panose="02040503050406030204" pitchFamily="18" charset="0"/>
                        </a:rPr>
                        <m:t>𝟕𝟏𝟗𝟎</m:t>
                      </m:r>
                    </m:oMath>
                  </m:oMathPara>
                </a14:m>
                <a:endParaRPr lang="en-IN" sz="2800"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20896" y="695799"/>
                <a:ext cx="11740545" cy="3323987"/>
              </a:xfrm>
              <a:prstGeom prst="rect">
                <a:avLst/>
              </a:prstGeom>
              <a:blipFill rotWithShape="0">
                <a:blip r:embed="rId2"/>
                <a:stretch>
                  <a:fillRect l="-10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09605994"/>
                  </p:ext>
                </p:extLst>
              </p:nvPr>
            </p:nvGraphicFramePr>
            <p:xfrm>
              <a:off x="120897" y="3915178"/>
              <a:ext cx="10401329" cy="2443215"/>
            </p:xfrm>
            <a:graphic>
              <a:graphicData uri="http://schemas.openxmlformats.org/drawingml/2006/table">
                <a:tbl>
                  <a:tblPr firstRow="1" bandRow="1">
                    <a:tableStyleId>{5C22544A-7EE6-4342-B048-85BDC9FD1C3A}</a:tableStyleId>
                  </a:tblPr>
                  <a:tblGrid>
                    <a:gridCol w="10401329">
                      <a:extLst>
                        <a:ext uri="{9D8B030D-6E8A-4147-A177-3AD203B41FA5}">
                          <a16:colId xmlns:a16="http://schemas.microsoft.com/office/drawing/2014/main" val="20000"/>
                        </a:ext>
                      </a:extLst>
                    </a:gridCol>
                  </a:tblGrid>
                  <a:tr h="1955535">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07638">
                    <a:tc>
                      <a:txBody>
                        <a:bodyPr/>
                        <a:lstStyle/>
                        <a:p>
                          <a14:m>
                            <m:oMath xmlns:m="http://schemas.openxmlformats.org/officeDocument/2006/math">
                              <m:r>
                                <a:rPr lang="en-US" sz="2600" b="1" i="1" kern="1200" smtClean="0">
                                  <a:solidFill>
                                    <a:schemeClr val="dk1"/>
                                  </a:solidFill>
                                  <a:effectLst/>
                                  <a:latin typeface="Cambria Math" panose="02040503050406030204" pitchFamily="18" charset="0"/>
                                  <a:ea typeface="+mn-ea"/>
                                  <a:cs typeface="+mn-cs"/>
                                </a:rPr>
                                <m:t>−∞</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0.58</m:t>
                              </m:r>
                            </m:oMath>
                          </a14:m>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r>
                            <a:rPr lang="en-US" sz="2600" kern="1200" baseline="0" dirty="0">
                              <a:solidFill>
                                <a:schemeClr val="dk1"/>
                              </a:solidFill>
                              <a:effectLst/>
                              <a:latin typeface="+mn-lt"/>
                              <a:ea typeface="+mn-ea"/>
                              <a:cs typeface="+mn-cs"/>
                            </a:rPr>
                            <a:t> </a:t>
                          </a:r>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0.58</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09605994"/>
                  </p:ext>
                </p:extLst>
              </p:nvPr>
            </p:nvGraphicFramePr>
            <p:xfrm>
              <a:off x="120897" y="3915178"/>
              <a:ext cx="10401329" cy="2443215"/>
            </p:xfrm>
            <a:graphic>
              <a:graphicData uri="http://schemas.openxmlformats.org/drawingml/2006/table">
                <a:tbl>
                  <a:tblPr firstRow="1" bandRow="1">
                    <a:tableStyleId>{5C22544A-7EE6-4342-B048-85BDC9FD1C3A}</a:tableStyleId>
                  </a:tblPr>
                  <a:tblGrid>
                    <a:gridCol w="10401329"/>
                  </a:tblGrid>
                  <a:tr h="1955535">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402500"/>
                          </a:stretch>
                        </a:blipFill>
                      </a:tcPr>
                    </a:tc>
                  </a:tr>
                </a:tbl>
              </a:graphicData>
            </a:graphic>
          </p:graphicFrame>
        </mc:Fallback>
      </mc:AlternateContent>
      <p:pic>
        <p:nvPicPr>
          <p:cNvPr id="5" name="Picture 4"/>
          <p:cNvPicPr/>
          <p:nvPr/>
        </p:nvPicPr>
        <p:blipFill rotWithShape="1">
          <a:blip r:embed="rId4">
            <a:extLst>
              <a:ext uri="{28A0092B-C50C-407E-A947-70E740481C1C}">
                <a14:useLocalDpi xmlns:a14="http://schemas.microsoft.com/office/drawing/2010/main" val="0"/>
              </a:ext>
            </a:extLst>
          </a:blip>
          <a:srcRect l="1" t="9318" r="-883"/>
          <a:stretch/>
        </p:blipFill>
        <p:spPr bwMode="auto">
          <a:xfrm>
            <a:off x="120896" y="3900517"/>
            <a:ext cx="10149538" cy="19834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91086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43322"/>
                <a:ext cx="11929643" cy="3187765"/>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Assuming that the diameters of </a:t>
                </a:r>
                <a:r>
                  <a:rPr lang="en-US" dirty="0">
                    <a:latin typeface="Cambria Math" panose="02040503050406030204" pitchFamily="18" charset="0"/>
                    <a:ea typeface="Cambria Math" panose="02040503050406030204" pitchFamily="18" charset="0"/>
                  </a:rPr>
                  <a:t>1000</a:t>
                </a:r>
                <a:r>
                  <a:rPr lang="en-US" dirty="0"/>
                  <a:t> brass plugs taken consecutively from a machine form a normal distribution with mean </a:t>
                </a:r>
                <a:r>
                  <a:rPr lang="en-US" dirty="0">
                    <a:latin typeface="Cambria Math" panose="02040503050406030204" pitchFamily="18" charset="0"/>
                    <a:ea typeface="Cambria Math" panose="02040503050406030204" pitchFamily="18" charset="0"/>
                  </a:rPr>
                  <a:t>0.7515</a:t>
                </a:r>
                <a:r>
                  <a:rPr lang="en-US" dirty="0"/>
                  <a:t> cm and standard deviation </a:t>
                </a:r>
                <a:r>
                  <a:rPr lang="en-US" dirty="0">
                    <a:latin typeface="Cambria Math" panose="02040503050406030204" pitchFamily="18" charset="0"/>
                    <a:ea typeface="Cambria Math" panose="02040503050406030204" pitchFamily="18" charset="0"/>
                  </a:rPr>
                  <a:t>0.002</a:t>
                </a:r>
                <a:r>
                  <a:rPr lang="en-US" dirty="0"/>
                  <a:t> cm. Find the number of plugs likely to be rejected if the approved diameter is </a:t>
                </a:r>
                <a:r>
                  <a:rPr lang="en-US" dirty="0">
                    <a:latin typeface="Cambria Math" panose="02040503050406030204" pitchFamily="18" charset="0"/>
                    <a:ea typeface="Cambria Math" panose="02040503050406030204" pitchFamily="18" charset="0"/>
                  </a:rPr>
                  <a:t>0.752</a:t>
                </a:r>
                <a14:m>
                  <m:oMath xmlns:m="http://schemas.openxmlformats.org/officeDocument/2006/math">
                    <m:r>
                      <a:rPr lang="en-US">
                        <a:latin typeface="Cambria Math" panose="02040503050406030204" pitchFamily="18" charset="0"/>
                        <a:ea typeface="Cambria Math" panose="02040503050406030204" pitchFamily="18" charset="0"/>
                      </a:rPr>
                      <m:t> ± </m:t>
                    </m:r>
                  </m:oMath>
                </a14:m>
                <a:r>
                  <a:rPr lang="en-US" dirty="0">
                    <a:latin typeface="Cambria Math" panose="02040503050406030204" pitchFamily="18" charset="0"/>
                    <a:ea typeface="Cambria Math" panose="02040503050406030204" pitchFamily="18" charset="0"/>
                  </a:rPr>
                  <a:t>0.004 </a:t>
                </a:r>
                <a:r>
                  <a:rPr lang="en-US" dirty="0"/>
                  <a:t>cm. </a:t>
                </a:r>
                <a:endParaRPr lang="en-IN" dirty="0"/>
              </a:p>
              <a:p>
                <a:pPr/>
                <a14:m>
                  <m:oMathPara xmlns:m="http://schemas.openxmlformats.org/officeDocument/2006/math">
                    <m:oMathParaPr>
                      <m:jc m:val="left"/>
                    </m:oMathParaPr>
                    <m:oMath xmlns:m="http://schemas.openxmlformats.org/officeDocument/2006/math">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P</m:t>
                      </m:r>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z</m:t>
                      </m:r>
                      <m:r>
                        <a:rPr lang="en-US">
                          <a:latin typeface="Cambria Math" panose="02040503050406030204" pitchFamily="18" charset="0"/>
                          <a:ea typeface="Cambria Math" panose="02040503050406030204" pitchFamily="18" charset="0"/>
                        </a:rPr>
                        <m:t>=1.75)=0.4599, </m:t>
                      </m:r>
                      <m:r>
                        <m:rPr>
                          <m:sty m:val="p"/>
                        </m:rPr>
                        <a:rPr lang="en-US">
                          <a:latin typeface="Cambria Math" panose="02040503050406030204" pitchFamily="18" charset="0"/>
                          <a:ea typeface="Cambria Math" panose="02040503050406030204" pitchFamily="18" charset="0"/>
                        </a:rPr>
                        <m:t>P</m:t>
                      </m:r>
                      <m:r>
                        <a:rPr lang="en-US">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z</m:t>
                      </m:r>
                      <m:r>
                        <a:rPr lang="en-US">
                          <a:latin typeface="Cambria Math" panose="02040503050406030204" pitchFamily="18" charset="0"/>
                          <a:ea typeface="Cambria Math" panose="02040503050406030204" pitchFamily="18" charset="0"/>
                        </a:rPr>
                        <m:t>=2.25)=0.4878]</m:t>
                      </m:r>
                    </m:oMath>
                  </m:oMathPara>
                </a14:m>
                <a:endParaRPr lang="en-IN" dirty="0">
                  <a:latin typeface="Cambria Math" panose="02040503050406030204" pitchFamily="18" charset="0"/>
                  <a:ea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43322"/>
                <a:ext cx="11929643" cy="3187765"/>
              </a:xfrm>
              <a:prstGeom prst="rect">
                <a:avLst/>
              </a:prstGeom>
              <a:blipFill rotWithShape="0">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 Example 6</a:t>
            </a:r>
            <a:endParaRPr lang="en-US" dirty="0"/>
          </a:p>
        </p:txBody>
      </p:sp>
      <p:sp>
        <p:nvSpPr>
          <p:cNvPr id="6" name="Rectangle 5">
            <a:extLst>
              <a:ext uri="{FF2B5EF4-FFF2-40B4-BE49-F238E27FC236}">
                <a16:creationId xmlns:a16="http://schemas.microsoft.com/office/drawing/2014/main" id="{B2D3FB0B-D709-43AC-B65F-29361B504B61}"/>
              </a:ext>
            </a:extLst>
          </p:cNvPr>
          <p:cNvSpPr/>
          <p:nvPr/>
        </p:nvSpPr>
        <p:spPr>
          <a:xfrm>
            <a:off x="131177" y="4289375"/>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0C88CCD-ABF6-487A-A003-269BE830EF70}"/>
                  </a:ext>
                </a:extLst>
              </p:cNvPr>
              <p:cNvSpPr txBox="1">
                <a:spLocks/>
              </p:cNvSpPr>
              <p:nvPr/>
            </p:nvSpPr>
            <p:spPr>
              <a:xfrm>
                <a:off x="1769829" y="4180191"/>
                <a:ext cx="10290991" cy="738664"/>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150000"/>
                  </a:lnSpc>
                  <a:buNone/>
                  <a:tabLst>
                    <a:tab pos="447675" algn="l"/>
                  </a:tabLst>
                </a:pPr>
                <a:r>
                  <a:rPr lang="en-US" dirty="0">
                    <a:solidFill>
                      <a:schemeClr val="tx2">
                        <a:lumMod val="50000"/>
                      </a:schemeClr>
                    </a:solidFill>
                  </a:rPr>
                  <a:t>Given Mean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μ</m:t>
                    </m:r>
                    <m:r>
                      <a:rPr lang="en-US" i="0" dirty="0" smtClean="0">
                        <a:solidFill>
                          <a:schemeClr val="tx2">
                            <a:lumMod val="50000"/>
                          </a:schemeClr>
                        </a:solidFill>
                        <a:latin typeface="Cambria Math" panose="02040503050406030204" pitchFamily="18" charset="0"/>
                      </a:rPr>
                      <m:t>=0.7515</m:t>
                    </m:r>
                  </m:oMath>
                </a14:m>
                <a:r>
                  <a:rPr lang="en-US" dirty="0">
                    <a:solidFill>
                      <a:schemeClr val="tx2">
                        <a:lumMod val="50000"/>
                      </a:schemeClr>
                    </a:solidFill>
                  </a:rPr>
                  <a:t> and </a:t>
                </a:r>
                <a14:m>
                  <m:oMath xmlns:m="http://schemas.openxmlformats.org/officeDocument/2006/math">
                    <m:r>
                      <m:rPr>
                        <m:sty m:val="p"/>
                      </m:rPr>
                      <a:rPr lang="en-US" i="0" dirty="0" smtClean="0">
                        <a:solidFill>
                          <a:schemeClr val="tx2">
                            <a:lumMod val="50000"/>
                          </a:schemeClr>
                        </a:solidFill>
                        <a:latin typeface="Cambria Math" panose="02040503050406030204" pitchFamily="18" charset="0"/>
                      </a:rPr>
                      <m:t>σ</m:t>
                    </m:r>
                    <m:r>
                      <a:rPr lang="en-US" i="0" dirty="0" smtClean="0">
                        <a:solidFill>
                          <a:schemeClr val="tx2">
                            <a:lumMod val="50000"/>
                          </a:schemeClr>
                        </a:solidFill>
                        <a:latin typeface="Cambria Math" panose="02040503050406030204" pitchFamily="18" charset="0"/>
                      </a:rPr>
                      <m:t>=0.002</m:t>
                    </m:r>
                  </m:oMath>
                </a14:m>
                <a:endParaRPr lang="en-US" dirty="0">
                  <a:solidFill>
                    <a:schemeClr val="tx2">
                      <a:lumMod val="50000"/>
                    </a:schemeClr>
                  </a:solidFill>
                </a:endParaRPr>
              </a:p>
            </p:txBody>
          </p:sp>
        </mc:Choice>
        <mc:Fallback xmlns="">
          <p:sp>
            <p:nvSpPr>
              <p:cNvPr id="7"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1769829" y="4180191"/>
                <a:ext cx="10290991" cy="738664"/>
              </a:xfrm>
              <a:prstGeom prst="rect">
                <a:avLst/>
              </a:prstGeom>
              <a:blipFill rotWithShape="0">
                <a:blip r:embed="rId3"/>
                <a:stretch>
                  <a:fillRect l="-1185" b="-13223"/>
                </a:stretch>
              </a:blipFill>
            </p:spPr>
            <p:txBody>
              <a:bodyPr/>
              <a:lstStyle/>
              <a:p>
                <a:r>
                  <a:rPr lang="en-IN">
                    <a:noFill/>
                  </a:rPr>
                  <a:t> </a:t>
                </a:r>
              </a:p>
            </p:txBody>
          </p:sp>
        </mc:Fallback>
      </mc:AlternateContent>
    </p:spTree>
    <p:extLst>
      <p:ext uri="{BB962C8B-B14F-4D97-AF65-F5344CB8AC3E}">
        <p14:creationId xmlns:p14="http://schemas.microsoft.com/office/powerpoint/2010/main" val="396817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6 (Continue)</a:t>
            </a:r>
            <a:endParaRPr lang="en-US" dirty="0"/>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A0C88CCD-ABF6-487A-A003-269BE830EF70}"/>
                  </a:ext>
                </a:extLst>
              </p:cNvPr>
              <p:cNvSpPr txBox="1">
                <a:spLocks/>
              </p:cNvSpPr>
              <p:nvPr/>
            </p:nvSpPr>
            <p:spPr>
              <a:xfrm>
                <a:off x="69380" y="798285"/>
                <a:ext cx="11998124" cy="996170"/>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rgbClr val="FF0000"/>
                    </a:solidFill>
                  </a:rPr>
                  <a:t>To find the number of plugs likely to be rejected for the approved diameter</a:t>
                </a:r>
              </a:p>
              <a:p>
                <a:pPr marL="0" indent="0">
                  <a:buNone/>
                </a:pPr>
                <a:r>
                  <a:rPr lang="en-US" dirty="0">
                    <a:solidFill>
                      <a:srgbClr val="FF0000"/>
                    </a:solidFill>
                  </a:rPr>
                  <a:t> </a:t>
                </a:r>
                <a14:m>
                  <m:oMath xmlns:m="http://schemas.openxmlformats.org/officeDocument/2006/math">
                    <m:r>
                      <a:rPr lang="en-US" b="1" i="1" smtClean="0">
                        <a:solidFill>
                          <a:srgbClr val="FF0000"/>
                        </a:solidFill>
                        <a:latin typeface="Cambria Math" panose="02040503050406030204" pitchFamily="18" charset="0"/>
                        <a:ea typeface="Cambria Math" panose="02040503050406030204" pitchFamily="18" charset="0"/>
                      </a:rPr>
                      <m:t>𝟎</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𝟕𝟓𝟐</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𝟎</m:t>
                    </m:r>
                    <m:r>
                      <a:rPr lang="en-US" b="1" i="1" smtClean="0">
                        <a:solidFill>
                          <a:srgbClr val="FF0000"/>
                        </a:solidFill>
                        <a:latin typeface="Cambria Math" panose="02040503050406030204" pitchFamily="18" charset="0"/>
                        <a:ea typeface="Cambria Math" panose="02040503050406030204" pitchFamily="18" charset="0"/>
                      </a:rPr>
                      <m:t>.</m:t>
                    </m:r>
                    <m:r>
                      <a:rPr lang="en-US" b="1" i="1" smtClean="0">
                        <a:solidFill>
                          <a:srgbClr val="FF0000"/>
                        </a:solidFill>
                        <a:latin typeface="Cambria Math" panose="02040503050406030204" pitchFamily="18" charset="0"/>
                        <a:ea typeface="Cambria Math" panose="02040503050406030204" pitchFamily="18" charset="0"/>
                      </a:rPr>
                      <m:t>𝟎𝟎𝟒</m:t>
                    </m:r>
                  </m:oMath>
                </a14:m>
                <a:r>
                  <a:rPr lang="en-US" b="1" dirty="0">
                    <a:solidFill>
                      <a:srgbClr val="FF0000"/>
                    </a:solidFill>
                    <a:latin typeface="Cambria Math" panose="02040503050406030204" pitchFamily="18" charset="0"/>
                    <a:ea typeface="Cambria Math" panose="02040503050406030204" pitchFamily="18" charset="0"/>
                  </a:rPr>
                  <a:t> cm,  </a:t>
                </a:r>
                <a14:m>
                  <m:oMath xmlns:m="http://schemas.openxmlformats.org/officeDocument/2006/math">
                    <m:d>
                      <m:dPr>
                        <m:ctrlPr>
                          <a:rPr lang="en-IN" b="1" i="1">
                            <a:solidFill>
                              <a:srgbClr val="FF0000"/>
                            </a:solidFill>
                            <a:latin typeface="Cambria Math" panose="02040503050406030204" pitchFamily="18" charset="0"/>
                            <a:ea typeface="Cambria Math" panose="02040503050406030204" pitchFamily="18" charset="0"/>
                          </a:rPr>
                        </m:ctrlPr>
                      </m:dPr>
                      <m:e>
                        <m:r>
                          <a:rPr lang="en-US" b="1" i="1">
                            <a:solidFill>
                              <a:srgbClr val="FF0000"/>
                            </a:solidFill>
                            <a:latin typeface="Cambria Math" panose="02040503050406030204" pitchFamily="18" charset="0"/>
                            <a:ea typeface="Cambria Math" panose="02040503050406030204" pitchFamily="18" charset="0"/>
                          </a:rPr>
                          <m:t>𝐗</m:t>
                        </m:r>
                        <m:r>
                          <a:rPr lang="en-US" b="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𝟎</m:t>
                        </m:r>
                        <m:r>
                          <a:rPr lang="en-US" b="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𝟕𝟓𝟐</m:t>
                        </m:r>
                        <m:r>
                          <a:rPr lang="en-US" b="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𝟎</m:t>
                        </m:r>
                        <m:r>
                          <a:rPr lang="en-US" b="1">
                            <a:solidFill>
                              <a:srgbClr val="FF0000"/>
                            </a:solidFill>
                            <a:latin typeface="Cambria Math" panose="02040503050406030204" pitchFamily="18" charset="0"/>
                            <a:ea typeface="Cambria Math" panose="02040503050406030204" pitchFamily="18" charset="0"/>
                          </a:rPr>
                          <m:t>.</m:t>
                        </m:r>
                        <m:r>
                          <a:rPr lang="en-US" b="1" i="1">
                            <a:solidFill>
                              <a:srgbClr val="FF0000"/>
                            </a:solidFill>
                            <a:latin typeface="Cambria Math" panose="02040503050406030204" pitchFamily="18" charset="0"/>
                            <a:ea typeface="Cambria Math" panose="02040503050406030204" pitchFamily="18" charset="0"/>
                          </a:rPr>
                          <m:t>𝟎𝟎𝟒</m:t>
                        </m:r>
                      </m:e>
                    </m:d>
                  </m:oMath>
                </a14:m>
                <a:endParaRPr lang="en-IN" dirty="0">
                  <a:solidFill>
                    <a:srgbClr val="FF0000"/>
                  </a:solidFill>
                  <a:latin typeface="Cambria Math" panose="02040503050406030204" pitchFamily="18" charset="0"/>
                  <a:ea typeface="Cambria Math" panose="02040503050406030204" pitchFamily="18" charset="0"/>
                </a:endParaRPr>
              </a:p>
            </p:txBody>
          </p:sp>
        </mc:Choice>
        <mc:Fallback xmlns="">
          <p:sp>
            <p:nvSpPr>
              <p:cNvPr id="21" name="Content Placeholder 2">
                <a:extLst>
                  <a:ext uri="{FF2B5EF4-FFF2-40B4-BE49-F238E27FC236}">
                    <a16:creationId xmlns:a16="http://schemas.microsoft.com/office/drawing/2014/main" xmlns="" xmlns:a14="http://schemas.microsoft.com/office/drawing/2010/main" id="{A0C88CCD-ABF6-487A-A003-269BE830EF70}"/>
                  </a:ext>
                </a:extLst>
              </p:cNvPr>
              <p:cNvSpPr txBox="1">
                <a:spLocks noRot="1" noChangeAspect="1" noMove="1" noResize="1" noEditPoints="1" noAdjustHandles="1" noChangeArrowheads="1" noChangeShapeType="1" noTextEdit="1"/>
              </p:cNvSpPr>
              <p:nvPr/>
            </p:nvSpPr>
            <p:spPr>
              <a:xfrm>
                <a:off x="69380" y="798285"/>
                <a:ext cx="11998124" cy="996170"/>
              </a:xfrm>
              <a:prstGeom prst="rect">
                <a:avLst/>
              </a:prstGeom>
              <a:blipFill rotWithShape="0">
                <a:blip r:embed="rId2"/>
                <a:stretch>
                  <a:fillRect l="-1016" t="-11043" b="-159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9381" y="1880658"/>
                <a:ext cx="5571566" cy="4455387"/>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So</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a:solidFill>
                          <a:schemeClr val="tx2">
                            <a:lumMod val="50000"/>
                          </a:schemeClr>
                        </a:solidFill>
                        <a:latin typeface="Cambria Math" panose="02040503050406030204" pitchFamily="18" charset="0"/>
                        <a:ea typeface="Cambria Math" panose="02040503050406030204" pitchFamily="18" charset="0"/>
                      </a:rPr>
                      <m:t>=0.752+0.004=0.756</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r>
                  <a:rPr lang="en-US" sz="2800" dirty="0">
                    <a:solidFill>
                      <a:schemeClr val="tx2">
                        <a:lumMod val="50000"/>
                      </a:schemeClr>
                    </a:solidFill>
                    <a:ea typeface="Cambria Math" panose="02040503050406030204" pitchFamily="18" charset="0"/>
                  </a:rPr>
                  <a:t>and </a:t>
                </a:r>
                <a14:m>
                  <m:oMath xmlns:m="http://schemas.openxmlformats.org/officeDocument/2006/math">
                    <m:r>
                      <m:rPr>
                        <m:sty m:val="p"/>
                      </m:rPr>
                      <a:rPr lang="en-IN" sz="2800">
                        <a:solidFill>
                          <a:srgbClr val="002060"/>
                        </a:solidFill>
                        <a:latin typeface="Cambria Math" panose="02040503050406030204" pitchFamily="18" charset="0"/>
                      </a:rPr>
                      <m:t>x</m:t>
                    </m:r>
                    <m:r>
                      <a:rPr lang="en-US" sz="2800">
                        <a:solidFill>
                          <a:schemeClr val="tx2">
                            <a:lumMod val="50000"/>
                          </a:schemeClr>
                        </a:solidFill>
                        <a:latin typeface="Cambria Math" panose="02040503050406030204" pitchFamily="18" charset="0"/>
                        <a:ea typeface="Cambria Math" panose="02040503050406030204" pitchFamily="18" charset="0"/>
                      </a:rPr>
                      <m:t>=0.752−0.004=0.748</m:t>
                    </m:r>
                  </m:oMath>
                </a14:m>
                <a:endParaRPr lang="en-US"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=0.756</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0.756</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0.7515</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0.002</m:t>
                          </m:r>
                        </m:den>
                      </m:f>
                      <m:r>
                        <a:rPr lang="en-IN" sz="2800" b="0" i="1" smtClean="0">
                          <a:solidFill>
                            <a:schemeClr val="tx2">
                              <a:lumMod val="50000"/>
                            </a:schemeClr>
                          </a:solidFill>
                          <a:latin typeface="Cambria Math" panose="02040503050406030204" pitchFamily="18" charset="0"/>
                          <a:ea typeface="Cambria Math" panose="02040503050406030204" pitchFamily="18" charset="0"/>
                        </a:rPr>
                        <m:t>=</m:t>
                      </m:r>
                      <m:r>
                        <a:rPr lang="en-IN" sz="2800" b="1" i="1" smtClean="0">
                          <a:solidFill>
                            <a:srgbClr val="FF0000"/>
                          </a:solidFill>
                          <a:latin typeface="Cambria Math" panose="02040503050406030204" pitchFamily="18" charset="0"/>
                          <a:ea typeface="Cambria Math" panose="02040503050406030204" pitchFamily="18" charset="0"/>
                        </a:rPr>
                        <m:t>𝟐</m:t>
                      </m:r>
                      <m:r>
                        <a:rPr lang="en-IN" sz="2800" b="1" i="1" smtClean="0">
                          <a:solidFill>
                            <a:srgbClr val="FF0000"/>
                          </a:solidFill>
                          <a:latin typeface="Cambria Math" panose="02040503050406030204" pitchFamily="18" charset="0"/>
                          <a:ea typeface="Cambria Math" panose="02040503050406030204" pitchFamily="18" charset="0"/>
                        </a:rPr>
                        <m:t>.</m:t>
                      </m:r>
                      <m:r>
                        <a:rPr lang="en-IN" sz="2800" b="1" i="1" smtClean="0">
                          <a:solidFill>
                            <a:srgbClr val="FF0000"/>
                          </a:solidFill>
                          <a:latin typeface="Cambria Math" panose="02040503050406030204" pitchFamily="18" charset="0"/>
                          <a:ea typeface="Cambria Math" panose="02040503050406030204" pitchFamily="18" charset="0"/>
                        </a:rPr>
                        <m:t>𝟐𝟓</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9381" y="1880658"/>
                <a:ext cx="5571566" cy="4455387"/>
              </a:xfrm>
              <a:prstGeom prst="rect">
                <a:avLst/>
              </a:prstGeom>
              <a:blipFill rotWithShape="0">
                <a:blip r:embed="rId3"/>
                <a:stretch>
                  <a:fillRect l="-21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281530" y="1859400"/>
                <a:ext cx="5695822" cy="4455387"/>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For</a:t>
                </a:r>
                <a:r>
                  <a:rPr lang="en-US" sz="2800" i="1"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IN" sz="2800">
                        <a:solidFill>
                          <a:srgbClr val="002060"/>
                        </a:solidFill>
                        <a:latin typeface="Cambria Math" panose="02040503050406030204" pitchFamily="18" charset="0"/>
                      </a:rPr>
                      <m:t>x</m:t>
                    </m:r>
                    <m:r>
                      <a:rPr lang="en-US" sz="2800" i="1">
                        <a:solidFill>
                          <a:schemeClr val="tx2">
                            <a:lumMod val="50000"/>
                          </a:schemeClr>
                        </a:solidFill>
                        <a:latin typeface="Cambria Math" panose="02040503050406030204" pitchFamily="18" charset="0"/>
                        <a:ea typeface="Cambria Math" panose="02040503050406030204" pitchFamily="18" charset="0"/>
                      </a:rPr>
                      <m:t>=0.748</m:t>
                    </m:r>
                  </m:oMath>
                </a14:m>
                <a:endParaRPr lang="en-IN" sz="2800" i="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IN" sz="2800">
                              <a:solidFill>
                                <a:srgbClr val="002060"/>
                              </a:solidFill>
                              <a:latin typeface="Cambria Math" panose="02040503050406030204" pitchFamily="18" charset="0"/>
                            </a:rPr>
                            <m:t>x</m:t>
                          </m:r>
                          <m:r>
                            <a:rPr lang="en-US" sz="2800" b="0" i="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μ</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r>
                            <a:rPr lang="en-US" sz="2800" b="0" i="0">
                              <a:solidFill>
                                <a:schemeClr val="tx2">
                                  <a:lumMod val="50000"/>
                                </a:schemeClr>
                              </a:solidFill>
                              <a:latin typeface="Cambria Math" panose="02040503050406030204" pitchFamily="18" charset="0"/>
                              <a:ea typeface="Cambria Math" panose="02040503050406030204" pitchFamily="18" charset="0"/>
                            </a:rPr>
                            <m:t> </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0">
                              <a:solidFill>
                                <a:schemeClr val="tx2">
                                  <a:lumMod val="50000"/>
                                </a:schemeClr>
                              </a:solidFill>
                              <a:latin typeface="Cambria Math" panose="02040503050406030204" pitchFamily="18" charset="0"/>
                              <a:ea typeface="Cambria Math" panose="02040503050406030204" pitchFamily="18" charset="0"/>
                            </a:rPr>
                            <m:t> </m:t>
                          </m:r>
                          <m:r>
                            <a:rPr lang="en-IN" sz="2800" b="0" i="0" smtClean="0">
                              <a:solidFill>
                                <a:schemeClr val="tx2">
                                  <a:lumMod val="50000"/>
                                </a:schemeClr>
                              </a:solidFill>
                              <a:latin typeface="Cambria Math" panose="02040503050406030204" pitchFamily="18" charset="0"/>
                              <a:ea typeface="Cambria Math" panose="02040503050406030204" pitchFamily="18" charset="0"/>
                            </a:rPr>
                            <m:t>0.748</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0" i="0" smtClean="0">
                              <a:solidFill>
                                <a:schemeClr val="tx2">
                                  <a:lumMod val="50000"/>
                                </a:schemeClr>
                              </a:solidFill>
                              <a:latin typeface="Cambria Math" panose="02040503050406030204" pitchFamily="18" charset="0"/>
                              <a:ea typeface="Cambria Math" panose="02040503050406030204" pitchFamily="18" charset="0"/>
                            </a:rPr>
                            <m:t>0.7515</m:t>
                          </m:r>
                          <m:r>
                            <a:rPr lang="en-US" sz="2800" b="0" i="0">
                              <a:solidFill>
                                <a:schemeClr val="tx2">
                                  <a:lumMod val="50000"/>
                                </a:schemeClr>
                              </a:solidFill>
                              <a:latin typeface="Cambria Math" panose="02040503050406030204" pitchFamily="18" charset="0"/>
                              <a:ea typeface="Cambria Math" panose="02040503050406030204" pitchFamily="18" charset="0"/>
                            </a:rPr>
                            <m:t> </m:t>
                          </m:r>
                        </m:num>
                        <m:den>
                          <m:r>
                            <a:rPr lang="en-IN" sz="2800" b="0" i="0" smtClean="0">
                              <a:solidFill>
                                <a:schemeClr val="tx2">
                                  <a:lumMod val="50000"/>
                                </a:schemeClr>
                              </a:solidFill>
                              <a:latin typeface="Cambria Math" panose="02040503050406030204" pitchFamily="18" charset="0"/>
                              <a:ea typeface="Cambria Math" panose="02040503050406030204" pitchFamily="18" charset="0"/>
                            </a:rPr>
                            <m:t>0.002</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m:rPr>
                        <m:sty m:val="p"/>
                      </m:rPr>
                      <a:rPr lang="en-US" sz="280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m:t>
                    </m:r>
                    <m:r>
                      <a:rPr lang="en-IN" sz="2800" b="1" i="0" smtClean="0">
                        <a:solidFill>
                          <a:srgbClr val="FF0000"/>
                        </a:solidFill>
                        <a:latin typeface="Cambria Math" panose="02040503050406030204" pitchFamily="18" charset="0"/>
                        <a:ea typeface="Cambria Math" panose="02040503050406030204" pitchFamily="18" charset="0"/>
                      </a:rPr>
                      <m:t>−</m:t>
                    </m:r>
                    <m:r>
                      <a:rPr lang="en-IN" sz="2800" b="1" i="0" smtClean="0">
                        <a:solidFill>
                          <a:srgbClr val="FF0000"/>
                        </a:solidFill>
                        <a:latin typeface="Cambria Math" panose="02040503050406030204" pitchFamily="18" charset="0"/>
                        <a:ea typeface="Cambria Math" panose="02040503050406030204" pitchFamily="18" charset="0"/>
                      </a:rPr>
                      <m:t>𝟏</m:t>
                    </m:r>
                    <m:r>
                      <a:rPr lang="en-IN" sz="2800" b="1" i="0" smtClean="0">
                        <a:solidFill>
                          <a:srgbClr val="FF0000"/>
                        </a:solidFill>
                        <a:latin typeface="Cambria Math" panose="02040503050406030204" pitchFamily="18" charset="0"/>
                        <a:ea typeface="Cambria Math" panose="02040503050406030204" pitchFamily="18" charset="0"/>
                      </a:rPr>
                      <m:t>.</m:t>
                    </m:r>
                    <m:r>
                      <a:rPr lang="en-IN" sz="2800" b="1" i="0" smtClean="0">
                        <a:solidFill>
                          <a:srgbClr val="FF0000"/>
                        </a:solidFill>
                        <a:latin typeface="Cambria Math" panose="02040503050406030204" pitchFamily="18" charset="0"/>
                        <a:ea typeface="Cambria Math" panose="02040503050406030204" pitchFamily="18" charset="0"/>
                      </a:rPr>
                      <m:t>𝟕𝟓</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p>
              <a:p>
                <a:pPr>
                  <a:lnSpc>
                    <a:spcPct val="150000"/>
                  </a:lnSpc>
                </a:pPr>
                <a:r>
                  <a:rPr lang="en-US" sz="2800" dirty="0">
                    <a:solidFill>
                      <a:schemeClr val="tx2">
                        <a:lumMod val="50000"/>
                      </a:schemeClr>
                    </a:solidFill>
                    <a:ea typeface="Cambria Math" panose="02040503050406030204" pitchFamily="18" charset="0"/>
                  </a:rPr>
                  <a:t>We find </a:t>
                </a:r>
                <a14:m>
                  <m:oMath xmlns:m="http://schemas.openxmlformats.org/officeDocument/2006/math">
                    <m:r>
                      <m:rPr>
                        <m:sty m:val="p"/>
                      </m:rPr>
                      <a:rPr lang="en-US" sz="2800" i="1">
                        <a:solidFill>
                          <a:schemeClr val="tx2">
                            <a:lumMod val="50000"/>
                          </a:schemeClr>
                        </a:solidFill>
                        <a:latin typeface="Cambria Math" panose="02040503050406030204" pitchFamily="18" charset="0"/>
                        <a:ea typeface="Cambria Math" panose="02040503050406030204" pitchFamily="18" charset="0"/>
                      </a:rPr>
                      <m:t>P</m:t>
                    </m:r>
                    <m:r>
                      <a:rPr lang="en-US" sz="2800" i="1">
                        <a:solidFill>
                          <a:schemeClr val="tx2">
                            <a:lumMod val="50000"/>
                          </a:schemeClr>
                        </a:solidFill>
                        <a:latin typeface="Cambria Math" panose="02040503050406030204" pitchFamily="18" charset="0"/>
                        <a:ea typeface="Cambria Math" panose="02040503050406030204" pitchFamily="18" charset="0"/>
                      </a:rPr>
                      <m:t>(−1.75&lt;</m:t>
                    </m:r>
                    <m:r>
                      <m:rPr>
                        <m:sty m:val="p"/>
                      </m:rPr>
                      <a:rPr lang="en-US" sz="2800" i="1">
                        <a:solidFill>
                          <a:schemeClr val="tx2">
                            <a:lumMod val="50000"/>
                          </a:schemeClr>
                        </a:solidFill>
                        <a:latin typeface="Cambria Math" panose="02040503050406030204" pitchFamily="18" charset="0"/>
                        <a:ea typeface="Cambria Math" panose="02040503050406030204" pitchFamily="18" charset="0"/>
                      </a:rPr>
                      <m:t>Z</m:t>
                    </m:r>
                    <m:r>
                      <a:rPr lang="en-US" sz="2800" i="1">
                        <a:solidFill>
                          <a:schemeClr val="tx2">
                            <a:lumMod val="50000"/>
                          </a:schemeClr>
                        </a:solidFill>
                        <a:latin typeface="Cambria Math" panose="02040503050406030204" pitchFamily="18" charset="0"/>
                        <a:ea typeface="Cambria Math" panose="02040503050406030204" pitchFamily="18" charset="0"/>
                      </a:rPr>
                      <m:t>&lt;2.25)</m:t>
                    </m:r>
                  </m:oMath>
                </a14:m>
                <a:endParaRPr lang="en-US" sz="2800" i="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281530" y="1859400"/>
                <a:ext cx="5695822" cy="4455387"/>
              </a:xfrm>
              <a:prstGeom prst="rect">
                <a:avLst/>
              </a:prstGeom>
              <a:blipFill rotWithShape="0">
                <a:blip r:embed="rId4"/>
                <a:stretch>
                  <a:fillRect l="-2139"/>
                </a:stretch>
              </a:blipFill>
            </p:spPr>
            <p:txBody>
              <a:bodyPr/>
              <a:lstStyle/>
              <a:p>
                <a:r>
                  <a:rPr lang="en-IN">
                    <a:noFill/>
                  </a:rPr>
                  <a:t> </a:t>
                </a:r>
              </a:p>
            </p:txBody>
          </p:sp>
        </mc:Fallback>
      </mc:AlternateContent>
      <p:cxnSp>
        <p:nvCxnSpPr>
          <p:cNvPr id="8" name="Straight Connector 7"/>
          <p:cNvCxnSpPr/>
          <p:nvPr/>
        </p:nvCxnSpPr>
        <p:spPr>
          <a:xfrm>
            <a:off x="5731099" y="1753299"/>
            <a:ext cx="0" cy="4711895"/>
          </a:xfrm>
          <a:prstGeom prst="line">
            <a:avLst/>
          </a:pr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773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up)">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6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a:t>
                </a:r>
                <a14:m>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(−1.75&lt;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&lt;2.25)</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2031325"/>
              </a:xfrm>
              <a:prstGeom prst="rect">
                <a:avLst/>
              </a:prstGeom>
              <a:blipFill rotWithShape="0">
                <a:blip r:embed="rId2"/>
                <a:stretch>
                  <a:fillRect l="-10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252898648"/>
                  </p:ext>
                </p:extLst>
              </p:nvPr>
            </p:nvGraphicFramePr>
            <p:xfrm>
              <a:off x="448239" y="2923355"/>
              <a:ext cx="11198087" cy="2894350"/>
            </p:xfrm>
            <a:graphic>
              <a:graphicData uri="http://schemas.openxmlformats.org/drawingml/2006/table">
                <a:tbl>
                  <a:tblPr firstRow="1" bandRow="1">
                    <a:tableStyleId>{5C22544A-7EE6-4342-B048-85BDC9FD1C3A}</a:tableStyleId>
                  </a:tblPr>
                  <a:tblGrid>
                    <a:gridCol w="11198087">
                      <a:extLst>
                        <a:ext uri="{9D8B030D-6E8A-4147-A177-3AD203B41FA5}">
                          <a16:colId xmlns:a16="http://schemas.microsoft.com/office/drawing/2014/main" val="20000"/>
                        </a:ext>
                      </a:extLst>
                    </a:gridCol>
                  </a:tblGrid>
                  <a:tr h="240667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63826">
                    <a:tc>
                      <a:txBody>
                        <a:bodyPr/>
                        <a:lstStyle/>
                        <a:p>
                          <a:r>
                            <a:rPr lang="en-US" sz="2600" kern="1200" dirty="0">
                              <a:solidFill>
                                <a:schemeClr val="dk1"/>
                              </a:solidFill>
                              <a:effectLst/>
                              <a:ea typeface="+mn-ea"/>
                              <a:cs typeface="+mn-cs"/>
                            </a:rPr>
                            <a:t>        </a:t>
                          </a:r>
                          <a14:m>
                            <m:oMath xmlns:m="http://schemas.openxmlformats.org/officeDocument/2006/math">
                              <m:r>
                                <a:rPr lang="en-US" sz="2600" i="1" kern="1200" smtClean="0">
                                  <a:solidFill>
                                    <a:schemeClr val="dk1"/>
                                  </a:solidFill>
                                  <a:effectLst/>
                                  <a:latin typeface="Cambria Math" panose="02040503050406030204" pitchFamily="18" charset="0"/>
                                  <a:ea typeface="+mn-ea"/>
                                  <a:cs typeface="+mn-cs"/>
                                </a:rPr>
                                <m:t>−1.75</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2.25</m:t>
                              </m:r>
                            </m:oMath>
                          </a14:m>
                          <a:r>
                            <a:rPr lang="en-US" sz="2600" kern="1200" dirty="0">
                              <a:solidFill>
                                <a:schemeClr val="dk1"/>
                              </a:solidFill>
                              <a:effectLst/>
                              <a:latin typeface="+mn-lt"/>
                              <a:ea typeface="+mn-ea"/>
                              <a:cs typeface="+mn-cs"/>
                            </a:rPr>
                            <a:t>    </a:t>
                          </a:r>
                          <a:r>
                            <a:rPr lang="en-US" sz="2600" b="1" kern="1200" dirty="0">
                              <a:solidFill>
                                <a:schemeClr val="dk1"/>
                              </a:solidFill>
                              <a:effectLst/>
                              <a:latin typeface="+mn-lt"/>
                              <a:ea typeface="+mn-ea"/>
                              <a:cs typeface="+mn-cs"/>
                            </a:rPr>
                            <a:t>          </a:t>
                          </a:r>
                          <a14:m>
                            <m:oMath xmlns:m="http://schemas.openxmlformats.org/officeDocument/2006/math">
                              <m:r>
                                <a:rPr lang="en-US" sz="2600" b="1" i="1" kern="1200">
                                  <a:solidFill>
                                    <a:schemeClr val="dk1"/>
                                  </a:solidFill>
                                  <a:effectLst/>
                                  <a:latin typeface="Cambria Math" panose="02040503050406030204" pitchFamily="18" charset="0"/>
                                  <a:ea typeface="+mn-ea"/>
                                  <a:cs typeface="+mn-cs"/>
                                </a:rPr>
                                <m:t>−</m:t>
                              </m:r>
                              <m:r>
                                <a:rPr lang="en-US" sz="2600" i="1" kern="1200">
                                  <a:solidFill>
                                    <a:schemeClr val="dk1"/>
                                  </a:solidFill>
                                  <a:effectLst/>
                                  <a:latin typeface="Cambria Math" panose="02040503050406030204" pitchFamily="18" charset="0"/>
                                  <a:ea typeface="+mn-ea"/>
                                  <a:cs typeface="+mn-cs"/>
                                </a:rPr>
                                <m:t>1.75</m:t>
                              </m:r>
                            </m:oMath>
                          </a14:m>
                          <a:r>
                            <a:rPr lang="en-US" sz="2600" b="1"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2.25</m:t>
                              </m:r>
                            </m:oMath>
                          </a14:m>
                          <a:r>
                            <a:rPr lang="en-US" sz="2600" kern="1200" dirty="0">
                              <a:solidFill>
                                <a:schemeClr val="dk1"/>
                              </a:solidFill>
                              <a:effectLst/>
                              <a:latin typeface="+mn-lt"/>
                              <a:ea typeface="+mn-ea"/>
                              <a:cs typeface="+mn-cs"/>
                            </a:rPr>
                            <a:t> </a:t>
                          </a:r>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252898648"/>
                  </p:ext>
                </p:extLst>
              </p:nvPr>
            </p:nvGraphicFramePr>
            <p:xfrm>
              <a:off x="448239" y="2923355"/>
              <a:ext cx="11198087" cy="2894350"/>
            </p:xfrm>
            <a:graphic>
              <a:graphicData uri="http://schemas.openxmlformats.org/drawingml/2006/table">
                <a:tbl>
                  <a:tblPr firstRow="1" bandRow="1">
                    <a:tableStyleId>{5C22544A-7EE6-4342-B048-85BDC9FD1C3A}</a:tableStyleId>
                  </a:tblPr>
                  <a:tblGrid>
                    <a:gridCol w="11198087"/>
                  </a:tblGrid>
                  <a:tr h="240667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495000"/>
                          </a:stretch>
                        </a:blipFill>
                      </a:tcPr>
                    </a:tc>
                  </a:tr>
                </a:tbl>
              </a:graphicData>
            </a:graphic>
          </p:graphicFrame>
        </mc:Fallback>
      </mc:AlternateContent>
      <p:pic>
        <p:nvPicPr>
          <p:cNvPr id="5" name="Picture 4"/>
          <p:cNvPicPr/>
          <p:nvPr/>
        </p:nvPicPr>
        <p:blipFill rotWithShape="1">
          <a:blip r:embed="rId4">
            <a:extLst>
              <a:ext uri="{28A0092B-C50C-407E-A947-70E740481C1C}">
                <a14:useLocalDpi xmlns:a14="http://schemas.microsoft.com/office/drawing/2010/main" val="0"/>
              </a:ext>
            </a:extLst>
          </a:blip>
          <a:srcRect l="1279" r="1272"/>
          <a:stretch/>
        </p:blipFill>
        <p:spPr bwMode="auto">
          <a:xfrm>
            <a:off x="609599" y="3087757"/>
            <a:ext cx="10933043" cy="213360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2041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6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5909310"/>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find </a:t>
                </a:r>
                <a14:m>
                  <m:oMath xmlns:m="http://schemas.openxmlformats.org/officeDocument/2006/math">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P</m:t>
                    </m:r>
                    <m:r>
                      <a:rPr lang="en-US" sz="2800" b="0" i="0">
                        <a:solidFill>
                          <a:schemeClr val="tx2">
                            <a:lumMod val="50000"/>
                          </a:schemeClr>
                        </a:solidFill>
                        <a:latin typeface="Cambria Math" panose="02040503050406030204" pitchFamily="18" charset="0"/>
                        <a:ea typeface="Cambria Math" panose="02040503050406030204" pitchFamily="18" charset="0"/>
                      </a:rPr>
                      <m:t>(−1.75&lt;</m:t>
                    </m:r>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Z</m:t>
                    </m:r>
                    <m:r>
                      <a:rPr lang="en-US" sz="2800" b="0" i="0">
                        <a:solidFill>
                          <a:schemeClr val="tx2">
                            <a:lumMod val="50000"/>
                          </a:schemeClr>
                        </a:solidFill>
                        <a:latin typeface="Cambria Math" panose="02040503050406030204" pitchFamily="18" charset="0"/>
                        <a:ea typeface="Cambria Math" panose="02040503050406030204" pitchFamily="18" charset="0"/>
                      </a:rPr>
                      <m:t>&lt;2.25)</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0</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r>
                        <a:rPr lang="en-US" sz="2800" b="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4599</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4878</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r>
                            <a:rPr lang="en-US" sz="2800" b="0" i="1">
                              <a:solidFill>
                                <a:schemeClr val="tx2">
                                  <a:lumMod val="50000"/>
                                </a:schemeClr>
                              </a:solidFill>
                              <a:latin typeface="Cambria Math" panose="02040503050406030204" pitchFamily="18" charset="0"/>
                              <a:ea typeface="Cambria Math" panose="02040503050406030204" pitchFamily="18" charset="0"/>
                            </a:rPr>
                            <m:t>2</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25</m:t>
                          </m:r>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1" i="1">
                          <a:solidFill>
                            <a:schemeClr val="tx2">
                              <a:lumMod val="50000"/>
                            </a:schemeClr>
                          </a:solidFill>
                          <a:latin typeface="Cambria Math" panose="02040503050406030204" pitchFamily="18" charset="0"/>
                          <a:ea typeface="Cambria Math" panose="02040503050406030204" pitchFamily="18" charset="0"/>
                        </a:rPr>
                        <m:t>𝟎</m:t>
                      </m:r>
                      <m:r>
                        <a:rPr lang="en-US" sz="2800" b="1">
                          <a:solidFill>
                            <a:schemeClr val="tx2">
                              <a:lumMod val="50000"/>
                            </a:schemeClr>
                          </a:solidFill>
                          <a:latin typeface="Cambria Math" panose="02040503050406030204" pitchFamily="18" charset="0"/>
                          <a:ea typeface="Cambria Math" panose="02040503050406030204" pitchFamily="18" charset="0"/>
                        </a:rPr>
                        <m:t>.</m:t>
                      </m:r>
                      <m:r>
                        <a:rPr lang="en-US" sz="2800" b="1" i="1">
                          <a:solidFill>
                            <a:schemeClr val="tx2">
                              <a:lumMod val="50000"/>
                            </a:schemeClr>
                          </a:solidFill>
                          <a:latin typeface="Cambria Math" panose="02040503050406030204" pitchFamily="18" charset="0"/>
                          <a:ea typeface="Cambria Math" panose="02040503050406030204" pitchFamily="18" charset="0"/>
                        </a:rPr>
                        <m:t>𝟗𝟒𝟕𝟕</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r>
                  <a:rPr lang="en-US" sz="2800" dirty="0">
                    <a:solidFill>
                      <a:schemeClr val="tx2">
                        <a:lumMod val="50000"/>
                      </a:schemeClr>
                    </a:solidFill>
                    <a:ea typeface="Cambria Math" panose="02040503050406030204" pitchFamily="18" charset="0"/>
                  </a:rPr>
                  <a:t>Non – defective plugs are</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100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9477</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1" i="1">
                        <a:solidFill>
                          <a:schemeClr val="tx2">
                            <a:lumMod val="50000"/>
                          </a:schemeClr>
                        </a:solidFill>
                        <a:latin typeface="Cambria Math" panose="02040503050406030204" pitchFamily="18" charset="0"/>
                        <a:ea typeface="Cambria Math" panose="02040503050406030204" pitchFamily="18" charset="0"/>
                      </a:rPr>
                      <m:t>𝟗𝟒𝟖</m:t>
                    </m:r>
                  </m:oMath>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r>
                  <a:rPr lang="en-US" sz="2800" dirty="0">
                    <a:solidFill>
                      <a:schemeClr val="tx2">
                        <a:lumMod val="50000"/>
                      </a:schemeClr>
                    </a:solidFill>
                    <a:ea typeface="Cambria Math" panose="02040503050406030204" pitchFamily="18" charset="0"/>
                  </a:rPr>
                  <a:t>Approved diameter is</a:t>
                </a:r>
                <a:r>
                  <a:rPr lang="en-US" sz="2800" dirty="0">
                    <a:solidFill>
                      <a:schemeClr val="tx2">
                        <a:lumMod val="50000"/>
                      </a:schemeClr>
                    </a:solidFill>
                    <a:latin typeface="Cambria Math" panose="02040503050406030204" pitchFamily="18" charset="0"/>
                    <a:ea typeface="Cambria Math" panose="02040503050406030204" pitchFamily="18" charset="0"/>
                  </a:rPr>
                  <a:t> 948</a:t>
                </a:r>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r>
                  <a:rPr lang="en-US" sz="2800" b="1" dirty="0">
                    <a:solidFill>
                      <a:srgbClr val="FF0000"/>
                    </a:solidFill>
                    <a:ea typeface="Cambria Math" panose="02040503050406030204" pitchFamily="18" charset="0"/>
                  </a:rPr>
                  <a:t>The number of plugs likely to be rejected</a:t>
                </a:r>
                <a:r>
                  <a:rPr lang="en-US" sz="2800" b="1" dirty="0">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𝟏𝟎𝟎𝟎</m:t>
                    </m:r>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𝟗𝟒𝟖</m:t>
                    </m:r>
                    <m:r>
                      <a:rPr lang="en-US" sz="2800" b="1">
                        <a:solidFill>
                          <a:srgbClr val="FF0000"/>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𝟓𝟐</m:t>
                    </m:r>
                  </m:oMath>
                </a14:m>
                <a:endParaRPr lang="en-IN" sz="2800" b="1"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5909310"/>
              </a:xfrm>
              <a:prstGeom prst="rect">
                <a:avLst/>
              </a:prstGeom>
              <a:blipFill rotWithShape="0">
                <a:blip r:embed="rId2"/>
                <a:stretch>
                  <a:fillRect l="-1067" b="-826"/>
                </a:stretch>
              </a:blipFill>
            </p:spPr>
            <p:txBody>
              <a:bodyPr/>
              <a:lstStyle/>
              <a:p>
                <a:r>
                  <a:rPr lang="en-IN">
                    <a:noFill/>
                  </a:rPr>
                  <a:t> </a:t>
                </a:r>
              </a:p>
            </p:txBody>
          </p:sp>
        </mc:Fallback>
      </mc:AlternateContent>
    </p:spTree>
    <p:extLst>
      <p:ext uri="{BB962C8B-B14F-4D97-AF65-F5344CB8AC3E}">
        <p14:creationId xmlns:p14="http://schemas.microsoft.com/office/powerpoint/2010/main" val="3505642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7" y="843322"/>
                <a:ext cx="11929643" cy="2569579"/>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defPPr>
                  <a:defRPr lang="en-US"/>
                </a:defPPr>
                <a:lvl1pPr algn="just">
                  <a:lnSpc>
                    <a:spcPct val="150000"/>
                  </a:lnSpc>
                  <a:buClr>
                    <a:schemeClr val="accent6"/>
                  </a:buClr>
                  <a:defRPr sz="2800">
                    <a:solidFill>
                      <a:schemeClr val="bg1"/>
                    </a:solidFill>
                  </a:defRPr>
                </a:lvl1pPr>
                <a:lvl2pPr marL="809625" indent="-352425" algn="just">
                  <a:lnSpc>
                    <a:spcPct val="90000"/>
                  </a:lnSpc>
                  <a:spcBef>
                    <a:spcPts val="500"/>
                  </a:spcBef>
                  <a:buClr>
                    <a:schemeClr val="accent6"/>
                  </a:buClr>
                  <a:buFont typeface="Wingdings 3" panose="05040102010807070707" pitchFamily="18" charset="2"/>
                  <a:buChar char=""/>
                  <a:defRPr sz="2400">
                    <a:solidFill>
                      <a:srgbClr val="002060"/>
                    </a:solidFill>
                  </a:defRPr>
                </a:lvl2pPr>
                <a:lvl3pPr marL="1143000" indent="-228600" algn="just">
                  <a:lnSpc>
                    <a:spcPct val="90000"/>
                  </a:lnSpc>
                  <a:spcBef>
                    <a:spcPts val="500"/>
                  </a:spcBef>
                  <a:buClr>
                    <a:schemeClr val="accent6"/>
                  </a:buClr>
                  <a:buFont typeface="Wingdings" panose="05000000000000000000" pitchFamily="2" charset="2"/>
                  <a:buChar char="§"/>
                  <a:defRPr sz="2000">
                    <a:solidFill>
                      <a:srgbClr val="002060"/>
                    </a:solidFill>
                  </a:defRPr>
                </a:lvl3pPr>
                <a:lvl4pPr marL="1600200" indent="-228600" algn="just">
                  <a:lnSpc>
                    <a:spcPct val="90000"/>
                  </a:lnSpc>
                  <a:spcBef>
                    <a:spcPts val="500"/>
                  </a:spcBef>
                  <a:buClr>
                    <a:schemeClr val="accent6"/>
                  </a:buClr>
                  <a:buFont typeface="Arial" panose="020B0604020202020204" pitchFamily="34" charset="0"/>
                  <a:buChar char="•"/>
                  <a:defRPr>
                    <a:solidFill>
                      <a:srgbClr val="002060"/>
                    </a:solidFill>
                  </a:defRPr>
                </a:lvl4pPr>
                <a:lvl5pPr marL="2057400" indent="-228600" algn="just">
                  <a:lnSpc>
                    <a:spcPct val="90000"/>
                  </a:lnSpc>
                  <a:spcBef>
                    <a:spcPts val="500"/>
                  </a:spcBef>
                  <a:buClr>
                    <a:schemeClr val="accent6"/>
                  </a:buClr>
                  <a:buFont typeface="Arial" panose="020B0604020202020204" pitchFamily="34" charset="0"/>
                  <a:buChar char="•"/>
                  <a:defRPr>
                    <a:solidFill>
                      <a:srgbClr val="002060"/>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In an examination, minimum </a:t>
                </a:r>
                <a:r>
                  <a:rPr lang="en-US" dirty="0">
                    <a:latin typeface="Cambria Math" panose="02040503050406030204" pitchFamily="18" charset="0"/>
                    <a:ea typeface="Cambria Math" panose="02040503050406030204" pitchFamily="18" charset="0"/>
                  </a:rPr>
                  <a:t>40</a:t>
                </a:r>
                <a:r>
                  <a:rPr lang="en-US" dirty="0"/>
                  <a:t> marks for passing and </a:t>
                </a:r>
                <a:r>
                  <a:rPr lang="en-US" dirty="0">
                    <a:latin typeface="Cambria Math" panose="02040503050406030204" pitchFamily="18" charset="0"/>
                    <a:ea typeface="Cambria Math" panose="02040503050406030204" pitchFamily="18" charset="0"/>
                  </a:rPr>
                  <a:t>75</a:t>
                </a:r>
                <a:r>
                  <a:rPr lang="en-US" dirty="0"/>
                  <a:t> marks for distinction are required. In this examination </a:t>
                </a:r>
                <a:r>
                  <a:rPr lang="en-US" dirty="0">
                    <a:latin typeface="Cambria Math" panose="02040503050406030204" pitchFamily="18" charset="0"/>
                    <a:ea typeface="Cambria Math" panose="02040503050406030204" pitchFamily="18" charset="0"/>
                  </a:rPr>
                  <a:t>45%</a:t>
                </a:r>
                <a:r>
                  <a:rPr lang="en-US" dirty="0"/>
                  <a:t> students passed and </a:t>
                </a:r>
                <a:r>
                  <a:rPr lang="en-US" dirty="0">
                    <a:latin typeface="Cambria Math" panose="02040503050406030204" pitchFamily="18" charset="0"/>
                    <a:ea typeface="Cambria Math" panose="02040503050406030204" pitchFamily="18" charset="0"/>
                  </a:rPr>
                  <a:t>9%</a:t>
                </a:r>
                <a:r>
                  <a:rPr lang="en-US" dirty="0"/>
                  <a:t> obtained distinction. Find average marks and standard deviation of this distribution of marks.</a:t>
                </a:r>
                <a:endParaRPr lang="en-IN" dirty="0"/>
              </a:p>
              <a:p>
                <a:pPr/>
                <a14:m>
                  <m:oMathPara xmlns:m="http://schemas.openxmlformats.org/officeDocument/2006/math">
                    <m:oMathParaPr>
                      <m:jc m:val="left"/>
                    </m:oMathParaPr>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=0.125)=0.05,  </m:t>
                      </m:r>
                      <m:r>
                        <m:rPr>
                          <m:sty m:val="p"/>
                        </m:rPr>
                        <a:rPr lang="en-US">
                          <a:latin typeface="Cambria Math" panose="02040503050406030204" pitchFamily="18" charset="0"/>
                        </a:rPr>
                        <m:t>P</m:t>
                      </m:r>
                      <m:r>
                        <a:rPr lang="en-US">
                          <a:latin typeface="Cambria Math" panose="02040503050406030204" pitchFamily="18" charset="0"/>
                        </a:rPr>
                        <m:t>(</m:t>
                      </m:r>
                      <m:r>
                        <m:rPr>
                          <m:sty m:val="p"/>
                        </m:rPr>
                        <a:rPr lang="en-US">
                          <a:latin typeface="Cambria Math" panose="02040503050406030204" pitchFamily="18" charset="0"/>
                        </a:rPr>
                        <m:t>z</m:t>
                      </m:r>
                      <m:r>
                        <a:rPr lang="en-US">
                          <a:latin typeface="Cambria Math" panose="02040503050406030204" pitchFamily="18" charset="0"/>
                        </a:rPr>
                        <m:t>=1.34)=0.4099]</m:t>
                      </m:r>
                    </m:oMath>
                  </m:oMathPara>
                </a14:m>
                <a:endParaRPr lang="en-IN" dirty="0">
                  <a:latin typeface="Cambria Math" panose="02040503050406030204" pitchFamily="18" charset="0"/>
                  <a:ea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7" y="843322"/>
                <a:ext cx="11929643" cy="2569579"/>
              </a:xfrm>
              <a:prstGeom prst="rect">
                <a:avLst/>
              </a:prstGeom>
              <a:blipFill rotWithShape="0">
                <a:blip r:embed="rId2"/>
                <a:stretch>
                  <a:fillRect l="-1074" r="-1074"/>
                </a:stretch>
              </a:blipFill>
              <a:ln>
                <a:noFill/>
              </a:ln>
            </p:spPr>
            <p:txBody>
              <a:bodyPr/>
              <a:lstStyle/>
              <a:p>
                <a:r>
                  <a:rPr lang="en-IN">
                    <a:noFill/>
                  </a:rPr>
                  <a:t> </a:t>
                </a:r>
              </a:p>
            </p:txBody>
          </p:sp>
        </mc:Fallback>
      </mc:AlternateContent>
      <p:sp>
        <p:nvSpPr>
          <p:cNvPr id="2" name="Title 1"/>
          <p:cNvSpPr>
            <a:spLocks noGrp="1"/>
          </p:cNvSpPr>
          <p:nvPr>
            <p:ph type="title"/>
          </p:nvPr>
        </p:nvSpPr>
        <p:spPr/>
        <p:txBody>
          <a:bodyPr/>
          <a:lstStyle/>
          <a:p>
            <a:r>
              <a:rPr lang="en-GB" dirty="0"/>
              <a:t>Method  ⇝ Example 7</a:t>
            </a:r>
            <a:endParaRPr lang="en-US" dirty="0"/>
          </a:p>
        </p:txBody>
      </p:sp>
      <p:sp>
        <p:nvSpPr>
          <p:cNvPr id="6" name="Rectangle 5">
            <a:extLst>
              <a:ext uri="{FF2B5EF4-FFF2-40B4-BE49-F238E27FC236}">
                <a16:creationId xmlns:a16="http://schemas.microsoft.com/office/drawing/2014/main" id="{B2D3FB0B-D709-43AC-B65F-29361B504B61}"/>
              </a:ext>
            </a:extLst>
          </p:cNvPr>
          <p:cNvSpPr/>
          <p:nvPr/>
        </p:nvSpPr>
        <p:spPr>
          <a:xfrm>
            <a:off x="131177" y="3696941"/>
            <a:ext cx="1494420" cy="523220"/>
          </a:xfrm>
          <a:prstGeom prst="rect">
            <a:avLst/>
          </a:prstGeom>
          <a:solidFill>
            <a:schemeClr val="accent6"/>
          </a:solidFill>
          <a:ln>
            <a:noFill/>
          </a:ln>
        </p:spPr>
        <p:txBody>
          <a:bodyPr vert="horz" wrap="square" lIns="91440" tIns="45720" rIns="91440" bIns="45720" numCol="1" anchor="ctr" anchorCtr="0" compatLnSpc="1">
            <a:prstTxWarp prst="textNoShape">
              <a:avLst/>
            </a:prstTxWarp>
          </a:bodyPr>
          <a:lstStyle/>
          <a:p>
            <a:pPr algn="ctr">
              <a:buClr>
                <a:schemeClr val="accent6"/>
              </a:buClr>
            </a:pPr>
            <a:r>
              <a:rPr lang="en-GB" sz="2800" dirty="0">
                <a:solidFill>
                  <a:schemeClr val="bg1"/>
                </a:solidFill>
              </a:rPr>
              <a:t>Solution: </a:t>
            </a:r>
            <a:endParaRPr lang="en-IN" sz="2800" dirty="0">
              <a:solidFill>
                <a:schemeClr val="bg1"/>
              </a:solidFill>
            </a:endParaRPr>
          </a:p>
        </p:txBody>
      </p:sp>
      <p:sp>
        <p:nvSpPr>
          <p:cNvPr id="7" name="Content Placeholder 2">
            <a:extLst>
              <a:ext uri="{FF2B5EF4-FFF2-40B4-BE49-F238E27FC236}">
                <a16:creationId xmlns:a16="http://schemas.microsoft.com/office/drawing/2014/main" id="{A0C88CCD-ABF6-487A-A003-269BE830EF70}"/>
              </a:ext>
            </a:extLst>
          </p:cNvPr>
          <p:cNvSpPr txBox="1">
            <a:spLocks/>
          </p:cNvSpPr>
          <p:nvPr/>
        </p:nvSpPr>
        <p:spPr>
          <a:xfrm>
            <a:off x="131177" y="4386248"/>
            <a:ext cx="11929643" cy="480131"/>
          </a:xfrm>
          <a:prstGeom prst="rect">
            <a:avLst/>
          </a:prstGeom>
        </p:spPr>
        <p:txBody>
          <a:bodyPr vert="horz" wrap="square" lIns="91440" tIns="45720" rIns="91440" bIns="45720" rtlCol="0">
            <a:sp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2">
                    <a:lumMod val="50000"/>
                  </a:schemeClr>
                </a:solidFill>
                <a:ea typeface="Cambria Math" panose="02040503050406030204" pitchFamily="18" charset="0"/>
              </a:rPr>
              <a:t>Given, minimum </a:t>
            </a:r>
            <a:r>
              <a:rPr lang="en-US" dirty="0">
                <a:solidFill>
                  <a:schemeClr val="tx2">
                    <a:lumMod val="50000"/>
                  </a:schemeClr>
                </a:solidFill>
                <a:latin typeface="Cambria Math" panose="02040503050406030204" pitchFamily="18" charset="0"/>
                <a:ea typeface="Cambria Math" panose="02040503050406030204" pitchFamily="18" charset="0"/>
              </a:rPr>
              <a:t>40</a:t>
            </a:r>
            <a:r>
              <a:rPr lang="en-US" dirty="0">
                <a:solidFill>
                  <a:schemeClr val="tx2">
                    <a:lumMod val="50000"/>
                  </a:schemeClr>
                </a:solidFill>
                <a:ea typeface="Cambria Math" panose="02040503050406030204" pitchFamily="18" charset="0"/>
              </a:rPr>
              <a:t> marks for passing and </a:t>
            </a:r>
            <a:r>
              <a:rPr lang="en-US" dirty="0">
                <a:solidFill>
                  <a:schemeClr val="tx2">
                    <a:lumMod val="50000"/>
                  </a:schemeClr>
                </a:solidFill>
                <a:latin typeface="Cambria Math" panose="02040503050406030204" pitchFamily="18" charset="0"/>
                <a:ea typeface="Cambria Math" panose="02040503050406030204" pitchFamily="18" charset="0"/>
              </a:rPr>
              <a:t>75</a:t>
            </a:r>
            <a:r>
              <a:rPr lang="en-US" dirty="0">
                <a:solidFill>
                  <a:schemeClr val="tx2">
                    <a:lumMod val="50000"/>
                  </a:schemeClr>
                </a:solidFill>
                <a:ea typeface="Cambria Math" panose="02040503050406030204" pitchFamily="18" charset="0"/>
              </a:rPr>
              <a:t> marks for distinction are required.</a:t>
            </a:r>
            <a:endParaRPr lang="en-IN" dirty="0">
              <a:solidFill>
                <a:schemeClr val="tx2">
                  <a:lumMod val="50000"/>
                </a:schemeClr>
              </a:solidFill>
              <a:ea typeface="Cambria Math" panose="02040503050406030204" pitchFamily="18" charset="0"/>
            </a:endParaRPr>
          </a:p>
        </p:txBody>
      </p:sp>
    </p:spTree>
    <p:extLst>
      <p:ext uri="{BB962C8B-B14F-4D97-AF65-F5344CB8AC3E}">
        <p14:creationId xmlns:p14="http://schemas.microsoft.com/office/powerpoint/2010/main" val="391947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9">
                                            <p:txEl>
                                              <p:pRg st="1" end="1"/>
                                            </p:txEl>
                                          </p:spTgt>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Now, </a:t>
                </a:r>
                <a14:m>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45</m:t>
                    </m:r>
                    <m:r>
                      <a:rPr lang="en-US" sz="2800" b="0">
                        <a:solidFill>
                          <a:schemeClr val="tx2">
                            <a:lumMod val="50000"/>
                          </a:schemeClr>
                        </a:solidFill>
                        <a:latin typeface="Cambria Math" panose="02040503050406030204" pitchFamily="18" charset="0"/>
                        <a:ea typeface="Cambria Math" panose="02040503050406030204" pitchFamily="18" charset="0"/>
                      </a:rPr>
                      <m:t>%</m:t>
                    </m:r>
                  </m:oMath>
                </a14:m>
                <a:r>
                  <a:rPr lang="en-US" sz="2800" dirty="0">
                    <a:solidFill>
                      <a:schemeClr val="tx2">
                        <a:lumMod val="50000"/>
                      </a:schemeClr>
                    </a:solidFill>
                    <a:ea typeface="Cambria Math" panose="02040503050406030204" pitchFamily="18" charset="0"/>
                  </a:rPr>
                  <a:t> students passed in this exam</a:t>
                </a:r>
                <a:r>
                  <a:rPr lang="en-US" sz="2800" dirty="0">
                    <a:solidFill>
                      <a:schemeClr val="tx2">
                        <a:lumMod val="50000"/>
                      </a:schemeClr>
                    </a:solidFill>
                    <a:latin typeface="Cambria Math" panose="02040503050406030204" pitchFamily="18" charset="0"/>
                    <a:ea typeface="Cambria Math" panose="02040503050406030204" pitchFamily="18" charset="0"/>
                  </a:rPr>
                  <a:t>.</a:t>
                </a:r>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r>
                  <a:rPr lang="en-US" sz="2800" dirty="0">
                    <a:solidFill>
                      <a:schemeClr val="tx2">
                        <a:lumMod val="50000"/>
                      </a:schemeClr>
                    </a:solidFill>
                    <a:ea typeface="Cambria Math" panose="02040503050406030204" pitchFamily="18" charset="0"/>
                  </a:rPr>
                  <a:t>That is</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b="0" i="1" smtClean="0">
                        <a:solidFill>
                          <a:srgbClr val="FF0000"/>
                        </a:solidFill>
                        <a:latin typeface="Cambria Math" panose="02040503050406030204" pitchFamily="18" charset="0"/>
                        <a:ea typeface="Cambria Math" panose="02040503050406030204" pitchFamily="18" charset="0"/>
                      </a:rPr>
                      <m:t>P</m:t>
                    </m:r>
                    <m:d>
                      <m:dPr>
                        <m:ctrlPr>
                          <a:rPr lang="en-IN" sz="2800" i="1">
                            <a:solidFill>
                              <a:srgbClr val="FF0000"/>
                            </a:solidFill>
                            <a:latin typeface="Cambria Math" panose="02040503050406030204" pitchFamily="18" charset="0"/>
                            <a:ea typeface="Cambria Math" panose="02040503050406030204" pitchFamily="18" charset="0"/>
                          </a:rPr>
                        </m:ctrlPr>
                      </m:dPr>
                      <m:e>
                        <m:sSub>
                          <m:sSubPr>
                            <m:ctrlPr>
                              <a:rPr lang="en-IN" sz="2800" i="1">
                                <a:solidFill>
                                  <a:srgbClr val="FF0000"/>
                                </a:solidFill>
                                <a:latin typeface="Cambria Math" panose="02040503050406030204" pitchFamily="18" charset="0"/>
                                <a:ea typeface="Cambria Math" panose="02040503050406030204" pitchFamily="18" charset="0"/>
                              </a:rPr>
                            </m:ctrlPr>
                          </m:sSubPr>
                          <m:e>
                            <m:r>
                              <m:rPr>
                                <m:sty m:val="p"/>
                              </m:rPr>
                              <a:rPr lang="en-US" sz="2800" b="0" i="1">
                                <a:solidFill>
                                  <a:srgbClr val="FF0000"/>
                                </a:solidFill>
                                <a:latin typeface="Cambria Math" panose="02040503050406030204" pitchFamily="18" charset="0"/>
                                <a:ea typeface="Cambria Math" panose="02040503050406030204" pitchFamily="18" charset="0"/>
                              </a:rPr>
                              <m:t>z</m:t>
                            </m:r>
                          </m:e>
                          <m:sub>
                            <m:r>
                              <a:rPr lang="en-US" sz="2800" b="0" i="1">
                                <a:solidFill>
                                  <a:srgbClr val="FF0000"/>
                                </a:solidFill>
                                <a:latin typeface="Cambria Math" panose="02040503050406030204" pitchFamily="18" charset="0"/>
                                <a:ea typeface="Cambria Math" panose="02040503050406030204" pitchFamily="18" charset="0"/>
                              </a:rPr>
                              <m:t>1</m:t>
                            </m:r>
                          </m:sub>
                        </m:sSub>
                        <m:r>
                          <a:rPr lang="en-US" sz="2800" b="0">
                            <a:solidFill>
                              <a:srgbClr val="FF0000"/>
                            </a:solidFill>
                            <a:latin typeface="Cambria Math" panose="02040503050406030204" pitchFamily="18" charset="0"/>
                            <a:ea typeface="Cambria Math" panose="02040503050406030204" pitchFamily="18" charset="0"/>
                          </a:rPr>
                          <m:t>&lt;</m:t>
                        </m:r>
                        <m:r>
                          <m:rPr>
                            <m:sty m:val="p"/>
                          </m:rPr>
                          <a:rPr lang="en-US" sz="2800" b="0" i="1">
                            <a:solidFill>
                              <a:srgbClr val="FF0000"/>
                            </a:solidFill>
                            <a:latin typeface="Cambria Math" panose="02040503050406030204" pitchFamily="18" charset="0"/>
                            <a:ea typeface="Cambria Math" panose="02040503050406030204" pitchFamily="18" charset="0"/>
                          </a:rPr>
                          <m:t>Z</m:t>
                        </m:r>
                        <m:r>
                          <a:rPr lang="en-US" sz="2800" b="0">
                            <a:solidFill>
                              <a:srgbClr val="FF0000"/>
                            </a:solidFill>
                            <a:latin typeface="Cambria Math" panose="02040503050406030204" pitchFamily="18" charset="0"/>
                            <a:ea typeface="Cambria Math" panose="02040503050406030204" pitchFamily="18" charset="0"/>
                          </a:rPr>
                          <m:t>&lt;∞</m:t>
                        </m:r>
                      </m:e>
                    </m:d>
                    <m:r>
                      <a:rPr lang="en-US" sz="2800" b="0">
                        <a:solidFill>
                          <a:srgbClr val="FF0000"/>
                        </a:solidFill>
                        <a:latin typeface="Cambria Math" panose="02040503050406030204" pitchFamily="18" charset="0"/>
                        <a:ea typeface="Cambria Math" panose="02040503050406030204" pitchFamily="18" charset="0"/>
                      </a:rPr>
                      <m:t>=</m:t>
                    </m:r>
                    <m:r>
                      <a:rPr lang="en-US" sz="2800" b="0" i="1">
                        <a:solidFill>
                          <a:srgbClr val="FF0000"/>
                        </a:solidFill>
                        <a:latin typeface="Cambria Math" panose="02040503050406030204" pitchFamily="18" charset="0"/>
                        <a:ea typeface="Cambria Math" panose="02040503050406030204" pitchFamily="18" charset="0"/>
                      </a:rPr>
                      <m:t>0</m:t>
                    </m:r>
                    <m:r>
                      <a:rPr lang="en-US" sz="2800" b="0">
                        <a:solidFill>
                          <a:srgbClr val="FF0000"/>
                        </a:solidFill>
                        <a:latin typeface="Cambria Math" panose="02040503050406030204" pitchFamily="18" charset="0"/>
                        <a:ea typeface="Cambria Math" panose="02040503050406030204" pitchFamily="18" charset="0"/>
                      </a:rPr>
                      <m:t>.</m:t>
                    </m:r>
                    <m:r>
                      <a:rPr lang="en-US" sz="2800" b="0" i="1">
                        <a:solidFill>
                          <a:srgbClr val="FF0000"/>
                        </a:solidFill>
                        <a:latin typeface="Cambria Math" panose="02040503050406030204" pitchFamily="18" charset="0"/>
                        <a:ea typeface="Cambria Math" panose="02040503050406030204" pitchFamily="18" charset="0"/>
                      </a:rPr>
                      <m:t>45</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9</m:t>
                    </m:r>
                    <m:r>
                      <a:rPr lang="en-US" sz="2800" b="0">
                        <a:solidFill>
                          <a:schemeClr val="tx2">
                            <a:lumMod val="50000"/>
                          </a:schemeClr>
                        </a:solidFill>
                        <a:latin typeface="Cambria Math" panose="02040503050406030204" pitchFamily="18" charset="0"/>
                        <a:ea typeface="Cambria Math" panose="02040503050406030204" pitchFamily="18" charset="0"/>
                      </a:rPr>
                      <m:t>%</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r>
                  <a:rPr lang="en-US" sz="2800" dirty="0">
                    <a:solidFill>
                      <a:schemeClr val="tx2">
                        <a:lumMod val="50000"/>
                      </a:schemeClr>
                    </a:solidFill>
                    <a:ea typeface="Cambria Math" panose="02040503050406030204" pitchFamily="18" charset="0"/>
                  </a:rPr>
                  <a:t>obtained distinction, that is</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b="0" i="1" smtClean="0">
                        <a:solidFill>
                          <a:srgbClr val="FF0000"/>
                        </a:solidFill>
                        <a:latin typeface="Cambria Math" panose="02040503050406030204" pitchFamily="18" charset="0"/>
                        <a:ea typeface="Cambria Math" panose="02040503050406030204" pitchFamily="18" charset="0"/>
                      </a:rPr>
                      <m:t>P</m:t>
                    </m:r>
                    <m:d>
                      <m:dPr>
                        <m:ctrlPr>
                          <a:rPr lang="en-IN" sz="2800" i="1">
                            <a:solidFill>
                              <a:srgbClr val="FF0000"/>
                            </a:solidFill>
                            <a:latin typeface="Cambria Math" panose="02040503050406030204" pitchFamily="18" charset="0"/>
                            <a:ea typeface="Cambria Math" panose="02040503050406030204" pitchFamily="18" charset="0"/>
                          </a:rPr>
                        </m:ctrlPr>
                      </m:dPr>
                      <m:e>
                        <m:sSub>
                          <m:sSubPr>
                            <m:ctrlPr>
                              <a:rPr lang="en-IN" sz="2800" i="1">
                                <a:solidFill>
                                  <a:srgbClr val="FF0000"/>
                                </a:solidFill>
                                <a:latin typeface="Cambria Math" panose="02040503050406030204" pitchFamily="18" charset="0"/>
                                <a:ea typeface="Cambria Math" panose="02040503050406030204" pitchFamily="18" charset="0"/>
                              </a:rPr>
                            </m:ctrlPr>
                          </m:sSubPr>
                          <m:e>
                            <m:r>
                              <m:rPr>
                                <m:sty m:val="p"/>
                              </m:rPr>
                              <a:rPr lang="en-US" sz="2800" b="0" i="1">
                                <a:solidFill>
                                  <a:srgbClr val="FF0000"/>
                                </a:solidFill>
                                <a:latin typeface="Cambria Math" panose="02040503050406030204" pitchFamily="18" charset="0"/>
                                <a:ea typeface="Cambria Math" panose="02040503050406030204" pitchFamily="18" charset="0"/>
                              </a:rPr>
                              <m:t>z</m:t>
                            </m:r>
                          </m:e>
                          <m:sub>
                            <m:r>
                              <a:rPr lang="en-US" sz="2800" b="0" i="1">
                                <a:solidFill>
                                  <a:srgbClr val="FF0000"/>
                                </a:solidFill>
                                <a:latin typeface="Cambria Math" panose="02040503050406030204" pitchFamily="18" charset="0"/>
                                <a:ea typeface="Cambria Math" panose="02040503050406030204" pitchFamily="18" charset="0"/>
                              </a:rPr>
                              <m:t>2</m:t>
                            </m:r>
                          </m:sub>
                        </m:sSub>
                        <m:r>
                          <a:rPr lang="en-US" sz="2800" b="0">
                            <a:solidFill>
                              <a:srgbClr val="FF0000"/>
                            </a:solidFill>
                            <a:latin typeface="Cambria Math" panose="02040503050406030204" pitchFamily="18" charset="0"/>
                            <a:ea typeface="Cambria Math" panose="02040503050406030204" pitchFamily="18" charset="0"/>
                          </a:rPr>
                          <m:t>&lt;</m:t>
                        </m:r>
                        <m:r>
                          <m:rPr>
                            <m:sty m:val="p"/>
                          </m:rPr>
                          <a:rPr lang="en-US" sz="2800" b="0" i="1">
                            <a:solidFill>
                              <a:srgbClr val="FF0000"/>
                            </a:solidFill>
                            <a:latin typeface="Cambria Math" panose="02040503050406030204" pitchFamily="18" charset="0"/>
                            <a:ea typeface="Cambria Math" panose="02040503050406030204" pitchFamily="18" charset="0"/>
                          </a:rPr>
                          <m:t>Z</m:t>
                        </m:r>
                        <m:r>
                          <a:rPr lang="en-US" sz="2800" b="0">
                            <a:solidFill>
                              <a:srgbClr val="FF0000"/>
                            </a:solidFill>
                            <a:latin typeface="Cambria Math" panose="02040503050406030204" pitchFamily="18" charset="0"/>
                            <a:ea typeface="Cambria Math" panose="02040503050406030204" pitchFamily="18" charset="0"/>
                          </a:rPr>
                          <m:t>&lt;∞</m:t>
                        </m:r>
                      </m:e>
                    </m:d>
                    <m:r>
                      <a:rPr lang="en-US" sz="2800" b="0">
                        <a:solidFill>
                          <a:srgbClr val="FF0000"/>
                        </a:solidFill>
                        <a:latin typeface="Cambria Math" panose="02040503050406030204" pitchFamily="18" charset="0"/>
                        <a:ea typeface="Cambria Math" panose="02040503050406030204" pitchFamily="18" charset="0"/>
                      </a:rPr>
                      <m:t>=</m:t>
                    </m:r>
                    <m:r>
                      <a:rPr lang="en-US" sz="2800" b="0" i="1">
                        <a:solidFill>
                          <a:srgbClr val="FF0000"/>
                        </a:solidFill>
                        <a:latin typeface="Cambria Math" panose="02040503050406030204" pitchFamily="18" charset="0"/>
                        <a:ea typeface="Cambria Math" panose="02040503050406030204" pitchFamily="18" charset="0"/>
                      </a:rPr>
                      <m:t>0</m:t>
                    </m:r>
                    <m:r>
                      <a:rPr lang="en-US" sz="2800" b="0">
                        <a:solidFill>
                          <a:srgbClr val="FF0000"/>
                        </a:solidFill>
                        <a:latin typeface="Cambria Math" panose="02040503050406030204" pitchFamily="18" charset="0"/>
                        <a:ea typeface="Cambria Math" panose="02040503050406030204" pitchFamily="18" charset="0"/>
                      </a:rPr>
                      <m:t>.</m:t>
                    </m:r>
                    <m:r>
                      <a:rPr lang="en-US" sz="2800" b="0" i="1">
                        <a:solidFill>
                          <a:srgbClr val="FF0000"/>
                        </a:solidFill>
                        <a:latin typeface="Cambria Math" panose="02040503050406030204" pitchFamily="18" charset="0"/>
                        <a:ea typeface="Cambria Math" panose="02040503050406030204" pitchFamily="18" charset="0"/>
                      </a:rPr>
                      <m:t>09</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2031325"/>
              </a:xfrm>
              <a:prstGeom prst="rect">
                <a:avLst/>
              </a:prstGeom>
              <a:blipFill rotWithShape="0">
                <a:blip r:embed="rId2"/>
                <a:stretch>
                  <a:fillRect l="-1067" b="-4204"/>
                </a:stretch>
              </a:blipFill>
            </p:spPr>
            <p:txBody>
              <a:bodyPr/>
              <a:lstStyle/>
              <a:p>
                <a:r>
                  <a:rPr lang="en-IN">
                    <a:noFill/>
                  </a:rPr>
                  <a:t> </a:t>
                </a:r>
              </a:p>
            </p:txBody>
          </p:sp>
        </mc:Fallback>
      </mc:AlternateContent>
    </p:spTree>
    <p:extLst>
      <p:ext uri="{BB962C8B-B14F-4D97-AF65-F5344CB8AC3E}">
        <p14:creationId xmlns:p14="http://schemas.microsoft.com/office/powerpoint/2010/main" val="120925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From the figure</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e>
                    </m:d>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45</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09</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smtClean="0">
                          <a:solidFill>
                            <a:srgbClr val="FF0000"/>
                          </a:solidFill>
                          <a:latin typeface="Cambria Math" panose="02040503050406030204" pitchFamily="18" charset="0"/>
                          <a:ea typeface="Cambria Math" panose="02040503050406030204" pitchFamily="18" charset="0"/>
                        </a:rPr>
                        <m:t>P</m:t>
                      </m:r>
                      <m:d>
                        <m:dPr>
                          <m:ctrlPr>
                            <a:rPr lang="en-IN" sz="2800" i="1">
                              <a:solidFill>
                                <a:srgbClr val="FF0000"/>
                              </a:solidFill>
                              <a:latin typeface="Cambria Math" panose="02040503050406030204" pitchFamily="18" charset="0"/>
                              <a:ea typeface="Cambria Math" panose="02040503050406030204" pitchFamily="18" charset="0"/>
                            </a:rPr>
                          </m:ctrlPr>
                        </m:dPr>
                        <m:e>
                          <m:sSub>
                            <m:sSubPr>
                              <m:ctrlPr>
                                <a:rPr lang="en-IN" sz="2800" i="1">
                                  <a:solidFill>
                                    <a:srgbClr val="FF0000"/>
                                  </a:solidFill>
                                  <a:latin typeface="Cambria Math" panose="02040503050406030204" pitchFamily="18" charset="0"/>
                                  <a:ea typeface="Cambria Math" panose="02040503050406030204" pitchFamily="18" charset="0"/>
                                </a:rPr>
                              </m:ctrlPr>
                            </m:sSubPr>
                            <m:e>
                              <m:r>
                                <m:rPr>
                                  <m:sty m:val="p"/>
                                </m:rPr>
                                <a:rPr lang="en-US" sz="2800" b="0" i="1">
                                  <a:solidFill>
                                    <a:srgbClr val="FF0000"/>
                                  </a:solidFill>
                                  <a:latin typeface="Cambria Math" panose="02040503050406030204" pitchFamily="18" charset="0"/>
                                  <a:ea typeface="Cambria Math" panose="02040503050406030204" pitchFamily="18" charset="0"/>
                                </a:rPr>
                                <m:t>z</m:t>
                              </m:r>
                            </m:e>
                            <m:sub>
                              <m:r>
                                <a:rPr lang="en-US" sz="2800" b="0" i="1">
                                  <a:solidFill>
                                    <a:srgbClr val="FF0000"/>
                                  </a:solidFill>
                                  <a:latin typeface="Cambria Math" panose="02040503050406030204" pitchFamily="18" charset="0"/>
                                  <a:ea typeface="Cambria Math" panose="02040503050406030204" pitchFamily="18" charset="0"/>
                                </a:rPr>
                                <m:t>1</m:t>
                              </m:r>
                            </m:sub>
                          </m:sSub>
                          <m:r>
                            <a:rPr lang="en-US" sz="2800" b="0">
                              <a:solidFill>
                                <a:srgbClr val="FF0000"/>
                              </a:solidFill>
                              <a:latin typeface="Cambria Math" panose="02040503050406030204" pitchFamily="18" charset="0"/>
                              <a:ea typeface="Cambria Math" panose="02040503050406030204" pitchFamily="18" charset="0"/>
                            </a:rPr>
                            <m:t>&lt;</m:t>
                          </m:r>
                          <m:r>
                            <m:rPr>
                              <m:sty m:val="p"/>
                            </m:rPr>
                            <a:rPr lang="en-US" sz="2800" b="0" i="1">
                              <a:solidFill>
                                <a:srgbClr val="FF0000"/>
                              </a:solidFill>
                              <a:latin typeface="Cambria Math" panose="02040503050406030204" pitchFamily="18" charset="0"/>
                              <a:ea typeface="Cambria Math" panose="02040503050406030204" pitchFamily="18" charset="0"/>
                            </a:rPr>
                            <m:t>Z</m:t>
                          </m:r>
                          <m:r>
                            <a:rPr lang="en-US" sz="2800" b="0">
                              <a:solidFill>
                                <a:srgbClr val="FF0000"/>
                              </a:solidFill>
                              <a:latin typeface="Cambria Math" panose="02040503050406030204" pitchFamily="18" charset="0"/>
                              <a:ea typeface="Cambria Math" panose="02040503050406030204" pitchFamily="18" charset="0"/>
                            </a:rPr>
                            <m:t>&lt;</m:t>
                          </m:r>
                          <m:sSub>
                            <m:sSubPr>
                              <m:ctrlPr>
                                <a:rPr lang="en-IN" sz="2800" i="1">
                                  <a:solidFill>
                                    <a:srgbClr val="FF0000"/>
                                  </a:solidFill>
                                  <a:latin typeface="Cambria Math" panose="02040503050406030204" pitchFamily="18" charset="0"/>
                                  <a:ea typeface="Cambria Math" panose="02040503050406030204" pitchFamily="18" charset="0"/>
                                </a:rPr>
                              </m:ctrlPr>
                            </m:sSubPr>
                            <m:e>
                              <m:r>
                                <m:rPr>
                                  <m:sty m:val="p"/>
                                </m:rPr>
                                <a:rPr lang="en-US" sz="2800" b="0" i="1">
                                  <a:solidFill>
                                    <a:srgbClr val="FF0000"/>
                                  </a:solidFill>
                                  <a:latin typeface="Cambria Math" panose="02040503050406030204" pitchFamily="18" charset="0"/>
                                  <a:ea typeface="Cambria Math" panose="02040503050406030204" pitchFamily="18" charset="0"/>
                                </a:rPr>
                                <m:t>z</m:t>
                              </m:r>
                            </m:e>
                            <m:sub>
                              <m:r>
                                <a:rPr lang="en-US" sz="2800" b="0" i="1">
                                  <a:solidFill>
                                    <a:srgbClr val="FF0000"/>
                                  </a:solidFill>
                                  <a:latin typeface="Cambria Math" panose="02040503050406030204" pitchFamily="18" charset="0"/>
                                  <a:ea typeface="Cambria Math" panose="02040503050406030204" pitchFamily="18" charset="0"/>
                                </a:rPr>
                                <m:t>2</m:t>
                              </m:r>
                            </m:sub>
                          </m:sSub>
                        </m:e>
                      </m:d>
                      <m:r>
                        <a:rPr lang="en-US" sz="2800" b="0">
                          <a:solidFill>
                            <a:srgbClr val="FF0000"/>
                          </a:solidFill>
                          <a:latin typeface="Cambria Math" panose="02040503050406030204" pitchFamily="18" charset="0"/>
                          <a:ea typeface="Cambria Math" panose="02040503050406030204" pitchFamily="18" charset="0"/>
                        </a:rPr>
                        <m:t>=</m:t>
                      </m:r>
                      <m:r>
                        <a:rPr lang="en-US" sz="2800" b="0" i="1">
                          <a:solidFill>
                            <a:srgbClr val="FF0000"/>
                          </a:solidFill>
                          <a:latin typeface="Cambria Math" panose="02040503050406030204" pitchFamily="18" charset="0"/>
                          <a:ea typeface="Cambria Math" panose="02040503050406030204" pitchFamily="18" charset="0"/>
                        </a:rPr>
                        <m:t>0</m:t>
                      </m:r>
                      <m:r>
                        <a:rPr lang="en-US" sz="2800" b="0">
                          <a:solidFill>
                            <a:srgbClr val="FF0000"/>
                          </a:solidFill>
                          <a:latin typeface="Cambria Math" panose="02040503050406030204" pitchFamily="18" charset="0"/>
                          <a:ea typeface="Cambria Math" panose="02040503050406030204" pitchFamily="18" charset="0"/>
                        </a:rPr>
                        <m:t>.</m:t>
                      </m:r>
                      <m:r>
                        <a:rPr lang="en-US" sz="2800" b="0" i="1">
                          <a:solidFill>
                            <a:srgbClr val="FF0000"/>
                          </a:solidFill>
                          <a:latin typeface="Cambria Math" panose="02040503050406030204" pitchFamily="18" charset="0"/>
                          <a:ea typeface="Cambria Math" panose="02040503050406030204" pitchFamily="18" charset="0"/>
                        </a:rPr>
                        <m:t>36</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2031325"/>
              </a:xfrm>
              <a:prstGeom prst="rect">
                <a:avLst/>
              </a:prstGeom>
              <a:blipFill rotWithShape="0">
                <a:blip r:embed="rId2"/>
                <a:stretch>
                  <a:fillRect l="-10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593138568"/>
                  </p:ext>
                </p:extLst>
              </p:nvPr>
            </p:nvGraphicFramePr>
            <p:xfrm>
              <a:off x="334853" y="3142445"/>
              <a:ext cx="11475075" cy="2432390"/>
            </p:xfrm>
            <a:graphic>
              <a:graphicData uri="http://schemas.openxmlformats.org/drawingml/2006/table">
                <a:tbl>
                  <a:tblPr firstRow="1" bandRow="1">
                    <a:tableStyleId>{5C22544A-7EE6-4342-B048-85BDC9FD1C3A}</a:tableStyleId>
                  </a:tblPr>
                  <a:tblGrid>
                    <a:gridCol w="3593203">
                      <a:extLst>
                        <a:ext uri="{9D8B030D-6E8A-4147-A177-3AD203B41FA5}">
                          <a16:colId xmlns:a16="http://schemas.microsoft.com/office/drawing/2014/main" val="20000"/>
                        </a:ext>
                      </a:extLst>
                    </a:gridCol>
                    <a:gridCol w="360609">
                      <a:extLst>
                        <a:ext uri="{9D8B030D-6E8A-4147-A177-3AD203B41FA5}">
                          <a16:colId xmlns:a16="http://schemas.microsoft.com/office/drawing/2014/main" val="20001"/>
                        </a:ext>
                      </a:extLst>
                    </a:gridCol>
                    <a:gridCol w="3709115">
                      <a:extLst>
                        <a:ext uri="{9D8B030D-6E8A-4147-A177-3AD203B41FA5}">
                          <a16:colId xmlns:a16="http://schemas.microsoft.com/office/drawing/2014/main" val="20002"/>
                        </a:ext>
                      </a:extLst>
                    </a:gridCol>
                    <a:gridCol w="309093">
                      <a:extLst>
                        <a:ext uri="{9D8B030D-6E8A-4147-A177-3AD203B41FA5}">
                          <a16:colId xmlns:a16="http://schemas.microsoft.com/office/drawing/2014/main" val="20003"/>
                        </a:ext>
                      </a:extLst>
                    </a:gridCol>
                    <a:gridCol w="3503055">
                      <a:extLst>
                        <a:ext uri="{9D8B030D-6E8A-4147-A177-3AD203B41FA5}">
                          <a16:colId xmlns:a16="http://schemas.microsoft.com/office/drawing/2014/main" val="20004"/>
                        </a:ext>
                      </a:extLst>
                    </a:gridCol>
                  </a:tblGrid>
                  <a:tr h="194471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6366">
                    <a:tc gridSpan="5">
                      <a:txBody>
                        <a:bodyPr/>
                        <a:lstStyle/>
                        <a:p>
                          <a:r>
                            <a:rPr lang="en-IN" sz="2600" b="0" dirty="0"/>
                            <a:t>                    </a:t>
                          </a:r>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1</m:t>
                                  </m:r>
                                </m:sub>
                              </m:sSub>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2</m:t>
                                  </m:r>
                                </m:sub>
                              </m:sSub>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1</m:t>
                                  </m:r>
                                </m:sub>
                              </m:sSub>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m:t>
                              </m:r>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2</m:t>
                                  </m:r>
                                </m:sub>
                              </m:sSub>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m:t>
                              </m:r>
                            </m:oMath>
                          </a14:m>
                          <a:endParaRPr lang="en-IN" sz="26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593138568"/>
                  </p:ext>
                </p:extLst>
              </p:nvPr>
            </p:nvGraphicFramePr>
            <p:xfrm>
              <a:off x="334853" y="3142445"/>
              <a:ext cx="11475075" cy="2432390"/>
            </p:xfrm>
            <a:graphic>
              <a:graphicData uri="http://schemas.openxmlformats.org/drawingml/2006/table">
                <a:tbl>
                  <a:tblPr firstRow="1" bandRow="1">
                    <a:tableStyleId>{5C22544A-7EE6-4342-B048-85BDC9FD1C3A}</a:tableStyleId>
                  </a:tblPr>
                  <a:tblGrid>
                    <a:gridCol w="3593203"/>
                    <a:gridCol w="360609"/>
                    <a:gridCol w="3709115"/>
                    <a:gridCol w="309093"/>
                    <a:gridCol w="3503055"/>
                  </a:tblGrid>
                  <a:tr h="1944710">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0000" r="-2093220" b="-25000"/>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2466667" r="-1127451" b="-25000"/>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gridSpan="5">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400000"/>
                          </a:stretch>
                        </a:blip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pic>
        <p:nvPicPr>
          <p:cNvPr id="6" name="Picture 5"/>
          <p:cNvPicPr/>
          <p:nvPr/>
        </p:nvPicPr>
        <p:blipFill rotWithShape="1">
          <a:blip r:embed="rId4">
            <a:extLst>
              <a:ext uri="{28A0092B-C50C-407E-A947-70E740481C1C}">
                <a14:useLocalDpi xmlns:a14="http://schemas.microsoft.com/office/drawing/2010/main" val="0"/>
              </a:ext>
            </a:extLst>
          </a:blip>
          <a:srcRect r="66902"/>
          <a:stretch/>
        </p:blipFill>
        <p:spPr bwMode="auto">
          <a:xfrm>
            <a:off x="489397" y="3232597"/>
            <a:ext cx="3296992" cy="1751527"/>
          </a:xfrm>
          <a:prstGeom prst="rect">
            <a:avLst/>
          </a:prstGeom>
          <a:noFill/>
          <a:ln>
            <a:noFill/>
          </a:ln>
          <a:extLst>
            <a:ext uri="{53640926-AAD7-44D8-BBD7-CCE9431645EC}">
              <a14:shadowObscured xmlns:a14="http://schemas.microsoft.com/office/drawing/2010/main"/>
            </a:ext>
          </a:extLst>
        </p:spPr>
      </p:pic>
      <p:pic>
        <p:nvPicPr>
          <p:cNvPr id="7" name="Picture 6"/>
          <p:cNvPicPr/>
          <p:nvPr/>
        </p:nvPicPr>
        <p:blipFill rotWithShape="1">
          <a:blip r:embed="rId4">
            <a:extLst>
              <a:ext uri="{28A0092B-C50C-407E-A947-70E740481C1C}">
                <a14:useLocalDpi xmlns:a14="http://schemas.microsoft.com/office/drawing/2010/main" val="0"/>
              </a:ext>
            </a:extLst>
          </a:blip>
          <a:srcRect r="71448"/>
          <a:stretch/>
        </p:blipFill>
        <p:spPr bwMode="auto">
          <a:xfrm>
            <a:off x="4430332" y="3232597"/>
            <a:ext cx="3438660" cy="1751527"/>
          </a:xfrm>
          <a:prstGeom prst="rect">
            <a:avLst/>
          </a:prstGeom>
          <a:noFill/>
          <a:ln>
            <a:noFill/>
          </a:ln>
          <a:extLst>
            <a:ext uri="{53640926-AAD7-44D8-BBD7-CCE9431645EC}">
              <a14:shadowObscured xmlns:a14="http://schemas.microsoft.com/office/drawing/2010/main"/>
            </a:ext>
          </a:extLst>
        </p:spPr>
      </p:pic>
      <p:pic>
        <p:nvPicPr>
          <p:cNvPr id="8" name="Picture 7"/>
          <p:cNvPicPr/>
          <p:nvPr/>
        </p:nvPicPr>
        <p:blipFill rotWithShape="1">
          <a:blip r:embed="rId5">
            <a:extLst>
              <a:ext uri="{28A0092B-C50C-407E-A947-70E740481C1C}">
                <a14:useLocalDpi xmlns:a14="http://schemas.microsoft.com/office/drawing/2010/main" val="0"/>
              </a:ext>
            </a:extLst>
          </a:blip>
          <a:srcRect r="65463"/>
          <a:stretch/>
        </p:blipFill>
        <p:spPr bwMode="auto">
          <a:xfrm flipH="1">
            <a:off x="8358389" y="3232598"/>
            <a:ext cx="3400022" cy="175152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4086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par>
                                <p:cTn id="12" presetID="22" presetClass="entr" presetSubtype="1"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up)">
                                      <p:cBhvr>
                                        <p:cTn id="14" dur="500"/>
                                        <p:tgtEl>
                                          <p:spTgt spid="7"/>
                                        </p:tgtEl>
                                      </p:cBhvr>
                                    </p:animEffect>
                                  </p:childTnLst>
                                </p:cTn>
                              </p:par>
                              <p:par>
                                <p:cTn id="15" presetID="22" presetClass="entr" presetSubtype="1"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22" presetClass="entr" presetSubtype="1"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Now</a:t>
                </a:r>
                <a:r>
                  <a:rPr lang="en-US" sz="2800" dirty="0">
                    <a:solidFill>
                      <a:schemeClr val="tx2">
                        <a:lumMod val="50000"/>
                      </a:schemeClr>
                    </a:solidFill>
                    <a:latin typeface="Cambria Math" panose="02040503050406030204" pitchFamily="18" charset="0"/>
                    <a:ea typeface="Cambria Math" panose="02040503050406030204" pitchFamily="18" charset="0"/>
                  </a:rPr>
                  <a:t>,</a:t>
                </a:r>
                <a:r>
                  <a:rPr lang="en-US" sz="2800" dirty="0">
                    <a:solidFill>
                      <a:schemeClr val="tx2">
                        <a:lumMod val="50000"/>
                      </a:schemeClr>
                    </a:solidFill>
                    <a:ea typeface="Cambria Math" panose="02040503050406030204" pitchFamily="18" charset="0"/>
                  </a:rPr>
                  <a:t> from the figure </a:t>
                </a:r>
                <a14:m>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e>
                    </m:d>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5</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05</m:t>
                      </m:r>
                      <m:r>
                        <a:rPr lang="en-US" sz="2800" b="0">
                          <a:solidFill>
                            <a:schemeClr val="tx2">
                              <a:lumMod val="50000"/>
                            </a:schemeClr>
                          </a:solidFill>
                          <a:latin typeface="Cambria Math" panose="02040503050406030204" pitchFamily="18" charset="0"/>
                          <a:ea typeface="Cambria Math" panose="02040503050406030204" pitchFamily="18" charset="0"/>
                        </a:rPr>
                        <m:t>⇒</m:t>
                      </m:r>
                      <m:sSub>
                        <m:sSubPr>
                          <m:ctrlPr>
                            <a:rPr lang="en-IN" sz="2800" b="1" i="1" smtClean="0">
                              <a:solidFill>
                                <a:srgbClr val="FF0000"/>
                              </a:solidFill>
                              <a:latin typeface="Cambria Math" panose="02040503050406030204" pitchFamily="18" charset="0"/>
                              <a:ea typeface="Cambria Math" panose="02040503050406030204" pitchFamily="18" charset="0"/>
                            </a:rPr>
                          </m:ctrlPr>
                        </m:sSubPr>
                        <m:e>
                          <m:r>
                            <a:rPr lang="en-US" sz="2800" b="1" i="1">
                              <a:solidFill>
                                <a:srgbClr val="FF0000"/>
                              </a:solidFill>
                              <a:latin typeface="Cambria Math" panose="02040503050406030204" pitchFamily="18" charset="0"/>
                              <a:ea typeface="Cambria Math" panose="02040503050406030204" pitchFamily="18" charset="0"/>
                            </a:rPr>
                            <m:t>𝒛</m:t>
                          </m:r>
                        </m:e>
                        <m:sub>
                          <m:r>
                            <a:rPr lang="en-US" sz="2800" b="1" i="1">
                              <a:solidFill>
                                <a:srgbClr val="FF0000"/>
                              </a:solidFill>
                              <a:latin typeface="Cambria Math" panose="02040503050406030204" pitchFamily="18" charset="0"/>
                              <a:ea typeface="Cambria Math" panose="02040503050406030204" pitchFamily="18" charset="0"/>
                            </a:rPr>
                            <m:t>𝟏</m:t>
                          </m:r>
                        </m:sub>
                      </m:sSub>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𝟎</m:t>
                      </m:r>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𝟏𝟐𝟓</m:t>
                      </m:r>
                    </m:oMath>
                  </m:oMathPara>
                </a14:m>
                <a:endParaRPr lang="en-IN" sz="2800" b="1"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2031325"/>
              </a:xfrm>
              <a:prstGeom prst="rect">
                <a:avLst/>
              </a:prstGeom>
              <a:blipFill rotWithShape="0">
                <a:blip r:embed="rId2"/>
                <a:stretch>
                  <a:fillRect l="-10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748831903"/>
                  </p:ext>
                </p:extLst>
              </p:nvPr>
            </p:nvGraphicFramePr>
            <p:xfrm>
              <a:off x="334853" y="3155323"/>
              <a:ext cx="11475075" cy="2419511"/>
            </p:xfrm>
            <a:graphic>
              <a:graphicData uri="http://schemas.openxmlformats.org/drawingml/2006/table">
                <a:tbl>
                  <a:tblPr firstRow="1" bandRow="1">
                    <a:tableStyleId>{5C22544A-7EE6-4342-B048-85BDC9FD1C3A}</a:tableStyleId>
                  </a:tblPr>
                  <a:tblGrid>
                    <a:gridCol w="3593203">
                      <a:extLst>
                        <a:ext uri="{9D8B030D-6E8A-4147-A177-3AD203B41FA5}">
                          <a16:colId xmlns:a16="http://schemas.microsoft.com/office/drawing/2014/main" val="20000"/>
                        </a:ext>
                      </a:extLst>
                    </a:gridCol>
                    <a:gridCol w="360609">
                      <a:extLst>
                        <a:ext uri="{9D8B030D-6E8A-4147-A177-3AD203B41FA5}">
                          <a16:colId xmlns:a16="http://schemas.microsoft.com/office/drawing/2014/main" val="20001"/>
                        </a:ext>
                      </a:extLst>
                    </a:gridCol>
                    <a:gridCol w="3709115">
                      <a:extLst>
                        <a:ext uri="{9D8B030D-6E8A-4147-A177-3AD203B41FA5}">
                          <a16:colId xmlns:a16="http://schemas.microsoft.com/office/drawing/2014/main" val="20002"/>
                        </a:ext>
                      </a:extLst>
                    </a:gridCol>
                    <a:gridCol w="309093">
                      <a:extLst>
                        <a:ext uri="{9D8B030D-6E8A-4147-A177-3AD203B41FA5}">
                          <a16:colId xmlns:a16="http://schemas.microsoft.com/office/drawing/2014/main" val="20003"/>
                        </a:ext>
                      </a:extLst>
                    </a:gridCol>
                    <a:gridCol w="3503055">
                      <a:extLst>
                        <a:ext uri="{9D8B030D-6E8A-4147-A177-3AD203B41FA5}">
                          <a16:colId xmlns:a16="http://schemas.microsoft.com/office/drawing/2014/main" val="20004"/>
                        </a:ext>
                      </a:extLst>
                    </a:gridCol>
                  </a:tblGrid>
                  <a:tr h="1931831">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6366">
                    <a:tc gridSpan="5">
                      <a:txBody>
                        <a:bodyPr/>
                        <a:lstStyle/>
                        <a:p>
                          <a:r>
                            <a:rPr lang="en-IN" sz="2600" dirty="0"/>
                            <a:t>                    </a:t>
                          </a:r>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sSub>
                                <m:sSubPr>
                                  <m:ctrlPr>
                                    <a:rPr lang="en-IN" sz="2600" i="1" kern="1200">
                                      <a:solidFill>
                                        <a:schemeClr val="dk1"/>
                                      </a:solidFill>
                                      <a:effectLst/>
                                      <a:latin typeface="Cambria Math" panose="02040503050406030204" pitchFamily="18" charset="0"/>
                                      <a:ea typeface="+mn-ea"/>
                                      <a:cs typeface="+mn-cs"/>
                                    </a:rPr>
                                  </m:ctrlPr>
                                </m:sSubPr>
                                <m:e>
                                  <m:r>
                                    <a:rPr lang="en-US" sz="2600" i="1" kern="1200">
                                      <a:solidFill>
                                        <a:schemeClr val="dk1"/>
                                      </a:solidFill>
                                      <a:effectLst/>
                                      <a:latin typeface="Cambria Math" panose="02040503050406030204" pitchFamily="18" charset="0"/>
                                      <a:ea typeface="+mn-ea"/>
                                      <a:cs typeface="+mn-cs"/>
                                    </a:rPr>
                                    <m:t>𝑧</m:t>
                                  </m:r>
                                </m:e>
                                <m:sub>
                                  <m:r>
                                    <a:rPr lang="en-US" sz="2600" i="1" kern="1200">
                                      <a:solidFill>
                                        <a:schemeClr val="dk1"/>
                                      </a:solidFill>
                                      <a:effectLst/>
                                      <a:latin typeface="Cambria Math" panose="02040503050406030204" pitchFamily="18" charset="0"/>
                                      <a:ea typeface="+mn-ea"/>
                                      <a:cs typeface="+mn-cs"/>
                                    </a:rPr>
                                    <m:t>1</m:t>
                                  </m:r>
                                </m:sub>
                              </m:sSub>
                            </m:oMath>
                          </a14:m>
                          <a:r>
                            <a:rPr lang="en-US" sz="2600" kern="1200" dirty="0">
                              <a:solidFill>
                                <a:schemeClr val="dk1"/>
                              </a:solidFill>
                              <a:effectLst/>
                              <a:latin typeface="+mn-lt"/>
                              <a:ea typeface="+mn-ea"/>
                              <a:cs typeface="+mn-cs"/>
                            </a:rPr>
                            <a:t>                           </a:t>
                          </a:r>
                          <a:r>
                            <a:rPr lang="en-US" sz="2600" kern="1200" baseline="0" dirty="0">
                              <a:solidFill>
                                <a:schemeClr val="dk1"/>
                              </a:solidFill>
                              <a:effectLst/>
                              <a:latin typeface="+mn-lt"/>
                              <a:ea typeface="+mn-ea"/>
                              <a:cs typeface="+mn-cs"/>
                            </a:rPr>
                            <a:t> </a:t>
                          </a:r>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m:t>
                              </m:r>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0</m:t>
                              </m:r>
                            </m:oMath>
                          </a14:m>
                          <a:r>
                            <a:rPr lang="en-US" sz="2600" kern="1200" dirty="0">
                              <a:solidFill>
                                <a:schemeClr val="dk1"/>
                              </a:solidFill>
                              <a:effectLst/>
                              <a:latin typeface="+mn-lt"/>
                              <a:ea typeface="+mn-ea"/>
                              <a:cs typeface="+mn-cs"/>
                            </a:rPr>
                            <a:t>        </a:t>
                          </a:r>
                          <a14:m>
                            <m:oMath xmlns:m="http://schemas.openxmlformats.org/officeDocument/2006/math">
                              <m:sSub>
                                <m:sSubPr>
                                  <m:ctrlPr>
                                    <a:rPr lang="en-IN" sz="2600" i="1" kern="1200">
                                      <a:solidFill>
                                        <a:schemeClr val="dk1"/>
                                      </a:solidFill>
                                      <a:effectLst/>
                                      <a:latin typeface="Cambria Math" panose="02040503050406030204" pitchFamily="18" charset="0"/>
                                      <a:ea typeface="+mn-ea"/>
                                      <a:cs typeface="+mn-cs"/>
                                    </a:rPr>
                                  </m:ctrlPr>
                                </m:sSubPr>
                                <m:e>
                                  <m:r>
                                    <a:rPr lang="en-US" sz="2600" i="1" kern="1200">
                                      <a:solidFill>
                                        <a:schemeClr val="dk1"/>
                                      </a:solidFill>
                                      <a:effectLst/>
                                      <a:latin typeface="Cambria Math" panose="02040503050406030204" pitchFamily="18" charset="0"/>
                                      <a:ea typeface="+mn-ea"/>
                                      <a:cs typeface="+mn-cs"/>
                                    </a:rPr>
                                    <m:t>𝑧</m:t>
                                  </m:r>
                                </m:e>
                                <m:sub>
                                  <m:r>
                                    <a:rPr lang="en-US" sz="2600" i="1" kern="1200">
                                      <a:solidFill>
                                        <a:schemeClr val="dk1"/>
                                      </a:solidFill>
                                      <a:effectLst/>
                                      <a:latin typeface="Cambria Math" panose="02040503050406030204" pitchFamily="18" charset="0"/>
                                      <a:ea typeface="+mn-ea"/>
                                      <a:cs typeface="+mn-cs"/>
                                    </a:rPr>
                                    <m:t>1</m:t>
                                  </m:r>
                                </m:sub>
                              </m:sSub>
                            </m:oMath>
                          </a14:m>
                          <a:r>
                            <a:rPr lang="en-US" sz="2600" kern="1200" dirty="0">
                              <a:solidFill>
                                <a:schemeClr val="dk1"/>
                              </a:solidFill>
                              <a:effectLst/>
                              <a:latin typeface="+mn-lt"/>
                              <a:ea typeface="+mn-ea"/>
                              <a:cs typeface="+mn-cs"/>
                            </a:rPr>
                            <a:t>      </a:t>
                          </a:r>
                          <a14:m>
                            <m:oMath xmlns:m="http://schemas.openxmlformats.org/officeDocument/2006/math">
                              <m:r>
                                <a:rPr lang="en-US" sz="2600" i="1" kern="1200">
                                  <a:solidFill>
                                    <a:schemeClr val="dk1"/>
                                  </a:solidFill>
                                  <a:effectLst/>
                                  <a:latin typeface="Cambria Math" panose="02040503050406030204" pitchFamily="18" charset="0"/>
                                  <a:ea typeface="+mn-ea"/>
                                  <a:cs typeface="+mn-cs"/>
                                </a:rPr>
                                <m:t>∞</m:t>
                              </m:r>
                            </m:oMath>
                          </a14:m>
                          <a:endParaRPr lang="en-IN" sz="2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748831903"/>
                  </p:ext>
                </p:extLst>
              </p:nvPr>
            </p:nvGraphicFramePr>
            <p:xfrm>
              <a:off x="334853" y="3155323"/>
              <a:ext cx="11475075" cy="2419511"/>
            </p:xfrm>
            <a:graphic>
              <a:graphicData uri="http://schemas.openxmlformats.org/drawingml/2006/table">
                <a:tbl>
                  <a:tblPr firstRow="1" bandRow="1">
                    <a:tableStyleId>{5C22544A-7EE6-4342-B048-85BDC9FD1C3A}</a:tableStyleId>
                  </a:tblPr>
                  <a:tblGrid>
                    <a:gridCol w="3593203"/>
                    <a:gridCol w="360609"/>
                    <a:gridCol w="3709115"/>
                    <a:gridCol w="309093"/>
                    <a:gridCol w="3503055"/>
                  </a:tblGrid>
                  <a:tr h="1931831">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0000" r="-2093220" b="-25157"/>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2466667" r="-1127451" b="-25157"/>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gridSpan="5">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97500"/>
                          </a:stretch>
                        </a:blip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pic>
        <p:nvPicPr>
          <p:cNvPr id="5" name="Picture 4"/>
          <p:cNvPicPr/>
          <p:nvPr/>
        </p:nvPicPr>
        <p:blipFill rotWithShape="1">
          <a:blip r:embed="rId4">
            <a:extLst>
              <a:ext uri="{28A0092B-C50C-407E-A947-70E740481C1C}">
                <a14:useLocalDpi xmlns:a14="http://schemas.microsoft.com/office/drawing/2010/main" val="0"/>
              </a:ext>
            </a:extLst>
          </a:blip>
          <a:srcRect l="67147" t="9318" r="659"/>
          <a:stretch/>
        </p:blipFill>
        <p:spPr bwMode="auto">
          <a:xfrm>
            <a:off x="412124" y="3219718"/>
            <a:ext cx="3451538" cy="1803043"/>
          </a:xfrm>
          <a:prstGeom prst="rect">
            <a:avLst/>
          </a:prstGeom>
          <a:noFill/>
          <a:ln>
            <a:noFill/>
          </a:ln>
          <a:extLst>
            <a:ext uri="{53640926-AAD7-44D8-BBD7-CCE9431645EC}">
              <a14:shadowObscured xmlns:a14="http://schemas.microsoft.com/office/drawing/2010/main"/>
            </a:ext>
          </a:extLst>
        </p:spPr>
      </p:pic>
      <p:pic>
        <p:nvPicPr>
          <p:cNvPr id="6" name="Picture 5"/>
          <p:cNvPicPr/>
          <p:nvPr/>
        </p:nvPicPr>
        <p:blipFill rotWithShape="1">
          <a:blip r:embed="rId5">
            <a:extLst>
              <a:ext uri="{28A0092B-C50C-407E-A947-70E740481C1C}">
                <a14:useLocalDpi xmlns:a14="http://schemas.microsoft.com/office/drawing/2010/main" val="0"/>
              </a:ext>
            </a:extLst>
          </a:blip>
          <a:srcRect l="37507" r="36326"/>
          <a:stretch/>
        </p:blipFill>
        <p:spPr bwMode="auto">
          <a:xfrm flipH="1">
            <a:off x="4404575" y="3219717"/>
            <a:ext cx="3503053" cy="1803043"/>
          </a:xfrm>
          <a:prstGeom prst="rect">
            <a:avLst/>
          </a:prstGeom>
          <a:noFill/>
          <a:ln>
            <a:noFill/>
          </a:ln>
          <a:extLst>
            <a:ext uri="{53640926-AAD7-44D8-BBD7-CCE9431645EC}">
              <a14:shadowObscured xmlns:a14="http://schemas.microsoft.com/office/drawing/2010/main"/>
            </a:ext>
          </a:extLst>
        </p:spPr>
      </p:pic>
      <p:pic>
        <p:nvPicPr>
          <p:cNvPr id="7" name="Picture 6"/>
          <p:cNvPicPr/>
          <p:nvPr/>
        </p:nvPicPr>
        <p:blipFill rotWithShape="1">
          <a:blip r:embed="rId5">
            <a:extLst>
              <a:ext uri="{28A0092B-C50C-407E-A947-70E740481C1C}">
                <a14:useLocalDpi xmlns:a14="http://schemas.microsoft.com/office/drawing/2010/main" val="0"/>
              </a:ext>
            </a:extLst>
          </a:blip>
          <a:srcRect r="65463"/>
          <a:stretch/>
        </p:blipFill>
        <p:spPr bwMode="auto">
          <a:xfrm flipH="1">
            <a:off x="8319752" y="3219717"/>
            <a:ext cx="3451538" cy="180304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3234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par>
                                <p:cTn id="15" presetID="22" presetClass="entr" presetSubtype="1"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par>
                                <p:cTn id="18" presetID="22" presetClass="entr" presetSubtype="1"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2031325"/>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Now</a:t>
                </a:r>
                <a:r>
                  <a:rPr lang="en-US" sz="2800" dirty="0">
                    <a:solidFill>
                      <a:schemeClr val="tx2">
                        <a:lumMod val="50000"/>
                      </a:schemeClr>
                    </a:solidFill>
                    <a:latin typeface="Cambria Math" panose="02040503050406030204" pitchFamily="18" charset="0"/>
                    <a:ea typeface="Cambria Math" panose="02040503050406030204" pitchFamily="18" charset="0"/>
                  </a:rPr>
                  <a:t>, </a:t>
                </a:r>
                <a:r>
                  <a:rPr lang="en-US" sz="2800" dirty="0">
                    <a:solidFill>
                      <a:schemeClr val="tx2">
                        <a:lumMod val="50000"/>
                      </a:schemeClr>
                    </a:solidFill>
                    <a:ea typeface="Cambria Math" panose="02040503050406030204" pitchFamily="18" charset="0"/>
                  </a:rPr>
                  <a:t>from the figure </a:t>
                </a:r>
                <a14:m>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e>
                    </m:d>
                    <m:r>
                      <a:rPr lang="en-IN" sz="2800" b="0" i="0" smtClean="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e>
                    </m:d>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05</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36</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P</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&lt;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r>
                            <a:rPr lang="en-US" sz="2800" b="0">
                              <a:solidFill>
                                <a:schemeClr val="tx2">
                                  <a:lumMod val="50000"/>
                                </a:schemeClr>
                              </a:solidFill>
                              <a:latin typeface="Cambria Math" panose="02040503050406030204" pitchFamily="18" charset="0"/>
                              <a:ea typeface="Cambria Math" panose="02040503050406030204" pitchFamily="18" charset="0"/>
                            </a:rPr>
                            <m:t>&lt;</m:t>
                          </m:r>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e>
                      </m:d>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41</m:t>
                      </m:r>
                      <m:r>
                        <a:rPr lang="en-US" sz="2800" b="0">
                          <a:solidFill>
                            <a:schemeClr val="tx2">
                              <a:lumMod val="50000"/>
                            </a:schemeClr>
                          </a:solidFill>
                          <a:latin typeface="Cambria Math" panose="02040503050406030204" pitchFamily="18" charset="0"/>
                          <a:ea typeface="Cambria Math" panose="02040503050406030204" pitchFamily="18" charset="0"/>
                        </a:rPr>
                        <m:t>⇒</m:t>
                      </m:r>
                      <m:sSub>
                        <m:sSubPr>
                          <m:ctrlPr>
                            <a:rPr lang="en-IN" sz="2800" b="1" i="1" smtClean="0">
                              <a:solidFill>
                                <a:srgbClr val="FF0000"/>
                              </a:solidFill>
                              <a:latin typeface="Cambria Math" panose="02040503050406030204" pitchFamily="18" charset="0"/>
                              <a:ea typeface="Cambria Math" panose="02040503050406030204" pitchFamily="18" charset="0"/>
                            </a:rPr>
                          </m:ctrlPr>
                        </m:sSubPr>
                        <m:e>
                          <m:r>
                            <a:rPr lang="en-US" sz="2800" b="1" i="1">
                              <a:solidFill>
                                <a:srgbClr val="FF0000"/>
                              </a:solidFill>
                              <a:latin typeface="Cambria Math" panose="02040503050406030204" pitchFamily="18" charset="0"/>
                              <a:ea typeface="Cambria Math" panose="02040503050406030204" pitchFamily="18" charset="0"/>
                            </a:rPr>
                            <m:t>𝒛</m:t>
                          </m:r>
                        </m:e>
                        <m:sub>
                          <m:r>
                            <a:rPr lang="en-US" sz="2800" b="1" i="1">
                              <a:solidFill>
                                <a:srgbClr val="FF0000"/>
                              </a:solidFill>
                              <a:latin typeface="Cambria Math" panose="02040503050406030204" pitchFamily="18" charset="0"/>
                              <a:ea typeface="Cambria Math" panose="02040503050406030204" pitchFamily="18" charset="0"/>
                            </a:rPr>
                            <m:t>𝟐</m:t>
                          </m:r>
                        </m:sub>
                      </m:sSub>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𝟏</m:t>
                      </m:r>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𝟑𝟒</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2031325"/>
              </a:xfrm>
              <a:prstGeom prst="rect">
                <a:avLst/>
              </a:prstGeom>
              <a:blipFill rotWithShape="0">
                <a:blip r:embed="rId2"/>
                <a:stretch>
                  <a:fillRect l="-10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412859114"/>
                  </p:ext>
                </p:extLst>
              </p:nvPr>
            </p:nvGraphicFramePr>
            <p:xfrm>
              <a:off x="334853" y="3155323"/>
              <a:ext cx="11475075" cy="2419511"/>
            </p:xfrm>
            <a:graphic>
              <a:graphicData uri="http://schemas.openxmlformats.org/drawingml/2006/table">
                <a:tbl>
                  <a:tblPr firstRow="1" bandRow="1">
                    <a:tableStyleId>{5C22544A-7EE6-4342-B048-85BDC9FD1C3A}</a:tableStyleId>
                  </a:tblPr>
                  <a:tblGrid>
                    <a:gridCol w="3593203">
                      <a:extLst>
                        <a:ext uri="{9D8B030D-6E8A-4147-A177-3AD203B41FA5}">
                          <a16:colId xmlns:a16="http://schemas.microsoft.com/office/drawing/2014/main" val="20000"/>
                        </a:ext>
                      </a:extLst>
                    </a:gridCol>
                    <a:gridCol w="360609">
                      <a:extLst>
                        <a:ext uri="{9D8B030D-6E8A-4147-A177-3AD203B41FA5}">
                          <a16:colId xmlns:a16="http://schemas.microsoft.com/office/drawing/2014/main" val="20001"/>
                        </a:ext>
                      </a:extLst>
                    </a:gridCol>
                    <a:gridCol w="3709115">
                      <a:extLst>
                        <a:ext uri="{9D8B030D-6E8A-4147-A177-3AD203B41FA5}">
                          <a16:colId xmlns:a16="http://schemas.microsoft.com/office/drawing/2014/main" val="20002"/>
                        </a:ext>
                      </a:extLst>
                    </a:gridCol>
                    <a:gridCol w="309093">
                      <a:extLst>
                        <a:ext uri="{9D8B030D-6E8A-4147-A177-3AD203B41FA5}">
                          <a16:colId xmlns:a16="http://schemas.microsoft.com/office/drawing/2014/main" val="20003"/>
                        </a:ext>
                      </a:extLst>
                    </a:gridCol>
                    <a:gridCol w="3503055">
                      <a:extLst>
                        <a:ext uri="{9D8B030D-6E8A-4147-A177-3AD203B41FA5}">
                          <a16:colId xmlns:a16="http://schemas.microsoft.com/office/drawing/2014/main" val="20004"/>
                        </a:ext>
                      </a:extLst>
                    </a:gridCol>
                  </a:tblGrid>
                  <a:tr h="1931831">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endParaRPr lang="en-IN" b="1"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IN" b="1" i="1" smtClean="0">
                                    <a:solidFill>
                                      <a:schemeClr val="tx1"/>
                                    </a:solidFill>
                                    <a:latin typeface="Cambria Math" panose="02040503050406030204" pitchFamily="18" charset="0"/>
                                  </a:rPr>
                                  <m:t>+</m:t>
                                </m:r>
                              </m:oMath>
                            </m:oMathPara>
                          </a14:m>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6366">
                    <a:tc gridSpan="5">
                      <a:txBody>
                        <a:bodyPr/>
                        <a:lstStyle/>
                        <a:p>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1</m:t>
                                  </m:r>
                                </m:sub>
                              </m:sSub>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2</m:t>
                                  </m:r>
                                </m:sub>
                              </m:sSub>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1</m:t>
                                  </m:r>
                                </m:sub>
                              </m:sSub>
                            </m:oMath>
                          </a14:m>
                          <a:r>
                            <a:rPr lang="en-US" sz="2600" b="0" kern="1200" dirty="0">
                              <a:solidFill>
                                <a:schemeClr val="dk1"/>
                              </a:solidFill>
                              <a:effectLst/>
                              <a:latin typeface="+mn-lt"/>
                              <a:ea typeface="+mn-ea"/>
                              <a:cs typeface="+mn-cs"/>
                            </a:rPr>
                            <a:t>                                       </a:t>
                          </a:r>
                          <a14:m>
                            <m:oMath xmlns:m="http://schemas.openxmlformats.org/officeDocument/2006/math">
                              <m:r>
                                <a:rPr lang="en-US" sz="2600" b="0" i="1" kern="1200">
                                  <a:solidFill>
                                    <a:schemeClr val="dk1"/>
                                  </a:solidFill>
                                  <a:effectLst/>
                                  <a:latin typeface="Cambria Math" panose="02040503050406030204" pitchFamily="18" charset="0"/>
                                  <a:ea typeface="+mn-ea"/>
                                  <a:cs typeface="+mn-cs"/>
                                </a:rPr>
                                <m:t>0</m:t>
                              </m:r>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1</m:t>
                                  </m:r>
                                </m:sub>
                              </m:sSub>
                            </m:oMath>
                          </a14:m>
                          <a:r>
                            <a:rPr lang="en-US" sz="2600" b="0" kern="1200" dirty="0">
                              <a:solidFill>
                                <a:schemeClr val="dk1"/>
                              </a:solidFill>
                              <a:effectLst/>
                              <a:latin typeface="+mn-lt"/>
                              <a:ea typeface="+mn-ea"/>
                              <a:cs typeface="+mn-cs"/>
                            </a:rPr>
                            <a:t>       </a:t>
                          </a:r>
                          <a14:m>
                            <m:oMath xmlns:m="http://schemas.openxmlformats.org/officeDocument/2006/math">
                              <m:sSub>
                                <m:sSubPr>
                                  <m:ctrlPr>
                                    <a:rPr lang="en-IN" sz="2600" b="0" i="1" kern="1200">
                                      <a:solidFill>
                                        <a:schemeClr val="dk1"/>
                                      </a:solidFill>
                                      <a:effectLst/>
                                      <a:latin typeface="Cambria Math" panose="02040503050406030204" pitchFamily="18" charset="0"/>
                                      <a:ea typeface="+mn-ea"/>
                                      <a:cs typeface="+mn-cs"/>
                                    </a:rPr>
                                  </m:ctrlPr>
                                </m:sSubPr>
                                <m:e>
                                  <m:r>
                                    <a:rPr lang="en-US" sz="2600" b="0" i="1" kern="1200">
                                      <a:solidFill>
                                        <a:schemeClr val="dk1"/>
                                      </a:solidFill>
                                      <a:effectLst/>
                                      <a:latin typeface="Cambria Math" panose="02040503050406030204" pitchFamily="18" charset="0"/>
                                      <a:ea typeface="+mn-ea"/>
                                      <a:cs typeface="+mn-cs"/>
                                    </a:rPr>
                                    <m:t>𝑧</m:t>
                                  </m:r>
                                </m:e>
                                <m:sub>
                                  <m:r>
                                    <a:rPr lang="en-US" sz="2600" b="0" i="1" kern="1200">
                                      <a:solidFill>
                                        <a:schemeClr val="dk1"/>
                                      </a:solidFill>
                                      <a:effectLst/>
                                      <a:latin typeface="Cambria Math" panose="02040503050406030204" pitchFamily="18" charset="0"/>
                                      <a:ea typeface="+mn-ea"/>
                                      <a:cs typeface="+mn-cs"/>
                                    </a:rPr>
                                    <m:t>2</m:t>
                                  </m:r>
                                </m:sub>
                              </m:sSub>
                            </m:oMath>
                          </a14:m>
                          <a:endParaRPr lang="en-IN" sz="26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412859114"/>
                  </p:ext>
                </p:extLst>
              </p:nvPr>
            </p:nvGraphicFramePr>
            <p:xfrm>
              <a:off x="334853" y="3155323"/>
              <a:ext cx="11475075" cy="2419511"/>
            </p:xfrm>
            <a:graphic>
              <a:graphicData uri="http://schemas.openxmlformats.org/drawingml/2006/table">
                <a:tbl>
                  <a:tblPr firstRow="1" bandRow="1">
                    <a:tableStyleId>{5C22544A-7EE6-4342-B048-85BDC9FD1C3A}</a:tableStyleId>
                  </a:tblPr>
                  <a:tblGrid>
                    <a:gridCol w="3593203"/>
                    <a:gridCol w="360609"/>
                    <a:gridCol w="3709115"/>
                    <a:gridCol w="309093"/>
                    <a:gridCol w="3503055"/>
                  </a:tblGrid>
                  <a:tr h="1931831">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1000000" r="-2093220" b="-25157"/>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2466667" r="-1127451" b="-25157"/>
                          </a:stretch>
                        </a:blip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87680">
                    <a:tc gridSpan="5">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97500"/>
                          </a:stretch>
                        </a:blipFill>
                      </a:tcPr>
                    </a:tc>
                    <a:tc hMerge="1">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mc:Fallback>
      </mc:AlternateContent>
      <p:pic>
        <p:nvPicPr>
          <p:cNvPr id="5" name="Picture 4"/>
          <p:cNvPicPr/>
          <p:nvPr/>
        </p:nvPicPr>
        <p:blipFill rotWithShape="1">
          <a:blip r:embed="rId4">
            <a:extLst>
              <a:ext uri="{28A0092B-C50C-407E-A947-70E740481C1C}">
                <a14:useLocalDpi xmlns:a14="http://schemas.microsoft.com/office/drawing/2010/main" val="0"/>
              </a:ext>
            </a:extLst>
          </a:blip>
          <a:srcRect r="66902"/>
          <a:stretch/>
        </p:blipFill>
        <p:spPr bwMode="auto">
          <a:xfrm>
            <a:off x="425004" y="3232597"/>
            <a:ext cx="3412900" cy="1687133"/>
          </a:xfrm>
          <a:prstGeom prst="rect">
            <a:avLst/>
          </a:prstGeom>
          <a:noFill/>
          <a:ln>
            <a:noFill/>
          </a:ln>
          <a:extLst>
            <a:ext uri="{53640926-AAD7-44D8-BBD7-CCE9431645EC}">
              <a14:shadowObscured xmlns:a14="http://schemas.microsoft.com/office/drawing/2010/main"/>
            </a:ext>
          </a:extLst>
        </p:spPr>
      </p:pic>
      <p:pic>
        <p:nvPicPr>
          <p:cNvPr id="6" name="Picture 5"/>
          <p:cNvPicPr/>
          <p:nvPr/>
        </p:nvPicPr>
        <p:blipFill rotWithShape="1">
          <a:blip r:embed="rId5">
            <a:extLst>
              <a:ext uri="{28A0092B-C50C-407E-A947-70E740481C1C}">
                <a14:useLocalDpi xmlns:a14="http://schemas.microsoft.com/office/drawing/2010/main" val="0"/>
              </a:ext>
            </a:extLst>
          </a:blip>
          <a:srcRect l="34893" r="34544"/>
          <a:stretch/>
        </p:blipFill>
        <p:spPr bwMode="auto">
          <a:xfrm flipH="1">
            <a:off x="4365937" y="3232597"/>
            <a:ext cx="3580327" cy="1777285"/>
          </a:xfrm>
          <a:prstGeom prst="rect">
            <a:avLst/>
          </a:prstGeom>
          <a:noFill/>
          <a:ln>
            <a:noFill/>
          </a:ln>
          <a:extLst>
            <a:ext uri="{53640926-AAD7-44D8-BBD7-CCE9431645EC}">
              <a14:shadowObscured xmlns:a14="http://schemas.microsoft.com/office/drawing/2010/main"/>
            </a:ext>
          </a:extLst>
        </p:spPr>
      </p:pic>
      <p:pic>
        <p:nvPicPr>
          <p:cNvPr id="7" name="Picture 6"/>
          <p:cNvPicPr/>
          <p:nvPr/>
        </p:nvPicPr>
        <p:blipFill rotWithShape="1">
          <a:blip r:embed="rId4">
            <a:extLst>
              <a:ext uri="{28A0092B-C50C-407E-A947-70E740481C1C}">
                <a14:useLocalDpi xmlns:a14="http://schemas.microsoft.com/office/drawing/2010/main" val="0"/>
              </a:ext>
            </a:extLst>
          </a:blip>
          <a:srcRect r="66902"/>
          <a:stretch/>
        </p:blipFill>
        <p:spPr bwMode="auto">
          <a:xfrm>
            <a:off x="8345510" y="3232598"/>
            <a:ext cx="3322749" cy="168713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6485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22" presetClass="entr" presetSubtype="1"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par>
                                <p:cTn id="15" presetID="22" presetClass="entr" presetSubtype="1"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par>
                                <p:cTn id="18" presetID="22" presetClass="entr" presetSubtype="1"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3404971"/>
              </a:xfrm>
              <a:prstGeom prst="rect">
                <a:avLst/>
              </a:prstGeom>
            </p:spPr>
            <p:txBody>
              <a:bodyPr wrap="square">
                <a:spAutoFit/>
              </a:bodyPr>
              <a:lstStyle/>
              <a:p>
                <a:r>
                  <a:rPr lang="en-US" sz="2800" dirty="0">
                    <a:solidFill>
                      <a:srgbClr val="FF0000"/>
                    </a:solidFill>
                    <a:ea typeface="Cambria Math" panose="02040503050406030204" pitchFamily="18" charset="0"/>
                  </a:rPr>
                  <a:t>To find average marks </a:t>
                </a:r>
                <a14:m>
                  <m:oMath xmlns:m="http://schemas.openxmlformats.org/officeDocument/2006/math">
                    <m:r>
                      <a:rPr lang="en-US" sz="2800" b="0" i="0">
                        <a:solidFill>
                          <a:srgbClr val="FF0000"/>
                        </a:solidFill>
                        <a:latin typeface="Cambria Math" panose="02040503050406030204" pitchFamily="18" charset="0"/>
                        <a:ea typeface="Cambria Math" panose="02040503050406030204" pitchFamily="18" charset="0"/>
                      </a:rPr>
                      <m:t>(</m:t>
                    </m:r>
                    <m:r>
                      <m:rPr>
                        <m:sty m:val="p"/>
                      </m:rPr>
                      <a:rPr lang="en-US" sz="2800" b="0" i="0">
                        <a:solidFill>
                          <a:srgbClr val="FF0000"/>
                        </a:solidFill>
                        <a:latin typeface="Cambria Math" panose="02040503050406030204" pitchFamily="18" charset="0"/>
                        <a:ea typeface="Cambria Math" panose="02040503050406030204" pitchFamily="18" charset="0"/>
                      </a:rPr>
                      <m:t>μ</m:t>
                    </m:r>
                    <m:r>
                      <a:rPr lang="en-US" sz="2800" b="0" i="0">
                        <a:solidFill>
                          <a:srgbClr val="FF0000"/>
                        </a:solidFill>
                        <a:latin typeface="Cambria Math" panose="02040503050406030204" pitchFamily="18" charset="0"/>
                        <a:ea typeface="Cambria Math" panose="02040503050406030204" pitchFamily="18" charset="0"/>
                      </a:rPr>
                      <m:t>)</m:t>
                    </m:r>
                  </m:oMath>
                </a14:m>
                <a:r>
                  <a:rPr lang="en-US" sz="2800" dirty="0">
                    <a:solidFill>
                      <a:srgbClr val="FF0000"/>
                    </a:solidFill>
                    <a:ea typeface="Cambria Math" panose="02040503050406030204" pitchFamily="18" charset="0"/>
                  </a:rPr>
                  <a:t> and standard deviation </a:t>
                </a:r>
                <a14:m>
                  <m:oMath xmlns:m="http://schemas.openxmlformats.org/officeDocument/2006/math">
                    <m:r>
                      <a:rPr lang="en-US" sz="2800" b="0" i="0">
                        <a:solidFill>
                          <a:srgbClr val="FF0000"/>
                        </a:solidFill>
                        <a:latin typeface="Cambria Math" panose="02040503050406030204" pitchFamily="18" charset="0"/>
                        <a:ea typeface="Cambria Math" panose="02040503050406030204" pitchFamily="18" charset="0"/>
                      </a:rPr>
                      <m:t>(</m:t>
                    </m:r>
                    <m:r>
                      <m:rPr>
                        <m:sty m:val="p"/>
                      </m:rPr>
                      <a:rPr lang="en-US" sz="2800" b="0" i="0">
                        <a:solidFill>
                          <a:srgbClr val="FF0000"/>
                        </a:solidFill>
                        <a:latin typeface="Cambria Math" panose="02040503050406030204" pitchFamily="18" charset="0"/>
                        <a:ea typeface="Cambria Math" panose="02040503050406030204" pitchFamily="18" charset="0"/>
                      </a:rPr>
                      <m:t>σ</m:t>
                    </m:r>
                    <m:r>
                      <a:rPr lang="en-US" sz="2800" b="0" i="0">
                        <a:solidFill>
                          <a:srgbClr val="FF0000"/>
                        </a:solidFill>
                        <a:latin typeface="Cambria Math" panose="02040503050406030204" pitchFamily="18" charset="0"/>
                        <a:ea typeface="Cambria Math" panose="02040503050406030204" pitchFamily="18" charset="0"/>
                      </a:rPr>
                      <m:t>)</m:t>
                    </m:r>
                  </m:oMath>
                </a14:m>
                <a:endParaRPr lang="en-IN" sz="2800" dirty="0">
                  <a:solidFill>
                    <a:srgbClr val="FF0000"/>
                  </a:solidFill>
                  <a:latin typeface="Cambria Math" panose="02040503050406030204" pitchFamily="18" charset="0"/>
                  <a:ea typeface="Cambria Math" panose="02040503050406030204" pitchFamily="18" charset="0"/>
                </a:endParaRPr>
              </a:p>
              <a:p>
                <a:endParaRPr lang="en-IN" sz="2800" dirty="0">
                  <a:solidFill>
                    <a:srgbClr val="FF0000"/>
                  </a:solidFill>
                  <a:latin typeface="Cambria Math" panose="02040503050406030204" pitchFamily="18" charset="0"/>
                  <a:ea typeface="Cambria Math" panose="02040503050406030204" pitchFamily="18" charset="0"/>
                </a:endParaRPr>
              </a:p>
              <a:p>
                <a:r>
                  <a:rPr lang="en-US" sz="2800" dirty="0">
                    <a:solidFill>
                      <a:schemeClr val="tx2">
                        <a:lumMod val="50000"/>
                      </a:schemeClr>
                    </a:solidFill>
                    <a:ea typeface="Cambria Math" panose="02040503050406030204" pitchFamily="18" charset="0"/>
                  </a:rPr>
                  <a:t>For passing marks</a:t>
                </a:r>
                <a:r>
                  <a:rPr lang="en-US" sz="2800" dirty="0">
                    <a:solidFill>
                      <a:schemeClr val="tx2">
                        <a:lumMod val="50000"/>
                      </a:schemeClr>
                    </a:solidFill>
                    <a:latin typeface="Cambria Math" panose="02040503050406030204" pitchFamily="18" charset="0"/>
                    <a:ea typeface="Cambria Math" panose="02040503050406030204" pitchFamily="18" charset="0"/>
                  </a:rPr>
                  <a:t> 40,  </a:t>
                </a:r>
                <a14:m>
                  <m:oMath xmlns:m="http://schemas.openxmlformats.org/officeDocument/2006/math">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125</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1</m:t>
                          </m:r>
                        </m:sub>
                      </m:sSub>
                      <m:r>
                        <a:rPr lang="en-US" sz="2800" b="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x</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num>
                        <m:den>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125</m:t>
                    </m:r>
                    <m:r>
                      <a:rPr lang="en-US" sz="2800" b="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1">
                            <a:solidFill>
                              <a:schemeClr val="tx2">
                                <a:lumMod val="50000"/>
                              </a:schemeClr>
                            </a:solidFill>
                            <a:latin typeface="Cambria Math" panose="02040503050406030204" pitchFamily="18" charset="0"/>
                            <a:ea typeface="Cambria Math" panose="02040503050406030204" pitchFamily="18" charset="0"/>
                          </a:rPr>
                          <m:t>40</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num>
                      <m:den>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den>
                    </m:f>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40</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r>
                      <a:rPr lang="en-US" sz="2800" b="0">
                        <a:solidFill>
                          <a:schemeClr val="tx2">
                            <a:lumMod val="50000"/>
                          </a:schemeClr>
                        </a:solidFill>
                        <a:latin typeface="Cambria Math" panose="02040503050406030204" pitchFamily="18" charset="0"/>
                        <a:ea typeface="Cambria Math" panose="02040503050406030204" pitchFamily="18" charset="0"/>
                      </a:rPr>
                      <m:t>=</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125</m:t>
                        </m:r>
                      </m:e>
                    </m:d>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oMath>
                </a14:m>
                <a:r>
                  <a:rPr lang="en-US" sz="2800" dirty="0">
                    <a:solidFill>
                      <a:schemeClr val="tx2">
                        <a:lumMod val="50000"/>
                      </a:schemeClr>
                    </a:solidFill>
                    <a:latin typeface="Cambria Math" panose="02040503050406030204" pitchFamily="18" charset="0"/>
                    <a:ea typeface="Cambria Math" panose="02040503050406030204" pitchFamily="18" charset="0"/>
                  </a:rPr>
                  <a:t> -------- (1)</a:t>
                </a:r>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3404971"/>
              </a:xfrm>
              <a:prstGeom prst="rect">
                <a:avLst/>
              </a:prstGeom>
              <a:blipFill rotWithShape="0">
                <a:blip r:embed="rId2"/>
                <a:stretch>
                  <a:fillRect l="-1067" t="-1792"/>
                </a:stretch>
              </a:blipFill>
            </p:spPr>
            <p:txBody>
              <a:bodyPr/>
              <a:lstStyle/>
              <a:p>
                <a:r>
                  <a:rPr lang="en-IN">
                    <a:noFill/>
                  </a:rPr>
                  <a:t> </a:t>
                </a:r>
              </a:p>
            </p:txBody>
          </p:sp>
        </mc:Fallback>
      </mc:AlternateContent>
    </p:spTree>
    <p:extLst>
      <p:ext uri="{BB962C8B-B14F-4D97-AF65-F5344CB8AC3E}">
        <p14:creationId xmlns:p14="http://schemas.microsoft.com/office/powerpoint/2010/main" val="92343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8" y="785953"/>
                <a:ext cx="11998123" cy="3629648"/>
              </a:xfrm>
              <a:prstGeom prst="rect">
                <a:avLst/>
              </a:prstGeom>
            </p:spPr>
            <p:txBody>
              <a:bodyPr wrap="square">
                <a:spAutoFit/>
              </a:bodyPr>
              <a:lstStyle/>
              <a:p>
                <a:r>
                  <a:rPr lang="en-US" sz="2800" dirty="0">
                    <a:solidFill>
                      <a:srgbClr val="FF0000"/>
                    </a:solidFill>
                    <a:ea typeface="Cambria Math" panose="02040503050406030204" pitchFamily="18" charset="0"/>
                  </a:rPr>
                  <a:t>To find average marks </a:t>
                </a:r>
                <a14:m>
                  <m:oMath xmlns:m="http://schemas.openxmlformats.org/officeDocument/2006/math">
                    <m:r>
                      <a:rPr lang="en-US" sz="2800" b="0" i="0">
                        <a:solidFill>
                          <a:srgbClr val="FF0000"/>
                        </a:solidFill>
                        <a:latin typeface="Cambria Math" panose="02040503050406030204" pitchFamily="18" charset="0"/>
                        <a:ea typeface="Cambria Math" panose="02040503050406030204" pitchFamily="18" charset="0"/>
                      </a:rPr>
                      <m:t>(</m:t>
                    </m:r>
                    <m:r>
                      <m:rPr>
                        <m:sty m:val="p"/>
                      </m:rPr>
                      <a:rPr lang="en-US" sz="2800" b="0" i="0">
                        <a:solidFill>
                          <a:srgbClr val="FF0000"/>
                        </a:solidFill>
                        <a:latin typeface="Cambria Math" panose="02040503050406030204" pitchFamily="18" charset="0"/>
                        <a:ea typeface="Cambria Math" panose="02040503050406030204" pitchFamily="18" charset="0"/>
                      </a:rPr>
                      <m:t>μ</m:t>
                    </m:r>
                    <m:r>
                      <a:rPr lang="en-US" sz="2800" b="0" i="0">
                        <a:solidFill>
                          <a:srgbClr val="FF0000"/>
                        </a:solidFill>
                        <a:latin typeface="Cambria Math" panose="02040503050406030204" pitchFamily="18" charset="0"/>
                        <a:ea typeface="Cambria Math" panose="02040503050406030204" pitchFamily="18" charset="0"/>
                      </a:rPr>
                      <m:t>)</m:t>
                    </m:r>
                  </m:oMath>
                </a14:m>
                <a:r>
                  <a:rPr lang="en-US" sz="2800" dirty="0">
                    <a:solidFill>
                      <a:srgbClr val="FF0000"/>
                    </a:solidFill>
                    <a:ea typeface="Cambria Math" panose="02040503050406030204" pitchFamily="18" charset="0"/>
                  </a:rPr>
                  <a:t> and standard deviation </a:t>
                </a:r>
                <a14:m>
                  <m:oMath xmlns:m="http://schemas.openxmlformats.org/officeDocument/2006/math">
                    <m:r>
                      <a:rPr lang="en-US" sz="2800" b="0" i="0">
                        <a:solidFill>
                          <a:srgbClr val="FF0000"/>
                        </a:solidFill>
                        <a:latin typeface="Cambria Math" panose="02040503050406030204" pitchFamily="18" charset="0"/>
                        <a:ea typeface="Cambria Math" panose="02040503050406030204" pitchFamily="18" charset="0"/>
                      </a:rPr>
                      <m:t>(</m:t>
                    </m:r>
                    <m:r>
                      <m:rPr>
                        <m:sty m:val="p"/>
                      </m:rPr>
                      <a:rPr lang="en-US" sz="2800" b="0" i="0">
                        <a:solidFill>
                          <a:srgbClr val="FF0000"/>
                        </a:solidFill>
                        <a:latin typeface="Cambria Math" panose="02040503050406030204" pitchFamily="18" charset="0"/>
                        <a:ea typeface="Cambria Math" panose="02040503050406030204" pitchFamily="18" charset="0"/>
                      </a:rPr>
                      <m:t>σ</m:t>
                    </m:r>
                    <m:r>
                      <a:rPr lang="en-US" sz="2800" b="0" i="0">
                        <a:solidFill>
                          <a:srgbClr val="FF0000"/>
                        </a:solidFill>
                        <a:latin typeface="Cambria Math" panose="02040503050406030204" pitchFamily="18" charset="0"/>
                        <a:ea typeface="Cambria Math" panose="02040503050406030204" pitchFamily="18" charset="0"/>
                      </a:rPr>
                      <m:t>)</m:t>
                    </m:r>
                  </m:oMath>
                </a14:m>
                <a:endParaRPr lang="en-IN" sz="2800" dirty="0">
                  <a:solidFill>
                    <a:srgbClr val="FF0000"/>
                  </a:solidFill>
                  <a:latin typeface="Cambria Math" panose="02040503050406030204" pitchFamily="18" charset="0"/>
                  <a:ea typeface="Cambria Math" panose="02040503050406030204" pitchFamily="18" charset="0"/>
                </a:endParaRPr>
              </a:p>
              <a:p>
                <a:endParaRPr lang="en-IN" sz="2800" dirty="0">
                  <a:solidFill>
                    <a:srgbClr val="FF0000"/>
                  </a:solidFill>
                  <a:latin typeface="Cambria Math" panose="02040503050406030204" pitchFamily="18" charset="0"/>
                  <a:ea typeface="Cambria Math" panose="02040503050406030204" pitchFamily="18" charset="0"/>
                </a:endParaRPr>
              </a:p>
              <a:p>
                <a:pPr>
                  <a:lnSpc>
                    <a:spcPct val="150000"/>
                  </a:lnSpc>
                </a:pPr>
                <a:r>
                  <a:rPr lang="en-US" sz="2800" dirty="0">
                    <a:solidFill>
                      <a:schemeClr val="tx2">
                        <a:lumMod val="50000"/>
                      </a:schemeClr>
                    </a:solidFill>
                    <a:ea typeface="Cambria Math" panose="02040503050406030204" pitchFamily="18" charset="0"/>
                  </a:rPr>
                  <a:t>For distinction</a:t>
                </a:r>
                <a:r>
                  <a:rPr lang="en-US" sz="2800" dirty="0">
                    <a:solidFill>
                      <a:schemeClr val="tx2">
                        <a:lumMod val="50000"/>
                      </a:schemeClr>
                    </a:solidFill>
                    <a:latin typeface="Cambria Math" panose="02040503050406030204" pitchFamily="18" charset="0"/>
                    <a:ea typeface="Cambria Math" panose="02040503050406030204" pitchFamily="18" charset="0"/>
                  </a:rPr>
                  <a:t>, 75 </a:t>
                </a:r>
                <a:r>
                  <a:rPr lang="en-US" sz="2800" dirty="0">
                    <a:solidFill>
                      <a:schemeClr val="tx2">
                        <a:lumMod val="50000"/>
                      </a:schemeClr>
                    </a:solidFill>
                    <a:ea typeface="Cambria Math" panose="02040503050406030204" pitchFamily="18" charset="0"/>
                  </a:rPr>
                  <a:t>marks are required</a:t>
                </a:r>
                <a:r>
                  <a:rPr lang="en-US" sz="2800" dirty="0">
                    <a:solidFill>
                      <a:schemeClr val="tx2">
                        <a:lumMod val="50000"/>
                      </a:schemeClr>
                    </a:solidFill>
                    <a:latin typeface="Cambria Math" panose="02040503050406030204" pitchFamily="18" charset="0"/>
                    <a:ea typeface="Cambria Math" panose="02040503050406030204" pitchFamily="18" charset="0"/>
                  </a:rPr>
                  <a:t>,  </a:t>
                </a:r>
                <a14:m>
                  <m:oMath xmlns:m="http://schemas.openxmlformats.org/officeDocument/2006/math">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34</m:t>
                    </m:r>
                  </m:oMath>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sSub>
                        <m:sSubPr>
                          <m:ctrlPr>
                            <a:rPr lang="en-IN" sz="2800" i="1">
                              <a:solidFill>
                                <a:schemeClr val="tx2">
                                  <a:lumMod val="50000"/>
                                </a:schemeClr>
                              </a:solidFill>
                              <a:latin typeface="Cambria Math" panose="02040503050406030204" pitchFamily="18" charset="0"/>
                              <a:ea typeface="Cambria Math" panose="02040503050406030204" pitchFamily="18" charset="0"/>
                            </a:rPr>
                          </m:ctrlPr>
                        </m:sSubPr>
                        <m:e>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z</m:t>
                          </m:r>
                        </m:e>
                        <m:sub>
                          <m:r>
                            <a:rPr lang="en-US" sz="2800" b="0" i="1">
                              <a:solidFill>
                                <a:schemeClr val="tx2">
                                  <a:lumMod val="50000"/>
                                </a:schemeClr>
                              </a:solidFill>
                              <a:latin typeface="Cambria Math" panose="02040503050406030204" pitchFamily="18" charset="0"/>
                              <a:ea typeface="Cambria Math" panose="02040503050406030204" pitchFamily="18" charset="0"/>
                            </a:rPr>
                            <m:t>2</m:t>
                          </m:r>
                        </m:sub>
                      </m:sSub>
                      <m:r>
                        <a:rPr lang="en-US" sz="2800" b="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x</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num>
                        <m:den>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den>
                      </m:f>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34</m:t>
                    </m:r>
                    <m:r>
                      <a:rPr lang="en-US" sz="2800" b="0">
                        <a:solidFill>
                          <a:schemeClr val="tx2">
                            <a:lumMod val="50000"/>
                          </a:schemeClr>
                        </a:solidFill>
                        <a:latin typeface="Cambria Math" panose="02040503050406030204" pitchFamily="18" charset="0"/>
                        <a:ea typeface="Cambria Math" panose="02040503050406030204" pitchFamily="18" charset="0"/>
                      </a:rPr>
                      <m:t>=</m:t>
                    </m:r>
                    <m:f>
                      <m:fPr>
                        <m:ctrlPr>
                          <a:rPr lang="en-IN" sz="2800" i="1">
                            <a:solidFill>
                              <a:schemeClr val="tx2">
                                <a:lumMod val="50000"/>
                              </a:schemeClr>
                            </a:solidFill>
                            <a:latin typeface="Cambria Math" panose="02040503050406030204" pitchFamily="18" charset="0"/>
                            <a:ea typeface="Cambria Math" panose="02040503050406030204" pitchFamily="18" charset="0"/>
                          </a:rPr>
                        </m:ctrlPr>
                      </m:fPr>
                      <m:num>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num>
                      <m:den>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den>
                    </m:f>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r>
                      <a:rPr lang="en-US" sz="2800" b="0">
                        <a:solidFill>
                          <a:schemeClr val="tx2">
                            <a:lumMod val="50000"/>
                          </a:schemeClr>
                        </a:solidFill>
                        <a:latin typeface="Cambria Math" panose="02040503050406030204" pitchFamily="18" charset="0"/>
                        <a:ea typeface="Cambria Math" panose="02040503050406030204" pitchFamily="18" charset="0"/>
                      </a:rPr>
                      <m:t>=</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34</m:t>
                        </m:r>
                      </m:e>
                    </m:d>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oMath>
                </a14:m>
                <a:r>
                  <a:rPr lang="en-US" sz="2800" dirty="0">
                    <a:solidFill>
                      <a:schemeClr val="tx2">
                        <a:lumMod val="50000"/>
                      </a:schemeClr>
                    </a:solidFill>
                    <a:latin typeface="Cambria Math" panose="02040503050406030204" pitchFamily="18" charset="0"/>
                    <a:ea typeface="Cambria Math" panose="02040503050406030204" pitchFamily="18" charset="0"/>
                  </a:rPr>
                  <a:t>  ---- (2)</a:t>
                </a:r>
                <a:endParaRPr lang="en-IN" sz="2800"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8" y="785953"/>
                <a:ext cx="11998123" cy="3629648"/>
              </a:xfrm>
              <a:prstGeom prst="rect">
                <a:avLst/>
              </a:prstGeom>
              <a:blipFill rotWithShape="0">
                <a:blip r:embed="rId2"/>
                <a:stretch>
                  <a:fillRect l="-1067" t="-1681"/>
                </a:stretch>
              </a:blipFill>
            </p:spPr>
            <p:txBody>
              <a:bodyPr/>
              <a:lstStyle/>
              <a:p>
                <a:r>
                  <a:rPr lang="en-IN">
                    <a:noFill/>
                  </a:rPr>
                  <a:t> </a:t>
                </a:r>
              </a:p>
            </p:txBody>
          </p:sp>
        </mc:Fallback>
      </mc:AlternateContent>
    </p:spTree>
    <p:extLst>
      <p:ext uri="{BB962C8B-B14F-4D97-AF65-F5344CB8AC3E}">
        <p14:creationId xmlns:p14="http://schemas.microsoft.com/office/powerpoint/2010/main" val="333754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 4 ⇝ Example 7 (Continue)</a:t>
            </a:r>
            <a:endParaRPr lang="en-US" dirty="0"/>
          </a:p>
        </p:txBody>
      </p:sp>
      <mc:AlternateContent xmlns:mc="http://schemas.openxmlformats.org/markup-compatibility/2006" xmlns:a14="http://schemas.microsoft.com/office/drawing/2010/main">
        <mc:Choice Requires="a14">
          <p:sp>
            <p:nvSpPr>
              <p:cNvPr id="3" name="Rectangle 2"/>
              <p:cNvSpPr/>
              <p:nvPr/>
            </p:nvSpPr>
            <p:spPr>
              <a:xfrm>
                <a:off x="96939" y="785953"/>
                <a:ext cx="4475062" cy="5047536"/>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To solve equation</a:t>
                </a:r>
                <a:r>
                  <a:rPr lang="en-US" sz="2800" dirty="0">
                    <a:solidFill>
                      <a:schemeClr val="tx2">
                        <a:lumMod val="50000"/>
                      </a:schemeClr>
                    </a:solidFill>
                    <a:latin typeface="Cambria Math" panose="02040503050406030204" pitchFamily="18" charset="0"/>
                    <a:ea typeface="Cambria Math" panose="02040503050406030204" pitchFamily="18" charset="0"/>
                  </a:rPr>
                  <a:t> (1) &amp; (2), </a:t>
                </a:r>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r>
                  <a:rPr lang="en-US" sz="2800" dirty="0">
                    <a:solidFill>
                      <a:schemeClr val="tx2">
                        <a:lumMod val="50000"/>
                      </a:schemeClr>
                    </a:solidFill>
                    <a:ea typeface="Cambria Math" panose="02040503050406030204" pitchFamily="18" charset="0"/>
                  </a:rPr>
                  <a:t>Consider [</a:t>
                </a:r>
                <a:r>
                  <a:rPr lang="en-US" sz="2800" dirty="0" err="1">
                    <a:solidFill>
                      <a:schemeClr val="tx2">
                        <a:lumMod val="50000"/>
                      </a:schemeClr>
                    </a:solidFill>
                    <a:ea typeface="Cambria Math" panose="02040503050406030204" pitchFamily="18" charset="0"/>
                  </a:rPr>
                  <a:t>eq</a:t>
                </a:r>
                <a:r>
                  <a:rPr lang="en-US" sz="2800" dirty="0">
                    <a:solidFill>
                      <a:schemeClr val="tx2">
                        <a:lumMod val="50000"/>
                      </a:schemeClr>
                    </a:solidFill>
                    <a:ea typeface="Cambria Math" panose="02040503050406030204" pitchFamily="18" charset="0"/>
                  </a:rPr>
                  <a:t> (2) – </a:t>
                </a:r>
                <a:r>
                  <a:rPr lang="en-US" sz="2800" dirty="0" err="1">
                    <a:solidFill>
                      <a:schemeClr val="tx2">
                        <a:lumMod val="50000"/>
                      </a:schemeClr>
                    </a:solidFill>
                    <a:ea typeface="Cambria Math" panose="02040503050406030204" pitchFamily="18" charset="0"/>
                  </a:rPr>
                  <a:t>eq</a:t>
                </a:r>
                <a:r>
                  <a:rPr lang="en-US" sz="2800" dirty="0">
                    <a:solidFill>
                      <a:schemeClr val="tx2">
                        <a:lumMod val="50000"/>
                      </a:schemeClr>
                    </a:solidFill>
                    <a:ea typeface="Cambria Math" panose="02040503050406030204" pitchFamily="18" charset="0"/>
                  </a:rPr>
                  <a:t> (1)]</a:t>
                </a:r>
              </a:p>
              <a:p>
                <a:pPr>
                  <a:lnSpc>
                    <a:spcPct val="150000"/>
                  </a:lnSpc>
                </a:pPr>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75</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r>
                        <a:rPr lang="en-US" sz="2800" b="0">
                          <a:solidFill>
                            <a:schemeClr val="tx2">
                              <a:lumMod val="50000"/>
                            </a:schemeClr>
                          </a:solidFill>
                          <a:latin typeface="Cambria Math" panose="02040503050406030204" pitchFamily="18" charset="0"/>
                          <a:ea typeface="Cambria Math" panose="02040503050406030204" pitchFamily="18" charset="0"/>
                        </a:rPr>
                        <m:t>=</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1</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34</m:t>
                          </m:r>
                        </m:e>
                      </m:d>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800" i="1" dirty="0" smtClean="0">
                          <a:solidFill>
                            <a:schemeClr val="tx2">
                              <a:lumMod val="50000"/>
                            </a:schemeClr>
                          </a:solidFill>
                          <a:latin typeface="Cambria Math" panose="02040503050406030204" pitchFamily="18" charset="0"/>
                          <a:ea typeface="Cambria Math" panose="02040503050406030204" pitchFamily="18" charset="0"/>
                        </a:rPr>
                        <m:t>−</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800">
                          <a:solidFill>
                            <a:schemeClr val="tx2">
                              <a:lumMod val="50000"/>
                            </a:schemeClr>
                          </a:solidFill>
                          <a:latin typeface="Cambria Math" panose="02040503050406030204" pitchFamily="18" charset="0"/>
                          <a:ea typeface="Cambria Math" panose="02040503050406030204" pitchFamily="18" charset="0"/>
                        </a:rPr>
                        <m:t>40−</m:t>
                      </m:r>
                      <m:r>
                        <m:rPr>
                          <m:sty m:val="p"/>
                        </m:rPr>
                        <a:rPr lang="en-US" sz="2800">
                          <a:solidFill>
                            <a:schemeClr val="tx2">
                              <a:lumMod val="50000"/>
                            </a:schemeClr>
                          </a:solidFill>
                          <a:latin typeface="Cambria Math" panose="02040503050406030204" pitchFamily="18" charset="0"/>
                          <a:ea typeface="Cambria Math" panose="02040503050406030204" pitchFamily="18" charset="0"/>
                        </a:rPr>
                        <m:t>μ</m:t>
                      </m:r>
                      <m:r>
                        <a:rPr lang="en-US" sz="2800">
                          <a:solidFill>
                            <a:schemeClr val="tx2">
                              <a:lumMod val="50000"/>
                            </a:schemeClr>
                          </a:solidFill>
                          <a:latin typeface="Cambria Math" panose="02040503050406030204" pitchFamily="18" charset="0"/>
                          <a:ea typeface="Cambria Math" panose="02040503050406030204" pitchFamily="18" charset="0"/>
                        </a:rPr>
                        <m:t>=</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a:solidFill>
                                <a:schemeClr val="tx2">
                                  <a:lumMod val="50000"/>
                                </a:schemeClr>
                              </a:solidFill>
                              <a:latin typeface="Cambria Math" panose="02040503050406030204" pitchFamily="18" charset="0"/>
                              <a:ea typeface="Cambria Math" panose="02040503050406030204" pitchFamily="18" charset="0"/>
                            </a:rPr>
                            <m:t>0.125</m:t>
                          </m:r>
                        </m:e>
                      </m:d>
                      <m:r>
                        <m:rPr>
                          <m:sty m:val="p"/>
                        </m:rPr>
                        <a:rPr lang="en-US" sz="2800">
                          <a:solidFill>
                            <a:schemeClr val="tx2">
                              <a:lumMod val="50000"/>
                            </a:schemeClr>
                          </a:solidFill>
                          <a:latin typeface="Cambria Math" panose="02040503050406030204" pitchFamily="18" charset="0"/>
                          <a:ea typeface="Cambria Math" panose="02040503050406030204" pitchFamily="18" charset="0"/>
                        </a:rPr>
                        <m:t>σ</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800" b="0" i="0">
                          <a:solidFill>
                            <a:schemeClr val="tx2">
                              <a:lumMod val="50000"/>
                            </a:schemeClr>
                          </a:solidFill>
                          <a:latin typeface="Cambria Math" panose="02040503050406030204" pitchFamily="18" charset="0"/>
                          <a:ea typeface="Cambria Math" panose="02040503050406030204" pitchFamily="18" charset="0"/>
                        </a:rPr>
                        <m:t>35=</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0">
                              <a:solidFill>
                                <a:schemeClr val="tx2">
                                  <a:lumMod val="50000"/>
                                </a:schemeClr>
                              </a:solidFill>
                              <a:latin typeface="Cambria Math" panose="02040503050406030204" pitchFamily="18" charset="0"/>
                              <a:ea typeface="Cambria Math" panose="02040503050406030204" pitchFamily="18" charset="0"/>
                            </a:rPr>
                            <m:t>1.215</m:t>
                          </m:r>
                        </m:e>
                      </m:d>
                      <m:r>
                        <m:rPr>
                          <m:sty m:val="p"/>
                        </m:rPr>
                        <a:rPr lang="en-US" sz="2800" b="0" i="0">
                          <a:solidFill>
                            <a:schemeClr val="tx2">
                              <a:lumMod val="50000"/>
                            </a:schemeClr>
                          </a:solidFill>
                          <a:latin typeface="Cambria Math" panose="02040503050406030204" pitchFamily="18" charset="0"/>
                          <a:ea typeface="Cambria Math" panose="02040503050406030204" pitchFamily="18" charset="0"/>
                        </a:rPr>
                        <m:t>σ</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800" i="1">
                          <a:solidFill>
                            <a:schemeClr val="tx2">
                              <a:lumMod val="50000"/>
                            </a:schemeClr>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𝛔</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𝟐𝟖</m:t>
                      </m:r>
                      <m:r>
                        <a:rPr lang="en-US" sz="2800" b="1" i="0" smtClean="0">
                          <a:solidFill>
                            <a:srgbClr val="FF0000"/>
                          </a:solidFill>
                          <a:latin typeface="Cambria Math" panose="02040503050406030204" pitchFamily="18" charset="0"/>
                          <a:ea typeface="Cambria Math" panose="02040503050406030204" pitchFamily="18" charset="0"/>
                        </a:rPr>
                        <m:t>.</m:t>
                      </m:r>
                      <m:r>
                        <a:rPr lang="en-US" sz="2800" b="1" i="0" smtClean="0">
                          <a:solidFill>
                            <a:srgbClr val="FF0000"/>
                          </a:solidFill>
                          <a:latin typeface="Cambria Math" panose="02040503050406030204" pitchFamily="18" charset="0"/>
                          <a:ea typeface="Cambria Math" panose="02040503050406030204" pitchFamily="18" charset="0"/>
                        </a:rPr>
                        <m:t>𝟖𝟏</m:t>
                      </m:r>
                    </m:oMath>
                  </m:oMathPara>
                </a14:m>
                <a:endParaRPr lang="en-IN" sz="2800" b="1"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96939" y="785953"/>
                <a:ext cx="4475062" cy="5047536"/>
              </a:xfrm>
              <a:prstGeom prst="rect">
                <a:avLst/>
              </a:prstGeom>
              <a:blipFill rotWithShape="0">
                <a:blip r:embed="rId2"/>
                <a:stretch>
                  <a:fillRect l="-2861"/>
                </a:stretch>
              </a:blipFill>
            </p:spPr>
            <p:txBody>
              <a:bodyPr/>
              <a:lstStyle/>
              <a:p>
                <a:r>
                  <a:rPr lang="en-IN">
                    <a:noFill/>
                  </a:rPr>
                  <a:t> </a:t>
                </a:r>
              </a:p>
            </p:txBody>
          </p:sp>
        </mc:Fallback>
      </mc:AlternateContent>
      <p:cxnSp>
        <p:nvCxnSpPr>
          <p:cNvPr id="11" name="Straight Connector 10"/>
          <p:cNvCxnSpPr/>
          <p:nvPr/>
        </p:nvCxnSpPr>
        <p:spPr>
          <a:xfrm>
            <a:off x="154546" y="4134118"/>
            <a:ext cx="2923505" cy="0"/>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215944" y="736959"/>
            <a:ext cx="0" cy="5779751"/>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p:cNvSpPr/>
              <p:nvPr/>
            </p:nvSpPr>
            <p:spPr>
              <a:xfrm>
                <a:off x="5510452" y="949178"/>
                <a:ext cx="6522522" cy="3323987"/>
              </a:xfrm>
              <a:prstGeom prst="rect">
                <a:avLst/>
              </a:prstGeom>
            </p:spPr>
            <p:txBody>
              <a:bodyPr wrap="square">
                <a:spAutoFit/>
              </a:bodyPr>
              <a:lstStyle/>
              <a:p>
                <a:pPr>
                  <a:lnSpc>
                    <a:spcPct val="150000"/>
                  </a:lnSpc>
                </a:pPr>
                <a:r>
                  <a:rPr lang="en-US" sz="2800" dirty="0">
                    <a:solidFill>
                      <a:schemeClr val="tx2">
                        <a:lumMod val="50000"/>
                      </a:schemeClr>
                    </a:solidFill>
                    <a:ea typeface="Cambria Math" panose="02040503050406030204" pitchFamily="18" charset="0"/>
                  </a:rPr>
                  <a:t>Now, substitute </a:t>
                </a:r>
                <a14:m>
                  <m:oMath xmlns:m="http://schemas.openxmlformats.org/officeDocument/2006/math">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28</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81</m:t>
                    </m:r>
                  </m:oMath>
                </a14:m>
                <a:r>
                  <a:rPr lang="en-US" sz="2800" dirty="0">
                    <a:solidFill>
                      <a:schemeClr val="tx2">
                        <a:lumMod val="50000"/>
                      </a:schemeClr>
                    </a:solidFill>
                    <a:latin typeface="Cambria Math" panose="02040503050406030204" pitchFamily="18" charset="0"/>
                    <a:ea typeface="Cambria Math" panose="02040503050406030204" pitchFamily="18" charset="0"/>
                  </a:rPr>
                  <a:t> </a:t>
                </a:r>
                <a:r>
                  <a:rPr lang="en-US" sz="2800" dirty="0">
                    <a:solidFill>
                      <a:schemeClr val="tx2">
                        <a:lumMod val="50000"/>
                      </a:schemeClr>
                    </a:solidFill>
                    <a:ea typeface="Cambria Math" panose="02040503050406030204" pitchFamily="18" charset="0"/>
                  </a:rPr>
                  <a:t>in equation (1)</a:t>
                </a:r>
                <a:endParaRPr lang="en-IN" sz="2800" dirty="0">
                  <a:solidFill>
                    <a:schemeClr val="tx2">
                      <a:lumMod val="50000"/>
                    </a:schemeClr>
                  </a:solidFill>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40</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r>
                        <a:rPr lang="en-US" sz="2800" b="0">
                          <a:solidFill>
                            <a:schemeClr val="tx2">
                              <a:lumMod val="50000"/>
                            </a:schemeClr>
                          </a:solidFill>
                          <a:latin typeface="Cambria Math" panose="02040503050406030204" pitchFamily="18" charset="0"/>
                          <a:ea typeface="Cambria Math" panose="02040503050406030204" pitchFamily="18" charset="0"/>
                        </a:rPr>
                        <m:t>=</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125</m:t>
                          </m:r>
                        </m:e>
                      </m:d>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σ</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40</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r>
                        <a:rPr lang="en-US" sz="2800" b="0">
                          <a:solidFill>
                            <a:schemeClr val="tx2">
                              <a:lumMod val="50000"/>
                            </a:schemeClr>
                          </a:solidFill>
                          <a:latin typeface="Cambria Math" panose="02040503050406030204" pitchFamily="18" charset="0"/>
                          <a:ea typeface="Cambria Math" panose="02040503050406030204" pitchFamily="18" charset="0"/>
                        </a:rPr>
                        <m:t>=</m:t>
                      </m:r>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0</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125</m:t>
                          </m:r>
                        </m:e>
                      </m:d>
                      <m:d>
                        <m:dPr>
                          <m:ctrlPr>
                            <a:rPr lang="en-IN" sz="2800" i="1">
                              <a:solidFill>
                                <a:schemeClr val="tx2">
                                  <a:lumMod val="50000"/>
                                </a:schemeClr>
                              </a:solidFill>
                              <a:latin typeface="Cambria Math" panose="02040503050406030204" pitchFamily="18" charset="0"/>
                              <a:ea typeface="Cambria Math" panose="02040503050406030204" pitchFamily="18" charset="0"/>
                            </a:rPr>
                          </m:ctrlPr>
                        </m:dPr>
                        <m:e>
                          <m:r>
                            <a:rPr lang="en-US" sz="2800" b="0" i="1">
                              <a:solidFill>
                                <a:schemeClr val="tx2">
                                  <a:lumMod val="50000"/>
                                </a:schemeClr>
                              </a:solidFill>
                              <a:latin typeface="Cambria Math" panose="02040503050406030204" pitchFamily="18" charset="0"/>
                              <a:ea typeface="Cambria Math" panose="02040503050406030204" pitchFamily="18" charset="0"/>
                            </a:rPr>
                            <m:t>28</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81</m:t>
                          </m:r>
                        </m:e>
                      </m:d>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b="0" i="1">
                          <a:solidFill>
                            <a:schemeClr val="tx2">
                              <a:lumMod val="50000"/>
                            </a:schemeClr>
                          </a:solidFill>
                          <a:latin typeface="Cambria Math" panose="02040503050406030204" pitchFamily="18" charset="0"/>
                          <a:ea typeface="Cambria Math" panose="02040503050406030204" pitchFamily="18" charset="0"/>
                        </a:rPr>
                        <m:t>40</m:t>
                      </m:r>
                      <m:r>
                        <a:rPr lang="en-US" sz="2800" b="0">
                          <a:solidFill>
                            <a:schemeClr val="tx2">
                              <a:lumMod val="50000"/>
                            </a:schemeClr>
                          </a:solidFill>
                          <a:latin typeface="Cambria Math" panose="02040503050406030204" pitchFamily="18" charset="0"/>
                          <a:ea typeface="Cambria Math" panose="02040503050406030204" pitchFamily="18" charset="0"/>
                        </a:rPr>
                        <m:t>−</m:t>
                      </m:r>
                      <m:r>
                        <m:rPr>
                          <m:sty m:val="p"/>
                        </m:rPr>
                        <a:rPr lang="en-US" sz="2800" b="0" i="1">
                          <a:solidFill>
                            <a:schemeClr val="tx2">
                              <a:lumMod val="50000"/>
                            </a:schemeClr>
                          </a:solidFill>
                          <a:latin typeface="Cambria Math" panose="02040503050406030204" pitchFamily="18" charset="0"/>
                          <a:ea typeface="Cambria Math" panose="02040503050406030204" pitchFamily="18" charset="0"/>
                        </a:rPr>
                        <m:t>μ</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3</m:t>
                      </m:r>
                      <m:r>
                        <a:rPr lang="en-US" sz="2800" b="0">
                          <a:solidFill>
                            <a:schemeClr val="tx2">
                              <a:lumMod val="50000"/>
                            </a:schemeClr>
                          </a:solidFill>
                          <a:latin typeface="Cambria Math" panose="02040503050406030204" pitchFamily="18" charset="0"/>
                          <a:ea typeface="Cambria Math" panose="02040503050406030204" pitchFamily="18" charset="0"/>
                        </a:rPr>
                        <m:t>.</m:t>
                      </m:r>
                      <m:r>
                        <a:rPr lang="en-US" sz="2800" b="0" i="1">
                          <a:solidFill>
                            <a:schemeClr val="tx2">
                              <a:lumMod val="50000"/>
                            </a:schemeClr>
                          </a:solidFill>
                          <a:latin typeface="Cambria Math" panose="02040503050406030204" pitchFamily="18" charset="0"/>
                          <a:ea typeface="Cambria Math" panose="02040503050406030204" pitchFamily="18" charset="0"/>
                        </a:rPr>
                        <m:t>60125</m:t>
                      </m:r>
                    </m:oMath>
                  </m:oMathPara>
                </a14:m>
                <a:endParaRPr lang="en-IN" sz="2800" dirty="0">
                  <a:solidFill>
                    <a:schemeClr val="tx2">
                      <a:lumMod val="50000"/>
                    </a:schemeClr>
                  </a:solidFill>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xmlns:m="http://schemas.openxmlformats.org/officeDocument/2006/math">
                      <m:r>
                        <a:rPr lang="en-US" sz="2800">
                          <a:solidFill>
                            <a:schemeClr val="tx2">
                              <a:lumMod val="50000"/>
                            </a:schemeClr>
                          </a:solidFill>
                          <a:latin typeface="Cambria Math" panose="02040503050406030204" pitchFamily="18" charset="0"/>
                          <a:ea typeface="Cambria Math" panose="02040503050406030204" pitchFamily="18" charset="0"/>
                        </a:rPr>
                        <m:t>⇒</m:t>
                      </m:r>
                      <m:r>
                        <a:rPr lang="en-US" sz="2800" b="1" i="1" smtClean="0">
                          <a:solidFill>
                            <a:srgbClr val="FF0000"/>
                          </a:solidFill>
                          <a:latin typeface="Cambria Math" panose="02040503050406030204" pitchFamily="18" charset="0"/>
                          <a:ea typeface="Cambria Math" panose="02040503050406030204" pitchFamily="18" charset="0"/>
                        </a:rPr>
                        <m:t>𝛍</m:t>
                      </m:r>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𝟑𝟔</m:t>
                      </m:r>
                      <m:r>
                        <a:rPr lang="en-US" sz="2800" b="1">
                          <a:solidFill>
                            <a:srgbClr val="FF0000"/>
                          </a:solidFill>
                          <a:latin typeface="Cambria Math" panose="02040503050406030204" pitchFamily="18" charset="0"/>
                          <a:ea typeface="Cambria Math" panose="02040503050406030204" pitchFamily="18" charset="0"/>
                        </a:rPr>
                        <m:t>.</m:t>
                      </m:r>
                      <m:r>
                        <a:rPr lang="en-US" sz="2800" b="1" i="1">
                          <a:solidFill>
                            <a:srgbClr val="FF0000"/>
                          </a:solidFill>
                          <a:latin typeface="Cambria Math" panose="02040503050406030204" pitchFamily="18" charset="0"/>
                          <a:ea typeface="Cambria Math" panose="02040503050406030204" pitchFamily="18" charset="0"/>
                        </a:rPr>
                        <m:t>𝟒𝟎</m:t>
                      </m:r>
                    </m:oMath>
                  </m:oMathPara>
                </a14:m>
                <a:endParaRPr lang="en-IN" sz="2800" b="1" dirty="0">
                  <a:solidFill>
                    <a:schemeClr val="tx2">
                      <a:lumMod val="50000"/>
                    </a:schemeClr>
                  </a:solidFill>
                  <a:latin typeface="Cambria Math" panose="02040503050406030204" pitchFamily="18" charset="0"/>
                  <a:ea typeface="Cambria Math" panose="02040503050406030204" pitchFamily="18" charset="0"/>
                </a:endParaRPr>
              </a:p>
            </p:txBody>
          </p:sp>
        </mc:Choice>
        <mc:Fallback xmlns="">
          <p:sp>
            <p:nvSpPr>
              <p:cNvPr id="17" name="Rectangle 16"/>
              <p:cNvSpPr>
                <a:spLocks noRot="1" noChangeAspect="1" noMove="1" noResize="1" noEditPoints="1" noAdjustHandles="1" noChangeArrowheads="1" noChangeShapeType="1" noTextEdit="1"/>
              </p:cNvSpPr>
              <p:nvPr/>
            </p:nvSpPr>
            <p:spPr>
              <a:xfrm>
                <a:off x="5510452" y="949178"/>
                <a:ext cx="6522522" cy="3323987"/>
              </a:xfrm>
              <a:prstGeom prst="rect">
                <a:avLst/>
              </a:prstGeom>
              <a:blipFill rotWithShape="0">
                <a:blip r:embed="rId3"/>
                <a:stretch>
                  <a:fillRect l="-1963"/>
                </a:stretch>
              </a:blipFill>
            </p:spPr>
            <p:txBody>
              <a:bodyPr/>
              <a:lstStyle/>
              <a:p>
                <a:r>
                  <a:rPr lang="en-IN">
                    <a:noFill/>
                  </a:rPr>
                  <a:t> </a:t>
                </a:r>
              </a:p>
            </p:txBody>
          </p:sp>
        </mc:Fallback>
      </mc:AlternateContent>
    </p:spTree>
    <p:extLst>
      <p:ext uri="{BB962C8B-B14F-4D97-AF65-F5344CB8AC3E}">
        <p14:creationId xmlns:p14="http://schemas.microsoft.com/office/powerpoint/2010/main" val="283641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up)">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a:t>Department of Humanities &amp; Science</a:t>
            </a:r>
            <a:endParaRPr lang="en-US" dirty="0"/>
          </a:p>
        </p:txBody>
      </p:sp>
      <p:sp>
        <p:nvSpPr>
          <p:cNvPr id="2" name="Text Placeholder 1">
            <a:extLst>
              <a:ext uri="{FF2B5EF4-FFF2-40B4-BE49-F238E27FC236}">
                <a16:creationId xmlns:a16="http://schemas.microsoft.com/office/drawing/2014/main" id="{F12C6FA8-76F5-4F55-873C-76674E986E27}"/>
              </a:ext>
            </a:extLst>
          </p:cNvPr>
          <p:cNvSpPr>
            <a:spLocks noGrp="1"/>
          </p:cNvSpPr>
          <p:nvPr>
            <p:ph type="body" sz="quarter" idx="16"/>
          </p:nvPr>
        </p:nvSpPr>
        <p:spPr/>
        <p:txBody>
          <a:bodyPr/>
          <a:lstStyle/>
          <a:p>
            <a:r>
              <a:rPr lang="en-IN"/>
              <a:t>Probability &amp; Statistics (PS)</a:t>
            </a:r>
          </a:p>
          <a:p>
            <a:r>
              <a:rPr lang="en-IN"/>
              <a:t>DU # 2301HS402</a:t>
            </a:r>
            <a:endParaRPr lang="en-IN" dirty="0"/>
          </a:p>
        </p:txBody>
      </p:sp>
      <p:pic>
        <p:nvPicPr>
          <p:cNvPr id="10" name="Picture Placeholder 9"/>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211251"/>
            <a:ext cx="1353599" cy="1353599"/>
          </a:xfrm>
        </p:spPr>
      </p:pic>
      <p:sp>
        <p:nvSpPr>
          <p:cNvPr id="9" name="Text Placeholder 8"/>
          <p:cNvSpPr>
            <a:spLocks noGrp="1"/>
          </p:cNvSpPr>
          <p:nvPr>
            <p:ph type="body" sz="quarter" idx="14"/>
          </p:nvPr>
        </p:nvSpPr>
        <p:spPr/>
        <p:txBody>
          <a:bodyPr vert="horz" lIns="91440" tIns="45720" rIns="91440" bIns="45720" rtlCol="0" anchor="b">
            <a:noAutofit/>
          </a:bodyPr>
          <a:lstStyle/>
          <a:p>
            <a:r>
              <a:rPr lang="en-IN" dirty="0" err="1">
                <a:gradFill flip="none" rotWithShape="1">
                  <a:gsLst>
                    <a:gs pos="10000">
                      <a:schemeClr val="accent6">
                        <a:lumMod val="50000"/>
                      </a:schemeClr>
                    </a:gs>
                    <a:gs pos="100000">
                      <a:schemeClr val="accent6"/>
                    </a:gs>
                  </a:gsLst>
                  <a:lin ang="0" scaled="1"/>
                  <a:tileRect/>
                </a:gradFill>
              </a:rPr>
              <a:t>Dr.</a:t>
            </a:r>
            <a:r>
              <a:rPr lang="en-IN" dirty="0">
                <a:gradFill flip="none" rotWithShape="1">
                  <a:gsLst>
                    <a:gs pos="10000">
                      <a:schemeClr val="accent6">
                        <a:lumMod val="50000"/>
                      </a:schemeClr>
                    </a:gs>
                    <a:gs pos="100000">
                      <a:schemeClr val="accent6"/>
                    </a:gs>
                  </a:gsLst>
                  <a:lin ang="0" scaled="1"/>
                  <a:tileRect/>
                </a:gradFill>
              </a:rPr>
              <a:t> Parag D. Ajani</a:t>
            </a:r>
          </a:p>
        </p:txBody>
      </p:sp>
      <p:sp>
        <p:nvSpPr>
          <p:cNvPr id="7" name="Text Placeholder 6"/>
          <p:cNvSpPr>
            <a:spLocks noGrp="1"/>
          </p:cNvSpPr>
          <p:nvPr>
            <p:ph type="body" sz="quarter" idx="11"/>
          </p:nvPr>
        </p:nvSpPr>
        <p:spPr/>
        <p:txBody>
          <a:bodyPr/>
          <a:lstStyle/>
          <a:p>
            <a:r>
              <a:rPr lang="en-IN" dirty="0"/>
              <a:t>parag.ajani@darshan.ac.in</a:t>
            </a:r>
          </a:p>
        </p:txBody>
      </p:sp>
      <p:sp>
        <p:nvSpPr>
          <p:cNvPr id="8" name="Text Placeholder 7"/>
          <p:cNvSpPr>
            <a:spLocks noGrp="1"/>
          </p:cNvSpPr>
          <p:nvPr>
            <p:ph type="body" sz="quarter" idx="12"/>
          </p:nvPr>
        </p:nvSpPr>
        <p:spPr/>
        <p:txBody>
          <a:bodyPr/>
          <a:lstStyle/>
          <a:p>
            <a:r>
              <a:rPr lang="en-IN" dirty="0"/>
              <a:t>9909986867</a:t>
            </a:r>
          </a:p>
        </p:txBody>
      </p:sp>
      <p:grpSp>
        <p:nvGrpSpPr>
          <p:cNvPr id="11" name="Group 10">
            <a:extLst>
              <a:ext uri="{FF2B5EF4-FFF2-40B4-BE49-F238E27FC236}">
                <a16:creationId xmlns:a16="http://schemas.microsoft.com/office/drawing/2014/main" id="{9677FDF1-46E9-47E1-A974-B878D8645D19}"/>
              </a:ext>
            </a:extLst>
          </p:cNvPr>
          <p:cNvGrpSpPr/>
          <p:nvPr/>
        </p:nvGrpSpPr>
        <p:grpSpPr>
          <a:xfrm>
            <a:off x="946" y="1462475"/>
            <a:ext cx="8044476" cy="3103418"/>
            <a:chOff x="-12804" y="1537545"/>
            <a:chExt cx="8044476" cy="3103418"/>
          </a:xfrm>
        </p:grpSpPr>
        <p:sp>
          <p:nvSpPr>
            <p:cNvPr id="12" name="Title 1">
              <a:extLst>
                <a:ext uri="{FF2B5EF4-FFF2-40B4-BE49-F238E27FC236}">
                  <a16:creationId xmlns:a16="http://schemas.microsoft.com/office/drawing/2014/main" id="{CA4DBECA-252D-4599-A864-6399BFFEB65B}"/>
                </a:ext>
              </a:extLst>
            </p:cNvPr>
            <p:cNvSpPr txBox="1">
              <a:spLocks/>
            </p:cNvSpPr>
            <p:nvPr/>
          </p:nvSpPr>
          <p:spPr>
            <a:xfrm>
              <a:off x="-12804" y="2160999"/>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sp>
          <p:nvSpPr>
            <p:cNvPr id="13" name="Hexagon 12">
              <a:extLst>
                <a:ext uri="{FF2B5EF4-FFF2-40B4-BE49-F238E27FC236}">
                  <a16:creationId xmlns:a16="http://schemas.microsoft.com/office/drawing/2014/main" id="{FB21F4C4-30D4-4011-8510-CF20FEFC370B}"/>
                </a:ext>
              </a:extLst>
            </p:cNvPr>
            <p:cNvSpPr/>
            <p:nvPr/>
          </p:nvSpPr>
          <p:spPr>
            <a:xfrm rot="5400000">
              <a:off x="2457725" y="1742096"/>
              <a:ext cx="3103418" cy="2694316"/>
            </a:xfrm>
            <a:prstGeom prst="hexagon">
              <a:avLst/>
            </a:prstGeom>
            <a:noFill/>
            <a:ln w="571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4400" b="1" dirty="0">
                  <a:solidFill>
                    <a:srgbClr val="B14440"/>
                  </a:solidFill>
                </a:rPr>
                <a:t>THANK YOU</a:t>
              </a:r>
            </a:p>
          </p:txBody>
        </p:sp>
        <p:sp>
          <p:nvSpPr>
            <p:cNvPr id="15" name="Title 1">
              <a:extLst>
                <a:ext uri="{FF2B5EF4-FFF2-40B4-BE49-F238E27FC236}">
                  <a16:creationId xmlns:a16="http://schemas.microsoft.com/office/drawing/2014/main" id="{96D0D2A0-7D7D-452B-9ADA-174886259D92}"/>
                </a:ext>
              </a:extLst>
            </p:cNvPr>
            <p:cNvSpPr txBox="1">
              <a:spLocks/>
            </p:cNvSpPr>
            <p:nvPr/>
          </p:nvSpPr>
          <p:spPr>
            <a:xfrm rot="10800000">
              <a:off x="5437112" y="2160998"/>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grpSp>
    </p:spTree>
    <p:extLst>
      <p:ext uri="{BB962C8B-B14F-4D97-AF65-F5344CB8AC3E}">
        <p14:creationId xmlns:p14="http://schemas.microsoft.com/office/powerpoint/2010/main" val="2364641850"/>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60CB386-78CA-4575-9F5B-1025EB3E0C65}">
  <we:reference id="wa200005566" version="1.0.0.0" store="en-US" storeType="OMEX"/>
  <we:alternateReferences>
    <we:reference id="wa200005566"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17291</TotalTime>
  <Words>10588</Words>
  <Application>Microsoft Office PowerPoint</Application>
  <PresentationFormat>Widescreen</PresentationFormat>
  <Paragraphs>1252</Paragraphs>
  <Slides>182</Slides>
  <Notes>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182</vt:i4>
      </vt:variant>
    </vt:vector>
  </HeadingPairs>
  <TitlesOfParts>
    <vt:vector size="191" baseType="lpstr">
      <vt:lpstr>Roboto Condensed Light</vt:lpstr>
      <vt:lpstr>Wingdings 3</vt:lpstr>
      <vt:lpstr>Cambria Math</vt:lpstr>
      <vt:lpstr>Roboto Condensed</vt:lpstr>
      <vt:lpstr>Arial</vt:lpstr>
      <vt:lpstr>Calibri</vt:lpstr>
      <vt:lpstr>Wingdings</vt:lpstr>
      <vt:lpstr>Cambria</vt:lpstr>
      <vt:lpstr>Office Theme</vt:lpstr>
      <vt:lpstr>Unit – 3 Probability Distribution</vt:lpstr>
      <vt:lpstr>PowerPoint Presentation</vt:lpstr>
      <vt:lpstr>PowerPoint Presentation</vt:lpstr>
      <vt:lpstr>Introduction</vt:lpstr>
      <vt:lpstr>Introduction</vt:lpstr>
      <vt:lpstr>Method 1 Binomial Distribution</vt:lpstr>
      <vt:lpstr>Bernoulli Trials </vt:lpstr>
      <vt:lpstr>Binomial Distribution </vt:lpstr>
      <vt:lpstr>Binomial Distribution </vt:lpstr>
      <vt:lpstr>Properties of Binomial Distribution </vt:lpstr>
      <vt:lpstr>Examples of Method 1</vt:lpstr>
      <vt:lpstr>Method 1 ⇝ Example 1</vt:lpstr>
      <vt:lpstr>Method 1 ⇝ Example 1 (Continue)</vt:lpstr>
      <vt:lpstr>Method 1 ⇝ Example 2</vt:lpstr>
      <vt:lpstr>Method 1 ⇝ Example 2 (Continue)</vt:lpstr>
      <vt:lpstr>Method 1 ⇝ Example 3</vt:lpstr>
      <vt:lpstr>Method 1 ⇝ Example 3 (Continue)</vt:lpstr>
      <vt:lpstr>Method 1 ⇝ Example 4</vt:lpstr>
      <vt:lpstr>Method 1 ⇝ Example 4 (Continue)</vt:lpstr>
      <vt:lpstr>Method 1 ⇝ Example 4 (Continue)</vt:lpstr>
      <vt:lpstr>Method 1 ⇝ Example 4 (Continue)</vt:lpstr>
      <vt:lpstr>Method 1 ⇝ Example 5</vt:lpstr>
      <vt:lpstr>Method 1 ⇝ Example 5 (Continue)</vt:lpstr>
      <vt:lpstr>Method 1 ⇝ Example 5 (Continue)</vt:lpstr>
      <vt:lpstr>Method 1 ⇝ Example 5 (Continue)</vt:lpstr>
      <vt:lpstr>Method 1 ⇝ Example 6</vt:lpstr>
      <vt:lpstr>Method 1 ⇝ Example 6 (Continue)</vt:lpstr>
      <vt:lpstr>Method 1 ⇝ Example 6 (Continue)</vt:lpstr>
      <vt:lpstr>Method 1 ⇝ Example 6 (Continue)</vt:lpstr>
      <vt:lpstr>Method 1 ⇝ Example 6 (Continue)</vt:lpstr>
      <vt:lpstr>Method 1 ⇝ Example 7</vt:lpstr>
      <vt:lpstr>Method 1 ⇝ Example 7 (Continue)</vt:lpstr>
      <vt:lpstr>Method 1 ⇝ Example 7 (Continue)</vt:lpstr>
      <vt:lpstr>Method 1 ⇝ Example 7 (Continue)</vt:lpstr>
      <vt:lpstr>Method 1 ⇝ Example 7 (Continue)</vt:lpstr>
      <vt:lpstr>Method 1 ⇝ Example 8</vt:lpstr>
      <vt:lpstr>Method 1 ⇝ Example 8 (Continue)</vt:lpstr>
      <vt:lpstr>Method 1 ⇝ Example 8 (Continue)</vt:lpstr>
      <vt:lpstr>Method 1 ⇝ Example 8 (Continue)</vt:lpstr>
      <vt:lpstr>Method 1 ⇝ Example 8 (Continue)</vt:lpstr>
      <vt:lpstr>Method 1 ⇝ Example 8 (Continue)</vt:lpstr>
      <vt:lpstr>Method 1 ⇝ Example 8 (Continue)</vt:lpstr>
      <vt:lpstr>Method 1 ⇝ Example 8 (Continue)</vt:lpstr>
      <vt:lpstr>Method 1 ⇝ Example 8 (Continue)</vt:lpstr>
      <vt:lpstr>Method 1 ⇝ Example 8 (Continue)</vt:lpstr>
      <vt:lpstr>Method 1 ⇝ Example 9</vt:lpstr>
      <vt:lpstr>Method 1 ⇝ Example 9 (Continue)</vt:lpstr>
      <vt:lpstr>Method 1 ⇝ Example 9 (Continue)</vt:lpstr>
      <vt:lpstr>Method 1 ⇝ Example 9 (Continue)</vt:lpstr>
      <vt:lpstr>Method 1 ⇝ Example 9 (Continue)</vt:lpstr>
      <vt:lpstr>Method 1 ⇝ Example 9 (Continue)</vt:lpstr>
      <vt:lpstr>Method 1 ⇝ Example 9 (Continue)</vt:lpstr>
      <vt:lpstr>Method 2 Poisson Distribution</vt:lpstr>
      <vt:lpstr>Poisson Distribution </vt:lpstr>
      <vt:lpstr>Poisson Distribution </vt:lpstr>
      <vt:lpstr>Properties of Poisson Distribution </vt:lpstr>
      <vt:lpstr>Poisson Distribution </vt:lpstr>
      <vt:lpstr>Examples of Method 2</vt:lpstr>
      <vt:lpstr>Method 2 ⇝ Example 1</vt:lpstr>
      <vt:lpstr>Method 2 ⇝ Example 2</vt:lpstr>
      <vt:lpstr>Method 2 ⇝ Example 2 (Continue)</vt:lpstr>
      <vt:lpstr>Method 2 ⇝ Example 2 (Continue)</vt:lpstr>
      <vt:lpstr>Method 2 ⇝ Example 3</vt:lpstr>
      <vt:lpstr>Method 2 ⇝ Example 3 (Continue)</vt:lpstr>
      <vt:lpstr>Method 2 ⇝ Example 4</vt:lpstr>
      <vt:lpstr>Method 2 ⇝ Example 4 (Continue)</vt:lpstr>
      <vt:lpstr>Method 2 ⇝ Example 4 (Continue)</vt:lpstr>
      <vt:lpstr>Method 2 ⇝ Example 4 (Continue)</vt:lpstr>
      <vt:lpstr>Method 2 ⇝ Example 5</vt:lpstr>
      <vt:lpstr>Method 2 ⇝ Example 5 (Continue)</vt:lpstr>
      <vt:lpstr>Method 2 ⇝ Example 6</vt:lpstr>
      <vt:lpstr>Method 2 ⇝ Example 6 (Continue)</vt:lpstr>
      <vt:lpstr>Method 2 ⇝ Example 6 (Continue)</vt:lpstr>
      <vt:lpstr>Method 2 ⇝ Example 7</vt:lpstr>
      <vt:lpstr>Method 2 ⇝ Example 7 (Continue)</vt:lpstr>
      <vt:lpstr>Method 2 ⇝ Example 8</vt:lpstr>
      <vt:lpstr>Method 2 ⇝ Example 8 (Continue)</vt:lpstr>
      <vt:lpstr>Method 2 ⇝ Example 8 (Continue)</vt:lpstr>
      <vt:lpstr>Method 3 Exponential Distribution</vt:lpstr>
      <vt:lpstr>Exponential Distribution </vt:lpstr>
      <vt:lpstr>Exponential Distribution </vt:lpstr>
      <vt:lpstr>Properties of Exponential Distribution </vt:lpstr>
      <vt:lpstr>Examples of Method 3</vt:lpstr>
      <vt:lpstr>Method 3 ⇝ Example 1</vt:lpstr>
      <vt:lpstr>Method 3 ⇝ Example 2</vt:lpstr>
      <vt:lpstr>Method 3 ⇝ Example 2 (Continue)</vt:lpstr>
      <vt:lpstr>Method 3 ⇝ Example 2 (Continue)</vt:lpstr>
      <vt:lpstr>Method 3 ⇝ Example 3</vt:lpstr>
      <vt:lpstr>Method 3 ⇝ Example 3 (Continue)</vt:lpstr>
      <vt:lpstr>Method 3 ⇝ Example 3 (Continue)</vt:lpstr>
      <vt:lpstr>Method 3 ⇝ Example 4</vt:lpstr>
      <vt:lpstr>Method 3 ⇝ Example 4 (Continue)</vt:lpstr>
      <vt:lpstr>Method 3 ⇝ Example 4 (Continue)</vt:lpstr>
      <vt:lpstr>Method 3 ⇝ Example 5</vt:lpstr>
      <vt:lpstr>Method 3 ⇝ Example 5 (Continue)</vt:lpstr>
      <vt:lpstr>Method 3 ⇝ Example 6</vt:lpstr>
      <vt:lpstr>Method 3 ⇝ Example 6 (Continue)</vt:lpstr>
      <vt:lpstr>Method 3 ⇝ Example 6 (Continue)</vt:lpstr>
      <vt:lpstr>Method 3 ⇝ Example 7</vt:lpstr>
      <vt:lpstr>Method 3 ⇝ Example 7 (Continue)</vt:lpstr>
      <vt:lpstr>Method 3 ⇝ Example 7 (Continue)</vt:lpstr>
      <vt:lpstr>Method 3 ⇝ Example 7 (Continue)</vt:lpstr>
      <vt:lpstr>Method 3 ⇝ Example 8</vt:lpstr>
      <vt:lpstr>Method 3 ⇝ Example 8 (Continue)</vt:lpstr>
      <vt:lpstr>Method 3 ⇝ Example 8 (Continue)</vt:lpstr>
      <vt:lpstr>Method 3 ⇝ Example 8 (Continue)</vt:lpstr>
      <vt:lpstr>Method 3 ⇝ Example 8 (Continue)</vt:lpstr>
      <vt:lpstr>Method 3 ⇝ Example 8 (Continue)</vt:lpstr>
      <vt:lpstr>Method 4 Normal Distribution</vt:lpstr>
      <vt:lpstr>Normal Distribution </vt:lpstr>
      <vt:lpstr>Normal Distribution </vt:lpstr>
      <vt:lpstr>Normal Distribution </vt:lpstr>
      <vt:lpstr>Normal Distribution </vt:lpstr>
      <vt:lpstr>Methods for Finding the Probability (area) from Z-Table  </vt:lpstr>
      <vt:lpstr>Methods for Finding the Probability (area) from Z-Table  </vt:lpstr>
      <vt:lpstr>Important Cases</vt:lpstr>
      <vt:lpstr>Important Cases</vt:lpstr>
      <vt:lpstr>Important Cases</vt:lpstr>
      <vt:lpstr>Important Cases</vt:lpstr>
      <vt:lpstr>Important Cases</vt:lpstr>
      <vt:lpstr>Important Cases</vt:lpstr>
      <vt:lpstr>Important Cases</vt:lpstr>
      <vt:lpstr>Important Cases</vt:lpstr>
      <vt:lpstr>Important Cases</vt:lpstr>
      <vt:lpstr>Important Cases</vt:lpstr>
      <vt:lpstr>Important Cases</vt:lpstr>
      <vt:lpstr>Properties of Normal Distribution </vt:lpstr>
      <vt:lpstr>Importance</vt:lpstr>
      <vt:lpstr>Examples of Method 4</vt:lpstr>
      <vt:lpstr>Method 4 ⇝ Example 1 </vt:lpstr>
      <vt:lpstr>Method 4 ⇝ Example 1 (Continue) </vt:lpstr>
      <vt:lpstr>Method 4 ⇝ Example 1 (Continue) </vt:lpstr>
      <vt:lpstr>Method 4 ⇝ Example 1 (Continue) </vt:lpstr>
      <vt:lpstr>Method 4 ⇝ Example 1 (Continue) </vt:lpstr>
      <vt:lpstr>Method 4 ⇝ Example 1 (Continue)</vt:lpstr>
      <vt:lpstr>Method 4 ⇝ Example 1 (Continue)</vt:lpstr>
      <vt:lpstr>Method 4 ⇝ Example 2</vt:lpstr>
      <vt:lpstr>Method 4 ⇝ Example 2 (Continue)</vt:lpstr>
      <vt:lpstr>Method 4 ⇝ Example 2 (Continue)</vt:lpstr>
      <vt:lpstr>Method 4 ⇝ Example 2 (Continue)</vt:lpstr>
      <vt:lpstr>Method 4 ⇝ Example 2 (Continue)</vt:lpstr>
      <vt:lpstr>Method 4 ⇝ Example 2 (Continue)</vt:lpstr>
      <vt:lpstr>Method 4 ⇝ Example 3</vt:lpstr>
      <vt:lpstr>Method 4 ⇝ Example 3 (Continue)</vt:lpstr>
      <vt:lpstr>Method 4 ⇝ Example 3 (Continue)</vt:lpstr>
      <vt:lpstr>Method 4 ⇝ Example 3 (Continue)</vt:lpstr>
      <vt:lpstr>Method 4 ⇝ Example 3 (Continue)</vt:lpstr>
      <vt:lpstr>Method 4 ⇝ Example 3 (Continue)</vt:lpstr>
      <vt:lpstr>Method 4 ⇝ Example 3 (Continue)</vt:lpstr>
      <vt:lpstr>Method 4 ⇝ Example 4</vt:lpstr>
      <vt:lpstr>Method 4 ⇝ Example 4 (Continue)</vt:lpstr>
      <vt:lpstr>Method 4 ⇝ Example 4 (Continue)</vt:lpstr>
      <vt:lpstr>Method 4 ⇝ Example 4 (Continue)</vt:lpstr>
      <vt:lpstr>Method 4 ⇝ Example 4 (Continue)</vt:lpstr>
      <vt:lpstr>Method 4 ⇝ Example 4 (Continue)</vt:lpstr>
      <vt:lpstr>Method 4 ⇝ Example 4 (Continue)</vt:lpstr>
      <vt:lpstr>Method 4 ⇝ Example 4 (Continue)</vt:lpstr>
      <vt:lpstr>Method 4 ⇝ Example 4 (Continue)</vt:lpstr>
      <vt:lpstr>Method 4 ⇝ Example 4 (Continue)</vt:lpstr>
      <vt:lpstr>Method 4 ⇝ Example 4 (Continue)</vt:lpstr>
      <vt:lpstr>Method 4 ⇝ Example 5</vt:lpstr>
      <vt:lpstr>Method 4 ⇝ Example 5 (Continue)</vt:lpstr>
      <vt:lpstr>Method 4 ⇝ Example 5 (Continue)</vt:lpstr>
      <vt:lpstr>Method 4 ⇝ Example 5 (Continue)</vt:lpstr>
      <vt:lpstr>Method 4 ⇝ Example 5 (Continue)</vt:lpstr>
      <vt:lpstr>Method 4 ⇝ Example 5 (Continue)</vt:lpstr>
      <vt:lpstr>Method 4 ⇝ Example 5 (Continue)</vt:lpstr>
      <vt:lpstr>Method 4 ⇝ Example 5 (Continue)</vt:lpstr>
      <vt:lpstr>Method 4 ⇝ Example 5 (Continue)</vt:lpstr>
      <vt:lpstr>Method  ⇝ Example 6</vt:lpstr>
      <vt:lpstr>Method 4 ⇝ Example 6 (Continue)</vt:lpstr>
      <vt:lpstr>Method 4 ⇝ Example 6 (Continue)</vt:lpstr>
      <vt:lpstr>Method 4 ⇝ Example 6 (Continue)</vt:lpstr>
      <vt:lpstr>Method  ⇝ Example 7</vt:lpstr>
      <vt:lpstr>Method 4 ⇝ Example 7 (Continue)</vt:lpstr>
      <vt:lpstr>Method 4 ⇝ Example 7 (Continue)</vt:lpstr>
      <vt:lpstr>Method 4 ⇝ Example 7 (Continue)</vt:lpstr>
      <vt:lpstr>Method 4 ⇝ Example 7 (Continue)</vt:lpstr>
      <vt:lpstr>Method 4 ⇝ Example 7 (Continue)</vt:lpstr>
      <vt:lpstr>Method 4 ⇝ Example 7 (Continue)</vt:lpstr>
      <vt:lpstr>Method 4 ⇝ Example 7 (Continue)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Vasudev </cp:lastModifiedBy>
  <cp:revision>1424</cp:revision>
  <dcterms:created xsi:type="dcterms:W3CDTF">2020-05-01T05:09:15Z</dcterms:created>
  <dcterms:modified xsi:type="dcterms:W3CDTF">2025-01-11T02:54:18Z</dcterms:modified>
</cp:coreProperties>
</file>