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0"/>
  </p:notesMasterIdLst>
  <p:sldIdLst>
    <p:sldId id="395" r:id="rId2"/>
    <p:sldId id="439" r:id="rId3"/>
    <p:sldId id="483" r:id="rId4"/>
    <p:sldId id="550" r:id="rId5"/>
    <p:sldId id="552" r:id="rId6"/>
    <p:sldId id="602" r:id="rId7"/>
    <p:sldId id="554" r:id="rId8"/>
    <p:sldId id="555" r:id="rId9"/>
    <p:sldId id="556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605" r:id="rId18"/>
    <p:sldId id="566" r:id="rId19"/>
    <p:sldId id="568" r:id="rId20"/>
    <p:sldId id="567" r:id="rId21"/>
    <p:sldId id="569" r:id="rId22"/>
    <p:sldId id="570" r:id="rId23"/>
    <p:sldId id="571" r:id="rId24"/>
    <p:sldId id="572" r:id="rId25"/>
    <p:sldId id="573" r:id="rId26"/>
    <p:sldId id="606" r:id="rId27"/>
    <p:sldId id="607" r:id="rId28"/>
    <p:sldId id="608" r:id="rId29"/>
    <p:sldId id="610" r:id="rId30"/>
    <p:sldId id="574" r:id="rId31"/>
    <p:sldId id="575" r:id="rId32"/>
    <p:sldId id="576" r:id="rId33"/>
    <p:sldId id="577" r:id="rId34"/>
    <p:sldId id="578" r:id="rId35"/>
    <p:sldId id="579" r:id="rId36"/>
    <p:sldId id="580" r:id="rId37"/>
    <p:sldId id="581" r:id="rId38"/>
    <p:sldId id="582" r:id="rId39"/>
    <p:sldId id="583" r:id="rId40"/>
    <p:sldId id="585" r:id="rId41"/>
    <p:sldId id="584" r:id="rId42"/>
    <p:sldId id="586" r:id="rId43"/>
    <p:sldId id="587" r:id="rId44"/>
    <p:sldId id="588" r:id="rId45"/>
    <p:sldId id="589" r:id="rId46"/>
    <p:sldId id="591" r:id="rId47"/>
    <p:sldId id="590" r:id="rId48"/>
    <p:sldId id="592" r:id="rId49"/>
    <p:sldId id="593" r:id="rId50"/>
    <p:sldId id="594" r:id="rId51"/>
    <p:sldId id="595" r:id="rId52"/>
    <p:sldId id="597" r:id="rId53"/>
    <p:sldId id="598" r:id="rId54"/>
    <p:sldId id="603" r:id="rId55"/>
    <p:sldId id="604" r:id="rId56"/>
    <p:sldId id="599" r:id="rId57"/>
    <p:sldId id="416" r:id="rId58"/>
    <p:sldId id="418" r:id="rId59"/>
    <p:sldId id="419" r:id="rId60"/>
    <p:sldId id="420" r:id="rId61"/>
    <p:sldId id="421" r:id="rId62"/>
    <p:sldId id="422" r:id="rId63"/>
    <p:sldId id="423" r:id="rId64"/>
    <p:sldId id="424" r:id="rId65"/>
    <p:sldId id="431" r:id="rId66"/>
    <p:sldId id="432" r:id="rId67"/>
    <p:sldId id="433" r:id="rId68"/>
    <p:sldId id="600" r:id="rId69"/>
  </p:sldIdLst>
  <p:sldSz cx="12192000" cy="6858000"/>
  <p:notesSz cx="6858000" cy="9144000"/>
  <p:embeddedFontLst>
    <p:embeddedFont>
      <p:font typeface="Cambria Math" panose="02040503050406030204" pitchFamily="18" charset="0"/>
      <p:regular r:id="rId71"/>
    </p:embeddedFont>
    <p:embeddedFont>
      <p:font typeface="MS PGothic" panose="020B0600070205080204" pitchFamily="34" charset="-128"/>
      <p:regular r:id="rId72"/>
    </p:embeddedFont>
    <p:embeddedFont>
      <p:font typeface="Roboto Condensed" panose="02000000000000000000" pitchFamily="2" charset="0"/>
      <p:regular r:id="rId73"/>
      <p:bold r:id="rId74"/>
      <p:italic r:id="rId75"/>
      <p:boldItalic r:id="rId76"/>
    </p:embeddedFont>
    <p:embeddedFont>
      <p:font typeface="Roboto Condensed Light" panose="02000000000000000000" pitchFamily="2" charset="0"/>
      <p:regular r:id="rId77"/>
      <p:italic r:id="rId78"/>
    </p:embeddedFont>
    <p:embeddedFont>
      <p:font typeface="Wingdings 2" panose="05020102010507070707" pitchFamily="18" charset="2"/>
      <p:regular r:id="rId79"/>
    </p:embeddedFont>
    <p:embeddedFont>
      <p:font typeface="Wingdings 3" panose="05040102010807070707" pitchFamily="18" charset="2"/>
      <p:regular r:id="rId8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zSFBhC1pztsyr3XwqzNVg==" hashData="zGROpx2Tw1xC8JLSWaaFHI1SSuwj89yxplgt8pbRxy3lUJ6WpPrmFU8H7elFcv1Ty4KClPedUFY6iMC3MCpT3g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47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39512"/>
            <a:ext cx="5203054" cy="187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Project Management &amp; Configuration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50C000F-3B0A-BACC-F55F-1F243BE2151B}"/>
              </a:ext>
            </a:extLst>
          </p:cNvPr>
          <p:cNvSpPr txBox="1">
            <a:spLocks/>
          </p:cNvSpPr>
          <p:nvPr userDrawn="1"/>
        </p:nvSpPr>
        <p:spPr>
          <a:xfrm>
            <a:off x="4038600" y="6648390"/>
            <a:ext cx="5203054" cy="187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Project Management &amp; 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ABA6A87-CAE0-A4E7-99BE-D7B163EA7E8B}"/>
              </a:ext>
            </a:extLst>
          </p:cNvPr>
          <p:cNvSpPr txBox="1">
            <a:spLocks/>
          </p:cNvSpPr>
          <p:nvPr userDrawn="1"/>
        </p:nvSpPr>
        <p:spPr>
          <a:xfrm>
            <a:off x="4038600" y="6657268"/>
            <a:ext cx="5203054" cy="187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Project Management &amp; 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B046E0C-289B-06C6-54E2-B38149803E13}"/>
              </a:ext>
            </a:extLst>
          </p:cNvPr>
          <p:cNvSpPr txBox="1">
            <a:spLocks/>
          </p:cNvSpPr>
          <p:nvPr userDrawn="1"/>
        </p:nvSpPr>
        <p:spPr>
          <a:xfrm>
            <a:off x="4038600" y="6648390"/>
            <a:ext cx="5203054" cy="187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Project Management &amp; 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4B515D-396F-F42D-8313-C63DF05EF244}"/>
              </a:ext>
            </a:extLst>
          </p:cNvPr>
          <p:cNvSpPr txBox="1">
            <a:spLocks/>
          </p:cNvSpPr>
          <p:nvPr userDrawn="1"/>
        </p:nvSpPr>
        <p:spPr>
          <a:xfrm>
            <a:off x="4038600" y="6639512"/>
            <a:ext cx="5203054" cy="187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Project Management &amp; 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0C597F2-8BD5-2159-5548-E7846A5570F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30634"/>
            <a:ext cx="5203054" cy="187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Project Management &amp; 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09B648-2F1E-4633-9C22-F6A30AFA79A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8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3.xml"/><Relationship Id="rId4" Type="http://schemas.microsoft.com/office/2007/relationships/hdphoto" Target="../media/hdphoto7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3.xml"/><Relationship Id="rId5" Type="http://schemas.microsoft.com/office/2007/relationships/hdphoto" Target="../media/hdphoto7.wdp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microsoft.com/office/2007/relationships/hdphoto" Target="../media/hdphoto7.wdp"/><Relationship Id="rId7" Type="http://schemas.openxmlformats.org/officeDocument/2006/relationships/image" Target="../media/image41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30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microsoft.com/office/2007/relationships/hdphoto" Target="../media/hdphoto13.wdp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5.wdp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2.jpeg"/><Relationship Id="rId4" Type="http://schemas.openxmlformats.org/officeDocument/2006/relationships/image" Target="../media/image71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rajkumar.gondaliya@darshan.ac.in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+91-9723232741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Rajkumar Gondaliya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</a:t>
            </a:r>
          </a:p>
          <a:p>
            <a:r>
              <a:rPr lang="en-US" dirty="0"/>
              <a:t>(#2301CS405)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697891" y="1467871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b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r>
              <a:rPr lang="en-US" sz="5400" dirty="0"/>
              <a:t>Project </a:t>
            </a:r>
            <a:r>
              <a:rPr lang="en-US" sz="5400"/>
              <a:t>Management &amp;</a:t>
            </a:r>
            <a:endParaRPr lang="en-US" sz="5400" dirty="0"/>
          </a:p>
          <a:p>
            <a:r>
              <a:rPr lang="en-US" sz="5400" dirty="0"/>
              <a:t>Configuration Management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62C8F4-8B39-B6D7-374E-2A66209E1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696" y="1703410"/>
            <a:ext cx="5938019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7185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30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of Project Management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Metrics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Process, Product and Project Metrics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Project Estimations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Project Planning (MS Project Tool)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Project Scheduling and Tracking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Analysis and Management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Identification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Projection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Refinement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Mitigation</a:t>
            </a:r>
          </a:p>
        </p:txBody>
      </p:sp>
    </p:spTree>
    <p:extLst>
      <p:ext uri="{BB962C8B-B14F-4D97-AF65-F5344CB8AC3E}">
        <p14:creationId xmlns:p14="http://schemas.microsoft.com/office/powerpoint/2010/main" val="220748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Project Management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228066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24" y="822558"/>
            <a:ext cx="2968138" cy="28416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42353" y="722542"/>
            <a:ext cx="894694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W</a:t>
            </a:r>
            <a:r>
              <a:rPr lang="en-US" sz="2400" baseline="30000" dirty="0"/>
              <a:t>5</a:t>
            </a:r>
            <a:r>
              <a:rPr lang="en-US" sz="2400" dirty="0"/>
              <a:t>HH of Project Management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3345335" y="1284804"/>
            <a:ext cx="876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Boehm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suggests </a:t>
            </a:r>
            <a:r>
              <a:rPr lang="en-US" sz="2400" b="1" dirty="0">
                <a:solidFill>
                  <a:srgbClr val="C00000"/>
                </a:solidFill>
              </a:rPr>
              <a:t>an approach (W</a:t>
            </a:r>
            <a:r>
              <a:rPr lang="en-US" sz="2400" b="1" baseline="30000" dirty="0">
                <a:solidFill>
                  <a:srgbClr val="C00000"/>
                </a:solidFill>
              </a:rPr>
              <a:t>5</a:t>
            </a:r>
            <a:r>
              <a:rPr lang="en-US" sz="2400" b="1" dirty="0">
                <a:solidFill>
                  <a:srgbClr val="C00000"/>
                </a:solidFill>
              </a:rPr>
              <a:t>HH) </a:t>
            </a:r>
            <a:r>
              <a:rPr lang="en-US" sz="2400" dirty="0"/>
              <a:t>that addresses </a:t>
            </a:r>
            <a:r>
              <a:rPr lang="en-US" sz="2400" dirty="0">
                <a:solidFill>
                  <a:srgbClr val="C00000"/>
                </a:solidFill>
              </a:rPr>
              <a:t>project objectives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milestones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schedules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responsibilities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management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technical approaches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required resources</a:t>
            </a:r>
            <a:endParaRPr lang="en-US" sz="24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3345335" y="2517436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45335" y="2593636"/>
            <a:ext cx="8763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Why</a:t>
            </a:r>
            <a:r>
              <a:rPr lang="en-US" sz="2100" b="1" dirty="0"/>
              <a:t> is the system being developed?</a:t>
            </a:r>
          </a:p>
          <a:p>
            <a:pPr algn="just"/>
            <a:r>
              <a:rPr lang="en-US" sz="2100" dirty="0"/>
              <a:t>Enables all parties to assess the validity of business reasons for the software work. In another words - does the business purpose justify the expenditure of people, time, and money?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5335" y="4117636"/>
            <a:ext cx="8763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What</a:t>
            </a:r>
            <a:r>
              <a:rPr lang="en-US" sz="2100" b="1" dirty="0"/>
              <a:t> will be done? </a:t>
            </a:r>
          </a:p>
          <a:p>
            <a:pPr algn="just"/>
            <a:r>
              <a:rPr lang="en-US" sz="2100" dirty="0"/>
              <a:t>The </a:t>
            </a:r>
            <a:r>
              <a:rPr lang="en-US" sz="2100" b="1" dirty="0"/>
              <a:t>answers</a:t>
            </a:r>
            <a:r>
              <a:rPr lang="en-US" sz="2100" dirty="0"/>
              <a:t> to </a:t>
            </a:r>
            <a:r>
              <a:rPr lang="en-US" sz="2100" b="1" dirty="0"/>
              <a:t>these questions </a:t>
            </a:r>
            <a:r>
              <a:rPr lang="en-US" sz="2100" dirty="0"/>
              <a:t>help the team to </a:t>
            </a:r>
            <a:r>
              <a:rPr lang="en-US" sz="2100" b="1" dirty="0"/>
              <a:t>establish</a:t>
            </a:r>
            <a:r>
              <a:rPr lang="en-US" sz="2100" dirty="0"/>
              <a:t> a </a:t>
            </a:r>
            <a:r>
              <a:rPr lang="en-US" sz="2100" b="1" dirty="0"/>
              <a:t>project schedule</a:t>
            </a:r>
            <a:r>
              <a:rPr lang="en-US" sz="2100" dirty="0"/>
              <a:t> by </a:t>
            </a:r>
            <a:r>
              <a:rPr lang="en-US" sz="2100" b="1" dirty="0"/>
              <a:t>identifying</a:t>
            </a:r>
            <a:r>
              <a:rPr lang="en-US" sz="2100" dirty="0"/>
              <a:t> </a:t>
            </a:r>
            <a:r>
              <a:rPr lang="en-US" sz="2100" b="1" dirty="0"/>
              <a:t>key</a:t>
            </a:r>
            <a:r>
              <a:rPr lang="en-US" sz="2100" dirty="0"/>
              <a:t> project </a:t>
            </a:r>
            <a:r>
              <a:rPr lang="en-US" sz="2100" b="1" dirty="0"/>
              <a:t>tasks</a:t>
            </a:r>
            <a:r>
              <a:rPr lang="en-US" sz="2100" dirty="0"/>
              <a:t> and the </a:t>
            </a:r>
            <a:r>
              <a:rPr lang="en-US" sz="2100" b="1" dirty="0"/>
              <a:t>milestones</a:t>
            </a:r>
            <a:r>
              <a:rPr lang="en-US" sz="2100" dirty="0"/>
              <a:t> that are required by the customer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5739" y="5664972"/>
            <a:ext cx="87868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When</a:t>
            </a:r>
            <a:r>
              <a:rPr lang="en-US" sz="2100" b="1" dirty="0"/>
              <a:t> will it be accomplished?</a:t>
            </a:r>
          </a:p>
          <a:p>
            <a:pPr algn="just"/>
            <a:r>
              <a:rPr lang="en-US" sz="2100" dirty="0"/>
              <a:t>Project schedule to achieve milestone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3383435" y="4076692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84" y="3978631"/>
            <a:ext cx="1417392" cy="1362552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3383435" y="5550397"/>
            <a:ext cx="87249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7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</a:t>
            </a:r>
            <a:r>
              <a:rPr lang="en-US" sz="3600" baseline="30000" dirty="0"/>
              <a:t>5</a:t>
            </a:r>
            <a:r>
              <a:rPr lang="en-US" sz="3600" dirty="0"/>
              <a:t>HH of Project Management Cont.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5951" y="895350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Who</a:t>
            </a:r>
            <a:r>
              <a:rPr lang="en-US" sz="2400" b="1" dirty="0"/>
              <a:t> is responsible?</a:t>
            </a:r>
          </a:p>
          <a:p>
            <a:pPr algn="just"/>
            <a:r>
              <a:rPr lang="en-US" sz="2400" dirty="0"/>
              <a:t>Role and responsibility of each 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951" y="1901007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Where</a:t>
            </a:r>
            <a:r>
              <a:rPr lang="en-US" sz="2400" b="1" dirty="0"/>
              <a:t> are they organizationally located?</a:t>
            </a:r>
          </a:p>
          <a:p>
            <a:pPr algn="just"/>
            <a:r>
              <a:rPr lang="en-US" sz="2400" dirty="0"/>
              <a:t>Customer, end user and other stakeholders also have responsibility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5951" y="2906664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How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will</a:t>
            </a:r>
            <a:r>
              <a:rPr lang="en-US" sz="2400" b="1" dirty="0"/>
              <a:t> the job be done technically and managerially?</a:t>
            </a:r>
          </a:p>
          <a:p>
            <a:r>
              <a:rPr lang="en-US" sz="2400" dirty="0"/>
              <a:t>Management and technical strategy must be defined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285" y="3933930"/>
            <a:ext cx="8748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How much </a:t>
            </a:r>
            <a:r>
              <a:rPr lang="en-US" sz="2400" b="1" dirty="0"/>
              <a:t>of each resource is needed?</a:t>
            </a:r>
          </a:p>
          <a:p>
            <a:r>
              <a:rPr lang="en-US" sz="2400" dirty="0"/>
              <a:t>Develop estimation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" y="1809750"/>
            <a:ext cx="115681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90500" y="2724150"/>
            <a:ext cx="116109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0500" y="3790950"/>
            <a:ext cx="115966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083" y="4241065"/>
            <a:ext cx="1417392" cy="1362552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1614488" y="5522506"/>
            <a:ext cx="6865958" cy="838200"/>
          </a:xfrm>
          <a:prstGeom prst="wedgeRoundRectCallout">
            <a:avLst>
              <a:gd name="adj1" fmla="val -59323"/>
              <a:gd name="adj2" fmla="val -51907"/>
              <a:gd name="adj3" fmla="val 16667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It is applicable </a:t>
            </a:r>
            <a:r>
              <a:rPr lang="en-US" sz="2500" b="1" dirty="0"/>
              <a:t>regardless</a:t>
            </a:r>
            <a:r>
              <a:rPr lang="en-US" sz="2500" dirty="0"/>
              <a:t> of </a:t>
            </a:r>
            <a:r>
              <a:rPr lang="en-US" sz="2500" b="1" dirty="0"/>
              <a:t>size</a:t>
            </a:r>
            <a:r>
              <a:rPr lang="en-US" sz="2500" dirty="0"/>
              <a:t> or </a:t>
            </a:r>
            <a:r>
              <a:rPr lang="en-US" sz="2500" b="1" dirty="0"/>
              <a:t>complexity</a:t>
            </a:r>
            <a:r>
              <a:rPr lang="en-US" sz="2500" dirty="0"/>
              <a:t> of software </a:t>
            </a:r>
            <a:r>
              <a:rPr lang="en-US" sz="2500" b="1" dirty="0"/>
              <a:t>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285" y="5141952"/>
            <a:ext cx="9557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</a:t>
            </a:r>
            <a:r>
              <a:rPr lang="en-US" sz="2400" b="1" baseline="30000" dirty="0">
                <a:solidFill>
                  <a:schemeClr val="bg1"/>
                </a:solidFill>
              </a:rPr>
              <a:t>5</a:t>
            </a:r>
            <a:r>
              <a:rPr lang="en-US" sz="2400" b="1" dirty="0">
                <a:solidFill>
                  <a:schemeClr val="bg1"/>
                </a:solidFill>
              </a:rPr>
              <a:t>HH</a:t>
            </a:r>
          </a:p>
        </p:txBody>
      </p:sp>
    </p:spTree>
    <p:extLst>
      <p:ext uri="{BB962C8B-B14F-4D97-AF65-F5344CB8AC3E}">
        <p14:creationId xmlns:p14="http://schemas.microsoft.com/office/powerpoint/2010/main" val="37425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Measure Software?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288242" y="3131701"/>
            <a:ext cx="11627533" cy="3437094"/>
          </a:xfrm>
        </p:spPr>
        <p:txBody>
          <a:bodyPr/>
          <a:lstStyle/>
          <a:p>
            <a:r>
              <a:rPr lang="en-US" b="1" dirty="0"/>
              <a:t>Process</a:t>
            </a:r>
          </a:p>
          <a:p>
            <a:pPr lvl="1"/>
            <a:r>
              <a:rPr lang="en-US" dirty="0"/>
              <a:t>Specifies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activities related to production</a:t>
            </a:r>
            <a:r>
              <a:rPr lang="en-US" dirty="0"/>
              <a:t> of software.</a:t>
            </a:r>
          </a:p>
          <a:p>
            <a:pPr lvl="1"/>
            <a:r>
              <a:rPr lang="en-US" dirty="0"/>
              <a:t>Specifies the abstract set of activities that should be performed to go from user needs to final product.</a:t>
            </a:r>
          </a:p>
          <a:p>
            <a:r>
              <a:rPr lang="en-US" b="1" dirty="0"/>
              <a:t>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Software development work</a:t>
            </a:r>
            <a:r>
              <a:rPr lang="en-US" dirty="0"/>
              <a:t> in which a software process is used</a:t>
            </a:r>
          </a:p>
          <a:p>
            <a:pPr lvl="1"/>
            <a:r>
              <a:rPr lang="en-US" dirty="0"/>
              <a:t>The actual act of executing the activities for some specific user needs</a:t>
            </a:r>
          </a:p>
          <a:p>
            <a:r>
              <a:rPr lang="en-US" b="1" dirty="0"/>
              <a:t>Product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The outcomes of </a:t>
            </a:r>
            <a:r>
              <a:rPr lang="en-US" dirty="0"/>
              <a:t>a software </a:t>
            </a:r>
            <a:r>
              <a:rPr lang="en-US" b="1" dirty="0">
                <a:solidFill>
                  <a:srgbClr val="C00000"/>
                </a:solidFill>
              </a:rPr>
              <a:t>project</a:t>
            </a:r>
          </a:p>
          <a:p>
            <a:pPr lvl="1"/>
            <a:r>
              <a:rPr lang="en-US" dirty="0"/>
              <a:t>All the outputs that are produced while the activities are being executed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88242" y="821281"/>
            <a:ext cx="8486096" cy="461665"/>
            <a:chOff x="688300" y="4331466"/>
            <a:chExt cx="3923234" cy="461665"/>
          </a:xfrm>
        </p:grpSpPr>
        <p:sp>
          <p:nvSpPr>
            <p:cNvPr id="8" name="Rectangle 7"/>
            <p:cNvSpPr/>
            <p:nvPr/>
          </p:nvSpPr>
          <p:spPr>
            <a:xfrm>
              <a:off x="882894" y="4331466"/>
              <a:ext cx="372864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determine</a:t>
              </a:r>
              <a:r>
                <a:rPr lang="en-US" sz="2400" dirty="0">
                  <a:solidFill>
                    <a:srgbClr val="C00000"/>
                  </a:solidFill>
                </a:rPr>
                <a:t> </a:t>
              </a:r>
              <a:r>
                <a:rPr lang="en-US" sz="2400" dirty="0"/>
                <a:t>(to define) </a:t>
              </a:r>
              <a:r>
                <a:rPr lang="en-US" sz="2400" b="1" dirty="0">
                  <a:solidFill>
                    <a:srgbClr val="C00000"/>
                  </a:solidFill>
                </a:rPr>
                <a:t>quality</a:t>
              </a:r>
              <a:r>
                <a:rPr lang="en-US" sz="2400" dirty="0"/>
                <a:t> of a product or process.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8300" y="4331467"/>
              <a:ext cx="19459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88242" y="1378485"/>
            <a:ext cx="8486096" cy="461665"/>
            <a:chOff x="688300" y="4863407"/>
            <a:chExt cx="8486096" cy="461665"/>
          </a:xfrm>
        </p:grpSpPr>
        <p:sp>
          <p:nvSpPr>
            <p:cNvPr id="11" name="Rectangle 10"/>
            <p:cNvSpPr/>
            <p:nvPr/>
          </p:nvSpPr>
          <p:spPr>
            <a:xfrm>
              <a:off x="1109213" y="4863407"/>
              <a:ext cx="8065183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predict qualities</a:t>
              </a:r>
              <a:r>
                <a:rPr lang="en-US" sz="2400" dirty="0"/>
                <a:t> of a product or process.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88300" y="486340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88242" y="1949981"/>
            <a:ext cx="8486096" cy="461665"/>
            <a:chOff x="688300" y="4863407"/>
            <a:chExt cx="8098520" cy="461665"/>
          </a:xfrm>
        </p:grpSpPr>
        <p:sp>
          <p:nvSpPr>
            <p:cNvPr id="14" name="Rectangle 13"/>
            <p:cNvSpPr/>
            <p:nvPr/>
          </p:nvSpPr>
          <p:spPr>
            <a:xfrm>
              <a:off x="1109213" y="4863407"/>
              <a:ext cx="7677607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improve quality </a:t>
              </a:r>
              <a:r>
                <a:rPr lang="en-US" sz="2400" dirty="0"/>
                <a:t>of a product or process.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8300" y="486340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3</a:t>
              </a: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316" y="341307"/>
            <a:ext cx="2436587" cy="247933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88242" y="2518368"/>
            <a:ext cx="347735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Metric Classification Base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2599135" y="2978347"/>
            <a:ext cx="931664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64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76FE-8E10-B9AE-05FA-DF78DABB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036B0-D410-25DD-C9ED-9FC02E25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type of matrix </a:t>
            </a:r>
            <a:r>
              <a:rPr lang="en-US" b="1" dirty="0">
                <a:solidFill>
                  <a:srgbClr val="C00000"/>
                </a:solidFill>
              </a:rPr>
              <a:t>focuses</a:t>
            </a:r>
            <a:r>
              <a:rPr lang="en-US" dirty="0"/>
              <a:t> on </a:t>
            </a:r>
            <a:r>
              <a:rPr lang="en-US" b="1" dirty="0">
                <a:solidFill>
                  <a:srgbClr val="C00000"/>
                </a:solidFill>
              </a:rPr>
              <a:t>measuring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various aspects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software development process</a:t>
            </a:r>
            <a:r>
              <a:rPr lang="en-US" dirty="0"/>
              <a:t> itself. </a:t>
            </a:r>
          </a:p>
          <a:p>
            <a:r>
              <a:rPr lang="en-US" dirty="0"/>
              <a:t>It assesses </a:t>
            </a:r>
            <a:r>
              <a:rPr lang="en-US" b="1" dirty="0">
                <a:solidFill>
                  <a:srgbClr val="C00000"/>
                </a:solidFill>
              </a:rPr>
              <a:t>how</a:t>
            </a:r>
            <a:r>
              <a:rPr lang="en-US" dirty="0"/>
              <a:t> well the </a:t>
            </a:r>
            <a:r>
              <a:rPr lang="en-US" b="1" dirty="0">
                <a:solidFill>
                  <a:srgbClr val="C00000"/>
                </a:solidFill>
              </a:rPr>
              <a:t>development process </a:t>
            </a:r>
            <a:r>
              <a:rPr lang="en-US" dirty="0"/>
              <a:t>is being </a:t>
            </a:r>
            <a:r>
              <a:rPr lang="en-US" b="1" dirty="0">
                <a:solidFill>
                  <a:srgbClr val="C00000"/>
                </a:solidFill>
              </a:rPr>
              <a:t>executed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managed</a:t>
            </a:r>
            <a:r>
              <a:rPr lang="en-US" dirty="0"/>
              <a:t>. </a:t>
            </a:r>
          </a:p>
          <a:p>
            <a:r>
              <a:rPr lang="en-US" dirty="0"/>
              <a:t>Examples of metrics include</a:t>
            </a:r>
          </a:p>
          <a:p>
            <a:pPr lvl="1"/>
            <a:r>
              <a:rPr lang="en-US" b="1" dirty="0"/>
              <a:t>Time taken for each phase </a:t>
            </a:r>
            <a:r>
              <a:rPr lang="en-US" dirty="0"/>
              <a:t>of development</a:t>
            </a:r>
          </a:p>
          <a:p>
            <a:pPr lvl="1"/>
            <a:r>
              <a:rPr lang="en-US" b="1" dirty="0"/>
              <a:t>Number of defects found </a:t>
            </a:r>
            <a:r>
              <a:rPr lang="en-US" dirty="0"/>
              <a:t>during each phase</a:t>
            </a:r>
          </a:p>
          <a:p>
            <a:pPr lvl="1"/>
            <a:r>
              <a:rPr lang="en-US" dirty="0"/>
              <a:t>Code churn (frequency of code changes)</a:t>
            </a:r>
          </a:p>
          <a:p>
            <a:pPr lvl="1"/>
            <a:r>
              <a:rPr lang="en-US" b="1" dirty="0"/>
              <a:t>Conformance to the schedule</a:t>
            </a:r>
          </a:p>
          <a:p>
            <a:pPr lvl="1"/>
            <a:r>
              <a:rPr lang="en-US" b="1" dirty="0"/>
              <a:t>Defects delivered </a:t>
            </a:r>
            <a:r>
              <a:rPr lang="en-US" dirty="0"/>
              <a:t>to and reported by the end users</a:t>
            </a:r>
          </a:p>
          <a:p>
            <a:pPr lvl="1"/>
            <a:r>
              <a:rPr lang="en-US" sz="2000" b="1" dirty="0"/>
              <a:t>Errors uncovered </a:t>
            </a:r>
            <a:r>
              <a:rPr lang="en-US" sz="2000" dirty="0"/>
              <a:t>before the release of the software</a:t>
            </a:r>
            <a:endParaRPr lang="en-US" dirty="0"/>
          </a:p>
          <a:p>
            <a:r>
              <a:rPr lang="en-US" dirty="0"/>
              <a:t>They 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/>
              <a:t> for making </a:t>
            </a:r>
            <a:r>
              <a:rPr lang="en-US" b="1" dirty="0">
                <a:solidFill>
                  <a:srgbClr val="C00000"/>
                </a:solidFill>
              </a:rPr>
              <a:t>strategic decisions</a:t>
            </a:r>
          </a:p>
          <a:p>
            <a:r>
              <a:rPr lang="en-US" dirty="0"/>
              <a:t>Process </a:t>
            </a:r>
            <a:r>
              <a:rPr lang="en-US" b="1" dirty="0">
                <a:solidFill>
                  <a:srgbClr val="C00000"/>
                </a:solidFill>
              </a:rPr>
              <a:t>Metrics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collected across all projects </a:t>
            </a:r>
            <a:r>
              <a:rPr lang="en-US" dirty="0"/>
              <a:t>and over </a:t>
            </a:r>
            <a:r>
              <a:rPr lang="en-US" b="1" dirty="0">
                <a:solidFill>
                  <a:srgbClr val="C00000"/>
                </a:solidFill>
              </a:rPr>
              <a:t>long periods of time</a:t>
            </a:r>
            <a:endParaRPr lang="en-US" dirty="0"/>
          </a:p>
          <a:p>
            <a:r>
              <a:rPr lang="en-US" dirty="0"/>
              <a:t>They intend to</a:t>
            </a:r>
            <a:r>
              <a:rPr lang="en-US" b="1" dirty="0">
                <a:solidFill>
                  <a:srgbClr val="C00000"/>
                </a:solidFill>
              </a:rPr>
              <a:t> provide a set of process indicators</a:t>
            </a:r>
            <a:r>
              <a:rPr lang="en-US" dirty="0"/>
              <a:t> that lead to long-term software</a:t>
            </a:r>
            <a:r>
              <a:rPr lang="en-US" b="1" dirty="0">
                <a:solidFill>
                  <a:srgbClr val="C00000"/>
                </a:solidFill>
              </a:rPr>
              <a:t> process improvement</a:t>
            </a:r>
            <a:endParaRPr lang="en-US" dirty="0"/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91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metrics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enable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software project </a:t>
            </a:r>
            <a:r>
              <a:rPr lang="en-US" b="1" dirty="0">
                <a:solidFill>
                  <a:srgbClr val="C00000"/>
                </a:solidFill>
              </a:rPr>
              <a:t>manager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to,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Assess the status </a:t>
            </a:r>
            <a:r>
              <a:rPr lang="en-US" dirty="0"/>
              <a:t>of an ongoing 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Track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potential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Uncover problem areas </a:t>
            </a:r>
            <a:r>
              <a:rPr lang="en-US" dirty="0"/>
              <a:t>before their status becomes critical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Adjust workflow </a:t>
            </a:r>
            <a:r>
              <a:rPr lang="en-US" dirty="0"/>
              <a:t>or tasks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Evaluate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project </a:t>
            </a:r>
            <a:r>
              <a:rPr lang="en-US" b="1" dirty="0">
                <a:solidFill>
                  <a:srgbClr val="C00000"/>
                </a:solidFill>
              </a:rPr>
              <a:t>team’s ability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control the quality</a:t>
            </a:r>
            <a:r>
              <a:rPr lang="en-US" dirty="0"/>
              <a:t> of software work products</a:t>
            </a:r>
          </a:p>
          <a:p>
            <a:r>
              <a:rPr lang="en-US" dirty="0"/>
              <a:t>Many of the same metrics are used in both the process and project domain</a:t>
            </a:r>
          </a:p>
          <a:p>
            <a:r>
              <a:rPr lang="en-US" b="1" dirty="0">
                <a:solidFill>
                  <a:srgbClr val="C00000"/>
                </a:solidFill>
              </a:rPr>
              <a:t>Project metrics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making </a:t>
            </a:r>
            <a:r>
              <a:rPr lang="en-US" b="1" dirty="0">
                <a:solidFill>
                  <a:srgbClr val="C00000"/>
                </a:solidFill>
              </a:rPr>
              <a:t>smart decisions</a:t>
            </a:r>
            <a:endParaRPr lang="en-US" dirty="0"/>
          </a:p>
          <a:p>
            <a:r>
              <a:rPr lang="en-US" dirty="0"/>
              <a:t>They 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adapt </a:t>
            </a:r>
            <a:r>
              <a:rPr lang="en-US" b="1" dirty="0">
                <a:solidFill>
                  <a:srgbClr val="C00000"/>
                </a:solidFill>
              </a:rPr>
              <a:t>project workflow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technical activities</a:t>
            </a:r>
            <a:endParaRPr lang="en-US" dirty="0"/>
          </a:p>
          <a:p>
            <a:r>
              <a:rPr lang="en-US" dirty="0"/>
              <a:t>Project metrics are used to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Minimize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development schedule</a:t>
            </a:r>
            <a:r>
              <a:rPr lang="en-US" dirty="0"/>
              <a:t> by making the </a:t>
            </a:r>
            <a:r>
              <a:rPr lang="en-US" b="1" dirty="0"/>
              <a:t>adjustments</a:t>
            </a:r>
            <a:r>
              <a:rPr lang="en-US" dirty="0"/>
              <a:t> necessary to avoid delays and </a:t>
            </a:r>
            <a:r>
              <a:rPr lang="en-US" b="1" dirty="0">
                <a:solidFill>
                  <a:srgbClr val="C00000"/>
                </a:solidFill>
              </a:rPr>
              <a:t>mitigate (to reduce)</a:t>
            </a:r>
            <a:r>
              <a:rPr lang="en-US" dirty="0"/>
              <a:t> potential (probable) problems and risks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Assess (evaluate) product quality</a:t>
            </a:r>
            <a:r>
              <a:rPr lang="en-US" dirty="0"/>
              <a:t> on an </a:t>
            </a:r>
            <a:r>
              <a:rPr lang="en-US" b="1" dirty="0">
                <a:solidFill>
                  <a:srgbClr val="C00000"/>
                </a:solidFill>
              </a:rPr>
              <a:t>ongoing basis</a:t>
            </a:r>
            <a:r>
              <a:rPr lang="en-US" dirty="0"/>
              <a:t> and guides to modify the technical approach to improve quality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22"/>
          <a:stretch/>
        </p:blipFill>
        <p:spPr>
          <a:xfrm>
            <a:off x="9917696" y="1831148"/>
            <a:ext cx="2143125" cy="106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2"/>
          <a:stretch/>
        </p:blipFill>
        <p:spPr>
          <a:xfrm>
            <a:off x="9917696" y="3125326"/>
            <a:ext cx="21431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2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matrix concentrates on </a:t>
            </a:r>
            <a:r>
              <a:rPr lang="en-US" b="1" dirty="0">
                <a:solidFill>
                  <a:srgbClr val="C00000"/>
                </a:solidFill>
              </a:rPr>
              <a:t>measuring the characteristics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attributes</a:t>
            </a:r>
            <a:r>
              <a:rPr lang="en-US" dirty="0"/>
              <a:t> of the </a:t>
            </a:r>
            <a:r>
              <a:rPr lang="en-US" b="1" dirty="0">
                <a:solidFill>
                  <a:srgbClr val="C00000"/>
                </a:solidFill>
              </a:rPr>
              <a:t>software product being developed</a:t>
            </a:r>
            <a:r>
              <a:rPr lang="en-US" dirty="0"/>
              <a:t>. </a:t>
            </a:r>
          </a:p>
          <a:p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evaluates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quality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functionality</a:t>
            </a:r>
            <a:r>
              <a:rPr lang="en-US" dirty="0"/>
              <a:t> of the software. </a:t>
            </a:r>
          </a:p>
          <a:p>
            <a:r>
              <a:rPr lang="en-US" dirty="0"/>
              <a:t>Examples of metrics include:</a:t>
            </a:r>
          </a:p>
          <a:p>
            <a:pPr lvl="1"/>
            <a:r>
              <a:rPr lang="en-US" dirty="0"/>
              <a:t>Code quality metrics (</a:t>
            </a:r>
            <a:r>
              <a:rPr lang="en-US" b="1" dirty="0"/>
              <a:t>cyclomatic complexity</a:t>
            </a:r>
            <a:r>
              <a:rPr lang="en-US" dirty="0"/>
              <a:t>, code duplication)</a:t>
            </a:r>
          </a:p>
          <a:p>
            <a:pPr lvl="1"/>
            <a:r>
              <a:rPr lang="en-US" dirty="0"/>
              <a:t>Test coverage (</a:t>
            </a:r>
            <a:r>
              <a:rPr lang="en-US" b="1" dirty="0"/>
              <a:t>percentage of code covered by tests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Defect density (</a:t>
            </a:r>
            <a:r>
              <a:rPr lang="en-US" b="1" dirty="0"/>
              <a:t>number of defects per line of code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Usability metrics (</a:t>
            </a:r>
            <a:r>
              <a:rPr lang="en-US" b="1" dirty="0"/>
              <a:t>user satisfaction, task completion time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2"/>
          <a:stretch/>
        </p:blipFill>
        <p:spPr>
          <a:xfrm>
            <a:off x="6790249" y="5387209"/>
            <a:ext cx="2143125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22"/>
          <a:stretch/>
        </p:blipFill>
        <p:spPr>
          <a:xfrm>
            <a:off x="4509011" y="5387209"/>
            <a:ext cx="21431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3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895" y="845160"/>
            <a:ext cx="67092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/>
              <a:t>Categories of Software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854" y="1540558"/>
            <a:ext cx="3262049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Direct measures of the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855" y="2012772"/>
            <a:ext cx="3262048" cy="7848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Software process</a:t>
            </a:r>
          </a:p>
          <a:p>
            <a:r>
              <a:rPr lang="en-US" sz="2100" dirty="0"/>
              <a:t>Ex., cost, effort, etc.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895" y="2796474"/>
            <a:ext cx="3266008" cy="1431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Software product</a:t>
            </a:r>
          </a:p>
          <a:p>
            <a:r>
              <a:rPr lang="en-US" sz="2100" dirty="0"/>
              <a:t>Ex., lines of code produced, </a:t>
            </a:r>
          </a:p>
          <a:p>
            <a:r>
              <a:rPr lang="en-US" sz="2100" dirty="0"/>
              <a:t>execution speed, </a:t>
            </a:r>
          </a:p>
          <a:p>
            <a:r>
              <a:rPr lang="en-US" sz="2100" dirty="0"/>
              <a:t>defects reported, 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68184" y="1540558"/>
            <a:ext cx="3266008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Indirect measures of 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68184" y="2014531"/>
            <a:ext cx="3266008" cy="1431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Software product</a:t>
            </a:r>
          </a:p>
          <a:p>
            <a:r>
              <a:rPr lang="en-US" sz="2100" dirty="0"/>
              <a:t>Ex. functionality, quality, complexity, efficiency, reliability, etc.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4095" y="758453"/>
            <a:ext cx="67092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/>
              <a:t>Software Measurement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1473" y="1540557"/>
            <a:ext cx="486281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Metrics for Software </a:t>
            </a:r>
          </a:p>
          <a:p>
            <a:pPr algn="ctr"/>
            <a:r>
              <a:rPr lang="en-US" sz="2400" b="1" dirty="0"/>
              <a:t>Cost</a:t>
            </a:r>
            <a:r>
              <a:rPr lang="en-US" sz="2400" dirty="0"/>
              <a:t> and </a:t>
            </a:r>
            <a:r>
              <a:rPr lang="en-US" sz="2400" b="1" dirty="0"/>
              <a:t>Effort</a:t>
            </a:r>
            <a:r>
              <a:rPr lang="en-US" sz="2400" dirty="0"/>
              <a:t> </a:t>
            </a:r>
            <a:r>
              <a:rPr lang="en-US" sz="2400" b="1" dirty="0"/>
              <a:t>estimations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11473" y="2433610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Size Oriented</a:t>
            </a:r>
            <a:r>
              <a:rPr lang="en-US" sz="2400" dirty="0"/>
              <a:t>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1473" y="2974305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Function Oriented </a:t>
            </a:r>
            <a:r>
              <a:rPr lang="en-US" sz="2400" dirty="0"/>
              <a:t>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1473" y="3515000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Object Oriented </a:t>
            </a:r>
            <a:r>
              <a:rPr lang="en-US" sz="2400" dirty="0"/>
              <a:t>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1473" y="4055695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Use Case Oriented </a:t>
            </a:r>
            <a:r>
              <a:rPr lang="en-US" sz="2400" dirty="0"/>
              <a:t>Metrics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823" y="1"/>
            <a:ext cx="922177" cy="9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4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Size-Oriented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32821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Derived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normalizing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(standardizing) </a:t>
            </a:r>
            <a:r>
              <a:rPr lang="en-US" b="1" dirty="0">
                <a:solidFill>
                  <a:srgbClr val="C00000"/>
                </a:solidFill>
              </a:rPr>
              <a:t>quality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and/or </a:t>
            </a:r>
            <a:r>
              <a:rPr lang="en-US" b="1" dirty="0">
                <a:solidFill>
                  <a:srgbClr val="C00000"/>
                </a:solidFill>
              </a:rPr>
              <a:t>productivity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measures by </a:t>
            </a:r>
            <a:r>
              <a:rPr lang="en-US" b="1" dirty="0">
                <a:solidFill>
                  <a:srgbClr val="C00000"/>
                </a:solidFill>
              </a:rPr>
              <a:t>considering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size of the software</a:t>
            </a:r>
            <a:r>
              <a:rPr lang="en-US" dirty="0"/>
              <a:t> produced</a:t>
            </a:r>
          </a:p>
          <a:p>
            <a:r>
              <a:rPr lang="en-US" b="1" dirty="0">
                <a:solidFill>
                  <a:srgbClr val="C00000"/>
                </a:solidFill>
              </a:rPr>
              <a:t>Thousand lines of code (KLOC) </a:t>
            </a:r>
            <a:r>
              <a:rPr lang="en-US" dirty="0"/>
              <a:t>are often chosen as the normalization value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3718" y="2111676"/>
            <a:ext cx="4506968" cy="738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A set of simple size-oriented metrics can be developed for each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778" y="2881222"/>
            <a:ext cx="4517583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sz="2100" dirty="0"/>
              <a:t>Errors per KLOC (thousand lines of code)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2778" y="3355356"/>
            <a:ext cx="2408822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Defects per KLOC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7714" y="3355355"/>
            <a:ext cx="1978684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$ per KLOC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777" y="3829489"/>
            <a:ext cx="4517583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Pages of documentation per KLOC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757" y="4350368"/>
            <a:ext cx="4517583" cy="738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lt1"/>
                </a:solidFill>
              </a:rPr>
              <a:t>In addition, other interesting metrics can be computed, like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777" y="5148942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Errors per person-month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758" y="5619101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KLOC per person-month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719" y="6103253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$ per page of documentation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4293" y="3368057"/>
            <a:ext cx="6896528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Opponents argue that KLOC measurements</a:t>
            </a:r>
            <a:endParaRPr lang="en-US" sz="2400" dirty="0">
              <a:solidFill>
                <a:schemeClr val="lt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64293" y="3868478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Are </a:t>
            </a:r>
            <a:r>
              <a:rPr lang="en-US" sz="2100" b="1" dirty="0">
                <a:solidFill>
                  <a:srgbClr val="C00000"/>
                </a:solidFill>
              </a:rPr>
              <a:t>dependent</a:t>
            </a:r>
            <a:r>
              <a:rPr lang="en-US" sz="2100" b="1" dirty="0"/>
              <a:t> on the programming </a:t>
            </a:r>
            <a:r>
              <a:rPr lang="en-US" sz="2100" b="1" dirty="0">
                <a:solidFill>
                  <a:srgbClr val="C00000"/>
                </a:solidFill>
              </a:rPr>
              <a:t>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4293" y="4348052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Cannot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easily </a:t>
            </a:r>
            <a:r>
              <a:rPr lang="en-US" sz="2100" b="1" dirty="0"/>
              <a:t>accommodate nonprocedural</a:t>
            </a:r>
            <a:r>
              <a:rPr lang="en-US" sz="2100" dirty="0"/>
              <a:t> languages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4293" y="4824230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Require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 </a:t>
            </a:r>
            <a:r>
              <a:rPr lang="en-US" sz="2100" b="1" dirty="0"/>
              <a:t>level of detail </a:t>
            </a:r>
            <a:r>
              <a:rPr lang="en-US" sz="2100" dirty="0"/>
              <a:t>that may be </a:t>
            </a:r>
            <a:r>
              <a:rPr lang="en-US" sz="2100" b="1" dirty="0"/>
              <a:t>difficult to achieve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069044" y="2232234"/>
            <a:ext cx="6896528" cy="916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Size-oriented</a:t>
            </a:r>
            <a:r>
              <a:rPr lang="en-US" dirty="0"/>
              <a:t> metrics </a:t>
            </a:r>
            <a:r>
              <a:rPr lang="en-US" b="1" dirty="0">
                <a:solidFill>
                  <a:srgbClr val="C00000"/>
                </a:solidFill>
              </a:rPr>
              <a:t>are not universally accepted </a:t>
            </a:r>
            <a:r>
              <a:rPr lang="en-US" dirty="0"/>
              <a:t>as the best way </a:t>
            </a:r>
            <a:r>
              <a:rPr lang="en-US" b="1" dirty="0">
                <a:solidFill>
                  <a:srgbClr val="C00000"/>
                </a:solidFill>
              </a:rPr>
              <a:t>to measure the software </a:t>
            </a:r>
            <a:r>
              <a:rPr lang="en-US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41215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22" grpId="0" animBg="1"/>
      <p:bldP spid="23" grpId="0" animBg="1"/>
      <p:bldP spid="2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Oriented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2570" y="775449"/>
            <a:ext cx="11658600" cy="5334000"/>
          </a:xfrm>
        </p:spPr>
        <p:txBody>
          <a:bodyPr/>
          <a:lstStyle/>
          <a:p>
            <a:r>
              <a:rPr lang="en-US" dirty="0"/>
              <a:t>Function-oriented metrics use a measure of the </a:t>
            </a:r>
            <a:r>
              <a:rPr lang="en-US" b="1" dirty="0">
                <a:solidFill>
                  <a:srgbClr val="C00000"/>
                </a:solidFill>
              </a:rPr>
              <a:t>functionality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delivered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the application as a normalization value</a:t>
            </a:r>
          </a:p>
          <a:p>
            <a:r>
              <a:rPr lang="en-US" dirty="0"/>
              <a:t>Most </a:t>
            </a:r>
            <a:r>
              <a:rPr lang="en-US" b="1" dirty="0">
                <a:solidFill>
                  <a:srgbClr val="C00000"/>
                </a:solidFill>
              </a:rPr>
              <a:t>widely used metric </a:t>
            </a:r>
            <a:r>
              <a:rPr lang="en-US" dirty="0"/>
              <a:t>of this type is the </a:t>
            </a:r>
            <a:r>
              <a:rPr lang="en-US" b="1" dirty="0">
                <a:solidFill>
                  <a:srgbClr val="C00000"/>
                </a:solidFill>
              </a:rPr>
              <a:t>Function Point</a:t>
            </a:r>
          </a:p>
          <a:p>
            <a:pPr lvl="1"/>
            <a:r>
              <a:rPr lang="en-US" b="1" dirty="0"/>
              <a:t>FP</a:t>
            </a:r>
            <a:r>
              <a:rPr lang="en-US" dirty="0"/>
              <a:t> = Count Total * [0.65 + 0.01 * Sum (Value Adjustment Factors)]</a:t>
            </a:r>
          </a:p>
          <a:p>
            <a:r>
              <a:rPr lang="en-US" dirty="0"/>
              <a:t>Function Point </a:t>
            </a:r>
            <a:r>
              <a:rPr lang="en-US" b="1" dirty="0">
                <a:solidFill>
                  <a:srgbClr val="C00000"/>
                </a:solidFill>
              </a:rPr>
              <a:t>values on past projects</a:t>
            </a:r>
            <a:r>
              <a:rPr lang="en-US" dirty="0"/>
              <a:t> can be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compute,</a:t>
            </a:r>
          </a:p>
          <a:p>
            <a:pPr lvl="1"/>
            <a:r>
              <a:rPr lang="en-US" dirty="0"/>
              <a:t>for example, the </a:t>
            </a:r>
            <a:r>
              <a:rPr lang="en-US" b="1" dirty="0"/>
              <a:t>average number of lines of code</a:t>
            </a:r>
            <a:r>
              <a:rPr lang="en-US" dirty="0"/>
              <a:t> per function point</a:t>
            </a:r>
          </a:p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FP is </a:t>
            </a:r>
            <a:r>
              <a:rPr lang="en-US" b="1" dirty="0">
                <a:solidFill>
                  <a:srgbClr val="C00000"/>
                </a:solidFill>
              </a:rPr>
              <a:t>programming language independent</a:t>
            </a:r>
            <a:endParaRPr lang="en-US" dirty="0"/>
          </a:p>
          <a:p>
            <a:pPr lvl="1"/>
            <a:r>
              <a:rPr lang="en-US" dirty="0"/>
              <a:t>FP is based on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</a:t>
            </a:r>
            <a:r>
              <a:rPr lang="en-US" b="1" dirty="0">
                <a:solidFill>
                  <a:srgbClr val="C00000"/>
                </a:solidFill>
              </a:rPr>
              <a:t>more likely to be known in the early stages</a:t>
            </a:r>
            <a:r>
              <a:rPr lang="en-US" dirty="0"/>
              <a:t> of a project, making it more attractive as an estimation approach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FP </a:t>
            </a:r>
            <a:r>
              <a:rPr lang="en-US" b="1" dirty="0">
                <a:solidFill>
                  <a:srgbClr val="C00000"/>
                </a:solidFill>
              </a:rPr>
              <a:t>requires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some “</a:t>
            </a:r>
            <a:r>
              <a:rPr lang="en-US" b="1" dirty="0"/>
              <a:t>sleight of hand</a:t>
            </a:r>
            <a:r>
              <a:rPr lang="en-US" dirty="0"/>
              <a:t>” because the </a:t>
            </a:r>
            <a:r>
              <a:rPr lang="en-US" b="1" dirty="0"/>
              <a:t>computation</a:t>
            </a:r>
            <a:r>
              <a:rPr lang="en-US" dirty="0"/>
              <a:t> is based on </a:t>
            </a:r>
            <a:r>
              <a:rPr lang="en-US" b="1" dirty="0"/>
              <a:t>subjective data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Counts of the information</a:t>
            </a:r>
            <a:r>
              <a:rPr lang="en-US" dirty="0"/>
              <a:t> domain can be </a:t>
            </a:r>
            <a:r>
              <a:rPr lang="en-US" b="1" dirty="0"/>
              <a:t>difficult to collect</a:t>
            </a:r>
            <a:endParaRPr lang="en-US" dirty="0"/>
          </a:p>
          <a:p>
            <a:pPr lvl="1"/>
            <a:r>
              <a:rPr lang="en-US" dirty="0"/>
              <a:t>FP has </a:t>
            </a:r>
            <a:r>
              <a:rPr lang="en-US" b="1" dirty="0">
                <a:solidFill>
                  <a:srgbClr val="C00000"/>
                </a:solidFill>
              </a:rPr>
              <a:t>no direct physical meaning</a:t>
            </a:r>
            <a:r>
              <a:rPr lang="en-US" dirty="0"/>
              <a:t>, it’s just a number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3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674062" cy="559056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Conventional software project metrics</a:t>
            </a:r>
            <a:r>
              <a:rPr lang="en-US" dirty="0"/>
              <a:t> (LOC or FP) </a:t>
            </a:r>
            <a:r>
              <a:rPr lang="en-US" b="1" dirty="0">
                <a:solidFill>
                  <a:srgbClr val="C00000"/>
                </a:solidFill>
              </a:rPr>
              <a:t>can be used </a:t>
            </a:r>
            <a:r>
              <a:rPr lang="en-US" dirty="0"/>
              <a:t>to estimate object-oriented software projects</a:t>
            </a:r>
          </a:p>
          <a:p>
            <a:r>
              <a:rPr lang="en-US" dirty="0"/>
              <a:t>However, these metrics </a:t>
            </a:r>
            <a:r>
              <a:rPr lang="en-US" b="1" dirty="0">
                <a:solidFill>
                  <a:srgbClr val="C00000"/>
                </a:solidFill>
              </a:rPr>
              <a:t>do not provide enough granularity</a:t>
            </a:r>
            <a:r>
              <a:rPr lang="en-US" dirty="0"/>
              <a:t> (detailing) for the schedule and effort adjustments that are required as you iterate through an evolutionary or incremental process</a:t>
            </a:r>
          </a:p>
          <a:p>
            <a:r>
              <a:rPr lang="en-US" dirty="0"/>
              <a:t>Lorenz and Kidd suggest the following </a:t>
            </a:r>
            <a:r>
              <a:rPr lang="en-US" b="1" dirty="0">
                <a:solidFill>
                  <a:srgbClr val="C00000"/>
                </a:solidFill>
              </a:rPr>
              <a:t>set of metrics for OO projects</a:t>
            </a:r>
          </a:p>
          <a:p>
            <a:pPr lvl="1"/>
            <a:r>
              <a:rPr lang="en-US" dirty="0"/>
              <a:t>Number of</a:t>
            </a:r>
            <a:r>
              <a:rPr lang="en-US" b="1" dirty="0">
                <a:solidFill>
                  <a:srgbClr val="C00000"/>
                </a:solidFill>
              </a:rPr>
              <a:t> scenario scripts</a:t>
            </a:r>
          </a:p>
          <a:p>
            <a:pPr lvl="1"/>
            <a:r>
              <a:rPr lang="en-US" dirty="0"/>
              <a:t>Number of </a:t>
            </a:r>
            <a:r>
              <a:rPr lang="en-US" b="1" dirty="0">
                <a:solidFill>
                  <a:srgbClr val="C00000"/>
                </a:solidFill>
              </a:rPr>
              <a:t>key classes</a:t>
            </a:r>
            <a:r>
              <a:rPr lang="en-US" dirty="0"/>
              <a:t> (the highly independent components)</a:t>
            </a:r>
          </a:p>
          <a:p>
            <a:pPr lvl="1"/>
            <a:r>
              <a:rPr lang="en-US" dirty="0"/>
              <a:t>Number of</a:t>
            </a:r>
            <a:r>
              <a:rPr lang="en-US" b="1" dirty="0">
                <a:solidFill>
                  <a:srgbClr val="C00000"/>
                </a:solidFill>
              </a:rPr>
              <a:t> support classes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851317" y="1"/>
            <a:ext cx="0" cy="66093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11692" y="73985"/>
            <a:ext cx="4831772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Use Case Oriented Metrics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897392" y="885168"/>
            <a:ext cx="6224343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Like FP, the </a:t>
            </a:r>
            <a:r>
              <a:rPr lang="en-US" b="1" dirty="0">
                <a:solidFill>
                  <a:srgbClr val="C00000"/>
                </a:solidFill>
              </a:rPr>
              <a:t>use case</a:t>
            </a:r>
            <a:r>
              <a:rPr lang="en-US" dirty="0"/>
              <a:t> is defined early in the software process, allowing it to be </a:t>
            </a:r>
            <a:r>
              <a:rPr lang="en-US" b="1" dirty="0">
                <a:solidFill>
                  <a:srgbClr val="C00000"/>
                </a:solidFill>
              </a:rPr>
              <a:t>used for estimation before significant</a:t>
            </a:r>
            <a:r>
              <a:rPr lang="en-US" dirty="0"/>
              <a:t> (valuable) </a:t>
            </a:r>
            <a:r>
              <a:rPr lang="en-US" b="1" dirty="0">
                <a:solidFill>
                  <a:srgbClr val="C00000"/>
                </a:solidFill>
              </a:rPr>
              <a:t>modeling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construction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activities are </a:t>
            </a:r>
            <a:r>
              <a:rPr lang="en-US" b="1" dirty="0">
                <a:solidFill>
                  <a:srgbClr val="C00000"/>
                </a:solidFill>
              </a:rPr>
              <a:t>initiated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Use cases describe</a:t>
            </a:r>
            <a:r>
              <a:rPr lang="en-US" dirty="0"/>
              <a:t> (indirectly, at least) </a:t>
            </a:r>
            <a:r>
              <a:rPr lang="en-US" b="1" dirty="0">
                <a:solidFill>
                  <a:srgbClr val="C00000"/>
                </a:solidFill>
              </a:rPr>
              <a:t>user-visible functions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features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basic requirements for a system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use case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independent of programming language</a:t>
            </a:r>
            <a:r>
              <a:rPr lang="en-US" dirty="0"/>
              <a:t>, because use cases can be created at vastly different levels of abstraction, there is </a:t>
            </a:r>
            <a:r>
              <a:rPr lang="en-US" dirty="0">
                <a:solidFill>
                  <a:srgbClr val="C00000"/>
                </a:solidFill>
              </a:rPr>
              <a:t>no standard “size” for a use case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Without a standard measure</a:t>
            </a:r>
            <a:r>
              <a:rPr lang="en-US" dirty="0"/>
              <a:t> of what a use case is, its application as a normalization </a:t>
            </a:r>
            <a:r>
              <a:rPr lang="en-US" b="1" dirty="0">
                <a:solidFill>
                  <a:srgbClr val="C00000"/>
                </a:solidFill>
              </a:rPr>
              <a:t>measure is suspect</a:t>
            </a:r>
            <a:r>
              <a:rPr lang="en-US" dirty="0"/>
              <a:t> (doubtful).</a:t>
            </a:r>
          </a:p>
          <a:p>
            <a:pPr lvl="1"/>
            <a:r>
              <a:rPr lang="en-US" dirty="0"/>
              <a:t>Ex., effort expended / use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1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72570" y="909915"/>
            <a:ext cx="4819650" cy="5334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function point (FP)</a:t>
            </a:r>
            <a:r>
              <a:rPr lang="en-US" dirty="0"/>
              <a:t> metric can be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effectively as a </a:t>
            </a:r>
            <a:r>
              <a:rPr lang="en-US" b="1" dirty="0">
                <a:solidFill>
                  <a:srgbClr val="C00000"/>
                </a:solidFill>
              </a:rPr>
              <a:t>means for measuring the functionality</a:t>
            </a:r>
            <a:r>
              <a:rPr lang="en-US" dirty="0"/>
              <a:t> delivered by a system</a:t>
            </a:r>
          </a:p>
          <a:p>
            <a:r>
              <a:rPr lang="en-US" dirty="0"/>
              <a:t>Using </a:t>
            </a:r>
            <a:r>
              <a:rPr lang="en-US" b="1" dirty="0">
                <a:solidFill>
                  <a:srgbClr val="C00000"/>
                </a:solidFill>
              </a:rPr>
              <a:t>historical data</a:t>
            </a:r>
            <a:r>
              <a:rPr lang="en-US" dirty="0"/>
              <a:t>, the </a:t>
            </a:r>
            <a:r>
              <a:rPr lang="en-US" b="1" dirty="0">
                <a:solidFill>
                  <a:srgbClr val="C00000"/>
                </a:solidFill>
              </a:rPr>
              <a:t>FP metric</a:t>
            </a:r>
            <a:r>
              <a:rPr lang="en-US" dirty="0"/>
              <a:t> can be </a:t>
            </a:r>
            <a:r>
              <a:rPr lang="en-US" b="1" dirty="0"/>
              <a:t>used</a:t>
            </a:r>
            <a:r>
              <a:rPr lang="en-US" dirty="0"/>
              <a:t> to 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Estimate the cost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/>
              <a:t> required to </a:t>
            </a:r>
            <a:r>
              <a:rPr lang="en-US" dirty="0">
                <a:solidFill>
                  <a:srgbClr val="C00000"/>
                </a:solidFill>
              </a:rPr>
              <a:t>design, code,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test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software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Predict the number of errors </a:t>
            </a:r>
            <a:r>
              <a:rPr lang="en-US" dirty="0"/>
              <a:t>that will be encountered </a:t>
            </a:r>
            <a:r>
              <a:rPr lang="en-US" dirty="0">
                <a:solidFill>
                  <a:srgbClr val="C00000"/>
                </a:solidFill>
              </a:rPr>
              <a:t>during testing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Forecast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number of components</a:t>
            </a:r>
            <a:r>
              <a:rPr lang="en-US" dirty="0"/>
              <a:t> and/or the </a:t>
            </a:r>
            <a:r>
              <a:rPr lang="en-US" b="1" dirty="0">
                <a:solidFill>
                  <a:srgbClr val="C00000"/>
                </a:solidFill>
              </a:rPr>
              <a:t>number of projected source lines </a:t>
            </a:r>
            <a:r>
              <a:rPr lang="en-US" dirty="0"/>
              <a:t>in the implemented system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117903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204417" y="4056966"/>
            <a:ext cx="3061244" cy="2286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241948" y="5657166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Function /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0853" y="4441568"/>
            <a:ext cx="2298664" cy="738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b="1" dirty="0"/>
              <a:t>Internal </a:t>
            </a:r>
          </a:p>
          <a:p>
            <a:pPr algn="ctr"/>
            <a:r>
              <a:rPr lang="en-US" sz="2100" b="1" dirty="0"/>
              <a:t>Logic Files</a:t>
            </a:r>
          </a:p>
        </p:txBody>
      </p:sp>
      <p:sp>
        <p:nvSpPr>
          <p:cNvPr id="9" name="Oval 8"/>
          <p:cNvSpPr/>
          <p:nvPr/>
        </p:nvSpPr>
        <p:spPr>
          <a:xfrm>
            <a:off x="7476726" y="788518"/>
            <a:ext cx="2528817" cy="6660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User / Event</a:t>
            </a:r>
          </a:p>
        </p:txBody>
      </p:sp>
      <p:sp>
        <p:nvSpPr>
          <p:cNvPr id="10" name="Oval 9"/>
          <p:cNvSpPr/>
          <p:nvPr/>
        </p:nvSpPr>
        <p:spPr>
          <a:xfrm>
            <a:off x="5225657" y="1885266"/>
            <a:ext cx="2528817" cy="6660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User / Event</a:t>
            </a:r>
          </a:p>
        </p:txBody>
      </p:sp>
      <p:sp>
        <p:nvSpPr>
          <p:cNvPr id="11" name="Oval 10"/>
          <p:cNvSpPr/>
          <p:nvPr/>
        </p:nvSpPr>
        <p:spPr>
          <a:xfrm>
            <a:off x="9475325" y="1676887"/>
            <a:ext cx="2528817" cy="9807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Other Applications</a:t>
            </a:r>
          </a:p>
        </p:txBody>
      </p:sp>
      <p:cxnSp>
        <p:nvCxnSpPr>
          <p:cNvPr id="12" name="Straight Arrow Connector 11"/>
          <p:cNvCxnSpPr>
            <a:stCxn id="10" idx="4"/>
            <a:endCxn id="6" idx="1"/>
          </p:cNvCxnSpPr>
          <p:nvPr/>
        </p:nvCxnSpPr>
        <p:spPr>
          <a:xfrm>
            <a:off x="6490066" y="2551332"/>
            <a:ext cx="714351" cy="2648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5" idx="0"/>
            <a:endCxn id="10" idx="3"/>
          </p:cNvCxnSpPr>
          <p:nvPr/>
        </p:nvCxnSpPr>
        <p:spPr>
          <a:xfrm flipH="1" flipV="1">
            <a:off x="5595994" y="2453789"/>
            <a:ext cx="550546" cy="1710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917553" y="3013942"/>
            <a:ext cx="12234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external </a:t>
            </a:r>
          </a:p>
          <a:p>
            <a:r>
              <a:rPr lang="en-US" dirty="0"/>
              <a:t>inputs (EIs)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6404" y="4164569"/>
            <a:ext cx="14602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</a:t>
            </a:r>
          </a:p>
          <a:p>
            <a:pPr algn="ctr"/>
            <a:r>
              <a:rPr lang="en-US" dirty="0"/>
              <a:t>outputs (EOs)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026" y="2130623"/>
            <a:ext cx="15420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</a:t>
            </a:r>
          </a:p>
          <a:p>
            <a:pPr algn="ctr"/>
            <a:r>
              <a:rPr lang="en-US" dirty="0"/>
              <a:t>inquiries (EQs)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94570" y="3182035"/>
            <a:ext cx="18903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interface </a:t>
            </a:r>
          </a:p>
          <a:p>
            <a:pPr algn="ctr"/>
            <a:r>
              <a:rPr lang="en-US" dirty="0"/>
              <a:t>files (EIFs)</a:t>
            </a:r>
          </a:p>
        </p:txBody>
      </p:sp>
      <p:cxnSp>
        <p:nvCxnSpPr>
          <p:cNvPr id="18" name="Straight Arrow Connector 17"/>
          <p:cNvCxnSpPr>
            <a:stCxn id="16" idx="0"/>
            <a:endCxn id="9" idx="4"/>
          </p:cNvCxnSpPr>
          <p:nvPr/>
        </p:nvCxnSpPr>
        <p:spPr>
          <a:xfrm flipV="1">
            <a:off x="8735039" y="1454584"/>
            <a:ext cx="6096" cy="6760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2"/>
            <a:endCxn id="6" idx="0"/>
          </p:cNvCxnSpPr>
          <p:nvPr/>
        </p:nvCxnSpPr>
        <p:spPr>
          <a:xfrm>
            <a:off x="8735039" y="2776954"/>
            <a:ext cx="0" cy="1280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17" idx="0"/>
          </p:cNvCxnSpPr>
          <p:nvPr/>
        </p:nvCxnSpPr>
        <p:spPr>
          <a:xfrm flipH="1">
            <a:off x="10739733" y="2657620"/>
            <a:ext cx="1" cy="5244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7" idx="2"/>
            <a:endCxn id="6" idx="3"/>
          </p:cNvCxnSpPr>
          <p:nvPr/>
        </p:nvCxnSpPr>
        <p:spPr>
          <a:xfrm rot="5400000">
            <a:off x="9816897" y="4277130"/>
            <a:ext cx="1371600" cy="4740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7" idx="1"/>
            <a:endCxn id="15" idx="2"/>
          </p:cNvCxnSpPr>
          <p:nvPr/>
        </p:nvCxnSpPr>
        <p:spPr>
          <a:xfrm rot="10800000">
            <a:off x="6146540" y="4810901"/>
            <a:ext cx="1095408" cy="10770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6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4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Components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Information domain values (components) are defined in the following manner</a:t>
            </a:r>
          </a:p>
          <a:p>
            <a:r>
              <a:rPr lang="en-US" b="1" dirty="0"/>
              <a:t>Number of external inputs (EIs)</a:t>
            </a:r>
          </a:p>
          <a:p>
            <a:pPr lvl="1"/>
            <a:r>
              <a:rPr lang="en-US" dirty="0">
                <a:solidFill>
                  <a:srgbClr val="D10233"/>
                </a:solidFill>
              </a:rPr>
              <a:t>input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data </a:t>
            </a:r>
            <a:r>
              <a:rPr lang="en-US" dirty="0"/>
              <a:t>that is entered into the system by the user</a:t>
            </a:r>
            <a:r>
              <a:rPr lang="en-US" dirty="0">
                <a:solidFill>
                  <a:srgbClr val="C00000"/>
                </a:solidFill>
              </a:rPr>
              <a:t>.</a:t>
            </a:r>
            <a:endParaRPr lang="en-US" dirty="0"/>
          </a:p>
          <a:p>
            <a:r>
              <a:rPr lang="en-US" b="1" dirty="0"/>
              <a:t>Number of external outputs (EOs)</a:t>
            </a:r>
          </a:p>
          <a:p>
            <a:pPr lvl="1"/>
            <a:r>
              <a:rPr lang="en-US" dirty="0">
                <a:solidFill>
                  <a:srgbClr val="D10233"/>
                </a:solidFill>
              </a:rPr>
              <a:t>external output </a:t>
            </a:r>
            <a:r>
              <a:rPr lang="en-US" dirty="0"/>
              <a:t>Data that is processed and sent out from the system.</a:t>
            </a:r>
          </a:p>
          <a:p>
            <a:pPr lvl="1"/>
            <a:r>
              <a:rPr lang="en-US" dirty="0"/>
              <a:t>A system generating a sales report or displaying an invoice. </a:t>
            </a:r>
          </a:p>
          <a:p>
            <a:r>
              <a:rPr lang="en-US" b="1" dirty="0"/>
              <a:t>Number of external inquiries (EQs)</a:t>
            </a:r>
          </a:p>
          <a:p>
            <a:pPr lvl="1"/>
            <a:r>
              <a:rPr lang="en-US" dirty="0"/>
              <a:t>A user request for information where </a:t>
            </a:r>
            <a:r>
              <a:rPr lang="en-US" dirty="0">
                <a:solidFill>
                  <a:srgbClr val="D10233"/>
                </a:solidFill>
              </a:rPr>
              <a:t>no data is changed </a:t>
            </a:r>
            <a:r>
              <a:rPr lang="en-US" dirty="0"/>
              <a:t>(like a search operation).</a:t>
            </a:r>
          </a:p>
          <a:p>
            <a:r>
              <a:rPr lang="en-US" b="1" dirty="0"/>
              <a:t>Number of internal logical files (ILFs)</a:t>
            </a:r>
          </a:p>
          <a:p>
            <a:pPr lvl="1"/>
            <a:r>
              <a:rPr lang="en-US" dirty="0"/>
              <a:t>Data stored and maintained </a:t>
            </a:r>
            <a:r>
              <a:rPr lang="en-US" dirty="0">
                <a:solidFill>
                  <a:srgbClr val="D10233"/>
                </a:solidFill>
              </a:rPr>
              <a:t>within the system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database table containing customer records. </a:t>
            </a:r>
          </a:p>
          <a:p>
            <a:r>
              <a:rPr lang="en-US" b="1" dirty="0"/>
              <a:t>Number of external interface files (EIFs)</a:t>
            </a:r>
          </a:p>
          <a:p>
            <a:pPr lvl="1"/>
            <a:r>
              <a:rPr lang="en-US" dirty="0"/>
              <a:t>Data used by the system but </a:t>
            </a:r>
            <a:r>
              <a:rPr lang="en-US" dirty="0">
                <a:solidFill>
                  <a:srgbClr val="D10233"/>
                </a:solidFill>
              </a:rPr>
              <a:t>maintained</a:t>
            </a:r>
            <a:r>
              <a:rPr lang="en-US" dirty="0"/>
              <a:t> in </a:t>
            </a:r>
            <a:r>
              <a:rPr lang="en-US" dirty="0">
                <a:solidFill>
                  <a:srgbClr val="D10233"/>
                </a:solidFill>
              </a:rPr>
              <a:t>another system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bank system accessing exchange rates from a financial API.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8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Function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4881" y="890885"/>
            <a:ext cx="5123069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150" y="1581150"/>
            <a:ext cx="7239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Count Total </a:t>
            </a:r>
            <a:r>
              <a:rPr lang="en-US" sz="2000" dirty="0"/>
              <a:t>is the sum of all FP entries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484" y="2038350"/>
            <a:ext cx="67624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Fi (</a:t>
            </a:r>
            <a:r>
              <a:rPr lang="en-US" sz="2000" b="1" dirty="0" err="1">
                <a:solidFill>
                  <a:srgbClr val="C00000"/>
                </a:solidFill>
              </a:rPr>
              <a:t>i</a:t>
            </a:r>
            <a:r>
              <a:rPr lang="en-US" sz="2000" b="1" dirty="0">
                <a:solidFill>
                  <a:srgbClr val="C00000"/>
                </a:solidFill>
              </a:rPr>
              <a:t>=1 to 14)</a:t>
            </a:r>
            <a:r>
              <a:rPr lang="en-US" sz="2000" dirty="0"/>
              <a:t> are complexity </a:t>
            </a:r>
            <a:r>
              <a:rPr lang="en-US" sz="2000" dirty="0">
                <a:solidFill>
                  <a:srgbClr val="C00000"/>
                </a:solidFill>
              </a:rPr>
              <a:t>value adjustment factors</a:t>
            </a:r>
            <a:r>
              <a:rPr lang="en-US" sz="2000" dirty="0"/>
              <a:t> (</a:t>
            </a:r>
            <a:r>
              <a:rPr lang="en-US" sz="2000" b="1" dirty="0"/>
              <a:t>VAF</a:t>
            </a:r>
            <a:r>
              <a:rPr lang="en-US" sz="2000" dirty="0"/>
              <a:t>).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621377"/>
            <a:ext cx="7351452" cy="2836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ular Callout 7"/>
          <p:cNvSpPr/>
          <p:nvPr/>
        </p:nvSpPr>
        <p:spPr>
          <a:xfrm>
            <a:off x="285750" y="2571750"/>
            <a:ext cx="7351452" cy="838200"/>
          </a:xfrm>
          <a:prstGeom prst="wedgeRectCallout">
            <a:avLst>
              <a:gd name="adj1" fmla="val 1491"/>
              <a:gd name="adj2" fmla="val -64876"/>
            </a:avLst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Value adjustment factors are used to provide an indication of problem complexity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861103" y="73025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861102" y="725786"/>
            <a:ext cx="4330897" cy="46166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Value Adjustment Factors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5005" y="1219200"/>
            <a:ext cx="4038600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F1. Data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F2. Distributed Data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F3.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F4. Heavily Used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F5. Transaction Role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F6. Online Data Entry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F7. End-User 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F8. Online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F9. Complex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F10. Reusability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F11. Installation 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F12. Operational 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F13. Multiple 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F14. Facilitate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6989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 animBg="1"/>
      <p:bldP spid="10" grpId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Function Point Calculation Example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65" y="899815"/>
            <a:ext cx="8613574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8956221" y="804565"/>
            <a:ext cx="31786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Used Adjustment Factors and assumed values are,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6850" y="2193508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F09.</a:t>
            </a:r>
            <a:r>
              <a:rPr lang="en-US" sz="2000" dirty="0"/>
              <a:t> Complex internal processing =  </a:t>
            </a:r>
            <a:r>
              <a:rPr lang="en-US" sz="2000" b="1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6850" y="2989504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F10.</a:t>
            </a:r>
            <a:r>
              <a:rPr lang="en-US" sz="2000" dirty="0"/>
              <a:t> Code to be reusable =</a:t>
            </a:r>
            <a:r>
              <a:rPr lang="en-US" sz="2000" b="1" dirty="0"/>
              <a:t>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8210" y="3785500"/>
            <a:ext cx="295139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F03.</a:t>
            </a:r>
            <a:r>
              <a:rPr lang="en-US" sz="2000" dirty="0"/>
              <a:t> High performance =</a:t>
            </a:r>
            <a:r>
              <a:rPr lang="en-US" sz="2000" b="1" dirty="0"/>
              <a:t>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86850" y="4273720"/>
            <a:ext cx="295275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F13.</a:t>
            </a:r>
            <a:r>
              <a:rPr lang="en-US" sz="2000" dirty="0"/>
              <a:t> Multiple sites = </a:t>
            </a:r>
            <a:r>
              <a:rPr lang="en-US" sz="2000" b="1" dirty="0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6850" y="4761940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F02.</a:t>
            </a:r>
            <a:r>
              <a:rPr lang="en-US" sz="2000" dirty="0"/>
              <a:t> Distributed processing = </a:t>
            </a:r>
            <a:r>
              <a:rPr lang="en-US" sz="2000" b="1" dirty="0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6850" y="5705385"/>
            <a:ext cx="29527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Project Adjustment Factor </a:t>
            </a:r>
            <a:r>
              <a:rPr lang="en-US" sz="2400" b="1" dirty="0">
                <a:solidFill>
                  <a:srgbClr val="C00000"/>
                </a:solidFill>
              </a:rPr>
              <a:t>(VAF) </a:t>
            </a:r>
            <a:r>
              <a:rPr lang="en-US" sz="2400" b="1" dirty="0"/>
              <a:t>= </a:t>
            </a:r>
            <a:r>
              <a:rPr lang="en-US" sz="2400" b="1" dirty="0">
                <a:solidFill>
                  <a:srgbClr val="C00000"/>
                </a:solidFill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8776" y="4300275"/>
            <a:ext cx="512306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3772" y="4841061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[</a:t>
            </a:r>
            <a:r>
              <a:rPr lang="en-US" sz="2400" b="1" dirty="0">
                <a:solidFill>
                  <a:srgbClr val="C00000"/>
                </a:solidFill>
              </a:rPr>
              <a:t>50</a:t>
            </a:r>
            <a:r>
              <a:rPr lang="en-US" sz="2400" b="1" dirty="0"/>
              <a:t>]* [0.65 + 0.01 * </a:t>
            </a:r>
            <a:r>
              <a:rPr lang="en-US" sz="2400" b="1" dirty="0">
                <a:solidFill>
                  <a:srgbClr val="C00000"/>
                </a:solidFill>
              </a:rPr>
              <a:t>17</a:t>
            </a:r>
            <a:r>
              <a:rPr lang="en-US" sz="2400" b="1" dirty="0"/>
              <a:t>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3772" y="5381847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[</a:t>
            </a:r>
            <a:r>
              <a:rPr lang="en-US" sz="2400" b="1" dirty="0">
                <a:solidFill>
                  <a:srgbClr val="C00000"/>
                </a:solidFill>
              </a:rPr>
              <a:t>50</a:t>
            </a:r>
            <a:r>
              <a:rPr lang="en-US" sz="2400" b="1" dirty="0"/>
              <a:t>]* [0.65 + 0.17]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3772" y="5922633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[</a:t>
            </a:r>
            <a:r>
              <a:rPr lang="en-US" sz="2400" b="1" dirty="0">
                <a:solidFill>
                  <a:srgbClr val="C00000"/>
                </a:solidFill>
              </a:rPr>
              <a:t>50</a:t>
            </a:r>
            <a:r>
              <a:rPr lang="en-US" sz="2400" b="1" dirty="0"/>
              <a:t>]* [0.82] = </a:t>
            </a:r>
            <a:r>
              <a:rPr lang="en-US" sz="2400" b="1" dirty="0">
                <a:solidFill>
                  <a:srgbClr val="C00000"/>
                </a:solidFill>
              </a:rPr>
              <a:t>41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8918494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07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7" grpId="0"/>
      <p:bldP spid="28" grpId="0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8AA4-0FD7-FE05-7CDA-04A6CDEF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Function Point Calculation Example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3BBE7-C9CA-518D-406C-875E2E09E33E}"/>
              </a:ext>
            </a:extLst>
          </p:cNvPr>
          <p:cNvSpPr txBox="1"/>
          <p:nvPr/>
        </p:nvSpPr>
        <p:spPr>
          <a:xfrm>
            <a:off x="375730" y="1544594"/>
            <a:ext cx="5093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Effort</a:t>
            </a:r>
            <a:r>
              <a:rPr lang="en-US" sz="2400" b="1" dirty="0"/>
              <a:t>(PM) = FP / Productivity Rate (PR)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BE8EA-1F9D-9F3F-2F34-399DA3E5E9A0}"/>
              </a:ext>
            </a:extLst>
          </p:cNvPr>
          <p:cNvSpPr txBox="1"/>
          <p:nvPr/>
        </p:nvSpPr>
        <p:spPr>
          <a:xfrm>
            <a:off x="375733" y="2095901"/>
            <a:ext cx="50930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Effort</a:t>
            </a:r>
            <a:r>
              <a:rPr lang="en-US" sz="2400" b="1" dirty="0"/>
              <a:t>(PM) = 41 / 12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23CE3-AB2E-97B0-54CC-DB524A1DDAAF}"/>
              </a:ext>
            </a:extLst>
          </p:cNvPr>
          <p:cNvSpPr/>
          <p:nvPr/>
        </p:nvSpPr>
        <p:spPr>
          <a:xfrm>
            <a:off x="6096000" y="1565260"/>
            <a:ext cx="50930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Assume </a:t>
            </a:r>
            <a:r>
              <a:rPr lang="en-IN" sz="2000" b="1" dirty="0"/>
              <a:t>PR = 12</a:t>
            </a:r>
            <a:r>
              <a:rPr lang="en-IN" sz="2000" dirty="0"/>
              <a:t> FP per Person-Month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5CE86-330E-4E0F-6A6B-CE744FEB934E}"/>
              </a:ext>
            </a:extLst>
          </p:cNvPr>
          <p:cNvSpPr txBox="1"/>
          <p:nvPr/>
        </p:nvSpPr>
        <p:spPr>
          <a:xfrm>
            <a:off x="375732" y="2621309"/>
            <a:ext cx="509306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Effort</a:t>
            </a:r>
            <a:r>
              <a:rPr lang="en-US" sz="2400" b="1" dirty="0"/>
              <a:t>(PM) = </a:t>
            </a:r>
            <a:r>
              <a:rPr lang="en-US" sz="2400" b="1" dirty="0">
                <a:solidFill>
                  <a:srgbClr val="C00000"/>
                </a:solidFill>
              </a:rPr>
              <a:t>3.41 Person-Months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34ACBD-862B-7318-ACA1-DD15887978C3}"/>
              </a:ext>
            </a:extLst>
          </p:cNvPr>
          <p:cNvSpPr/>
          <p:nvPr/>
        </p:nvSpPr>
        <p:spPr>
          <a:xfrm>
            <a:off x="216525" y="994973"/>
            <a:ext cx="454373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Effort Estimation (Person-Months)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2705CA-8561-9533-2C04-B0F6D6C81C04}"/>
              </a:ext>
            </a:extLst>
          </p:cNvPr>
          <p:cNvCxnSpPr/>
          <p:nvPr/>
        </p:nvCxnSpPr>
        <p:spPr>
          <a:xfrm>
            <a:off x="2527418" y="1454952"/>
            <a:ext cx="931664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D7B2003-4EE8-0519-A971-7D267CE63311}"/>
              </a:ext>
            </a:extLst>
          </p:cNvPr>
          <p:cNvSpPr/>
          <p:nvPr/>
        </p:nvSpPr>
        <p:spPr>
          <a:xfrm>
            <a:off x="216525" y="3424957"/>
            <a:ext cx="282251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Cost Estimation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E9E77A-B70A-5F9C-CDCF-E7E6D145E1A2}"/>
              </a:ext>
            </a:extLst>
          </p:cNvPr>
          <p:cNvCxnSpPr/>
          <p:nvPr/>
        </p:nvCxnSpPr>
        <p:spPr>
          <a:xfrm>
            <a:off x="2527418" y="3884936"/>
            <a:ext cx="931664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B6ED44-0D8F-5FEA-82B2-2C8E2F379266}"/>
              </a:ext>
            </a:extLst>
          </p:cNvPr>
          <p:cNvSpPr txBox="1"/>
          <p:nvPr/>
        </p:nvSpPr>
        <p:spPr>
          <a:xfrm>
            <a:off x="375730" y="4064220"/>
            <a:ext cx="576151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Cost </a:t>
            </a:r>
            <a:r>
              <a:rPr lang="en-US" sz="2400" b="1" dirty="0"/>
              <a:t>= Effort * Cost per Person-Month (CPM)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9BF4FC-D1EA-799B-4A42-7FB693880ED0}"/>
              </a:ext>
            </a:extLst>
          </p:cNvPr>
          <p:cNvSpPr txBox="1"/>
          <p:nvPr/>
        </p:nvSpPr>
        <p:spPr>
          <a:xfrm>
            <a:off x="375674" y="4554633"/>
            <a:ext cx="280557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Cost </a:t>
            </a:r>
            <a:r>
              <a:rPr lang="en-US" sz="2400" b="1" dirty="0"/>
              <a:t>= 3.41 * </a:t>
            </a:r>
            <a:r>
              <a:rPr lang="en-IN" sz="2400" b="1" dirty="0"/>
              <a:t>$ </a:t>
            </a:r>
            <a:r>
              <a:rPr lang="en-US" sz="2400" b="1" dirty="0"/>
              <a:t>5,000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7742B4-BDCE-DA68-BF75-B276714270D3}"/>
              </a:ext>
            </a:extLst>
          </p:cNvPr>
          <p:cNvSpPr/>
          <p:nvPr/>
        </p:nvSpPr>
        <p:spPr>
          <a:xfrm>
            <a:off x="6096000" y="4013173"/>
            <a:ext cx="50930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Assume </a:t>
            </a:r>
            <a:r>
              <a:rPr lang="en-IN" sz="2000" b="1" dirty="0"/>
              <a:t>CPM = $5,000 per Person-Month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F72B58-3967-8C07-FF72-B2DEF89A6F3B}"/>
              </a:ext>
            </a:extLst>
          </p:cNvPr>
          <p:cNvSpPr txBox="1"/>
          <p:nvPr/>
        </p:nvSpPr>
        <p:spPr>
          <a:xfrm>
            <a:off x="375730" y="5045046"/>
            <a:ext cx="21242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Cost </a:t>
            </a:r>
            <a:r>
              <a:rPr lang="en-US" sz="2400" b="1" dirty="0"/>
              <a:t>= </a:t>
            </a:r>
            <a:r>
              <a:rPr lang="en-IN" sz="2400" b="1" dirty="0">
                <a:solidFill>
                  <a:srgbClr val="C00000"/>
                </a:solidFill>
              </a:rPr>
              <a:t>$ </a:t>
            </a:r>
            <a:r>
              <a:rPr lang="en-US" sz="2400" b="1" dirty="0">
                <a:solidFill>
                  <a:srgbClr val="C00000"/>
                </a:solidFill>
              </a:rPr>
              <a:t>17,050</a:t>
            </a:r>
          </a:p>
        </p:txBody>
      </p:sp>
    </p:spTree>
    <p:extLst>
      <p:ext uri="{BB962C8B-B14F-4D97-AF65-F5344CB8AC3E}">
        <p14:creationId xmlns:p14="http://schemas.microsoft.com/office/powerpoint/2010/main" val="28862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animBg="1"/>
      <p:bldP spid="10" grpId="0" animBg="1"/>
      <p:bldP spid="12" grpId="0"/>
      <p:bldP spid="13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 Point Calculation Example 2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933450"/>
            <a:ext cx="7351452" cy="2836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7161095" y="150779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1052" y="1859518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3670" y="220801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3982" y="2561592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218" y="290798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9625652" y="1535090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612004" y="2914650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689644" y="1877126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689574" y="2217534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688506" y="2584886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6975" y="150581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54452" y="185534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52309" y="220654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99520" y="2556510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64547" y="290462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13376" y="3307318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1631" y="4586585"/>
            <a:ext cx="512306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53100" y="3900785"/>
            <a:ext cx="5361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Value adjustment factors </a:t>
            </a:r>
            <a:r>
              <a:rPr lang="en-US" sz="2400" b="1" dirty="0">
                <a:solidFill>
                  <a:srgbClr val="C00000"/>
                </a:solidFill>
              </a:rPr>
              <a:t>(VAF) = 32 </a:t>
            </a:r>
            <a:r>
              <a:rPr lang="en-US" sz="2400" dirty="0"/>
              <a:t>given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300" y="5119985"/>
            <a:ext cx="342433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= </a:t>
            </a:r>
            <a:r>
              <a:rPr lang="en-US" sz="2400" b="1" dirty="0">
                <a:solidFill>
                  <a:srgbClr val="C00000"/>
                </a:solidFill>
              </a:rPr>
              <a:t>233 </a:t>
            </a:r>
            <a:r>
              <a:rPr lang="en-US" sz="2400" b="1" dirty="0"/>
              <a:t>* [ 0.65 + 0.01 * </a:t>
            </a:r>
            <a:r>
              <a:rPr lang="en-US" sz="2400" b="1" dirty="0">
                <a:solidFill>
                  <a:srgbClr val="C00000"/>
                </a:solidFill>
              </a:rPr>
              <a:t>32</a:t>
            </a:r>
            <a:r>
              <a:rPr lang="en-US" sz="2400" b="1" dirty="0"/>
              <a:t>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1073" y="5653385"/>
            <a:ext cx="294824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= </a:t>
            </a:r>
            <a:r>
              <a:rPr lang="en-US" sz="2400" b="1" dirty="0">
                <a:solidFill>
                  <a:srgbClr val="C00000"/>
                </a:solidFill>
              </a:rPr>
              <a:t>233 </a:t>
            </a:r>
            <a:r>
              <a:rPr lang="en-US" sz="2400" b="1" dirty="0"/>
              <a:t>*  0.97 </a:t>
            </a:r>
            <a:r>
              <a:rPr lang="en-US" sz="2400" b="1"/>
              <a:t>= </a:t>
            </a:r>
            <a:r>
              <a:rPr lang="en-US" sz="2400" b="1">
                <a:solidFill>
                  <a:srgbClr val="C00000"/>
                </a:solidFill>
              </a:rPr>
              <a:t>226.01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4610100" y="4438650"/>
            <a:ext cx="732514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50465" y="927960"/>
            <a:ext cx="401420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Study of requirement specification for a project has produced following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93" y="2301168"/>
            <a:ext cx="401420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Need for</a:t>
            </a:r>
            <a:r>
              <a:rPr lang="en-US" sz="2100" b="1" dirty="0">
                <a:solidFill>
                  <a:srgbClr val="C00000"/>
                </a:solidFill>
              </a:rPr>
              <a:t> 7 inputs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10 outputs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6 inquiries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17 files</a:t>
            </a:r>
            <a:r>
              <a:rPr lang="en-US" sz="2100" dirty="0"/>
              <a:t> and</a:t>
            </a:r>
            <a:r>
              <a:rPr lang="en-US" sz="2100" b="1" dirty="0">
                <a:solidFill>
                  <a:srgbClr val="C00000"/>
                </a:solidFill>
              </a:rPr>
              <a:t> 4 external interfaces</a:t>
            </a:r>
            <a:endParaRPr lang="en-US" sz="2100" dirty="0"/>
          </a:p>
        </p:txBody>
      </p:sp>
      <p:sp>
        <p:nvSpPr>
          <p:cNvPr id="28" name="Rectangle 27"/>
          <p:cNvSpPr/>
          <p:nvPr/>
        </p:nvSpPr>
        <p:spPr>
          <a:xfrm>
            <a:off x="130994" y="3472540"/>
            <a:ext cx="401420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b="1" dirty="0">
                <a:solidFill>
                  <a:srgbClr val="C00000"/>
                </a:solidFill>
              </a:rPr>
              <a:t>Input </a:t>
            </a:r>
            <a:r>
              <a:rPr lang="en-US" sz="2100" dirty="0"/>
              <a:t>and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C00000"/>
                </a:solidFill>
              </a:rPr>
              <a:t>external interface function point </a:t>
            </a:r>
            <a:r>
              <a:rPr lang="en-US" sz="2100" dirty="0"/>
              <a:t>attributes are of</a:t>
            </a:r>
            <a:r>
              <a:rPr lang="en-US" sz="2100" b="1" dirty="0">
                <a:solidFill>
                  <a:srgbClr val="C00000"/>
                </a:solidFill>
              </a:rPr>
              <a:t> average complexity</a:t>
            </a:r>
            <a:r>
              <a:rPr lang="en-US" sz="2100" dirty="0"/>
              <a:t> and all </a:t>
            </a:r>
            <a:r>
              <a:rPr lang="en-US" sz="2100" b="1" dirty="0">
                <a:solidFill>
                  <a:srgbClr val="C00000"/>
                </a:solidFill>
              </a:rPr>
              <a:t>other function points </a:t>
            </a:r>
            <a:r>
              <a:rPr lang="en-US" sz="2100" dirty="0"/>
              <a:t>attributes are of </a:t>
            </a:r>
            <a:r>
              <a:rPr lang="en-US" sz="2100" b="1" dirty="0">
                <a:solidFill>
                  <a:srgbClr val="C00000"/>
                </a:solidFill>
              </a:rPr>
              <a:t>low complexity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9314" y="5353302"/>
            <a:ext cx="400847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Determine </a:t>
            </a:r>
            <a:r>
              <a:rPr lang="en-US" sz="2100" b="1" dirty="0">
                <a:solidFill>
                  <a:srgbClr val="C00000"/>
                </a:solidFill>
              </a:rPr>
              <a:t>adjusted function points</a:t>
            </a:r>
            <a:r>
              <a:rPr lang="en-US" sz="2100" dirty="0"/>
              <a:t> assuming complexity </a:t>
            </a:r>
            <a:r>
              <a:rPr lang="en-US" sz="2100" b="1" dirty="0">
                <a:solidFill>
                  <a:srgbClr val="C00000"/>
                </a:solidFill>
              </a:rPr>
              <a:t>adjustment value is 32</a:t>
            </a:r>
            <a:r>
              <a:rPr lang="en-US" sz="2100" dirty="0"/>
              <a:t>.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249314" y="3362997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49314" y="2206549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68364" y="5224240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346494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9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Project Estimation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3408410" y="748074"/>
            <a:ext cx="8360358" cy="5715479"/>
          </a:xfrm>
        </p:spPr>
        <p:txBody>
          <a:bodyPr/>
          <a:lstStyle/>
          <a:p>
            <a:r>
              <a:rPr lang="en-US" dirty="0"/>
              <a:t>The Software </a:t>
            </a:r>
            <a:r>
              <a:rPr lang="en-US" b="1" dirty="0">
                <a:solidFill>
                  <a:srgbClr val="C00000"/>
                </a:solidFill>
              </a:rPr>
              <a:t>cost estimation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efforts estimation </a:t>
            </a:r>
            <a:r>
              <a:rPr lang="en-US" dirty="0"/>
              <a:t>can </a:t>
            </a:r>
            <a:r>
              <a:rPr lang="en-US" b="1" dirty="0">
                <a:solidFill>
                  <a:srgbClr val="C00000"/>
                </a:solidFill>
              </a:rPr>
              <a:t>never be exact.</a:t>
            </a:r>
          </a:p>
          <a:p>
            <a:r>
              <a:rPr lang="en-US" dirty="0"/>
              <a:t>Because there various factors affecting the estimation </a:t>
            </a:r>
            <a:r>
              <a:rPr lang="en-US" b="1" dirty="0"/>
              <a:t>like manpower, development environment, politics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i="1" dirty="0"/>
              <a:t>To </a:t>
            </a:r>
            <a:r>
              <a:rPr lang="en-US" b="1" i="1" dirty="0">
                <a:solidFill>
                  <a:srgbClr val="C00000"/>
                </a:solidFill>
              </a:rPr>
              <a:t>achieve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i="1" dirty="0"/>
              <a:t>reliable </a:t>
            </a:r>
            <a:r>
              <a:rPr lang="en-US" b="1" i="1" dirty="0">
                <a:solidFill>
                  <a:srgbClr val="C00000"/>
                </a:solidFill>
              </a:rPr>
              <a:t>cost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i="1" dirty="0"/>
              <a:t>and </a:t>
            </a:r>
            <a:r>
              <a:rPr lang="en-US" b="1" i="1" dirty="0">
                <a:solidFill>
                  <a:srgbClr val="C00000"/>
                </a:solidFill>
              </a:rPr>
              <a:t>effort estimates</a:t>
            </a:r>
            <a:r>
              <a:rPr lang="en-US" i="1" dirty="0"/>
              <a:t>, a number of options arise:</a:t>
            </a:r>
          </a:p>
          <a:p>
            <a:r>
              <a:rPr lang="en-US" dirty="0"/>
              <a:t>Delay estimation </a:t>
            </a:r>
            <a:r>
              <a:rPr lang="en-US" b="1" dirty="0">
                <a:solidFill>
                  <a:srgbClr val="C00000"/>
                </a:solidFill>
              </a:rPr>
              <a:t>until late in the project</a:t>
            </a:r>
            <a:r>
              <a:rPr lang="en-US" dirty="0"/>
              <a:t> (obviously, we can achieve 100 percent accurate estimates after the project is complete!)</a:t>
            </a:r>
          </a:p>
          <a:p>
            <a:r>
              <a:rPr lang="en-US" dirty="0"/>
              <a:t>Base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</a:t>
            </a:r>
            <a:r>
              <a:rPr lang="en-US" b="1" dirty="0">
                <a:solidFill>
                  <a:srgbClr val="C00000"/>
                </a:solidFill>
              </a:rPr>
              <a:t>similar projects</a:t>
            </a:r>
            <a:r>
              <a:rPr lang="en-US" dirty="0"/>
              <a:t> that have already been completed</a:t>
            </a:r>
          </a:p>
          <a:p>
            <a:r>
              <a:rPr lang="en-US" dirty="0"/>
              <a:t>Use relatively simple </a:t>
            </a:r>
            <a:r>
              <a:rPr lang="en-US" b="1" dirty="0">
                <a:solidFill>
                  <a:srgbClr val="C00000"/>
                </a:solidFill>
              </a:rPr>
              <a:t>decomposition techniques</a:t>
            </a:r>
            <a:r>
              <a:rPr lang="en-US" dirty="0"/>
              <a:t> to generate project cost and effort estimates</a:t>
            </a:r>
          </a:p>
          <a:p>
            <a:r>
              <a:rPr lang="en-US" b="1" dirty="0">
                <a:solidFill>
                  <a:srgbClr val="C00000"/>
                </a:solidFill>
              </a:rPr>
              <a:t>Use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one or more </a:t>
            </a:r>
            <a:r>
              <a:rPr lang="en-US" b="1" dirty="0">
                <a:solidFill>
                  <a:srgbClr val="C00000"/>
                </a:solidFill>
              </a:rPr>
              <a:t>empirical models</a:t>
            </a:r>
            <a:r>
              <a:rPr lang="en-US" dirty="0"/>
              <a:t> for software cost and effort estimation.</a:t>
            </a:r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228066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22" y="1148931"/>
            <a:ext cx="2257422" cy="22574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4839" y="3844083"/>
            <a:ext cx="28717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can be </a:t>
            </a:r>
            <a:r>
              <a:rPr lang="en-US" sz="2400" b="1" dirty="0">
                <a:solidFill>
                  <a:srgbClr val="C00000"/>
                </a:solidFill>
              </a:rPr>
              <a:t>transformed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from a </a:t>
            </a:r>
            <a:r>
              <a:rPr lang="en-US" sz="2400" b="1" dirty="0">
                <a:solidFill>
                  <a:srgbClr val="C00000"/>
                </a:solidFill>
              </a:rPr>
              <a:t>black art</a:t>
            </a:r>
            <a:r>
              <a:rPr lang="en-US" sz="2400" dirty="0"/>
              <a:t> to a </a:t>
            </a:r>
            <a:r>
              <a:rPr lang="en-US" sz="2400" b="1" dirty="0">
                <a:solidFill>
                  <a:srgbClr val="C00000"/>
                </a:solidFill>
              </a:rPr>
              <a:t>series of systematic steps</a:t>
            </a:r>
            <a:r>
              <a:rPr lang="en-US" sz="2400" dirty="0"/>
              <a:t> that provide </a:t>
            </a:r>
            <a:r>
              <a:rPr lang="en-US" sz="2400" b="1" dirty="0">
                <a:solidFill>
                  <a:srgbClr val="C00000"/>
                </a:solidFill>
              </a:rPr>
              <a:t>estimates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C00000"/>
                </a:solidFill>
              </a:rPr>
              <a:t>acceptable risk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461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Project Decomposing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696185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b="1" dirty="0">
                <a:solidFill>
                  <a:srgbClr val="C00000"/>
                </a:solidFill>
              </a:rPr>
              <a:t>project estimation</a:t>
            </a:r>
            <a:r>
              <a:rPr lang="en-US" dirty="0"/>
              <a:t> is a form of </a:t>
            </a:r>
            <a:r>
              <a:rPr lang="en-US" b="1" dirty="0">
                <a:solidFill>
                  <a:srgbClr val="C00000"/>
                </a:solidFill>
              </a:rPr>
              <a:t>problem solving</a:t>
            </a:r>
            <a:r>
              <a:rPr lang="en-US" dirty="0"/>
              <a:t> and in most cases, the problem to be solved is </a:t>
            </a:r>
            <a:r>
              <a:rPr lang="en-US" b="1" dirty="0">
                <a:solidFill>
                  <a:srgbClr val="C00000"/>
                </a:solidFill>
              </a:rPr>
              <a:t>too complex to be considered in one piece</a:t>
            </a:r>
            <a:endParaRPr lang="en-US" dirty="0"/>
          </a:p>
          <a:p>
            <a:r>
              <a:rPr lang="en-US" dirty="0"/>
              <a:t>For this reason, </a:t>
            </a:r>
            <a:r>
              <a:rPr lang="en-US" b="1" dirty="0">
                <a:solidFill>
                  <a:srgbClr val="C00000"/>
                </a:solidFill>
              </a:rPr>
              <a:t>decomposing the problem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re-characterizing it</a:t>
            </a:r>
            <a:r>
              <a:rPr lang="en-US" dirty="0"/>
              <a:t> as a set of smaller problems is required</a:t>
            </a:r>
          </a:p>
          <a:p>
            <a:r>
              <a:rPr lang="en-US" dirty="0"/>
              <a:t>Before an estimate can be made, the </a:t>
            </a:r>
            <a:r>
              <a:rPr lang="en-US" b="1" dirty="0">
                <a:solidFill>
                  <a:srgbClr val="C00000"/>
                </a:solidFill>
              </a:rPr>
              <a:t>project planner</a:t>
            </a:r>
            <a:r>
              <a:rPr lang="en-US" dirty="0"/>
              <a:t> must </a:t>
            </a:r>
            <a:r>
              <a:rPr lang="en-US" b="1" dirty="0">
                <a:solidFill>
                  <a:srgbClr val="C00000"/>
                </a:solidFill>
              </a:rPr>
              <a:t>understand the scope of the software</a:t>
            </a:r>
            <a:r>
              <a:rPr lang="en-US" dirty="0"/>
              <a:t> to be built and must generate an estimate of its “size”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4045021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1. </a:t>
            </a:r>
            <a:r>
              <a:rPr lang="en-US" sz="2400" dirty="0"/>
              <a:t>Software 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85546" y="4539197"/>
            <a:ext cx="3862137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2. </a:t>
            </a:r>
            <a:r>
              <a:rPr lang="en-US" sz="2400" dirty="0"/>
              <a:t>Problem based Estimation</a:t>
            </a:r>
          </a:p>
          <a:p>
            <a:r>
              <a:rPr lang="en-US" sz="2400" dirty="0"/>
              <a:t>     </a:t>
            </a:r>
            <a:r>
              <a:rPr lang="en-US" sz="2100" dirty="0"/>
              <a:t>LOC (Lines of Code) based, </a:t>
            </a:r>
          </a:p>
          <a:p>
            <a:r>
              <a:rPr lang="en-US" sz="2100" dirty="0"/>
              <a:t>      FP (Function Point) 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7443" y="4035228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3. </a:t>
            </a:r>
            <a:r>
              <a:rPr lang="en-US" sz="2400" dirty="0"/>
              <a:t>Process based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7443" y="4539197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4. </a:t>
            </a:r>
            <a:r>
              <a:rPr lang="en-US" sz="2400" dirty="0"/>
              <a:t>Estimation with Use-cases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0499" y="3337449"/>
            <a:ext cx="382632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Decomposition Techniques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82292" y="3797428"/>
            <a:ext cx="99785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90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953435"/>
            <a:ext cx="11929641" cy="4933199"/>
          </a:xfrm>
        </p:spPr>
        <p:txBody>
          <a:bodyPr/>
          <a:lstStyle/>
          <a:p>
            <a:r>
              <a:rPr lang="en-US" b="1" dirty="0"/>
              <a:t>“Fuzzy logic” sizing</a:t>
            </a:r>
          </a:p>
          <a:p>
            <a:pPr lvl="1"/>
            <a:r>
              <a:rPr lang="en-US" dirty="0"/>
              <a:t>This approach uses </a:t>
            </a:r>
            <a:r>
              <a:rPr lang="en-US" b="1" dirty="0">
                <a:solidFill>
                  <a:srgbClr val="C00000"/>
                </a:solidFill>
              </a:rPr>
              <a:t>the approximate reasoning techniques</a:t>
            </a:r>
            <a:r>
              <a:rPr lang="en-US" dirty="0"/>
              <a:t> that are the foundation of fuzzy logic.</a:t>
            </a:r>
          </a:p>
          <a:p>
            <a:r>
              <a:rPr lang="en-US" b="1" dirty="0"/>
              <a:t>Function Point sizing</a:t>
            </a:r>
          </a:p>
          <a:p>
            <a:pPr lvl="1"/>
            <a:r>
              <a:rPr lang="en-US" dirty="0"/>
              <a:t>The planner develops</a:t>
            </a:r>
            <a:r>
              <a:rPr lang="en-US" b="1" dirty="0">
                <a:solidFill>
                  <a:srgbClr val="C00000"/>
                </a:solidFill>
              </a:rPr>
              <a:t> estimates of the information domain characteristics</a:t>
            </a:r>
          </a:p>
          <a:p>
            <a:r>
              <a:rPr lang="en-US" b="1" dirty="0"/>
              <a:t>Standard Component sizing</a:t>
            </a:r>
          </a:p>
          <a:p>
            <a:pPr lvl="1"/>
            <a:r>
              <a:rPr lang="en-US" dirty="0"/>
              <a:t>Estimate the </a:t>
            </a:r>
            <a:r>
              <a:rPr lang="en-US" b="1" dirty="0">
                <a:solidFill>
                  <a:srgbClr val="C00000"/>
                </a:solidFill>
              </a:rPr>
              <a:t>number of occurrences</a:t>
            </a:r>
            <a:r>
              <a:rPr lang="en-US" dirty="0"/>
              <a:t> of each </a:t>
            </a:r>
            <a:r>
              <a:rPr lang="en-US" b="1" dirty="0">
                <a:solidFill>
                  <a:srgbClr val="C00000"/>
                </a:solidFill>
              </a:rPr>
              <a:t>standard component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>
                <a:solidFill>
                  <a:srgbClr val="C00000"/>
                </a:solidFill>
              </a:rPr>
              <a:t>historical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determine the </a:t>
            </a:r>
            <a:r>
              <a:rPr lang="en-US" b="1" dirty="0">
                <a:solidFill>
                  <a:srgbClr val="C00000"/>
                </a:solidFill>
              </a:rPr>
              <a:t>delivered LOC </a:t>
            </a:r>
            <a:r>
              <a:rPr lang="en-US" dirty="0"/>
              <a:t>size per standard component.</a:t>
            </a:r>
          </a:p>
          <a:p>
            <a:r>
              <a:rPr lang="en-US" b="1" dirty="0"/>
              <a:t>Change sizing</a:t>
            </a:r>
          </a:p>
          <a:p>
            <a:pPr lvl="1"/>
            <a:r>
              <a:rPr lang="en-US" b="1" dirty="0"/>
              <a:t>Used</a:t>
            </a:r>
            <a:r>
              <a:rPr lang="en-US" dirty="0"/>
              <a:t> when </a:t>
            </a:r>
            <a:r>
              <a:rPr lang="en-US" b="1" dirty="0">
                <a:solidFill>
                  <a:srgbClr val="C00000"/>
                </a:solidFill>
              </a:rPr>
              <a:t>changes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being </a:t>
            </a:r>
            <a:r>
              <a:rPr lang="en-US" b="1" dirty="0">
                <a:solidFill>
                  <a:srgbClr val="C00000"/>
                </a:solidFill>
              </a:rPr>
              <a:t>made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existing software</a:t>
            </a:r>
            <a:endParaRPr lang="en-US" dirty="0"/>
          </a:p>
          <a:p>
            <a:pPr lvl="1"/>
            <a:r>
              <a:rPr lang="en-US" dirty="0"/>
              <a:t>Estimate the </a:t>
            </a:r>
            <a:r>
              <a:rPr lang="en-US" b="1" dirty="0">
                <a:solidFill>
                  <a:srgbClr val="C00000"/>
                </a:solidFill>
              </a:rPr>
              <a:t>number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type of modifications</a:t>
            </a:r>
            <a:r>
              <a:rPr lang="en-US" dirty="0"/>
              <a:t> that must be accomplished</a:t>
            </a:r>
          </a:p>
          <a:p>
            <a:pPr lvl="1"/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effort ratio</a:t>
            </a:r>
            <a:r>
              <a:rPr lang="en-US" dirty="0"/>
              <a:t> is then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each </a:t>
            </a:r>
            <a:r>
              <a:rPr lang="en-US" b="1" dirty="0">
                <a:solidFill>
                  <a:srgbClr val="C00000"/>
                </a:solidFill>
              </a:rPr>
              <a:t>type of change</a:t>
            </a:r>
            <a:r>
              <a:rPr lang="en-US" dirty="0"/>
              <a:t> and the </a:t>
            </a:r>
            <a:r>
              <a:rPr lang="en-US" b="1" dirty="0">
                <a:solidFill>
                  <a:srgbClr val="C00000"/>
                </a:solidFill>
              </a:rPr>
              <a:t>size of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change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6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Based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Start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a </a:t>
            </a:r>
            <a:r>
              <a:rPr lang="en-US" b="1" dirty="0">
                <a:solidFill>
                  <a:srgbClr val="C00000"/>
                </a:solidFill>
              </a:rPr>
              <a:t>bounded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statement of </a:t>
            </a:r>
            <a:r>
              <a:rPr lang="en-US" b="1" dirty="0">
                <a:solidFill>
                  <a:srgbClr val="C00000"/>
                </a:solidFill>
              </a:rPr>
              <a:t>scope</a:t>
            </a:r>
          </a:p>
          <a:p>
            <a:r>
              <a:rPr lang="en-US" b="1" dirty="0">
                <a:solidFill>
                  <a:srgbClr val="C00000"/>
                </a:solidFill>
              </a:rPr>
              <a:t>Decompose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</a:t>
            </a:r>
            <a:r>
              <a:rPr lang="en-US" b="1" dirty="0">
                <a:solidFill>
                  <a:srgbClr val="C00000"/>
                </a:solidFill>
              </a:rPr>
              <a:t>problem functions</a:t>
            </a:r>
            <a:r>
              <a:rPr lang="en-US" dirty="0"/>
              <a:t> that can each be </a:t>
            </a:r>
            <a:r>
              <a:rPr lang="en-US" b="1" dirty="0">
                <a:solidFill>
                  <a:srgbClr val="C00000"/>
                </a:solidFill>
              </a:rPr>
              <a:t>estimated individually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Compute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value for </a:t>
            </a:r>
            <a:r>
              <a:rPr lang="en-US" b="1" dirty="0"/>
              <a:t>each function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Derive cost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effort estimates</a:t>
            </a:r>
            <a:r>
              <a:rPr lang="en-US" dirty="0"/>
              <a:t> by applying the </a:t>
            </a:r>
            <a:r>
              <a:rPr lang="en-US" b="1" dirty="0">
                <a:solidFill>
                  <a:srgbClr val="C00000"/>
                </a:solidFill>
              </a:rPr>
              <a:t>LOC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values to your </a:t>
            </a:r>
            <a:r>
              <a:rPr lang="en-US" b="1" dirty="0"/>
              <a:t>baseline productivity metrics</a:t>
            </a:r>
          </a:p>
          <a:p>
            <a:pPr lvl="1"/>
            <a:r>
              <a:rPr lang="en-US" dirty="0"/>
              <a:t>Ex., LOC/person-month or FP/person-month</a:t>
            </a:r>
          </a:p>
          <a:p>
            <a:r>
              <a:rPr lang="en-US" b="1" dirty="0">
                <a:solidFill>
                  <a:srgbClr val="C00000"/>
                </a:solidFill>
              </a:rPr>
              <a:t>Combine function estimates</a:t>
            </a:r>
            <a:r>
              <a:rPr lang="en-US" dirty="0"/>
              <a:t> to produce an </a:t>
            </a:r>
            <a:r>
              <a:rPr lang="en-US" b="1" dirty="0">
                <a:solidFill>
                  <a:srgbClr val="C00000"/>
                </a:solidFill>
              </a:rPr>
              <a:t>overall estimate</a:t>
            </a:r>
            <a:r>
              <a:rPr lang="en-US" dirty="0"/>
              <a:t> for the </a:t>
            </a:r>
            <a:r>
              <a:rPr lang="en-US" b="1" dirty="0">
                <a:solidFill>
                  <a:srgbClr val="C00000"/>
                </a:solidFill>
              </a:rPr>
              <a:t>entire project</a:t>
            </a:r>
          </a:p>
          <a:p>
            <a:r>
              <a:rPr lang="en-US" dirty="0"/>
              <a:t>In general, the</a:t>
            </a:r>
            <a:r>
              <a:rPr lang="en-US" b="1" dirty="0">
                <a:solidFill>
                  <a:srgbClr val="C00000"/>
                </a:solidFill>
              </a:rPr>
              <a:t> LOC/pm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FP/pm</a:t>
            </a:r>
            <a:r>
              <a:rPr lang="en-US" dirty="0"/>
              <a:t> metrics should be computed by project domain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Important factors</a:t>
            </a:r>
            <a:r>
              <a:rPr lang="en-US" dirty="0"/>
              <a:t> are </a:t>
            </a:r>
            <a:r>
              <a:rPr lang="en-US" b="1" dirty="0"/>
              <a:t>team size</a:t>
            </a:r>
            <a:r>
              <a:rPr lang="en-US" dirty="0"/>
              <a:t>, </a:t>
            </a:r>
            <a:r>
              <a:rPr lang="en-US" b="1" dirty="0"/>
              <a:t>application area</a:t>
            </a:r>
            <a:r>
              <a:rPr lang="en-US" dirty="0"/>
              <a:t> and </a:t>
            </a:r>
            <a:r>
              <a:rPr lang="en-US" b="1" dirty="0"/>
              <a:t>complexity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9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Based Estimation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estimation </a:t>
            </a:r>
            <a:r>
              <a:rPr lang="en-US" b="1" dirty="0"/>
              <a:t>differ in the level</a:t>
            </a:r>
            <a:r>
              <a:rPr lang="en-US" dirty="0"/>
              <a:t> of </a:t>
            </a:r>
            <a:r>
              <a:rPr lang="en-US" b="1" dirty="0"/>
              <a:t>detail</a:t>
            </a:r>
            <a:r>
              <a:rPr lang="en-US" dirty="0"/>
              <a:t> required for </a:t>
            </a:r>
            <a:r>
              <a:rPr lang="en-US" b="1" dirty="0"/>
              <a:t>decomposition</a:t>
            </a:r>
            <a:r>
              <a:rPr lang="en-US" dirty="0"/>
              <a:t> with each value</a:t>
            </a:r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decomposition of functions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essential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should go into considerable detail </a:t>
            </a:r>
            <a:r>
              <a:rPr lang="en-US" sz="1800" b="1" dirty="0"/>
              <a:t>(the more detail, the more accurate the estimate)</a:t>
            </a:r>
            <a:endParaRPr lang="en-US" b="1" dirty="0"/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occurs for the </a:t>
            </a:r>
            <a:r>
              <a:rPr lang="en-US" b="1" dirty="0">
                <a:solidFill>
                  <a:srgbClr val="C00000"/>
                </a:solidFill>
              </a:rPr>
              <a:t>five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information </a:t>
            </a:r>
            <a:r>
              <a:rPr lang="en-US" b="1" dirty="0">
                <a:solidFill>
                  <a:srgbClr val="C00000"/>
                </a:solidFill>
              </a:rPr>
              <a:t>domain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14 adjustment factors</a:t>
            </a:r>
            <a:endParaRPr lang="en-US" dirty="0"/>
          </a:p>
          <a:p>
            <a:pPr lvl="2"/>
            <a:r>
              <a:rPr lang="en-US" b="1" dirty="0"/>
              <a:t>External Inputs, External Outputs, External Inquiries, Internal Logical Files, External Interface Files</a:t>
            </a:r>
          </a:p>
          <a:p>
            <a:r>
              <a:rPr lang="en-US" dirty="0"/>
              <a:t>For </a:t>
            </a:r>
            <a:r>
              <a:rPr lang="en-US" b="1" dirty="0"/>
              <a:t>both approaches</a:t>
            </a:r>
            <a:r>
              <a:rPr lang="en-US" dirty="0"/>
              <a:t>, the planner </a:t>
            </a:r>
            <a:r>
              <a:rPr lang="en-US" b="1" dirty="0">
                <a:solidFill>
                  <a:srgbClr val="C00000"/>
                </a:solidFill>
              </a:rPr>
              <a:t>uses lessons learned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optimistic (</a:t>
            </a:r>
            <a:r>
              <a:rPr lang="en-US" b="1" dirty="0" err="1">
                <a:solidFill>
                  <a:srgbClr val="C00000"/>
                </a:solidFill>
              </a:rPr>
              <a:t>S</a:t>
            </a:r>
            <a:r>
              <a:rPr lang="en-US" b="1" baseline="-25000" dirty="0" err="1">
                <a:solidFill>
                  <a:srgbClr val="C00000"/>
                </a:solidFill>
              </a:rPr>
              <a:t>opt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most likely (S</a:t>
            </a:r>
            <a:r>
              <a:rPr lang="en-US" b="1" baseline="-25000" dirty="0">
                <a:solidFill>
                  <a:srgbClr val="C00000"/>
                </a:solidFill>
              </a:rPr>
              <a:t>m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pessimistic (</a:t>
            </a:r>
            <a:r>
              <a:rPr lang="en-US" b="1" dirty="0" err="1">
                <a:solidFill>
                  <a:srgbClr val="C00000"/>
                </a:solidFill>
              </a:rPr>
              <a:t>S</a:t>
            </a:r>
            <a:r>
              <a:rPr lang="en-US" b="1" baseline="-25000" dirty="0" err="1">
                <a:solidFill>
                  <a:srgbClr val="C00000"/>
                </a:solidFill>
              </a:rPr>
              <a:t>pess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 estimates Size (S) value for each function or count</a:t>
            </a:r>
          </a:p>
          <a:p>
            <a:pPr lvl="1"/>
            <a:r>
              <a:rPr lang="en-US" dirty="0"/>
              <a:t>Then the expected Size value S is computed as </a:t>
            </a:r>
          </a:p>
          <a:p>
            <a:pPr lvl="2"/>
            <a:r>
              <a:rPr lang="en-US" dirty="0"/>
              <a:t>S = (</a:t>
            </a:r>
            <a:r>
              <a:rPr lang="en-US" dirty="0" err="1"/>
              <a:t>S</a:t>
            </a:r>
            <a:r>
              <a:rPr lang="en-US" baseline="-25000" dirty="0" err="1"/>
              <a:t>opt</a:t>
            </a:r>
            <a:r>
              <a:rPr lang="en-US" dirty="0"/>
              <a:t> + 4 S</a:t>
            </a:r>
            <a:r>
              <a:rPr lang="en-US" baseline="-25000" dirty="0"/>
              <a:t>m</a:t>
            </a:r>
            <a:r>
              <a:rPr lang="en-US" dirty="0"/>
              <a:t> + </a:t>
            </a:r>
            <a:r>
              <a:rPr lang="en-US" dirty="0" err="1"/>
              <a:t>S</a:t>
            </a:r>
            <a:r>
              <a:rPr lang="en-US" baseline="-25000" dirty="0" err="1"/>
              <a:t>pess</a:t>
            </a:r>
            <a:r>
              <a:rPr lang="en-US" dirty="0"/>
              <a:t>)/6</a:t>
            </a:r>
          </a:p>
          <a:p>
            <a:pPr lvl="2"/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1179" y="4677459"/>
            <a:ext cx="1192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Historical LOC or FP data is then compared to S in order to cross-check it.</a:t>
            </a:r>
          </a:p>
        </p:txBody>
      </p:sp>
    </p:spTree>
    <p:extLst>
      <p:ext uri="{BB962C8B-B14F-4D97-AF65-F5344CB8AC3E}">
        <p14:creationId xmlns:p14="http://schemas.microsoft.com/office/powerpoint/2010/main" val="341860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Based Estimation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4246540" y="863444"/>
            <a:ext cx="7814281" cy="5590565"/>
          </a:xfrm>
        </p:spPr>
        <p:txBody>
          <a:bodyPr/>
          <a:lstStyle/>
          <a:p>
            <a:r>
              <a:rPr lang="en-US" sz="2100" dirty="0"/>
              <a:t>This is one of the </a:t>
            </a:r>
            <a:r>
              <a:rPr lang="en-US" sz="2100" b="1" dirty="0">
                <a:solidFill>
                  <a:srgbClr val="C00000"/>
                </a:solidFill>
              </a:rPr>
              <a:t>most commonly used technique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Identify</a:t>
            </a:r>
            <a:r>
              <a:rPr lang="en-US" sz="2100" dirty="0"/>
              <a:t> the </a:t>
            </a:r>
            <a:r>
              <a:rPr lang="en-US" sz="2100" b="1" dirty="0">
                <a:solidFill>
                  <a:srgbClr val="C00000"/>
                </a:solidFill>
              </a:rPr>
              <a:t>set of functions</a:t>
            </a:r>
            <a:r>
              <a:rPr lang="en-US" sz="2100" dirty="0"/>
              <a:t> that the software needs to perform as obtained </a:t>
            </a:r>
            <a:r>
              <a:rPr lang="en-US" sz="2100" b="1" dirty="0"/>
              <a:t>from the project scope</a:t>
            </a:r>
          </a:p>
          <a:p>
            <a:r>
              <a:rPr lang="en-US" sz="2100" b="1" dirty="0">
                <a:solidFill>
                  <a:srgbClr val="C00000"/>
                </a:solidFill>
              </a:rPr>
              <a:t>Identify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series of framework activities</a:t>
            </a:r>
            <a:r>
              <a:rPr lang="en-US" sz="2100" dirty="0"/>
              <a:t> that need to be performed </a:t>
            </a:r>
            <a:r>
              <a:rPr lang="en-US" sz="2100" b="1" dirty="0"/>
              <a:t>for each function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Estimate the effort</a:t>
            </a:r>
            <a:r>
              <a:rPr lang="en-US" sz="2100" dirty="0"/>
              <a:t> (in </a:t>
            </a:r>
            <a:r>
              <a:rPr lang="en-US" sz="2100" b="1" dirty="0"/>
              <a:t>person months</a:t>
            </a:r>
            <a:r>
              <a:rPr lang="en-US" sz="2100" dirty="0"/>
              <a:t>) that will be </a:t>
            </a:r>
            <a:r>
              <a:rPr lang="en-US" sz="2100" b="1" dirty="0">
                <a:solidFill>
                  <a:srgbClr val="C00000"/>
                </a:solidFill>
              </a:rPr>
              <a:t>required to accomplish</a:t>
            </a:r>
            <a:r>
              <a:rPr lang="en-US" sz="2100" dirty="0"/>
              <a:t> each software process </a:t>
            </a:r>
            <a:r>
              <a:rPr lang="en-US" sz="2100" b="1" dirty="0">
                <a:solidFill>
                  <a:srgbClr val="C00000"/>
                </a:solidFill>
              </a:rPr>
              <a:t>activity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for </a:t>
            </a:r>
            <a:r>
              <a:rPr lang="en-US" sz="2100" b="1" dirty="0">
                <a:solidFill>
                  <a:srgbClr val="C00000"/>
                </a:solidFill>
              </a:rPr>
              <a:t>each function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Apply average labor</a:t>
            </a:r>
            <a:r>
              <a:rPr lang="en-US" sz="2100" dirty="0"/>
              <a:t> rates (i.e., </a:t>
            </a:r>
            <a:r>
              <a:rPr lang="en-US" sz="2100" b="1" dirty="0">
                <a:solidFill>
                  <a:srgbClr val="C00000"/>
                </a:solidFill>
              </a:rPr>
              <a:t>cost/unit</a:t>
            </a:r>
            <a:r>
              <a:rPr lang="en-US" sz="2100" dirty="0"/>
              <a:t> effort) to the </a:t>
            </a:r>
            <a:r>
              <a:rPr lang="en-US" sz="2100" b="1" dirty="0">
                <a:solidFill>
                  <a:srgbClr val="C00000"/>
                </a:solidFill>
              </a:rPr>
              <a:t>effort estimated</a:t>
            </a:r>
            <a:r>
              <a:rPr lang="en-US" sz="2100" dirty="0"/>
              <a:t> for each process activity</a:t>
            </a:r>
          </a:p>
          <a:p>
            <a:r>
              <a:rPr lang="en-US" sz="2100" b="1" dirty="0">
                <a:solidFill>
                  <a:srgbClr val="C00000"/>
                </a:solidFill>
              </a:rPr>
              <a:t>Compute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total cost</a:t>
            </a:r>
            <a:r>
              <a:rPr lang="en-US" sz="2100" dirty="0"/>
              <a:t> and </a:t>
            </a:r>
            <a:r>
              <a:rPr lang="en-US" sz="2100" b="1" dirty="0">
                <a:solidFill>
                  <a:srgbClr val="C00000"/>
                </a:solidFill>
              </a:rPr>
              <a:t>effort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for each function and each framework activity.</a:t>
            </a:r>
          </a:p>
          <a:p>
            <a:r>
              <a:rPr lang="en-US" sz="2100" b="1" dirty="0">
                <a:solidFill>
                  <a:srgbClr val="C00000"/>
                </a:solidFill>
              </a:rPr>
              <a:t>Compare the resulting values</a:t>
            </a:r>
            <a:r>
              <a:rPr lang="en-US" sz="2100" dirty="0"/>
              <a:t> to those obtained by way of the </a:t>
            </a:r>
            <a:r>
              <a:rPr lang="en-US" sz="2100" b="1" dirty="0">
                <a:solidFill>
                  <a:srgbClr val="C00000"/>
                </a:solidFill>
              </a:rPr>
              <a:t>LOC and FP</a:t>
            </a:r>
            <a:r>
              <a:rPr lang="en-US" sz="2100" dirty="0"/>
              <a:t> estimates</a:t>
            </a:r>
          </a:p>
          <a:p>
            <a:r>
              <a:rPr lang="en-US" sz="2100" dirty="0"/>
              <a:t>If </a:t>
            </a:r>
            <a:r>
              <a:rPr lang="en-US" sz="2100" b="1" dirty="0">
                <a:solidFill>
                  <a:srgbClr val="C00000"/>
                </a:solidFill>
              </a:rPr>
              <a:t>both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sets of </a:t>
            </a:r>
            <a:r>
              <a:rPr lang="en-US" sz="2100" b="1" dirty="0">
                <a:solidFill>
                  <a:srgbClr val="C00000"/>
                </a:solidFill>
              </a:rPr>
              <a:t>estimates agree</a:t>
            </a:r>
            <a:r>
              <a:rPr lang="en-US" sz="2100" dirty="0"/>
              <a:t>, then your numbers are </a:t>
            </a:r>
            <a:r>
              <a:rPr lang="en-US" sz="2100" b="1" dirty="0">
                <a:solidFill>
                  <a:srgbClr val="C00000"/>
                </a:solidFill>
              </a:rPr>
              <a:t>highly reliable</a:t>
            </a:r>
            <a:endParaRPr lang="en-US" sz="2100" dirty="0"/>
          </a:p>
          <a:p>
            <a:r>
              <a:rPr lang="en-US" sz="2100" b="1" dirty="0"/>
              <a:t>Otherwise</a:t>
            </a:r>
            <a:r>
              <a:rPr lang="en-US" sz="2100" dirty="0"/>
              <a:t>, conduct </a:t>
            </a:r>
            <a:r>
              <a:rPr lang="en-US" sz="2100" b="1" dirty="0">
                <a:solidFill>
                  <a:srgbClr val="C00000"/>
                </a:solidFill>
              </a:rPr>
              <a:t>further investigation</a:t>
            </a:r>
            <a:r>
              <a:rPr lang="en-US" sz="2100" dirty="0"/>
              <a:t> and </a:t>
            </a:r>
            <a:r>
              <a:rPr lang="en-US" sz="2100" b="1" dirty="0">
                <a:solidFill>
                  <a:srgbClr val="C00000"/>
                </a:solidFill>
              </a:rPr>
              <a:t>analysis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concerning the </a:t>
            </a:r>
            <a:r>
              <a:rPr lang="en-US" sz="2100" b="1" dirty="0">
                <a:solidFill>
                  <a:srgbClr val="C00000"/>
                </a:solidFill>
              </a:rPr>
              <a:t>function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activity breakdown</a:t>
            </a:r>
            <a:endParaRPr lang="en-US" sz="2100" dirty="0"/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4" name="Rectangle 3"/>
          <p:cNvSpPr/>
          <p:nvPr/>
        </p:nvSpPr>
        <p:spPr>
          <a:xfrm>
            <a:off x="93657" y="957263"/>
            <a:ext cx="40115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Process-based estimation is obtained from “process framework”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1283" y="2358105"/>
            <a:ext cx="3839928" cy="327183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7470" y="2356321"/>
            <a:ext cx="725478" cy="32754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7470" y="2358105"/>
            <a:ext cx="713616" cy="3271838"/>
          </a:xfrm>
          <a:prstGeom prst="rect">
            <a:avLst/>
          </a:prstGeom>
          <a:solidFill>
            <a:srgbClr val="DADADA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31835" y="2356320"/>
            <a:ext cx="3149376" cy="55899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sz="2133" b="0" dirty="0">
                <a:solidFill>
                  <a:srgbClr val="000000"/>
                </a:solidFill>
              </a:rPr>
              <a:t>Frame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31836" y="2384747"/>
            <a:ext cx="2949494" cy="51449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17634" y="3302867"/>
            <a:ext cx="2346325" cy="926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17470" y="2358106"/>
            <a:ext cx="1174750" cy="55542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93657" y="3516838"/>
            <a:ext cx="777990" cy="12515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vert270" wrap="none" lIns="80433" tIns="39511" rIns="80433" bIns="39511">
            <a:spAutoFit/>
          </a:bodyPr>
          <a:lstStyle/>
          <a:p>
            <a:pPr algn="ctr">
              <a:defRPr/>
            </a:pPr>
            <a:r>
              <a:rPr lang="en-US" sz="2000" b="1" dirty="0">
                <a:ea typeface="ＭＳ Ｐゴシック" pitchFamily="-128" charset="-128"/>
              </a:rPr>
              <a:t>Application</a:t>
            </a:r>
          </a:p>
          <a:p>
            <a:pPr algn="ctr">
              <a:defRPr/>
            </a:pPr>
            <a:r>
              <a:rPr lang="en-US" sz="2000" b="1" dirty="0">
                <a:ea typeface="ＭＳ Ｐゴシック" pitchFamily="-128" charset="-128"/>
              </a:rPr>
              <a:t>Functions</a:t>
            </a:r>
            <a:endParaRPr 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28" charset="-128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914504" y="3399312"/>
            <a:ext cx="2035184" cy="2018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433" tIns="39511" rIns="80433" bIns="39511">
            <a:spAutoFit/>
          </a:bodyPr>
          <a:lstStyle/>
          <a:p>
            <a:pPr algn="ctr"/>
            <a:r>
              <a:rPr lang="en-US" sz="2100" b="1" dirty="0"/>
              <a:t>Effort required to accomplish</a:t>
            </a:r>
          </a:p>
          <a:p>
            <a:pPr algn="ctr"/>
            <a:r>
              <a:rPr lang="en-US" sz="2100" b="1" dirty="0"/>
              <a:t>each framework activity for each application function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350948" y="3512968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1600184" y="2972468"/>
            <a:ext cx="0" cy="528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842948" y="3743993"/>
            <a:ext cx="485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1350948" y="4015455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350948" y="4529805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1350948" y="5058443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2186" y="2402992"/>
            <a:ext cx="27927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Framework Activities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650" y="1"/>
            <a:ext cx="711200" cy="71120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4113875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25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with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182534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Developing an </a:t>
            </a:r>
            <a:r>
              <a:rPr lang="en-US" b="1" dirty="0">
                <a:solidFill>
                  <a:srgbClr val="C00000"/>
                </a:solidFill>
              </a:rPr>
              <a:t>estimation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approach </a:t>
            </a:r>
            <a:r>
              <a:rPr lang="en-US" b="1" dirty="0">
                <a:solidFill>
                  <a:srgbClr val="C00000"/>
                </a:solidFill>
              </a:rPr>
              <a:t>with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use cases is </a:t>
            </a:r>
            <a:r>
              <a:rPr lang="en-US" b="1" dirty="0">
                <a:solidFill>
                  <a:srgbClr val="C00000"/>
                </a:solidFill>
              </a:rPr>
              <a:t>problematic </a:t>
            </a:r>
            <a:r>
              <a:rPr lang="en-US" dirty="0"/>
              <a:t>for the following reasons:</a:t>
            </a:r>
          </a:p>
          <a:p>
            <a:r>
              <a:rPr lang="en-US" dirty="0"/>
              <a:t>Use cases are </a:t>
            </a:r>
            <a:r>
              <a:rPr lang="en-US" b="1" dirty="0">
                <a:solidFill>
                  <a:srgbClr val="C00000"/>
                </a:solidFill>
              </a:rPr>
              <a:t>described using many different formats</a:t>
            </a:r>
            <a:r>
              <a:rPr lang="en-US" dirty="0"/>
              <a:t> and styles—there is no standard form.</a:t>
            </a:r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represent an external view</a:t>
            </a:r>
            <a:r>
              <a:rPr lang="en-US" dirty="0"/>
              <a:t> (the user’s view) of the software and can </a:t>
            </a:r>
            <a:r>
              <a:rPr lang="en-US" b="1" dirty="0">
                <a:solidFill>
                  <a:srgbClr val="C00000"/>
                </a:solidFill>
              </a:rPr>
              <a:t>therefore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 </a:t>
            </a:r>
            <a:r>
              <a:rPr lang="en-US" b="1" dirty="0">
                <a:solidFill>
                  <a:srgbClr val="C00000"/>
                </a:solidFill>
              </a:rPr>
              <a:t>written at many different levels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abstraction</a:t>
            </a:r>
            <a:endParaRPr lang="en-US" dirty="0"/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do not address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complexity of the functions</a:t>
            </a:r>
            <a:r>
              <a:rPr lang="en-US" dirty="0"/>
              <a:t> and features that are described</a:t>
            </a:r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can describe complex behavior</a:t>
            </a:r>
            <a:r>
              <a:rPr lang="en-US" dirty="0"/>
              <a:t> (Ex., interactions) that </a:t>
            </a:r>
            <a:r>
              <a:rPr lang="en-US" b="1" dirty="0">
                <a:solidFill>
                  <a:srgbClr val="C00000"/>
                </a:solidFill>
              </a:rPr>
              <a:t>involve many functions</a:t>
            </a:r>
            <a:r>
              <a:rPr lang="en-US" dirty="0"/>
              <a:t> and features</a:t>
            </a:r>
          </a:p>
          <a:p>
            <a:r>
              <a:rPr lang="en-US" dirty="0"/>
              <a:t>Although a number of investigators have considered use cases as an estimation input.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9" b="14476"/>
          <a:stretch/>
        </p:blipFill>
        <p:spPr>
          <a:xfrm>
            <a:off x="11166668" y="27215"/>
            <a:ext cx="894154" cy="640443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6407131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6451228" y="863444"/>
            <a:ext cx="560959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1" dirty="0">
                <a:solidFill>
                  <a:srgbClr val="C00000"/>
                </a:solidFill>
              </a:rPr>
              <a:t>Before use cases</a:t>
            </a:r>
            <a:r>
              <a:rPr lang="en-US" sz="2100" dirty="0"/>
              <a:t> can be used for </a:t>
            </a:r>
            <a:r>
              <a:rPr lang="en-US" sz="2100" b="1" dirty="0">
                <a:solidFill>
                  <a:srgbClr val="C00000"/>
                </a:solidFill>
              </a:rPr>
              <a:t>estimation</a:t>
            </a:r>
            <a:r>
              <a:rPr lang="en-US" sz="2100" dirty="0"/>
              <a:t>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level within the structural hierarchy </a:t>
            </a:r>
            <a:r>
              <a:rPr lang="en-US" sz="2100" dirty="0"/>
              <a:t>is established,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average length (in pages) of each use case</a:t>
            </a:r>
            <a:r>
              <a:rPr lang="en-US" sz="2100" dirty="0"/>
              <a:t> is determined,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type of software</a:t>
            </a:r>
            <a:r>
              <a:rPr lang="en-US" sz="2100" dirty="0"/>
              <a:t> (e.g., real-time, business, engineering/scientific, </a:t>
            </a:r>
            <a:r>
              <a:rPr lang="en-US" sz="2100" dirty="0" err="1"/>
              <a:t>WebApp</a:t>
            </a:r>
            <a:r>
              <a:rPr lang="en-US" sz="2100" dirty="0"/>
              <a:t>, embedded) is defined, and </a:t>
            </a:r>
          </a:p>
          <a:p>
            <a:pPr lvl="1"/>
            <a:r>
              <a:rPr lang="en-US" sz="2100" dirty="0"/>
              <a:t>a </a:t>
            </a:r>
            <a:r>
              <a:rPr lang="en-US" sz="2100" b="1" dirty="0">
                <a:solidFill>
                  <a:srgbClr val="C00000"/>
                </a:solidFill>
              </a:rPr>
              <a:t>rough architecture</a:t>
            </a:r>
            <a:r>
              <a:rPr lang="en-US" sz="2100" b="1" dirty="0"/>
              <a:t> </a:t>
            </a:r>
            <a:r>
              <a:rPr lang="en-US" sz="2100" dirty="0"/>
              <a:t>for the system is </a:t>
            </a:r>
            <a:r>
              <a:rPr lang="en-US" sz="2100" b="1" dirty="0">
                <a:solidFill>
                  <a:srgbClr val="C00000"/>
                </a:solidFill>
              </a:rPr>
              <a:t>considered</a:t>
            </a:r>
            <a:endParaRPr lang="en-US" sz="2100" dirty="0"/>
          </a:p>
          <a:p>
            <a:r>
              <a:rPr lang="en-US" sz="2100" dirty="0"/>
              <a:t>Once these characteristics are established, </a:t>
            </a:r>
          </a:p>
          <a:p>
            <a:pPr lvl="1"/>
            <a:r>
              <a:rPr lang="en-US" sz="2100" dirty="0"/>
              <a:t>empirical data may be used to establish the estimated number of LOC or FP per use case (for each level of the hierarchy). </a:t>
            </a:r>
          </a:p>
          <a:p>
            <a:r>
              <a:rPr lang="en-US" sz="2100" dirty="0"/>
              <a:t>Historical data are then used to compute the effort required to develop the system.</a:t>
            </a:r>
          </a:p>
        </p:txBody>
      </p:sp>
    </p:spTree>
    <p:extLst>
      <p:ext uri="{BB962C8B-B14F-4D97-AF65-F5344CB8AC3E}">
        <p14:creationId xmlns:p14="http://schemas.microsoft.com/office/powerpoint/2010/main" val="346029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609C-42AD-E4D1-7FC6-54F98F15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with 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D2602-C6A1-8D47-730F-3A556B198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367027"/>
          </a:xfrm>
        </p:spPr>
        <p:txBody>
          <a:bodyPr/>
          <a:lstStyle/>
          <a:p>
            <a:r>
              <a:rPr lang="en-US" dirty="0"/>
              <a:t>Use Case Estimation is a method used to estimate the </a:t>
            </a:r>
            <a:r>
              <a:rPr lang="en-US" b="1" dirty="0"/>
              <a:t>effort</a:t>
            </a:r>
            <a:r>
              <a:rPr lang="en-US" dirty="0"/>
              <a:t>, </a:t>
            </a:r>
            <a:r>
              <a:rPr lang="en-US" b="1" dirty="0"/>
              <a:t>time</a:t>
            </a:r>
            <a:r>
              <a:rPr lang="en-US" dirty="0"/>
              <a:t>, and </a:t>
            </a:r>
            <a:r>
              <a:rPr lang="en-US" b="1" dirty="0"/>
              <a:t>cost</a:t>
            </a:r>
            <a:r>
              <a:rPr lang="en-US" dirty="0"/>
              <a:t> required to develop software based on its </a:t>
            </a:r>
            <a:r>
              <a:rPr lang="en-US" b="1" dirty="0"/>
              <a:t>use cases </a:t>
            </a:r>
            <a:r>
              <a:rPr lang="en-US" dirty="0"/>
              <a:t>(i.e., user interactions with the system).</a:t>
            </a:r>
          </a:p>
          <a:p>
            <a:r>
              <a:rPr lang="en-US" b="1" dirty="0"/>
              <a:t>Steps for Estimation Using Use Cases</a:t>
            </a:r>
          </a:p>
          <a:p>
            <a:pPr lvl="1"/>
            <a:r>
              <a:rPr lang="en-IN" dirty="0"/>
              <a:t>Identify Use Cases</a:t>
            </a:r>
            <a:endParaRPr lang="en-US" dirty="0"/>
          </a:p>
          <a:p>
            <a:pPr lvl="1"/>
            <a:r>
              <a:rPr lang="en-US" dirty="0"/>
              <a:t>Assign Complexity to Each Use Case</a:t>
            </a:r>
          </a:p>
          <a:p>
            <a:pPr lvl="1"/>
            <a:r>
              <a:rPr lang="en-US" dirty="0"/>
              <a:t>Assign Weights to Use Cases</a:t>
            </a:r>
          </a:p>
          <a:p>
            <a:pPr lvl="1"/>
            <a:r>
              <a:rPr lang="en-US" dirty="0"/>
              <a:t>Calculate Unadjusted Use Case Points (UUCP)</a:t>
            </a:r>
          </a:p>
          <a:p>
            <a:pPr lvl="1"/>
            <a:r>
              <a:rPr lang="en-IN" dirty="0"/>
              <a:t>Apply Technical &amp; Environmental Factors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489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C0CD-B4A7-1E8D-68D3-5B43EDC2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with Use Cases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55D692-172B-B07B-44F3-9EFC12807E1A}"/>
              </a:ext>
            </a:extLst>
          </p:cNvPr>
          <p:cNvSpPr/>
          <p:nvPr/>
        </p:nvSpPr>
        <p:spPr>
          <a:xfrm>
            <a:off x="131180" y="770853"/>
            <a:ext cx="251340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Identify Use Cases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CB4D6D-19A3-6F10-BDFD-6B9E023DE2E8}"/>
              </a:ext>
            </a:extLst>
          </p:cNvPr>
          <p:cNvCxnSpPr>
            <a:cxnSpLocks/>
          </p:cNvCxnSpPr>
          <p:nvPr/>
        </p:nvCxnSpPr>
        <p:spPr>
          <a:xfrm>
            <a:off x="2442073" y="1230832"/>
            <a:ext cx="94809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C90DBB-ED4B-8901-975A-6C991BDD9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1235867"/>
            <a:ext cx="11929641" cy="1800649"/>
          </a:xfrm>
        </p:spPr>
        <p:txBody>
          <a:bodyPr/>
          <a:lstStyle/>
          <a:p>
            <a:r>
              <a:rPr lang="en-US" dirty="0"/>
              <a:t>Example: In an e-commerce website, use cases could be</a:t>
            </a:r>
          </a:p>
          <a:p>
            <a:pPr lvl="1"/>
            <a:r>
              <a:rPr lang="en-US" dirty="0"/>
              <a:t>User Login</a:t>
            </a:r>
          </a:p>
          <a:p>
            <a:pPr lvl="1"/>
            <a:r>
              <a:rPr lang="en-US" dirty="0"/>
              <a:t>Search for Products</a:t>
            </a:r>
          </a:p>
          <a:p>
            <a:pPr lvl="1"/>
            <a:r>
              <a:rPr lang="en-US" dirty="0"/>
              <a:t>Add to Cart</a:t>
            </a:r>
          </a:p>
          <a:p>
            <a:pPr lvl="1"/>
            <a:r>
              <a:rPr lang="en-US" dirty="0"/>
              <a:t>Checkout &amp; Payment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E4D783-D536-EDF1-CCC9-ADAF98571EC0}"/>
              </a:ext>
            </a:extLst>
          </p:cNvPr>
          <p:cNvSpPr/>
          <p:nvPr/>
        </p:nvSpPr>
        <p:spPr>
          <a:xfrm>
            <a:off x="131180" y="3030069"/>
            <a:ext cx="474562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Assign Complexity to Each Use Case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95A5DD-C756-87F8-E142-5CDF65519A5F}"/>
              </a:ext>
            </a:extLst>
          </p:cNvPr>
          <p:cNvCxnSpPr>
            <a:cxnSpLocks/>
          </p:cNvCxnSpPr>
          <p:nvPr/>
        </p:nvCxnSpPr>
        <p:spPr>
          <a:xfrm>
            <a:off x="2442073" y="3490048"/>
            <a:ext cx="94809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9B4818D-9DDA-B19B-CD12-6412A70DC6B9}"/>
              </a:ext>
            </a:extLst>
          </p:cNvPr>
          <p:cNvSpPr txBox="1">
            <a:spLocks/>
          </p:cNvSpPr>
          <p:nvPr/>
        </p:nvSpPr>
        <p:spPr>
          <a:xfrm>
            <a:off x="131179" y="3548610"/>
            <a:ext cx="11929641" cy="142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Cases are classified as Simple, Average, or Complex, based on</a:t>
            </a:r>
          </a:p>
          <a:p>
            <a:pPr lvl="1"/>
            <a:r>
              <a:rPr lang="en-US" dirty="0"/>
              <a:t>Number of steps</a:t>
            </a:r>
          </a:p>
          <a:p>
            <a:pPr lvl="1"/>
            <a:r>
              <a:rPr lang="en-US" dirty="0"/>
              <a:t>Number of inputs/outputs</a:t>
            </a:r>
          </a:p>
          <a:p>
            <a:pPr lvl="1"/>
            <a:r>
              <a:rPr lang="en-US" dirty="0"/>
              <a:t>Interaction with other systems</a:t>
            </a:r>
            <a:endParaRPr lang="en-IN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9E7F016-A5DD-5D49-F47D-33AFFF71055C}"/>
              </a:ext>
            </a:extLst>
          </p:cNvPr>
          <p:cNvGraphicFramePr>
            <a:graphicFrameLocks noGrp="1"/>
          </p:cNvGraphicFramePr>
          <p:nvPr/>
        </p:nvGraphicFramePr>
        <p:xfrm>
          <a:off x="131179" y="5032286"/>
          <a:ext cx="10282518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87903">
                  <a:extLst>
                    <a:ext uri="{9D8B030D-6E8A-4147-A177-3AD203B41FA5}">
                      <a16:colId xmlns:a16="http://schemas.microsoft.com/office/drawing/2014/main" val="506367599"/>
                    </a:ext>
                  </a:extLst>
                </a:gridCol>
                <a:gridCol w="2662518">
                  <a:extLst>
                    <a:ext uri="{9D8B030D-6E8A-4147-A177-3AD203B41FA5}">
                      <a16:colId xmlns:a16="http://schemas.microsoft.com/office/drawing/2014/main" val="4270935236"/>
                    </a:ext>
                  </a:extLst>
                </a:gridCol>
                <a:gridCol w="5232097">
                  <a:extLst>
                    <a:ext uri="{9D8B030D-6E8A-4147-A177-3AD203B41FA5}">
                      <a16:colId xmlns:a16="http://schemas.microsoft.com/office/drawing/2014/main" val="881280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Use Case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Transactions (Steps)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41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 or fewer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Login, Logout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989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 to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Search Products, View 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40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Checkout, Payment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3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79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build="p"/>
      <p:bldP spid="9" grpId="0" animBg="1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E11AB-DA58-E3AE-6978-41716645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5ABC-8E29-4BED-B930-55D468ED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with Use Cases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4D0C6-86AA-8638-778C-E54CD36B9BE6}"/>
              </a:ext>
            </a:extLst>
          </p:cNvPr>
          <p:cNvSpPr/>
          <p:nvPr/>
        </p:nvSpPr>
        <p:spPr>
          <a:xfrm>
            <a:off x="131180" y="770853"/>
            <a:ext cx="391190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Assign Weights to Use Cases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B183C6-0235-BD0C-EBD7-770F009F6B4E}"/>
              </a:ext>
            </a:extLst>
          </p:cNvPr>
          <p:cNvCxnSpPr>
            <a:cxnSpLocks/>
          </p:cNvCxnSpPr>
          <p:nvPr/>
        </p:nvCxnSpPr>
        <p:spPr>
          <a:xfrm>
            <a:off x="2442073" y="1230832"/>
            <a:ext cx="94809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B096D8-8345-84E5-D493-19D75CFE0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15" y="1253797"/>
            <a:ext cx="11929641" cy="4549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Each </a:t>
            </a:r>
            <a:r>
              <a:rPr lang="en-US" b="1" dirty="0"/>
              <a:t>complexity level has a weight </a:t>
            </a:r>
            <a:r>
              <a:rPr lang="en-US" dirty="0"/>
              <a:t>in Use Case Points (UCP)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9D4E4E-677B-52E3-DFB0-EE632EF8E453}"/>
              </a:ext>
            </a:extLst>
          </p:cNvPr>
          <p:cNvSpPr/>
          <p:nvPr/>
        </p:nvSpPr>
        <p:spPr>
          <a:xfrm>
            <a:off x="122214" y="3466753"/>
            <a:ext cx="597378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Calculate Unadjusted Use Case Points (UUCP)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C2F260-AA45-9D3D-32BA-A3EE6B893EC5}"/>
              </a:ext>
            </a:extLst>
          </p:cNvPr>
          <p:cNvCxnSpPr>
            <a:cxnSpLocks/>
          </p:cNvCxnSpPr>
          <p:nvPr/>
        </p:nvCxnSpPr>
        <p:spPr>
          <a:xfrm>
            <a:off x="2433109" y="3928418"/>
            <a:ext cx="94809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3D5DB2B-79B1-B61D-A681-884F09CAD89A}"/>
              </a:ext>
            </a:extLst>
          </p:cNvPr>
          <p:cNvGraphicFramePr>
            <a:graphicFrameLocks noGrp="1"/>
          </p:cNvGraphicFramePr>
          <p:nvPr/>
        </p:nvGraphicFramePr>
        <p:xfrm>
          <a:off x="213962" y="1708742"/>
          <a:ext cx="5050421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87903">
                  <a:extLst>
                    <a:ext uri="{9D8B030D-6E8A-4147-A177-3AD203B41FA5}">
                      <a16:colId xmlns:a16="http://schemas.microsoft.com/office/drawing/2014/main" val="506367599"/>
                    </a:ext>
                  </a:extLst>
                </a:gridCol>
                <a:gridCol w="2662518">
                  <a:extLst>
                    <a:ext uri="{9D8B030D-6E8A-4147-A177-3AD203B41FA5}">
                      <a16:colId xmlns:a16="http://schemas.microsoft.com/office/drawing/2014/main" val="4270935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41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 or fewer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989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 to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40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320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9F71BD-8A93-685E-1953-2738BD187338}"/>
              </a:ext>
            </a:extLst>
          </p:cNvPr>
          <p:cNvSpPr txBox="1"/>
          <p:nvPr/>
        </p:nvSpPr>
        <p:spPr>
          <a:xfrm>
            <a:off x="192641" y="4072641"/>
            <a:ext cx="6871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UUCP= </a:t>
            </a:r>
            <a:r>
              <a:rPr lang="en-US" sz="2400" b="1" dirty="0"/>
              <a:t>(Simple * 5) + (Average * 10) + (Complex * 15)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658BA1-0183-1CA3-613A-646FF5774C89}"/>
              </a:ext>
            </a:extLst>
          </p:cNvPr>
          <p:cNvSpPr txBox="1">
            <a:spLocks/>
          </p:cNvSpPr>
          <p:nvPr/>
        </p:nvSpPr>
        <p:spPr>
          <a:xfrm>
            <a:off x="192641" y="4520854"/>
            <a:ext cx="5071742" cy="142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Based on e-commerce example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dirty="0"/>
              <a:t> Simple </a:t>
            </a:r>
            <a:r>
              <a:rPr lang="en-US" dirty="0"/>
              <a:t>Use cases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dirty="0"/>
              <a:t> </a:t>
            </a:r>
            <a:r>
              <a:rPr lang="en-IN" b="1" dirty="0"/>
              <a:t>Average</a:t>
            </a:r>
            <a:r>
              <a:rPr lang="en-US" b="1" dirty="0"/>
              <a:t> </a:t>
            </a:r>
            <a:r>
              <a:rPr lang="en-US" dirty="0"/>
              <a:t>Use cases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2</a:t>
            </a:r>
            <a:r>
              <a:rPr lang="en-US" b="1" dirty="0"/>
              <a:t> </a:t>
            </a:r>
            <a:r>
              <a:rPr lang="en-IN" b="1" dirty="0"/>
              <a:t>Complex</a:t>
            </a:r>
            <a:r>
              <a:rPr lang="en-US" b="1" dirty="0"/>
              <a:t> </a:t>
            </a:r>
            <a:r>
              <a:rPr lang="en-US" dirty="0"/>
              <a:t>Use cases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A56D8-05D0-E7A1-AF90-B5AF86B2FF31}"/>
              </a:ext>
            </a:extLst>
          </p:cNvPr>
          <p:cNvSpPr txBox="1"/>
          <p:nvPr/>
        </p:nvSpPr>
        <p:spPr>
          <a:xfrm>
            <a:off x="192641" y="6087147"/>
            <a:ext cx="64681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UUCP= </a:t>
            </a:r>
            <a:r>
              <a:rPr lang="en-US" sz="2400" b="1" dirty="0"/>
              <a:t>(2 * 5) + (2 * 10) + (2 * 15) = </a:t>
            </a:r>
            <a:r>
              <a:rPr lang="en-US" sz="2400" b="1" dirty="0">
                <a:solidFill>
                  <a:srgbClr val="C00000"/>
                </a:solidFill>
              </a:rPr>
              <a:t>60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D55BB69-C99E-2772-71D9-3030609CFAFC}"/>
              </a:ext>
            </a:extLst>
          </p:cNvPr>
          <p:cNvGraphicFramePr>
            <a:graphicFrameLocks noGrp="1"/>
          </p:cNvGraphicFramePr>
          <p:nvPr/>
        </p:nvGraphicFramePr>
        <p:xfrm>
          <a:off x="6352519" y="4492574"/>
          <a:ext cx="5278649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69689">
                  <a:extLst>
                    <a:ext uri="{9D8B030D-6E8A-4147-A177-3AD203B41FA5}">
                      <a16:colId xmlns:a16="http://schemas.microsoft.com/office/drawing/2014/main" val="506367599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881280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Use Case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41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Login, Logout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989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Search Products, View 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40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Checkout, Payment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3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35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build="p"/>
      <p:bldP spid="9" grpId="0" animBg="1"/>
      <p:bldP spid="6" grpId="0"/>
      <p:bldP spid="8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BA74-82B9-0158-D583-C0A09890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2791-CC7E-8D97-9313-E58C490C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with Use Cases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C04CE-8A6D-876A-AFBE-507A957A52B3}"/>
              </a:ext>
            </a:extLst>
          </p:cNvPr>
          <p:cNvSpPr/>
          <p:nvPr/>
        </p:nvSpPr>
        <p:spPr>
          <a:xfrm>
            <a:off x="131179" y="770853"/>
            <a:ext cx="544486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Apply Technical &amp; Environmental Factors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1EFF2E-C438-D8C3-D8BE-82B96D747A61}"/>
              </a:ext>
            </a:extLst>
          </p:cNvPr>
          <p:cNvCxnSpPr>
            <a:cxnSpLocks/>
          </p:cNvCxnSpPr>
          <p:nvPr/>
        </p:nvCxnSpPr>
        <p:spPr>
          <a:xfrm>
            <a:off x="2442073" y="1230832"/>
            <a:ext cx="94809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AA854B-6517-CA9E-1280-6491F00EB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15" y="1253797"/>
            <a:ext cx="11929641" cy="4549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Adjust for system complexity (e.g., security, performance) and team experience.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FF1C3-2123-2F06-C1E4-2A09074D118C}"/>
              </a:ext>
            </a:extLst>
          </p:cNvPr>
          <p:cNvSpPr/>
          <p:nvPr/>
        </p:nvSpPr>
        <p:spPr>
          <a:xfrm>
            <a:off x="122215" y="2683373"/>
            <a:ext cx="597378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Estimate Effort (Person-Hours)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6CDA8D-B3FE-763E-AA91-9E295B45FAFF}"/>
              </a:ext>
            </a:extLst>
          </p:cNvPr>
          <p:cNvCxnSpPr>
            <a:cxnSpLocks/>
          </p:cNvCxnSpPr>
          <p:nvPr/>
        </p:nvCxnSpPr>
        <p:spPr>
          <a:xfrm>
            <a:off x="2433110" y="3145038"/>
            <a:ext cx="94809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B0C14BD-CF32-5D06-8EB0-CC7E9BF5C1F6}"/>
              </a:ext>
            </a:extLst>
          </p:cNvPr>
          <p:cNvSpPr txBox="1"/>
          <p:nvPr/>
        </p:nvSpPr>
        <p:spPr>
          <a:xfrm>
            <a:off x="1349087" y="3722411"/>
            <a:ext cx="6871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Effort = </a:t>
            </a:r>
            <a:r>
              <a:rPr lang="en-US" sz="2400" b="1" dirty="0"/>
              <a:t>UCP * Hours per UCP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91329-5272-F3EF-75AB-E689A78905F5}"/>
              </a:ext>
            </a:extLst>
          </p:cNvPr>
          <p:cNvSpPr txBox="1"/>
          <p:nvPr/>
        </p:nvSpPr>
        <p:spPr>
          <a:xfrm>
            <a:off x="1349089" y="1690812"/>
            <a:ext cx="446900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UCP = </a:t>
            </a:r>
            <a:r>
              <a:rPr lang="en-US" sz="2400" b="1" dirty="0"/>
              <a:t>UUCP * Adjustment Factor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1EB242-45FA-9BA0-8CD0-79954A49F71A}"/>
              </a:ext>
            </a:extLst>
          </p:cNvPr>
          <p:cNvSpPr/>
          <p:nvPr/>
        </p:nvSpPr>
        <p:spPr>
          <a:xfrm>
            <a:off x="5997388" y="1737452"/>
            <a:ext cx="50930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Assume </a:t>
            </a:r>
            <a:r>
              <a:rPr lang="en-US" sz="2000" dirty="0"/>
              <a:t>that</a:t>
            </a:r>
            <a:r>
              <a:rPr lang="en-US" sz="2000" b="1" dirty="0"/>
              <a:t> Adjustment Factor is 1.1, </a:t>
            </a:r>
            <a:r>
              <a:rPr lang="en-US" sz="2000" dirty="0"/>
              <a:t>then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DA8700-2CCD-98FC-2093-E166D7D3A07B}"/>
              </a:ext>
            </a:extLst>
          </p:cNvPr>
          <p:cNvSpPr txBox="1"/>
          <p:nvPr/>
        </p:nvSpPr>
        <p:spPr>
          <a:xfrm>
            <a:off x="1349087" y="2147263"/>
            <a:ext cx="464830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UCP = </a:t>
            </a:r>
            <a:r>
              <a:rPr lang="en-US" sz="2400" b="1" dirty="0"/>
              <a:t>60 * 1.1 = </a:t>
            </a:r>
            <a:r>
              <a:rPr lang="en-US" sz="2400" b="1" dirty="0">
                <a:solidFill>
                  <a:srgbClr val="C00000"/>
                </a:solidFill>
              </a:rPr>
              <a:t>66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459A13E-45B8-E200-5443-CBC2F72D43DE}"/>
              </a:ext>
            </a:extLst>
          </p:cNvPr>
          <p:cNvSpPr txBox="1">
            <a:spLocks/>
          </p:cNvSpPr>
          <p:nvPr/>
        </p:nvSpPr>
        <p:spPr>
          <a:xfrm>
            <a:off x="122214" y="3232414"/>
            <a:ext cx="11929641" cy="454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Effort per UCP varies (e.g., </a:t>
            </a:r>
            <a:r>
              <a:rPr lang="en-US" b="1" dirty="0"/>
              <a:t>20 person-hours per UCP</a:t>
            </a:r>
            <a:r>
              <a:rPr lang="en-US" dirty="0"/>
              <a:t>).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FDE853-8344-9FBF-BAFB-FA378D7C03D4}"/>
              </a:ext>
            </a:extLst>
          </p:cNvPr>
          <p:cNvSpPr txBox="1"/>
          <p:nvPr/>
        </p:nvSpPr>
        <p:spPr>
          <a:xfrm>
            <a:off x="1349087" y="4202813"/>
            <a:ext cx="6871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Effort = </a:t>
            </a:r>
            <a:r>
              <a:rPr lang="en-US" sz="2400" b="1" dirty="0"/>
              <a:t>66 * 20 = </a:t>
            </a:r>
            <a:r>
              <a:rPr lang="en-US" sz="2400" b="1" dirty="0">
                <a:solidFill>
                  <a:srgbClr val="C00000"/>
                </a:solidFill>
              </a:rPr>
              <a:t>1320 hours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A5FE5-5B5D-9BE2-9A57-BE655191AB76}"/>
              </a:ext>
            </a:extLst>
          </p:cNvPr>
          <p:cNvSpPr/>
          <p:nvPr/>
        </p:nvSpPr>
        <p:spPr>
          <a:xfrm>
            <a:off x="122215" y="4730032"/>
            <a:ext cx="597378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Estimate Cost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1E3911-E50C-5319-C8F0-E7F1C74C6519}"/>
              </a:ext>
            </a:extLst>
          </p:cNvPr>
          <p:cNvCxnSpPr>
            <a:cxnSpLocks/>
          </p:cNvCxnSpPr>
          <p:nvPr/>
        </p:nvCxnSpPr>
        <p:spPr>
          <a:xfrm>
            <a:off x="2433110" y="5191697"/>
            <a:ext cx="948098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0C2173E-00DD-B732-2132-11160443357E}"/>
              </a:ext>
            </a:extLst>
          </p:cNvPr>
          <p:cNvSpPr txBox="1">
            <a:spLocks/>
          </p:cNvSpPr>
          <p:nvPr/>
        </p:nvSpPr>
        <p:spPr>
          <a:xfrm>
            <a:off x="131179" y="5252206"/>
            <a:ext cx="11929641" cy="454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Developer Cost = $50 per hour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20197E-A9D1-BC40-2188-FC44E82DDDBF}"/>
              </a:ext>
            </a:extLst>
          </p:cNvPr>
          <p:cNvSpPr txBox="1"/>
          <p:nvPr/>
        </p:nvSpPr>
        <p:spPr>
          <a:xfrm>
            <a:off x="1232545" y="5707151"/>
            <a:ext cx="6871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Cost = </a:t>
            </a:r>
            <a:r>
              <a:rPr lang="en-US" sz="2400" b="1" dirty="0"/>
              <a:t>Effort * Cost per hour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085C66-112C-BE2D-AC4B-59431D515602}"/>
              </a:ext>
            </a:extLst>
          </p:cNvPr>
          <p:cNvSpPr txBox="1"/>
          <p:nvPr/>
        </p:nvSpPr>
        <p:spPr>
          <a:xfrm>
            <a:off x="1232545" y="6139015"/>
            <a:ext cx="68715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Cost = </a:t>
            </a:r>
            <a:r>
              <a:rPr lang="en-US" sz="2400" b="1" dirty="0"/>
              <a:t>1320 * $50 = </a:t>
            </a:r>
            <a:r>
              <a:rPr lang="en-US" sz="2400" b="1" dirty="0">
                <a:solidFill>
                  <a:srgbClr val="C00000"/>
                </a:solidFill>
              </a:rPr>
              <a:t>$ 66,000</a:t>
            </a:r>
          </a:p>
        </p:txBody>
      </p:sp>
    </p:spTree>
    <p:extLst>
      <p:ext uri="{BB962C8B-B14F-4D97-AF65-F5344CB8AC3E}">
        <p14:creationId xmlns:p14="http://schemas.microsoft.com/office/powerpoint/2010/main" val="342612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build="p"/>
      <p:bldP spid="9" grpId="0" animBg="1"/>
      <p:bldP spid="6" grpId="0"/>
      <p:bldP spid="3" grpId="0"/>
      <p:bldP spid="11" grpId="0"/>
      <p:bldP spid="12" grpId="0"/>
      <p:bldP spid="15" grpId="0"/>
      <p:bldP spid="16" grpId="0"/>
      <p:bldP spid="17" grpId="0" animBg="1"/>
      <p:bldP spid="19" grpId="0"/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Estimation Models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372574" y="1308280"/>
            <a:ext cx="7633964" cy="488823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project size</a:t>
            </a:r>
            <a:r>
              <a:rPr lang="en-US" dirty="0"/>
              <a:t> helps to determine the resources, effort, and duration of the project.</a:t>
            </a:r>
          </a:p>
          <a:p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defined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the </a:t>
            </a:r>
            <a:r>
              <a:rPr lang="en-US" b="1" dirty="0">
                <a:solidFill>
                  <a:srgbClr val="C00000"/>
                </a:solidFill>
              </a:rPr>
              <a:t>Source Lines of Code</a:t>
            </a:r>
            <a:r>
              <a:rPr lang="en-US" dirty="0"/>
              <a:t> that are </a:t>
            </a:r>
            <a:r>
              <a:rPr lang="en-US" b="1" dirty="0">
                <a:solidFill>
                  <a:srgbClr val="C00000"/>
                </a:solidFill>
              </a:rPr>
              <a:t>delivered as part of the product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spent on creating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expressed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relation to thousand lines of code (</a:t>
            </a:r>
            <a:r>
              <a:rPr lang="en-US" b="1" dirty="0">
                <a:solidFill>
                  <a:srgbClr val="C00000"/>
                </a:solidFill>
              </a:rPr>
              <a:t>KLOC</a:t>
            </a:r>
            <a:r>
              <a:rPr lang="en-US" dirty="0"/>
              <a:t>)</a:t>
            </a:r>
          </a:p>
          <a:p>
            <a:r>
              <a:rPr lang="en-US" dirty="0"/>
              <a:t>This </a:t>
            </a:r>
            <a:r>
              <a:rPr lang="en-US" b="1" dirty="0">
                <a:solidFill>
                  <a:srgbClr val="C00000"/>
                </a:solidFill>
              </a:rPr>
              <a:t>technique includes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calculation of Lines of Code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Documentation of Pages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Inputs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Outputs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Components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 software program</a:t>
            </a:r>
          </a:p>
          <a:p>
            <a:r>
              <a:rPr lang="en-US" dirty="0"/>
              <a:t>The SLOC technique is</a:t>
            </a:r>
            <a:r>
              <a:rPr lang="en-US" b="1" dirty="0">
                <a:solidFill>
                  <a:srgbClr val="C00000"/>
                </a:solidFill>
              </a:rPr>
              <a:t> language-dependent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required</a:t>
            </a:r>
            <a:r>
              <a:rPr lang="en-US" dirty="0"/>
              <a:t> to calculate </a:t>
            </a:r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may </a:t>
            </a:r>
            <a:r>
              <a:rPr lang="en-US" b="1" dirty="0">
                <a:solidFill>
                  <a:srgbClr val="C00000"/>
                </a:solidFill>
              </a:rPr>
              <a:t>not be the same</a:t>
            </a:r>
            <a:r>
              <a:rPr lang="en-US" dirty="0"/>
              <a:t> for all </a:t>
            </a:r>
            <a:r>
              <a:rPr lang="en-US" b="1" dirty="0">
                <a:solidFill>
                  <a:srgbClr val="C00000"/>
                </a:solidFill>
              </a:rPr>
              <a:t>languages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6560" y="3658726"/>
            <a:ext cx="369203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Source Lines of Code (SLOC)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560" y="4289704"/>
            <a:ext cx="369203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Function Point (FP)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561" y="4920682"/>
            <a:ext cx="369203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Constructive Cost Model (COCOMO)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36" y="945602"/>
            <a:ext cx="2257422" cy="225742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200960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00960" y="725786"/>
            <a:ext cx="7991039" cy="46166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Source Lines of Code (SLOC)</a:t>
            </a:r>
          </a:p>
        </p:txBody>
      </p:sp>
    </p:spTree>
    <p:extLst>
      <p:ext uri="{BB962C8B-B14F-4D97-AF65-F5344CB8AC3E}">
        <p14:creationId xmlns:p14="http://schemas.microsoft.com/office/powerpoint/2010/main" val="228344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4" grpId="0" animBg="1"/>
      <p:bldP spid="5" grpId="0" animBg="1"/>
      <p:bldP spid="6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903" y="1595450"/>
            <a:ext cx="566961" cy="4451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586" y="1627547"/>
            <a:ext cx="553996" cy="4616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065" y="1627547"/>
            <a:ext cx="633541" cy="4254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69589" y="752029"/>
            <a:ext cx="58528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Software Development Project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056" y="1591325"/>
            <a:ext cx="1160061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Organic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4856" y="1591325"/>
            <a:ext cx="2000548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Semidetached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5846" y="1591325"/>
            <a:ext cx="1561646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Embedded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019086" y="1178382"/>
            <a:ext cx="10065639" cy="410229"/>
            <a:chOff x="961030" y="1447800"/>
            <a:chExt cx="10065639" cy="410229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61030" y="1600200"/>
              <a:ext cx="10065639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>
              <a:off x="961934" y="1447800"/>
              <a:ext cx="10064735" cy="410229"/>
              <a:chOff x="961934" y="1447800"/>
              <a:chExt cx="10064735" cy="410229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961934" y="1595900"/>
                <a:ext cx="1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11026669" y="1597482"/>
                <a:ext cx="0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5922430" y="1597486"/>
                <a:ext cx="0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5924917" y="1447800"/>
                <a:ext cx="0" cy="15240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Rectangle 18"/>
          <p:cNvSpPr/>
          <p:nvPr/>
        </p:nvSpPr>
        <p:spPr>
          <a:xfrm>
            <a:off x="341816" y="2249346"/>
            <a:ext cx="3527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Application programs</a:t>
            </a:r>
          </a:p>
          <a:p>
            <a:r>
              <a:rPr lang="en-US" sz="2000" dirty="0"/>
              <a:t>e.g. data processing programs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3178" y="2249346"/>
            <a:ext cx="33951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System programs</a:t>
            </a:r>
            <a:br>
              <a:rPr lang="en-US" sz="2400" b="1" dirty="0"/>
            </a:br>
            <a:r>
              <a:rPr lang="en-US" sz="2000" dirty="0" err="1"/>
              <a:t>e.g</a:t>
            </a:r>
            <a:r>
              <a:rPr lang="en-US" sz="2000" dirty="0"/>
              <a:t> OS real-time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11381" y="2249346"/>
            <a:ext cx="312182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Utility programs</a:t>
            </a:r>
            <a:br>
              <a:rPr lang="en-US" sz="2400" b="1" dirty="0"/>
            </a:br>
            <a:r>
              <a:rPr lang="en-US" sz="2000" dirty="0" err="1"/>
              <a:t>e.g</a:t>
            </a:r>
            <a:r>
              <a:rPr lang="en-US" sz="2000" dirty="0"/>
              <a:t> Compilers, linkers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455" y="3083382"/>
            <a:ext cx="365850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 </a:t>
            </a:r>
            <a:r>
              <a:rPr lang="en-US" sz="2200" dirty="0"/>
              <a:t>can be considered of </a:t>
            </a:r>
            <a:r>
              <a:rPr lang="en-US" sz="2200" b="1" dirty="0">
                <a:solidFill>
                  <a:srgbClr val="C00000"/>
                </a:solidFill>
              </a:rPr>
              <a:t>organic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project deals with </a:t>
            </a:r>
            <a:r>
              <a:rPr lang="en-US" sz="2200" b="1" dirty="0">
                <a:solidFill>
                  <a:srgbClr val="C00000"/>
                </a:solidFill>
              </a:rPr>
              <a:t>developing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well understood application program</a:t>
            </a:r>
            <a:r>
              <a:rPr lang="en-US" sz="2200" dirty="0"/>
              <a:t>, the </a:t>
            </a:r>
            <a:r>
              <a:rPr lang="en-US" sz="2200" b="1" dirty="0">
                <a:solidFill>
                  <a:srgbClr val="C00000"/>
                </a:solidFill>
              </a:rPr>
              <a:t>size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of the </a:t>
            </a:r>
            <a:r>
              <a:rPr lang="en-US" sz="2200" b="1" dirty="0">
                <a:solidFill>
                  <a:srgbClr val="C00000"/>
                </a:solidFill>
              </a:rPr>
              <a:t>development team</a:t>
            </a:r>
            <a:r>
              <a:rPr lang="en-US" sz="2200" dirty="0"/>
              <a:t> is reasonably </a:t>
            </a:r>
            <a:r>
              <a:rPr lang="en-US" sz="2200" b="1" dirty="0">
                <a:solidFill>
                  <a:srgbClr val="C00000"/>
                </a:solidFill>
              </a:rPr>
              <a:t>small</a:t>
            </a:r>
            <a:r>
              <a:rPr lang="en-US" sz="2200" dirty="0"/>
              <a:t>, and the </a:t>
            </a:r>
            <a:r>
              <a:rPr lang="en-US" sz="2200" b="1" dirty="0">
                <a:solidFill>
                  <a:srgbClr val="C00000"/>
                </a:solidFill>
              </a:rPr>
              <a:t>team members</a:t>
            </a:r>
            <a:r>
              <a:rPr lang="en-US" sz="2200" dirty="0"/>
              <a:t> are </a:t>
            </a:r>
            <a:r>
              <a:rPr lang="en-US" sz="2200" b="1" dirty="0">
                <a:solidFill>
                  <a:srgbClr val="C00000"/>
                </a:solidFill>
              </a:rPr>
              <a:t>experienced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in </a:t>
            </a:r>
            <a:r>
              <a:rPr lang="en-US" sz="2200" b="1" dirty="0">
                <a:solidFill>
                  <a:srgbClr val="C00000"/>
                </a:solidFill>
              </a:rPr>
              <a:t>developing similar types of projects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850" y="3083382"/>
            <a:ext cx="408793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</a:t>
            </a:r>
            <a:r>
              <a:rPr lang="en-US" sz="2200" dirty="0"/>
              <a:t> can be considered of </a:t>
            </a:r>
            <a:r>
              <a:rPr lang="en-US" sz="2200" b="1" dirty="0">
                <a:solidFill>
                  <a:srgbClr val="C00000"/>
                </a:solidFill>
              </a:rPr>
              <a:t>semidetached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</a:t>
            </a:r>
            <a:r>
              <a:rPr lang="en-US" sz="2200" b="1" dirty="0">
                <a:solidFill>
                  <a:srgbClr val="C00000"/>
                </a:solidFill>
              </a:rPr>
              <a:t>development consists</a:t>
            </a:r>
            <a:r>
              <a:rPr lang="en-US" sz="2200" dirty="0"/>
              <a:t> of a </a:t>
            </a:r>
            <a:r>
              <a:rPr lang="en-US" sz="2200" b="1" dirty="0">
                <a:solidFill>
                  <a:srgbClr val="C00000"/>
                </a:solidFill>
              </a:rPr>
              <a:t>mixture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of </a:t>
            </a:r>
            <a:r>
              <a:rPr lang="en-US" sz="2200" b="1" dirty="0">
                <a:solidFill>
                  <a:srgbClr val="C00000"/>
                </a:solidFill>
              </a:rPr>
              <a:t>experienced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&amp; </a:t>
            </a:r>
            <a:r>
              <a:rPr lang="en-US" sz="2200" b="1" dirty="0">
                <a:solidFill>
                  <a:srgbClr val="C00000"/>
                </a:solidFill>
              </a:rPr>
              <a:t>inexperienced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b="1" dirty="0">
                <a:solidFill>
                  <a:srgbClr val="C00000"/>
                </a:solidFill>
              </a:rPr>
              <a:t>staff</a:t>
            </a:r>
            <a:r>
              <a:rPr lang="en-US" sz="2200" dirty="0"/>
              <a:t>. Team members may have </a:t>
            </a:r>
            <a:r>
              <a:rPr lang="en-US" sz="2200" b="1" dirty="0">
                <a:solidFill>
                  <a:srgbClr val="C00000"/>
                </a:solidFill>
              </a:rPr>
              <a:t>limited experience on related systems</a:t>
            </a:r>
            <a:r>
              <a:rPr lang="en-US" sz="2200" dirty="0"/>
              <a:t> but may be unfamiliar with some aspects of the system being developed.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2001" y="3151158"/>
            <a:ext cx="357511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</a:t>
            </a:r>
            <a:r>
              <a:rPr lang="en-US" sz="2200" dirty="0"/>
              <a:t> is considered to be of </a:t>
            </a:r>
            <a:r>
              <a:rPr lang="en-US" sz="2200" b="1" dirty="0">
                <a:solidFill>
                  <a:srgbClr val="C00000"/>
                </a:solidFill>
              </a:rPr>
              <a:t>embedded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</a:t>
            </a:r>
            <a:r>
              <a:rPr lang="en-US" sz="2200" b="1" dirty="0">
                <a:solidFill>
                  <a:srgbClr val="C00000"/>
                </a:solidFill>
              </a:rPr>
              <a:t>software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being </a:t>
            </a:r>
            <a:r>
              <a:rPr lang="en-US" sz="2200" b="1" dirty="0">
                <a:solidFill>
                  <a:srgbClr val="C00000"/>
                </a:solidFill>
              </a:rPr>
              <a:t>developed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is </a:t>
            </a:r>
            <a:r>
              <a:rPr lang="en-US" sz="2200" b="1" dirty="0">
                <a:solidFill>
                  <a:srgbClr val="C00000"/>
                </a:solidFill>
              </a:rPr>
              <a:t>strongly coupled</a:t>
            </a:r>
            <a:r>
              <a:rPr lang="en-US" sz="2200" dirty="0"/>
              <a:t> to </a:t>
            </a:r>
            <a:r>
              <a:rPr lang="en-US" sz="2200" b="1" dirty="0">
                <a:solidFill>
                  <a:srgbClr val="C00000"/>
                </a:solidFill>
              </a:rPr>
              <a:t>complex hardware</a:t>
            </a:r>
            <a:r>
              <a:rPr lang="en-US" sz="2200" dirty="0"/>
              <a:t>, or if the </a:t>
            </a:r>
            <a:r>
              <a:rPr lang="en-US" sz="2200" b="1" dirty="0">
                <a:solidFill>
                  <a:srgbClr val="C00000"/>
                </a:solidFill>
              </a:rPr>
              <a:t>strict regulations</a:t>
            </a:r>
            <a:r>
              <a:rPr lang="en-US" sz="2200" dirty="0"/>
              <a:t> on the </a:t>
            </a:r>
            <a:r>
              <a:rPr lang="en-US" sz="2200" b="1" dirty="0">
                <a:solidFill>
                  <a:srgbClr val="C00000"/>
                </a:solidFill>
              </a:rPr>
              <a:t>operational procedures</a:t>
            </a:r>
            <a:r>
              <a:rPr lang="en-US" sz="2200" dirty="0"/>
              <a:t> exist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4001406" y="1556107"/>
            <a:ext cx="0" cy="49337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306706" y="1556107"/>
            <a:ext cx="0" cy="49337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10456" y="3054806"/>
            <a:ext cx="115970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ular Callout 27"/>
          <p:cNvSpPr/>
          <p:nvPr/>
        </p:nvSpPr>
        <p:spPr>
          <a:xfrm>
            <a:off x="7689011" y="74072"/>
            <a:ext cx="4331032" cy="508784"/>
          </a:xfrm>
          <a:prstGeom prst="wedgeRoundRectCallout">
            <a:avLst>
              <a:gd name="adj1" fmla="val -43446"/>
              <a:gd name="adj2" fmla="val 96659"/>
              <a:gd name="adj3" fmla="val 16667"/>
            </a:avLst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Based on the development complexity</a:t>
            </a:r>
          </a:p>
        </p:txBody>
      </p:sp>
    </p:spTree>
    <p:extLst>
      <p:ext uri="{BB962C8B-B14F-4D97-AF65-F5344CB8AC3E}">
        <p14:creationId xmlns:p14="http://schemas.microsoft.com/office/powerpoint/2010/main" val="91785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9" grpId="0"/>
      <p:bldP spid="20" grpId="0"/>
      <p:bldP spid="21" grpId="0"/>
      <p:bldP spid="22" grpId="0"/>
      <p:bldP spid="23" grpId="0"/>
      <p:bldP spid="24" grpId="0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Project Cont.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1387409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771" y="1990546"/>
            <a:ext cx="1021434" cy="4154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/>
              <a:t>Organic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41" y="3352800"/>
            <a:ext cx="1192955" cy="73866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/>
              <a:t>Semi</a:t>
            </a:r>
            <a:br>
              <a:rPr lang="en-US" sz="2100" b="1" dirty="0"/>
            </a:br>
            <a:r>
              <a:rPr lang="en-US" sz="2100" b="1" dirty="0"/>
              <a:t>Detached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-48090" y="5181600"/>
            <a:ext cx="1305165" cy="4154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/>
              <a:t>Embedded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6611" y="1018077"/>
            <a:ext cx="1091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Project </a:t>
            </a:r>
            <a:br>
              <a:rPr lang="en-US" sz="2400" b="1" dirty="0"/>
            </a:br>
            <a:r>
              <a:rPr lang="en-US" sz="2400" b="1" dirty="0"/>
              <a:t>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5525" y="2124670"/>
            <a:ext cx="10791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Typically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2-50 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KLOC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6732" y="3458170"/>
            <a:ext cx="10791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Typically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50-300 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KLOC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8138" y="5151566"/>
            <a:ext cx="11721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Typically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Over 300 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KLOC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3630" y="1387409"/>
            <a:ext cx="2569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Nature of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707" y="652141"/>
            <a:ext cx="492443" cy="1260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000" b="1" dirty="0"/>
              <a:t>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631" y="342979"/>
            <a:ext cx="507831" cy="156959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100" b="1" dirty="0"/>
              <a:t>Dead 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7839" y="1018077"/>
            <a:ext cx="2261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Development</a:t>
            </a:r>
            <a:br>
              <a:rPr lang="en-US" sz="2400" b="1" dirty="0"/>
            </a:br>
            <a:r>
              <a:rPr lang="en-US" sz="2400" b="1" dirty="0"/>
              <a:t>Environment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6500" y="2000071"/>
            <a:ext cx="5751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Small Size </a:t>
            </a:r>
            <a:r>
              <a:rPr lang="en-US" sz="2400" dirty="0"/>
              <a:t>Project, Experienced developers in the familiar  environment, E.g. Payroll, Inventory projects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8399" y="3304222"/>
            <a:ext cx="57898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Medium Size </a:t>
            </a:r>
            <a:r>
              <a:rPr lang="en-US" sz="2400" dirty="0"/>
              <a:t>Project, Medium Size Team, Average Previous Experience, e.g. Utility Systems like Compilers, Database Systems, editors etc.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8400" y="5068639"/>
            <a:ext cx="57898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Large Project</a:t>
            </a:r>
            <a:r>
              <a:rPr lang="en-US" sz="2400" dirty="0"/>
              <a:t>, Real Time Systems, Complex interfaces, very little previous Experience. E.g. ATMs, Air Traffic Controls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1920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62200" y="711201"/>
            <a:ext cx="0" cy="5613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26770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01065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58215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90500" y="1924050"/>
            <a:ext cx="118442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387060" y="2078617"/>
            <a:ext cx="553998" cy="706284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Little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38006" y="3538332"/>
            <a:ext cx="553998" cy="1071768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3918" y="5093459"/>
            <a:ext cx="830997" cy="1225656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algn="ctr"/>
            <a:r>
              <a:rPr lang="en-US" sz="2100" dirty="0"/>
              <a:t>Significant</a:t>
            </a:r>
          </a:p>
          <a:p>
            <a:pPr algn="ctr"/>
            <a:r>
              <a:rPr lang="en-US" sz="2100" dirty="0"/>
              <a:t>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8631" y="5151498"/>
            <a:ext cx="553998" cy="715902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Tight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8631" y="3538332"/>
            <a:ext cx="553998" cy="1071768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8631" y="1989303"/>
            <a:ext cx="553998" cy="1222451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Not Tight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1408" y="2180451"/>
            <a:ext cx="21152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Familiar &amp; </a:t>
            </a:r>
          </a:p>
          <a:p>
            <a:r>
              <a:rPr lang="en-US" sz="2400" dirty="0"/>
              <a:t>In-house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53600" y="3810685"/>
            <a:ext cx="17369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2629" y="4950767"/>
            <a:ext cx="258937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Complex hardware &amp; customer Interfaces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141400" y="3238500"/>
            <a:ext cx="118933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52400" y="4914900"/>
            <a:ext cx="118823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02" y="2479997"/>
            <a:ext cx="553996" cy="46166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1" y="4170969"/>
            <a:ext cx="566961" cy="44515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67" y="5615208"/>
            <a:ext cx="633541" cy="42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7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2928898"/>
            <a:ext cx="32194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According to Boehm, </a:t>
            </a:r>
            <a:r>
              <a:rPr lang="en-US" sz="2400" b="1" dirty="0">
                <a:solidFill>
                  <a:srgbClr val="C00000"/>
                </a:solidFill>
              </a:rPr>
              <a:t>software cost estimation </a:t>
            </a:r>
            <a:r>
              <a:rPr lang="en-US" sz="2400" dirty="0"/>
              <a:t>should be done through three stages: 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1" y="4664342"/>
            <a:ext cx="3219449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Basic COCOMO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1" y="5328334"/>
            <a:ext cx="3219450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Intermediate COCOMO 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5992326"/>
            <a:ext cx="3219450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Complete COCOMO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152400" y="895271"/>
            <a:ext cx="3219450" cy="1808728"/>
          </a:xfrm>
          <a:prstGeom prst="wedgeRoundRectCallout">
            <a:avLst>
              <a:gd name="adj1" fmla="val -9590"/>
              <a:gd name="adj2" fmla="val -7126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COCOMO (Constructive Cost Estimation Model) </a:t>
            </a:r>
            <a:r>
              <a:rPr lang="en-US" sz="2400" dirty="0"/>
              <a:t>was proposed by Boehm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553260" y="0"/>
            <a:ext cx="0" cy="6609347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27933" y="73985"/>
            <a:ext cx="4044697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Basic COCOMO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4670" y="842347"/>
            <a:ext cx="8285880" cy="3847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dirty="0"/>
              <a:t>The </a:t>
            </a:r>
            <a:r>
              <a:rPr lang="en-US" sz="1900" b="1" dirty="0">
                <a:solidFill>
                  <a:srgbClr val="C00000"/>
                </a:solidFill>
              </a:rPr>
              <a:t>basic COCOMO </a:t>
            </a:r>
            <a:r>
              <a:rPr lang="en-US" sz="1900" dirty="0"/>
              <a:t>model gives an </a:t>
            </a:r>
            <a:r>
              <a:rPr lang="en-US" sz="1900" b="1" dirty="0">
                <a:solidFill>
                  <a:srgbClr val="C00000"/>
                </a:solidFill>
              </a:rPr>
              <a:t>approximate estimate </a:t>
            </a:r>
            <a:r>
              <a:rPr lang="en-US" sz="1900" dirty="0"/>
              <a:t>of the project parameters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4670" y="1350672"/>
            <a:ext cx="828588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</a:t>
            </a:r>
            <a:r>
              <a:rPr lang="en-US" sz="2000" b="1" dirty="0">
                <a:solidFill>
                  <a:srgbClr val="C00000"/>
                </a:solidFill>
              </a:rPr>
              <a:t>basic COCOMO estimation </a:t>
            </a:r>
            <a:r>
              <a:rPr lang="en-US" sz="2000" dirty="0"/>
              <a:t>model is given by the </a:t>
            </a:r>
            <a:r>
              <a:rPr lang="en-US" sz="2000" b="1" dirty="0">
                <a:solidFill>
                  <a:srgbClr val="C00000"/>
                </a:solidFill>
              </a:rPr>
              <a:t>following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4669" y="1911279"/>
                <a:ext cx="3995333" cy="33855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𝑬𝒇𝒇𝒐𝒓𝒕</m:t>
                      </m:r>
                      <m:r>
                        <a:rPr lang="pt-BR" sz="2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𝐾𝐿𝑂𝐶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669" y="1911279"/>
                <a:ext cx="3995333" cy="338554"/>
              </a:xfrm>
              <a:prstGeom prst="rect">
                <a:avLst/>
              </a:prstGeom>
              <a:blipFill>
                <a:blip r:embed="rId2"/>
                <a:stretch>
                  <a:fillRect b="-3333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872630" y="1904739"/>
                <a:ext cx="4171261" cy="34509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𝑻𝒅𝒆𝒗</m:t>
                      </m:r>
                      <m:r>
                        <a:rPr lang="pt-BR" sz="2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𝐸𝑓𝑓𝑜𝑟𝑡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630" y="1904739"/>
                <a:ext cx="4171261" cy="345094"/>
              </a:xfrm>
              <a:prstGeom prst="rect">
                <a:avLst/>
              </a:prstGeom>
              <a:blipFill>
                <a:blip r:embed="rId3"/>
                <a:stretch>
                  <a:fillRect l="-437" r="-437" b="-3220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696570" y="2395792"/>
            <a:ext cx="8457330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KLOC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estimated size of the software product expressed in Kilo Lines of Code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a</a:t>
            </a:r>
            <a:r>
              <a:rPr lang="en-US" sz="1900" b="1" baseline="-25000" dirty="0">
                <a:solidFill>
                  <a:srgbClr val="C00000"/>
                </a:solidFill>
              </a:rPr>
              <a:t>1</a:t>
            </a:r>
            <a:r>
              <a:rPr lang="en-US" sz="1900" b="1" dirty="0">
                <a:solidFill>
                  <a:srgbClr val="C00000"/>
                </a:solidFill>
              </a:rPr>
              <a:t>, a</a:t>
            </a:r>
            <a:r>
              <a:rPr lang="en-US" sz="1900" b="1" baseline="-25000" dirty="0">
                <a:solidFill>
                  <a:srgbClr val="C00000"/>
                </a:solidFill>
              </a:rPr>
              <a:t>2</a:t>
            </a:r>
            <a:r>
              <a:rPr lang="en-US" sz="1900" b="1" dirty="0">
                <a:solidFill>
                  <a:srgbClr val="C00000"/>
                </a:solidFill>
              </a:rPr>
              <a:t>, b</a:t>
            </a:r>
            <a:r>
              <a:rPr lang="en-US" sz="1900" b="1" baseline="-25000" dirty="0">
                <a:solidFill>
                  <a:srgbClr val="C00000"/>
                </a:solidFill>
              </a:rPr>
              <a:t>1</a:t>
            </a:r>
            <a:r>
              <a:rPr lang="en-US" sz="1900" b="1" dirty="0">
                <a:solidFill>
                  <a:srgbClr val="C00000"/>
                </a:solidFill>
              </a:rPr>
              <a:t>, b</a:t>
            </a:r>
            <a:r>
              <a:rPr lang="en-US" sz="1900" b="1" baseline="-25000" dirty="0">
                <a:solidFill>
                  <a:srgbClr val="C00000"/>
                </a:solidFill>
              </a:rPr>
              <a:t>2</a:t>
            </a:r>
            <a:r>
              <a:rPr lang="en-US" sz="1900" b="1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are constants for each category of software products,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rgbClr val="C00000"/>
                </a:solidFill>
              </a:rPr>
              <a:t>Tdev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estimated </a:t>
            </a:r>
            <a:r>
              <a:rPr lang="en-US" sz="1900" b="1" dirty="0">
                <a:solidFill>
                  <a:srgbClr val="C00000"/>
                </a:solidFill>
              </a:rPr>
              <a:t>time to develop </a:t>
            </a:r>
            <a:r>
              <a:rPr lang="en-US" sz="1900" dirty="0"/>
              <a:t>the software, </a:t>
            </a:r>
            <a:r>
              <a:rPr lang="en-US" sz="1900" b="1" dirty="0">
                <a:solidFill>
                  <a:srgbClr val="C00000"/>
                </a:solidFill>
              </a:rPr>
              <a:t>expressed in months</a:t>
            </a:r>
            <a:r>
              <a:rPr lang="en-US" sz="1900" dirty="0"/>
              <a:t>,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Effort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</a:t>
            </a:r>
            <a:r>
              <a:rPr lang="en-US" sz="1900" dirty="0">
                <a:solidFill>
                  <a:srgbClr val="C00000"/>
                </a:solidFill>
              </a:rPr>
              <a:t>total effort required </a:t>
            </a:r>
            <a:r>
              <a:rPr lang="en-US" sz="1900" dirty="0"/>
              <a:t>to </a:t>
            </a:r>
            <a:r>
              <a:rPr lang="en-US" sz="1900" dirty="0">
                <a:solidFill>
                  <a:srgbClr val="C00000"/>
                </a:solidFill>
              </a:rPr>
              <a:t>develop</a:t>
            </a:r>
            <a:r>
              <a:rPr lang="en-US" sz="1900" dirty="0"/>
              <a:t> the software </a:t>
            </a:r>
            <a:r>
              <a:rPr lang="en-US" sz="1900" dirty="0">
                <a:solidFill>
                  <a:srgbClr val="C00000"/>
                </a:solidFill>
              </a:rPr>
              <a:t>product</a:t>
            </a:r>
            <a:r>
              <a:rPr lang="en-US" sz="1900" dirty="0"/>
              <a:t>, expressed in </a:t>
            </a:r>
            <a:r>
              <a:rPr lang="en-US" sz="1900" b="1" dirty="0">
                <a:solidFill>
                  <a:srgbClr val="C00000"/>
                </a:solidFill>
              </a:rPr>
              <a:t>person months (PMs)</a:t>
            </a:r>
            <a:r>
              <a:rPr lang="en-US" sz="1900" dirty="0"/>
              <a:t>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32683" y="4140970"/>
          <a:ext cx="5743265" cy="187942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48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076">
                <a:tc>
                  <a:txBody>
                    <a:bodyPr/>
                    <a:lstStyle/>
                    <a:p>
                      <a:r>
                        <a:rPr lang="en-US" sz="2400" dirty="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076">
                <a:tc>
                  <a:txBody>
                    <a:bodyPr/>
                    <a:lstStyle/>
                    <a:p>
                      <a:r>
                        <a:rPr lang="en-US" sz="2400" dirty="0"/>
                        <a:t>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212">
                <a:tc>
                  <a:txBody>
                    <a:bodyPr/>
                    <a:lstStyle/>
                    <a:p>
                      <a:r>
                        <a:rPr lang="en-US" sz="2400" dirty="0"/>
                        <a:t>Semidetached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076">
                <a:tc>
                  <a:txBody>
                    <a:bodyPr/>
                    <a:lstStyle/>
                    <a:p>
                      <a:r>
                        <a:rPr lang="en-US" sz="2400" dirty="0"/>
                        <a:t>Embedded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775" y="32375"/>
            <a:ext cx="631856" cy="64294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637" y="-35556"/>
            <a:ext cx="761922" cy="77528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572" y="3277"/>
            <a:ext cx="697624" cy="69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2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11" grpId="0" animBg="1"/>
      <p:bldP spid="13" grpId="0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effort estimation is expressed in </a:t>
            </a:r>
            <a:r>
              <a:rPr lang="en-US" b="1" dirty="0">
                <a:solidFill>
                  <a:srgbClr val="C00000"/>
                </a:solidFill>
              </a:rPr>
              <a:t>units of person-months (PM)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It is the </a:t>
            </a:r>
            <a:r>
              <a:rPr lang="en-US" b="1" dirty="0">
                <a:solidFill>
                  <a:srgbClr val="C00000"/>
                </a:solidFill>
              </a:rPr>
              <a:t>area under the person-month plot</a:t>
            </a:r>
            <a:r>
              <a:rPr lang="en-US" dirty="0"/>
              <a:t> (as shown in fig.)</a:t>
            </a:r>
          </a:p>
          <a:p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effort of 100 PM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does not</a:t>
            </a:r>
            <a:r>
              <a:rPr lang="en-US" dirty="0"/>
              <a:t> imply that </a:t>
            </a:r>
            <a:r>
              <a:rPr lang="en-US" b="1" dirty="0">
                <a:solidFill>
                  <a:srgbClr val="C00000"/>
                </a:solidFill>
              </a:rPr>
              <a:t>100 persons </a:t>
            </a:r>
            <a:r>
              <a:rPr lang="en-US" dirty="0"/>
              <a:t>should </a:t>
            </a:r>
            <a:r>
              <a:rPr lang="en-US" b="1" dirty="0">
                <a:solidFill>
                  <a:srgbClr val="C00000"/>
                </a:solidFill>
              </a:rPr>
              <a:t>work for 1 month</a:t>
            </a:r>
          </a:p>
          <a:p>
            <a:pPr lvl="1"/>
            <a:r>
              <a:rPr lang="en-US" b="1" dirty="0"/>
              <a:t>does not</a:t>
            </a:r>
            <a:r>
              <a:rPr lang="en-US" dirty="0"/>
              <a:t> imply that </a:t>
            </a:r>
            <a:r>
              <a:rPr lang="en-US" b="1" dirty="0">
                <a:solidFill>
                  <a:srgbClr val="C00000"/>
                </a:solidFill>
              </a:rPr>
              <a:t>1 person</a:t>
            </a:r>
            <a:r>
              <a:rPr lang="en-US" dirty="0"/>
              <a:t> should be </a:t>
            </a:r>
            <a:r>
              <a:rPr lang="en-US" b="1" dirty="0">
                <a:solidFill>
                  <a:srgbClr val="C00000"/>
                </a:solidFill>
              </a:rPr>
              <a:t>employed for 100 months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it denotes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area under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person-month curve</a:t>
            </a:r>
            <a:r>
              <a:rPr lang="en-US" dirty="0"/>
              <a:t> (fig.)</a:t>
            </a:r>
          </a:p>
          <a:p>
            <a:r>
              <a:rPr lang="en-US" b="1" dirty="0">
                <a:solidFill>
                  <a:srgbClr val="C00000"/>
                </a:solidFill>
              </a:rPr>
              <a:t>Every line of source</a:t>
            </a:r>
            <a:r>
              <a:rPr lang="en-US" dirty="0"/>
              <a:t> text should be </a:t>
            </a:r>
            <a:r>
              <a:rPr lang="en-US" b="1" dirty="0">
                <a:solidFill>
                  <a:srgbClr val="C00000"/>
                </a:solidFill>
              </a:rPr>
              <a:t>calculated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</a:t>
            </a:r>
            <a:r>
              <a:rPr lang="en-US" b="1" dirty="0">
                <a:solidFill>
                  <a:srgbClr val="C00000"/>
                </a:solidFill>
              </a:rPr>
              <a:t>one LOC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irrespective of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actual number of instructions</a:t>
            </a:r>
            <a:r>
              <a:rPr lang="en-US" dirty="0"/>
              <a:t> on that line</a:t>
            </a:r>
          </a:p>
          <a:p>
            <a:r>
              <a:rPr lang="en-US" dirty="0"/>
              <a:t>If a </a:t>
            </a:r>
            <a:r>
              <a:rPr lang="en-US" b="1" dirty="0">
                <a:solidFill>
                  <a:srgbClr val="C00000"/>
                </a:solidFill>
              </a:rPr>
              <a:t>single instruction spans several lines</a:t>
            </a:r>
            <a:r>
              <a:rPr lang="en-US" dirty="0"/>
              <a:t> (say </a:t>
            </a:r>
            <a:r>
              <a:rPr lang="en-US" b="1" dirty="0">
                <a:solidFill>
                  <a:srgbClr val="C00000"/>
                </a:solidFill>
              </a:rPr>
              <a:t>n lines</a:t>
            </a:r>
            <a:r>
              <a:rPr lang="en-US" dirty="0"/>
              <a:t>), it is </a:t>
            </a:r>
            <a:r>
              <a:rPr lang="en-US" b="1" dirty="0">
                <a:solidFill>
                  <a:srgbClr val="C00000"/>
                </a:solidFill>
              </a:rPr>
              <a:t>considered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be </a:t>
            </a:r>
            <a:r>
              <a:rPr lang="en-US" b="1" dirty="0" err="1">
                <a:solidFill>
                  <a:srgbClr val="C00000"/>
                </a:solidFill>
              </a:rPr>
              <a:t>nLOC</a:t>
            </a:r>
            <a:endParaRPr lang="en-US" dirty="0"/>
          </a:p>
          <a:p>
            <a:r>
              <a:rPr lang="en-US" dirty="0"/>
              <a:t>The values of 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, a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, b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, b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for different categories of products (i.e. organic, semidetached, and embedded) as given by Boehm</a:t>
            </a:r>
          </a:p>
          <a:p>
            <a:r>
              <a:rPr lang="en-US" dirty="0"/>
              <a:t>He derived the expressions by examining historical data collected from a large number of actual projects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863444"/>
            <a:ext cx="3057501" cy="2197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7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962611" cy="5590565"/>
          </a:xfrm>
        </p:spPr>
        <p:txBody>
          <a:bodyPr/>
          <a:lstStyle/>
          <a:p>
            <a:r>
              <a:rPr lang="en-US" sz="2350" b="1" dirty="0">
                <a:solidFill>
                  <a:srgbClr val="C00000"/>
                </a:solidFill>
              </a:rPr>
              <a:t>Insight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into the </a:t>
            </a:r>
            <a:r>
              <a:rPr lang="en-US" sz="2350" b="1" dirty="0">
                <a:solidFill>
                  <a:srgbClr val="C00000"/>
                </a:solidFill>
              </a:rPr>
              <a:t>basic COCOMO</a:t>
            </a:r>
            <a:r>
              <a:rPr lang="en-US" sz="2350" dirty="0"/>
              <a:t> model can be obtained by </a:t>
            </a:r>
            <a:r>
              <a:rPr lang="en-US" sz="2350" b="1" dirty="0">
                <a:solidFill>
                  <a:srgbClr val="C00000"/>
                </a:solidFill>
              </a:rPr>
              <a:t>plotting the estimated characteristics</a:t>
            </a:r>
            <a:r>
              <a:rPr lang="en-US" sz="2350" dirty="0"/>
              <a:t> for different software sizes</a:t>
            </a:r>
          </a:p>
          <a:p>
            <a:r>
              <a:rPr lang="en-US" sz="2350" b="1" dirty="0">
                <a:solidFill>
                  <a:srgbClr val="C00000"/>
                </a:solidFill>
              </a:rPr>
              <a:t>Fig.1</a:t>
            </a:r>
            <a:r>
              <a:rPr lang="en-US" sz="2350" dirty="0"/>
              <a:t> shows a</a:t>
            </a:r>
            <a:r>
              <a:rPr lang="en-US" sz="2350" b="1" dirty="0">
                <a:solidFill>
                  <a:srgbClr val="C00000"/>
                </a:solidFill>
              </a:rPr>
              <a:t> plot of estimated effort</a:t>
            </a:r>
            <a:r>
              <a:rPr lang="en-US" sz="2350" dirty="0"/>
              <a:t> versus </a:t>
            </a:r>
            <a:r>
              <a:rPr lang="en-US" sz="2350" b="1" dirty="0">
                <a:solidFill>
                  <a:srgbClr val="C00000"/>
                </a:solidFill>
              </a:rPr>
              <a:t>product size</a:t>
            </a:r>
            <a:endParaRPr lang="en-US" sz="2350" dirty="0"/>
          </a:p>
          <a:p>
            <a:r>
              <a:rPr lang="en-US" sz="2350" dirty="0"/>
              <a:t>From fig. we can observe that the </a:t>
            </a:r>
            <a:r>
              <a:rPr lang="en-US" sz="2350" b="1" dirty="0">
                <a:solidFill>
                  <a:srgbClr val="C00000"/>
                </a:solidFill>
              </a:rPr>
              <a:t>effort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is somewhat </a:t>
            </a:r>
            <a:r>
              <a:rPr lang="en-US" sz="2350" b="1" dirty="0" err="1">
                <a:solidFill>
                  <a:srgbClr val="C00000"/>
                </a:solidFill>
              </a:rPr>
              <a:t>superlinear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in the </a:t>
            </a:r>
            <a:r>
              <a:rPr lang="en-US" sz="2350" b="1" dirty="0">
                <a:solidFill>
                  <a:srgbClr val="C00000"/>
                </a:solidFill>
              </a:rPr>
              <a:t>size of the software</a:t>
            </a:r>
            <a:r>
              <a:rPr lang="en-US" sz="2350" dirty="0"/>
              <a:t> product</a:t>
            </a:r>
          </a:p>
          <a:p>
            <a:r>
              <a:rPr lang="en-US" sz="2350" dirty="0"/>
              <a:t>The </a:t>
            </a:r>
            <a:r>
              <a:rPr lang="en-US" sz="2350" b="1" dirty="0">
                <a:solidFill>
                  <a:srgbClr val="C00000"/>
                </a:solidFill>
              </a:rPr>
              <a:t>effort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required to develop a product </a:t>
            </a:r>
            <a:r>
              <a:rPr lang="en-US" sz="2350" b="1" dirty="0">
                <a:solidFill>
                  <a:srgbClr val="C00000"/>
                </a:solidFill>
              </a:rPr>
              <a:t>increases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very </a:t>
            </a:r>
            <a:r>
              <a:rPr lang="en-US" sz="2350" b="1" dirty="0">
                <a:solidFill>
                  <a:srgbClr val="C00000"/>
                </a:solidFill>
              </a:rPr>
              <a:t>rapidly with project size</a:t>
            </a:r>
          </a:p>
          <a:p>
            <a:r>
              <a:rPr lang="en-US" sz="2350" dirty="0"/>
              <a:t>The </a:t>
            </a:r>
            <a:r>
              <a:rPr lang="en-US" sz="2350" b="1" dirty="0">
                <a:solidFill>
                  <a:srgbClr val="C00000"/>
                </a:solidFill>
              </a:rPr>
              <a:t>development time versus the product size</a:t>
            </a:r>
            <a:r>
              <a:rPr lang="en-US" sz="2350" dirty="0"/>
              <a:t> in KLOC is plotted in </a:t>
            </a:r>
            <a:r>
              <a:rPr lang="en-US" sz="1800" dirty="0"/>
              <a:t>fig. 2</a:t>
            </a:r>
            <a:endParaRPr lang="en-US" sz="2350" dirty="0"/>
          </a:p>
          <a:p>
            <a:r>
              <a:rPr lang="en-US" sz="2350" dirty="0"/>
              <a:t>From fig., it can be observed that the </a:t>
            </a:r>
            <a:r>
              <a:rPr lang="en-US" sz="2350" b="1" dirty="0">
                <a:solidFill>
                  <a:srgbClr val="C00000"/>
                </a:solidFill>
              </a:rPr>
              <a:t>development time</a:t>
            </a:r>
            <a:r>
              <a:rPr lang="en-US" sz="2350" dirty="0"/>
              <a:t> is a </a:t>
            </a:r>
            <a:r>
              <a:rPr lang="en-US" sz="2350" b="1" dirty="0">
                <a:solidFill>
                  <a:srgbClr val="C00000"/>
                </a:solidFill>
              </a:rPr>
              <a:t>sublinear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function of </a:t>
            </a:r>
            <a:r>
              <a:rPr lang="en-US" sz="2350" b="1" dirty="0">
                <a:solidFill>
                  <a:srgbClr val="C00000"/>
                </a:solidFill>
              </a:rPr>
              <a:t>the size</a:t>
            </a:r>
            <a:r>
              <a:rPr lang="en-US" sz="2350" dirty="0"/>
              <a:t> of the product</a:t>
            </a:r>
          </a:p>
          <a:p>
            <a:r>
              <a:rPr lang="en-US" sz="2350" dirty="0"/>
              <a:t>i.e. when the </a:t>
            </a:r>
            <a:r>
              <a:rPr lang="en-US" sz="2350" b="1" dirty="0">
                <a:solidFill>
                  <a:srgbClr val="C00000"/>
                </a:solidFill>
              </a:rPr>
              <a:t>size of the product</a:t>
            </a:r>
            <a:r>
              <a:rPr lang="en-US" sz="2350" dirty="0"/>
              <a:t> increases by </a:t>
            </a:r>
            <a:r>
              <a:rPr lang="en-US" sz="2350" b="1" dirty="0">
                <a:solidFill>
                  <a:srgbClr val="C00000"/>
                </a:solidFill>
              </a:rPr>
              <a:t>two times</a:t>
            </a:r>
            <a:r>
              <a:rPr lang="en-US" sz="2350" dirty="0"/>
              <a:t>, the time to develop the </a:t>
            </a:r>
            <a:r>
              <a:rPr lang="en-US" sz="2350" b="1" dirty="0">
                <a:solidFill>
                  <a:srgbClr val="C00000"/>
                </a:solidFill>
              </a:rPr>
              <a:t>product does not double</a:t>
            </a:r>
            <a:r>
              <a:rPr lang="en-US" sz="2350" dirty="0"/>
              <a:t> but </a:t>
            </a:r>
            <a:r>
              <a:rPr lang="en-US" sz="2350" b="1" dirty="0">
                <a:solidFill>
                  <a:srgbClr val="C00000"/>
                </a:solidFill>
              </a:rPr>
              <a:t>rises moderately</a:t>
            </a:r>
          </a:p>
          <a:p>
            <a:r>
              <a:rPr lang="en-US" sz="2350" dirty="0"/>
              <a:t>From fig., it can be observed that the development time is roughly the same for all the three categories of products</a:t>
            </a:r>
          </a:p>
          <a:p>
            <a:endParaRPr lang="en-US" sz="2350" b="1" dirty="0">
              <a:solidFill>
                <a:srgbClr val="C00000"/>
              </a:solidFill>
            </a:endParaRPr>
          </a:p>
          <a:p>
            <a:endParaRPr lang="en-US" sz="23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341" y="742949"/>
            <a:ext cx="2851359" cy="22542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4"/>
          <a:stretch/>
        </p:blipFill>
        <p:spPr>
          <a:xfrm>
            <a:off x="9265242" y="3582526"/>
            <a:ext cx="2787148" cy="16897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44150" y="2988615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Fig.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4086" y="5286873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Fig. 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94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56555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duration estimations</a:t>
            </a:r>
            <a:r>
              <a:rPr lang="en-US" dirty="0"/>
              <a:t> obtained </a:t>
            </a:r>
            <a:r>
              <a:rPr lang="en-US" b="1" dirty="0">
                <a:solidFill>
                  <a:srgbClr val="C00000"/>
                </a:solidFill>
              </a:rPr>
              <a:t>using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COCOMO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model are called as </a:t>
            </a:r>
            <a:r>
              <a:rPr lang="en-US" b="1" dirty="0">
                <a:solidFill>
                  <a:srgbClr val="C00000"/>
                </a:solidFill>
              </a:rPr>
              <a:t>nominal effort </a:t>
            </a:r>
            <a:r>
              <a:rPr lang="en-US" dirty="0"/>
              <a:t>estimate and nominal </a:t>
            </a:r>
            <a:r>
              <a:rPr lang="en-US" b="1" dirty="0">
                <a:solidFill>
                  <a:srgbClr val="C00000"/>
                </a:solidFill>
              </a:rPr>
              <a:t>duration estimate</a:t>
            </a:r>
            <a:r>
              <a:rPr lang="en-US" dirty="0"/>
              <a:t> </a:t>
            </a:r>
          </a:p>
          <a:p>
            <a:r>
              <a:rPr lang="en-US" dirty="0"/>
              <a:t>The term </a:t>
            </a:r>
            <a:r>
              <a:rPr lang="en-US" b="1" dirty="0">
                <a:solidFill>
                  <a:srgbClr val="C00000"/>
                </a:solidFill>
              </a:rPr>
              <a:t>nominal implies</a:t>
            </a:r>
            <a:r>
              <a:rPr lang="en-US" dirty="0"/>
              <a:t> that </a:t>
            </a:r>
          </a:p>
          <a:p>
            <a:pPr lvl="1"/>
            <a:r>
              <a:rPr lang="en-US" dirty="0"/>
              <a:t>if anyone </a:t>
            </a:r>
            <a:r>
              <a:rPr lang="en-US" b="1" dirty="0">
                <a:solidFill>
                  <a:srgbClr val="C00000"/>
                </a:solidFill>
              </a:rPr>
              <a:t>tries to complete the project </a:t>
            </a:r>
            <a:r>
              <a:rPr lang="en-US" dirty="0"/>
              <a:t>in a </a:t>
            </a:r>
            <a:r>
              <a:rPr lang="en-US" b="1" dirty="0">
                <a:solidFill>
                  <a:srgbClr val="C00000"/>
                </a:solidFill>
              </a:rPr>
              <a:t>time shorter</a:t>
            </a:r>
            <a:r>
              <a:rPr lang="en-US" dirty="0"/>
              <a:t> than the </a:t>
            </a:r>
            <a:r>
              <a:rPr lang="en-US" b="1" dirty="0">
                <a:solidFill>
                  <a:srgbClr val="C00000"/>
                </a:solidFill>
              </a:rPr>
              <a:t>estimated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duration, then the </a:t>
            </a:r>
            <a:r>
              <a:rPr lang="en-US" b="1" dirty="0">
                <a:solidFill>
                  <a:srgbClr val="C00000"/>
                </a:solidFill>
              </a:rPr>
              <a:t>cost will increase drastically</a:t>
            </a:r>
            <a:endParaRPr lang="en-US" dirty="0"/>
          </a:p>
          <a:p>
            <a:pPr lvl="1"/>
            <a:r>
              <a:rPr lang="en-US" dirty="0"/>
              <a:t>But, if anyone </a:t>
            </a:r>
            <a:r>
              <a:rPr lang="en-US" b="1" dirty="0">
                <a:solidFill>
                  <a:srgbClr val="C00000"/>
                </a:solidFill>
              </a:rPr>
              <a:t>completes the project over a longer period</a:t>
            </a:r>
            <a:r>
              <a:rPr lang="en-US" dirty="0"/>
              <a:t> of time than the </a:t>
            </a:r>
            <a:r>
              <a:rPr lang="en-US" b="1" dirty="0">
                <a:solidFill>
                  <a:srgbClr val="C00000"/>
                </a:solidFill>
              </a:rPr>
              <a:t>estimated</a:t>
            </a:r>
            <a:r>
              <a:rPr lang="en-US" dirty="0"/>
              <a:t>, then there is almost </a:t>
            </a:r>
            <a:r>
              <a:rPr lang="en-US" b="1" dirty="0">
                <a:solidFill>
                  <a:srgbClr val="C00000"/>
                </a:solidFill>
              </a:rPr>
              <a:t>no decrease </a:t>
            </a:r>
            <a:r>
              <a:rPr lang="en-US" dirty="0"/>
              <a:t>in the </a:t>
            </a:r>
            <a:r>
              <a:rPr lang="en-US" b="1" dirty="0">
                <a:solidFill>
                  <a:srgbClr val="C00000"/>
                </a:solidFill>
              </a:rPr>
              <a:t>estimated cost value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1180" y="3429001"/>
            <a:ext cx="1192964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Example: </a:t>
            </a:r>
            <a:r>
              <a:rPr lang="en-US" sz="2100" dirty="0"/>
              <a:t>Assume that the </a:t>
            </a:r>
            <a:r>
              <a:rPr lang="en-US" sz="2100" b="1" dirty="0">
                <a:solidFill>
                  <a:srgbClr val="C00000"/>
                </a:solidFill>
              </a:rPr>
              <a:t>size</a:t>
            </a:r>
            <a:r>
              <a:rPr lang="en-US" sz="2100" dirty="0"/>
              <a:t> of an </a:t>
            </a:r>
            <a:r>
              <a:rPr lang="en-US" sz="2100" b="1" dirty="0">
                <a:solidFill>
                  <a:srgbClr val="C00000"/>
                </a:solidFill>
              </a:rPr>
              <a:t>organic type</a:t>
            </a:r>
            <a:r>
              <a:rPr lang="en-US" sz="2100" dirty="0"/>
              <a:t> software product </a:t>
            </a:r>
            <a:r>
              <a:rPr lang="en-US" sz="2100" b="1" dirty="0">
                <a:solidFill>
                  <a:srgbClr val="C00000"/>
                </a:solidFill>
              </a:rPr>
              <a:t>has been estimated</a:t>
            </a:r>
            <a:r>
              <a:rPr lang="en-US" sz="2100" dirty="0"/>
              <a:t> to be </a:t>
            </a:r>
            <a:r>
              <a:rPr lang="en-US" sz="2100" b="1" dirty="0">
                <a:solidFill>
                  <a:srgbClr val="C00000"/>
                </a:solidFill>
              </a:rPr>
              <a:t>32,000 lines of source code</a:t>
            </a:r>
            <a:r>
              <a:rPr lang="en-US" sz="2100" dirty="0"/>
              <a:t>. Assume that the </a:t>
            </a:r>
            <a:r>
              <a:rPr lang="en-US" sz="2100" b="1" dirty="0">
                <a:solidFill>
                  <a:srgbClr val="C00000"/>
                </a:solidFill>
              </a:rPr>
              <a:t>average salary</a:t>
            </a:r>
            <a:r>
              <a:rPr lang="en-US" sz="2100" dirty="0"/>
              <a:t> of software </a:t>
            </a:r>
            <a:r>
              <a:rPr lang="en-US" sz="2100" b="1" dirty="0">
                <a:solidFill>
                  <a:srgbClr val="C00000"/>
                </a:solidFill>
              </a:rPr>
              <a:t>engineers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be </a:t>
            </a:r>
            <a:r>
              <a:rPr lang="en-US" sz="2100" b="1" dirty="0" err="1">
                <a:solidFill>
                  <a:srgbClr val="C00000"/>
                </a:solidFill>
              </a:rPr>
              <a:t>Rs</a:t>
            </a:r>
            <a:r>
              <a:rPr lang="en-US" sz="2100" b="1" dirty="0">
                <a:solidFill>
                  <a:srgbClr val="C00000"/>
                </a:solidFill>
              </a:rPr>
              <a:t>. 15,000/- per month</a:t>
            </a:r>
            <a:r>
              <a:rPr lang="en-US" sz="2100" dirty="0"/>
              <a:t>. </a:t>
            </a:r>
            <a:r>
              <a:rPr lang="en-US" sz="2100" b="1" dirty="0">
                <a:solidFill>
                  <a:srgbClr val="C00000"/>
                </a:solidFill>
              </a:rPr>
              <a:t>Determine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effort required</a:t>
            </a:r>
            <a:r>
              <a:rPr lang="en-US" sz="2100" dirty="0"/>
              <a:t> to develop the software product </a:t>
            </a:r>
            <a:r>
              <a:rPr lang="en-US" sz="2100" b="1" dirty="0">
                <a:solidFill>
                  <a:srgbClr val="C00000"/>
                </a:solidFill>
              </a:rPr>
              <a:t>and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nominal development time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31180" y="3390901"/>
            <a:ext cx="1192964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6580" y="4618471"/>
                <a:ext cx="4063228" cy="369332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𝑬𝒇𝒇𝒐𝒓𝒕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𝐾𝐿𝑂𝐶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80" y="4618471"/>
                <a:ext cx="4063228" cy="369332"/>
              </a:xfrm>
              <a:prstGeom prst="rect">
                <a:avLst/>
              </a:prstGeom>
              <a:blipFill>
                <a:blip r:embed="rId4"/>
                <a:stretch>
                  <a:fillRect l="-449" r="-1048" b="-33871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33324" y="4618471"/>
                <a:ext cx="4586256" cy="375872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𝑻𝒅𝒆𝒗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𝐸𝑓𝑓𝑜𝑟𝑡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324" y="4618471"/>
                <a:ext cx="4586256" cy="375872"/>
              </a:xfrm>
              <a:prstGeom prst="rect">
                <a:avLst/>
              </a:prstGeom>
              <a:blipFill>
                <a:blip r:embed="rId5"/>
                <a:stretch>
                  <a:fillRect l="-265" r="-133" b="-3333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88295" y="5062277"/>
                <a:ext cx="2708370" cy="37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2.4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1.05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295" y="5062277"/>
                <a:ext cx="2708370" cy="373500"/>
              </a:xfrm>
              <a:prstGeom prst="rect">
                <a:avLst/>
              </a:prstGeom>
              <a:blipFill>
                <a:blip r:embed="rId6"/>
                <a:stretch>
                  <a:fillRect l="-674" r="-2022" b="-6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06538" y="5511957"/>
                <a:ext cx="12503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538" y="5511957"/>
                <a:ext cx="1250342" cy="369332"/>
              </a:xfrm>
              <a:prstGeom prst="rect">
                <a:avLst/>
              </a:prstGeom>
              <a:blipFill>
                <a:blip r:embed="rId7"/>
                <a:stretch>
                  <a:fillRect l="-1951" r="-5366" b="-8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03231" y="5080799"/>
                <a:ext cx="329724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2.5×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0.38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231" y="5080799"/>
                <a:ext cx="3297249" cy="369332"/>
              </a:xfrm>
              <a:prstGeom prst="rect">
                <a:avLst/>
              </a:prstGeom>
              <a:blipFill>
                <a:blip r:embed="rId8"/>
                <a:stretch>
                  <a:fillRect l="-556" r="-1852" b="-98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23880" y="5519139"/>
                <a:ext cx="183422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14 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880" y="5519139"/>
                <a:ext cx="1834220" cy="369332"/>
              </a:xfrm>
              <a:prstGeom prst="rect">
                <a:avLst/>
              </a:prstGeom>
              <a:blipFill>
                <a:blip r:embed="rId9"/>
                <a:stretch>
                  <a:fillRect l="-1329" r="-3654" b="-8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56580" y="6071769"/>
            <a:ext cx="876300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Cost</a:t>
            </a:r>
            <a:r>
              <a:rPr lang="en-US" sz="2400" dirty="0"/>
              <a:t> required to develop the product = 14 x 15000 = </a:t>
            </a:r>
            <a:r>
              <a:rPr lang="en-US" sz="2400" dirty="0" err="1"/>
              <a:t>Rs</a:t>
            </a:r>
            <a:r>
              <a:rPr lang="en-US" sz="2400" dirty="0"/>
              <a:t>. </a:t>
            </a:r>
            <a:r>
              <a:rPr lang="en-US" sz="2400" b="1" dirty="0">
                <a:solidFill>
                  <a:srgbClr val="C00000"/>
                </a:solidFill>
              </a:rPr>
              <a:t>2,10,000/-</a:t>
            </a:r>
          </a:p>
        </p:txBody>
      </p:sp>
    </p:spTree>
    <p:extLst>
      <p:ext uri="{BB962C8B-B14F-4D97-AF65-F5344CB8AC3E}">
        <p14:creationId xmlns:p14="http://schemas.microsoft.com/office/powerpoint/2010/main" val="366938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 animBg="1"/>
      <p:bldP spid="9" grpId="0" animBg="1"/>
      <p:bldP spid="10" grpId="0"/>
      <p:bldP spid="11" grpId="0"/>
      <p:bldP spid="12" grpId="0"/>
      <p:bldP spid="13" grpId="0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COCOMO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32818"/>
            <a:ext cx="11929641" cy="5590565"/>
          </a:xfrm>
        </p:spPr>
        <p:txBody>
          <a:bodyPr/>
          <a:lstStyle/>
          <a:p>
            <a:r>
              <a:rPr lang="en-US" dirty="0"/>
              <a:t>The</a:t>
            </a:r>
            <a:r>
              <a:rPr lang="en-US" b="1" dirty="0">
                <a:solidFill>
                  <a:srgbClr val="C00000"/>
                </a:solidFill>
              </a:rPr>
              <a:t> basic COCOMO </a:t>
            </a:r>
            <a:r>
              <a:rPr lang="en-US" dirty="0"/>
              <a:t>model </a:t>
            </a:r>
            <a:r>
              <a:rPr lang="en-US" b="1" dirty="0">
                <a:solidFill>
                  <a:srgbClr val="C00000"/>
                </a:solidFill>
              </a:rPr>
              <a:t>assumes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</a:t>
            </a:r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development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time </a:t>
            </a:r>
            <a:r>
              <a:rPr lang="en-US" b="1" dirty="0">
                <a:solidFill>
                  <a:srgbClr val="C00000"/>
                </a:solidFill>
              </a:rPr>
              <a:t>are functions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product size alone</a:t>
            </a:r>
          </a:p>
          <a:p>
            <a:r>
              <a:rPr lang="en-US" dirty="0"/>
              <a:t>However, a </a:t>
            </a:r>
            <a:r>
              <a:rPr lang="en-US" b="1" dirty="0">
                <a:solidFill>
                  <a:srgbClr val="C00000"/>
                </a:solidFill>
              </a:rPr>
              <a:t>host of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other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besides the product size </a:t>
            </a:r>
            <a:r>
              <a:rPr lang="en-US" b="1" dirty="0">
                <a:solidFill>
                  <a:srgbClr val="C00000"/>
                </a:solidFill>
              </a:rPr>
              <a:t>affect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required</a:t>
            </a:r>
            <a:r>
              <a:rPr lang="en-US" dirty="0"/>
              <a:t> to develop the product as well as the </a:t>
            </a:r>
            <a:r>
              <a:rPr lang="en-US" b="1" dirty="0">
                <a:solidFill>
                  <a:srgbClr val="C00000"/>
                </a:solidFill>
              </a:rPr>
              <a:t>development time</a:t>
            </a:r>
          </a:p>
          <a:p>
            <a:r>
              <a:rPr lang="en-US" dirty="0"/>
              <a:t>Therefore,</a:t>
            </a:r>
            <a:r>
              <a:rPr lang="en-US" b="1" dirty="0">
                <a:solidFill>
                  <a:srgbClr val="C00000"/>
                </a:solidFill>
              </a:rPr>
              <a:t> in order to obtain an accurate estimation</a:t>
            </a:r>
            <a:r>
              <a:rPr lang="en-US" dirty="0"/>
              <a:t> of the effort and project </a:t>
            </a:r>
            <a:r>
              <a:rPr lang="en-US" b="1" dirty="0">
                <a:solidFill>
                  <a:srgbClr val="C00000"/>
                </a:solidFill>
              </a:rPr>
              <a:t>duration</a:t>
            </a:r>
            <a:r>
              <a:rPr lang="en-US" dirty="0"/>
              <a:t>, the </a:t>
            </a:r>
            <a:r>
              <a:rPr lang="en-US" b="1" dirty="0">
                <a:solidFill>
                  <a:srgbClr val="C00000"/>
                </a:solidFill>
              </a:rPr>
              <a:t>effect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all relevant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taken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</a:t>
            </a:r>
            <a:r>
              <a:rPr lang="en-US" b="1" dirty="0">
                <a:solidFill>
                  <a:srgbClr val="C00000"/>
                </a:solidFill>
              </a:rPr>
              <a:t>account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intermediate COCOMO</a:t>
            </a:r>
            <a:r>
              <a:rPr lang="en-US" dirty="0"/>
              <a:t> model </a:t>
            </a:r>
            <a:r>
              <a:rPr lang="en-US" b="1" dirty="0">
                <a:solidFill>
                  <a:srgbClr val="C00000"/>
                </a:solidFill>
              </a:rPr>
              <a:t>recognizes this fact</a:t>
            </a:r>
            <a:r>
              <a:rPr lang="en-US" dirty="0"/>
              <a:t> and refines the initial estimate obtained using the basic COCOMO expressions </a:t>
            </a:r>
            <a:r>
              <a:rPr lang="en-US" b="1" dirty="0">
                <a:solidFill>
                  <a:srgbClr val="C00000"/>
                </a:solidFill>
              </a:rPr>
              <a:t>by using a set of 15 cost drivers (multipliers) </a:t>
            </a:r>
            <a:r>
              <a:rPr lang="en-US" dirty="0"/>
              <a:t>based on </a:t>
            </a:r>
            <a:r>
              <a:rPr lang="en-US" b="1" dirty="0">
                <a:solidFill>
                  <a:srgbClr val="C00000"/>
                </a:solidFill>
              </a:rPr>
              <a:t>various attributes</a:t>
            </a:r>
            <a:r>
              <a:rPr lang="en-US" dirty="0"/>
              <a:t> of software development</a:t>
            </a:r>
          </a:p>
          <a:p>
            <a:pPr lvl="1"/>
            <a:r>
              <a:rPr lang="en-US" dirty="0"/>
              <a:t>For example, if modern programming practices are used, the initial estimates are scaled downward by multiplication with a cost driver having a value less than 1</a:t>
            </a:r>
          </a:p>
          <a:p>
            <a:r>
              <a:rPr lang="en-US" dirty="0"/>
              <a:t>It is </a:t>
            </a:r>
            <a:r>
              <a:rPr lang="en-US" b="1" dirty="0">
                <a:solidFill>
                  <a:srgbClr val="C00000"/>
                </a:solidFill>
              </a:rPr>
              <a:t>requires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project manager </a:t>
            </a:r>
            <a:r>
              <a:rPr lang="en-US" b="1" dirty="0">
                <a:solidFill>
                  <a:srgbClr val="C00000"/>
                </a:solidFill>
              </a:rPr>
              <a:t>to rate</a:t>
            </a:r>
            <a:r>
              <a:rPr lang="en-US" dirty="0"/>
              <a:t> these </a:t>
            </a:r>
            <a:r>
              <a:rPr lang="en-US" b="1" dirty="0">
                <a:solidFill>
                  <a:srgbClr val="C00000"/>
                </a:solidFill>
              </a:rPr>
              <a:t>15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different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a particular </a:t>
            </a:r>
            <a:r>
              <a:rPr lang="en-US" b="1" dirty="0">
                <a:solidFill>
                  <a:srgbClr val="C00000"/>
                </a:solidFill>
              </a:rPr>
              <a:t>project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a</a:t>
            </a:r>
            <a:r>
              <a:rPr lang="en-US" b="1" dirty="0">
                <a:solidFill>
                  <a:srgbClr val="C00000"/>
                </a:solidFill>
              </a:rPr>
              <a:t> scale of one to three</a:t>
            </a:r>
            <a:r>
              <a:rPr lang="en-US" dirty="0"/>
              <a:t>.</a:t>
            </a:r>
          </a:p>
          <a:p>
            <a:r>
              <a:rPr lang="en-US" dirty="0"/>
              <a:t>Then, </a:t>
            </a:r>
            <a:r>
              <a:rPr lang="en-US" b="1" dirty="0">
                <a:solidFill>
                  <a:srgbClr val="C00000"/>
                </a:solidFill>
              </a:rPr>
              <a:t>depending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these </a:t>
            </a:r>
            <a:r>
              <a:rPr lang="en-US" b="1" dirty="0">
                <a:solidFill>
                  <a:srgbClr val="C00000"/>
                </a:solidFill>
              </a:rPr>
              <a:t>ratings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appropriate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cost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driver </a:t>
            </a:r>
            <a:r>
              <a:rPr lang="en-US" b="1" dirty="0">
                <a:solidFill>
                  <a:srgbClr val="C00000"/>
                </a:solidFill>
              </a:rPr>
              <a:t>values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which should be </a:t>
            </a:r>
            <a:r>
              <a:rPr lang="en-US" b="1" dirty="0">
                <a:solidFill>
                  <a:srgbClr val="C00000"/>
                </a:solidFill>
              </a:rPr>
              <a:t>multiplied with the initial estimate</a:t>
            </a:r>
            <a:r>
              <a:rPr lang="en-US" dirty="0"/>
              <a:t> obtained using the basic COCOMO. 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9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1384300"/>
            <a:ext cx="11929641" cy="5069709"/>
          </a:xfrm>
        </p:spPr>
        <p:txBody>
          <a:bodyPr/>
          <a:lstStyle/>
          <a:p>
            <a:r>
              <a:rPr lang="en-US" b="1" dirty="0"/>
              <a:t>Product:</a:t>
            </a:r>
            <a:r>
              <a:rPr lang="en-US" dirty="0"/>
              <a:t> The characteristics of the product that are considered include the </a:t>
            </a:r>
            <a:r>
              <a:rPr lang="en-US" dirty="0">
                <a:solidFill>
                  <a:srgbClr val="C00000"/>
                </a:solidFill>
              </a:rPr>
              <a:t>inherent complexity </a:t>
            </a:r>
            <a:r>
              <a:rPr lang="en-US" dirty="0"/>
              <a:t>of the product, </a:t>
            </a:r>
            <a:r>
              <a:rPr lang="en-US" dirty="0">
                <a:solidFill>
                  <a:srgbClr val="C00000"/>
                </a:solidFill>
              </a:rPr>
              <a:t>reliability requirements </a:t>
            </a:r>
            <a:r>
              <a:rPr lang="en-US" dirty="0"/>
              <a:t>of the product, etc.</a:t>
            </a:r>
          </a:p>
          <a:p>
            <a:r>
              <a:rPr lang="en-US" b="1" dirty="0"/>
              <a:t>Computer:</a:t>
            </a:r>
            <a:r>
              <a:rPr lang="en-US" dirty="0"/>
              <a:t> Characteristics of the computer that are considered include the </a:t>
            </a:r>
            <a:r>
              <a:rPr lang="en-US" dirty="0">
                <a:solidFill>
                  <a:srgbClr val="C00000"/>
                </a:solidFill>
              </a:rPr>
              <a:t>execution speed </a:t>
            </a:r>
            <a:r>
              <a:rPr lang="en-US" dirty="0"/>
              <a:t>required, </a:t>
            </a:r>
            <a:r>
              <a:rPr lang="en-US" dirty="0">
                <a:solidFill>
                  <a:srgbClr val="C00000"/>
                </a:solidFill>
              </a:rPr>
              <a:t>storage space</a:t>
            </a:r>
            <a:r>
              <a:rPr lang="en-US" dirty="0"/>
              <a:t> required etc.</a:t>
            </a:r>
          </a:p>
          <a:p>
            <a:r>
              <a:rPr lang="en-US" b="1" dirty="0"/>
              <a:t>Personnel: </a:t>
            </a:r>
            <a:r>
              <a:rPr lang="en-US" dirty="0"/>
              <a:t>The attributes of development personnel that are considered include the </a:t>
            </a:r>
            <a:r>
              <a:rPr lang="en-US" dirty="0">
                <a:solidFill>
                  <a:srgbClr val="C00000"/>
                </a:solidFill>
              </a:rPr>
              <a:t>experience level of personnel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programming capability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analysis capability</a:t>
            </a:r>
            <a:r>
              <a:rPr lang="en-US" dirty="0"/>
              <a:t>, etc.</a:t>
            </a:r>
          </a:p>
          <a:p>
            <a:r>
              <a:rPr lang="en-US" b="1" dirty="0"/>
              <a:t>Development Environment:</a:t>
            </a:r>
            <a:r>
              <a:rPr lang="en-US" dirty="0"/>
              <a:t> Development environment attributes capture the </a:t>
            </a:r>
            <a:r>
              <a:rPr lang="en-US" dirty="0">
                <a:solidFill>
                  <a:srgbClr val="C00000"/>
                </a:solidFill>
              </a:rPr>
              <a:t>development facilities available </a:t>
            </a:r>
            <a:r>
              <a:rPr lang="en-US" dirty="0"/>
              <a:t>to the developers. An important parameter that is considered is the </a:t>
            </a:r>
            <a:r>
              <a:rPr lang="en-US" dirty="0">
                <a:solidFill>
                  <a:srgbClr val="C00000"/>
                </a:solidFill>
              </a:rPr>
              <a:t>sophistication of the automation (CASE) tools used </a:t>
            </a:r>
            <a:r>
              <a:rPr lang="en-US" dirty="0"/>
              <a:t>for software development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1179" y="819612"/>
            <a:ext cx="11929641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The cost drivers </a:t>
            </a:r>
            <a:r>
              <a:rPr lang="en-US" sz="2400" dirty="0"/>
              <a:t>can be </a:t>
            </a:r>
            <a:r>
              <a:rPr lang="en-US" sz="2400" b="1" dirty="0">
                <a:solidFill>
                  <a:srgbClr val="C00000"/>
                </a:solidFill>
              </a:rPr>
              <a:t>classified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as being attributes </a:t>
            </a:r>
            <a:r>
              <a:rPr lang="en-US" sz="2400" b="1" dirty="0"/>
              <a:t>of the following items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COCOMO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major </a:t>
            </a:r>
            <a:r>
              <a:rPr lang="en-US" b="1" dirty="0">
                <a:solidFill>
                  <a:srgbClr val="C00000"/>
                </a:solidFill>
              </a:rPr>
              <a:t>shortcoming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both the </a:t>
            </a:r>
            <a:r>
              <a:rPr lang="en-US" b="1" dirty="0">
                <a:solidFill>
                  <a:srgbClr val="C00000"/>
                </a:solidFill>
              </a:rPr>
              <a:t>basic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intermediate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COCOMO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models is that they </a:t>
            </a:r>
            <a:r>
              <a:rPr lang="en-US" b="1" dirty="0">
                <a:solidFill>
                  <a:srgbClr val="C00000"/>
                </a:solidFill>
              </a:rPr>
              <a:t>consider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software product </a:t>
            </a:r>
            <a:r>
              <a:rPr lang="en-US" b="1" dirty="0">
                <a:solidFill>
                  <a:srgbClr val="C00000"/>
                </a:solidFill>
              </a:rPr>
              <a:t>as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single homogeneous entity</a:t>
            </a:r>
          </a:p>
          <a:p>
            <a:r>
              <a:rPr lang="en-US" dirty="0"/>
              <a:t>Most </a:t>
            </a:r>
            <a:r>
              <a:rPr lang="en-US" b="1" dirty="0">
                <a:solidFill>
                  <a:srgbClr val="C00000"/>
                </a:solidFill>
              </a:rPr>
              <a:t>large systems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up several </a:t>
            </a:r>
            <a:r>
              <a:rPr lang="en-US" b="1" dirty="0">
                <a:solidFill>
                  <a:srgbClr val="C00000"/>
                </a:solidFill>
              </a:rPr>
              <a:t>smaller sub-systems</a:t>
            </a:r>
          </a:p>
          <a:p>
            <a:r>
              <a:rPr lang="en-US" dirty="0"/>
              <a:t>These </a:t>
            </a:r>
            <a:r>
              <a:rPr lang="en-US" b="1" dirty="0">
                <a:solidFill>
                  <a:srgbClr val="C00000"/>
                </a:solidFill>
              </a:rPr>
              <a:t>sub-systems</a:t>
            </a:r>
            <a:r>
              <a:rPr lang="en-US" dirty="0"/>
              <a:t> may have widely </a:t>
            </a:r>
            <a:r>
              <a:rPr lang="en-US" b="1" dirty="0">
                <a:solidFill>
                  <a:srgbClr val="C00000"/>
                </a:solidFill>
              </a:rPr>
              <a:t>different characteristics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C00000"/>
                </a:solidFill>
              </a:rPr>
              <a:t>some sub-systems</a:t>
            </a:r>
            <a:r>
              <a:rPr lang="en-US" dirty="0"/>
              <a:t> may be considered as </a:t>
            </a:r>
            <a:r>
              <a:rPr lang="en-US" dirty="0">
                <a:solidFill>
                  <a:srgbClr val="C00000"/>
                </a:solidFill>
              </a:rPr>
              <a:t>organic type</a:t>
            </a:r>
            <a:r>
              <a:rPr lang="en-US" dirty="0"/>
              <a:t>, some </a:t>
            </a:r>
            <a:r>
              <a:rPr lang="en-US" dirty="0">
                <a:solidFill>
                  <a:srgbClr val="C00000"/>
                </a:solidFill>
              </a:rPr>
              <a:t>semidetached</a:t>
            </a:r>
            <a:r>
              <a:rPr lang="en-US" dirty="0"/>
              <a:t>, and some </a:t>
            </a:r>
            <a:r>
              <a:rPr lang="en-US" dirty="0">
                <a:solidFill>
                  <a:srgbClr val="C00000"/>
                </a:solidFill>
              </a:rPr>
              <a:t>embedded</a:t>
            </a:r>
            <a:endParaRPr lang="en-US" dirty="0"/>
          </a:p>
          <a:p>
            <a:pPr lvl="1"/>
            <a:r>
              <a:rPr lang="en-US" dirty="0"/>
              <a:t>Also for </a:t>
            </a:r>
            <a:r>
              <a:rPr lang="en-US" dirty="0">
                <a:solidFill>
                  <a:srgbClr val="C00000"/>
                </a:solidFill>
              </a:rPr>
              <a:t>some subsystems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reliability requirements </a:t>
            </a:r>
            <a:r>
              <a:rPr lang="en-US" dirty="0"/>
              <a:t>may be </a:t>
            </a:r>
            <a:r>
              <a:rPr lang="en-US" dirty="0">
                <a:solidFill>
                  <a:srgbClr val="C00000"/>
                </a:solidFill>
              </a:rPr>
              <a:t>high</a:t>
            </a:r>
            <a:r>
              <a:rPr lang="en-US" dirty="0"/>
              <a:t>, for some the </a:t>
            </a:r>
            <a:r>
              <a:rPr lang="en-US" dirty="0">
                <a:solidFill>
                  <a:srgbClr val="C00000"/>
                </a:solidFill>
              </a:rPr>
              <a:t>development team might have no previous experience</a:t>
            </a:r>
            <a:r>
              <a:rPr lang="en-US" dirty="0"/>
              <a:t> of similar development etc.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complete COCOMO</a:t>
            </a:r>
            <a:r>
              <a:rPr lang="en-US" dirty="0"/>
              <a:t> model </a:t>
            </a:r>
            <a:r>
              <a:rPr lang="en-US" b="1" dirty="0">
                <a:solidFill>
                  <a:srgbClr val="C00000"/>
                </a:solidFill>
              </a:rPr>
              <a:t>considers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these differences in </a:t>
            </a:r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subsystems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effort and development time </a:t>
            </a:r>
            <a:r>
              <a:rPr lang="en-US" b="1" dirty="0">
                <a:solidFill>
                  <a:srgbClr val="C00000"/>
                </a:solidFill>
              </a:rPr>
              <a:t>as the sum of the estimates for the individual subsystems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each </a:t>
            </a:r>
            <a:r>
              <a:rPr lang="en-US" b="1" dirty="0">
                <a:solidFill>
                  <a:srgbClr val="C00000"/>
                </a:solidFill>
              </a:rPr>
              <a:t>subsystem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estimated separately</a:t>
            </a:r>
            <a:endParaRPr lang="en-US" dirty="0"/>
          </a:p>
          <a:p>
            <a:r>
              <a:rPr lang="en-US" dirty="0"/>
              <a:t>This approach </a:t>
            </a:r>
            <a:r>
              <a:rPr lang="en-US" b="1" dirty="0">
                <a:solidFill>
                  <a:srgbClr val="C00000"/>
                </a:solidFill>
              </a:rPr>
              <a:t>reduces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margin of error </a:t>
            </a:r>
            <a:r>
              <a:rPr lang="en-US" dirty="0"/>
              <a:t>in the final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4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Scheduling &amp; Tracking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4" b="11327"/>
          <a:stretch/>
        </p:blipFill>
        <p:spPr>
          <a:xfrm>
            <a:off x="9778093" y="4730070"/>
            <a:ext cx="2152650" cy="17417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595" y="4865103"/>
            <a:ext cx="1818007" cy="1448611"/>
          </a:xfrm>
          <a:prstGeom prst="rect">
            <a:avLst/>
          </a:prstGeom>
        </p:spPr>
      </p:pic>
      <p:sp>
        <p:nvSpPr>
          <p:cNvPr id="14" name="Rounded Rectangular Callout 13"/>
          <p:cNvSpPr/>
          <p:nvPr/>
        </p:nvSpPr>
        <p:spPr>
          <a:xfrm>
            <a:off x="217714" y="956618"/>
            <a:ext cx="11829143" cy="1020991"/>
          </a:xfrm>
          <a:prstGeom prst="wedgeRoundRectCallout">
            <a:avLst>
              <a:gd name="adj1" fmla="val -31095"/>
              <a:gd name="adj2" fmla="val -7263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is an </a:t>
            </a:r>
            <a:r>
              <a:rPr lang="en-US" sz="2400" b="1" dirty="0">
                <a:solidFill>
                  <a:srgbClr val="C00000"/>
                </a:solidFill>
              </a:rPr>
              <a:t>action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</a:t>
            </a:r>
            <a:r>
              <a:rPr lang="en-US" sz="2400" b="1" dirty="0">
                <a:solidFill>
                  <a:srgbClr val="C00000"/>
                </a:solidFill>
              </a:rPr>
              <a:t>distributes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estimated </a:t>
            </a:r>
            <a:r>
              <a:rPr lang="en-US" sz="2400" b="1" dirty="0">
                <a:solidFill>
                  <a:srgbClr val="C00000"/>
                </a:solidFill>
              </a:rPr>
              <a:t>effort across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planned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project </a:t>
            </a:r>
            <a:r>
              <a:rPr lang="en-US" sz="2400" b="1" dirty="0">
                <a:solidFill>
                  <a:srgbClr val="C00000"/>
                </a:solidFill>
              </a:rPr>
              <a:t>duration</a:t>
            </a:r>
            <a:r>
              <a:rPr lang="en-US" sz="2400" dirty="0"/>
              <a:t>, by </a:t>
            </a:r>
            <a:r>
              <a:rPr lang="en-US" sz="2400" b="1" dirty="0">
                <a:solidFill>
                  <a:srgbClr val="C00000"/>
                </a:solidFill>
              </a:rPr>
              <a:t>allocating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effort </a:t>
            </a:r>
            <a:r>
              <a:rPr lang="en-US" sz="2400" b="1" dirty="0">
                <a:solidFill>
                  <a:srgbClr val="C00000"/>
                </a:solidFill>
              </a:rPr>
              <a:t>to specific software engineering tasks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217714" y="2259842"/>
            <a:ext cx="305552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Scheduling Principles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09507" y="2719821"/>
            <a:ext cx="982123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17714" y="2921622"/>
            <a:ext cx="287931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Compartmentalization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8880" y="2941233"/>
            <a:ext cx="263940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Interdependency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0138" y="2926597"/>
            <a:ext cx="267391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Time Allocation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0137" y="3510830"/>
            <a:ext cx="267391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Effort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3684" y="2927083"/>
            <a:ext cx="303705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Responsibilities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7715" y="3510832"/>
            <a:ext cx="287931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Outcomes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8881" y="3510831"/>
            <a:ext cx="263940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Milestones </a:t>
            </a:r>
          </a:p>
        </p:txBody>
      </p:sp>
    </p:spTree>
    <p:extLst>
      <p:ext uri="{BB962C8B-B14F-4D97-AF65-F5344CB8AC3E}">
        <p14:creationId xmlns:p14="http://schemas.microsoft.com/office/powerpoint/2010/main" val="60519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92472"/>
            <a:ext cx="11929641" cy="5590565"/>
          </a:xfrm>
        </p:spPr>
        <p:txBody>
          <a:bodyPr/>
          <a:lstStyle/>
          <a:p>
            <a:r>
              <a:rPr lang="en-US" sz="2200" b="1" dirty="0"/>
              <a:t>Compartmentalization</a:t>
            </a:r>
            <a:r>
              <a:rPr lang="en-US" sz="2200" dirty="0"/>
              <a:t> 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process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decomposed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a </a:t>
            </a:r>
            <a:r>
              <a:rPr lang="en-US" b="1" dirty="0">
                <a:solidFill>
                  <a:srgbClr val="C00000"/>
                </a:solidFill>
              </a:rPr>
              <a:t>manageable number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activities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tasks</a:t>
            </a:r>
            <a:endParaRPr lang="en-US" dirty="0"/>
          </a:p>
          <a:p>
            <a:r>
              <a:rPr lang="en-US" sz="2200" b="1" dirty="0"/>
              <a:t>Interdependency 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Tasks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can be completed in </a:t>
            </a:r>
            <a:r>
              <a:rPr lang="en-US" b="1" dirty="0">
                <a:solidFill>
                  <a:srgbClr val="C00000"/>
                </a:solidFill>
              </a:rPr>
              <a:t>parallel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separated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those that must completed </a:t>
            </a:r>
            <a:r>
              <a:rPr lang="en-US" b="1" dirty="0">
                <a:solidFill>
                  <a:srgbClr val="C00000"/>
                </a:solidFill>
              </a:rPr>
              <a:t>serially</a:t>
            </a:r>
            <a:endParaRPr lang="en-US" dirty="0"/>
          </a:p>
          <a:p>
            <a:r>
              <a:rPr lang="en-US" sz="2200" b="1" dirty="0"/>
              <a:t>Time Allocation</a:t>
            </a:r>
            <a:endParaRPr lang="en-US" sz="2200" dirty="0"/>
          </a:p>
          <a:p>
            <a:pPr lvl="1"/>
            <a:r>
              <a:rPr lang="en-US" dirty="0"/>
              <a:t>Every task has </a:t>
            </a:r>
            <a:r>
              <a:rPr lang="en-US" b="1" dirty="0">
                <a:solidFill>
                  <a:srgbClr val="C00000"/>
                </a:solidFill>
              </a:rPr>
              <a:t>start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completion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dates that </a:t>
            </a:r>
            <a:r>
              <a:rPr lang="en-US" b="1" dirty="0">
                <a:solidFill>
                  <a:srgbClr val="C00000"/>
                </a:solidFill>
              </a:rPr>
              <a:t>take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task interdependencies</a:t>
            </a:r>
            <a:r>
              <a:rPr lang="en-US" dirty="0"/>
              <a:t> into account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2200" b="1" dirty="0"/>
              <a:t>Effort Validation</a:t>
            </a:r>
            <a:r>
              <a:rPr lang="en-US" sz="2200" dirty="0"/>
              <a:t> </a:t>
            </a:r>
          </a:p>
          <a:p>
            <a:pPr lvl="1"/>
            <a:r>
              <a:rPr lang="en-US" dirty="0"/>
              <a:t>Project manager must </a:t>
            </a:r>
            <a:r>
              <a:rPr lang="en-US" b="1" dirty="0">
                <a:solidFill>
                  <a:srgbClr val="C00000"/>
                </a:solidFill>
              </a:rPr>
              <a:t>ensure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on any </a:t>
            </a:r>
            <a:r>
              <a:rPr lang="en-US" b="1" dirty="0">
                <a:solidFill>
                  <a:srgbClr val="C00000"/>
                </a:solidFill>
              </a:rPr>
              <a:t>given day</a:t>
            </a:r>
            <a:r>
              <a:rPr lang="en-US" dirty="0"/>
              <a:t> there are </a:t>
            </a:r>
            <a:r>
              <a:rPr lang="en-US" b="1" dirty="0">
                <a:solidFill>
                  <a:srgbClr val="C00000"/>
                </a:solidFill>
              </a:rPr>
              <a:t>enough staff</a:t>
            </a:r>
            <a:r>
              <a:rPr lang="en-US" dirty="0"/>
              <a:t> members assigned to </a:t>
            </a:r>
            <a:r>
              <a:rPr lang="en-US" b="1" dirty="0">
                <a:solidFill>
                  <a:srgbClr val="C00000"/>
                </a:solidFill>
              </a:rPr>
              <a:t>complete the tasks</a:t>
            </a:r>
            <a:r>
              <a:rPr lang="en-US" dirty="0"/>
              <a:t> within the </a:t>
            </a:r>
            <a:r>
              <a:rPr lang="en-US" b="1" dirty="0">
                <a:solidFill>
                  <a:srgbClr val="C00000"/>
                </a:solidFill>
              </a:rPr>
              <a:t>time estimated </a:t>
            </a:r>
            <a:r>
              <a:rPr lang="en-US" dirty="0"/>
              <a:t>in the project plan</a:t>
            </a:r>
          </a:p>
          <a:p>
            <a:r>
              <a:rPr lang="en-US" sz="2200" b="1" dirty="0"/>
              <a:t>Define Responsibilities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Every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scheduled </a:t>
            </a:r>
            <a:r>
              <a:rPr lang="en-US" b="1" dirty="0">
                <a:solidFill>
                  <a:srgbClr val="C00000"/>
                </a:solidFill>
              </a:rPr>
              <a:t>task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needs to be </a:t>
            </a:r>
            <a:r>
              <a:rPr lang="en-US" b="1" dirty="0">
                <a:solidFill>
                  <a:srgbClr val="C00000"/>
                </a:solidFill>
              </a:rPr>
              <a:t>assigned to</a:t>
            </a:r>
            <a:r>
              <a:rPr lang="en-US" dirty="0"/>
              <a:t> a </a:t>
            </a:r>
            <a:r>
              <a:rPr lang="en-US" b="1" dirty="0">
                <a:solidFill>
                  <a:srgbClr val="C00000"/>
                </a:solidFill>
              </a:rPr>
              <a:t>specific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team </a:t>
            </a:r>
            <a:r>
              <a:rPr lang="en-US" b="1" dirty="0">
                <a:solidFill>
                  <a:srgbClr val="C00000"/>
                </a:solidFill>
              </a:rPr>
              <a:t>member</a:t>
            </a:r>
          </a:p>
          <a:p>
            <a:r>
              <a:rPr lang="en-US" sz="2200" b="1" dirty="0"/>
              <a:t>Define Outcomes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Every task</a:t>
            </a:r>
            <a:r>
              <a:rPr lang="en-US" dirty="0"/>
              <a:t> in the schedule </a:t>
            </a:r>
            <a:r>
              <a:rPr lang="en-US" b="1" dirty="0">
                <a:solidFill>
                  <a:srgbClr val="C00000"/>
                </a:solidFill>
              </a:rPr>
              <a:t>needs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have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defined outcome</a:t>
            </a:r>
            <a:r>
              <a:rPr lang="en-US" dirty="0"/>
              <a:t> (usually a work product or deliverable)</a:t>
            </a:r>
          </a:p>
          <a:p>
            <a:r>
              <a:rPr lang="en-US" sz="2200" b="1" dirty="0"/>
              <a:t>Defined Milestones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milestone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accomplished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when one or more </a:t>
            </a:r>
            <a:r>
              <a:rPr lang="en-US" b="1" dirty="0">
                <a:solidFill>
                  <a:srgbClr val="C00000"/>
                </a:solidFill>
              </a:rPr>
              <a:t>work products </a:t>
            </a:r>
            <a:r>
              <a:rPr lang="en-US" dirty="0"/>
              <a:t>from an </a:t>
            </a:r>
            <a:r>
              <a:rPr lang="en-US" dirty="0" err="1"/>
              <a:t>engg</a:t>
            </a:r>
            <a:r>
              <a:rPr lang="en-US" dirty="0"/>
              <a:t> task have </a:t>
            </a:r>
            <a:r>
              <a:rPr lang="en-US" b="1" dirty="0">
                <a:solidFill>
                  <a:srgbClr val="C00000"/>
                </a:solidFill>
              </a:rPr>
              <a:t>passed quality review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3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guideline: </a:t>
            </a:r>
            <a:r>
              <a:rPr lang="en-US" b="1" dirty="0">
                <a:solidFill>
                  <a:srgbClr val="C00000"/>
                </a:solidFill>
              </a:rPr>
              <a:t>40-20-40 rule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40%</a:t>
            </a:r>
            <a:r>
              <a:rPr lang="en-US" dirty="0"/>
              <a:t> or more of all effort allocated to </a:t>
            </a:r>
            <a:r>
              <a:rPr lang="en-US" b="1" dirty="0">
                <a:solidFill>
                  <a:srgbClr val="C00000"/>
                </a:solidFill>
              </a:rPr>
              <a:t>analysis and design tasks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20%</a:t>
            </a:r>
            <a:r>
              <a:rPr lang="en-US" b="1" dirty="0"/>
              <a:t> </a:t>
            </a:r>
            <a:r>
              <a:rPr lang="en-US" dirty="0"/>
              <a:t>of effort allocated to </a:t>
            </a:r>
            <a:r>
              <a:rPr lang="en-US" b="1" dirty="0">
                <a:solidFill>
                  <a:srgbClr val="C00000"/>
                </a:solidFill>
              </a:rPr>
              <a:t>programming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40%</a:t>
            </a:r>
            <a:r>
              <a:rPr lang="en-US" dirty="0"/>
              <a:t> of effort allocated to </a:t>
            </a:r>
            <a:r>
              <a:rPr lang="en-US" b="1" dirty="0">
                <a:solidFill>
                  <a:srgbClr val="C00000"/>
                </a:solidFill>
              </a:rPr>
              <a:t>testing</a:t>
            </a:r>
          </a:p>
          <a:p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each </a:t>
            </a:r>
            <a:r>
              <a:rPr lang="en-US" b="1" dirty="0">
                <a:solidFill>
                  <a:srgbClr val="C00000"/>
                </a:solidFill>
              </a:rPr>
              <a:t>project </a:t>
            </a:r>
            <a:r>
              <a:rPr lang="en-US" dirty="0"/>
              <a:t>dictate the </a:t>
            </a:r>
            <a:r>
              <a:rPr lang="en-US" b="1" dirty="0">
                <a:solidFill>
                  <a:srgbClr val="C00000"/>
                </a:solidFill>
              </a:rPr>
              <a:t>distribution of effort</a:t>
            </a:r>
          </a:p>
          <a:p>
            <a:r>
              <a:rPr lang="en-US" dirty="0"/>
              <a:t>Although most software organizations encounter the following </a:t>
            </a:r>
            <a:r>
              <a:rPr lang="en-US" b="1" dirty="0">
                <a:solidFill>
                  <a:srgbClr val="C00000"/>
                </a:solidFill>
              </a:rPr>
              <a:t>projects types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Concept Development</a:t>
            </a:r>
          </a:p>
          <a:p>
            <a:pPr lvl="2"/>
            <a:r>
              <a:rPr lang="en-US" dirty="0"/>
              <a:t>initiated to explore </a:t>
            </a:r>
            <a:r>
              <a:rPr lang="en-US" dirty="0">
                <a:solidFill>
                  <a:srgbClr val="C00000"/>
                </a:solidFill>
              </a:rPr>
              <a:t>new business concept </a:t>
            </a:r>
            <a:r>
              <a:rPr lang="en-US" dirty="0"/>
              <a:t>or new application of technology</a:t>
            </a:r>
          </a:p>
          <a:p>
            <a:pPr lvl="1"/>
            <a:r>
              <a:rPr lang="en-US" b="1" dirty="0"/>
              <a:t>New Application Development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new product </a:t>
            </a:r>
            <a:r>
              <a:rPr lang="en-US" dirty="0"/>
              <a:t>requested by customer</a:t>
            </a:r>
          </a:p>
          <a:p>
            <a:pPr lvl="1"/>
            <a:r>
              <a:rPr lang="en-US" b="1" dirty="0"/>
              <a:t>Application Enhancement</a:t>
            </a:r>
          </a:p>
          <a:p>
            <a:pPr lvl="2"/>
            <a:r>
              <a:rPr lang="en-US" dirty="0"/>
              <a:t>major </a:t>
            </a:r>
            <a:r>
              <a:rPr lang="en-US" dirty="0">
                <a:solidFill>
                  <a:srgbClr val="C00000"/>
                </a:solidFill>
              </a:rPr>
              <a:t>modifications to function</a:t>
            </a:r>
            <a:r>
              <a:rPr lang="en-US" dirty="0"/>
              <a:t>, performance or interfaces (observable to user)</a:t>
            </a:r>
          </a:p>
          <a:p>
            <a:pPr lvl="1">
              <a:buClrTx/>
            </a:pPr>
            <a:r>
              <a:rPr lang="en-US" b="1" dirty="0"/>
              <a:t>Application Maintenance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correcting</a:t>
            </a:r>
            <a:r>
              <a:rPr lang="en-US" dirty="0"/>
              <a:t>, adapting or </a:t>
            </a:r>
            <a:r>
              <a:rPr lang="en-US" dirty="0">
                <a:solidFill>
                  <a:srgbClr val="C00000"/>
                </a:solidFill>
              </a:rPr>
              <a:t>extending</a:t>
            </a:r>
            <a:r>
              <a:rPr lang="en-US" dirty="0"/>
              <a:t> existing </a:t>
            </a:r>
            <a:r>
              <a:rPr lang="en-US" dirty="0">
                <a:solidFill>
                  <a:srgbClr val="C00000"/>
                </a:solidFill>
              </a:rPr>
              <a:t>software</a:t>
            </a:r>
            <a:r>
              <a:rPr lang="en-US" dirty="0"/>
              <a:t> (not immediately obvious to user).</a:t>
            </a:r>
          </a:p>
          <a:p>
            <a:pPr lvl="1">
              <a:buClrTx/>
            </a:pPr>
            <a:r>
              <a:rPr lang="en-US" b="1" dirty="0"/>
              <a:t>Reengineering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rebuilding</a:t>
            </a:r>
            <a:r>
              <a:rPr lang="en-US" dirty="0"/>
              <a:t> all (or part) of a </a:t>
            </a:r>
            <a:r>
              <a:rPr lang="en-US" dirty="0">
                <a:solidFill>
                  <a:srgbClr val="C00000"/>
                </a:solidFill>
              </a:rPr>
              <a:t>existing</a:t>
            </a:r>
            <a:r>
              <a:rPr lang="en-US" dirty="0"/>
              <a:t> (legacy) </a:t>
            </a:r>
            <a:r>
              <a:rPr lang="en-US" dirty="0">
                <a:solidFill>
                  <a:srgbClr val="C00000"/>
                </a:solidFill>
              </a:rPr>
              <a:t>system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883" y="1"/>
            <a:ext cx="698938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9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project scheduling methods that can be applied to software development.</a:t>
            </a:r>
          </a:p>
          <a:p>
            <a:pPr lvl="1"/>
            <a:r>
              <a:rPr lang="en-US" b="1" dirty="0"/>
              <a:t>Program Evaluation and Review Technique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PERT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Critical Path Method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CPM</a:t>
            </a:r>
            <a:r>
              <a:rPr lang="en-US" dirty="0"/>
              <a:t>)</a:t>
            </a:r>
          </a:p>
          <a:p>
            <a:r>
              <a:rPr lang="en-US" dirty="0"/>
              <a:t>Both techniques are </a:t>
            </a:r>
            <a:r>
              <a:rPr lang="en-US" b="1" dirty="0">
                <a:solidFill>
                  <a:srgbClr val="C00000"/>
                </a:solidFill>
              </a:rPr>
              <a:t>driven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information already</a:t>
            </a:r>
            <a:r>
              <a:rPr lang="en-US" dirty="0"/>
              <a:t> developed in </a:t>
            </a:r>
            <a:r>
              <a:rPr lang="en-US" b="1" dirty="0">
                <a:solidFill>
                  <a:srgbClr val="C00000"/>
                </a:solidFill>
              </a:rPr>
              <a:t>earlier project planning </a:t>
            </a:r>
            <a:r>
              <a:rPr lang="en-US" dirty="0"/>
              <a:t>activities: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estimates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effort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product function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selection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appropriate process model </a:t>
            </a:r>
            <a:r>
              <a:rPr lang="en-US" dirty="0"/>
              <a:t>and task set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tasks</a:t>
            </a:r>
            <a:r>
              <a:rPr lang="en-US" dirty="0"/>
              <a:t> that are </a:t>
            </a:r>
            <a:r>
              <a:rPr lang="en-US" dirty="0">
                <a:solidFill>
                  <a:srgbClr val="C00000"/>
                </a:solidFill>
              </a:rPr>
              <a:t>selected</a:t>
            </a:r>
          </a:p>
          <a:p>
            <a:r>
              <a:rPr lang="en-US" dirty="0"/>
              <a:t>Both </a:t>
            </a:r>
            <a:r>
              <a:rPr lang="en-US" b="1" dirty="0">
                <a:solidFill>
                  <a:srgbClr val="C00000"/>
                </a:solidFill>
              </a:rPr>
              <a:t>PERT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CPM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provide </a:t>
            </a:r>
            <a:r>
              <a:rPr lang="en-US" dirty="0">
                <a:solidFill>
                  <a:srgbClr val="C00000"/>
                </a:solidFill>
              </a:rPr>
              <a:t>quantitative tools </a:t>
            </a:r>
            <a:r>
              <a:rPr lang="en-US" dirty="0"/>
              <a:t>that allow you to: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Determine the critical path</a:t>
            </a:r>
            <a:r>
              <a:rPr lang="en-US" dirty="0"/>
              <a:t>—the chain of tasks that determines the duration of the 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Establish “most likely” time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individual tasks by applying statistical models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Calculate “boundary times” </a:t>
            </a:r>
            <a:r>
              <a:rPr lang="en-US" dirty="0"/>
              <a:t>that define a “time window” for a particular task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165" y="863444"/>
            <a:ext cx="1045578" cy="100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0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Schedule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7154991" cy="5590565"/>
          </a:xfrm>
        </p:spPr>
        <p:txBody>
          <a:bodyPr/>
          <a:lstStyle/>
          <a:p>
            <a:r>
              <a:rPr lang="en-US" dirty="0"/>
              <a:t>The project schedule provides a road map for a software project manager.</a:t>
            </a:r>
          </a:p>
          <a:p>
            <a:r>
              <a:rPr lang="en-US" dirty="0"/>
              <a:t>It defines the tasks and milestones.</a:t>
            </a:r>
          </a:p>
          <a:p>
            <a:r>
              <a:rPr lang="en-US" dirty="0"/>
              <a:t>Several ways to track a project schedule:</a:t>
            </a:r>
          </a:p>
          <a:p>
            <a:pPr lvl="1"/>
            <a:r>
              <a:rPr lang="en-US" dirty="0"/>
              <a:t>Conducting </a:t>
            </a:r>
            <a:r>
              <a:rPr lang="en-US" b="1" dirty="0">
                <a:solidFill>
                  <a:srgbClr val="C00000"/>
                </a:solidFill>
              </a:rPr>
              <a:t>periodic project</a:t>
            </a:r>
            <a:r>
              <a:rPr lang="en-US" dirty="0"/>
              <a:t> status </a:t>
            </a:r>
            <a:r>
              <a:rPr lang="en-US" b="1" dirty="0">
                <a:solidFill>
                  <a:srgbClr val="C00000"/>
                </a:solidFill>
              </a:rPr>
              <a:t>meeting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Evaluating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review results </a:t>
            </a:r>
            <a:r>
              <a:rPr lang="en-US" dirty="0"/>
              <a:t>in the software process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Determine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if formal </a:t>
            </a:r>
            <a:r>
              <a:rPr lang="en-US" b="1" dirty="0">
                <a:solidFill>
                  <a:srgbClr val="C00000"/>
                </a:solidFill>
              </a:rPr>
              <a:t>project milestones</a:t>
            </a:r>
            <a:r>
              <a:rPr lang="en-US" dirty="0"/>
              <a:t> have been </a:t>
            </a:r>
            <a:r>
              <a:rPr lang="en-US" b="1" dirty="0">
                <a:solidFill>
                  <a:srgbClr val="C00000"/>
                </a:solidFill>
              </a:rPr>
              <a:t>accomplished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Compare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/>
              <a:t>actual start date</a:t>
            </a:r>
            <a:r>
              <a:rPr lang="en-US" dirty="0"/>
              <a:t> to </a:t>
            </a:r>
            <a:r>
              <a:rPr lang="en-US" b="1" dirty="0"/>
              <a:t>planned start date</a:t>
            </a:r>
            <a:r>
              <a:rPr lang="en-US" dirty="0"/>
              <a:t> for each task</a:t>
            </a:r>
          </a:p>
          <a:p>
            <a:pPr lvl="1"/>
            <a:r>
              <a:rPr lang="en-US" dirty="0"/>
              <a:t>Informal </a:t>
            </a:r>
            <a:r>
              <a:rPr lang="en-US" b="1" dirty="0">
                <a:solidFill>
                  <a:srgbClr val="C00000"/>
                </a:solidFill>
              </a:rPr>
              <a:t>meeting with practitioners</a:t>
            </a:r>
          </a:p>
          <a:p>
            <a:pPr lvl="1"/>
            <a:r>
              <a:rPr lang="en-US" dirty="0"/>
              <a:t>Using</a:t>
            </a:r>
            <a:r>
              <a:rPr lang="en-US" b="1" dirty="0">
                <a:solidFill>
                  <a:srgbClr val="C00000"/>
                </a:solidFill>
              </a:rPr>
              <a:t> earned value analysis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assess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progress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quantitatively</a:t>
            </a:r>
          </a:p>
          <a:p>
            <a:r>
              <a:rPr lang="en-US" b="1" dirty="0"/>
              <a:t>Project manager</a:t>
            </a:r>
            <a:r>
              <a:rPr lang="en-US" dirty="0"/>
              <a:t> takes the </a:t>
            </a:r>
            <a:r>
              <a:rPr lang="en-US" b="1" dirty="0"/>
              <a:t>control</a:t>
            </a:r>
            <a:r>
              <a:rPr lang="en-US" dirty="0"/>
              <a:t> of the </a:t>
            </a:r>
            <a:r>
              <a:rPr lang="en-US" b="1" dirty="0"/>
              <a:t>schedule</a:t>
            </a:r>
            <a:r>
              <a:rPr lang="en-US" dirty="0"/>
              <a:t> in the aspects of</a:t>
            </a:r>
          </a:p>
          <a:p>
            <a:pPr lvl="1"/>
            <a:r>
              <a:rPr lang="en-US" dirty="0"/>
              <a:t>Project Staffing, Project Problems, Project Resources, Reviews, Project Budget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7428574" y="0"/>
            <a:ext cx="0" cy="6609348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971" y="65315"/>
            <a:ext cx="728616" cy="5805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21878" y="108857"/>
            <a:ext cx="2129109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Gantt chart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7570978" y="863444"/>
            <a:ext cx="4501609" cy="1560442"/>
          </a:xfrm>
          <a:prstGeom prst="wedgeRoundRectCallout">
            <a:avLst>
              <a:gd name="adj1" fmla="val 39080"/>
              <a:gd name="adj2" fmla="val -6227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 </a:t>
            </a:r>
            <a:r>
              <a:rPr lang="en-US" sz="2000" b="1" dirty="0">
                <a:solidFill>
                  <a:srgbClr val="C00000"/>
                </a:solidFill>
              </a:rPr>
              <a:t>Gantt chart</a:t>
            </a:r>
            <a:r>
              <a:rPr lang="en-US" sz="2000" dirty="0"/>
              <a:t>, commonly used in </a:t>
            </a:r>
            <a:r>
              <a:rPr lang="en-US" sz="2000" b="1" dirty="0">
                <a:solidFill>
                  <a:srgbClr val="C00000"/>
                </a:solidFill>
              </a:rPr>
              <a:t>project management</a:t>
            </a:r>
            <a:r>
              <a:rPr lang="en-US" sz="2000" dirty="0"/>
              <a:t>, is one of the most </a:t>
            </a:r>
            <a:r>
              <a:rPr lang="en-US" sz="2000" b="1" dirty="0"/>
              <a:t>popular</a:t>
            </a:r>
            <a:r>
              <a:rPr lang="en-US" sz="2000" dirty="0"/>
              <a:t> and </a:t>
            </a:r>
            <a:r>
              <a:rPr lang="en-US" sz="2000" b="1" dirty="0"/>
              <a:t>useful ways</a:t>
            </a:r>
            <a:r>
              <a:rPr lang="en-US" sz="2000" dirty="0"/>
              <a:t> of </a:t>
            </a:r>
            <a:r>
              <a:rPr lang="en-US" sz="2000" b="1" dirty="0">
                <a:solidFill>
                  <a:srgbClr val="C00000"/>
                </a:solidFill>
              </a:rPr>
              <a:t>showing activities (tasks or events)</a:t>
            </a:r>
            <a:r>
              <a:rPr lang="en-US" sz="2000" dirty="0"/>
              <a:t> displayed </a:t>
            </a:r>
            <a:r>
              <a:rPr lang="en-US" sz="2000" b="1" dirty="0">
                <a:solidFill>
                  <a:srgbClr val="C00000"/>
                </a:solidFill>
              </a:rPr>
              <a:t>against time</a:t>
            </a:r>
            <a:r>
              <a:rPr lang="en-US" sz="20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1877" y="2576129"/>
            <a:ext cx="445070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/>
              <a:t>On </a:t>
            </a:r>
            <a:r>
              <a:rPr lang="en-US" sz="2100" b="1" dirty="0"/>
              <a:t>the left of the chart </a:t>
            </a:r>
            <a:r>
              <a:rPr lang="en-US" sz="2100" dirty="0"/>
              <a:t>is a </a:t>
            </a:r>
            <a:r>
              <a:rPr lang="en-US" sz="2100" b="1" dirty="0"/>
              <a:t>list of the activities </a:t>
            </a:r>
            <a:r>
              <a:rPr lang="en-US" sz="2100" dirty="0"/>
              <a:t>and along </a:t>
            </a:r>
            <a:r>
              <a:rPr lang="en-US" sz="2100" b="1" dirty="0"/>
              <a:t>the top </a:t>
            </a:r>
            <a:r>
              <a:rPr lang="en-US" sz="2100" dirty="0"/>
              <a:t>is a suitable </a:t>
            </a:r>
            <a:r>
              <a:rPr lang="en-US" sz="2100" b="1" dirty="0"/>
              <a:t>time scale</a:t>
            </a:r>
            <a:r>
              <a:rPr lang="en-US" sz="2100" dirty="0"/>
              <a:t>.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621877" y="3806371"/>
            <a:ext cx="44507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07363" y="3916729"/>
            <a:ext cx="4450709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/>
              <a:t>Each </a:t>
            </a:r>
            <a:r>
              <a:rPr lang="en-US" sz="2100" b="1" dirty="0"/>
              <a:t>activity</a:t>
            </a:r>
            <a:r>
              <a:rPr lang="en-US" sz="2100" dirty="0"/>
              <a:t> is </a:t>
            </a:r>
            <a:r>
              <a:rPr lang="en-US" sz="2100" b="1" dirty="0"/>
              <a:t>represented</a:t>
            </a:r>
            <a:r>
              <a:rPr lang="en-US" sz="2100" dirty="0"/>
              <a:t> by a </a:t>
            </a:r>
            <a:r>
              <a:rPr lang="en-US" sz="2100" b="1" dirty="0"/>
              <a:t>bar</a:t>
            </a:r>
            <a:r>
              <a:rPr lang="en-US" sz="2100" dirty="0"/>
              <a:t>; the </a:t>
            </a:r>
            <a:r>
              <a:rPr lang="en-US" sz="2100" b="1" dirty="0">
                <a:solidFill>
                  <a:srgbClr val="C00000"/>
                </a:solidFill>
              </a:rPr>
              <a:t>position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length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of the bar reflects the </a:t>
            </a:r>
            <a:r>
              <a:rPr lang="en-US" sz="2100" b="1" dirty="0">
                <a:solidFill>
                  <a:srgbClr val="C00000"/>
                </a:solidFill>
              </a:rPr>
              <a:t>start date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duration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end date </a:t>
            </a:r>
            <a:r>
              <a:rPr lang="en-US" sz="2100" dirty="0"/>
              <a:t>of the activity. This allows you to see at a glance:</a:t>
            </a:r>
          </a:p>
        </p:txBody>
      </p:sp>
    </p:spTree>
    <p:extLst>
      <p:ext uri="{BB962C8B-B14F-4D97-AF65-F5344CB8AC3E}">
        <p14:creationId xmlns:p14="http://schemas.microsoft.com/office/powerpoint/2010/main" val="286771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 animBg="1"/>
      <p:bldP spid="10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 Cont.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5384" r="3332" b="8462"/>
          <a:stretch/>
        </p:blipFill>
        <p:spPr>
          <a:xfrm>
            <a:off x="3352800" y="994621"/>
            <a:ext cx="8610600" cy="4267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30455" y="994621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What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C00000"/>
                </a:solidFill>
              </a:rPr>
              <a:t>various activities </a:t>
            </a:r>
            <a:r>
              <a:rPr lang="en-US" sz="2400" dirty="0"/>
              <a:t>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455" y="1971698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When</a:t>
            </a:r>
            <a:r>
              <a:rPr lang="en-US" sz="2400" dirty="0"/>
              <a:t> each </a:t>
            </a:r>
            <a:r>
              <a:rPr lang="en-US" sz="2400" dirty="0">
                <a:solidFill>
                  <a:srgbClr val="C00000"/>
                </a:solidFill>
              </a:rPr>
              <a:t>activity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begins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455" y="2948775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How long </a:t>
            </a:r>
            <a:r>
              <a:rPr lang="en-US" sz="2400" dirty="0"/>
              <a:t>each </a:t>
            </a:r>
            <a:r>
              <a:rPr lang="en-US" sz="2400" dirty="0">
                <a:solidFill>
                  <a:srgbClr val="C00000"/>
                </a:solidFill>
              </a:rPr>
              <a:t>activity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scheduled</a:t>
            </a:r>
            <a:r>
              <a:rPr lang="en-US" sz="2400" dirty="0"/>
              <a:t> to last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455" y="3925852"/>
            <a:ext cx="3039776" cy="156966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Where</a:t>
            </a:r>
            <a:r>
              <a:rPr lang="en-US" sz="2400" dirty="0"/>
              <a:t> activities </a:t>
            </a:r>
            <a:r>
              <a:rPr lang="en-US" sz="2400" dirty="0">
                <a:solidFill>
                  <a:srgbClr val="C00000"/>
                </a:solidFill>
              </a:rPr>
              <a:t>overlap</a:t>
            </a:r>
            <a:r>
              <a:rPr lang="en-US" sz="2400" dirty="0"/>
              <a:t> with </a:t>
            </a:r>
            <a:r>
              <a:rPr lang="en-US" sz="2400" dirty="0">
                <a:solidFill>
                  <a:srgbClr val="C00000"/>
                </a:solidFill>
              </a:rPr>
              <a:t>other activities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by how much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455" y="5641590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start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end date </a:t>
            </a:r>
            <a:r>
              <a:rPr lang="en-US" sz="2400" dirty="0"/>
              <a:t>of the </a:t>
            </a:r>
            <a:r>
              <a:rPr lang="en-US" sz="2400" dirty="0">
                <a:solidFill>
                  <a:srgbClr val="C00000"/>
                </a:solidFill>
              </a:rPr>
              <a:t>whole project</a:t>
            </a:r>
          </a:p>
        </p:txBody>
      </p:sp>
    </p:spTree>
    <p:extLst>
      <p:ext uri="{BB962C8B-B14F-4D97-AF65-F5344CB8AC3E}">
        <p14:creationId xmlns:p14="http://schemas.microsoft.com/office/powerpoint/2010/main" val="37143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analysis &amp; Management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943663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5286"/>
            <a:ext cx="2864322" cy="24451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281706" y="37342"/>
            <a:ext cx="944489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Risk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2189" y="58307"/>
            <a:ext cx="618519" cy="594588"/>
          </a:xfrm>
          <a:prstGeom prst="rect">
            <a:avLst/>
          </a:prstGeom>
        </p:spPr>
      </p:pic>
      <p:sp>
        <p:nvSpPr>
          <p:cNvPr id="26" name="Rounded Rectangular Callout 25"/>
          <p:cNvSpPr/>
          <p:nvPr/>
        </p:nvSpPr>
        <p:spPr>
          <a:xfrm>
            <a:off x="3080806" y="925286"/>
            <a:ext cx="8879902" cy="914400"/>
          </a:xfrm>
          <a:prstGeom prst="wedgeRoundRectCallout">
            <a:avLst>
              <a:gd name="adj1" fmla="val 36822"/>
              <a:gd name="adj2" fmla="val -9528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</a:t>
            </a:r>
            <a:r>
              <a:rPr lang="en-US" sz="2400" b="1" dirty="0"/>
              <a:t>risk</a:t>
            </a:r>
            <a:r>
              <a:rPr lang="en-US" sz="2400" dirty="0"/>
              <a:t> is a </a:t>
            </a:r>
            <a:r>
              <a:rPr lang="en-US" sz="2400" b="1" dirty="0">
                <a:solidFill>
                  <a:srgbClr val="C00000"/>
                </a:solidFill>
              </a:rPr>
              <a:t>potential (probable) problem </a:t>
            </a:r>
            <a:r>
              <a:rPr lang="en-US" sz="2400" dirty="0"/>
              <a:t>– which might </a:t>
            </a:r>
            <a:r>
              <a:rPr lang="en-US" sz="2400" b="1" dirty="0">
                <a:solidFill>
                  <a:srgbClr val="C00000"/>
                </a:solidFill>
              </a:rPr>
              <a:t>happen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and might not</a:t>
            </a:r>
            <a:endParaRPr lang="en-US" sz="2400" dirty="0"/>
          </a:p>
        </p:txBody>
      </p:sp>
      <p:sp>
        <p:nvSpPr>
          <p:cNvPr id="28" name="Rectangle 27"/>
          <p:cNvSpPr/>
          <p:nvPr/>
        </p:nvSpPr>
        <p:spPr>
          <a:xfrm>
            <a:off x="3085814" y="2053771"/>
            <a:ext cx="392458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Conceptual definition of risk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4977607" y="2513750"/>
            <a:ext cx="698310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3112201" y="2593568"/>
            <a:ext cx="8934656" cy="1470436"/>
          </a:xfrm>
        </p:spPr>
        <p:txBody>
          <a:bodyPr/>
          <a:lstStyle/>
          <a:p>
            <a:r>
              <a:rPr lang="en-US" dirty="0"/>
              <a:t>Risk </a:t>
            </a:r>
            <a:r>
              <a:rPr lang="en-US" dirty="0">
                <a:solidFill>
                  <a:srgbClr val="C00000"/>
                </a:solidFill>
              </a:rPr>
              <a:t>concerns future happenings</a:t>
            </a:r>
            <a:endParaRPr lang="en-US" dirty="0"/>
          </a:p>
          <a:p>
            <a:r>
              <a:rPr lang="en-US" dirty="0"/>
              <a:t>Risk </a:t>
            </a:r>
            <a:r>
              <a:rPr lang="en-US" dirty="0">
                <a:solidFill>
                  <a:srgbClr val="C00000"/>
                </a:solidFill>
              </a:rPr>
              <a:t>involves change</a:t>
            </a:r>
            <a:r>
              <a:rPr lang="en-US" dirty="0"/>
              <a:t> in mind, </a:t>
            </a:r>
            <a:r>
              <a:rPr lang="en-US" dirty="0">
                <a:solidFill>
                  <a:srgbClr val="C00000"/>
                </a:solidFill>
              </a:rPr>
              <a:t>opinion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actions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places</a:t>
            </a:r>
            <a:r>
              <a:rPr lang="en-US" dirty="0"/>
              <a:t>, etc.</a:t>
            </a:r>
          </a:p>
          <a:p>
            <a:r>
              <a:rPr lang="en-US" dirty="0"/>
              <a:t>Risk </a:t>
            </a:r>
            <a:r>
              <a:rPr lang="en-US" dirty="0">
                <a:solidFill>
                  <a:srgbClr val="C00000"/>
                </a:solidFill>
              </a:rPr>
              <a:t>involves</a:t>
            </a:r>
            <a:r>
              <a:rPr lang="en-US" dirty="0"/>
              <a:t> choice and the </a:t>
            </a:r>
            <a:r>
              <a:rPr lang="en-US" dirty="0">
                <a:solidFill>
                  <a:srgbClr val="C00000"/>
                </a:solidFill>
              </a:rPr>
              <a:t>uncertainty</a:t>
            </a:r>
            <a:r>
              <a:rPr lang="en-US" dirty="0"/>
              <a:t> that choice entails</a:t>
            </a:r>
          </a:p>
          <a:p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5668940" y="4040542"/>
            <a:ext cx="3470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Two characteristics of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96291" y="4502206"/>
            <a:ext cx="1604927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/>
              <a:t>Uncertainty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69944" y="4502205"/>
            <a:ext cx="76495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/>
              <a:t>Loss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112201" y="4004254"/>
            <a:ext cx="88485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37" idx="2"/>
            <a:endCxn id="38" idx="3"/>
          </p:cNvCxnSpPr>
          <p:nvPr/>
        </p:nvCxnSpPr>
        <p:spPr>
          <a:xfrm rot="5400000">
            <a:off x="5987385" y="3316040"/>
            <a:ext cx="230832" cy="26031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37" idx="2"/>
            <a:endCxn id="39" idx="1"/>
          </p:cNvCxnSpPr>
          <p:nvPr/>
        </p:nvCxnSpPr>
        <p:spPr>
          <a:xfrm rot="16200000" flipH="1">
            <a:off x="9121749" y="2784842"/>
            <a:ext cx="230831" cy="36655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ounded Rectangular Callout 42"/>
          <p:cNvSpPr/>
          <p:nvPr/>
        </p:nvSpPr>
        <p:spPr>
          <a:xfrm>
            <a:off x="7765143" y="5201686"/>
            <a:ext cx="4178081" cy="1233492"/>
          </a:xfrm>
          <a:prstGeom prst="wedgeRoundRectCallout">
            <a:avLst>
              <a:gd name="adj1" fmla="val 46016"/>
              <a:gd name="adj2" fmla="val -67036"/>
              <a:gd name="adj3" fmla="val 16667"/>
            </a:avLst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If the </a:t>
            </a:r>
            <a:r>
              <a:rPr lang="en-US" sz="2400" b="1" dirty="0">
                <a:solidFill>
                  <a:schemeClr val="tx1"/>
                </a:solidFill>
              </a:rPr>
              <a:t>risk</a:t>
            </a:r>
            <a:r>
              <a:rPr lang="en-US" sz="2400" dirty="0">
                <a:solidFill>
                  <a:schemeClr val="tx1"/>
                </a:solidFill>
              </a:rPr>
              <a:t> becomes a </a:t>
            </a:r>
            <a:r>
              <a:rPr lang="en-US" sz="2400" b="1" dirty="0">
                <a:solidFill>
                  <a:schemeClr val="tx1"/>
                </a:solidFill>
              </a:rPr>
              <a:t>reality</a:t>
            </a:r>
            <a:r>
              <a:rPr lang="en-US" sz="2400" dirty="0">
                <a:solidFill>
                  <a:schemeClr val="tx1"/>
                </a:solidFill>
              </a:rPr>
              <a:t> and </a:t>
            </a:r>
            <a:r>
              <a:rPr lang="en-US" sz="2400" b="1" dirty="0">
                <a:solidFill>
                  <a:schemeClr val="tx1"/>
                </a:solidFill>
              </a:rPr>
              <a:t>unwanted consequences</a:t>
            </a:r>
            <a:r>
              <a:rPr lang="en-US" sz="2400" dirty="0">
                <a:solidFill>
                  <a:schemeClr val="tx1"/>
                </a:solidFill>
              </a:rPr>
              <a:t> or </a:t>
            </a:r>
            <a:r>
              <a:rPr lang="en-US" sz="2400" b="1" dirty="0">
                <a:solidFill>
                  <a:schemeClr val="tx1"/>
                </a:solidFill>
              </a:rPr>
              <a:t>losses</a:t>
            </a:r>
            <a:r>
              <a:rPr lang="en-US" sz="2400" dirty="0">
                <a:solidFill>
                  <a:schemeClr val="tx1"/>
                </a:solidFill>
              </a:rPr>
              <a:t> occur</a:t>
            </a:r>
          </a:p>
        </p:txBody>
      </p:sp>
      <p:sp>
        <p:nvSpPr>
          <p:cNvPr id="44" name="Rounded Rectangular Callout 43"/>
          <p:cNvSpPr/>
          <p:nvPr/>
        </p:nvSpPr>
        <p:spPr>
          <a:xfrm>
            <a:off x="3192439" y="5201685"/>
            <a:ext cx="4471103" cy="1233493"/>
          </a:xfrm>
          <a:prstGeom prst="wedgeRoundRectCallout">
            <a:avLst>
              <a:gd name="adj1" fmla="val -48833"/>
              <a:gd name="adj2" fmla="val -67237"/>
              <a:gd name="adj3" fmla="val 16667"/>
            </a:avLst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/>
              <a:t>The risk </a:t>
            </a:r>
            <a:r>
              <a:rPr lang="en-US" sz="2400" b="1" dirty="0"/>
              <a:t>may</a:t>
            </a:r>
            <a:r>
              <a:rPr lang="en-US" sz="2400" dirty="0"/>
              <a:t> or  </a:t>
            </a:r>
            <a:r>
              <a:rPr lang="en-US" sz="2400" b="1" dirty="0"/>
              <a:t>may not happen</a:t>
            </a:r>
            <a:r>
              <a:rPr lang="en-US" sz="2400" dirty="0"/>
              <a:t>, so there are no 100% risks (some of those may called constraints)</a:t>
            </a:r>
          </a:p>
        </p:txBody>
      </p:sp>
    </p:spTree>
    <p:extLst>
      <p:ext uri="{BB962C8B-B14F-4D97-AF65-F5344CB8AC3E}">
        <p14:creationId xmlns:p14="http://schemas.microsoft.com/office/powerpoint/2010/main" val="204634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 animBg="1"/>
      <p:bldP spid="28" grpId="0" animBg="1"/>
      <p:bldP spid="30" grpId="0" build="p"/>
      <p:bldP spid="37" grpId="0"/>
      <p:bldP spid="38" grpId="0" animBg="1"/>
      <p:bldP spid="39" grpId="0" animBg="1"/>
      <p:bldP spid="43" grpId="0" animBg="1"/>
      <p:bldP spid="4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Categorization: Approach-1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5398763" cy="5590565"/>
          </a:xfrm>
        </p:spPr>
        <p:txBody>
          <a:bodyPr/>
          <a:lstStyle/>
          <a:p>
            <a:r>
              <a:rPr lang="en-US" b="1" dirty="0"/>
              <a:t>Project risks</a:t>
            </a:r>
          </a:p>
          <a:p>
            <a:pPr lvl="1"/>
            <a:r>
              <a:rPr lang="en-US" dirty="0"/>
              <a:t>They </a:t>
            </a:r>
            <a:r>
              <a:rPr lang="en-US" b="1" dirty="0">
                <a:solidFill>
                  <a:srgbClr val="C00000"/>
                </a:solidFill>
              </a:rPr>
              <a:t>threaten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project plan</a:t>
            </a:r>
          </a:p>
          <a:p>
            <a:pPr lvl="1"/>
            <a:r>
              <a:rPr lang="en-US" dirty="0"/>
              <a:t>If they become real, it is likely that the </a:t>
            </a:r>
            <a:r>
              <a:rPr lang="en-US" b="1" dirty="0">
                <a:solidFill>
                  <a:srgbClr val="C00000"/>
                </a:solidFill>
              </a:rPr>
              <a:t>project schedule will slip</a:t>
            </a:r>
            <a:r>
              <a:rPr lang="en-US" dirty="0"/>
              <a:t> and that </a:t>
            </a:r>
            <a:r>
              <a:rPr lang="en-US" b="1" dirty="0">
                <a:solidFill>
                  <a:srgbClr val="C00000"/>
                </a:solidFill>
              </a:rPr>
              <a:t>costs will increase</a:t>
            </a:r>
            <a:endParaRPr lang="en-US" dirty="0"/>
          </a:p>
          <a:p>
            <a:r>
              <a:rPr lang="en-US" b="1" dirty="0"/>
              <a:t>Technical risks </a:t>
            </a:r>
          </a:p>
          <a:p>
            <a:pPr lvl="1"/>
            <a:r>
              <a:rPr lang="en-US" dirty="0"/>
              <a:t>They </a:t>
            </a:r>
            <a:r>
              <a:rPr lang="en-US" b="1" dirty="0">
                <a:solidFill>
                  <a:srgbClr val="C00000"/>
                </a:solidFill>
              </a:rPr>
              <a:t>threaten the quality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timeliness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software to be produced</a:t>
            </a:r>
          </a:p>
          <a:p>
            <a:pPr lvl="1"/>
            <a:r>
              <a:rPr lang="en-US" dirty="0"/>
              <a:t>If they become real, </a:t>
            </a:r>
            <a:r>
              <a:rPr lang="en-US" b="1" dirty="0">
                <a:solidFill>
                  <a:srgbClr val="C00000"/>
                </a:solidFill>
              </a:rPr>
              <a:t>implementation may become difficult</a:t>
            </a:r>
            <a:r>
              <a:rPr lang="en-US" dirty="0"/>
              <a:t> or impossible</a:t>
            </a:r>
          </a:p>
          <a:p>
            <a:r>
              <a:rPr lang="en-US" b="1" dirty="0"/>
              <a:t>Business risks </a:t>
            </a:r>
          </a:p>
          <a:p>
            <a:pPr lvl="1"/>
            <a:r>
              <a:rPr lang="en-US" dirty="0"/>
              <a:t>They </a:t>
            </a:r>
            <a:r>
              <a:rPr lang="en-US" b="1" dirty="0">
                <a:solidFill>
                  <a:srgbClr val="C00000"/>
                </a:solidFill>
              </a:rPr>
              <a:t>threaten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feasibility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be built</a:t>
            </a:r>
          </a:p>
          <a:p>
            <a:pPr lvl="1"/>
            <a:r>
              <a:rPr lang="en-US" dirty="0"/>
              <a:t>If they become real, they </a:t>
            </a:r>
            <a:r>
              <a:rPr lang="en-US" b="1" dirty="0">
                <a:solidFill>
                  <a:srgbClr val="C00000"/>
                </a:solidFill>
              </a:rPr>
              <a:t>threaten the project </a:t>
            </a:r>
            <a:r>
              <a:rPr lang="en-US" dirty="0"/>
              <a:t>or the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40" t="11905" r="4471" b="14444"/>
          <a:stretch/>
        </p:blipFill>
        <p:spPr>
          <a:xfrm>
            <a:off x="11262536" y="73281"/>
            <a:ext cx="798285" cy="56464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5570749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570749" y="711201"/>
            <a:ext cx="6621252" cy="46166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Sub-categories of Business risks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611556" y="1246145"/>
            <a:ext cx="6449265" cy="520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Market risk</a:t>
            </a:r>
          </a:p>
          <a:p>
            <a:pPr lvl="1"/>
            <a:r>
              <a:rPr lang="en-US" dirty="0"/>
              <a:t>Building an </a:t>
            </a:r>
            <a:r>
              <a:rPr lang="en-US" b="1" dirty="0">
                <a:solidFill>
                  <a:srgbClr val="C00000"/>
                </a:solidFill>
              </a:rPr>
              <a:t>excellent product </a:t>
            </a:r>
            <a:r>
              <a:rPr lang="en-US" dirty="0"/>
              <a:t>or system that </a:t>
            </a:r>
            <a:r>
              <a:rPr lang="en-US" b="1" dirty="0">
                <a:solidFill>
                  <a:srgbClr val="C00000"/>
                </a:solidFill>
              </a:rPr>
              <a:t>no one really wants</a:t>
            </a:r>
          </a:p>
          <a:p>
            <a:r>
              <a:rPr lang="en-US" b="1" dirty="0"/>
              <a:t>Strategic risk</a:t>
            </a:r>
          </a:p>
          <a:p>
            <a:pPr lvl="1"/>
            <a:r>
              <a:rPr lang="en-US" dirty="0"/>
              <a:t>Building a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that no longer fits into </a:t>
            </a:r>
            <a:r>
              <a:rPr lang="en-US" dirty="0"/>
              <a:t>the overall </a:t>
            </a:r>
            <a:r>
              <a:rPr lang="en-US" b="1" dirty="0">
                <a:solidFill>
                  <a:srgbClr val="C00000"/>
                </a:solidFill>
              </a:rPr>
              <a:t>business strategy </a:t>
            </a:r>
            <a:r>
              <a:rPr lang="en-US" dirty="0"/>
              <a:t>for the company</a:t>
            </a:r>
          </a:p>
          <a:p>
            <a:r>
              <a:rPr lang="en-US" b="1" dirty="0"/>
              <a:t>Sales risk</a:t>
            </a:r>
          </a:p>
          <a:p>
            <a:pPr lvl="1"/>
            <a:r>
              <a:rPr lang="en-US" dirty="0"/>
              <a:t>Building a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the </a:t>
            </a:r>
            <a:r>
              <a:rPr lang="en-US" b="1" dirty="0">
                <a:solidFill>
                  <a:srgbClr val="C00000"/>
                </a:solidFill>
              </a:rPr>
              <a:t>sales force doesn't understand </a:t>
            </a:r>
            <a:r>
              <a:rPr lang="en-US" dirty="0"/>
              <a:t>how to </a:t>
            </a:r>
            <a:r>
              <a:rPr lang="en-US" b="1" dirty="0">
                <a:solidFill>
                  <a:srgbClr val="C00000"/>
                </a:solidFill>
              </a:rPr>
              <a:t>sell</a:t>
            </a:r>
            <a:endParaRPr lang="en-US" dirty="0"/>
          </a:p>
          <a:p>
            <a:r>
              <a:rPr lang="en-US" b="1" dirty="0"/>
              <a:t>Management risk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Losing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support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senior management</a:t>
            </a:r>
            <a:r>
              <a:rPr lang="en-US" dirty="0"/>
              <a:t> due to a change in focus or a change in people</a:t>
            </a:r>
          </a:p>
          <a:p>
            <a:r>
              <a:rPr lang="en-US" b="1" dirty="0"/>
              <a:t>Budget risk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Losing budgetary </a:t>
            </a:r>
            <a:r>
              <a:rPr lang="en-US" dirty="0"/>
              <a:t>or</a:t>
            </a:r>
            <a:r>
              <a:rPr lang="en-US" b="1" dirty="0">
                <a:solidFill>
                  <a:srgbClr val="C00000"/>
                </a:solidFill>
              </a:rPr>
              <a:t> personnel commitment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8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Categorization: Approach-2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0874"/>
            <a:ext cx="11929641" cy="2939297"/>
          </a:xfrm>
        </p:spPr>
        <p:txBody>
          <a:bodyPr/>
          <a:lstStyle/>
          <a:p>
            <a:r>
              <a:rPr lang="en-US" b="1" dirty="0"/>
              <a:t>Known risks</a:t>
            </a:r>
          </a:p>
          <a:p>
            <a:pPr lvl="1"/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can be </a:t>
            </a:r>
            <a:r>
              <a:rPr lang="en-US" b="1" dirty="0">
                <a:solidFill>
                  <a:srgbClr val="C00000"/>
                </a:solidFill>
              </a:rPr>
              <a:t>uncovered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after careful evaluation </a:t>
            </a:r>
            <a:r>
              <a:rPr lang="en-US" dirty="0"/>
              <a:t>of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project plan</a:t>
            </a:r>
            <a:r>
              <a:rPr lang="en-US" dirty="0"/>
              <a:t>,  the </a:t>
            </a:r>
            <a:r>
              <a:rPr lang="en-US" dirty="0">
                <a:solidFill>
                  <a:srgbClr val="C00000"/>
                </a:solidFill>
              </a:rPr>
              <a:t>business and technical environment </a:t>
            </a:r>
            <a:r>
              <a:rPr lang="en-US" dirty="0"/>
              <a:t>in which the project is being developed, and  other </a:t>
            </a:r>
            <a:r>
              <a:rPr lang="en-US" dirty="0">
                <a:solidFill>
                  <a:srgbClr val="C00000"/>
                </a:solidFill>
              </a:rPr>
              <a:t>reliable information sources </a:t>
            </a:r>
            <a:r>
              <a:rPr lang="en-US" dirty="0"/>
              <a:t>(Ex. unrealistic delivery date)</a:t>
            </a:r>
          </a:p>
          <a:p>
            <a:r>
              <a:rPr lang="en-US" b="1" dirty="0"/>
              <a:t>Predictable risks</a:t>
            </a:r>
          </a:p>
          <a:p>
            <a:pPr lvl="1"/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</a:t>
            </a:r>
            <a:r>
              <a:rPr lang="en-US" b="1" dirty="0">
                <a:solidFill>
                  <a:srgbClr val="C00000"/>
                </a:solidFill>
              </a:rPr>
              <a:t>deduced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(draw conclusion) from </a:t>
            </a:r>
            <a:r>
              <a:rPr lang="en-US" b="1" dirty="0">
                <a:solidFill>
                  <a:srgbClr val="C00000"/>
                </a:solidFill>
              </a:rPr>
              <a:t>past project</a:t>
            </a:r>
            <a:r>
              <a:rPr lang="en-US" dirty="0"/>
              <a:t> experience (Ex. past turnover)</a:t>
            </a:r>
          </a:p>
          <a:p>
            <a:r>
              <a:rPr lang="en-US" b="1" dirty="0"/>
              <a:t>Unpredictable risks</a:t>
            </a:r>
          </a:p>
          <a:p>
            <a:pPr lvl="1"/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can and do </a:t>
            </a:r>
            <a:r>
              <a:rPr lang="en-US" b="1" dirty="0">
                <a:solidFill>
                  <a:srgbClr val="C00000"/>
                </a:solidFill>
              </a:rPr>
              <a:t>occur</a:t>
            </a:r>
            <a:r>
              <a:rPr lang="en-US" dirty="0"/>
              <a:t>, but are </a:t>
            </a:r>
            <a:r>
              <a:rPr lang="en-US" b="1" dirty="0">
                <a:solidFill>
                  <a:srgbClr val="C00000"/>
                </a:solidFill>
              </a:rPr>
              <a:t>extremely difficult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identify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advance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40" t="11905" r="4471" b="14444"/>
          <a:stretch/>
        </p:blipFill>
        <p:spPr>
          <a:xfrm>
            <a:off x="11262536" y="73281"/>
            <a:ext cx="798285" cy="564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96892" y="3730171"/>
            <a:ext cx="513750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Risk Strategies (Reactive vs. Proactive)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176" y="4190150"/>
            <a:ext cx="7198537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Reactive risk strategies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9714" y="4190150"/>
            <a:ext cx="4615543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</a:rPr>
              <a:t>Proactive risk strategies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178" y="4701675"/>
            <a:ext cx="7198535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/>
              <a:t>"</a:t>
            </a:r>
            <a:r>
              <a:rPr lang="en-US" sz="1900" b="1" dirty="0">
                <a:solidFill>
                  <a:srgbClr val="C00000"/>
                </a:solidFill>
              </a:rPr>
              <a:t>Don't worry</a:t>
            </a:r>
            <a:r>
              <a:rPr lang="en-US" sz="1900" dirty="0"/>
              <a:t>, I </a:t>
            </a:r>
            <a:r>
              <a:rPr lang="en-US" sz="1900" b="1" dirty="0">
                <a:solidFill>
                  <a:srgbClr val="C00000"/>
                </a:solidFill>
              </a:rPr>
              <a:t>will think</a:t>
            </a:r>
            <a:r>
              <a:rPr lang="en-US" sz="1900" dirty="0"/>
              <a:t> of </a:t>
            </a:r>
            <a:r>
              <a:rPr lang="en-US" sz="1900" b="1" dirty="0">
                <a:solidFill>
                  <a:srgbClr val="C00000"/>
                </a:solidFill>
              </a:rPr>
              <a:t>something</a:t>
            </a:r>
            <a:r>
              <a:rPr lang="en-US" sz="1900" dirty="0"/>
              <a:t>“.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/>
              <a:t>The </a:t>
            </a:r>
            <a:r>
              <a:rPr lang="en-US" sz="1900" b="1" dirty="0">
                <a:solidFill>
                  <a:srgbClr val="C00000"/>
                </a:solidFill>
              </a:rPr>
              <a:t>majority of software teams </a:t>
            </a:r>
            <a:r>
              <a:rPr lang="en-US" sz="1900" dirty="0"/>
              <a:t>and managers </a:t>
            </a:r>
            <a:r>
              <a:rPr lang="en-US" sz="1900" b="1" dirty="0">
                <a:solidFill>
                  <a:srgbClr val="C00000"/>
                </a:solidFill>
              </a:rPr>
              <a:t>rely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on this </a:t>
            </a:r>
            <a:r>
              <a:rPr lang="en-US" sz="1900" b="1" dirty="0">
                <a:solidFill>
                  <a:srgbClr val="C00000"/>
                </a:solidFill>
              </a:rPr>
              <a:t>approach</a:t>
            </a:r>
            <a:endParaRPr lang="en-US" sz="19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Nothing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is </a:t>
            </a:r>
            <a:r>
              <a:rPr lang="en-US" sz="1900" b="1" dirty="0">
                <a:solidFill>
                  <a:srgbClr val="C00000"/>
                </a:solidFill>
              </a:rPr>
              <a:t>done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about </a:t>
            </a:r>
            <a:r>
              <a:rPr lang="en-US" sz="1900" b="1" dirty="0">
                <a:solidFill>
                  <a:srgbClr val="C00000"/>
                </a:solidFill>
              </a:rPr>
              <a:t>risks until something</a:t>
            </a:r>
            <a:r>
              <a:rPr lang="en-US" sz="1900" dirty="0"/>
              <a:t> goes </a:t>
            </a:r>
            <a:r>
              <a:rPr lang="en-US" sz="1900" b="1" dirty="0">
                <a:solidFill>
                  <a:srgbClr val="C00000"/>
                </a:solidFill>
              </a:rPr>
              <a:t>wrong</a:t>
            </a:r>
            <a:endParaRPr lang="en-US" sz="19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/>
              <a:t>The </a:t>
            </a:r>
            <a:r>
              <a:rPr lang="en-US" sz="1900" b="1" dirty="0">
                <a:solidFill>
                  <a:srgbClr val="C00000"/>
                </a:solidFill>
              </a:rPr>
              <a:t>team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then </a:t>
            </a:r>
            <a:r>
              <a:rPr lang="en-US" sz="1900" b="1" dirty="0">
                <a:solidFill>
                  <a:srgbClr val="C00000"/>
                </a:solidFill>
              </a:rPr>
              <a:t>flies into action </a:t>
            </a:r>
            <a:r>
              <a:rPr lang="en-US" sz="1900" dirty="0"/>
              <a:t>in an attempt to </a:t>
            </a:r>
            <a:r>
              <a:rPr lang="en-US" sz="1900" b="1" dirty="0">
                <a:solidFill>
                  <a:srgbClr val="C00000"/>
                </a:solidFill>
              </a:rPr>
              <a:t>correct the problem rapidly </a:t>
            </a:r>
            <a:r>
              <a:rPr lang="en-US" sz="1900" dirty="0"/>
              <a:t>(fire fighting)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Crisis management </a:t>
            </a:r>
            <a:r>
              <a:rPr lang="en-US" sz="1900" dirty="0"/>
              <a:t>is the </a:t>
            </a:r>
            <a:r>
              <a:rPr lang="en-US" sz="1900" b="1" dirty="0">
                <a:solidFill>
                  <a:srgbClr val="C00000"/>
                </a:solidFill>
              </a:rPr>
              <a:t>choice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of management </a:t>
            </a:r>
            <a:r>
              <a:rPr lang="en-US" sz="1900" b="1" dirty="0">
                <a:solidFill>
                  <a:srgbClr val="C00000"/>
                </a:solidFill>
              </a:rPr>
              <a:t>techniques</a:t>
            </a:r>
            <a:endParaRPr lang="en-US" sz="1900" dirty="0"/>
          </a:p>
        </p:txBody>
      </p:sp>
      <p:sp>
        <p:nvSpPr>
          <p:cNvPr id="12" name="Rectangle 11"/>
          <p:cNvSpPr/>
          <p:nvPr/>
        </p:nvSpPr>
        <p:spPr>
          <a:xfrm>
            <a:off x="7329714" y="4779694"/>
            <a:ext cx="461554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Steps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for </a:t>
            </a:r>
            <a:r>
              <a:rPr lang="en-US" sz="2000" b="1" dirty="0">
                <a:solidFill>
                  <a:srgbClr val="C00000"/>
                </a:solidFill>
              </a:rPr>
              <a:t>risk management </a:t>
            </a:r>
            <a:r>
              <a:rPr lang="en-US" sz="2000" dirty="0"/>
              <a:t>are </a:t>
            </a:r>
            <a:r>
              <a:rPr lang="en-US" sz="2000" b="1" dirty="0">
                <a:solidFill>
                  <a:srgbClr val="C00000"/>
                </a:solidFill>
              </a:rPr>
              <a:t>followed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Primary </a:t>
            </a:r>
            <a:r>
              <a:rPr lang="en-US" sz="2000" b="1" dirty="0">
                <a:solidFill>
                  <a:srgbClr val="C00000"/>
                </a:solidFill>
              </a:rPr>
              <a:t>objective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is to </a:t>
            </a:r>
            <a:r>
              <a:rPr lang="en-US" sz="2000" b="1" dirty="0">
                <a:solidFill>
                  <a:srgbClr val="C00000"/>
                </a:solidFill>
              </a:rPr>
              <a:t>avoid risk</a:t>
            </a:r>
            <a:r>
              <a:rPr lang="en-US" sz="2000" dirty="0"/>
              <a:t> and to have an </a:t>
            </a:r>
            <a:r>
              <a:rPr lang="en-US" sz="2000" b="1" dirty="0">
                <a:solidFill>
                  <a:srgbClr val="C00000"/>
                </a:solidFill>
              </a:rPr>
              <a:t>emergency plan in place </a:t>
            </a:r>
            <a:r>
              <a:rPr lang="en-US" sz="2000" dirty="0"/>
              <a:t>to </a:t>
            </a:r>
            <a:r>
              <a:rPr lang="en-US" sz="2000" b="1" dirty="0">
                <a:solidFill>
                  <a:srgbClr val="C00000"/>
                </a:solidFill>
              </a:rPr>
              <a:t>handle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unavoidable </a:t>
            </a:r>
            <a:r>
              <a:rPr lang="en-US" sz="2000" b="1" dirty="0">
                <a:solidFill>
                  <a:srgbClr val="C00000"/>
                </a:solidFill>
              </a:rPr>
              <a:t>risks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in a </a:t>
            </a:r>
            <a:r>
              <a:rPr lang="en-US" sz="2000" b="1" dirty="0">
                <a:solidFill>
                  <a:srgbClr val="C00000"/>
                </a:solidFill>
              </a:rPr>
              <a:t>controlled and effective manner</a:t>
            </a:r>
            <a:endParaRPr lang="en-US" sz="20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29713" y="4651815"/>
            <a:ext cx="0" cy="1894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90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  <p:bldP spid="9" grpId="0" animBg="1"/>
      <p:bldP spid="10" grpId="0"/>
      <p:bldP spid="1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5384249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Identify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possible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recognize what can go wrong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Analyze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each </a:t>
            </a:r>
            <a:r>
              <a:rPr lang="en-US" b="1" dirty="0">
                <a:solidFill>
                  <a:srgbClr val="C00000"/>
                </a:solidFill>
              </a:rPr>
              <a:t>risk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estimate the probability that it will occur and the impact (i.e., damage) that it will do if it does occur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Rank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probability and impact. Impact may be negligible, marginal, critical, and catastrophic.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Develop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contingency </a:t>
            </a:r>
            <a:r>
              <a:rPr lang="en-US" b="1" dirty="0">
                <a:solidFill>
                  <a:srgbClr val="C00000"/>
                </a:solidFill>
              </a:rPr>
              <a:t>plan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manage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having high probability and high impact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166" r="23893"/>
          <a:stretch/>
        </p:blipFill>
        <p:spPr>
          <a:xfrm>
            <a:off x="11653880" y="28873"/>
            <a:ext cx="406941" cy="6823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680" y="28873"/>
            <a:ext cx="838200" cy="705757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5614291" y="0"/>
            <a:ext cx="0" cy="6609347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776412" y="88499"/>
            <a:ext cx="3384260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Risk Identification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76412" y="884261"/>
            <a:ext cx="6284409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Risk identification is a </a:t>
            </a:r>
            <a:r>
              <a:rPr lang="en-US" b="1">
                <a:solidFill>
                  <a:srgbClr val="C00000"/>
                </a:solidFill>
              </a:rPr>
              <a:t>systematic attempt </a:t>
            </a:r>
            <a:r>
              <a:rPr lang="en-US"/>
              <a:t>to </a:t>
            </a:r>
            <a:r>
              <a:rPr lang="en-US" b="1">
                <a:solidFill>
                  <a:srgbClr val="C00000"/>
                </a:solidFill>
              </a:rPr>
              <a:t>specify threats</a:t>
            </a:r>
            <a:r>
              <a:rPr lang="en-US"/>
              <a:t> to the project </a:t>
            </a:r>
            <a:r>
              <a:rPr lang="en-US" b="1">
                <a:solidFill>
                  <a:srgbClr val="C00000"/>
                </a:solidFill>
              </a:rPr>
              <a:t>plan</a:t>
            </a:r>
            <a:endParaRPr lang="en-US"/>
          </a:p>
          <a:p>
            <a:r>
              <a:rPr lang="en-US"/>
              <a:t>By </a:t>
            </a:r>
            <a:r>
              <a:rPr lang="en-US" b="1">
                <a:solidFill>
                  <a:srgbClr val="C00000"/>
                </a:solidFill>
              </a:rPr>
              <a:t>identifying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known and predictable </a:t>
            </a:r>
            <a:r>
              <a:rPr lang="en-US" b="1">
                <a:solidFill>
                  <a:srgbClr val="C00000"/>
                </a:solidFill>
              </a:rPr>
              <a:t>risks</a:t>
            </a:r>
            <a:r>
              <a:rPr lang="en-US"/>
              <a:t>, the project manager </a:t>
            </a:r>
            <a:r>
              <a:rPr lang="en-US" b="1">
                <a:solidFill>
                  <a:srgbClr val="C00000"/>
                </a:solidFill>
              </a:rPr>
              <a:t>takes a first step</a:t>
            </a:r>
            <a:r>
              <a:rPr lang="en-US"/>
              <a:t> toward,</a:t>
            </a:r>
          </a:p>
          <a:p>
            <a:pPr lvl="1"/>
            <a:r>
              <a:rPr lang="en-US">
                <a:solidFill>
                  <a:srgbClr val="C00000"/>
                </a:solidFill>
              </a:rPr>
              <a:t>avoiding them </a:t>
            </a:r>
            <a:r>
              <a:rPr lang="en-US"/>
              <a:t>when </a:t>
            </a:r>
            <a:r>
              <a:rPr lang="en-US">
                <a:solidFill>
                  <a:srgbClr val="C00000"/>
                </a:solidFill>
              </a:rPr>
              <a:t>possible</a:t>
            </a:r>
          </a:p>
          <a:p>
            <a:pPr lvl="1"/>
            <a:r>
              <a:rPr lang="en-US">
                <a:solidFill>
                  <a:srgbClr val="C00000"/>
                </a:solidFill>
              </a:rPr>
              <a:t>controlling them </a:t>
            </a:r>
            <a:r>
              <a:rPr lang="en-US"/>
              <a:t>when necessary</a:t>
            </a:r>
          </a:p>
          <a:p>
            <a:r>
              <a:rPr lang="en-US" b="1"/>
              <a:t>Generic Risks </a:t>
            </a:r>
          </a:p>
          <a:p>
            <a:pPr lvl="1"/>
            <a:r>
              <a:rPr lang="en-US" b="1">
                <a:solidFill>
                  <a:srgbClr val="C00000"/>
                </a:solidFill>
              </a:rPr>
              <a:t>Risks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that are a potential </a:t>
            </a:r>
            <a:r>
              <a:rPr lang="en-US" b="1">
                <a:solidFill>
                  <a:srgbClr val="C00000"/>
                </a:solidFill>
              </a:rPr>
              <a:t>threat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to </a:t>
            </a:r>
            <a:r>
              <a:rPr lang="en-US" b="1">
                <a:solidFill>
                  <a:srgbClr val="C00000"/>
                </a:solidFill>
              </a:rPr>
              <a:t>every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software </a:t>
            </a:r>
            <a:r>
              <a:rPr lang="en-US" b="1">
                <a:solidFill>
                  <a:srgbClr val="C00000"/>
                </a:solidFill>
              </a:rPr>
              <a:t>project</a:t>
            </a:r>
          </a:p>
          <a:p>
            <a:r>
              <a:rPr lang="en-US" b="1"/>
              <a:t>Product-specific Risks </a:t>
            </a:r>
          </a:p>
          <a:p>
            <a:pPr lvl="1"/>
            <a:r>
              <a:rPr lang="en-US"/>
              <a:t>Risks that can be </a:t>
            </a:r>
            <a:r>
              <a:rPr lang="en-US" b="1">
                <a:solidFill>
                  <a:srgbClr val="C00000"/>
                </a:solidFill>
              </a:rPr>
              <a:t>identified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only by clear understanding </a:t>
            </a:r>
            <a:r>
              <a:rPr lang="en-US"/>
              <a:t>of the </a:t>
            </a:r>
            <a:r>
              <a:rPr lang="en-US">
                <a:solidFill>
                  <a:srgbClr val="C00000"/>
                </a:solidFill>
              </a:rPr>
              <a:t>technology</a:t>
            </a:r>
            <a:r>
              <a:rPr lang="en-US"/>
              <a:t>, the </a:t>
            </a:r>
            <a:r>
              <a:rPr lang="en-US">
                <a:solidFill>
                  <a:srgbClr val="C00000"/>
                </a:solidFill>
              </a:rPr>
              <a:t>people</a:t>
            </a:r>
            <a:r>
              <a:rPr lang="en-US"/>
              <a:t> and the </a:t>
            </a:r>
            <a:r>
              <a:rPr lang="en-US">
                <a:solidFill>
                  <a:srgbClr val="C00000"/>
                </a:solidFill>
              </a:rPr>
              <a:t>environment</a:t>
            </a:r>
            <a:r>
              <a:rPr lang="en-US"/>
              <a:t>, that is </a:t>
            </a:r>
            <a:r>
              <a:rPr lang="en-US" b="1">
                <a:solidFill>
                  <a:srgbClr val="C00000"/>
                </a:solidFill>
              </a:rPr>
              <a:t>specific to the software</a:t>
            </a:r>
            <a:r>
              <a:rPr lang="en-US"/>
              <a:t> that is to be built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8" r="9789" b="10030"/>
          <a:stretch/>
        </p:blipFill>
        <p:spPr>
          <a:xfrm>
            <a:off x="11306078" y="5456670"/>
            <a:ext cx="754743" cy="9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4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and Predictable Risk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method for identifying risks is </a:t>
            </a:r>
            <a:r>
              <a:rPr lang="en-US" b="1" dirty="0">
                <a:solidFill>
                  <a:srgbClr val="C00000"/>
                </a:solidFill>
              </a:rPr>
              <a:t>to create a risk item checklist</a:t>
            </a:r>
          </a:p>
          <a:p>
            <a:r>
              <a:rPr lang="en-US" dirty="0"/>
              <a:t>The checklist can be used for risk identification which </a:t>
            </a:r>
            <a:r>
              <a:rPr lang="en-US" b="1" dirty="0">
                <a:solidFill>
                  <a:srgbClr val="C00000"/>
                </a:solidFill>
              </a:rPr>
              <a:t>focuses on some subset of known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predictable risks </a:t>
            </a:r>
            <a:r>
              <a:rPr lang="en-US" dirty="0"/>
              <a:t>in the following generic subcategories:</a:t>
            </a:r>
          </a:p>
          <a:p>
            <a:pPr lvl="1"/>
            <a:r>
              <a:rPr lang="en-US" b="1" dirty="0"/>
              <a:t>Product Size: </a:t>
            </a:r>
            <a:r>
              <a:rPr lang="en-US" dirty="0"/>
              <a:t>risks </a:t>
            </a:r>
            <a:r>
              <a:rPr lang="en-US" dirty="0">
                <a:solidFill>
                  <a:srgbClr val="C00000"/>
                </a:solidFill>
              </a:rPr>
              <a:t>associated with overall size </a:t>
            </a:r>
            <a:r>
              <a:rPr lang="en-US" dirty="0"/>
              <a:t>of the software to be built</a:t>
            </a:r>
          </a:p>
          <a:p>
            <a:pPr lvl="1"/>
            <a:r>
              <a:rPr lang="en-US" b="1" dirty="0"/>
              <a:t>Business Impact:</a:t>
            </a:r>
            <a:r>
              <a:rPr lang="en-US" dirty="0"/>
              <a:t> risks </a:t>
            </a:r>
            <a:r>
              <a:rPr lang="en-US" dirty="0">
                <a:solidFill>
                  <a:srgbClr val="C00000"/>
                </a:solidFill>
              </a:rPr>
              <a:t>associated with constraints </a:t>
            </a:r>
            <a:r>
              <a:rPr lang="en-US" dirty="0"/>
              <a:t>imposed by </a:t>
            </a:r>
            <a:r>
              <a:rPr lang="en-US" dirty="0">
                <a:solidFill>
                  <a:srgbClr val="C00000"/>
                </a:solidFill>
              </a:rPr>
              <a:t>management</a:t>
            </a:r>
            <a:r>
              <a:rPr lang="en-US" dirty="0"/>
              <a:t> or the </a:t>
            </a:r>
            <a:r>
              <a:rPr lang="en-US" dirty="0">
                <a:solidFill>
                  <a:srgbClr val="C00000"/>
                </a:solidFill>
              </a:rPr>
              <a:t>marketplace</a:t>
            </a:r>
          </a:p>
          <a:p>
            <a:pPr lvl="1"/>
            <a:r>
              <a:rPr lang="en-US" b="1" dirty="0"/>
              <a:t>Customer Characteristics:</a:t>
            </a:r>
            <a:r>
              <a:rPr lang="en-US" dirty="0"/>
              <a:t> risks associated with </a:t>
            </a:r>
            <a:r>
              <a:rPr lang="en-US" dirty="0">
                <a:solidFill>
                  <a:srgbClr val="C00000"/>
                </a:solidFill>
              </a:rPr>
              <a:t>sophistication of the customer</a:t>
            </a:r>
            <a:r>
              <a:rPr lang="en-US" dirty="0"/>
              <a:t> and the </a:t>
            </a:r>
            <a:r>
              <a:rPr lang="en-US" dirty="0">
                <a:solidFill>
                  <a:srgbClr val="C00000"/>
                </a:solidFill>
              </a:rPr>
              <a:t>developer's ability to communicate with the customer </a:t>
            </a:r>
            <a:r>
              <a:rPr lang="en-US" dirty="0"/>
              <a:t>in a timely manner</a:t>
            </a:r>
          </a:p>
          <a:p>
            <a:pPr lvl="1"/>
            <a:r>
              <a:rPr lang="en-US" b="1" dirty="0"/>
              <a:t>Process Definition: </a:t>
            </a:r>
            <a:r>
              <a:rPr lang="en-US" dirty="0"/>
              <a:t>risks associated with the </a:t>
            </a:r>
            <a:r>
              <a:rPr lang="en-US" dirty="0">
                <a:solidFill>
                  <a:srgbClr val="C00000"/>
                </a:solidFill>
              </a:rPr>
              <a:t>degree to which the software process has been defined</a:t>
            </a:r>
            <a:r>
              <a:rPr lang="en-US" dirty="0"/>
              <a:t> and is followed</a:t>
            </a:r>
          </a:p>
          <a:p>
            <a:pPr lvl="1"/>
            <a:r>
              <a:rPr lang="en-US" b="1" dirty="0"/>
              <a:t>Development Environment: </a:t>
            </a:r>
            <a:r>
              <a:rPr lang="en-US" dirty="0"/>
              <a:t>risks associated with </a:t>
            </a:r>
            <a:r>
              <a:rPr lang="en-US" dirty="0">
                <a:solidFill>
                  <a:srgbClr val="C00000"/>
                </a:solidFill>
              </a:rPr>
              <a:t>availability and quality of the tools </a:t>
            </a:r>
            <a:r>
              <a:rPr lang="en-US" dirty="0"/>
              <a:t>to be used to build the project</a:t>
            </a:r>
          </a:p>
          <a:p>
            <a:pPr lvl="1"/>
            <a:r>
              <a:rPr lang="en-US" b="1" dirty="0"/>
              <a:t>Technology to be Built: </a:t>
            </a:r>
            <a:r>
              <a:rPr lang="en-US" dirty="0"/>
              <a:t>risks associated with </a:t>
            </a:r>
            <a:r>
              <a:rPr lang="en-US" dirty="0">
                <a:solidFill>
                  <a:srgbClr val="C00000"/>
                </a:solidFill>
              </a:rPr>
              <a:t>complexity of the system to be built </a:t>
            </a:r>
            <a:r>
              <a:rPr lang="en-US" dirty="0"/>
              <a:t>and the </a:t>
            </a:r>
            <a:r>
              <a:rPr lang="en-US" dirty="0">
                <a:solidFill>
                  <a:srgbClr val="C00000"/>
                </a:solidFill>
              </a:rPr>
              <a:t>“newness” of the technology </a:t>
            </a:r>
            <a:r>
              <a:rPr lang="en-US" dirty="0"/>
              <a:t>in the system</a:t>
            </a:r>
          </a:p>
          <a:p>
            <a:pPr lvl="1"/>
            <a:r>
              <a:rPr lang="en-US" b="1" dirty="0"/>
              <a:t>Staff Size and Experience: </a:t>
            </a:r>
            <a:r>
              <a:rPr lang="en-US" dirty="0"/>
              <a:t>risks associated with </a:t>
            </a:r>
            <a:r>
              <a:rPr lang="en-US" dirty="0">
                <a:solidFill>
                  <a:srgbClr val="C00000"/>
                </a:solidFill>
              </a:rPr>
              <a:t>overall technical and project experience</a:t>
            </a:r>
            <a:r>
              <a:rPr lang="en-US" dirty="0"/>
              <a:t> of the software </a:t>
            </a:r>
            <a:r>
              <a:rPr lang="en-US" dirty="0">
                <a:solidFill>
                  <a:srgbClr val="C00000"/>
                </a:solidFill>
              </a:rPr>
              <a:t>engineers</a:t>
            </a:r>
            <a:r>
              <a:rPr lang="en-US" dirty="0"/>
              <a:t> who will do the work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8" r="9789" b="10030"/>
          <a:stretch/>
        </p:blipFill>
        <p:spPr>
          <a:xfrm>
            <a:off x="11522615" y="0"/>
            <a:ext cx="538206" cy="7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2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Estimation (Projection)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Risk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projection (or </a:t>
            </a:r>
            <a:r>
              <a:rPr lang="en-US" b="1" dirty="0">
                <a:solidFill>
                  <a:srgbClr val="C00000"/>
                </a:solidFill>
              </a:rPr>
              <a:t>estimation</a:t>
            </a:r>
            <a:r>
              <a:rPr lang="en-US" dirty="0"/>
              <a:t>) </a:t>
            </a:r>
            <a:r>
              <a:rPr lang="en-US" b="1" dirty="0">
                <a:solidFill>
                  <a:srgbClr val="C00000"/>
                </a:solidFill>
              </a:rPr>
              <a:t>attempts to rate each risk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two ways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probability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the </a:t>
            </a:r>
            <a:r>
              <a:rPr lang="en-US" b="1" dirty="0">
                <a:solidFill>
                  <a:srgbClr val="C00000"/>
                </a:solidFill>
              </a:rPr>
              <a:t>risk is real</a:t>
            </a:r>
            <a:endParaRPr lang="en-US" dirty="0"/>
          </a:p>
          <a:p>
            <a:pPr lvl="1"/>
            <a:r>
              <a:rPr lang="en-US" dirty="0"/>
              <a:t>The consequence (</a:t>
            </a:r>
            <a:r>
              <a:rPr lang="en-US" b="1" dirty="0">
                <a:solidFill>
                  <a:srgbClr val="C00000"/>
                </a:solidFill>
              </a:rPr>
              <a:t>effect</a:t>
            </a:r>
            <a:r>
              <a:rPr lang="en-US" dirty="0"/>
              <a:t>) of the </a:t>
            </a:r>
            <a:r>
              <a:rPr lang="en-US" b="1" dirty="0">
                <a:solidFill>
                  <a:srgbClr val="C00000"/>
                </a:solidFill>
              </a:rPr>
              <a:t>problems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associated with the risk</a:t>
            </a:r>
          </a:p>
          <a:p>
            <a:r>
              <a:rPr lang="en-US" b="1" dirty="0"/>
              <a:t>Risk Projection/Estimation Steps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Establish a scale </a:t>
            </a:r>
            <a:r>
              <a:rPr lang="en-US" dirty="0"/>
              <a:t>that reflects the </a:t>
            </a:r>
            <a:r>
              <a:rPr lang="en-US" b="1" dirty="0"/>
              <a:t>perceived</a:t>
            </a:r>
            <a:r>
              <a:rPr lang="en-US" dirty="0"/>
              <a:t> likelihood </a:t>
            </a:r>
            <a:r>
              <a:rPr lang="en-US" b="1" dirty="0"/>
              <a:t>(probability</a:t>
            </a:r>
            <a:r>
              <a:rPr lang="en-US" dirty="0"/>
              <a:t>) of a </a:t>
            </a:r>
            <a:r>
              <a:rPr lang="en-US" b="1" dirty="0"/>
              <a:t>risk</a:t>
            </a:r>
            <a:r>
              <a:rPr lang="en-US" dirty="0"/>
              <a:t>. </a:t>
            </a:r>
            <a:r>
              <a:rPr lang="en-US" i="1" dirty="0">
                <a:solidFill>
                  <a:srgbClr val="C00000"/>
                </a:solidFill>
              </a:rPr>
              <a:t>Ex., 1-low, 10-high</a:t>
            </a:r>
          </a:p>
          <a:p>
            <a:pPr lvl="1"/>
            <a:r>
              <a:rPr lang="en-US" dirty="0"/>
              <a:t>Explain the </a:t>
            </a:r>
            <a:r>
              <a:rPr lang="en-US" b="1" dirty="0">
                <a:solidFill>
                  <a:srgbClr val="C00000"/>
                </a:solidFill>
              </a:rPr>
              <a:t>consequences of the risk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Estimate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/>
              <a:t>impact of the risk </a:t>
            </a:r>
            <a:r>
              <a:rPr lang="en-US" dirty="0"/>
              <a:t>on the project and product.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Note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/>
              <a:t>overall accuracy of the risk projection</a:t>
            </a:r>
            <a:r>
              <a:rPr lang="en-US" dirty="0"/>
              <a:t> so that there will be </a:t>
            </a:r>
            <a:r>
              <a:rPr lang="en-US" b="1" dirty="0"/>
              <a:t>no misunderstandings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1381" y="1"/>
            <a:ext cx="805262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2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06844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Risk Mitigation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Monitoring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Management (RMMM)</a:t>
            </a:r>
          </a:p>
          <a:p>
            <a:r>
              <a:rPr lang="en-US" dirty="0"/>
              <a:t>An </a:t>
            </a:r>
            <a:r>
              <a:rPr lang="en-US" b="1" dirty="0"/>
              <a:t>effective strategy </a:t>
            </a:r>
            <a:r>
              <a:rPr lang="en-US" dirty="0"/>
              <a:t>for </a:t>
            </a:r>
            <a:r>
              <a:rPr lang="en-US" b="1" dirty="0"/>
              <a:t>dealing with risk </a:t>
            </a:r>
            <a:r>
              <a:rPr lang="en-US" dirty="0"/>
              <a:t>must consider three issues</a:t>
            </a:r>
          </a:p>
          <a:p>
            <a:pPr lvl="1"/>
            <a:r>
              <a:rPr lang="en-US" dirty="0"/>
              <a:t>Risk </a:t>
            </a:r>
            <a:r>
              <a:rPr lang="en-US" b="1" dirty="0">
                <a:solidFill>
                  <a:srgbClr val="C00000"/>
                </a:solidFill>
              </a:rPr>
              <a:t>mitigation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(i.e., </a:t>
            </a:r>
            <a:r>
              <a:rPr lang="en-US" b="1" dirty="0">
                <a:solidFill>
                  <a:srgbClr val="C00000"/>
                </a:solidFill>
              </a:rPr>
              <a:t>avoidance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Risk </a:t>
            </a:r>
            <a:r>
              <a:rPr lang="en-US" b="1" dirty="0">
                <a:solidFill>
                  <a:srgbClr val="C00000"/>
                </a:solidFill>
              </a:rPr>
              <a:t>monitoring</a:t>
            </a:r>
          </a:p>
          <a:p>
            <a:pPr lvl="1"/>
            <a:r>
              <a:rPr lang="en-US" dirty="0"/>
              <a:t>Risk </a:t>
            </a:r>
            <a:r>
              <a:rPr lang="en-US" b="1" dirty="0">
                <a:solidFill>
                  <a:srgbClr val="C00000"/>
                </a:solidFill>
              </a:rPr>
              <a:t>management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/>
              <a:t>contingency planning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1181" y="2960919"/>
            <a:ext cx="108801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RMMM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219200" y="3420898"/>
            <a:ext cx="1084162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1180" y="3652675"/>
            <a:ext cx="58689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Risk Mitigation </a:t>
            </a:r>
            <a:r>
              <a:rPr lang="en-US" sz="2400" dirty="0"/>
              <a:t>is a </a:t>
            </a:r>
            <a:r>
              <a:rPr lang="en-US" sz="2400" dirty="0">
                <a:solidFill>
                  <a:srgbClr val="C00000"/>
                </a:solidFill>
              </a:rPr>
              <a:t>problem avoidance 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180" y="4344431"/>
            <a:ext cx="5557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Risk Monitoring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C00000"/>
                </a:solidFill>
              </a:rPr>
              <a:t>a project tracking 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180" y="5029361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Risk Management </a:t>
            </a:r>
            <a:r>
              <a:rPr lang="en-US" sz="2400" dirty="0"/>
              <a:t>includes </a:t>
            </a:r>
            <a:r>
              <a:rPr lang="en-US" sz="2400" dirty="0">
                <a:solidFill>
                  <a:srgbClr val="C00000"/>
                </a:solidFill>
              </a:rPr>
              <a:t>contingency plans </a:t>
            </a:r>
            <a:r>
              <a:rPr lang="en-US" sz="2400" dirty="0"/>
              <a:t>that risk will occur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549" y="-31161"/>
            <a:ext cx="792272" cy="6763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147" y="22026"/>
            <a:ext cx="648223" cy="6231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887" y="22026"/>
            <a:ext cx="756260" cy="66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1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/>
      <p:bldP spid="9" grpId="0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 </a:t>
            </a:r>
            <a:r>
              <a:rPr lang="en-US" b="1" dirty="0">
                <a:solidFill>
                  <a:srgbClr val="C00000"/>
                </a:solidFill>
              </a:rPr>
              <a:t>mitigation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avoidance</a:t>
            </a:r>
            <a:r>
              <a:rPr lang="en-US" dirty="0"/>
              <a:t>) is the </a:t>
            </a:r>
            <a:r>
              <a:rPr lang="en-US" b="1" dirty="0">
                <a:solidFill>
                  <a:srgbClr val="C00000"/>
                </a:solidFill>
              </a:rPr>
              <a:t>primary strategy </a:t>
            </a:r>
            <a:r>
              <a:rPr lang="en-US" dirty="0"/>
              <a:t>and is </a:t>
            </a:r>
            <a:r>
              <a:rPr lang="en-US" dirty="0">
                <a:solidFill>
                  <a:srgbClr val="C00000"/>
                </a:solidFill>
              </a:rPr>
              <a:t>achieved through a plan</a:t>
            </a:r>
          </a:p>
          <a:p>
            <a:r>
              <a:rPr lang="en-US" b="1" dirty="0"/>
              <a:t>For Ex., Risk of high staff turnover</a:t>
            </a:r>
          </a:p>
          <a:p>
            <a:r>
              <a:rPr lang="en-US" dirty="0"/>
              <a:t>To mitigate this risk, you would develop a strategy for reducing turnover. </a:t>
            </a:r>
          </a:p>
          <a:p>
            <a:r>
              <a:rPr lang="en-US" dirty="0"/>
              <a:t>The possible steps to be taken are: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Meet with current staff </a:t>
            </a:r>
            <a:r>
              <a:rPr lang="en-US" dirty="0"/>
              <a:t>to determine </a:t>
            </a:r>
            <a:r>
              <a:rPr lang="en-US" b="1" dirty="0">
                <a:solidFill>
                  <a:srgbClr val="C00000"/>
                </a:solidFill>
              </a:rPr>
              <a:t>causes for turnover</a:t>
            </a:r>
            <a:r>
              <a:rPr lang="en-US" dirty="0"/>
              <a:t> (e.g., poor working conditions, low pay, and competitive job market)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Mitigate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causes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</a:t>
            </a:r>
            <a:r>
              <a:rPr lang="en-US" b="1" dirty="0">
                <a:solidFill>
                  <a:srgbClr val="C00000"/>
                </a:solidFill>
              </a:rPr>
              <a:t>under your control </a:t>
            </a:r>
            <a:r>
              <a:rPr lang="en-US" dirty="0"/>
              <a:t>before the project starts</a:t>
            </a:r>
          </a:p>
          <a:p>
            <a:pPr lvl="1"/>
            <a:r>
              <a:rPr lang="en-US" dirty="0"/>
              <a:t>Once the </a:t>
            </a:r>
            <a:r>
              <a:rPr lang="en-US" b="1" dirty="0">
                <a:solidFill>
                  <a:srgbClr val="C00000"/>
                </a:solidFill>
              </a:rPr>
              <a:t>project commences</a:t>
            </a:r>
            <a:r>
              <a:rPr lang="en-US" dirty="0"/>
              <a:t>, assume </a:t>
            </a:r>
            <a:r>
              <a:rPr lang="en-US" b="1" dirty="0">
                <a:solidFill>
                  <a:srgbClr val="C00000"/>
                </a:solidFill>
              </a:rPr>
              <a:t>turnover will occur </a:t>
            </a:r>
            <a:r>
              <a:rPr lang="en-US" dirty="0"/>
              <a:t>and develop </a:t>
            </a:r>
            <a:r>
              <a:rPr lang="en-US" b="1" dirty="0"/>
              <a:t>techniques</a:t>
            </a:r>
            <a:r>
              <a:rPr lang="en-US" dirty="0"/>
              <a:t> to </a:t>
            </a:r>
            <a:r>
              <a:rPr lang="en-US" b="1" dirty="0"/>
              <a:t>ensure continuity</a:t>
            </a:r>
            <a:r>
              <a:rPr lang="en-US" dirty="0"/>
              <a:t> when </a:t>
            </a:r>
            <a:r>
              <a:rPr lang="en-US" b="1" dirty="0"/>
              <a:t>people leave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Organize project teams </a:t>
            </a:r>
            <a:r>
              <a:rPr lang="en-US" dirty="0"/>
              <a:t>so that </a:t>
            </a:r>
            <a:r>
              <a:rPr lang="en-US" b="1" dirty="0"/>
              <a:t>information</a:t>
            </a:r>
            <a:r>
              <a:rPr lang="en-US" dirty="0"/>
              <a:t> about </a:t>
            </a:r>
            <a:r>
              <a:rPr lang="en-US" b="1" dirty="0"/>
              <a:t>each development </a:t>
            </a:r>
            <a:r>
              <a:rPr lang="en-US" dirty="0"/>
              <a:t>activity is </a:t>
            </a:r>
            <a:r>
              <a:rPr lang="en-US" b="1" dirty="0"/>
              <a:t>widely dispersed</a:t>
            </a:r>
          </a:p>
          <a:p>
            <a:pPr lvl="1"/>
            <a:r>
              <a:rPr lang="en-US" sz="2100" b="1" dirty="0">
                <a:solidFill>
                  <a:srgbClr val="C00000"/>
                </a:solidFill>
              </a:rPr>
              <a:t>Define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work </a:t>
            </a:r>
            <a:r>
              <a:rPr lang="en-US" sz="2100" b="1" dirty="0">
                <a:solidFill>
                  <a:srgbClr val="C00000"/>
                </a:solidFill>
              </a:rPr>
              <a:t>product standards</a:t>
            </a:r>
            <a:r>
              <a:rPr lang="en-US" sz="2100" dirty="0"/>
              <a:t> and establish mechanisms to </a:t>
            </a:r>
            <a:r>
              <a:rPr lang="en-US" sz="2100" b="1" dirty="0">
                <a:solidFill>
                  <a:srgbClr val="C00000"/>
                </a:solidFill>
              </a:rPr>
              <a:t>be sure </a:t>
            </a:r>
            <a:r>
              <a:rPr lang="en-US" sz="2100" dirty="0"/>
              <a:t>that all </a:t>
            </a:r>
            <a:r>
              <a:rPr lang="en-US" sz="2100" b="1" dirty="0"/>
              <a:t>models</a:t>
            </a:r>
            <a:r>
              <a:rPr lang="en-US" sz="2100" dirty="0"/>
              <a:t> and </a:t>
            </a:r>
            <a:r>
              <a:rPr lang="en-US" sz="2100" b="1" dirty="0"/>
              <a:t>documents</a:t>
            </a:r>
            <a:r>
              <a:rPr lang="en-US" sz="2100" dirty="0"/>
              <a:t> are </a:t>
            </a:r>
            <a:r>
              <a:rPr lang="en-US" sz="2100" b="1" dirty="0"/>
              <a:t>developed</a:t>
            </a:r>
            <a:r>
              <a:rPr lang="en-US" sz="2100" dirty="0"/>
              <a:t> in a </a:t>
            </a:r>
            <a:r>
              <a:rPr lang="en-US" sz="2100" b="1" dirty="0"/>
              <a:t>timely manner</a:t>
            </a:r>
            <a:endParaRPr lang="en-US" sz="2100" dirty="0"/>
          </a:p>
          <a:p>
            <a:pPr lvl="1"/>
            <a:r>
              <a:rPr lang="en-US" sz="2100" dirty="0"/>
              <a:t>Conduct </a:t>
            </a:r>
            <a:r>
              <a:rPr lang="en-US" sz="2100" b="1" dirty="0">
                <a:solidFill>
                  <a:srgbClr val="C00000"/>
                </a:solidFill>
              </a:rPr>
              <a:t>peer reviews of all work </a:t>
            </a:r>
            <a:r>
              <a:rPr lang="en-US" sz="2100" dirty="0"/>
              <a:t>(so that more than one person is “up to speed”).</a:t>
            </a:r>
          </a:p>
          <a:p>
            <a:pPr lvl="1"/>
            <a:r>
              <a:rPr lang="en-US" sz="2100" dirty="0"/>
              <a:t>Assign </a:t>
            </a:r>
            <a:r>
              <a:rPr lang="en-US" sz="2100" b="1" dirty="0">
                <a:solidFill>
                  <a:srgbClr val="C00000"/>
                </a:solidFill>
              </a:rPr>
              <a:t>a backup staff member </a:t>
            </a:r>
            <a:r>
              <a:rPr lang="en-US" sz="2100" dirty="0"/>
              <a:t>for every </a:t>
            </a:r>
            <a:r>
              <a:rPr lang="en-US" sz="2100" b="1" dirty="0">
                <a:solidFill>
                  <a:srgbClr val="C00000"/>
                </a:solidFill>
              </a:rPr>
              <a:t>critical technologist</a:t>
            </a:r>
            <a:endParaRPr lang="en-US" sz="210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6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2662-BBFC-9539-9BD0-177B7BC4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RMMM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8FE324-B193-0871-CE27-464C7BC7591C}"/>
              </a:ext>
            </a:extLst>
          </p:cNvPr>
          <p:cNvSpPr/>
          <p:nvPr/>
        </p:nvSpPr>
        <p:spPr>
          <a:xfrm>
            <a:off x="109531" y="798712"/>
            <a:ext cx="331498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Risk Mitigation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1769E3-31C7-B468-7A09-DECE8EE4657C}"/>
              </a:ext>
            </a:extLst>
          </p:cNvPr>
          <p:cNvCxnSpPr>
            <a:cxnSpLocks/>
          </p:cNvCxnSpPr>
          <p:nvPr/>
        </p:nvCxnSpPr>
        <p:spPr>
          <a:xfrm>
            <a:off x="2001324" y="1258691"/>
            <a:ext cx="933865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5415F3-4270-1316-9A6A-56EC5B5C6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18" y="1338509"/>
            <a:ext cx="11948506" cy="2229444"/>
          </a:xfrm>
        </p:spPr>
        <p:txBody>
          <a:bodyPr/>
          <a:lstStyle/>
          <a:p>
            <a:r>
              <a:rPr lang="en-US" dirty="0"/>
              <a:t>It is an activity used to </a:t>
            </a:r>
            <a:r>
              <a:rPr lang="en-US" b="1" dirty="0">
                <a:solidFill>
                  <a:srgbClr val="C00000"/>
                </a:solidFill>
              </a:rPr>
              <a:t>avoid problems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Risk Avoidance</a:t>
            </a:r>
            <a:r>
              <a:rPr lang="en-US" dirty="0"/>
              <a:t>). </a:t>
            </a:r>
          </a:p>
          <a:p>
            <a:r>
              <a:rPr lang="en-US" dirty="0"/>
              <a:t>Steps for mitigating the risks as follows. </a:t>
            </a:r>
          </a:p>
          <a:p>
            <a:pPr lvl="1"/>
            <a:r>
              <a:rPr lang="en-US" dirty="0"/>
              <a:t>Finding out the risk.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Removing causes that are the reason for risk creation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Controlling the corresponding documents from time to time. </a:t>
            </a:r>
          </a:p>
          <a:p>
            <a:pPr lvl="1"/>
            <a:r>
              <a:rPr lang="en-US" dirty="0"/>
              <a:t>Conducting timely reviews to speed up the work.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AD1D9-233F-A70D-381D-32F10897EA55}"/>
              </a:ext>
            </a:extLst>
          </p:cNvPr>
          <p:cNvSpPr/>
          <p:nvPr/>
        </p:nvSpPr>
        <p:spPr>
          <a:xfrm>
            <a:off x="109531" y="3567953"/>
            <a:ext cx="331498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Risk Monitoring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97B5A8-B7CC-B8A2-DC15-CF475F960885}"/>
              </a:ext>
            </a:extLst>
          </p:cNvPr>
          <p:cNvCxnSpPr>
            <a:cxnSpLocks/>
          </p:cNvCxnSpPr>
          <p:nvPr/>
        </p:nvCxnSpPr>
        <p:spPr>
          <a:xfrm>
            <a:off x="2001324" y="4027932"/>
            <a:ext cx="933865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790512A-5873-810A-EA79-16CE3E1DE844}"/>
              </a:ext>
            </a:extLst>
          </p:cNvPr>
          <p:cNvSpPr txBox="1">
            <a:spLocks/>
          </p:cNvSpPr>
          <p:nvPr/>
        </p:nvSpPr>
        <p:spPr>
          <a:xfrm>
            <a:off x="135918" y="4107750"/>
            <a:ext cx="11948506" cy="2229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is an activity used for </a:t>
            </a:r>
            <a:r>
              <a:rPr lang="en-US" b="1" dirty="0">
                <a:solidFill>
                  <a:srgbClr val="C00000"/>
                </a:solidFill>
              </a:rPr>
              <a:t>project tracking</a:t>
            </a:r>
            <a:r>
              <a:rPr lang="en-US" dirty="0"/>
              <a:t>. </a:t>
            </a:r>
          </a:p>
          <a:p>
            <a:r>
              <a:rPr lang="en-US" dirty="0"/>
              <a:t>Objectives of risk monitoring. </a:t>
            </a:r>
          </a:p>
          <a:p>
            <a:pPr lvl="1"/>
            <a:r>
              <a:rPr lang="en-US" dirty="0"/>
              <a:t>To check </a:t>
            </a:r>
            <a:r>
              <a:rPr lang="en-US" dirty="0">
                <a:solidFill>
                  <a:srgbClr val="C00000"/>
                </a:solidFill>
              </a:rPr>
              <a:t>if predicted risks occur or not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To ensure proper application of risk aversion steps defined for risk.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To collect data for future risk analysis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To allocate what problems are caused by which risks throughout the project.</a:t>
            </a:r>
          </a:p>
        </p:txBody>
      </p:sp>
    </p:spTree>
    <p:extLst>
      <p:ext uri="{BB962C8B-B14F-4D97-AF65-F5344CB8AC3E}">
        <p14:creationId xmlns:p14="http://schemas.microsoft.com/office/powerpoint/2010/main" val="212275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8" grpId="0" animBg="1"/>
      <p:bldP spid="10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2662-BBFC-9539-9BD0-177B7BC4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RMMM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8FE324-B193-0871-CE27-464C7BC7591C}"/>
              </a:ext>
            </a:extLst>
          </p:cNvPr>
          <p:cNvSpPr/>
          <p:nvPr/>
        </p:nvSpPr>
        <p:spPr>
          <a:xfrm>
            <a:off x="109531" y="798712"/>
            <a:ext cx="331498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Risk Management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1769E3-31C7-B468-7A09-DECE8EE4657C}"/>
              </a:ext>
            </a:extLst>
          </p:cNvPr>
          <p:cNvCxnSpPr>
            <a:cxnSpLocks/>
          </p:cNvCxnSpPr>
          <p:nvPr/>
        </p:nvCxnSpPr>
        <p:spPr>
          <a:xfrm>
            <a:off x="2001324" y="1258691"/>
            <a:ext cx="933865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5415F3-4270-1316-9A6A-56EC5B5C6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18" y="1338509"/>
            <a:ext cx="11948506" cy="4183750"/>
          </a:xfrm>
        </p:spPr>
        <p:txBody>
          <a:bodyPr/>
          <a:lstStyle/>
          <a:p>
            <a:r>
              <a:rPr lang="en-US" dirty="0"/>
              <a:t>It assumes that the </a:t>
            </a:r>
            <a:r>
              <a:rPr lang="en-US" b="1" dirty="0">
                <a:solidFill>
                  <a:srgbClr val="C00000"/>
                </a:solidFill>
              </a:rPr>
              <a:t>mitigation activity failed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risk is a reality</a:t>
            </a:r>
            <a:r>
              <a:rPr lang="en-US" dirty="0"/>
              <a:t>. </a:t>
            </a:r>
          </a:p>
          <a:p>
            <a:r>
              <a:rPr lang="en-US" dirty="0"/>
              <a:t>This </a:t>
            </a:r>
            <a:r>
              <a:rPr lang="en-US" b="1" dirty="0">
                <a:solidFill>
                  <a:srgbClr val="C00000"/>
                </a:solidFill>
              </a:rPr>
              <a:t>task is done by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Project manager </a:t>
            </a:r>
            <a:r>
              <a:rPr lang="en-US" dirty="0"/>
              <a:t>when risk becomes a reality and causes severe problems. </a:t>
            </a:r>
          </a:p>
          <a:p>
            <a:r>
              <a:rPr lang="en-US" dirty="0"/>
              <a:t>If the project manager </a:t>
            </a:r>
            <a:r>
              <a:rPr lang="en-US" b="1" dirty="0">
                <a:solidFill>
                  <a:srgbClr val="C00000"/>
                </a:solidFill>
              </a:rPr>
              <a:t>effectively uses project mitigation to remove risks successfully </a:t>
            </a:r>
            <a:r>
              <a:rPr lang="en-US" dirty="0"/>
              <a:t>then it is easier to manage the risks. </a:t>
            </a:r>
          </a:p>
          <a:p>
            <a:r>
              <a:rPr lang="en-US" dirty="0"/>
              <a:t>This shows the response that will be taken for each risk by a manager. </a:t>
            </a:r>
          </a:p>
          <a:p>
            <a:r>
              <a:rPr lang="en-US" dirty="0"/>
              <a:t>The main objective of the risk management plan is the </a:t>
            </a:r>
            <a:r>
              <a:rPr lang="en-US" b="1" dirty="0">
                <a:solidFill>
                  <a:srgbClr val="C00000"/>
                </a:solidFill>
              </a:rPr>
              <a:t>risk register</a:t>
            </a:r>
            <a:r>
              <a:rPr lang="en-US" dirty="0"/>
              <a:t>. </a:t>
            </a:r>
          </a:p>
          <a:p>
            <a:r>
              <a:rPr lang="en-US" dirty="0"/>
              <a:t>This risk register describes and focuses on the predicted threats to a software project.</a:t>
            </a:r>
          </a:p>
        </p:txBody>
      </p:sp>
    </p:spTree>
    <p:extLst>
      <p:ext uri="{BB962C8B-B14F-4D97-AF65-F5344CB8AC3E}">
        <p14:creationId xmlns:p14="http://schemas.microsoft.com/office/powerpoint/2010/main" val="171978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RMMM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356706" cy="5590565"/>
          </a:xfrm>
        </p:spPr>
        <p:txBody>
          <a:bodyPr/>
          <a:lstStyle/>
          <a:p>
            <a:r>
              <a:rPr lang="en-US" dirty="0"/>
              <a:t>The RMMM </a:t>
            </a:r>
            <a:r>
              <a:rPr lang="en-US" b="1" dirty="0">
                <a:solidFill>
                  <a:srgbClr val="C00000"/>
                </a:solidFill>
              </a:rPr>
              <a:t>PLAN documents </a:t>
            </a:r>
            <a:r>
              <a:rPr lang="en-US" dirty="0"/>
              <a:t>all work performed as part of </a:t>
            </a:r>
            <a:r>
              <a:rPr lang="en-US" b="1" dirty="0">
                <a:solidFill>
                  <a:srgbClr val="C00000"/>
                </a:solidFill>
              </a:rPr>
              <a:t>risk analysis </a:t>
            </a:r>
            <a:r>
              <a:rPr lang="en-US" dirty="0"/>
              <a:t>and used by the project manager as part of the </a:t>
            </a:r>
            <a:r>
              <a:rPr lang="en-US" b="1" dirty="0">
                <a:solidFill>
                  <a:srgbClr val="C00000"/>
                </a:solidFill>
              </a:rPr>
              <a:t>overall project plan</a:t>
            </a:r>
          </a:p>
          <a:p>
            <a:r>
              <a:rPr lang="en-US" dirty="0"/>
              <a:t>Some software teams do not develop a formal RMMM document, rather each risk is documented individually using a </a:t>
            </a:r>
            <a:r>
              <a:rPr lang="en-US" b="1" dirty="0">
                <a:solidFill>
                  <a:srgbClr val="C00000"/>
                </a:solidFill>
              </a:rPr>
              <a:t>Risk information sheet (RIS)</a:t>
            </a:r>
          </a:p>
          <a:p>
            <a:r>
              <a:rPr lang="en-US" dirty="0"/>
              <a:t>In most cases, RIS is maintained using a database system.</a:t>
            </a:r>
          </a:p>
          <a:p>
            <a:r>
              <a:rPr lang="en-US" dirty="0"/>
              <a:t>So Creation and information entry, priority ordering, searches and other analysis may be accomplished easily.</a:t>
            </a:r>
          </a:p>
          <a:p>
            <a:r>
              <a:rPr lang="en-US" dirty="0"/>
              <a:t>The format of RIS is describe in diagram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365" r="2778" b="1706"/>
          <a:stretch/>
        </p:blipFill>
        <p:spPr>
          <a:xfrm>
            <a:off x="6952343" y="1156822"/>
            <a:ext cx="5105400" cy="54102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6688348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688348" y="711201"/>
            <a:ext cx="5503653" cy="40011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/>
              <a:t>Risk information sheet (RIS)</a:t>
            </a:r>
          </a:p>
        </p:txBody>
      </p:sp>
    </p:spTree>
    <p:extLst>
      <p:ext uri="{BB962C8B-B14F-4D97-AF65-F5344CB8AC3E}">
        <p14:creationId xmlns:p14="http://schemas.microsoft.com/office/powerpoint/2010/main" val="229180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7185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Types of Software Maintenance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Re-Engineering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Reverse Engineering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Forward Engineering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The SCM Process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Identification of Objects in the Software Configuration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Version Control and Change Control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74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Software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may be just a </a:t>
            </a:r>
            <a:r>
              <a:rPr lang="en-US" b="1" dirty="0">
                <a:solidFill>
                  <a:srgbClr val="C00000"/>
                </a:solidFill>
              </a:rPr>
              <a:t>routine maintenance tasks </a:t>
            </a:r>
            <a:r>
              <a:rPr lang="en-US" dirty="0"/>
              <a:t>as some </a:t>
            </a:r>
            <a:r>
              <a:rPr lang="en-US" b="1" dirty="0">
                <a:solidFill>
                  <a:srgbClr val="C00000"/>
                </a:solidFill>
              </a:rPr>
              <a:t>bug discovered </a:t>
            </a:r>
            <a:r>
              <a:rPr lang="en-US" dirty="0"/>
              <a:t>by some user </a:t>
            </a:r>
            <a:r>
              <a:rPr lang="en-US" b="1" dirty="0">
                <a:solidFill>
                  <a:srgbClr val="C00000"/>
                </a:solidFill>
              </a:rPr>
              <a:t>or</a:t>
            </a:r>
            <a:r>
              <a:rPr lang="en-US" dirty="0"/>
              <a:t> it may be a </a:t>
            </a:r>
            <a:r>
              <a:rPr lang="en-US" b="1" dirty="0">
                <a:solidFill>
                  <a:srgbClr val="C00000"/>
                </a:solidFill>
              </a:rPr>
              <a:t>large event</a:t>
            </a:r>
            <a:r>
              <a:rPr lang="en-US" dirty="0"/>
              <a:t> in itself based on maintenance size or nature</a:t>
            </a:r>
          </a:p>
          <a:p>
            <a:r>
              <a:rPr lang="en-US" dirty="0"/>
              <a:t>Following are some </a:t>
            </a:r>
            <a:r>
              <a:rPr lang="en-US" b="1" dirty="0">
                <a:solidFill>
                  <a:srgbClr val="C00000"/>
                </a:solidFill>
              </a:rPr>
              <a:t>types of maintenance </a:t>
            </a:r>
            <a:r>
              <a:rPr lang="en-US" dirty="0"/>
              <a:t>based on their characteristics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976434" y="2135186"/>
            <a:ext cx="2839329" cy="415498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b="1" dirty="0"/>
              <a:t>Preventive </a:t>
            </a:r>
            <a:r>
              <a:rPr lang="en-US" sz="2100" dirty="0"/>
              <a:t>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595" y="2135186"/>
            <a:ext cx="2808668" cy="415498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b="1" dirty="0"/>
              <a:t>Corrective</a:t>
            </a:r>
            <a:r>
              <a:rPr lang="en-US" sz="2100" dirty="0"/>
              <a:t>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47159" y="2135186"/>
            <a:ext cx="2639304" cy="415498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b="1" dirty="0"/>
              <a:t>Adaptive</a:t>
            </a:r>
            <a:r>
              <a:rPr lang="en-US" sz="2100" dirty="0"/>
              <a:t>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0359" y="2135186"/>
            <a:ext cx="2782179" cy="415498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b="1" dirty="0"/>
              <a:t>Perfective</a:t>
            </a:r>
            <a:r>
              <a:rPr lang="en-US" sz="2100" dirty="0"/>
              <a:t> Maintenance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95" y="3216393"/>
            <a:ext cx="646972" cy="86374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2543" y="2678479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Corrective</a:t>
            </a:r>
            <a:r>
              <a:rPr lang="en-US" sz="2400" dirty="0"/>
              <a:t> Maintenance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113637" y="3140144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Content Placeholder 2"/>
          <p:cNvSpPr txBox="1">
            <a:spLocks/>
          </p:cNvSpPr>
          <p:nvPr/>
        </p:nvSpPr>
        <p:spPr>
          <a:xfrm>
            <a:off x="1264025" y="3226234"/>
            <a:ext cx="10796798" cy="7732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dirty="0"/>
              <a:t>This includes </a:t>
            </a:r>
            <a:r>
              <a:rPr lang="en-US" sz="2300" b="1" dirty="0">
                <a:solidFill>
                  <a:srgbClr val="C00000"/>
                </a:solidFill>
              </a:rPr>
              <a:t>modifications</a:t>
            </a:r>
            <a:r>
              <a:rPr lang="en-US" sz="2300" dirty="0">
                <a:solidFill>
                  <a:srgbClr val="C00000"/>
                </a:solidFill>
              </a:rPr>
              <a:t> </a:t>
            </a:r>
            <a:r>
              <a:rPr lang="en-US" sz="2300" dirty="0"/>
              <a:t>done in order to </a:t>
            </a:r>
            <a:r>
              <a:rPr lang="en-US" sz="2300" b="1" dirty="0">
                <a:solidFill>
                  <a:srgbClr val="C00000"/>
                </a:solidFill>
              </a:rPr>
              <a:t>fix problems</a:t>
            </a:r>
          </a:p>
          <a:p>
            <a:r>
              <a:rPr lang="en-US" sz="2300" dirty="0"/>
              <a:t>Corrective maintenance deals with the </a:t>
            </a:r>
            <a:r>
              <a:rPr lang="en-US" sz="2300" b="1" dirty="0">
                <a:solidFill>
                  <a:srgbClr val="C00000"/>
                </a:solidFill>
              </a:rPr>
              <a:t>repair of defects</a:t>
            </a:r>
            <a:r>
              <a:rPr lang="en-US" sz="2300" dirty="0"/>
              <a:t> found in day-to-day system functions</a:t>
            </a:r>
          </a:p>
          <a:p>
            <a:endParaRPr lang="en-US" sz="2300" b="1" dirty="0">
              <a:solidFill>
                <a:srgbClr val="C00000"/>
              </a:solidFill>
            </a:endParaRPr>
          </a:p>
          <a:p>
            <a:endParaRPr lang="en-US" sz="2300" dirty="0"/>
          </a:p>
        </p:txBody>
      </p:sp>
      <p:sp>
        <p:nvSpPr>
          <p:cNvPr id="14" name="Rectangle 13"/>
          <p:cNvSpPr/>
          <p:nvPr/>
        </p:nvSpPr>
        <p:spPr>
          <a:xfrm>
            <a:off x="292543" y="4397192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Adaptive</a:t>
            </a:r>
            <a:r>
              <a:rPr lang="en-US" sz="2400" dirty="0"/>
              <a:t> Maintenance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113637" y="4858857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>
          <a:xfrm>
            <a:off x="1605721" y="4958394"/>
            <a:ext cx="10455101" cy="13054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This includes </a:t>
            </a:r>
            <a:r>
              <a:rPr lang="en-US" sz="2200" b="1" dirty="0">
                <a:solidFill>
                  <a:srgbClr val="C00000"/>
                </a:solidFill>
              </a:rPr>
              <a:t>modifications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applied to </a:t>
            </a:r>
            <a:r>
              <a:rPr lang="en-US" sz="2200" b="1" dirty="0">
                <a:solidFill>
                  <a:srgbClr val="C00000"/>
                </a:solidFill>
              </a:rPr>
              <a:t>keep the software product up-to-date</a:t>
            </a:r>
            <a:endParaRPr lang="en-US" sz="2200" dirty="0"/>
          </a:p>
          <a:p>
            <a:r>
              <a:rPr lang="en-US" sz="2200" dirty="0"/>
              <a:t>Adaptive maintenance is the </a:t>
            </a:r>
            <a:r>
              <a:rPr lang="en-US" sz="2200" b="1" dirty="0">
                <a:solidFill>
                  <a:srgbClr val="C00000"/>
                </a:solidFill>
              </a:rPr>
              <a:t>implementation of changes</a:t>
            </a:r>
            <a:r>
              <a:rPr lang="en-US" sz="2200" dirty="0"/>
              <a:t> in a part of the system, which has been </a:t>
            </a:r>
            <a:r>
              <a:rPr lang="en-US" sz="2200" b="1" dirty="0">
                <a:solidFill>
                  <a:srgbClr val="C00000"/>
                </a:solidFill>
              </a:rPr>
              <a:t>affected by a change that occurred in some other part of the system</a:t>
            </a:r>
            <a:endParaRPr lang="en-US" sz="2200" dirty="0"/>
          </a:p>
          <a:p>
            <a:endParaRPr lang="en-US" sz="2200" b="1" dirty="0">
              <a:solidFill>
                <a:srgbClr val="C00000"/>
              </a:solidFill>
            </a:endParaRPr>
          </a:p>
          <a:p>
            <a:endParaRPr lang="en-US" sz="22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95" y="4912159"/>
            <a:ext cx="971482" cy="85004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276888" y="397726"/>
            <a:ext cx="6915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600" dirty="0"/>
              <a:t>In a </a:t>
            </a:r>
            <a:r>
              <a:rPr lang="en-US" sz="1600" b="1" dirty="0">
                <a:solidFill>
                  <a:srgbClr val="C00000"/>
                </a:solidFill>
              </a:rPr>
              <a:t>software lifetime</a:t>
            </a:r>
            <a:r>
              <a:rPr lang="en-US" sz="1600" dirty="0"/>
              <a:t>, type of </a:t>
            </a:r>
            <a:r>
              <a:rPr lang="en-US" sz="1600" b="1" dirty="0">
                <a:solidFill>
                  <a:srgbClr val="C00000"/>
                </a:solidFill>
              </a:rPr>
              <a:t>maintenance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/>
              <a:t>may vary </a:t>
            </a:r>
            <a:r>
              <a:rPr lang="en-US" sz="1600" b="1" dirty="0">
                <a:solidFill>
                  <a:srgbClr val="C00000"/>
                </a:solidFill>
              </a:rPr>
              <a:t>based on </a:t>
            </a:r>
            <a:r>
              <a:rPr lang="en-US" sz="1600" dirty="0"/>
              <a:t>its </a:t>
            </a:r>
            <a:r>
              <a:rPr lang="en-US" sz="1600" b="1" dirty="0">
                <a:solidFill>
                  <a:srgbClr val="C00000"/>
                </a:solidFill>
              </a:rPr>
              <a:t>nature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9341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11" grpId="0" animBg="1"/>
      <p:bldP spid="13" grpId="0"/>
      <p:bldP spid="14" grpId="0" animBg="1"/>
      <p:bldP spid="1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Software Maintenance Cont.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624" y="878198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Perfective</a:t>
            </a:r>
            <a:r>
              <a:rPr lang="en-US" sz="2400" dirty="0"/>
              <a:t> Maintenance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65718" y="1339863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1457802" y="1506634"/>
            <a:ext cx="10455101" cy="2346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includes </a:t>
            </a:r>
            <a:r>
              <a:rPr lang="en-US" b="1" dirty="0">
                <a:solidFill>
                  <a:srgbClr val="C00000"/>
                </a:solidFill>
              </a:rPr>
              <a:t>modifications</a:t>
            </a:r>
            <a:r>
              <a:rPr lang="en-US" dirty="0"/>
              <a:t> done in order to </a:t>
            </a:r>
            <a:r>
              <a:rPr lang="en-US" b="1" dirty="0">
                <a:solidFill>
                  <a:srgbClr val="C00000"/>
                </a:solidFill>
              </a:rPr>
              <a:t>keep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usable over long period of time</a:t>
            </a:r>
            <a:endParaRPr lang="en-US" dirty="0"/>
          </a:p>
          <a:p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includes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/>
              <a:t>new features</a:t>
            </a:r>
            <a:r>
              <a:rPr lang="en-US" dirty="0"/>
              <a:t>,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/>
              <a:t>user</a:t>
            </a:r>
            <a:r>
              <a:rPr lang="en-US" dirty="0"/>
              <a:t> </a:t>
            </a:r>
            <a:r>
              <a:rPr lang="en-US" b="1" dirty="0"/>
              <a:t>requirements</a:t>
            </a:r>
            <a:r>
              <a:rPr lang="en-US" dirty="0"/>
              <a:t> for refining the software and </a:t>
            </a:r>
            <a:r>
              <a:rPr lang="en-US" b="1" dirty="0">
                <a:solidFill>
                  <a:srgbClr val="C00000"/>
                </a:solidFill>
              </a:rPr>
              <a:t>improve its reliability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performance</a:t>
            </a:r>
            <a:r>
              <a:rPr lang="en-US" dirty="0"/>
              <a:t>.</a:t>
            </a:r>
          </a:p>
          <a:p>
            <a:r>
              <a:rPr lang="en-US" dirty="0"/>
              <a:t>This includes </a:t>
            </a:r>
            <a:r>
              <a:rPr lang="en-US" b="1" dirty="0">
                <a:solidFill>
                  <a:srgbClr val="C00000"/>
                </a:solidFill>
              </a:rPr>
              <a:t>changing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functionalities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as per the </a:t>
            </a:r>
            <a:r>
              <a:rPr lang="en-US" b="1" dirty="0">
                <a:solidFill>
                  <a:srgbClr val="C00000"/>
                </a:solidFill>
              </a:rPr>
              <a:t>user’s changing needs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4" y="1506634"/>
            <a:ext cx="1006172" cy="75462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44624" y="3598986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Preventive </a:t>
            </a:r>
            <a:r>
              <a:rPr lang="en-US" sz="2400" dirty="0"/>
              <a:t>Maintenance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965718" y="4060651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>
          <a:xfrm>
            <a:off x="1457802" y="4227422"/>
            <a:ext cx="10455101" cy="2346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Modifications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prevent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future problems</a:t>
            </a:r>
            <a:r>
              <a:rPr lang="en-US" dirty="0"/>
              <a:t> of software</a:t>
            </a:r>
          </a:p>
          <a:p>
            <a:r>
              <a:rPr lang="en-US" dirty="0"/>
              <a:t>It aims to </a:t>
            </a:r>
            <a:r>
              <a:rPr lang="en-US" b="1" dirty="0">
                <a:solidFill>
                  <a:srgbClr val="C00000"/>
                </a:solidFill>
              </a:rPr>
              <a:t>attend problems</a:t>
            </a:r>
            <a:r>
              <a:rPr lang="en-US" dirty="0"/>
              <a:t>, which are </a:t>
            </a:r>
            <a:r>
              <a:rPr lang="en-US" b="1" dirty="0">
                <a:solidFill>
                  <a:srgbClr val="C00000"/>
                </a:solidFill>
              </a:rPr>
              <a:t>not significant at this moment</a:t>
            </a:r>
            <a:r>
              <a:rPr lang="en-US" dirty="0"/>
              <a:t> but </a:t>
            </a:r>
            <a:r>
              <a:rPr lang="en-US" b="1" dirty="0"/>
              <a:t>may cause serious issues in future</a:t>
            </a:r>
            <a:endParaRPr lang="en-US" dirty="0"/>
          </a:p>
          <a:p>
            <a:r>
              <a:rPr lang="en-US" dirty="0"/>
              <a:t>It comprises </a:t>
            </a:r>
            <a:r>
              <a:rPr lang="en-US" b="1" dirty="0">
                <a:solidFill>
                  <a:srgbClr val="C00000"/>
                </a:solidFill>
              </a:rPr>
              <a:t>documentation updating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code optimization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code restructuring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0" y="4227422"/>
            <a:ext cx="936250" cy="93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7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4" grpId="0" animBg="1"/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6336855" cy="5590565"/>
          </a:xfrm>
        </p:spPr>
        <p:txBody>
          <a:bodyPr/>
          <a:lstStyle/>
          <a:p>
            <a:r>
              <a:rPr lang="en-US" dirty="0"/>
              <a:t>When we </a:t>
            </a:r>
            <a:r>
              <a:rPr lang="en-US" b="1" dirty="0">
                <a:solidFill>
                  <a:srgbClr val="C00000"/>
                </a:solidFill>
              </a:rPr>
              <a:t>need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update the software </a:t>
            </a:r>
            <a:r>
              <a:rPr lang="en-US" dirty="0"/>
              <a:t>to keep it to the current market, </a:t>
            </a:r>
            <a:r>
              <a:rPr lang="en-US" b="1" dirty="0">
                <a:solidFill>
                  <a:srgbClr val="C00000"/>
                </a:solidFill>
              </a:rPr>
              <a:t>without impacting</a:t>
            </a:r>
            <a:r>
              <a:rPr lang="en-US" dirty="0"/>
              <a:t> its </a:t>
            </a:r>
            <a:r>
              <a:rPr lang="en-US" b="1" dirty="0">
                <a:solidFill>
                  <a:srgbClr val="C00000"/>
                </a:solidFill>
              </a:rPr>
              <a:t>functionality</a:t>
            </a:r>
            <a:r>
              <a:rPr lang="en-US" dirty="0"/>
              <a:t>, it is called </a:t>
            </a:r>
            <a:r>
              <a:rPr lang="en-US" b="1" dirty="0">
                <a:solidFill>
                  <a:srgbClr val="C00000"/>
                </a:solidFill>
              </a:rPr>
              <a:t>software re-engineering</a:t>
            </a:r>
            <a:endParaRPr lang="en-US" dirty="0"/>
          </a:p>
          <a:p>
            <a:r>
              <a:rPr lang="en-US" dirty="0"/>
              <a:t>It is a </a:t>
            </a:r>
            <a:r>
              <a:rPr lang="en-US" b="1" dirty="0">
                <a:solidFill>
                  <a:srgbClr val="C00000"/>
                </a:solidFill>
              </a:rPr>
              <a:t>process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where the </a:t>
            </a:r>
            <a:r>
              <a:rPr lang="en-US" b="1" dirty="0">
                <a:solidFill>
                  <a:srgbClr val="C00000"/>
                </a:solidFill>
              </a:rPr>
              <a:t>design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software is </a:t>
            </a:r>
            <a:r>
              <a:rPr lang="en-US" b="1" dirty="0">
                <a:solidFill>
                  <a:srgbClr val="C00000"/>
                </a:solidFill>
              </a:rPr>
              <a:t>changed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programs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re-written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Legacy software </a:t>
            </a:r>
            <a:r>
              <a:rPr lang="en-US" dirty="0"/>
              <a:t>cannot keep </a:t>
            </a:r>
            <a:r>
              <a:rPr lang="en-US" b="1" dirty="0">
                <a:solidFill>
                  <a:srgbClr val="C00000"/>
                </a:solidFill>
              </a:rPr>
              <a:t>tuning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the latest technology available in the market</a:t>
            </a:r>
          </a:p>
          <a:p>
            <a:pPr lvl="1"/>
            <a:r>
              <a:rPr lang="en-US" dirty="0"/>
              <a:t>For example, </a:t>
            </a:r>
            <a:r>
              <a:rPr lang="en-US" b="1" dirty="0">
                <a:solidFill>
                  <a:srgbClr val="C00000"/>
                </a:solidFill>
              </a:rPr>
              <a:t>initially UNIX </a:t>
            </a:r>
            <a:r>
              <a:rPr lang="en-US" dirty="0"/>
              <a:t>was developed in </a:t>
            </a:r>
            <a:r>
              <a:rPr lang="en-US" b="1" dirty="0">
                <a:solidFill>
                  <a:srgbClr val="C00000"/>
                </a:solidFill>
              </a:rPr>
              <a:t>assembly language</a:t>
            </a:r>
            <a:r>
              <a:rPr lang="en-US" dirty="0"/>
              <a:t>. </a:t>
            </a:r>
            <a:r>
              <a:rPr lang="en-US" b="1" dirty="0"/>
              <a:t>When</a:t>
            </a:r>
            <a:r>
              <a:rPr lang="en-US" dirty="0"/>
              <a:t> language </a:t>
            </a:r>
            <a:r>
              <a:rPr lang="en-US" b="1" dirty="0">
                <a:solidFill>
                  <a:srgbClr val="C00000"/>
                </a:solidFill>
              </a:rPr>
              <a:t>C came </a:t>
            </a:r>
            <a:r>
              <a:rPr lang="en-US" dirty="0"/>
              <a:t>into existence, </a:t>
            </a:r>
            <a:r>
              <a:rPr lang="en-US" b="1" dirty="0">
                <a:solidFill>
                  <a:srgbClr val="C00000"/>
                </a:solidFill>
              </a:rPr>
              <a:t>UNIX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was </a:t>
            </a:r>
            <a:r>
              <a:rPr lang="en-US" b="1" dirty="0">
                <a:solidFill>
                  <a:srgbClr val="C00000"/>
                </a:solidFill>
              </a:rPr>
              <a:t>re-engineered</a:t>
            </a:r>
            <a:r>
              <a:rPr lang="en-US" dirty="0"/>
              <a:t> in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  <a:r>
              <a:rPr lang="en-US" dirty="0"/>
              <a:t>, because working in assembly language was difficult.</a:t>
            </a:r>
          </a:p>
          <a:p>
            <a:r>
              <a:rPr lang="en-US" dirty="0"/>
              <a:t>Other than this, </a:t>
            </a:r>
            <a:r>
              <a:rPr lang="en-US" b="1" dirty="0">
                <a:solidFill>
                  <a:srgbClr val="C00000"/>
                </a:solidFill>
              </a:rPr>
              <a:t>sometimes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programmers notice</a:t>
            </a:r>
            <a:r>
              <a:rPr lang="en-US" dirty="0"/>
              <a:t> that few </a:t>
            </a:r>
            <a:r>
              <a:rPr lang="en-US" b="1" dirty="0">
                <a:solidFill>
                  <a:srgbClr val="C00000"/>
                </a:solidFill>
              </a:rPr>
              <a:t>parts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need </a:t>
            </a:r>
            <a:r>
              <a:rPr lang="en-US" b="1" dirty="0">
                <a:solidFill>
                  <a:srgbClr val="C00000"/>
                </a:solidFill>
              </a:rPr>
              <a:t>more maintenance</a:t>
            </a:r>
            <a:r>
              <a:rPr lang="en-US" dirty="0"/>
              <a:t> than others and they also </a:t>
            </a:r>
            <a:r>
              <a:rPr lang="en-US" b="1" dirty="0">
                <a:solidFill>
                  <a:srgbClr val="C00000"/>
                </a:solidFill>
              </a:rPr>
              <a:t>need re-engineering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849" y="2205510"/>
            <a:ext cx="4192379" cy="2650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76029" y="5331768"/>
            <a:ext cx="2767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Reverse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9144" y="855192"/>
            <a:ext cx="2823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Forward Engineering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972848" y="2512368"/>
            <a:ext cx="0" cy="2819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1811548" y="1331268"/>
            <a:ext cx="0" cy="281940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99829" y="711201"/>
            <a:ext cx="0" cy="595629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27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Re-Engineering Cont.</a:t>
            </a:r>
          </a:p>
        </p:txBody>
      </p:sp>
      <p:sp>
        <p:nvSpPr>
          <p:cNvPr id="4" name="Freeform 3"/>
          <p:cNvSpPr/>
          <p:nvPr/>
        </p:nvSpPr>
        <p:spPr>
          <a:xfrm>
            <a:off x="8620062" y="351945"/>
            <a:ext cx="2367373" cy="1952587"/>
          </a:xfrm>
          <a:custGeom>
            <a:avLst/>
            <a:gdLst>
              <a:gd name="connsiteX0" fmla="*/ 0 w 2367373"/>
              <a:gd name="connsiteY0" fmla="*/ 195259 h 1952587"/>
              <a:gd name="connsiteX1" fmla="*/ 195259 w 2367373"/>
              <a:gd name="connsiteY1" fmla="*/ 0 h 1952587"/>
              <a:gd name="connsiteX2" fmla="*/ 2172114 w 2367373"/>
              <a:gd name="connsiteY2" fmla="*/ 0 h 1952587"/>
              <a:gd name="connsiteX3" fmla="*/ 2367373 w 2367373"/>
              <a:gd name="connsiteY3" fmla="*/ 195259 h 1952587"/>
              <a:gd name="connsiteX4" fmla="*/ 2367373 w 2367373"/>
              <a:gd name="connsiteY4" fmla="*/ 1757328 h 1952587"/>
              <a:gd name="connsiteX5" fmla="*/ 2172114 w 2367373"/>
              <a:gd name="connsiteY5" fmla="*/ 1952587 h 1952587"/>
              <a:gd name="connsiteX6" fmla="*/ 195259 w 2367373"/>
              <a:gd name="connsiteY6" fmla="*/ 1952587 h 1952587"/>
              <a:gd name="connsiteX7" fmla="*/ 0 w 2367373"/>
              <a:gd name="connsiteY7" fmla="*/ 1757328 h 1952587"/>
              <a:gd name="connsiteX8" fmla="*/ 0 w 2367373"/>
              <a:gd name="connsiteY8" fmla="*/ 195259 h 1952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7373" h="1952587">
                <a:moveTo>
                  <a:pt x="0" y="195259"/>
                </a:moveTo>
                <a:cubicBezTo>
                  <a:pt x="0" y="87420"/>
                  <a:pt x="87420" y="0"/>
                  <a:pt x="195259" y="0"/>
                </a:cubicBezTo>
                <a:lnTo>
                  <a:pt x="2172114" y="0"/>
                </a:lnTo>
                <a:cubicBezTo>
                  <a:pt x="2279953" y="0"/>
                  <a:pt x="2367373" y="87420"/>
                  <a:pt x="2367373" y="195259"/>
                </a:cubicBezTo>
                <a:lnTo>
                  <a:pt x="2367373" y="1757328"/>
                </a:lnTo>
                <a:cubicBezTo>
                  <a:pt x="2367373" y="1865167"/>
                  <a:pt x="2279953" y="1952587"/>
                  <a:pt x="2172114" y="1952587"/>
                </a:cubicBezTo>
                <a:lnTo>
                  <a:pt x="195259" y="1952587"/>
                </a:lnTo>
                <a:cubicBezTo>
                  <a:pt x="87420" y="1952587"/>
                  <a:pt x="0" y="1865167"/>
                  <a:pt x="0" y="1757328"/>
                </a:cubicBezTo>
                <a:lnTo>
                  <a:pt x="0" y="195259"/>
                </a:ln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0654" tIns="90654" rIns="90654" bIns="509065" numCol="1" spcCol="1270" anchor="t" anchorCtr="0">
            <a:noAutofit/>
          </a:bodyPr>
          <a:lstStyle/>
          <a:p>
            <a:pPr marL="457200" lvl="2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IN" sz="2400" kern="1200" dirty="0"/>
          </a:p>
          <a:p>
            <a:pPr marL="457200" lvl="2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IN" sz="2400" kern="1200" dirty="0"/>
              <a:t>Obtain specifications of existing software</a:t>
            </a:r>
          </a:p>
        </p:txBody>
      </p:sp>
      <p:sp>
        <p:nvSpPr>
          <p:cNvPr id="5" name="Shape 4"/>
          <p:cNvSpPr/>
          <p:nvPr/>
        </p:nvSpPr>
        <p:spPr>
          <a:xfrm rot="3696495">
            <a:off x="7460226" y="948012"/>
            <a:ext cx="2493017" cy="2493017"/>
          </a:xfrm>
          <a:prstGeom prst="leftCircularArrow">
            <a:avLst>
              <a:gd name="adj1" fmla="val 2685"/>
              <a:gd name="adj2" fmla="val 326849"/>
              <a:gd name="adj3" fmla="val 2102360"/>
              <a:gd name="adj4" fmla="val 12161645"/>
              <a:gd name="adj5" fmla="val 31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 5"/>
          <p:cNvSpPr/>
          <p:nvPr/>
        </p:nvSpPr>
        <p:spPr>
          <a:xfrm>
            <a:off x="10197131" y="57151"/>
            <a:ext cx="1842469" cy="836823"/>
          </a:xfrm>
          <a:custGeom>
            <a:avLst/>
            <a:gdLst>
              <a:gd name="connsiteX0" fmla="*/ 0 w 2104331"/>
              <a:gd name="connsiteY0" fmla="*/ 83682 h 836823"/>
              <a:gd name="connsiteX1" fmla="*/ 83682 w 2104331"/>
              <a:gd name="connsiteY1" fmla="*/ 0 h 836823"/>
              <a:gd name="connsiteX2" fmla="*/ 2020649 w 2104331"/>
              <a:gd name="connsiteY2" fmla="*/ 0 h 836823"/>
              <a:gd name="connsiteX3" fmla="*/ 2104331 w 2104331"/>
              <a:gd name="connsiteY3" fmla="*/ 83682 h 836823"/>
              <a:gd name="connsiteX4" fmla="*/ 2104331 w 2104331"/>
              <a:gd name="connsiteY4" fmla="*/ 753141 h 836823"/>
              <a:gd name="connsiteX5" fmla="*/ 2020649 w 2104331"/>
              <a:gd name="connsiteY5" fmla="*/ 836823 h 836823"/>
              <a:gd name="connsiteX6" fmla="*/ 83682 w 2104331"/>
              <a:gd name="connsiteY6" fmla="*/ 836823 h 836823"/>
              <a:gd name="connsiteX7" fmla="*/ 0 w 2104331"/>
              <a:gd name="connsiteY7" fmla="*/ 753141 h 836823"/>
              <a:gd name="connsiteX8" fmla="*/ 0 w 2104331"/>
              <a:gd name="connsiteY8" fmla="*/ 83682 h 83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4331" h="836823">
                <a:moveTo>
                  <a:pt x="0" y="83682"/>
                </a:moveTo>
                <a:cubicBezTo>
                  <a:pt x="0" y="37466"/>
                  <a:pt x="37466" y="0"/>
                  <a:pt x="83682" y="0"/>
                </a:cubicBezTo>
                <a:lnTo>
                  <a:pt x="2020649" y="0"/>
                </a:lnTo>
                <a:cubicBezTo>
                  <a:pt x="2066865" y="0"/>
                  <a:pt x="2104331" y="37466"/>
                  <a:pt x="2104331" y="83682"/>
                </a:cubicBezTo>
                <a:lnTo>
                  <a:pt x="2104331" y="753141"/>
                </a:lnTo>
                <a:cubicBezTo>
                  <a:pt x="2104331" y="799357"/>
                  <a:pt x="2066865" y="836823"/>
                  <a:pt x="2020649" y="836823"/>
                </a:cubicBezTo>
                <a:lnTo>
                  <a:pt x="83682" y="836823"/>
                </a:lnTo>
                <a:cubicBezTo>
                  <a:pt x="37466" y="836823"/>
                  <a:pt x="0" y="799357"/>
                  <a:pt x="0" y="753141"/>
                </a:cubicBezTo>
                <a:lnTo>
                  <a:pt x="0" y="8368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135" tIns="56260" rIns="72135" bIns="56260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500" kern="1200" dirty="0">
                <a:solidFill>
                  <a:schemeClr val="tx1"/>
                </a:solidFill>
              </a:rPr>
              <a:t>Reverse Engineering</a:t>
            </a:r>
          </a:p>
        </p:txBody>
      </p:sp>
      <p:sp>
        <p:nvSpPr>
          <p:cNvPr id="7" name="Freeform 6"/>
          <p:cNvSpPr/>
          <p:nvPr/>
        </p:nvSpPr>
        <p:spPr>
          <a:xfrm>
            <a:off x="8688077" y="2476960"/>
            <a:ext cx="2367373" cy="1952587"/>
          </a:xfrm>
          <a:custGeom>
            <a:avLst/>
            <a:gdLst>
              <a:gd name="connsiteX0" fmla="*/ 0 w 2367373"/>
              <a:gd name="connsiteY0" fmla="*/ 195259 h 1952587"/>
              <a:gd name="connsiteX1" fmla="*/ 195259 w 2367373"/>
              <a:gd name="connsiteY1" fmla="*/ 0 h 1952587"/>
              <a:gd name="connsiteX2" fmla="*/ 2172114 w 2367373"/>
              <a:gd name="connsiteY2" fmla="*/ 0 h 1952587"/>
              <a:gd name="connsiteX3" fmla="*/ 2367373 w 2367373"/>
              <a:gd name="connsiteY3" fmla="*/ 195259 h 1952587"/>
              <a:gd name="connsiteX4" fmla="*/ 2367373 w 2367373"/>
              <a:gd name="connsiteY4" fmla="*/ 1757328 h 1952587"/>
              <a:gd name="connsiteX5" fmla="*/ 2172114 w 2367373"/>
              <a:gd name="connsiteY5" fmla="*/ 1952587 h 1952587"/>
              <a:gd name="connsiteX6" fmla="*/ 195259 w 2367373"/>
              <a:gd name="connsiteY6" fmla="*/ 1952587 h 1952587"/>
              <a:gd name="connsiteX7" fmla="*/ 0 w 2367373"/>
              <a:gd name="connsiteY7" fmla="*/ 1757328 h 1952587"/>
              <a:gd name="connsiteX8" fmla="*/ 0 w 2367373"/>
              <a:gd name="connsiteY8" fmla="*/ 195259 h 1952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7373" h="1952587">
                <a:moveTo>
                  <a:pt x="0" y="195259"/>
                </a:moveTo>
                <a:cubicBezTo>
                  <a:pt x="0" y="87420"/>
                  <a:pt x="87420" y="0"/>
                  <a:pt x="195259" y="0"/>
                </a:cubicBezTo>
                <a:lnTo>
                  <a:pt x="2172114" y="0"/>
                </a:lnTo>
                <a:cubicBezTo>
                  <a:pt x="2279953" y="0"/>
                  <a:pt x="2367373" y="87420"/>
                  <a:pt x="2367373" y="195259"/>
                </a:cubicBezTo>
                <a:lnTo>
                  <a:pt x="2367373" y="1757328"/>
                </a:lnTo>
                <a:cubicBezTo>
                  <a:pt x="2367373" y="1865167"/>
                  <a:pt x="2279953" y="1952587"/>
                  <a:pt x="2172114" y="1952587"/>
                </a:cubicBezTo>
                <a:lnTo>
                  <a:pt x="195259" y="1952587"/>
                </a:lnTo>
                <a:cubicBezTo>
                  <a:pt x="87420" y="1952587"/>
                  <a:pt x="0" y="1865167"/>
                  <a:pt x="0" y="1757328"/>
                </a:cubicBezTo>
                <a:lnTo>
                  <a:pt x="0" y="195259"/>
                </a:ln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0" vert="horz" wrap="square" lIns="90654" tIns="509065" rIns="90654" bIns="90654" numCol="1" spcCol="1270" anchor="t" anchorCtr="0">
            <a:noAutofit/>
          </a:bodyPr>
          <a:lstStyle/>
          <a:p>
            <a:pPr marL="457200" lvl="2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IN" sz="2400" kern="1200" dirty="0"/>
              <a:t>Change program and/or data structure</a:t>
            </a:r>
          </a:p>
        </p:txBody>
      </p:sp>
      <p:sp>
        <p:nvSpPr>
          <p:cNvPr id="8" name="Circular Arrow 7"/>
          <p:cNvSpPr/>
          <p:nvPr/>
        </p:nvSpPr>
        <p:spPr>
          <a:xfrm rot="4185204" flipV="1">
            <a:off x="7494862" y="3523984"/>
            <a:ext cx="2795515" cy="2876550"/>
          </a:xfrm>
          <a:prstGeom prst="circularArrow">
            <a:avLst>
              <a:gd name="adj1" fmla="val 2395"/>
              <a:gd name="adj2" fmla="val 289523"/>
              <a:gd name="adj3" fmla="val 19534967"/>
              <a:gd name="adj4" fmla="val 10199831"/>
              <a:gd name="adj5" fmla="val 2794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 8"/>
          <p:cNvSpPr/>
          <p:nvPr/>
        </p:nvSpPr>
        <p:spPr>
          <a:xfrm>
            <a:off x="10197131" y="2348965"/>
            <a:ext cx="1842469" cy="836823"/>
          </a:xfrm>
          <a:custGeom>
            <a:avLst/>
            <a:gdLst>
              <a:gd name="connsiteX0" fmla="*/ 0 w 2104331"/>
              <a:gd name="connsiteY0" fmla="*/ 83682 h 836823"/>
              <a:gd name="connsiteX1" fmla="*/ 83682 w 2104331"/>
              <a:gd name="connsiteY1" fmla="*/ 0 h 836823"/>
              <a:gd name="connsiteX2" fmla="*/ 2020649 w 2104331"/>
              <a:gd name="connsiteY2" fmla="*/ 0 h 836823"/>
              <a:gd name="connsiteX3" fmla="*/ 2104331 w 2104331"/>
              <a:gd name="connsiteY3" fmla="*/ 83682 h 836823"/>
              <a:gd name="connsiteX4" fmla="*/ 2104331 w 2104331"/>
              <a:gd name="connsiteY4" fmla="*/ 753141 h 836823"/>
              <a:gd name="connsiteX5" fmla="*/ 2020649 w 2104331"/>
              <a:gd name="connsiteY5" fmla="*/ 836823 h 836823"/>
              <a:gd name="connsiteX6" fmla="*/ 83682 w 2104331"/>
              <a:gd name="connsiteY6" fmla="*/ 836823 h 836823"/>
              <a:gd name="connsiteX7" fmla="*/ 0 w 2104331"/>
              <a:gd name="connsiteY7" fmla="*/ 753141 h 836823"/>
              <a:gd name="connsiteX8" fmla="*/ 0 w 2104331"/>
              <a:gd name="connsiteY8" fmla="*/ 83682 h 83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4331" h="836823">
                <a:moveTo>
                  <a:pt x="0" y="83682"/>
                </a:moveTo>
                <a:cubicBezTo>
                  <a:pt x="0" y="37466"/>
                  <a:pt x="37466" y="0"/>
                  <a:pt x="83682" y="0"/>
                </a:cubicBezTo>
                <a:lnTo>
                  <a:pt x="2020649" y="0"/>
                </a:lnTo>
                <a:cubicBezTo>
                  <a:pt x="2066865" y="0"/>
                  <a:pt x="2104331" y="37466"/>
                  <a:pt x="2104331" y="83682"/>
                </a:cubicBezTo>
                <a:lnTo>
                  <a:pt x="2104331" y="753141"/>
                </a:lnTo>
                <a:cubicBezTo>
                  <a:pt x="2104331" y="799357"/>
                  <a:pt x="2066865" y="836823"/>
                  <a:pt x="2020649" y="836823"/>
                </a:cubicBezTo>
                <a:lnTo>
                  <a:pt x="83682" y="836823"/>
                </a:lnTo>
                <a:cubicBezTo>
                  <a:pt x="37466" y="836823"/>
                  <a:pt x="0" y="799357"/>
                  <a:pt x="0" y="753141"/>
                </a:cubicBezTo>
                <a:lnTo>
                  <a:pt x="0" y="83682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0" vert="horz" wrap="square" lIns="72135" tIns="56260" rIns="72135" bIns="56260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500" kern="1200" dirty="0"/>
              <a:t>Program Restructuring</a:t>
            </a:r>
          </a:p>
        </p:txBody>
      </p:sp>
      <p:sp>
        <p:nvSpPr>
          <p:cNvPr id="10" name="Freeform 9"/>
          <p:cNvSpPr/>
          <p:nvPr/>
        </p:nvSpPr>
        <p:spPr>
          <a:xfrm>
            <a:off x="8688077" y="4640779"/>
            <a:ext cx="2367373" cy="1952587"/>
          </a:xfrm>
          <a:custGeom>
            <a:avLst/>
            <a:gdLst>
              <a:gd name="connsiteX0" fmla="*/ 0 w 2367373"/>
              <a:gd name="connsiteY0" fmla="*/ 195259 h 1952587"/>
              <a:gd name="connsiteX1" fmla="*/ 195259 w 2367373"/>
              <a:gd name="connsiteY1" fmla="*/ 0 h 1952587"/>
              <a:gd name="connsiteX2" fmla="*/ 2172114 w 2367373"/>
              <a:gd name="connsiteY2" fmla="*/ 0 h 1952587"/>
              <a:gd name="connsiteX3" fmla="*/ 2367373 w 2367373"/>
              <a:gd name="connsiteY3" fmla="*/ 195259 h 1952587"/>
              <a:gd name="connsiteX4" fmla="*/ 2367373 w 2367373"/>
              <a:gd name="connsiteY4" fmla="*/ 1757328 h 1952587"/>
              <a:gd name="connsiteX5" fmla="*/ 2172114 w 2367373"/>
              <a:gd name="connsiteY5" fmla="*/ 1952587 h 1952587"/>
              <a:gd name="connsiteX6" fmla="*/ 195259 w 2367373"/>
              <a:gd name="connsiteY6" fmla="*/ 1952587 h 1952587"/>
              <a:gd name="connsiteX7" fmla="*/ 0 w 2367373"/>
              <a:gd name="connsiteY7" fmla="*/ 1757328 h 1952587"/>
              <a:gd name="connsiteX8" fmla="*/ 0 w 2367373"/>
              <a:gd name="connsiteY8" fmla="*/ 195259 h 1952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7373" h="1952587">
                <a:moveTo>
                  <a:pt x="0" y="195259"/>
                </a:moveTo>
                <a:cubicBezTo>
                  <a:pt x="0" y="87420"/>
                  <a:pt x="87420" y="0"/>
                  <a:pt x="195259" y="0"/>
                </a:cubicBezTo>
                <a:lnTo>
                  <a:pt x="2172114" y="0"/>
                </a:lnTo>
                <a:cubicBezTo>
                  <a:pt x="2279953" y="0"/>
                  <a:pt x="2367373" y="87420"/>
                  <a:pt x="2367373" y="195259"/>
                </a:cubicBezTo>
                <a:lnTo>
                  <a:pt x="2367373" y="1757328"/>
                </a:lnTo>
                <a:cubicBezTo>
                  <a:pt x="2367373" y="1865167"/>
                  <a:pt x="2279953" y="1952587"/>
                  <a:pt x="2172114" y="1952587"/>
                </a:cubicBezTo>
                <a:lnTo>
                  <a:pt x="195259" y="1952587"/>
                </a:lnTo>
                <a:cubicBezTo>
                  <a:pt x="87420" y="1952587"/>
                  <a:pt x="0" y="1865167"/>
                  <a:pt x="0" y="1757328"/>
                </a:cubicBezTo>
                <a:lnTo>
                  <a:pt x="0" y="195259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0654" tIns="90654" rIns="90654" bIns="509065" numCol="1" spcCol="1270" anchor="t" anchorCtr="0">
            <a:noAutofit/>
          </a:bodyPr>
          <a:lstStyle/>
          <a:p>
            <a:pPr marL="457200" lvl="2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IN" sz="2400" kern="1200" dirty="0"/>
          </a:p>
          <a:p>
            <a:pPr marL="457200" lvl="2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IN" sz="2400" kern="1200" dirty="0"/>
              <a:t>Get re-engineered software developed</a:t>
            </a:r>
          </a:p>
        </p:txBody>
      </p:sp>
      <p:sp>
        <p:nvSpPr>
          <p:cNvPr id="11" name="Freeform 10"/>
          <p:cNvSpPr/>
          <p:nvPr/>
        </p:nvSpPr>
        <p:spPr>
          <a:xfrm>
            <a:off x="10197131" y="4543847"/>
            <a:ext cx="1842469" cy="836823"/>
          </a:xfrm>
          <a:custGeom>
            <a:avLst/>
            <a:gdLst>
              <a:gd name="connsiteX0" fmla="*/ 0 w 2104331"/>
              <a:gd name="connsiteY0" fmla="*/ 83682 h 836823"/>
              <a:gd name="connsiteX1" fmla="*/ 83682 w 2104331"/>
              <a:gd name="connsiteY1" fmla="*/ 0 h 836823"/>
              <a:gd name="connsiteX2" fmla="*/ 2020649 w 2104331"/>
              <a:gd name="connsiteY2" fmla="*/ 0 h 836823"/>
              <a:gd name="connsiteX3" fmla="*/ 2104331 w 2104331"/>
              <a:gd name="connsiteY3" fmla="*/ 83682 h 836823"/>
              <a:gd name="connsiteX4" fmla="*/ 2104331 w 2104331"/>
              <a:gd name="connsiteY4" fmla="*/ 753141 h 836823"/>
              <a:gd name="connsiteX5" fmla="*/ 2020649 w 2104331"/>
              <a:gd name="connsiteY5" fmla="*/ 836823 h 836823"/>
              <a:gd name="connsiteX6" fmla="*/ 83682 w 2104331"/>
              <a:gd name="connsiteY6" fmla="*/ 836823 h 836823"/>
              <a:gd name="connsiteX7" fmla="*/ 0 w 2104331"/>
              <a:gd name="connsiteY7" fmla="*/ 753141 h 836823"/>
              <a:gd name="connsiteX8" fmla="*/ 0 w 2104331"/>
              <a:gd name="connsiteY8" fmla="*/ 83682 h 83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04331" h="836823">
                <a:moveTo>
                  <a:pt x="0" y="83682"/>
                </a:moveTo>
                <a:cubicBezTo>
                  <a:pt x="0" y="37466"/>
                  <a:pt x="37466" y="0"/>
                  <a:pt x="83682" y="0"/>
                </a:cubicBezTo>
                <a:lnTo>
                  <a:pt x="2020649" y="0"/>
                </a:lnTo>
                <a:cubicBezTo>
                  <a:pt x="2066865" y="0"/>
                  <a:pt x="2104331" y="37466"/>
                  <a:pt x="2104331" y="83682"/>
                </a:cubicBezTo>
                <a:lnTo>
                  <a:pt x="2104331" y="753141"/>
                </a:lnTo>
                <a:cubicBezTo>
                  <a:pt x="2104331" y="799357"/>
                  <a:pt x="2066865" y="836823"/>
                  <a:pt x="2020649" y="836823"/>
                </a:cubicBezTo>
                <a:lnTo>
                  <a:pt x="83682" y="836823"/>
                </a:lnTo>
                <a:cubicBezTo>
                  <a:pt x="37466" y="836823"/>
                  <a:pt x="0" y="799357"/>
                  <a:pt x="0" y="753141"/>
                </a:cubicBezTo>
                <a:lnTo>
                  <a:pt x="0" y="83682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0" vert="horz" wrap="square" lIns="72135" tIns="56260" rIns="72135" bIns="56260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2500" kern="1200" dirty="0"/>
              <a:t>Forward Engineering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6497232" cy="53340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Decide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what to re-engineer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Is it </a:t>
            </a:r>
            <a:r>
              <a:rPr lang="en-US" b="1" dirty="0"/>
              <a:t>whole software </a:t>
            </a:r>
            <a:r>
              <a:rPr lang="en-US" dirty="0"/>
              <a:t>or </a:t>
            </a:r>
            <a:r>
              <a:rPr lang="en-US" b="1" dirty="0"/>
              <a:t>a part of it</a:t>
            </a:r>
            <a:r>
              <a:rPr lang="en-US" dirty="0"/>
              <a:t>?</a:t>
            </a:r>
          </a:p>
          <a:p>
            <a:r>
              <a:rPr lang="en-US" dirty="0"/>
              <a:t>Perform </a:t>
            </a:r>
            <a:r>
              <a:rPr lang="en-US" b="1" dirty="0">
                <a:solidFill>
                  <a:srgbClr val="C00000"/>
                </a:solidFill>
              </a:rPr>
              <a:t>Reverse Engineering</a:t>
            </a:r>
            <a:r>
              <a:rPr lang="en-US" dirty="0"/>
              <a:t>, in order </a:t>
            </a:r>
            <a:r>
              <a:rPr lang="en-US" b="1" dirty="0">
                <a:solidFill>
                  <a:srgbClr val="C00000"/>
                </a:solidFill>
              </a:rPr>
              <a:t>to obtain specifications </a:t>
            </a:r>
            <a:r>
              <a:rPr lang="en-US" dirty="0"/>
              <a:t>of existing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</a:p>
          <a:p>
            <a:r>
              <a:rPr lang="en-US" b="1" dirty="0">
                <a:solidFill>
                  <a:srgbClr val="C00000"/>
                </a:solidFill>
              </a:rPr>
              <a:t>Restructure Program </a:t>
            </a:r>
            <a:r>
              <a:rPr lang="en-US" dirty="0"/>
              <a:t>if </a:t>
            </a:r>
            <a:r>
              <a:rPr lang="en-US" b="1" dirty="0">
                <a:solidFill>
                  <a:srgbClr val="C00000"/>
                </a:solidFill>
              </a:rPr>
              <a:t>required</a:t>
            </a:r>
            <a:endParaRPr lang="en-US" dirty="0"/>
          </a:p>
          <a:p>
            <a:pPr lvl="1"/>
            <a:r>
              <a:rPr lang="en-US" dirty="0"/>
              <a:t>For example, </a:t>
            </a:r>
            <a:r>
              <a:rPr lang="en-US" b="1" dirty="0"/>
              <a:t>changing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function-oriented programs</a:t>
            </a:r>
            <a:r>
              <a:rPr lang="en-US" dirty="0"/>
              <a:t> into </a:t>
            </a:r>
            <a:r>
              <a:rPr lang="en-US" b="1" dirty="0">
                <a:solidFill>
                  <a:srgbClr val="C00000"/>
                </a:solidFill>
              </a:rPr>
              <a:t>object-oriented programs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re-structure data </a:t>
            </a:r>
            <a:r>
              <a:rPr lang="en-US" dirty="0"/>
              <a:t>as </a:t>
            </a:r>
            <a:r>
              <a:rPr lang="en-US" b="1" dirty="0">
                <a:solidFill>
                  <a:srgbClr val="C00000"/>
                </a:solidFill>
              </a:rPr>
              <a:t>required</a:t>
            </a:r>
            <a:endParaRPr lang="en-US" dirty="0"/>
          </a:p>
          <a:p>
            <a:r>
              <a:rPr lang="en-US" dirty="0"/>
              <a:t>Apply </a:t>
            </a:r>
            <a:r>
              <a:rPr lang="en-US" b="1" dirty="0">
                <a:solidFill>
                  <a:srgbClr val="C00000"/>
                </a:solidFill>
              </a:rPr>
              <a:t>Forward engineering </a:t>
            </a:r>
            <a:r>
              <a:rPr lang="en-US" dirty="0"/>
              <a:t>concepts in order to </a:t>
            </a:r>
            <a:r>
              <a:rPr lang="en-US" b="1" dirty="0">
                <a:solidFill>
                  <a:srgbClr val="C00000"/>
                </a:solidFill>
              </a:rPr>
              <a:t>get re-engineered software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97602" y="711201"/>
            <a:ext cx="0" cy="588216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462" y="5744935"/>
            <a:ext cx="699138" cy="6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6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4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983870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abstraction level</a:t>
            </a:r>
            <a:r>
              <a:rPr lang="en-US" dirty="0"/>
              <a:t> of a </a:t>
            </a:r>
            <a:r>
              <a:rPr lang="en-US" b="1" dirty="0">
                <a:solidFill>
                  <a:srgbClr val="C00000"/>
                </a:solidFill>
              </a:rPr>
              <a:t>reverse engineering process </a:t>
            </a:r>
            <a:r>
              <a:rPr lang="en-US" dirty="0"/>
              <a:t>refers to the </a:t>
            </a:r>
            <a:r>
              <a:rPr lang="en-US" b="1" dirty="0">
                <a:solidFill>
                  <a:srgbClr val="C00000"/>
                </a:solidFill>
              </a:rPr>
              <a:t>sophistication of the design information </a:t>
            </a:r>
            <a:r>
              <a:rPr lang="en-US" dirty="0"/>
              <a:t>that can be extracted from source code</a:t>
            </a:r>
          </a:p>
          <a:p>
            <a:r>
              <a:rPr lang="en-US" dirty="0"/>
              <a:t>Ideally, the </a:t>
            </a:r>
            <a:r>
              <a:rPr lang="en-US" b="1" dirty="0">
                <a:solidFill>
                  <a:srgbClr val="C00000"/>
                </a:solidFill>
              </a:rPr>
              <a:t>abstraction level </a:t>
            </a:r>
            <a:r>
              <a:rPr lang="en-US" dirty="0"/>
              <a:t>should be </a:t>
            </a:r>
            <a:r>
              <a:rPr lang="en-US" b="1" dirty="0">
                <a:solidFill>
                  <a:srgbClr val="C00000"/>
                </a:solidFill>
              </a:rPr>
              <a:t>as high as possible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reverse engineering</a:t>
            </a:r>
            <a:r>
              <a:rPr lang="en-US" dirty="0"/>
              <a:t> process should be </a:t>
            </a:r>
            <a:r>
              <a:rPr lang="en-US" b="1" dirty="0">
                <a:solidFill>
                  <a:srgbClr val="C00000"/>
                </a:solidFill>
              </a:rPr>
              <a:t>capable of</a:t>
            </a:r>
          </a:p>
          <a:p>
            <a:pPr lvl="1"/>
            <a:r>
              <a:rPr lang="en-US" dirty="0"/>
              <a:t>Deriving </a:t>
            </a:r>
            <a:r>
              <a:rPr lang="en-US" b="1" dirty="0">
                <a:solidFill>
                  <a:srgbClr val="C00000"/>
                </a:solidFill>
              </a:rPr>
              <a:t>procedural design representations</a:t>
            </a:r>
            <a:r>
              <a:rPr lang="en-US" dirty="0"/>
              <a:t> (a low-level abstraction)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Program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data structure information </a:t>
            </a:r>
            <a:r>
              <a:rPr lang="en-US" dirty="0"/>
              <a:t>(a somewhat higher level of abstraction)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Object models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data flow models </a:t>
            </a:r>
            <a:r>
              <a:rPr lang="en-US" dirty="0"/>
              <a:t>(a relatively high level of abstraction)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Entity relationship models </a:t>
            </a:r>
            <a:r>
              <a:rPr lang="en-US" dirty="0"/>
              <a:t>(a high level of abstraction).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242629" y="711201"/>
            <a:ext cx="0" cy="590513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6370209" y="1718113"/>
            <a:ext cx="5612241" cy="4835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Steps of Software Reverse Engineering</a:t>
            </a:r>
          </a:p>
          <a:p>
            <a:pPr lvl="1"/>
            <a:r>
              <a:rPr lang="en-US" dirty="0"/>
              <a:t>Collection Information</a:t>
            </a:r>
          </a:p>
          <a:p>
            <a:pPr lvl="1"/>
            <a:r>
              <a:rPr lang="en-US" dirty="0"/>
              <a:t>Examining the Information</a:t>
            </a:r>
          </a:p>
          <a:p>
            <a:pPr lvl="1"/>
            <a:r>
              <a:rPr lang="en-US" dirty="0"/>
              <a:t>Extracting the Structure</a:t>
            </a:r>
          </a:p>
          <a:p>
            <a:pPr lvl="1"/>
            <a:r>
              <a:rPr lang="en-US" dirty="0"/>
              <a:t>Recording the Functionality</a:t>
            </a:r>
          </a:p>
          <a:p>
            <a:pPr lvl="1"/>
            <a:r>
              <a:rPr lang="en-US" dirty="0"/>
              <a:t>Recording Data Flow</a:t>
            </a:r>
          </a:p>
          <a:p>
            <a:pPr lvl="1"/>
            <a:r>
              <a:rPr lang="en-US" dirty="0"/>
              <a:t>Recording Control Flow</a:t>
            </a:r>
          </a:p>
          <a:p>
            <a:pPr lvl="1"/>
            <a:r>
              <a:rPr lang="en-US" dirty="0"/>
              <a:t>Review Extracted Design</a:t>
            </a:r>
          </a:p>
          <a:p>
            <a:pPr lvl="1"/>
            <a:r>
              <a:rPr lang="en-US" dirty="0"/>
              <a:t>Generate Documentation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568" y="67660"/>
            <a:ext cx="575882" cy="575882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6115051" y="247650"/>
            <a:ext cx="3382359" cy="1403351"/>
          </a:xfrm>
          <a:prstGeom prst="wedgeRoundRectCallout">
            <a:avLst>
              <a:gd name="adj1" fmla="val -117434"/>
              <a:gd name="adj2" fmla="val -3539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300" b="1" dirty="0">
                <a:solidFill>
                  <a:srgbClr val="C00000"/>
                </a:solidFill>
              </a:rPr>
              <a:t>Reverse engineering </a:t>
            </a:r>
            <a:r>
              <a:rPr lang="en-US" sz="2300" dirty="0"/>
              <a:t>can </a:t>
            </a:r>
            <a:r>
              <a:rPr lang="en-US" sz="2300" b="1" dirty="0">
                <a:solidFill>
                  <a:srgbClr val="C00000"/>
                </a:solidFill>
              </a:rPr>
              <a:t>extract design information</a:t>
            </a:r>
            <a:r>
              <a:rPr lang="en-US" sz="2300" dirty="0"/>
              <a:t> from </a:t>
            </a:r>
            <a:r>
              <a:rPr lang="en-US" sz="2300" b="1" dirty="0">
                <a:solidFill>
                  <a:srgbClr val="C00000"/>
                </a:solidFill>
              </a:rPr>
              <a:t>source code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20602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Forward engineering </a:t>
            </a:r>
            <a:r>
              <a:rPr lang="en-US" dirty="0"/>
              <a:t>is a process of </a:t>
            </a:r>
            <a:r>
              <a:rPr lang="en-US" b="1" dirty="0">
                <a:solidFill>
                  <a:srgbClr val="C00000"/>
                </a:solidFill>
              </a:rPr>
              <a:t>obtaining desired software from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specifications</a:t>
            </a:r>
            <a:r>
              <a:rPr lang="en-US" dirty="0"/>
              <a:t>, which were brought by reverse engineering</a:t>
            </a:r>
          </a:p>
          <a:p>
            <a:r>
              <a:rPr lang="en-US" dirty="0"/>
              <a:t>Forward engineering is </a:t>
            </a:r>
            <a:r>
              <a:rPr lang="en-US" b="1" dirty="0">
                <a:solidFill>
                  <a:srgbClr val="C00000"/>
                </a:solidFill>
              </a:rPr>
              <a:t>same as software engineering process </a:t>
            </a:r>
            <a:r>
              <a:rPr lang="en-US" dirty="0"/>
              <a:t>with only one difference </a:t>
            </a:r>
            <a:r>
              <a:rPr lang="en-US" b="1" dirty="0">
                <a:solidFill>
                  <a:srgbClr val="C00000"/>
                </a:solidFill>
              </a:rPr>
              <a:t>it is carried out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always after reverse engineering</a:t>
            </a:r>
            <a:endParaRPr lang="en-US" dirty="0"/>
          </a:p>
          <a:p>
            <a:r>
              <a:rPr lang="en-US" dirty="0"/>
              <a:t>In most cases, </a:t>
            </a:r>
            <a:r>
              <a:rPr lang="en-US" b="1" dirty="0">
                <a:solidFill>
                  <a:srgbClr val="C00000"/>
                </a:solidFill>
              </a:rPr>
              <a:t>forward engineering </a:t>
            </a:r>
            <a:r>
              <a:rPr lang="en-US" dirty="0"/>
              <a:t>does </a:t>
            </a:r>
            <a:r>
              <a:rPr lang="en-US" b="1" dirty="0">
                <a:solidFill>
                  <a:srgbClr val="C00000"/>
                </a:solidFill>
              </a:rPr>
              <a:t>not simply create</a:t>
            </a:r>
            <a:r>
              <a:rPr lang="en-US" dirty="0"/>
              <a:t> a </a:t>
            </a:r>
            <a:r>
              <a:rPr lang="en-US" b="1" dirty="0">
                <a:solidFill>
                  <a:srgbClr val="C00000"/>
                </a:solidFill>
              </a:rPr>
              <a:t>modern equivalent </a:t>
            </a:r>
            <a:r>
              <a:rPr lang="en-US" dirty="0"/>
              <a:t>of an </a:t>
            </a:r>
            <a:r>
              <a:rPr lang="en-US" b="1" dirty="0"/>
              <a:t>older program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Rather</a:t>
            </a:r>
            <a:r>
              <a:rPr lang="en-US" dirty="0"/>
              <a:t>, new </a:t>
            </a:r>
            <a:r>
              <a:rPr lang="en-US" b="1" dirty="0">
                <a:solidFill>
                  <a:srgbClr val="C00000"/>
                </a:solidFill>
              </a:rPr>
              <a:t>user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technology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requirements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integrated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the reengineering effort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redeveloped</a:t>
            </a:r>
            <a:r>
              <a:rPr lang="en-US" dirty="0"/>
              <a:t> program </a:t>
            </a:r>
            <a:r>
              <a:rPr lang="en-US" b="1" dirty="0">
                <a:solidFill>
                  <a:srgbClr val="C00000"/>
                </a:solidFill>
              </a:rPr>
              <a:t>extends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capabilities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older application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4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Configuration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66615" y="797691"/>
            <a:ext cx="74776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The SCM (Software Configuration Management)</a:t>
            </a:r>
            <a:r>
              <a:rPr lang="en-US" sz="2400" dirty="0"/>
              <a:t> is a set of </a:t>
            </a:r>
            <a:r>
              <a:rPr lang="en-US" sz="2400" b="1" dirty="0">
                <a:solidFill>
                  <a:srgbClr val="C00000"/>
                </a:solidFill>
              </a:rPr>
              <a:t>activities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have been developed </a:t>
            </a:r>
            <a:r>
              <a:rPr lang="en-US" sz="2400" b="1" dirty="0">
                <a:solidFill>
                  <a:srgbClr val="C00000"/>
                </a:solidFill>
              </a:rPr>
              <a:t>to manage change </a:t>
            </a:r>
            <a:r>
              <a:rPr lang="en-US" sz="2400" dirty="0"/>
              <a:t>throughout the </a:t>
            </a:r>
            <a:r>
              <a:rPr lang="en-US" sz="2400" b="1" dirty="0">
                <a:solidFill>
                  <a:srgbClr val="C00000"/>
                </a:solidFill>
              </a:rPr>
              <a:t>software life cycle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90500" y="2164977"/>
            <a:ext cx="7453740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Purpose:</a:t>
            </a:r>
          </a:p>
          <a:p>
            <a:pPr algn="just"/>
            <a:r>
              <a:rPr lang="en-US" sz="2100" b="1" dirty="0">
                <a:solidFill>
                  <a:srgbClr val="C00000"/>
                </a:solidFill>
              </a:rPr>
              <a:t>Systematically control changes </a:t>
            </a:r>
            <a:r>
              <a:rPr lang="en-US" sz="2100" dirty="0"/>
              <a:t>to the configuration and </a:t>
            </a:r>
            <a:r>
              <a:rPr lang="en-US" sz="2100" b="1" dirty="0">
                <a:solidFill>
                  <a:srgbClr val="C00000"/>
                </a:solidFill>
              </a:rPr>
              <a:t>maintain</a:t>
            </a:r>
            <a:r>
              <a:rPr lang="en-US" sz="2100" dirty="0"/>
              <a:t> the </a:t>
            </a:r>
            <a:r>
              <a:rPr lang="en-US" sz="2100" b="1" dirty="0">
                <a:solidFill>
                  <a:srgbClr val="C00000"/>
                </a:solidFill>
              </a:rPr>
              <a:t>integrity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traceability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of the configuration throughout the system’s life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" y="3751730"/>
            <a:ext cx="32042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Four primary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806" y="4226476"/>
            <a:ext cx="7404434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dirty="0"/>
              <a:t>To </a:t>
            </a:r>
            <a:r>
              <a:rPr lang="en-US" sz="2100" b="1" dirty="0">
                <a:solidFill>
                  <a:srgbClr val="C00000"/>
                </a:solidFill>
              </a:rPr>
              <a:t>identify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all </a:t>
            </a:r>
            <a:r>
              <a:rPr lang="en-US" sz="2100" b="1" dirty="0">
                <a:solidFill>
                  <a:srgbClr val="C00000"/>
                </a:solidFill>
              </a:rPr>
              <a:t>items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that collectively </a:t>
            </a:r>
            <a:r>
              <a:rPr lang="en-US" sz="2100" b="1" dirty="0">
                <a:solidFill>
                  <a:srgbClr val="C00000"/>
                </a:solidFill>
              </a:rPr>
              <a:t>define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software configuration</a:t>
            </a:r>
            <a:endParaRPr lang="en-US" sz="21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dirty="0"/>
              <a:t>To </a:t>
            </a:r>
            <a:r>
              <a:rPr lang="en-US" sz="2100" b="1" dirty="0">
                <a:solidFill>
                  <a:srgbClr val="C00000"/>
                </a:solidFill>
              </a:rPr>
              <a:t>manage changes </a:t>
            </a:r>
            <a:r>
              <a:rPr lang="en-US" sz="2100" dirty="0"/>
              <a:t>to one or more of these items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dirty="0"/>
              <a:t>To facilitate the </a:t>
            </a:r>
            <a:r>
              <a:rPr lang="en-US" sz="2100" b="1" dirty="0">
                <a:solidFill>
                  <a:srgbClr val="C00000"/>
                </a:solidFill>
              </a:rPr>
              <a:t>construction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of different </a:t>
            </a:r>
            <a:r>
              <a:rPr lang="en-US" sz="2100" b="1" dirty="0">
                <a:solidFill>
                  <a:srgbClr val="C00000"/>
                </a:solidFill>
              </a:rPr>
              <a:t>versions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of an application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dirty="0"/>
              <a:t>To </a:t>
            </a:r>
            <a:r>
              <a:rPr lang="en-US" sz="2100" b="1" dirty="0">
                <a:solidFill>
                  <a:srgbClr val="C00000"/>
                </a:solidFill>
              </a:rPr>
              <a:t>ensure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that software </a:t>
            </a:r>
            <a:r>
              <a:rPr lang="en-US" sz="2100" b="1" dirty="0">
                <a:solidFill>
                  <a:srgbClr val="C00000"/>
                </a:solidFill>
              </a:rPr>
              <a:t>quality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is maintained as the </a:t>
            </a:r>
            <a:r>
              <a:rPr lang="en-US" sz="2100" b="1" dirty="0">
                <a:solidFill>
                  <a:srgbClr val="C00000"/>
                </a:solidFill>
              </a:rPr>
              <a:t>Configuration evolves over time</a:t>
            </a:r>
            <a:endParaRPr lang="en-US" sz="21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9806" y="2050677"/>
            <a:ext cx="73775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7212" y="3653118"/>
            <a:ext cx="72632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971" y="66489"/>
            <a:ext cx="525806" cy="5924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256" y="1282512"/>
            <a:ext cx="4229227" cy="3934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Straight Connector 13"/>
          <p:cNvCxnSpPr/>
          <p:nvPr/>
        </p:nvCxnSpPr>
        <p:spPr>
          <a:xfrm>
            <a:off x="7850634" y="711201"/>
            <a:ext cx="0" cy="588216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864082" y="707883"/>
            <a:ext cx="432791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Layers of SCM Process</a:t>
            </a:r>
          </a:p>
        </p:txBody>
      </p:sp>
    </p:spTree>
    <p:extLst>
      <p:ext uri="{BB962C8B-B14F-4D97-AF65-F5344CB8AC3E}">
        <p14:creationId xmlns:p14="http://schemas.microsoft.com/office/powerpoint/2010/main" val="166417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Configuration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624" y="788548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Identification Task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65718" y="1250213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144624" y="1327560"/>
            <a:ext cx="11768279" cy="2535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Identification separately </a:t>
            </a:r>
            <a:r>
              <a:rPr lang="en-US" b="1" dirty="0">
                <a:solidFill>
                  <a:srgbClr val="C00000"/>
                </a:solidFill>
              </a:rPr>
              <a:t>names each SCI </a:t>
            </a:r>
            <a:r>
              <a:rPr lang="en-US" dirty="0"/>
              <a:t>and then organizes it in the </a:t>
            </a:r>
            <a:r>
              <a:rPr lang="en-US" b="1" dirty="0">
                <a:solidFill>
                  <a:srgbClr val="C00000"/>
                </a:solidFill>
              </a:rPr>
              <a:t>SCM repository</a:t>
            </a:r>
            <a:r>
              <a:rPr lang="en-US" dirty="0"/>
              <a:t> using an object-oriented approach.</a:t>
            </a:r>
          </a:p>
          <a:p>
            <a:r>
              <a:rPr lang="en-US" dirty="0"/>
              <a:t>Each object has a set of distinct features that identify it.</a:t>
            </a:r>
          </a:p>
          <a:p>
            <a:pPr lvl="1"/>
            <a:r>
              <a:rPr lang="en-US" dirty="0"/>
              <a:t>A name that is </a:t>
            </a:r>
            <a:r>
              <a:rPr lang="en-US" b="1" dirty="0">
                <a:solidFill>
                  <a:srgbClr val="C00000"/>
                </a:solidFill>
              </a:rPr>
              <a:t>unambiguous</a:t>
            </a:r>
            <a:r>
              <a:rPr lang="en-US" dirty="0"/>
              <a:t> to all other objects</a:t>
            </a:r>
          </a:p>
          <a:p>
            <a:pPr lvl="1"/>
            <a:r>
              <a:rPr lang="en-US" dirty="0"/>
              <a:t>A description that contains the </a:t>
            </a:r>
            <a:r>
              <a:rPr lang="en-US" b="1" dirty="0">
                <a:solidFill>
                  <a:srgbClr val="C00000"/>
                </a:solidFill>
              </a:rPr>
              <a:t>SCI type, a project identifier, and change and/or version information</a:t>
            </a:r>
          </a:p>
          <a:p>
            <a:pPr lvl="1"/>
            <a:r>
              <a:rPr lang="en-US" dirty="0"/>
              <a:t>List of resources needed by the object</a:t>
            </a:r>
          </a:p>
          <a:p>
            <a:pPr lvl="1"/>
            <a:r>
              <a:rPr lang="en-US" dirty="0"/>
              <a:t>The object realization (i.e., the document, the file, the model, etc.)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624" y="3903791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Change Control</a:t>
            </a:r>
            <a:endParaRPr lang="en-US" sz="24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965718" y="4365456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>
          <a:xfrm>
            <a:off x="144624" y="4415682"/>
            <a:ext cx="11768279" cy="2346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Change control </a:t>
            </a:r>
            <a:r>
              <a:rPr lang="en-US" dirty="0"/>
              <a:t>is a procedural </a:t>
            </a:r>
            <a:r>
              <a:rPr lang="en-US" b="1" dirty="0">
                <a:solidFill>
                  <a:srgbClr val="C00000"/>
                </a:solidFill>
              </a:rPr>
              <a:t>activity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</a:t>
            </a:r>
            <a:r>
              <a:rPr lang="en-US" b="1" dirty="0">
                <a:solidFill>
                  <a:srgbClr val="C00000"/>
                </a:solidFill>
              </a:rPr>
              <a:t>ensures quality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consistency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changes are made to a configuration object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change request </a:t>
            </a:r>
            <a:r>
              <a:rPr lang="en-US" dirty="0"/>
              <a:t>is submitted to a configuration control authority, which is usually a change control board (</a:t>
            </a:r>
            <a:r>
              <a:rPr lang="en-US" b="1" dirty="0">
                <a:solidFill>
                  <a:srgbClr val="C00000"/>
                </a:solidFill>
              </a:rPr>
              <a:t>CCB</a:t>
            </a:r>
            <a:r>
              <a:rPr lang="en-US" dirty="0"/>
              <a:t>).</a:t>
            </a:r>
          </a:p>
          <a:p>
            <a:r>
              <a:rPr lang="en-US" dirty="0"/>
              <a:t>An engineering change order (ECO) is issued for each approved change request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42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4" grpId="0" animBg="1"/>
      <p:bldP spid="1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Configuration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624" y="788548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Version Control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65718" y="1250213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144624" y="1327560"/>
            <a:ext cx="7789141" cy="2535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Version control is a </a:t>
            </a:r>
            <a:r>
              <a:rPr lang="en-US" b="1" dirty="0">
                <a:solidFill>
                  <a:srgbClr val="C00000"/>
                </a:solidFill>
              </a:rPr>
              <a:t>set of procedures and tools </a:t>
            </a:r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managing the creation </a:t>
            </a:r>
            <a:r>
              <a:rPr lang="en-US" dirty="0"/>
              <a:t>and use of multiple occurrences of objects in the </a:t>
            </a:r>
            <a:r>
              <a:rPr lang="en-US" b="1" dirty="0">
                <a:solidFill>
                  <a:srgbClr val="C00000"/>
                </a:solidFill>
              </a:rPr>
              <a:t>SCM repository</a:t>
            </a:r>
          </a:p>
          <a:p>
            <a:r>
              <a:rPr lang="en-US" dirty="0"/>
              <a:t>Version control </a:t>
            </a:r>
            <a:r>
              <a:rPr lang="en-US" b="1" dirty="0">
                <a:solidFill>
                  <a:srgbClr val="C00000"/>
                </a:solidFill>
              </a:rPr>
              <a:t>enables developers to collaborate</a:t>
            </a:r>
            <a:r>
              <a:rPr lang="en-US" dirty="0"/>
              <a:t> effectively, </a:t>
            </a:r>
            <a:r>
              <a:rPr lang="en-US" b="1" dirty="0"/>
              <a:t>track changes</a:t>
            </a:r>
            <a:r>
              <a:rPr lang="en-US" dirty="0"/>
              <a:t>, </a:t>
            </a:r>
            <a:r>
              <a:rPr lang="en-US" b="1" dirty="0"/>
              <a:t>revert to previous versions </a:t>
            </a:r>
            <a:r>
              <a:rPr lang="en-US" dirty="0"/>
              <a:t>if necessary, and </a:t>
            </a:r>
            <a:r>
              <a:rPr lang="en-US" b="1" dirty="0">
                <a:solidFill>
                  <a:srgbClr val="C00000"/>
                </a:solidFill>
              </a:rPr>
              <a:t>manage concurrent development branches</a:t>
            </a:r>
            <a:r>
              <a:rPr lang="en-US"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624" y="3841036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Configuration Audit</a:t>
            </a:r>
            <a:endParaRPr lang="en-US" sz="24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965718" y="4311666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>
          <a:xfrm>
            <a:off x="144624" y="4379823"/>
            <a:ext cx="11768279" cy="1884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Configuration auditing </a:t>
            </a:r>
            <a:r>
              <a:rPr lang="en-US" dirty="0"/>
              <a:t>is an </a:t>
            </a:r>
            <a:r>
              <a:rPr lang="en-US" b="1" dirty="0">
                <a:solidFill>
                  <a:srgbClr val="C00000"/>
                </a:solidFill>
              </a:rPr>
              <a:t>SQA activity </a:t>
            </a:r>
            <a:r>
              <a:rPr lang="en-US" dirty="0"/>
              <a:t>that </a:t>
            </a:r>
            <a:r>
              <a:rPr lang="en-US" b="1" dirty="0">
                <a:solidFill>
                  <a:srgbClr val="C00000"/>
                </a:solidFill>
              </a:rPr>
              <a:t>helps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ensure that </a:t>
            </a:r>
            <a:r>
              <a:rPr lang="en-US" b="1" dirty="0">
                <a:solidFill>
                  <a:srgbClr val="C00000"/>
                </a:solidFill>
              </a:rPr>
              <a:t>quality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maintained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</a:t>
            </a:r>
            <a:r>
              <a:rPr lang="en-US" b="1" dirty="0">
                <a:solidFill>
                  <a:srgbClr val="C00000"/>
                </a:solidFill>
              </a:rPr>
              <a:t>changes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made.</a:t>
            </a:r>
          </a:p>
          <a:p>
            <a:r>
              <a:rPr lang="en-US" dirty="0"/>
              <a:t>It complements the </a:t>
            </a:r>
            <a:r>
              <a:rPr lang="en-US" b="1" dirty="0">
                <a:solidFill>
                  <a:srgbClr val="C00000"/>
                </a:solidFill>
              </a:rPr>
              <a:t>formal technical review </a:t>
            </a:r>
            <a:r>
              <a:rPr lang="en-US" dirty="0"/>
              <a:t>and is </a:t>
            </a:r>
            <a:r>
              <a:rPr lang="en-US" b="1" dirty="0">
                <a:solidFill>
                  <a:srgbClr val="C00000"/>
                </a:solidFill>
              </a:rPr>
              <a:t>conducted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the </a:t>
            </a:r>
            <a:r>
              <a:rPr lang="en-US" b="1" dirty="0">
                <a:solidFill>
                  <a:srgbClr val="C00000"/>
                </a:solidFill>
              </a:rPr>
              <a:t>SQA group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910614-AEBF-FE29-A9E8-9518FC471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981" y="3165150"/>
            <a:ext cx="1190037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FBD05E-EE02-9EFA-50A2-92D823103B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1" b="15122"/>
          <a:stretch/>
        </p:blipFill>
        <p:spPr>
          <a:xfrm>
            <a:off x="10057599" y="1511183"/>
            <a:ext cx="1855304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3D3130-D96D-7A42-C094-4E0738AF74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182" y="1644201"/>
            <a:ext cx="1905000" cy="7954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3FC50C-2C15-26CD-E491-BB1B4DD697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87" y="3225565"/>
            <a:ext cx="2130916" cy="74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0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Configuration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624" y="788548"/>
            <a:ext cx="31120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Status Reporting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65718" y="1250213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144624" y="1327560"/>
            <a:ext cx="11641067" cy="2535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Configuration status reporting (CSR)</a:t>
            </a:r>
            <a:r>
              <a:rPr lang="en-US" dirty="0"/>
              <a:t> is also called </a:t>
            </a:r>
            <a:r>
              <a:rPr lang="en-US" b="1" dirty="0"/>
              <a:t>status accounting</a:t>
            </a:r>
            <a:endParaRPr lang="en-US" dirty="0"/>
          </a:p>
          <a:p>
            <a:r>
              <a:rPr lang="en-US" dirty="0"/>
              <a:t>Provides </a:t>
            </a:r>
            <a:r>
              <a:rPr lang="en-US" b="1" dirty="0">
                <a:solidFill>
                  <a:srgbClr val="C00000"/>
                </a:solidFill>
              </a:rPr>
              <a:t>information about</a:t>
            </a:r>
            <a:r>
              <a:rPr lang="en-US" dirty="0"/>
              <a:t> each </a:t>
            </a:r>
            <a:r>
              <a:rPr lang="en-US" b="1" dirty="0">
                <a:solidFill>
                  <a:srgbClr val="C00000"/>
                </a:solidFill>
              </a:rPr>
              <a:t>change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those </a:t>
            </a:r>
            <a:r>
              <a:rPr lang="en-US" b="1" dirty="0">
                <a:solidFill>
                  <a:srgbClr val="C00000"/>
                </a:solidFill>
              </a:rPr>
              <a:t>personnel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an </a:t>
            </a:r>
            <a:r>
              <a:rPr lang="en-US" b="1" dirty="0">
                <a:solidFill>
                  <a:srgbClr val="C00000"/>
                </a:solidFill>
              </a:rPr>
              <a:t>organization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a </a:t>
            </a:r>
            <a:r>
              <a:rPr lang="en-US" b="1" dirty="0">
                <a:solidFill>
                  <a:srgbClr val="C00000"/>
                </a:solidFill>
              </a:rPr>
              <a:t>need to know</a:t>
            </a:r>
          </a:p>
          <a:p>
            <a:r>
              <a:rPr lang="en-US" b="1" dirty="0">
                <a:solidFill>
                  <a:srgbClr val="C00000"/>
                </a:solidFill>
              </a:rPr>
              <a:t>Answers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/>
              <a:t>what happened,</a:t>
            </a:r>
            <a:r>
              <a:rPr lang="en-US" dirty="0"/>
              <a:t> </a:t>
            </a:r>
            <a:r>
              <a:rPr lang="en-US" b="1" dirty="0"/>
              <a:t>who did it</a:t>
            </a:r>
            <a:r>
              <a:rPr lang="en-US" dirty="0"/>
              <a:t>, </a:t>
            </a:r>
            <a:r>
              <a:rPr lang="en-US" b="1" dirty="0"/>
              <a:t>when did it</a:t>
            </a:r>
            <a:r>
              <a:rPr lang="en-US" dirty="0"/>
              <a:t> happen and </a:t>
            </a:r>
            <a:r>
              <a:rPr lang="en-US" b="1" dirty="0"/>
              <a:t>what else will be affected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931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</a:t>
            </a:r>
          </a:p>
          <a:p>
            <a:r>
              <a:rPr lang="en-US" dirty="0"/>
              <a:t>(#2301CS405)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rajkumar.gondaliya@darshan.ac.in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+91-9723232741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Rajkumar Gondaliya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556918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1826</TotalTime>
  <Words>7890</Words>
  <Application>Microsoft Office PowerPoint</Application>
  <PresentationFormat>Widescreen</PresentationFormat>
  <Paragraphs>901</Paragraphs>
  <Slides>68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9" baseType="lpstr">
      <vt:lpstr>Courier New</vt:lpstr>
      <vt:lpstr>Roboto Condensed</vt:lpstr>
      <vt:lpstr>Roboto Condensed Light</vt:lpstr>
      <vt:lpstr>Cambria Math</vt:lpstr>
      <vt:lpstr>Wingdings</vt:lpstr>
      <vt:lpstr>Wingdings 2</vt:lpstr>
      <vt:lpstr>Arial</vt:lpstr>
      <vt:lpstr>MS PGothic</vt:lpstr>
      <vt:lpstr>Wingdings 3</vt:lpstr>
      <vt:lpstr>Calibri</vt:lpstr>
      <vt:lpstr>Office Theme</vt:lpstr>
      <vt:lpstr>PowerPoint Presentation</vt:lpstr>
      <vt:lpstr>PowerPoint Presentation</vt:lpstr>
      <vt:lpstr>Software Project Management</vt:lpstr>
      <vt:lpstr>W5HH of Project Management Cont.</vt:lpstr>
      <vt:lpstr>Why Measure Software?</vt:lpstr>
      <vt:lpstr>Process Metrics</vt:lpstr>
      <vt:lpstr>Project Metrics</vt:lpstr>
      <vt:lpstr>Product Metrics</vt:lpstr>
      <vt:lpstr>Types of Measures</vt:lpstr>
      <vt:lpstr>Size-Oriented Metrics</vt:lpstr>
      <vt:lpstr>Function Oriented Metrics</vt:lpstr>
      <vt:lpstr>Object-Oriented Metrics</vt:lpstr>
      <vt:lpstr>Function Point Metrics</vt:lpstr>
      <vt:lpstr>Function Point Components Cont.</vt:lpstr>
      <vt:lpstr>Compute Function Points</vt:lpstr>
      <vt:lpstr>Function Point Calculation Example</vt:lpstr>
      <vt:lpstr>Function Point Calculation Example</vt:lpstr>
      <vt:lpstr>Function Point Calculation Example 2</vt:lpstr>
      <vt:lpstr>Software Project Estimation</vt:lpstr>
      <vt:lpstr>Software Project Decomposing</vt:lpstr>
      <vt:lpstr>Software Sizing</vt:lpstr>
      <vt:lpstr>Problem Based Estimation</vt:lpstr>
      <vt:lpstr>Problem Based Estimation Cont.</vt:lpstr>
      <vt:lpstr>Process Based Estimation</vt:lpstr>
      <vt:lpstr>Estimation with Use Cases</vt:lpstr>
      <vt:lpstr>Estimation with Use Cases</vt:lpstr>
      <vt:lpstr>Estimation with Use Cases</vt:lpstr>
      <vt:lpstr>Estimation with Use Cases</vt:lpstr>
      <vt:lpstr>Estimation with Use Cases</vt:lpstr>
      <vt:lpstr>Empirical Estimation Models</vt:lpstr>
      <vt:lpstr>Software Development Project</vt:lpstr>
      <vt:lpstr>Software Development Project Cont.</vt:lpstr>
      <vt:lpstr>COCOMO Model</vt:lpstr>
      <vt:lpstr>Basic COCOMO Model Cont.</vt:lpstr>
      <vt:lpstr>Basic COCOMO Model Cont.</vt:lpstr>
      <vt:lpstr>Basic COCOMO Model Cont.</vt:lpstr>
      <vt:lpstr>Intermediate COCOMO model</vt:lpstr>
      <vt:lpstr>Intermediate COCOMO model Cont.</vt:lpstr>
      <vt:lpstr>Complete COCOMO model</vt:lpstr>
      <vt:lpstr>Project Scheduling &amp; Tracking</vt:lpstr>
      <vt:lpstr>Scheduling Principles</vt:lpstr>
      <vt:lpstr>Effort Distribution</vt:lpstr>
      <vt:lpstr>Scheduling methods </vt:lpstr>
      <vt:lpstr>Project Schedule Tracking</vt:lpstr>
      <vt:lpstr>Gantt chart Cont.</vt:lpstr>
      <vt:lpstr>Risk analysis &amp; Management</vt:lpstr>
      <vt:lpstr>Risk Categorization: Approach-1</vt:lpstr>
      <vt:lpstr>Risk Categorization: Approach-2</vt:lpstr>
      <vt:lpstr>Steps for Risk Management</vt:lpstr>
      <vt:lpstr>Known and Predictable Risk Categories</vt:lpstr>
      <vt:lpstr>Risk Estimation (Projection)</vt:lpstr>
      <vt:lpstr>RMMM</vt:lpstr>
      <vt:lpstr>Risk Mitigation</vt:lpstr>
      <vt:lpstr>RMMM</vt:lpstr>
      <vt:lpstr>RMMM</vt:lpstr>
      <vt:lpstr>RMMM PLAN</vt:lpstr>
      <vt:lpstr>PowerPoint Presentation</vt:lpstr>
      <vt:lpstr>Types of Software Maintenance</vt:lpstr>
      <vt:lpstr>Types of Software Maintenance Cont.</vt:lpstr>
      <vt:lpstr>Re-Engineering</vt:lpstr>
      <vt:lpstr>Re-Engineering Cont.</vt:lpstr>
      <vt:lpstr>Reverse Engineering</vt:lpstr>
      <vt:lpstr>Forward engineering</vt:lpstr>
      <vt:lpstr>Software Configuration Management</vt:lpstr>
      <vt:lpstr>Software Configuration Management</vt:lpstr>
      <vt:lpstr>Software Configuration Management</vt:lpstr>
      <vt:lpstr>Software Configuration Management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Rajkumar Gondaliya</cp:lastModifiedBy>
  <cp:revision>193</cp:revision>
  <dcterms:created xsi:type="dcterms:W3CDTF">2020-05-01T05:09:15Z</dcterms:created>
  <dcterms:modified xsi:type="dcterms:W3CDTF">2025-02-13T05:23:07Z</dcterms:modified>
</cp:coreProperties>
</file>