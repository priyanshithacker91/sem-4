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79"/>
  </p:notesMasterIdLst>
  <p:sldIdLst>
    <p:sldId id="395" r:id="rId2"/>
    <p:sldId id="525" r:id="rId3"/>
    <p:sldId id="439" r:id="rId4"/>
    <p:sldId id="415" r:id="rId5"/>
    <p:sldId id="533" r:id="rId6"/>
    <p:sldId id="418" r:id="rId7"/>
    <p:sldId id="528" r:id="rId8"/>
    <p:sldId id="419" r:id="rId9"/>
    <p:sldId id="420" r:id="rId10"/>
    <p:sldId id="421" r:id="rId11"/>
    <p:sldId id="422" r:id="rId12"/>
    <p:sldId id="535" r:id="rId13"/>
    <p:sldId id="424" r:id="rId14"/>
    <p:sldId id="425" r:id="rId15"/>
    <p:sldId id="426" r:id="rId16"/>
    <p:sldId id="427" r:id="rId17"/>
    <p:sldId id="428" r:id="rId18"/>
    <p:sldId id="436" r:id="rId19"/>
    <p:sldId id="432" r:id="rId20"/>
    <p:sldId id="433" r:id="rId21"/>
    <p:sldId id="434" r:id="rId22"/>
    <p:sldId id="435" r:id="rId23"/>
    <p:sldId id="526" r:id="rId24"/>
    <p:sldId id="486" r:id="rId25"/>
    <p:sldId id="487" r:id="rId26"/>
    <p:sldId id="494" r:id="rId27"/>
    <p:sldId id="529" r:id="rId28"/>
    <p:sldId id="488" r:id="rId29"/>
    <p:sldId id="489" r:id="rId30"/>
    <p:sldId id="524" r:id="rId31"/>
    <p:sldId id="538" r:id="rId32"/>
    <p:sldId id="537" r:id="rId33"/>
    <p:sldId id="539" r:id="rId34"/>
    <p:sldId id="540" r:id="rId35"/>
    <p:sldId id="541" r:id="rId36"/>
    <p:sldId id="542" r:id="rId37"/>
    <p:sldId id="543" r:id="rId38"/>
    <p:sldId id="544" r:id="rId39"/>
    <p:sldId id="490" r:id="rId40"/>
    <p:sldId id="491" r:id="rId41"/>
    <p:sldId id="493" r:id="rId42"/>
    <p:sldId id="496" r:id="rId43"/>
    <p:sldId id="498" r:id="rId44"/>
    <p:sldId id="500" r:id="rId45"/>
    <p:sldId id="501" r:id="rId46"/>
    <p:sldId id="531" r:id="rId47"/>
    <p:sldId id="502" r:id="rId48"/>
    <p:sldId id="532" r:id="rId49"/>
    <p:sldId id="503" r:id="rId50"/>
    <p:sldId id="504" r:id="rId51"/>
    <p:sldId id="505" r:id="rId52"/>
    <p:sldId id="530" r:id="rId53"/>
    <p:sldId id="506" r:id="rId54"/>
    <p:sldId id="507" r:id="rId55"/>
    <p:sldId id="508" r:id="rId56"/>
    <p:sldId id="509" r:id="rId57"/>
    <p:sldId id="510" r:id="rId58"/>
    <p:sldId id="511" r:id="rId59"/>
    <p:sldId id="512" r:id="rId60"/>
    <p:sldId id="546" r:id="rId61"/>
    <p:sldId id="513" r:id="rId62"/>
    <p:sldId id="514" r:id="rId63"/>
    <p:sldId id="515" r:id="rId64"/>
    <p:sldId id="516" r:id="rId65"/>
    <p:sldId id="517" r:id="rId66"/>
    <p:sldId id="547" r:id="rId67"/>
    <p:sldId id="548" r:id="rId68"/>
    <p:sldId id="549" r:id="rId69"/>
    <p:sldId id="552" r:id="rId70"/>
    <p:sldId id="550" r:id="rId71"/>
    <p:sldId id="521" r:id="rId72"/>
    <p:sldId id="522" r:id="rId73"/>
    <p:sldId id="523" r:id="rId74"/>
    <p:sldId id="482" r:id="rId75"/>
    <p:sldId id="553" r:id="rId76"/>
    <p:sldId id="554" r:id="rId77"/>
    <p:sldId id="480" r:id="rId78"/>
  </p:sldIdLst>
  <p:sldSz cx="12192000" cy="6858000"/>
  <p:notesSz cx="6858000" cy="9144000"/>
  <p:embeddedFontLst>
    <p:embeddedFont>
      <p:font typeface="Roboto Condensed" panose="02000000000000000000" pitchFamily="2" charset="0"/>
      <p:regular r:id="rId80"/>
      <p:bold r:id="rId81"/>
      <p:italic r:id="rId82"/>
      <p:boldItalic r:id="rId83"/>
    </p:embeddedFont>
    <p:embeddedFont>
      <p:font typeface="Roboto Condensed Light" panose="02000000000000000000" pitchFamily="2" charset="0"/>
      <p:regular r:id="rId84"/>
      <p:italic r:id="rId85"/>
    </p:embeddedFont>
    <p:embeddedFont>
      <p:font typeface="Wingdings 2" panose="05020102010507070707" pitchFamily="18" charset="2"/>
      <p:regular r:id="rId86"/>
    </p:embeddedFont>
    <p:embeddedFont>
      <p:font typeface="Wingdings 3" panose="05040102010807070707" pitchFamily="18" charset="2"/>
      <p:regular r:id="rId8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SzSFBhC1pztsyr3XwqzNVg==" hashData="zGROpx2Tw1xC8JLSWaaFHI1SSuwj89yxplgt8pbRxy3lUJ6WpPrmFU8H7elFcv1Ty4KClPedUFY6iMC3MCpT3g=="/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10233"/>
    <a:srgbClr val="301B92"/>
    <a:srgbClr val="673BB7"/>
    <a:srgbClr val="607D8B"/>
    <a:srgbClr val="ED524F"/>
    <a:srgbClr val="B71B1C"/>
    <a:srgbClr val="F54337"/>
    <a:srgbClr val="D81A60"/>
    <a:srgbClr val="890E4F"/>
    <a:srgbClr val="EA1E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04" autoAdjust="0"/>
    <p:restoredTop sz="94660"/>
  </p:normalViewPr>
  <p:slideViewPr>
    <p:cSldViewPr snapToGrid="0">
      <p:cViewPr varScale="1">
        <p:scale>
          <a:sx n="85" d="100"/>
          <a:sy n="85" d="100"/>
        </p:scale>
        <p:origin x="58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154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font" Target="fonts/font5.fntdata"/><Relationship Id="rId89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90" Type="http://schemas.openxmlformats.org/officeDocument/2006/relationships/theme" Target="theme/theme1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font" Target="fonts/font1.fntdata"/><Relationship Id="rId85" Type="http://schemas.openxmlformats.org/officeDocument/2006/relationships/font" Target="fonts/font6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font" Target="fonts/font4.fntdata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font" Target="fonts/font2.fntdata"/><Relationship Id="rId86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font" Target="fonts/font8.fntdata"/><Relationship Id="rId61" Type="http://schemas.openxmlformats.org/officeDocument/2006/relationships/slide" Target="slides/slide60.xml"/><Relationship Id="rId82" Type="http://schemas.openxmlformats.org/officeDocument/2006/relationships/font" Target="fonts/font3.fntdata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jpe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png"/><Relationship Id="rId4" Type="http://schemas.microsoft.com/office/2007/relationships/hdphoto" Target="../media/hdphoto2.wdp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3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4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5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6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7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8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9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openxmlformats.org/officeDocument/2006/relationships/image" Target="../media/image8.jpeg"/></Relationships>
</file>

<file path=ppt/slideLayouts/_rels/slideLayout2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microsoft.com/office/2007/relationships/hdphoto" Target="../media/hdphoto3.wdp"/><Relationship Id="rId10" Type="http://schemas.openxmlformats.org/officeDocument/2006/relationships/image" Target="../media/image9.png"/><Relationship Id="rId4" Type="http://schemas.openxmlformats.org/officeDocument/2006/relationships/image" Target="../media/image13.png"/><Relationship Id="rId9" Type="http://schemas.openxmlformats.org/officeDocument/2006/relationships/image" Target="../media/image8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9A329F3-B4EA-403B-BD1C-FDD65D8E9D3F}"/>
              </a:ext>
            </a:extLst>
          </p:cNvPr>
          <p:cNvGrpSpPr/>
          <p:nvPr userDrawn="1"/>
        </p:nvGrpSpPr>
        <p:grpSpPr>
          <a:xfrm>
            <a:off x="10721798" y="852808"/>
            <a:ext cx="1339023" cy="407045"/>
            <a:chOff x="10721798" y="852808"/>
            <a:chExt cx="1339023" cy="407045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0325C5E-F004-43A9-9277-53A0BD206A7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B63808E-204C-4894-A747-B51DDC7425C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R. B. Gondaliya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2301CS405 (SE)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3– Software Analysis and Design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721797" y="6047527"/>
            <a:ext cx="1339023" cy="407045"/>
            <a:chOff x="10721798" y="852808"/>
            <a:chExt cx="1339023" cy="407045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R. B. Gondaliya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2301CS405 (SE)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3– Software Analysis and Design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AE04132C-088A-4457-A3C3-1DC6427585FC}"/>
              </a:ext>
            </a:extLst>
          </p:cNvPr>
          <p:cNvGrpSpPr/>
          <p:nvPr userDrawn="1"/>
        </p:nvGrpSpPr>
        <p:grpSpPr>
          <a:xfrm>
            <a:off x="131179" y="6047527"/>
            <a:ext cx="1339023" cy="407045"/>
            <a:chOff x="10721798" y="852808"/>
            <a:chExt cx="1339023" cy="407045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49C31A0-0173-45C3-B715-F73A797EA6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6EB3A16-1B2C-44F3-A559-3929B9A2E162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R. B. Gondaliya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2301CS405 (SE)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3– Software Analysis and Design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04132C-088A-4457-A3C3-1DC6427585FC}"/>
              </a:ext>
            </a:extLst>
          </p:cNvPr>
          <p:cNvGrpSpPr/>
          <p:nvPr userDrawn="1"/>
        </p:nvGrpSpPr>
        <p:grpSpPr>
          <a:xfrm>
            <a:off x="10677938" y="6350844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B49C31A0-0173-45C3-B715-F73A797EA6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6EB3A16-1B2C-44F3-A559-3929B9A2E162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R. B. Gondaliya</a:t>
            </a: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2301CS405 (SE)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3– Software Analysis and Design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4000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AA5C57A-F840-488A-AACF-E658D398FCEC}"/>
              </a:ext>
            </a:extLst>
          </p:cNvPr>
          <p:cNvGrpSpPr/>
          <p:nvPr userDrawn="1"/>
        </p:nvGrpSpPr>
        <p:grpSpPr>
          <a:xfrm>
            <a:off x="10304203" y="212531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B8F12B0-F30C-4955-8E3F-625C9D2A74C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508BA0B-FE99-4953-98B0-D2708C070068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R. B. Gondaliya</a:t>
            </a: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2301CS405 (SE)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3– Software Analysis and Design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57991" y="5976558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R. B. Gondaliya</a:t>
            </a: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2301CS405 (SE)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3– Software Analysis and Design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759F472-1FD0-4F1C-9A8D-BB1BC2650E4B}"/>
              </a:ext>
            </a:extLst>
          </p:cNvPr>
          <p:cNvGrpSpPr/>
          <p:nvPr userDrawn="1"/>
        </p:nvGrpSpPr>
        <p:grpSpPr>
          <a:xfrm>
            <a:off x="77648" y="6030563"/>
            <a:ext cx="1649043" cy="501287"/>
            <a:chOff x="10721798" y="852808"/>
            <a:chExt cx="1339023" cy="407045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AE28ADB9-71A2-4BA8-A110-0B47E20B6BA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D19CEDE-31B1-4998-902D-244C358C541E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65C24A8B-C009-4A74-9481-67BB67CA49B0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8808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DCFBA18-DBB7-4232-9BDC-C0D95AE93AF0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5704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E75AD4F-9BB9-4005-AB78-4A6D388A4CD6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0339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4964C355-848F-46E4-BB2A-EA2EE69FEBA2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8597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036D56FE-CA91-4481-9096-27448303AC20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6259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A561853C-B15A-4153-A982-7E7EB1213BCE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8816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976521A-C815-4A64-A047-CE405ED0E59A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5262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631765DD-2E04-4EE4-AFB7-43E328823E61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2809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1018DFAF-9B15-4199-9C36-C730A2CE6C5E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44A518A-BE68-4048-BDCB-77578CB57230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1319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C248CBD5-99BA-4017-857A-5ED400F43651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5025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sp>
        <p:nvSpPr>
          <p:cNvPr id="41" name="Hexagon 40"/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accent6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TextBox 41"/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/>
              <a:t>Thank</a:t>
            </a:r>
          </a:p>
          <a:p>
            <a:pPr algn="ctr"/>
            <a:r>
              <a:rPr lang="en-US" sz="6000" b="1" i="1" dirty="0"/>
              <a:t>You</a:t>
            </a:r>
          </a:p>
        </p:txBody>
      </p:sp>
      <p:sp>
        <p:nvSpPr>
          <p:cNvPr id="43" name="Rectangle 42"/>
          <p:cNvSpPr/>
          <p:nvPr userDrawn="1"/>
        </p:nvSpPr>
        <p:spPr>
          <a:xfrm>
            <a:off x="7678346" y="2221532"/>
            <a:ext cx="4513654" cy="195169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Darshan</a:t>
            </a:r>
            <a:r>
              <a:rPr lang="en-US" sz="1600" dirty="0"/>
              <a:t> University, Rajkot</a:t>
            </a:r>
          </a:p>
        </p:txBody>
      </p:sp>
      <p:sp>
        <p:nvSpPr>
          <p:cNvPr id="47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Picture 48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7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59" name="Picture 58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8262" y="307556"/>
            <a:ext cx="2704049" cy="821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7664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0" r:id="rId2"/>
    <p:sldLayoutId id="2147483687" r:id="rId3"/>
    <p:sldLayoutId id="2147483688" r:id="rId4"/>
    <p:sldLayoutId id="2147483671" r:id="rId5"/>
    <p:sldLayoutId id="2147483672" r:id="rId6"/>
    <p:sldLayoutId id="2147483689" r:id="rId7"/>
    <p:sldLayoutId id="2147483690" r:id="rId8"/>
    <p:sldLayoutId id="2147483673" r:id="rId9"/>
    <p:sldLayoutId id="2147483691" r:id="rId10"/>
    <p:sldLayoutId id="2147483674" r:id="rId11"/>
    <p:sldLayoutId id="2147483676" r:id="rId12"/>
    <p:sldLayoutId id="2147483677" r:id="rId13"/>
    <p:sldLayoutId id="2147483678" r:id="rId14"/>
    <p:sldLayoutId id="2147483679" r:id="rId15"/>
    <p:sldLayoutId id="2147483681" r:id="rId16"/>
    <p:sldLayoutId id="2147483683" r:id="rId17"/>
    <p:sldLayoutId id="2147483682" r:id="rId18"/>
    <p:sldLayoutId id="2147483684" r:id="rId19"/>
    <p:sldLayoutId id="2147483685" r:id="rId20"/>
    <p:sldLayoutId id="2147483686" r:id="rId21"/>
    <p:sldLayoutId id="2147483692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Relationship Id="rId4" Type="http://schemas.microsoft.com/office/2007/relationships/hdphoto" Target="../media/hdphoto4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microsoft.com/office/2007/relationships/hdphoto" Target="../media/hdphoto5.wdp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4.png"/><Relationship Id="rId5" Type="http://schemas.openxmlformats.org/officeDocument/2006/relationships/image" Target="../media/image42.png"/><Relationship Id="rId4" Type="http://schemas.openxmlformats.org/officeDocument/2006/relationships/image" Target="../media/image40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gi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6.jp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jp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2.png"/><Relationship Id="rId5" Type="http://schemas.openxmlformats.org/officeDocument/2006/relationships/image" Target="../media/image81.jpg"/><Relationship Id="rId4" Type="http://schemas.openxmlformats.org/officeDocument/2006/relationships/image" Target="../media/image80.jpeg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jpg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7" Type="http://schemas.openxmlformats.org/officeDocument/2006/relationships/image" Target="../media/image90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D5B2E74-80A6-4F07-A7FA-978E4D2F1B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Rajkumar.gondaliya@darshan.ac.in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6A0C49B-F435-476C-B3F1-40C1A36200F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+ 91-9723232741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F0FE21D-9899-4D11-98BF-91E8BA562FC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Computer Engineering Department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B6ABA64-C63D-491F-9124-201012CF881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Prof. R. B. Gondaliya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919B75D-4B6D-4192-B4EB-B4E8000BD9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Software Engineering </a:t>
            </a:r>
          </a:p>
          <a:p>
            <a:r>
              <a:rPr lang="en-US" dirty="0"/>
              <a:t>(#2301CS405)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E0A5353-D4D5-43D7-A039-6CFC6871D64F}"/>
              </a:ext>
            </a:extLst>
          </p:cNvPr>
          <p:cNvSpPr txBox="1">
            <a:spLocks/>
          </p:cNvSpPr>
          <p:nvPr/>
        </p:nvSpPr>
        <p:spPr>
          <a:xfrm>
            <a:off x="697891" y="1467871"/>
            <a:ext cx="7860610" cy="257878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sz="48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Unit-3</a:t>
            </a:r>
            <a:br>
              <a:rPr lang="en-US" dirty="0"/>
            </a:br>
            <a:r>
              <a:rPr lang="en-US" sz="5400" dirty="0"/>
              <a:t>Software Analysis</a:t>
            </a:r>
            <a:r>
              <a:rPr lang="en-US" sz="48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</a:p>
          <a:p>
            <a:r>
              <a:rPr lang="en-US" sz="5400" dirty="0"/>
              <a:t>&amp; Design</a:t>
            </a:r>
          </a:p>
        </p:txBody>
      </p:sp>
      <p:pic>
        <p:nvPicPr>
          <p:cNvPr id="4" name="Picture Placeholder 3"/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57D0BDA-834A-EC6E-5796-9ED0C104A6C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55" t="5555" r="7711" b="7407"/>
          <a:stretch/>
        </p:blipFill>
        <p:spPr>
          <a:xfrm>
            <a:off x="9645132" y="3256205"/>
            <a:ext cx="2368632" cy="247390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75E6171-0989-294D-54DB-6128167C26B7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1032" y="1573956"/>
            <a:ext cx="2696798" cy="1643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7284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D3AC1-6253-E31B-25AC-C4F0BBA14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Software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6A6093-6367-7BCD-1F33-0A4C212261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Section 1</a:t>
            </a:r>
          </a:p>
        </p:txBody>
      </p:sp>
    </p:spTree>
    <p:extLst>
      <p:ext uri="{BB962C8B-B14F-4D97-AF65-F5344CB8AC3E}">
        <p14:creationId xmlns:p14="http://schemas.microsoft.com/office/powerpoint/2010/main" val="3266086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925EF2-D58F-4AC0-ACED-F747CC08D69F}"/>
              </a:ext>
            </a:extLst>
          </p:cNvPr>
          <p:cNvCxnSpPr>
            <a:cxnSpLocks/>
          </p:cNvCxnSpPr>
          <p:nvPr/>
        </p:nvCxnSpPr>
        <p:spPr>
          <a:xfrm>
            <a:off x="1191446" y="6092331"/>
            <a:ext cx="0" cy="179438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246540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58962" y="731706"/>
            <a:ext cx="971855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Outline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Requirement Engineering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Software Requirements Specification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Eliciting Requirements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Developing Use case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Requirement Modeling</a:t>
            </a:r>
          </a:p>
        </p:txBody>
      </p:sp>
    </p:spTree>
    <p:extLst>
      <p:ext uri="{BB962C8B-B14F-4D97-AF65-F5344CB8AC3E}">
        <p14:creationId xmlns:p14="http://schemas.microsoft.com/office/powerpoint/2010/main" val="2207485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 analysis is hard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494" y="3620153"/>
            <a:ext cx="1231020" cy="153877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Rectangle 4"/>
          <p:cNvSpPr/>
          <p:nvPr/>
        </p:nvSpPr>
        <p:spPr>
          <a:xfrm>
            <a:off x="338821" y="5158929"/>
            <a:ext cx="351472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600" b="1" dirty="0"/>
              <a:t>"Fred" Brooks Jr. </a:t>
            </a:r>
            <a:r>
              <a:rPr lang="en-US" sz="1600" dirty="0"/>
              <a:t>is an American computer architect, software engineer, and computer scientist, best known for managing the development of IBM's System/360 family of computers</a:t>
            </a:r>
          </a:p>
        </p:txBody>
      </p:sp>
      <p:sp>
        <p:nvSpPr>
          <p:cNvPr id="6" name="Rounded Rectangular Callout 5"/>
          <p:cNvSpPr/>
          <p:nvPr/>
        </p:nvSpPr>
        <p:spPr>
          <a:xfrm>
            <a:off x="248192" y="861197"/>
            <a:ext cx="3605349" cy="2779525"/>
          </a:xfrm>
          <a:prstGeom prst="wedgeRoundRectCallout">
            <a:avLst>
              <a:gd name="adj1" fmla="val -26138"/>
              <a:gd name="adj2" fmla="val 95925"/>
              <a:gd name="adj3" fmla="val 16667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“The </a:t>
            </a:r>
            <a:r>
              <a:rPr lang="en-US" sz="2400" b="1" dirty="0">
                <a:solidFill>
                  <a:srgbClr val="C00000"/>
                </a:solidFill>
              </a:rPr>
              <a:t>hardest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single </a:t>
            </a:r>
            <a:r>
              <a:rPr lang="en-US" sz="2400" b="1" dirty="0">
                <a:solidFill>
                  <a:srgbClr val="C00000"/>
                </a:solidFill>
              </a:rPr>
              <a:t>part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of building a software system is </a:t>
            </a:r>
            <a:r>
              <a:rPr lang="en-US" sz="2400" b="1" dirty="0">
                <a:solidFill>
                  <a:srgbClr val="C00000"/>
                </a:solidFill>
              </a:rPr>
              <a:t>deciding what to build</a:t>
            </a:r>
            <a:r>
              <a:rPr lang="en-US" sz="2400" dirty="0"/>
              <a:t>. No part of the work so cripples the</a:t>
            </a:r>
          </a:p>
          <a:p>
            <a:pPr algn="ctr"/>
            <a:r>
              <a:rPr lang="en-US" sz="2400" dirty="0"/>
              <a:t>resulting system if done wrong.”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3" y="5158929"/>
            <a:ext cx="291301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/>
              <a:t>Capers Jones </a:t>
            </a:r>
            <a:r>
              <a:rPr lang="en-US" dirty="0"/>
              <a:t>is an American specialist in software engineering methodologies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3849" y="3661291"/>
            <a:ext cx="1371600" cy="13716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Rounded Rectangular Callout 8"/>
          <p:cNvSpPr/>
          <p:nvPr/>
        </p:nvSpPr>
        <p:spPr>
          <a:xfrm>
            <a:off x="4114802" y="861197"/>
            <a:ext cx="3187337" cy="2758956"/>
          </a:xfrm>
          <a:prstGeom prst="wedgeRoundRectCallout">
            <a:avLst>
              <a:gd name="adj1" fmla="val 12747"/>
              <a:gd name="adj2" fmla="val 98286"/>
              <a:gd name="adj3" fmla="val 16667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“The </a:t>
            </a:r>
            <a:r>
              <a:rPr lang="en-US" sz="2400" b="1" dirty="0">
                <a:solidFill>
                  <a:srgbClr val="C00000"/>
                </a:solidFill>
              </a:rPr>
              <a:t>seeds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of major software </a:t>
            </a:r>
            <a:r>
              <a:rPr lang="en-US" sz="2400" b="1" dirty="0">
                <a:solidFill>
                  <a:srgbClr val="C00000"/>
                </a:solidFill>
              </a:rPr>
              <a:t>disasters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are usually </a:t>
            </a:r>
            <a:r>
              <a:rPr lang="en-US" sz="2400" b="1" dirty="0">
                <a:solidFill>
                  <a:srgbClr val="C00000"/>
                </a:solidFill>
              </a:rPr>
              <a:t>sown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in the</a:t>
            </a:r>
          </a:p>
          <a:p>
            <a:pPr algn="ctr"/>
            <a:r>
              <a:rPr lang="en-US" sz="2400" b="1" dirty="0">
                <a:solidFill>
                  <a:srgbClr val="C00000"/>
                </a:solidFill>
              </a:rPr>
              <a:t>first three months</a:t>
            </a:r>
            <a:r>
              <a:rPr lang="en-US" sz="2400" dirty="0"/>
              <a:t> of commencing the software project.”</a:t>
            </a:r>
          </a:p>
        </p:txBody>
      </p:sp>
      <p:sp>
        <p:nvSpPr>
          <p:cNvPr id="10" name="Rounded Rectangular Callout 9"/>
          <p:cNvSpPr/>
          <p:nvPr/>
        </p:nvSpPr>
        <p:spPr>
          <a:xfrm>
            <a:off x="7628708" y="1472858"/>
            <a:ext cx="4284617" cy="1788792"/>
          </a:xfrm>
          <a:prstGeom prst="wedgeRoundRectCallout">
            <a:avLst>
              <a:gd name="adj1" fmla="val 41362"/>
              <a:gd name="adj2" fmla="val -62305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Tasks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and </a:t>
            </a:r>
            <a:r>
              <a:rPr lang="en-US" sz="2400" b="1" dirty="0">
                <a:solidFill>
                  <a:srgbClr val="C00000"/>
                </a:solidFill>
              </a:rPr>
              <a:t>techniques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that lead to an </a:t>
            </a:r>
            <a:r>
              <a:rPr lang="en-US" sz="2400" b="1" dirty="0">
                <a:solidFill>
                  <a:srgbClr val="C00000"/>
                </a:solidFill>
              </a:rPr>
              <a:t>understanding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of </a:t>
            </a:r>
            <a:r>
              <a:rPr lang="en-US" sz="2400" b="1" dirty="0">
                <a:solidFill>
                  <a:srgbClr val="C00000"/>
                </a:solidFill>
              </a:rPr>
              <a:t>requirements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is called </a:t>
            </a:r>
            <a:r>
              <a:rPr lang="en-US" sz="2400" b="1" dirty="0">
                <a:solidFill>
                  <a:srgbClr val="C00000"/>
                </a:solidFill>
              </a:rPr>
              <a:t>requirement engineering</a:t>
            </a:r>
            <a:r>
              <a:rPr lang="en-US" sz="2400" dirty="0"/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64323" y="861197"/>
            <a:ext cx="441338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What is Requirement Engineering?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9953" y="3372457"/>
            <a:ext cx="2350414" cy="239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79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/>
      <p:bldP spid="9" grpId="0" animBg="1"/>
      <p:bldP spid="10" grpId="0" animBg="1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 Engineering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226146" y="1045950"/>
            <a:ext cx="11767127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It </a:t>
            </a:r>
            <a:r>
              <a:rPr lang="en-US" sz="2400" b="1" dirty="0">
                <a:solidFill>
                  <a:schemeClr val="bg1"/>
                </a:solidFill>
              </a:rPr>
              <a:t>provides</a:t>
            </a:r>
            <a:r>
              <a:rPr lang="en-US" sz="2400" dirty="0">
                <a:solidFill>
                  <a:schemeClr val="bg1"/>
                </a:solidFill>
              </a:rPr>
              <a:t> the appropriate </a:t>
            </a:r>
            <a:r>
              <a:rPr lang="en-US" sz="2400" b="1" dirty="0">
                <a:solidFill>
                  <a:schemeClr val="bg1"/>
                </a:solidFill>
              </a:rPr>
              <a:t>mechanism</a:t>
            </a:r>
            <a:r>
              <a:rPr lang="en-US" sz="2400" dirty="0">
                <a:solidFill>
                  <a:schemeClr val="bg1"/>
                </a:solidFill>
              </a:rPr>
              <a:t> for </a:t>
            </a:r>
            <a:r>
              <a:rPr lang="en-US" sz="2400" b="1" dirty="0">
                <a:solidFill>
                  <a:schemeClr val="bg1"/>
                </a:solidFill>
              </a:rPr>
              <a:t>understanding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09518" y="1701217"/>
            <a:ext cx="5067600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What </a:t>
            </a:r>
            <a:r>
              <a:rPr lang="en-US" sz="2400" dirty="0">
                <a:solidFill>
                  <a:srgbClr val="C00000"/>
                </a:solidFill>
              </a:rPr>
              <a:t>customer wants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899117" y="1701217"/>
            <a:ext cx="2164375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dirty="0"/>
              <a:t>Analyzing </a:t>
            </a:r>
            <a:r>
              <a:rPr lang="en-US" sz="2400" dirty="0">
                <a:solidFill>
                  <a:srgbClr val="C00000"/>
                </a:solidFill>
              </a:rPr>
              <a:t>needs</a:t>
            </a:r>
          </a:p>
        </p:txBody>
      </p:sp>
      <p:sp>
        <p:nvSpPr>
          <p:cNvPr id="8" name="Rectangle 7"/>
          <p:cNvSpPr/>
          <p:nvPr/>
        </p:nvSpPr>
        <p:spPr>
          <a:xfrm>
            <a:off x="8609068" y="1701217"/>
            <a:ext cx="2690160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dirty="0"/>
              <a:t>Assessing </a:t>
            </a:r>
            <a:r>
              <a:rPr lang="en-US" sz="2400" dirty="0">
                <a:solidFill>
                  <a:srgbClr val="C00000"/>
                </a:solidFill>
              </a:rPr>
              <a:t>feasibility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209517" y="2411827"/>
            <a:ext cx="5067600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Negotiating</a:t>
            </a:r>
            <a:r>
              <a:rPr lang="en-US" sz="2400" dirty="0"/>
              <a:t> a reasonable solution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99116" y="2412217"/>
            <a:ext cx="5400111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Specifying</a:t>
            </a:r>
            <a:r>
              <a:rPr lang="en-US" sz="2400" dirty="0"/>
              <a:t> solution </a:t>
            </a:r>
            <a:r>
              <a:rPr lang="en-US" sz="2400" dirty="0">
                <a:solidFill>
                  <a:srgbClr val="C00000"/>
                </a:solidFill>
              </a:rPr>
              <a:t>unambiguously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6146" y="3125260"/>
            <a:ext cx="5050971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Validating</a:t>
            </a:r>
            <a:r>
              <a:rPr lang="en-US" sz="2400" dirty="0"/>
              <a:t> the </a:t>
            </a:r>
            <a:r>
              <a:rPr lang="en-US" sz="2400" dirty="0">
                <a:solidFill>
                  <a:srgbClr val="C00000"/>
                </a:solidFill>
              </a:rPr>
              <a:t>specification</a:t>
            </a:r>
            <a:r>
              <a:rPr lang="en-US" sz="2400" dirty="0"/>
              <a:t>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15747" y="3125260"/>
            <a:ext cx="5383480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Managing</a:t>
            </a:r>
            <a:r>
              <a:rPr lang="en-US" sz="2400" dirty="0"/>
              <a:t> requirements</a:t>
            </a:r>
          </a:p>
        </p:txBody>
      </p:sp>
    </p:spTree>
    <p:extLst>
      <p:ext uri="{BB962C8B-B14F-4D97-AF65-F5344CB8AC3E}">
        <p14:creationId xmlns:p14="http://schemas.microsoft.com/office/powerpoint/2010/main" val="1279397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build="allAtOnce" animBg="1"/>
      <p:bldP spid="7" grpId="0" build="allAtOnce" animBg="1"/>
      <p:bldP spid="8" grpId="0" build="allAtOnce" animBg="1"/>
      <p:bldP spid="9" grpId="0" build="allAtOnce" animBg="1"/>
      <p:bldP spid="10" grpId="0" build="allAtOnce" animBg="1"/>
      <p:bldP spid="11" grpId="0" build="allAtOnce" animBg="1"/>
      <p:bldP spid="12" grpId="0" build="allAtOnce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Functional requirements</a:t>
            </a:r>
          </a:p>
        </p:txBody>
      </p:sp>
      <p:sp>
        <p:nvSpPr>
          <p:cNvPr id="4" name="Rounded Rectangular Callout 3"/>
          <p:cNvSpPr/>
          <p:nvPr/>
        </p:nvSpPr>
        <p:spPr>
          <a:xfrm>
            <a:off x="188259" y="805330"/>
            <a:ext cx="6178177" cy="714187"/>
          </a:xfrm>
          <a:prstGeom prst="wedgeRoundRectCallout">
            <a:avLst>
              <a:gd name="adj1" fmla="val -39739"/>
              <a:gd name="adj2" fmla="val -79881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200" dirty="0"/>
              <a:t>Any requirement which specifies </a:t>
            </a:r>
            <a:r>
              <a:rPr lang="en-US" sz="2200" b="1" dirty="0">
                <a:solidFill>
                  <a:srgbClr val="C00000"/>
                </a:solidFill>
              </a:rPr>
              <a:t>what the system Should do</a:t>
            </a:r>
            <a:r>
              <a:rPr lang="en-US" sz="2200" dirty="0"/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8259" y="1627093"/>
            <a:ext cx="6178177" cy="179289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300" dirty="0"/>
              <a:t>A functional requirement will describe a particular behavior of function of the system when certain conditions are met, for example: “Send email when a new customer signs up” or “Open a new account”.</a:t>
            </a:r>
          </a:p>
        </p:txBody>
      </p:sp>
      <p:sp>
        <p:nvSpPr>
          <p:cNvPr id="7" name="Rectangle 6"/>
          <p:cNvSpPr/>
          <p:nvPr/>
        </p:nvSpPr>
        <p:spPr>
          <a:xfrm>
            <a:off x="188259" y="3472017"/>
            <a:ext cx="6178177" cy="461665"/>
          </a:xfrm>
          <a:prstGeom prst="rect">
            <a:avLst/>
          </a:prstGeom>
        </p:spPr>
        <p:txBody>
          <a:bodyPr vert="horz"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Typical functional requirements </a:t>
            </a:r>
          </a:p>
        </p:txBody>
      </p:sp>
      <p:sp>
        <p:nvSpPr>
          <p:cNvPr id="8" name="Rectangle 7"/>
          <p:cNvSpPr/>
          <p:nvPr/>
        </p:nvSpPr>
        <p:spPr>
          <a:xfrm>
            <a:off x="188259" y="4074458"/>
            <a:ext cx="1619354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dirty="0"/>
              <a:t>Business Rules </a:t>
            </a:r>
          </a:p>
        </p:txBody>
      </p:sp>
      <p:sp>
        <p:nvSpPr>
          <p:cNvPr id="9" name="Rectangle 8"/>
          <p:cNvSpPr/>
          <p:nvPr/>
        </p:nvSpPr>
        <p:spPr>
          <a:xfrm>
            <a:off x="188258" y="4535537"/>
            <a:ext cx="3273528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dirty="0"/>
              <a:t>Transaction corrections, adjustments and cancellations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72790" y="4074458"/>
            <a:ext cx="2574144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dirty="0"/>
              <a:t>Administrative functions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470" y="5285939"/>
            <a:ext cx="1519966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dirty="0"/>
              <a:t>Authentication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65499" y="5743629"/>
            <a:ext cx="3000937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dirty="0"/>
              <a:t>Authorization levels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65499" y="6175919"/>
            <a:ext cx="3000937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dirty="0"/>
              <a:t>Audit Tracking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8257" y="5286315"/>
            <a:ext cx="1896701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dirty="0"/>
              <a:t>External Interfaces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38936" y="5277928"/>
            <a:ext cx="2369559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ctr"/>
            <a:r>
              <a:rPr lang="en-US" dirty="0"/>
              <a:t>Reporting Requirements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93045" y="4066155"/>
            <a:ext cx="1673391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dirty="0"/>
              <a:t>Historical Data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15763" y="4540520"/>
            <a:ext cx="2750673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dirty="0"/>
              <a:t>Legal or Regulatory Requirements</a:t>
            </a:r>
          </a:p>
        </p:txBody>
      </p:sp>
      <p:cxnSp>
        <p:nvCxnSpPr>
          <p:cNvPr id="25" name="Straight Connector 24"/>
          <p:cNvCxnSpPr/>
          <p:nvPr/>
        </p:nvCxnSpPr>
        <p:spPr>
          <a:xfrm>
            <a:off x="6616700" y="12700"/>
            <a:ext cx="0" cy="6545251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6" name="Rounded Rectangular Callout 25"/>
          <p:cNvSpPr/>
          <p:nvPr/>
        </p:nvSpPr>
        <p:spPr>
          <a:xfrm>
            <a:off x="6866964" y="805330"/>
            <a:ext cx="5120340" cy="714187"/>
          </a:xfrm>
          <a:prstGeom prst="wedgeRoundRectCallout">
            <a:avLst>
              <a:gd name="adj1" fmla="val -5819"/>
              <a:gd name="adj2" fmla="val -86994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lvl="1" algn="ctr"/>
            <a:r>
              <a:rPr lang="en-US" sz="2100" dirty="0"/>
              <a:t>Any requirement which specifies </a:t>
            </a:r>
            <a:r>
              <a:rPr lang="en-US" sz="2100" b="1" dirty="0">
                <a:solidFill>
                  <a:srgbClr val="C00000"/>
                </a:solidFill>
              </a:rPr>
              <a:t>how the system performs a certain function</a:t>
            </a:r>
            <a:r>
              <a:rPr lang="en-US" sz="2100" dirty="0"/>
              <a:t>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66965" y="1613645"/>
            <a:ext cx="5120340" cy="181545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lvl="1" algn="ctr"/>
            <a:r>
              <a:rPr lang="en-US" sz="2400" dirty="0"/>
              <a:t>A non-functional requirement will describe how a system should behave and what limits there are on its functionality.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66963" y="3472017"/>
            <a:ext cx="5120341" cy="461665"/>
          </a:xfrm>
          <a:prstGeom prst="rect">
            <a:avLst/>
          </a:prstGeom>
        </p:spPr>
        <p:txBody>
          <a:bodyPr vert="horz"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Typical non-functional requirements 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66964" y="3976604"/>
            <a:ext cx="1745242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dirty="0"/>
              <a:t>Response time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66964" y="4406477"/>
            <a:ext cx="1745242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dirty="0"/>
              <a:t>Throughput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66964" y="4836350"/>
            <a:ext cx="1745242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dirty="0"/>
              <a:t>Utilization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66964" y="5266223"/>
            <a:ext cx="1745242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dirty="0"/>
              <a:t>Static volumetric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66964" y="5696096"/>
            <a:ext cx="1745242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dirty="0"/>
              <a:t>Scalability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66964" y="6125971"/>
            <a:ext cx="1745242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dirty="0"/>
              <a:t>Capacity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758317" y="3976604"/>
            <a:ext cx="1527982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dirty="0"/>
              <a:t>Availability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758317" y="4406477"/>
            <a:ext cx="1527982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dirty="0"/>
              <a:t>Reliability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58317" y="4836350"/>
            <a:ext cx="1527982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dirty="0"/>
              <a:t>Recoverability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758317" y="5266223"/>
            <a:ext cx="1527982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ctr"/>
            <a:r>
              <a:rPr lang="en-US" dirty="0"/>
              <a:t>Maintainability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758317" y="5696096"/>
            <a:ext cx="1527982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dirty="0"/>
              <a:t>Serviceability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758317" y="6125971"/>
            <a:ext cx="1527982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dirty="0"/>
              <a:t>Security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440276" y="3976604"/>
            <a:ext cx="1547028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dirty="0"/>
              <a:t>Regulatory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440276" y="4406477"/>
            <a:ext cx="1547028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dirty="0"/>
              <a:t>Manageability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440276" y="4836350"/>
            <a:ext cx="1547028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dirty="0"/>
              <a:t>Environmental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440276" y="5266223"/>
            <a:ext cx="1547028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dirty="0"/>
              <a:t>Data Integrity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440276" y="5696096"/>
            <a:ext cx="1548524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dirty="0"/>
              <a:t>Usability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440275" y="6125971"/>
            <a:ext cx="1547029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dirty="0"/>
              <a:t>Interoperability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814195" y="27447"/>
            <a:ext cx="5187639" cy="6155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4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+mj-ea"/>
                <a:cs typeface="+mj-cs"/>
              </a:rPr>
              <a:t>Non-functional</a:t>
            </a:r>
            <a:r>
              <a:rPr lang="en-US" dirty="0"/>
              <a:t> </a:t>
            </a:r>
            <a:r>
              <a:rPr lang="en-US" sz="34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+mj-ea"/>
                <a:cs typeface="+mj-cs"/>
              </a:rPr>
              <a:t>requirements</a:t>
            </a:r>
          </a:p>
        </p:txBody>
      </p:sp>
    </p:spTree>
    <p:extLst>
      <p:ext uri="{BB962C8B-B14F-4D97-AF65-F5344CB8AC3E}">
        <p14:creationId xmlns:p14="http://schemas.microsoft.com/office/powerpoint/2010/main" val="1547108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26" grpId="0" animBg="1"/>
      <p:bldP spid="27" grpId="0" animBg="1"/>
      <p:bldP spid="28" grpId="0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 requirements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812486" y="46474"/>
            <a:ext cx="5187639" cy="6155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4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+mj-ea"/>
                <a:cs typeface="+mj-cs"/>
              </a:rPr>
              <a:t>Non-functional</a:t>
            </a:r>
            <a:r>
              <a:rPr lang="en-US" dirty="0"/>
              <a:t> </a:t>
            </a:r>
            <a:r>
              <a:rPr lang="en-US" sz="34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+mj-ea"/>
                <a:cs typeface="+mj-cs"/>
              </a:rPr>
              <a:t>requirements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4D5517-37DF-31DB-2FCA-6B81672EDF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4658" y="963705"/>
            <a:ext cx="842684" cy="842684"/>
          </a:xfrm>
          <a:prstGeom prst="rect">
            <a:avLst/>
          </a:prstGeom>
        </p:spPr>
      </p:pic>
      <p:sp>
        <p:nvSpPr>
          <p:cNvPr id="18" name="Rounded Rectangular Callout 3">
            <a:extLst>
              <a:ext uri="{FF2B5EF4-FFF2-40B4-BE49-F238E27FC236}">
                <a16:creationId xmlns:a16="http://schemas.microsoft.com/office/drawing/2014/main" id="{C4D81973-4AA8-79F8-1860-314BEFE1442D}"/>
              </a:ext>
            </a:extLst>
          </p:cNvPr>
          <p:cNvSpPr/>
          <p:nvPr/>
        </p:nvSpPr>
        <p:spPr>
          <a:xfrm>
            <a:off x="161366" y="1027953"/>
            <a:ext cx="5334000" cy="714187"/>
          </a:xfrm>
          <a:prstGeom prst="wedgeRoundRectCallout">
            <a:avLst>
              <a:gd name="adj1" fmla="val 53034"/>
              <a:gd name="adj2" fmla="val -13354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200" dirty="0"/>
              <a:t>The website will have a </a:t>
            </a:r>
            <a:r>
              <a:rPr lang="en-US" sz="2200" b="1" dirty="0">
                <a:solidFill>
                  <a:srgbClr val="C00000"/>
                </a:solidFill>
              </a:rPr>
              <a:t>homepage</a:t>
            </a:r>
            <a:r>
              <a:rPr lang="en-US" sz="2200" dirty="0"/>
              <a:t>.</a:t>
            </a:r>
          </a:p>
        </p:txBody>
      </p:sp>
      <p:sp>
        <p:nvSpPr>
          <p:cNvPr id="19" name="Rounded Rectangular Callout 3">
            <a:extLst>
              <a:ext uri="{FF2B5EF4-FFF2-40B4-BE49-F238E27FC236}">
                <a16:creationId xmlns:a16="http://schemas.microsoft.com/office/drawing/2014/main" id="{86289409-854E-005A-C41B-647C12EBECFB}"/>
              </a:ext>
            </a:extLst>
          </p:cNvPr>
          <p:cNvSpPr/>
          <p:nvPr/>
        </p:nvSpPr>
        <p:spPr>
          <a:xfrm>
            <a:off x="6696634" y="1044390"/>
            <a:ext cx="5334000" cy="714187"/>
          </a:xfrm>
          <a:prstGeom prst="wedgeRoundRectCallout">
            <a:avLst>
              <a:gd name="adj1" fmla="val -53003"/>
              <a:gd name="adj2" fmla="val -13078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200" dirty="0"/>
              <a:t>The home page should </a:t>
            </a:r>
            <a:r>
              <a:rPr lang="en-US" sz="2200" b="1" dirty="0">
                <a:solidFill>
                  <a:srgbClr val="C00000"/>
                </a:solidFill>
              </a:rPr>
              <a:t>load</a:t>
            </a:r>
            <a:r>
              <a:rPr lang="en-US" sz="2200" dirty="0"/>
              <a:t> within </a:t>
            </a:r>
            <a:r>
              <a:rPr lang="en-US" sz="2200" b="1" dirty="0">
                <a:solidFill>
                  <a:schemeClr val="tx1"/>
                </a:solidFill>
              </a:rPr>
              <a:t>1.5 seconds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3B4ED8D-8E50-EEC9-8A33-CF4C998F31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89898" y="2131089"/>
            <a:ext cx="842684" cy="842684"/>
          </a:xfrm>
          <a:prstGeom prst="rect">
            <a:avLst/>
          </a:prstGeom>
        </p:spPr>
      </p:pic>
      <p:sp>
        <p:nvSpPr>
          <p:cNvPr id="21" name="Rounded Rectangular Callout 3">
            <a:extLst>
              <a:ext uri="{FF2B5EF4-FFF2-40B4-BE49-F238E27FC236}">
                <a16:creationId xmlns:a16="http://schemas.microsoft.com/office/drawing/2014/main" id="{80337E04-86CB-D588-FFE5-CF83F37F85C5}"/>
              </a:ext>
            </a:extLst>
          </p:cNvPr>
          <p:cNvSpPr/>
          <p:nvPr/>
        </p:nvSpPr>
        <p:spPr>
          <a:xfrm>
            <a:off x="176606" y="2195337"/>
            <a:ext cx="5334000" cy="714187"/>
          </a:xfrm>
          <a:prstGeom prst="wedgeRoundRectCallout">
            <a:avLst>
              <a:gd name="adj1" fmla="val 53034"/>
              <a:gd name="adj2" fmla="val -13354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200" dirty="0"/>
              <a:t>The website will </a:t>
            </a:r>
            <a:r>
              <a:rPr lang="en-US" sz="2200" b="1" dirty="0">
                <a:solidFill>
                  <a:srgbClr val="C00000"/>
                </a:solidFill>
              </a:rPr>
              <a:t>store customer data</a:t>
            </a:r>
          </a:p>
        </p:txBody>
      </p:sp>
      <p:sp>
        <p:nvSpPr>
          <p:cNvPr id="22" name="Rounded Rectangular Callout 3">
            <a:extLst>
              <a:ext uri="{FF2B5EF4-FFF2-40B4-BE49-F238E27FC236}">
                <a16:creationId xmlns:a16="http://schemas.microsoft.com/office/drawing/2014/main" id="{7D2857B7-B3EE-6A02-A4D2-1BD10AE64D00}"/>
              </a:ext>
            </a:extLst>
          </p:cNvPr>
          <p:cNvSpPr/>
          <p:nvPr/>
        </p:nvSpPr>
        <p:spPr>
          <a:xfrm>
            <a:off x="6711874" y="2211774"/>
            <a:ext cx="5334000" cy="714187"/>
          </a:xfrm>
          <a:prstGeom prst="wedgeRoundRectCallout">
            <a:avLst>
              <a:gd name="adj1" fmla="val -53003"/>
              <a:gd name="adj2" fmla="val -13078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200" dirty="0"/>
              <a:t>Customer data should be </a:t>
            </a:r>
            <a:r>
              <a:rPr lang="en-US" sz="2200" b="1" dirty="0">
                <a:solidFill>
                  <a:srgbClr val="C00000"/>
                </a:solidFill>
              </a:rPr>
              <a:t>encrypted</a:t>
            </a:r>
            <a:r>
              <a:rPr lang="en-US" sz="2200" dirty="0"/>
              <a:t> to </a:t>
            </a:r>
            <a:r>
              <a:rPr lang="en-US" sz="2200" b="1" dirty="0">
                <a:solidFill>
                  <a:srgbClr val="C00000"/>
                </a:solidFill>
              </a:rPr>
              <a:t>level 3 encryption standard</a:t>
            </a:r>
            <a:r>
              <a:rPr lang="en-US" sz="2200" dirty="0"/>
              <a:t>.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81B69F25-CFDE-F48C-16A7-464C90CC18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95994" y="3362481"/>
            <a:ext cx="842684" cy="842684"/>
          </a:xfrm>
          <a:prstGeom prst="rect">
            <a:avLst/>
          </a:prstGeom>
        </p:spPr>
      </p:pic>
      <p:sp>
        <p:nvSpPr>
          <p:cNvPr id="49" name="Rounded Rectangular Callout 3">
            <a:extLst>
              <a:ext uri="{FF2B5EF4-FFF2-40B4-BE49-F238E27FC236}">
                <a16:creationId xmlns:a16="http://schemas.microsoft.com/office/drawing/2014/main" id="{056E0344-344B-32A6-820A-421BD45B47D6}"/>
              </a:ext>
            </a:extLst>
          </p:cNvPr>
          <p:cNvSpPr/>
          <p:nvPr/>
        </p:nvSpPr>
        <p:spPr>
          <a:xfrm>
            <a:off x="182702" y="3426729"/>
            <a:ext cx="5334000" cy="714187"/>
          </a:xfrm>
          <a:prstGeom prst="wedgeRoundRectCallout">
            <a:avLst>
              <a:gd name="adj1" fmla="val 53034"/>
              <a:gd name="adj2" fmla="val -13354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200" dirty="0"/>
              <a:t>Website customers can </a:t>
            </a:r>
            <a:r>
              <a:rPr lang="en-US" sz="2200" b="1" dirty="0">
                <a:solidFill>
                  <a:srgbClr val="C00000"/>
                </a:solidFill>
              </a:rPr>
              <a:t>login</a:t>
            </a:r>
            <a:r>
              <a:rPr lang="en-US" sz="2200" dirty="0"/>
              <a:t> into their </a:t>
            </a:r>
            <a:r>
              <a:rPr lang="en-US" sz="2200" b="1" dirty="0">
                <a:solidFill>
                  <a:srgbClr val="C00000"/>
                </a:solidFill>
              </a:rPr>
              <a:t>accounts</a:t>
            </a:r>
            <a:r>
              <a:rPr lang="en-US" sz="2200" dirty="0"/>
              <a:t>.</a:t>
            </a:r>
          </a:p>
        </p:txBody>
      </p:sp>
      <p:sp>
        <p:nvSpPr>
          <p:cNvPr id="50" name="Rounded Rectangular Callout 3">
            <a:extLst>
              <a:ext uri="{FF2B5EF4-FFF2-40B4-BE49-F238E27FC236}">
                <a16:creationId xmlns:a16="http://schemas.microsoft.com/office/drawing/2014/main" id="{1A14DD83-6763-E72F-BD35-D19D03AB9346}"/>
              </a:ext>
            </a:extLst>
          </p:cNvPr>
          <p:cNvSpPr/>
          <p:nvPr/>
        </p:nvSpPr>
        <p:spPr>
          <a:xfrm>
            <a:off x="6717970" y="3443166"/>
            <a:ext cx="5334000" cy="714187"/>
          </a:xfrm>
          <a:prstGeom prst="wedgeRoundRectCallout">
            <a:avLst>
              <a:gd name="adj1" fmla="val -53003"/>
              <a:gd name="adj2" fmla="val -13078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200" dirty="0"/>
              <a:t>The website has the </a:t>
            </a:r>
            <a:r>
              <a:rPr lang="en-US" sz="2200" b="1" dirty="0">
                <a:solidFill>
                  <a:srgbClr val="C00000"/>
                </a:solidFill>
              </a:rPr>
              <a:t>capacity</a:t>
            </a:r>
            <a:r>
              <a:rPr lang="en-US" sz="2200" dirty="0"/>
              <a:t> for </a:t>
            </a:r>
            <a:r>
              <a:rPr lang="en-US" sz="2200" b="1" dirty="0">
                <a:solidFill>
                  <a:srgbClr val="C00000"/>
                </a:solidFill>
              </a:rPr>
              <a:t>5k</a:t>
            </a:r>
            <a:r>
              <a:rPr lang="en-US" sz="2200" dirty="0"/>
              <a:t> logged-in users at any </a:t>
            </a:r>
            <a:r>
              <a:rPr lang="en-US" sz="2200" b="1" dirty="0">
                <a:solidFill>
                  <a:srgbClr val="C00000"/>
                </a:solidFill>
              </a:rPr>
              <a:t>one</a:t>
            </a:r>
            <a:r>
              <a:rPr lang="en-US" sz="2200" dirty="0"/>
              <a:t> </a:t>
            </a:r>
            <a:r>
              <a:rPr lang="en-US" sz="2200" b="1" dirty="0">
                <a:solidFill>
                  <a:srgbClr val="C00000"/>
                </a:solidFill>
              </a:rPr>
              <a:t>time</a:t>
            </a:r>
            <a:r>
              <a:rPr lang="en-US" sz="2200" dirty="0"/>
              <a:t>.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980AF77D-98E5-2CE3-21A5-EDC624EEF5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89898" y="4630270"/>
            <a:ext cx="842684" cy="842684"/>
          </a:xfrm>
          <a:prstGeom prst="rect">
            <a:avLst/>
          </a:prstGeom>
        </p:spPr>
      </p:pic>
      <p:sp>
        <p:nvSpPr>
          <p:cNvPr id="52" name="Rounded Rectangular Callout 3">
            <a:extLst>
              <a:ext uri="{FF2B5EF4-FFF2-40B4-BE49-F238E27FC236}">
                <a16:creationId xmlns:a16="http://schemas.microsoft.com/office/drawing/2014/main" id="{6DD73403-43DF-DC8B-599E-FD3D5EAA3336}"/>
              </a:ext>
            </a:extLst>
          </p:cNvPr>
          <p:cNvSpPr/>
          <p:nvPr/>
        </p:nvSpPr>
        <p:spPr>
          <a:xfrm>
            <a:off x="176606" y="4694518"/>
            <a:ext cx="5334000" cy="714187"/>
          </a:xfrm>
          <a:prstGeom prst="wedgeRoundRectCallout">
            <a:avLst>
              <a:gd name="adj1" fmla="val 53034"/>
              <a:gd name="adj2" fmla="val -13354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200" dirty="0"/>
              <a:t>Customer can </a:t>
            </a:r>
            <a:r>
              <a:rPr lang="en-US" sz="2200" b="1" dirty="0">
                <a:solidFill>
                  <a:srgbClr val="C00000"/>
                </a:solidFill>
              </a:rPr>
              <a:t>access</a:t>
            </a:r>
            <a:r>
              <a:rPr lang="en-US" sz="2200" dirty="0"/>
              <a:t> the </a:t>
            </a:r>
            <a:r>
              <a:rPr lang="en-US" sz="2200" b="1" dirty="0">
                <a:solidFill>
                  <a:srgbClr val="C00000"/>
                </a:solidFill>
              </a:rPr>
              <a:t>website</a:t>
            </a:r>
            <a:r>
              <a:rPr lang="en-US" sz="2200" dirty="0"/>
              <a:t> on their </a:t>
            </a:r>
            <a:r>
              <a:rPr lang="en-US" sz="2200" b="1" dirty="0">
                <a:solidFill>
                  <a:srgbClr val="C00000"/>
                </a:solidFill>
              </a:rPr>
              <a:t>phones</a:t>
            </a:r>
            <a:r>
              <a:rPr lang="en-US" sz="2200" dirty="0"/>
              <a:t>.</a:t>
            </a:r>
          </a:p>
        </p:txBody>
      </p:sp>
      <p:sp>
        <p:nvSpPr>
          <p:cNvPr id="53" name="Rounded Rectangular Callout 3">
            <a:extLst>
              <a:ext uri="{FF2B5EF4-FFF2-40B4-BE49-F238E27FC236}">
                <a16:creationId xmlns:a16="http://schemas.microsoft.com/office/drawing/2014/main" id="{9850B23A-E711-FA36-E992-54137749DC1A}"/>
              </a:ext>
            </a:extLst>
          </p:cNvPr>
          <p:cNvSpPr/>
          <p:nvPr/>
        </p:nvSpPr>
        <p:spPr>
          <a:xfrm>
            <a:off x="6711874" y="4710955"/>
            <a:ext cx="5334000" cy="714187"/>
          </a:xfrm>
          <a:prstGeom prst="wedgeRoundRectCallout">
            <a:avLst>
              <a:gd name="adj1" fmla="val -53003"/>
              <a:gd name="adj2" fmla="val -13078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200" dirty="0"/>
              <a:t>The website should be </a:t>
            </a:r>
            <a:r>
              <a:rPr lang="en-US" sz="2200" b="1" dirty="0">
                <a:solidFill>
                  <a:srgbClr val="C00000"/>
                </a:solidFill>
              </a:rPr>
              <a:t>compatible</a:t>
            </a:r>
            <a:r>
              <a:rPr lang="en-US" sz="2200" dirty="0"/>
              <a:t> with </a:t>
            </a:r>
            <a:r>
              <a:rPr lang="en-US" sz="2200" b="1" dirty="0">
                <a:solidFill>
                  <a:srgbClr val="C00000"/>
                </a:solidFill>
              </a:rPr>
              <a:t>iOS 13 and above. </a:t>
            </a:r>
          </a:p>
        </p:txBody>
      </p:sp>
    </p:spTree>
    <p:extLst>
      <p:ext uri="{BB962C8B-B14F-4D97-AF65-F5344CB8AC3E}">
        <p14:creationId xmlns:p14="http://schemas.microsoft.com/office/powerpoint/2010/main" val="1201092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1" grpId="0" animBg="1"/>
      <p:bldP spid="22" grpId="0" animBg="1"/>
      <p:bldP spid="49" grpId="0" animBg="1"/>
      <p:bldP spid="50" grpId="0" animBg="1"/>
      <p:bldP spid="52" grpId="0" animBg="1"/>
      <p:bldP spid="5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Library Management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11201"/>
            <a:ext cx="6616699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b="1" dirty="0"/>
              <a:t>Function Requirements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616699" y="711201"/>
            <a:ext cx="5575301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b="1" dirty="0"/>
              <a:t>Non-function Requirements</a:t>
            </a: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98427" y="1308101"/>
            <a:ext cx="6416673" cy="44529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Add Article:</a:t>
            </a:r>
            <a:r>
              <a:rPr lang="en-US" sz="2000" dirty="0"/>
              <a:t> New entries must be entered in database</a:t>
            </a:r>
          </a:p>
          <a:p>
            <a:r>
              <a:rPr lang="en-US" sz="2000" b="1" dirty="0"/>
              <a:t>Update Article:</a:t>
            </a:r>
            <a:r>
              <a:rPr lang="en-US" sz="2000" dirty="0"/>
              <a:t> Any changes in articles should be updated in case of update</a:t>
            </a:r>
          </a:p>
          <a:p>
            <a:r>
              <a:rPr lang="en-US" sz="2000" b="1" dirty="0"/>
              <a:t>Delete Article: </a:t>
            </a:r>
            <a:r>
              <a:rPr lang="en-US" sz="2000" dirty="0"/>
              <a:t>Wrong entry must be removed from system</a:t>
            </a:r>
          </a:p>
          <a:p>
            <a:r>
              <a:rPr lang="en-US" sz="2000" b="1" dirty="0"/>
              <a:t>Inquiry Members:</a:t>
            </a:r>
            <a:r>
              <a:rPr lang="en-US" sz="2000" dirty="0"/>
              <a:t> Inquiry all current enrolled members to view their details</a:t>
            </a:r>
          </a:p>
          <a:p>
            <a:r>
              <a:rPr lang="en-US" sz="2000" b="1" dirty="0"/>
              <a:t>Inquiry Issuance: </a:t>
            </a:r>
            <a:r>
              <a:rPr lang="en-US" sz="2000" dirty="0"/>
              <a:t>Inquiry all database articles</a:t>
            </a:r>
          </a:p>
          <a:p>
            <a:r>
              <a:rPr lang="en-US" sz="2000" b="1" dirty="0"/>
              <a:t>Check out Article:</a:t>
            </a:r>
            <a:r>
              <a:rPr lang="en-US" sz="2000" dirty="0"/>
              <a:t> To issue any article must be checked out</a:t>
            </a:r>
          </a:p>
          <a:p>
            <a:r>
              <a:rPr lang="en-US" sz="2000" b="1" dirty="0"/>
              <a:t>Check In article:</a:t>
            </a:r>
            <a:r>
              <a:rPr lang="en-US" sz="2000" dirty="0"/>
              <a:t> After receiving any article system will reenter article by Checking</a:t>
            </a:r>
          </a:p>
          <a:p>
            <a:r>
              <a:rPr lang="en-US" sz="2000" b="1" dirty="0"/>
              <a:t>Inquiry waiting for approvals: </a:t>
            </a:r>
            <a:r>
              <a:rPr lang="en-US" sz="2000" dirty="0"/>
              <a:t>Librarian will generates all newly application which is in waiting list</a:t>
            </a:r>
          </a:p>
          <a:p>
            <a:r>
              <a:rPr lang="en-US" sz="2000" b="1" dirty="0"/>
              <a:t>Reserve Article: </a:t>
            </a:r>
            <a:r>
              <a:rPr lang="en-US" sz="2000" dirty="0"/>
              <a:t>This use case is used to reserve any book with the name of librarian, it can be pledged</a:t>
            </a: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6718301" y="1308100"/>
            <a:ext cx="5372100" cy="48767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Safety Requirements:</a:t>
            </a:r>
            <a:r>
              <a:rPr lang="en-US" sz="2000" dirty="0"/>
              <a:t> The database may get crashed at any certain time due to virus or operating system failure. So, it is required to take the database backup.</a:t>
            </a:r>
          </a:p>
          <a:p>
            <a:r>
              <a:rPr lang="en-US" sz="2000" b="1" dirty="0"/>
              <a:t>Security Requirements: </a:t>
            </a:r>
            <a:r>
              <a:rPr lang="en-US" sz="2000" dirty="0"/>
              <a:t>We are going to develop a secured database for the university. There are different categories of users namely teaching staff, administrator, library staff ,students etc., Depending upon the category of user the access rights are decided.</a:t>
            </a:r>
          </a:p>
          <a:p>
            <a:r>
              <a:rPr lang="en-US" sz="2000" b="1" dirty="0"/>
              <a:t>Software Constraints: </a:t>
            </a:r>
            <a:r>
              <a:rPr lang="en-US" sz="2000" dirty="0"/>
              <a:t>The development of the system will be constrained by the availability of required software such as database and development tools. The availability of these tools will be governed by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6616700" y="711201"/>
            <a:ext cx="0" cy="5884850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429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0" grpId="0" build="p"/>
      <p:bldP spid="11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 Engineering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714" y="931491"/>
            <a:ext cx="2552700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 dirty="0"/>
              <a:t>Inception</a:t>
            </a:r>
            <a:endParaRPr lang="en-US" sz="2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981" y="1574649"/>
            <a:ext cx="1698401" cy="16771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3414" y="931491"/>
            <a:ext cx="495300" cy="461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1</a:t>
            </a:r>
            <a:endParaRPr lang="en-US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4064364" y="931491"/>
            <a:ext cx="3683000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 dirty="0"/>
              <a:t>Elicitation </a:t>
            </a:r>
            <a:r>
              <a:rPr lang="en-US" sz="1600" b="1" dirty="0"/>
              <a:t>(Requirement Gathering)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48" b="2627"/>
          <a:stretch/>
        </p:blipFill>
        <p:spPr>
          <a:xfrm>
            <a:off x="4709977" y="1434092"/>
            <a:ext cx="2039530" cy="181772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569064" y="931491"/>
            <a:ext cx="495300" cy="461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2</a:t>
            </a:r>
            <a:endParaRPr lang="en-US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8526186" y="926920"/>
            <a:ext cx="3424514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 dirty="0"/>
              <a:t>Elaboration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4200" y="1574649"/>
            <a:ext cx="1685706" cy="168570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028197" y="926920"/>
            <a:ext cx="495300" cy="461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3</a:t>
            </a:r>
            <a:endParaRPr lang="en-US" sz="2400" dirty="0"/>
          </a:p>
        </p:txBody>
      </p:sp>
      <p:sp>
        <p:nvSpPr>
          <p:cNvPr id="22" name="Rectangle 21"/>
          <p:cNvSpPr/>
          <p:nvPr/>
        </p:nvSpPr>
        <p:spPr>
          <a:xfrm>
            <a:off x="273414" y="3335404"/>
            <a:ext cx="3048000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buClr>
                <a:schemeClr val="tx1"/>
              </a:buClr>
            </a:pPr>
            <a:r>
              <a:rPr lang="en-US" sz="2400" dirty="0">
                <a:solidFill>
                  <a:srgbClr val="C00000"/>
                </a:solidFill>
              </a:rPr>
              <a:t>Roughly define scope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3414" y="3847214"/>
            <a:ext cx="3048000" cy="19389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buClr>
                <a:schemeClr val="tx1"/>
              </a:buClr>
            </a:pPr>
            <a:r>
              <a:rPr lang="en-US" sz="2400" dirty="0">
                <a:solidFill>
                  <a:srgbClr val="C00000"/>
                </a:solidFill>
              </a:rPr>
              <a:t>A basic understanding </a:t>
            </a:r>
            <a:r>
              <a:rPr lang="en-US" sz="2400" dirty="0"/>
              <a:t>of a </a:t>
            </a:r>
            <a:r>
              <a:rPr lang="en-US" sz="2400" dirty="0">
                <a:solidFill>
                  <a:srgbClr val="C00000"/>
                </a:solidFill>
              </a:rPr>
              <a:t>problem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C00000"/>
                </a:solidFill>
              </a:rPr>
              <a:t>people</a:t>
            </a:r>
            <a:r>
              <a:rPr lang="en-US" sz="2400" dirty="0"/>
              <a:t> who want a solution, the </a:t>
            </a:r>
            <a:r>
              <a:rPr lang="en-US" sz="2400" dirty="0">
                <a:solidFill>
                  <a:srgbClr val="C00000"/>
                </a:solidFill>
              </a:rPr>
              <a:t>nature of solution </a:t>
            </a:r>
            <a:r>
              <a:rPr lang="en-US" sz="2400" dirty="0"/>
              <a:t>desired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69064" y="3335404"/>
            <a:ext cx="4178300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buClr>
                <a:schemeClr val="tx1"/>
              </a:buClr>
            </a:pPr>
            <a:r>
              <a:rPr lang="en-US" sz="2400" dirty="0">
                <a:solidFill>
                  <a:srgbClr val="C00000"/>
                </a:solidFill>
              </a:rPr>
              <a:t>Define requirements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69064" y="3847214"/>
            <a:ext cx="4178300" cy="15696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buClr>
                <a:schemeClr val="tx1"/>
              </a:buClr>
            </a:pPr>
            <a:r>
              <a:rPr lang="en-US" sz="2400" dirty="0"/>
              <a:t>The practice of </a:t>
            </a:r>
            <a:r>
              <a:rPr lang="en-US" sz="2400" dirty="0">
                <a:solidFill>
                  <a:srgbClr val="C00000"/>
                </a:solidFill>
              </a:rPr>
              <a:t>collecting the requirements </a:t>
            </a:r>
            <a:r>
              <a:rPr lang="en-US" sz="2400" dirty="0"/>
              <a:t>of a system </a:t>
            </a:r>
            <a:r>
              <a:rPr lang="en-US" sz="2400" dirty="0">
                <a:solidFill>
                  <a:srgbClr val="C00000"/>
                </a:solidFill>
              </a:rPr>
              <a:t>from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C00000"/>
                </a:solidFill>
              </a:rPr>
              <a:t>users</a:t>
            </a:r>
            <a:r>
              <a:rPr lang="en-US" sz="2400" dirty="0"/>
              <a:t>, customers and other stakeholders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28196" y="3335404"/>
            <a:ext cx="3922503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buClr>
                <a:schemeClr val="tx1"/>
              </a:buClr>
            </a:pPr>
            <a:r>
              <a:rPr lang="en-US" sz="2400" dirty="0">
                <a:solidFill>
                  <a:srgbClr val="C00000"/>
                </a:solidFill>
              </a:rPr>
              <a:t>Further define requirements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28197" y="3847214"/>
            <a:ext cx="3922503" cy="1200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buClr>
                <a:schemeClr val="tx1"/>
              </a:buClr>
            </a:pPr>
            <a:r>
              <a:rPr lang="en-US" sz="2400" dirty="0">
                <a:solidFill>
                  <a:srgbClr val="C00000"/>
                </a:solidFill>
              </a:rPr>
              <a:t>Expand</a:t>
            </a:r>
            <a:r>
              <a:rPr lang="en-US" sz="2400" dirty="0"/>
              <a:t> and </a:t>
            </a:r>
            <a:r>
              <a:rPr lang="en-US" sz="2400" dirty="0">
                <a:solidFill>
                  <a:srgbClr val="C00000"/>
                </a:solidFill>
              </a:rPr>
              <a:t>refine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C00000"/>
                </a:solidFill>
              </a:rPr>
              <a:t>requirements</a:t>
            </a:r>
            <a:r>
              <a:rPr lang="en-US" sz="2400" dirty="0"/>
              <a:t> obtained from inception &amp; elicitation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28197" y="5098077"/>
            <a:ext cx="3922503" cy="1200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buClr>
                <a:schemeClr val="tx1"/>
              </a:buClr>
            </a:pPr>
            <a:r>
              <a:rPr lang="en-US" sz="2400" dirty="0"/>
              <a:t>Creation of </a:t>
            </a:r>
            <a:r>
              <a:rPr lang="en-US" sz="2400" dirty="0">
                <a:solidFill>
                  <a:srgbClr val="C00000"/>
                </a:solidFill>
              </a:rPr>
              <a:t>User scenarios</a:t>
            </a:r>
            <a:r>
              <a:rPr lang="en-US" sz="2400" dirty="0"/>
              <a:t>, extract </a:t>
            </a:r>
            <a:r>
              <a:rPr lang="en-US" sz="2400" dirty="0">
                <a:solidFill>
                  <a:srgbClr val="C00000"/>
                </a:solidFill>
              </a:rPr>
              <a:t>analysis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C00000"/>
                </a:solidFill>
              </a:rPr>
              <a:t>class</a:t>
            </a:r>
            <a:r>
              <a:rPr lang="en-US" sz="2400" dirty="0"/>
              <a:t> and </a:t>
            </a:r>
            <a:r>
              <a:rPr lang="en-US" sz="2400" dirty="0">
                <a:solidFill>
                  <a:srgbClr val="C00000"/>
                </a:solidFill>
              </a:rPr>
              <a:t>business</a:t>
            </a:r>
            <a:r>
              <a:rPr lang="en-US" sz="2400" dirty="0"/>
              <a:t> domain </a:t>
            </a:r>
            <a:r>
              <a:rPr lang="en-US" sz="2400" dirty="0">
                <a:solidFill>
                  <a:srgbClr val="C00000"/>
                </a:solidFill>
              </a:rPr>
              <a:t>entities</a:t>
            </a:r>
            <a:endParaRPr lang="en-US" sz="2400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3441700" y="926920"/>
            <a:ext cx="0" cy="5689901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7886700" y="914220"/>
            <a:ext cx="0" cy="5689901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902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  <p:bldP spid="11" grpId="0" animBg="1"/>
      <p:bldP spid="15" grpId="0" animBg="1"/>
      <p:bldP spid="18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 Engineering Tasks Cont.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199" y="889000"/>
            <a:ext cx="2895601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 dirty="0"/>
              <a:t>Negotiation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961" y="1474700"/>
            <a:ext cx="1754777" cy="17240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15900" y="889000"/>
            <a:ext cx="495300" cy="461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4</a:t>
            </a:r>
            <a:endParaRPr lang="en-US" sz="2400" dirty="0"/>
          </a:p>
        </p:txBody>
      </p:sp>
      <p:sp>
        <p:nvSpPr>
          <p:cNvPr id="8" name="Rectangle 7"/>
          <p:cNvSpPr/>
          <p:nvPr/>
        </p:nvSpPr>
        <p:spPr>
          <a:xfrm>
            <a:off x="215900" y="3322804"/>
            <a:ext cx="3390900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buClr>
                <a:schemeClr val="tx1"/>
              </a:buClr>
            </a:pPr>
            <a:r>
              <a:rPr lang="en-US" sz="2400" dirty="0">
                <a:solidFill>
                  <a:srgbClr val="C00000"/>
                </a:solidFill>
              </a:rPr>
              <a:t>Reconcile conflicts</a:t>
            </a:r>
          </a:p>
        </p:txBody>
      </p:sp>
      <p:sp>
        <p:nvSpPr>
          <p:cNvPr id="9" name="Rectangle 8"/>
          <p:cNvSpPr/>
          <p:nvPr/>
        </p:nvSpPr>
        <p:spPr>
          <a:xfrm>
            <a:off x="215900" y="3860669"/>
            <a:ext cx="3390900" cy="1200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sz="2400" dirty="0">
                <a:solidFill>
                  <a:srgbClr val="C00000"/>
                </a:solidFill>
              </a:rPr>
              <a:t>Agree</a:t>
            </a:r>
            <a:r>
              <a:rPr lang="en-US" sz="2400" dirty="0"/>
              <a:t> on a deliverable </a:t>
            </a:r>
            <a:r>
              <a:rPr lang="en-US" sz="2400" dirty="0">
                <a:solidFill>
                  <a:srgbClr val="C00000"/>
                </a:solidFill>
              </a:rPr>
              <a:t>system</a:t>
            </a:r>
            <a:r>
              <a:rPr lang="en-US" sz="2400" dirty="0"/>
              <a:t> that is </a:t>
            </a:r>
            <a:r>
              <a:rPr lang="en-US" sz="2400" dirty="0">
                <a:solidFill>
                  <a:srgbClr val="C00000"/>
                </a:solidFill>
              </a:rPr>
              <a:t>realistic for developers </a:t>
            </a:r>
            <a:r>
              <a:rPr lang="en-US" sz="2400" dirty="0"/>
              <a:t>and </a:t>
            </a:r>
            <a:r>
              <a:rPr lang="en-US" sz="2400" dirty="0">
                <a:solidFill>
                  <a:srgbClr val="C00000"/>
                </a:solidFill>
              </a:rPr>
              <a:t>customers</a:t>
            </a:r>
            <a:endParaRPr lang="en-US" sz="2400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3797300" y="914220"/>
            <a:ext cx="0" cy="5689901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483100" y="889000"/>
            <a:ext cx="7404100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 dirty="0"/>
              <a:t>Specification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4439" y="1555501"/>
            <a:ext cx="2026121" cy="151932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987800" y="888999"/>
            <a:ext cx="495300" cy="461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5</a:t>
            </a:r>
            <a:endParaRPr lang="en-US" sz="2400" dirty="0"/>
          </a:p>
        </p:txBody>
      </p:sp>
      <p:sp>
        <p:nvSpPr>
          <p:cNvPr id="15" name="Rectangle 14"/>
          <p:cNvSpPr/>
          <p:nvPr/>
        </p:nvSpPr>
        <p:spPr>
          <a:xfrm>
            <a:off x="3987800" y="3322804"/>
            <a:ext cx="7899400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buClr>
                <a:schemeClr val="tx1"/>
              </a:buClr>
            </a:pPr>
            <a:r>
              <a:rPr lang="en-US" sz="2400" dirty="0">
                <a:solidFill>
                  <a:srgbClr val="C00000"/>
                </a:solidFill>
              </a:rPr>
              <a:t>Create analysis model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87800" y="3860669"/>
            <a:ext cx="7899400" cy="1200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buClr>
                <a:schemeClr val="tx1"/>
              </a:buClr>
            </a:pPr>
            <a:r>
              <a:rPr lang="en-US" sz="2400" dirty="0"/>
              <a:t>It may be </a:t>
            </a:r>
            <a:r>
              <a:rPr lang="en-US" sz="2400" dirty="0">
                <a:solidFill>
                  <a:srgbClr val="C00000"/>
                </a:solidFill>
              </a:rPr>
              <a:t>written document</a:t>
            </a:r>
            <a:r>
              <a:rPr lang="en-US" sz="2400" dirty="0"/>
              <a:t>, set of </a:t>
            </a:r>
            <a:r>
              <a:rPr lang="en-US" sz="2400" dirty="0">
                <a:solidFill>
                  <a:srgbClr val="C00000"/>
                </a:solidFill>
              </a:rPr>
              <a:t>graphical models</a:t>
            </a:r>
            <a:r>
              <a:rPr lang="en-US" sz="2400" dirty="0"/>
              <a:t>, formal </a:t>
            </a:r>
            <a:r>
              <a:rPr lang="en-US" sz="2400" dirty="0">
                <a:solidFill>
                  <a:srgbClr val="C00000"/>
                </a:solidFill>
              </a:rPr>
              <a:t>mathematical model</a:t>
            </a:r>
            <a:r>
              <a:rPr lang="en-US" sz="2400" dirty="0"/>
              <a:t>, collection of </a:t>
            </a:r>
            <a:r>
              <a:rPr lang="en-US" sz="2400" dirty="0">
                <a:solidFill>
                  <a:srgbClr val="C00000"/>
                </a:solidFill>
              </a:rPr>
              <a:t>user scenarios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C00000"/>
                </a:solidFill>
              </a:rPr>
              <a:t>prototype</a:t>
            </a:r>
            <a:r>
              <a:rPr lang="en-US" sz="2400" dirty="0"/>
              <a:t> or collection of these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87800" y="5161025"/>
            <a:ext cx="7899400" cy="1200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SRS (Software Requirement Specification) </a:t>
            </a:r>
            <a:r>
              <a:rPr lang="en-US" sz="2400" dirty="0"/>
              <a:t>is a document that is created when a detailed description of all aspects of software to build must be specified before starting of project</a:t>
            </a:r>
          </a:p>
        </p:txBody>
      </p:sp>
    </p:spTree>
    <p:extLst>
      <p:ext uri="{BB962C8B-B14F-4D97-AF65-F5344CB8AC3E}">
        <p14:creationId xmlns:p14="http://schemas.microsoft.com/office/powerpoint/2010/main" val="3088443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  <p:bldP spid="9" grpId="0" animBg="1"/>
      <p:bldP spid="11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 Engineering Tasks Cont.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90600"/>
            <a:ext cx="5422900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 dirty="0"/>
              <a:t>Validation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8784" y="1630791"/>
            <a:ext cx="1771616" cy="177161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90500" y="990600"/>
            <a:ext cx="495300" cy="461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6</a:t>
            </a:r>
            <a:endParaRPr lang="en-US" sz="2400" dirty="0"/>
          </a:p>
        </p:txBody>
      </p:sp>
      <p:sp>
        <p:nvSpPr>
          <p:cNvPr id="8" name="Rectangle 7"/>
          <p:cNvSpPr/>
          <p:nvPr/>
        </p:nvSpPr>
        <p:spPr>
          <a:xfrm>
            <a:off x="190500" y="3702738"/>
            <a:ext cx="5918200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buClr>
                <a:schemeClr val="tx1"/>
              </a:buClr>
            </a:pPr>
            <a:r>
              <a:rPr lang="en-US" sz="2400" dirty="0">
                <a:solidFill>
                  <a:srgbClr val="C00000"/>
                </a:solidFill>
              </a:rPr>
              <a:t>Ensure quality</a:t>
            </a:r>
            <a:r>
              <a:rPr lang="en-US" sz="2400" dirty="0"/>
              <a:t> of </a:t>
            </a:r>
            <a:r>
              <a:rPr lang="en-US" sz="2400" dirty="0">
                <a:solidFill>
                  <a:srgbClr val="C00000"/>
                </a:solidFill>
              </a:rPr>
              <a:t>requirements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190500" y="4286935"/>
            <a:ext cx="5918200" cy="1200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buClr>
                <a:schemeClr val="tx1"/>
              </a:buClr>
            </a:pPr>
            <a:r>
              <a:rPr lang="en-US" sz="2400" dirty="0">
                <a:solidFill>
                  <a:srgbClr val="C00000"/>
                </a:solidFill>
              </a:rPr>
              <a:t>Review</a:t>
            </a:r>
            <a:r>
              <a:rPr lang="en-US" sz="2400" dirty="0"/>
              <a:t> the </a:t>
            </a:r>
            <a:r>
              <a:rPr lang="en-US" sz="2400" dirty="0">
                <a:solidFill>
                  <a:srgbClr val="C00000"/>
                </a:solidFill>
              </a:rPr>
              <a:t>requirements</a:t>
            </a:r>
            <a:r>
              <a:rPr lang="en-US" sz="2400" dirty="0"/>
              <a:t> specification for </a:t>
            </a:r>
            <a:r>
              <a:rPr lang="en-US" sz="2400" dirty="0">
                <a:solidFill>
                  <a:srgbClr val="C00000"/>
                </a:solidFill>
              </a:rPr>
              <a:t>errors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C00000"/>
                </a:solidFill>
              </a:rPr>
              <a:t>ambiguities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C00000"/>
                </a:solidFill>
              </a:rPr>
              <a:t>omissions</a:t>
            </a:r>
            <a:r>
              <a:rPr lang="en-US" sz="2400" dirty="0"/>
              <a:t> (absence) and </a:t>
            </a:r>
            <a:r>
              <a:rPr lang="en-US" sz="2400" dirty="0">
                <a:solidFill>
                  <a:srgbClr val="C00000"/>
                </a:solidFill>
              </a:rPr>
              <a:t>conflicts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16782" y="990600"/>
            <a:ext cx="5084718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 dirty="0"/>
              <a:t>Requirements Management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100" y="1469886"/>
            <a:ext cx="1828800" cy="1828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38900" y="990599"/>
            <a:ext cx="495300" cy="461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7</a:t>
            </a:r>
            <a:endParaRPr lang="en-US" sz="2400" dirty="0"/>
          </a:p>
        </p:txBody>
      </p:sp>
      <p:sp>
        <p:nvSpPr>
          <p:cNvPr id="14" name="Rectangle 13"/>
          <p:cNvSpPr/>
          <p:nvPr/>
        </p:nvSpPr>
        <p:spPr>
          <a:xfrm>
            <a:off x="6438900" y="3702738"/>
            <a:ext cx="5562600" cy="15696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buClr>
                <a:schemeClr val="tx1"/>
              </a:buClr>
            </a:pPr>
            <a:r>
              <a:rPr lang="en-US" sz="2400" dirty="0"/>
              <a:t>It is a set of activities to </a:t>
            </a:r>
            <a:r>
              <a:rPr lang="en-US" sz="2400" dirty="0">
                <a:solidFill>
                  <a:srgbClr val="C00000"/>
                </a:solidFill>
              </a:rPr>
              <a:t>identify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C00000"/>
                </a:solidFill>
              </a:rPr>
              <a:t>control</a:t>
            </a:r>
            <a:r>
              <a:rPr lang="en-US" sz="2400" dirty="0"/>
              <a:t> &amp; </a:t>
            </a:r>
            <a:r>
              <a:rPr lang="en-US" sz="2400" dirty="0">
                <a:solidFill>
                  <a:srgbClr val="C00000"/>
                </a:solidFill>
              </a:rPr>
              <a:t>trace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C00000"/>
                </a:solidFill>
              </a:rPr>
              <a:t>requirements</a:t>
            </a:r>
            <a:r>
              <a:rPr lang="en-US" sz="2400" dirty="0"/>
              <a:t> &amp; </a:t>
            </a:r>
            <a:r>
              <a:rPr lang="en-US" sz="2400" dirty="0">
                <a:solidFill>
                  <a:srgbClr val="C00000"/>
                </a:solidFill>
              </a:rPr>
              <a:t>changes to requirements </a:t>
            </a:r>
            <a:r>
              <a:rPr lang="en-US" sz="2400" dirty="0"/>
              <a:t>(Umbrella Activities) at any time as the project proceeds.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6286500" y="914220"/>
            <a:ext cx="0" cy="5689901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9457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  <p:bldP spid="9" grpId="0" animBg="1"/>
      <p:bldP spid="10" grpId="0" animBg="1"/>
      <p:bldP spid="13" grpId="0" animBg="1"/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4A710-F930-0DE2-4648-DA673A04B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to illustrate an ambiguous requirement: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597207-53B6-FF89-42AA-BC86B33B32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Imagine a software development project where the client requests a feature that states "</a:t>
            </a:r>
            <a:r>
              <a:rPr lang="en-US" b="1" dirty="0">
                <a:solidFill>
                  <a:srgbClr val="C00000"/>
                </a:solidFill>
              </a:rPr>
              <a:t>The system should be fast</a:t>
            </a:r>
            <a:r>
              <a:rPr lang="en-US" dirty="0"/>
              <a:t>." </a:t>
            </a:r>
          </a:p>
          <a:p>
            <a:r>
              <a:rPr lang="en-US" dirty="0"/>
              <a:t>This </a:t>
            </a:r>
            <a:r>
              <a:rPr lang="en-US" b="1" dirty="0"/>
              <a:t>requirement is ambiguous </a:t>
            </a:r>
            <a:r>
              <a:rPr lang="en-US" dirty="0"/>
              <a:t>because "</a:t>
            </a:r>
            <a:r>
              <a:rPr lang="en-US" b="1" dirty="0"/>
              <a:t>fast</a:t>
            </a:r>
            <a:r>
              <a:rPr lang="en-US" dirty="0"/>
              <a:t>" is a subjective term that can mean different things to different people.</a:t>
            </a:r>
          </a:p>
          <a:p>
            <a:r>
              <a:rPr lang="en-US" dirty="0"/>
              <a:t>Without a clear definition of what "fast" means in this context (e.g., </a:t>
            </a:r>
            <a:r>
              <a:rPr lang="en-US" b="1" dirty="0"/>
              <a:t>response time, loading time, processing speed</a:t>
            </a:r>
            <a:r>
              <a:rPr lang="en-US" dirty="0"/>
              <a:t>), the </a:t>
            </a:r>
            <a:r>
              <a:rPr lang="en-US" b="1" dirty="0"/>
              <a:t>development</a:t>
            </a:r>
            <a:r>
              <a:rPr lang="en-US" dirty="0"/>
              <a:t> </a:t>
            </a:r>
            <a:r>
              <a:rPr lang="en-US" b="1" dirty="0"/>
              <a:t>team</a:t>
            </a:r>
            <a:r>
              <a:rPr lang="en-US" dirty="0"/>
              <a:t> may </a:t>
            </a:r>
            <a:r>
              <a:rPr lang="en-US" b="1" dirty="0"/>
              <a:t>struggle</a:t>
            </a:r>
            <a:r>
              <a:rPr lang="en-US" dirty="0"/>
              <a:t> </a:t>
            </a:r>
            <a:r>
              <a:rPr lang="en-US" b="1" dirty="0"/>
              <a:t>to</a:t>
            </a:r>
            <a:r>
              <a:rPr lang="en-US" dirty="0"/>
              <a:t> </a:t>
            </a:r>
            <a:r>
              <a:rPr lang="en-US" b="1" dirty="0"/>
              <a:t>implement</a:t>
            </a:r>
            <a:r>
              <a:rPr lang="en-US" dirty="0"/>
              <a:t> the feature correctly.</a:t>
            </a:r>
          </a:p>
          <a:p>
            <a:r>
              <a:rPr lang="en-US" dirty="0"/>
              <a:t>To make this requirement less ambiguous, it would be </a:t>
            </a:r>
            <a:r>
              <a:rPr lang="en-US" b="1" dirty="0"/>
              <a:t>better to specify measurable criteria </a:t>
            </a:r>
            <a:r>
              <a:rPr lang="en-US" dirty="0"/>
              <a:t>such as "</a:t>
            </a:r>
            <a:r>
              <a:rPr lang="en-US" b="1" dirty="0">
                <a:solidFill>
                  <a:srgbClr val="C00000"/>
                </a:solidFill>
              </a:rPr>
              <a:t>The system should load a webpage in under 2 seconds</a:t>
            </a:r>
            <a:r>
              <a:rPr lang="en-US" dirty="0"/>
              <a:t>"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91659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Elicitation is the Hardest Part!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31181" y="863444"/>
            <a:ext cx="5610714" cy="3977497"/>
          </a:xfrm>
        </p:spPr>
        <p:txBody>
          <a:bodyPr/>
          <a:lstStyle/>
          <a:p>
            <a:r>
              <a:rPr lang="en-US" b="1" dirty="0"/>
              <a:t>Problems of scope</a:t>
            </a:r>
          </a:p>
          <a:p>
            <a:pPr lvl="1"/>
            <a:r>
              <a:rPr lang="en-US" dirty="0"/>
              <a:t>System </a:t>
            </a:r>
            <a:r>
              <a:rPr lang="en-US" dirty="0">
                <a:solidFill>
                  <a:srgbClr val="C00000"/>
                </a:solidFill>
              </a:rPr>
              <a:t>boundaries</a:t>
            </a:r>
            <a:r>
              <a:rPr lang="en-US" dirty="0"/>
              <a:t> are </a:t>
            </a:r>
            <a:r>
              <a:rPr lang="en-US" dirty="0">
                <a:solidFill>
                  <a:srgbClr val="C00000"/>
                </a:solidFill>
              </a:rPr>
              <a:t>ill-defined</a:t>
            </a:r>
          </a:p>
          <a:p>
            <a:pPr lvl="1"/>
            <a:r>
              <a:rPr lang="en-US" dirty="0"/>
              <a:t>Customers will </a:t>
            </a:r>
            <a:r>
              <a:rPr lang="en-US" dirty="0">
                <a:solidFill>
                  <a:srgbClr val="C00000"/>
                </a:solidFill>
              </a:rPr>
              <a:t>provide irrelevant information</a:t>
            </a:r>
          </a:p>
          <a:p>
            <a:r>
              <a:rPr lang="en-US" b="1" dirty="0"/>
              <a:t>Problems of understanding</a:t>
            </a:r>
          </a:p>
          <a:p>
            <a:pPr lvl="1"/>
            <a:r>
              <a:rPr lang="en-US" dirty="0"/>
              <a:t>Customers </a:t>
            </a:r>
            <a:r>
              <a:rPr lang="en-US" dirty="0">
                <a:solidFill>
                  <a:srgbClr val="C00000"/>
                </a:solidFill>
              </a:rPr>
              <a:t>never know exactly </a:t>
            </a:r>
            <a:r>
              <a:rPr lang="en-US" dirty="0"/>
              <a:t>what they </a:t>
            </a:r>
            <a:r>
              <a:rPr lang="en-US" dirty="0">
                <a:solidFill>
                  <a:srgbClr val="C00000"/>
                </a:solidFill>
              </a:rPr>
              <a:t>want</a:t>
            </a:r>
          </a:p>
          <a:p>
            <a:pPr lvl="1"/>
            <a:r>
              <a:rPr lang="en-US" dirty="0"/>
              <a:t>Customers </a:t>
            </a:r>
            <a:r>
              <a:rPr lang="en-US" dirty="0">
                <a:solidFill>
                  <a:srgbClr val="C00000"/>
                </a:solidFill>
              </a:rPr>
              <a:t>don’t understand capabilities </a:t>
            </a:r>
            <a:r>
              <a:rPr lang="en-US" dirty="0"/>
              <a:t>and </a:t>
            </a:r>
            <a:r>
              <a:rPr lang="en-US" dirty="0">
                <a:solidFill>
                  <a:srgbClr val="C00000"/>
                </a:solidFill>
              </a:rPr>
              <a:t>limitations</a:t>
            </a:r>
          </a:p>
          <a:p>
            <a:pPr lvl="1"/>
            <a:r>
              <a:rPr lang="en-US" dirty="0"/>
              <a:t>Customers have </a:t>
            </a:r>
            <a:r>
              <a:rPr lang="en-US" dirty="0">
                <a:solidFill>
                  <a:srgbClr val="C00000"/>
                </a:solidFill>
              </a:rPr>
              <a:t>trouble</a:t>
            </a:r>
            <a:r>
              <a:rPr lang="en-US" dirty="0"/>
              <a:t> fully </a:t>
            </a:r>
            <a:r>
              <a:rPr lang="en-US" dirty="0">
                <a:solidFill>
                  <a:srgbClr val="C00000"/>
                </a:solidFill>
              </a:rPr>
              <a:t>communicating needs</a:t>
            </a:r>
          </a:p>
          <a:p>
            <a:r>
              <a:rPr lang="en-US" b="1" dirty="0"/>
              <a:t>Problems of volatility</a:t>
            </a:r>
          </a:p>
          <a:p>
            <a:pPr lvl="1"/>
            <a:r>
              <a:rPr lang="en-US" dirty="0"/>
              <a:t>Requirements always change</a:t>
            </a:r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929" y="4993184"/>
            <a:ext cx="1465578" cy="14625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5865" y="5215558"/>
            <a:ext cx="1141346" cy="10177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8569" y="4993184"/>
            <a:ext cx="1107141" cy="1107141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6029901" y="26988"/>
            <a:ext cx="3233578" cy="6155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4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+mj-ea"/>
                <a:cs typeface="+mj-cs"/>
              </a:rPr>
              <a:t>Project </a:t>
            </a:r>
            <a:r>
              <a:rPr lang="en-US" dirty="0"/>
              <a:t> </a:t>
            </a:r>
            <a:r>
              <a:rPr lang="en-US" sz="34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+mj-ea"/>
                <a:cs typeface="+mj-cs"/>
              </a:rPr>
              <a:t>Inception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5962650" y="1842314"/>
            <a:ext cx="5938838" cy="45870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C00000"/>
                </a:solidFill>
              </a:rPr>
              <a:t>Identify</a:t>
            </a:r>
            <a:r>
              <a:rPr lang="en-US" b="1" dirty="0"/>
              <a:t> the project </a:t>
            </a:r>
            <a:r>
              <a:rPr lang="en-US" b="1" dirty="0">
                <a:solidFill>
                  <a:srgbClr val="C00000"/>
                </a:solidFill>
              </a:rPr>
              <a:t>stakeholders</a:t>
            </a:r>
          </a:p>
          <a:p>
            <a:pPr lvl="1"/>
            <a:r>
              <a:rPr lang="en-US" dirty="0"/>
              <a:t>These are the folks we should be talking to</a:t>
            </a:r>
          </a:p>
          <a:p>
            <a:r>
              <a:rPr lang="en-US" b="1" dirty="0">
                <a:solidFill>
                  <a:srgbClr val="C00000"/>
                </a:solidFill>
              </a:rPr>
              <a:t>Recognize</a:t>
            </a:r>
            <a:r>
              <a:rPr lang="en-US" b="1" dirty="0"/>
              <a:t> multiple </a:t>
            </a:r>
            <a:r>
              <a:rPr lang="en-US" b="1" dirty="0">
                <a:solidFill>
                  <a:srgbClr val="C00000"/>
                </a:solidFill>
              </a:rPr>
              <a:t>viewpoints</a:t>
            </a:r>
          </a:p>
          <a:p>
            <a:pPr lvl="1"/>
            <a:r>
              <a:rPr lang="en-US" dirty="0"/>
              <a:t>Stakeholders may have different (and conflicting) requirements</a:t>
            </a:r>
          </a:p>
          <a:p>
            <a:r>
              <a:rPr lang="en-US" b="1" dirty="0">
                <a:solidFill>
                  <a:srgbClr val="C00000"/>
                </a:solidFill>
              </a:rPr>
              <a:t>Work</a:t>
            </a:r>
            <a:r>
              <a:rPr lang="en-US" b="1" dirty="0"/>
              <a:t> toward </a:t>
            </a:r>
            <a:r>
              <a:rPr lang="en-US" b="1" dirty="0">
                <a:solidFill>
                  <a:srgbClr val="C00000"/>
                </a:solidFill>
              </a:rPr>
              <a:t>collaboration</a:t>
            </a:r>
          </a:p>
          <a:p>
            <a:pPr lvl="1"/>
            <a:r>
              <a:rPr lang="en-US" dirty="0"/>
              <a:t>It’s all about reconciling conflict</a:t>
            </a:r>
          </a:p>
          <a:p>
            <a:r>
              <a:rPr lang="en-US" b="1" dirty="0"/>
              <a:t>Ask the </a:t>
            </a:r>
            <a:r>
              <a:rPr lang="en-US" b="1" dirty="0">
                <a:solidFill>
                  <a:srgbClr val="C00000"/>
                </a:solidFill>
              </a:rPr>
              <a:t>first questions</a:t>
            </a:r>
          </a:p>
          <a:p>
            <a:pPr lvl="1"/>
            <a:r>
              <a:rPr lang="en-US" dirty="0"/>
              <a:t>Who? What are the benefits? Another source?</a:t>
            </a:r>
          </a:p>
          <a:p>
            <a:pPr lvl="1"/>
            <a:r>
              <a:rPr lang="en-US" dirty="0"/>
              <a:t>What is the problem? What defines success? Other constraints?</a:t>
            </a:r>
          </a:p>
          <a:p>
            <a:pPr lvl="1"/>
            <a:r>
              <a:rPr lang="en-US" dirty="0"/>
              <a:t>Am I doing my job right?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84085" y="854074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/>
              <a:t>During the </a:t>
            </a:r>
            <a:r>
              <a:rPr lang="en-US" sz="2400" b="1" dirty="0"/>
              <a:t>initial project meetings</a:t>
            </a:r>
            <a:r>
              <a:rPr lang="en-US" sz="2400" dirty="0"/>
              <a:t>, the following </a:t>
            </a:r>
            <a:r>
              <a:rPr lang="en-US" sz="2400" dirty="0">
                <a:solidFill>
                  <a:srgbClr val="C00000"/>
                </a:solidFill>
              </a:rPr>
              <a:t>tasks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C00000"/>
                </a:solidFill>
              </a:rPr>
              <a:t>should</a:t>
            </a:r>
            <a:r>
              <a:rPr lang="en-US" sz="2400" dirty="0"/>
              <a:t> be </a:t>
            </a:r>
            <a:r>
              <a:rPr lang="en-US" sz="2400" dirty="0">
                <a:solidFill>
                  <a:srgbClr val="C00000"/>
                </a:solidFill>
              </a:rPr>
              <a:t>accomplished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5830884" y="0"/>
            <a:ext cx="0" cy="6600815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85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Collaborative Elicitation</a:t>
            </a:r>
          </a:p>
        </p:txBody>
      </p:sp>
      <p:sp>
        <p:nvSpPr>
          <p:cNvPr id="5" name="Rounded Rectangular Callout 4"/>
          <p:cNvSpPr/>
          <p:nvPr/>
        </p:nvSpPr>
        <p:spPr>
          <a:xfrm>
            <a:off x="295836" y="4424082"/>
            <a:ext cx="4168588" cy="1815353"/>
          </a:xfrm>
          <a:prstGeom prst="wedgeRoundRectCallout">
            <a:avLst>
              <a:gd name="adj1" fmla="val 3488"/>
              <a:gd name="adj2" fmla="val -101321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One-on-one Q&amp;A sessions rarely succeed in practice; </a:t>
            </a:r>
            <a:r>
              <a:rPr lang="en-US" sz="2400" dirty="0">
                <a:solidFill>
                  <a:srgbClr val="C00000"/>
                </a:solidFill>
              </a:rPr>
              <a:t>collaborative strategies are more practical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048" y="980888"/>
            <a:ext cx="4369261" cy="2662518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4755124" y="0"/>
            <a:ext cx="0" cy="6600815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4981035" y="26988"/>
            <a:ext cx="470513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4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+mj-ea"/>
                <a:cs typeface="+mj-cs"/>
              </a:rPr>
              <a:t>Elicitation</a:t>
            </a:r>
            <a:r>
              <a:rPr lang="en-US" sz="3600" dirty="0"/>
              <a:t> </a:t>
            </a:r>
            <a:r>
              <a:rPr lang="en-US" sz="34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+mj-ea"/>
                <a:cs typeface="+mj-cs"/>
              </a:rPr>
              <a:t>work</a:t>
            </a:r>
            <a:r>
              <a:rPr lang="en-US" sz="3600" dirty="0"/>
              <a:t> </a:t>
            </a:r>
            <a:r>
              <a:rPr lang="en-US" sz="34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+mj-ea"/>
                <a:cs typeface="+mj-cs"/>
              </a:rPr>
              <a:t>products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4898940" y="792629"/>
            <a:ext cx="7189966" cy="457200"/>
          </a:xfrm>
        </p:spPr>
        <p:txBody>
          <a:bodyPr/>
          <a:lstStyle/>
          <a:p>
            <a:pPr marL="0" indent="0">
              <a:buNone/>
            </a:pPr>
            <a:r>
              <a:rPr lang="en-US" sz="2200" dirty="0"/>
              <a:t>Collaborative elicitation should result in several </a:t>
            </a:r>
            <a:r>
              <a:rPr lang="en-US" sz="2200" b="1" dirty="0">
                <a:solidFill>
                  <a:srgbClr val="C00000"/>
                </a:solidFill>
              </a:rPr>
              <a:t>work products</a:t>
            </a:r>
            <a:endParaRPr lang="en-US" sz="2200" dirty="0"/>
          </a:p>
        </p:txBody>
      </p:sp>
      <p:sp>
        <p:nvSpPr>
          <p:cNvPr id="12" name="Rectangle 11"/>
          <p:cNvSpPr/>
          <p:nvPr/>
        </p:nvSpPr>
        <p:spPr>
          <a:xfrm>
            <a:off x="5060304" y="1331257"/>
            <a:ext cx="3911648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just"/>
            <a:r>
              <a:rPr lang="en-US" sz="2400" dirty="0"/>
              <a:t>A </a:t>
            </a:r>
            <a:r>
              <a:rPr lang="en-US" sz="2400" dirty="0">
                <a:solidFill>
                  <a:srgbClr val="C00000"/>
                </a:solidFill>
              </a:rPr>
              <a:t>bounded statement </a:t>
            </a:r>
            <a:r>
              <a:rPr lang="en-US" sz="2400" dirty="0"/>
              <a:t>of </a:t>
            </a:r>
            <a:r>
              <a:rPr lang="en-US" sz="2400" dirty="0">
                <a:solidFill>
                  <a:srgbClr val="C00000"/>
                </a:solidFill>
              </a:rPr>
              <a:t>scope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90211" y="1331257"/>
            <a:ext cx="2783541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sz="2400" dirty="0"/>
              <a:t>A </a:t>
            </a:r>
            <a:r>
              <a:rPr lang="en-US" sz="2400" dirty="0">
                <a:solidFill>
                  <a:srgbClr val="C00000"/>
                </a:solidFill>
              </a:rPr>
              <a:t>list</a:t>
            </a:r>
            <a:r>
              <a:rPr lang="en-US" sz="2400" dirty="0"/>
              <a:t> of </a:t>
            </a:r>
            <a:r>
              <a:rPr lang="en-US" sz="2400" dirty="0">
                <a:solidFill>
                  <a:srgbClr val="C00000"/>
                </a:solidFill>
              </a:rPr>
              <a:t>stakeholders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60304" y="1917424"/>
            <a:ext cx="6813448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sz="2400" dirty="0"/>
              <a:t>A </a:t>
            </a:r>
            <a:r>
              <a:rPr lang="en-US" sz="2400" dirty="0">
                <a:solidFill>
                  <a:srgbClr val="C00000"/>
                </a:solidFill>
              </a:rPr>
              <a:t>description</a:t>
            </a:r>
            <a:r>
              <a:rPr lang="en-US" sz="2400" dirty="0"/>
              <a:t> of the </a:t>
            </a:r>
            <a:r>
              <a:rPr lang="en-US" sz="2400" dirty="0">
                <a:solidFill>
                  <a:srgbClr val="C00000"/>
                </a:solidFill>
              </a:rPr>
              <a:t>technical environment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60304" y="2503591"/>
            <a:ext cx="6813448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sz="2400" dirty="0"/>
              <a:t>A </a:t>
            </a:r>
            <a:r>
              <a:rPr lang="en-US" sz="2400" dirty="0">
                <a:solidFill>
                  <a:srgbClr val="C00000"/>
                </a:solidFill>
              </a:rPr>
              <a:t>list</a:t>
            </a:r>
            <a:r>
              <a:rPr lang="en-US" sz="2400" dirty="0"/>
              <a:t> of </a:t>
            </a:r>
            <a:r>
              <a:rPr lang="en-US" sz="2400" dirty="0">
                <a:solidFill>
                  <a:srgbClr val="C00000"/>
                </a:solidFill>
              </a:rPr>
              <a:t>requirements</a:t>
            </a:r>
            <a:r>
              <a:rPr lang="en-US" sz="2400" dirty="0"/>
              <a:t> and </a:t>
            </a:r>
            <a:r>
              <a:rPr lang="en-US" sz="2400" dirty="0">
                <a:solidFill>
                  <a:srgbClr val="C00000"/>
                </a:solidFill>
              </a:rPr>
              <a:t>constraints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60304" y="3089758"/>
            <a:ext cx="4137484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sz="2400" dirty="0"/>
              <a:t>Any </a:t>
            </a:r>
            <a:r>
              <a:rPr lang="en-US" sz="2400" dirty="0">
                <a:solidFill>
                  <a:srgbClr val="C00000"/>
                </a:solidFill>
              </a:rPr>
              <a:t>prototypes</a:t>
            </a:r>
            <a:r>
              <a:rPr lang="en-US" sz="2400" dirty="0"/>
              <a:t> developed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55" t="5555" r="7711" b="7407"/>
          <a:stretch/>
        </p:blipFill>
        <p:spPr>
          <a:xfrm>
            <a:off x="9519010" y="3106091"/>
            <a:ext cx="2596790" cy="2712204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5060304" y="3675925"/>
            <a:ext cx="4137484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sz="2400" dirty="0"/>
              <a:t>A set of </a:t>
            </a:r>
            <a:r>
              <a:rPr lang="en-US" sz="2400" dirty="0">
                <a:solidFill>
                  <a:srgbClr val="C00000"/>
                </a:solidFill>
              </a:rPr>
              <a:t>use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DA932-4E25-87E9-5F62-F42E02533830}"/>
              </a:ext>
            </a:extLst>
          </p:cNvPr>
          <p:cNvSpPr txBox="1">
            <a:spLocks/>
          </p:cNvSpPr>
          <p:nvPr/>
        </p:nvSpPr>
        <p:spPr>
          <a:xfrm>
            <a:off x="4981035" y="4355649"/>
            <a:ext cx="4464716" cy="15871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Characterize how users will interact with the system</a:t>
            </a:r>
          </a:p>
          <a:p>
            <a:r>
              <a:rPr lang="en-US" dirty="0"/>
              <a:t>Use cases tie functional requirements together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3180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/>
      <p:bldP spid="10" grpId="0" build="p"/>
      <p:bldP spid="12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Quality Function Deployment (QFD)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2121802"/>
          </a:xfrm>
        </p:spPr>
        <p:txBody>
          <a:bodyPr/>
          <a:lstStyle/>
          <a:p>
            <a:r>
              <a:rPr lang="en-IN" dirty="0"/>
              <a:t>This is a technique that </a:t>
            </a:r>
            <a:r>
              <a:rPr lang="en-IN" b="1" dirty="0">
                <a:solidFill>
                  <a:srgbClr val="C00000"/>
                </a:solidFill>
              </a:rPr>
              <a:t>translates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the </a:t>
            </a:r>
            <a:r>
              <a:rPr lang="en-IN" b="1" dirty="0">
                <a:solidFill>
                  <a:srgbClr val="C00000"/>
                </a:solidFill>
              </a:rPr>
              <a:t>needs</a:t>
            </a:r>
            <a:r>
              <a:rPr lang="en-IN" dirty="0"/>
              <a:t> of the </a:t>
            </a:r>
            <a:r>
              <a:rPr lang="en-IN" b="1" dirty="0">
                <a:solidFill>
                  <a:srgbClr val="C00000"/>
                </a:solidFill>
              </a:rPr>
              <a:t>customer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into </a:t>
            </a:r>
            <a:r>
              <a:rPr lang="en-IN" b="1" dirty="0">
                <a:solidFill>
                  <a:srgbClr val="C00000"/>
                </a:solidFill>
              </a:rPr>
              <a:t>technical requirements</a:t>
            </a:r>
            <a:r>
              <a:rPr lang="en-IN" dirty="0"/>
              <a:t> for software</a:t>
            </a:r>
          </a:p>
          <a:p>
            <a:r>
              <a:rPr lang="en-IN" dirty="0"/>
              <a:t>It </a:t>
            </a:r>
            <a:r>
              <a:rPr lang="en-IN" b="1" dirty="0">
                <a:solidFill>
                  <a:srgbClr val="C00000"/>
                </a:solidFill>
              </a:rPr>
              <a:t>emphasizes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an </a:t>
            </a:r>
            <a:r>
              <a:rPr lang="en-IN" dirty="0">
                <a:solidFill>
                  <a:srgbClr val="C00000"/>
                </a:solidFill>
              </a:rPr>
              <a:t>understanding</a:t>
            </a:r>
            <a:r>
              <a:rPr lang="en-IN" dirty="0"/>
              <a:t> of </a:t>
            </a:r>
            <a:r>
              <a:rPr lang="en-IN" b="1" dirty="0">
                <a:solidFill>
                  <a:srgbClr val="C00000"/>
                </a:solidFill>
              </a:rPr>
              <a:t>what is valuable to the customer</a:t>
            </a:r>
            <a:r>
              <a:rPr lang="en-IN" dirty="0"/>
              <a:t> and then deploys these values throughout the engineering process through functions, information, and tasks</a:t>
            </a:r>
          </a:p>
          <a:p>
            <a:r>
              <a:rPr lang="en-IN" dirty="0"/>
              <a:t>It </a:t>
            </a:r>
            <a:r>
              <a:rPr lang="en-IN" b="1" dirty="0">
                <a:solidFill>
                  <a:srgbClr val="C00000"/>
                </a:solidFill>
              </a:rPr>
              <a:t>identifies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three types of </a:t>
            </a:r>
            <a:r>
              <a:rPr lang="en-IN" b="1" dirty="0">
                <a:solidFill>
                  <a:srgbClr val="C00000"/>
                </a:solidFill>
              </a:rPr>
              <a:t>requirements</a:t>
            </a:r>
          </a:p>
          <a:p>
            <a:pPr lvl="2"/>
            <a:endParaRPr lang="en-IN" dirty="0"/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25823" y="4825275"/>
            <a:ext cx="11634998" cy="73866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IN" sz="2100" b="1" dirty="0"/>
              <a:t>Exciting requirements: </a:t>
            </a:r>
            <a:r>
              <a:rPr lang="en-IN" sz="2100" dirty="0"/>
              <a:t>These requirements are for </a:t>
            </a:r>
            <a:r>
              <a:rPr lang="en-IN" sz="2100" dirty="0">
                <a:solidFill>
                  <a:srgbClr val="C00000"/>
                </a:solidFill>
              </a:rPr>
              <a:t>features</a:t>
            </a:r>
            <a:r>
              <a:rPr lang="en-IN" sz="2100" dirty="0"/>
              <a:t> that go </a:t>
            </a:r>
            <a:r>
              <a:rPr lang="en-IN" sz="2100" dirty="0">
                <a:solidFill>
                  <a:srgbClr val="C00000"/>
                </a:solidFill>
              </a:rPr>
              <a:t>beyond the customer's expectations </a:t>
            </a:r>
            <a:r>
              <a:rPr lang="en-IN" sz="2100" dirty="0"/>
              <a:t>and prove to be very satisfying when present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25823" y="2994211"/>
            <a:ext cx="11634998" cy="76944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IN" sz="2200" b="1" dirty="0"/>
              <a:t>Normal requirements: </a:t>
            </a:r>
            <a:r>
              <a:rPr lang="en-IN" sz="2200" dirty="0"/>
              <a:t>These requirements are the </a:t>
            </a:r>
            <a:r>
              <a:rPr lang="en-IN" sz="2200" dirty="0">
                <a:solidFill>
                  <a:srgbClr val="C00000"/>
                </a:solidFill>
              </a:rPr>
              <a:t>objectives and goals</a:t>
            </a:r>
            <a:r>
              <a:rPr lang="en-IN" sz="2200" dirty="0"/>
              <a:t> stated for a product or system during meetings with the customer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25823" y="3934097"/>
            <a:ext cx="11634998" cy="73866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IN" sz="2100" b="1" dirty="0"/>
              <a:t>Expected requirements: </a:t>
            </a:r>
            <a:r>
              <a:rPr lang="en-IN" sz="2100" dirty="0"/>
              <a:t>These requirements are </a:t>
            </a:r>
            <a:r>
              <a:rPr lang="en-IN" sz="2100" dirty="0">
                <a:solidFill>
                  <a:srgbClr val="C00000"/>
                </a:solidFill>
              </a:rPr>
              <a:t>implicit to the product </a:t>
            </a:r>
            <a:r>
              <a:rPr lang="en-IN" sz="2100" dirty="0"/>
              <a:t>or system and may be so </a:t>
            </a:r>
            <a:r>
              <a:rPr lang="en-IN" sz="2100" dirty="0">
                <a:solidFill>
                  <a:srgbClr val="C00000"/>
                </a:solidFill>
              </a:rPr>
              <a:t>fundamental</a:t>
            </a:r>
            <a:r>
              <a:rPr lang="en-IN" sz="2100" dirty="0"/>
              <a:t> that the customer does </a:t>
            </a:r>
            <a:r>
              <a:rPr lang="en-IN" sz="2100" dirty="0">
                <a:solidFill>
                  <a:srgbClr val="C00000"/>
                </a:solidFill>
              </a:rPr>
              <a:t>not explicitly state </a:t>
            </a:r>
            <a:r>
              <a:rPr lang="en-IN" sz="2100" dirty="0"/>
              <a:t>them</a:t>
            </a:r>
          </a:p>
        </p:txBody>
      </p:sp>
    </p:spTree>
    <p:extLst>
      <p:ext uri="{BB962C8B-B14F-4D97-AF65-F5344CB8AC3E}">
        <p14:creationId xmlns:p14="http://schemas.microsoft.com/office/powerpoint/2010/main" val="3174228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 animBg="1"/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requirement analysis model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5367" y="1316990"/>
            <a:ext cx="1752600" cy="17526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135" y="1008245"/>
            <a:ext cx="1762391" cy="18288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4261" y="1223887"/>
            <a:ext cx="2097937" cy="1468556"/>
          </a:xfrm>
          <a:prstGeom prst="rect">
            <a:avLst/>
          </a:prstGeom>
        </p:spPr>
      </p:pic>
      <p:sp>
        <p:nvSpPr>
          <p:cNvPr id="7" name="Right Arrow 6"/>
          <p:cNvSpPr/>
          <p:nvPr/>
        </p:nvSpPr>
        <p:spPr>
          <a:xfrm>
            <a:off x="2901951" y="1691465"/>
            <a:ext cx="1397720" cy="53340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Arrow 7"/>
          <p:cNvSpPr/>
          <p:nvPr/>
        </p:nvSpPr>
        <p:spPr>
          <a:xfrm>
            <a:off x="6916691" y="1723145"/>
            <a:ext cx="1272567" cy="53340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Bent Arrow 8"/>
          <p:cNvSpPr/>
          <p:nvPr/>
        </p:nvSpPr>
        <p:spPr>
          <a:xfrm rot="5400000">
            <a:off x="7457942" y="1930427"/>
            <a:ext cx="1077570" cy="2160074"/>
          </a:xfrm>
          <a:prstGeom prst="bentArrow">
            <a:avLst>
              <a:gd name="adj1" fmla="val 25000"/>
              <a:gd name="adj2" fmla="val 24232"/>
              <a:gd name="adj3" fmla="val 32683"/>
              <a:gd name="adj4" fmla="val 43750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01589" y="4422901"/>
            <a:ext cx="6709445" cy="4616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 dirty="0"/>
              <a:t>Provide a set of validation requirements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1591" y="3514983"/>
            <a:ext cx="6709443" cy="4616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 dirty="0"/>
              <a:t>Describe what the customer wants built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1591" y="3970965"/>
            <a:ext cx="6709444" cy="4616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 dirty="0"/>
              <a:t>Establish the foundation for the software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5587" y="3654211"/>
            <a:ext cx="2774479" cy="461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System Information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5587" y="4168362"/>
            <a:ext cx="2774479" cy="461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System Function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5587" y="4676476"/>
            <a:ext cx="2774479" cy="461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System Behaviors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594" y="3514035"/>
            <a:ext cx="553998" cy="13705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vert270" wrap="square" rtlCol="0">
            <a:spAutoFit/>
          </a:bodyPr>
          <a:lstStyle/>
          <a:p>
            <a:pPr algn="ctr"/>
            <a:r>
              <a:rPr lang="en-US" sz="2400" b="1" dirty="0"/>
              <a:t>Purpose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8035" y="5350068"/>
            <a:ext cx="1143000" cy="114300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7924" y="5350068"/>
            <a:ext cx="1143000" cy="114300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7814" y="5350068"/>
            <a:ext cx="1143000" cy="114300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7704" y="5350068"/>
            <a:ext cx="1143000" cy="114300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594" y="5350068"/>
            <a:ext cx="1143000" cy="114300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286164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build="allAtOnce" animBg="1"/>
      <p:bldP spid="14" grpId="0" build="allAtOnce" animBg="1"/>
      <p:bldP spid="15" grpId="0" build="allAtOnce" animBg="1"/>
      <p:bldP spid="1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rule of Thumb</a:t>
            </a:r>
          </a:p>
        </p:txBody>
      </p:sp>
      <p:sp>
        <p:nvSpPr>
          <p:cNvPr id="34" name="Content Placeholder 2"/>
          <p:cNvSpPr>
            <a:spLocks noGrp="1"/>
          </p:cNvSpPr>
          <p:nvPr>
            <p:ph idx="1"/>
          </p:nvPr>
        </p:nvSpPr>
        <p:spPr>
          <a:xfrm>
            <a:off x="183229" y="919836"/>
            <a:ext cx="4917558" cy="5590565"/>
          </a:xfrm>
        </p:spPr>
        <p:txBody>
          <a:bodyPr/>
          <a:lstStyle/>
          <a:p>
            <a:r>
              <a:rPr lang="en-US" dirty="0"/>
              <a:t>Make </a:t>
            </a:r>
            <a:r>
              <a:rPr lang="en-US" b="1" dirty="0">
                <a:solidFill>
                  <a:srgbClr val="C00000"/>
                </a:solidFill>
              </a:rPr>
              <a:t>sure all points </a:t>
            </a:r>
            <a:r>
              <a:rPr lang="en-US" dirty="0"/>
              <a:t>of view are </a:t>
            </a:r>
            <a:r>
              <a:rPr lang="en-US" b="1" dirty="0">
                <a:solidFill>
                  <a:srgbClr val="C00000"/>
                </a:solidFill>
              </a:rPr>
              <a:t>covered</a:t>
            </a:r>
          </a:p>
          <a:p>
            <a:r>
              <a:rPr lang="en-US" dirty="0"/>
              <a:t>Every </a:t>
            </a:r>
            <a:r>
              <a:rPr lang="en-US" b="1" dirty="0">
                <a:solidFill>
                  <a:srgbClr val="C00000"/>
                </a:solidFill>
              </a:rPr>
              <a:t>element</a:t>
            </a:r>
            <a:r>
              <a:rPr lang="en-US" dirty="0"/>
              <a:t> should </a:t>
            </a:r>
            <a:r>
              <a:rPr lang="en-US" b="1" dirty="0">
                <a:solidFill>
                  <a:srgbClr val="C00000"/>
                </a:solidFill>
              </a:rPr>
              <a:t>add value</a:t>
            </a:r>
          </a:p>
          <a:p>
            <a:r>
              <a:rPr lang="en-US" b="1" dirty="0">
                <a:solidFill>
                  <a:srgbClr val="C00000"/>
                </a:solidFill>
              </a:rPr>
              <a:t>Keep</a:t>
            </a:r>
            <a:r>
              <a:rPr lang="en-US" dirty="0"/>
              <a:t> it </a:t>
            </a:r>
            <a:r>
              <a:rPr lang="en-US" b="1" dirty="0">
                <a:solidFill>
                  <a:srgbClr val="C00000"/>
                </a:solidFill>
              </a:rPr>
              <a:t>simple</a:t>
            </a:r>
          </a:p>
          <a:p>
            <a:r>
              <a:rPr lang="en-US" b="1" dirty="0">
                <a:solidFill>
                  <a:srgbClr val="C00000"/>
                </a:solidFill>
              </a:rPr>
              <a:t>Maintain</a:t>
            </a:r>
            <a:r>
              <a:rPr lang="en-US" dirty="0"/>
              <a:t> a high level of </a:t>
            </a:r>
            <a:r>
              <a:rPr lang="en-US" b="1" dirty="0">
                <a:solidFill>
                  <a:srgbClr val="C00000"/>
                </a:solidFill>
              </a:rPr>
              <a:t>abstraction</a:t>
            </a:r>
          </a:p>
          <a:p>
            <a:r>
              <a:rPr lang="en-US" b="1" dirty="0">
                <a:solidFill>
                  <a:srgbClr val="C00000"/>
                </a:solidFill>
              </a:rPr>
              <a:t>Focus</a:t>
            </a:r>
            <a:r>
              <a:rPr lang="en-US" dirty="0"/>
              <a:t> on the </a:t>
            </a:r>
            <a:r>
              <a:rPr lang="en-US" b="1" dirty="0">
                <a:solidFill>
                  <a:srgbClr val="C00000"/>
                </a:solidFill>
              </a:rPr>
              <a:t>problem domain</a:t>
            </a:r>
          </a:p>
          <a:p>
            <a:r>
              <a:rPr lang="en-US" b="1" dirty="0">
                <a:solidFill>
                  <a:srgbClr val="C00000"/>
                </a:solidFill>
              </a:rPr>
              <a:t>Minimize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system </a:t>
            </a:r>
            <a:r>
              <a:rPr lang="en-US" b="1" dirty="0">
                <a:solidFill>
                  <a:srgbClr val="C00000"/>
                </a:solidFill>
              </a:rPr>
              <a:t>coupling</a:t>
            </a:r>
          </a:p>
          <a:p>
            <a:r>
              <a:rPr lang="en-US" b="1" dirty="0">
                <a:solidFill>
                  <a:srgbClr val="C00000"/>
                </a:solidFill>
              </a:rPr>
              <a:t>Model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should </a:t>
            </a:r>
            <a:r>
              <a:rPr lang="en-US" b="1" dirty="0">
                <a:solidFill>
                  <a:srgbClr val="C00000"/>
                </a:solidFill>
              </a:rPr>
              <a:t>provides value to all stakeholders</a:t>
            </a:r>
          </a:p>
        </p:txBody>
      </p:sp>
      <p:sp>
        <p:nvSpPr>
          <p:cNvPr id="4" name="Oval 3"/>
          <p:cNvSpPr/>
          <p:nvPr/>
        </p:nvSpPr>
        <p:spPr>
          <a:xfrm>
            <a:off x="6851824" y="1263765"/>
            <a:ext cx="3886200" cy="3886200"/>
          </a:xfrm>
          <a:prstGeom prst="ellipse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/>
          <p:cNvCxnSpPr>
            <a:stCxn id="4" idx="0"/>
            <a:endCxn id="4" idx="4"/>
          </p:cNvCxnSpPr>
          <p:nvPr/>
        </p:nvCxnSpPr>
        <p:spPr>
          <a:xfrm>
            <a:off x="8794924" y="1263765"/>
            <a:ext cx="0" cy="38862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stCxn id="4" idx="2"/>
            <a:endCxn id="4" idx="6"/>
          </p:cNvCxnSpPr>
          <p:nvPr/>
        </p:nvCxnSpPr>
        <p:spPr>
          <a:xfrm>
            <a:off x="6851824" y="3206865"/>
            <a:ext cx="38862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7930598" y="2342539"/>
            <a:ext cx="1728652" cy="1728652"/>
          </a:xfrm>
          <a:prstGeom prst="ellipse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8" name="TextBox 7"/>
          <p:cNvSpPr txBox="1"/>
          <p:nvPr/>
        </p:nvSpPr>
        <p:spPr>
          <a:xfrm>
            <a:off x="8032924" y="2859483"/>
            <a:ext cx="15199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Software</a:t>
            </a:r>
          </a:p>
          <a:p>
            <a:pPr algn="ctr"/>
            <a:r>
              <a:rPr lang="en-US" b="1" dirty="0"/>
              <a:t>Requirements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888113" y="882764"/>
            <a:ext cx="2269931" cy="1701461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5884782" y="922233"/>
            <a:ext cx="2394285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Scenario-based Models</a:t>
            </a:r>
          </a:p>
          <a:p>
            <a:r>
              <a:rPr lang="en-US" dirty="0"/>
              <a:t>e.g.</a:t>
            </a:r>
          </a:p>
          <a:p>
            <a:r>
              <a:rPr lang="en-US" dirty="0"/>
              <a:t>Use cases</a:t>
            </a:r>
          </a:p>
          <a:p>
            <a:r>
              <a:rPr lang="en-US" dirty="0"/>
              <a:t>User Stories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446503" y="959643"/>
            <a:ext cx="2138690" cy="1642040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9446503" y="999111"/>
            <a:ext cx="206140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/>
              <a:t>Class Models</a:t>
            </a:r>
          </a:p>
          <a:p>
            <a:pPr algn="r"/>
            <a:r>
              <a:rPr lang="en-US" dirty="0"/>
              <a:t>e.g.</a:t>
            </a:r>
          </a:p>
          <a:p>
            <a:pPr algn="r"/>
            <a:r>
              <a:rPr lang="en-US" dirty="0"/>
              <a:t>Class diagrams</a:t>
            </a:r>
          </a:p>
          <a:p>
            <a:pPr algn="r"/>
            <a:r>
              <a:rPr lang="en-US" dirty="0"/>
              <a:t>Collaboration diagrams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86962" y="3845333"/>
            <a:ext cx="2300055" cy="1701461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923973" y="3884802"/>
            <a:ext cx="2185756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Behavioral Models</a:t>
            </a:r>
          </a:p>
          <a:p>
            <a:r>
              <a:rPr lang="en-US" dirty="0"/>
              <a:t>e.g.</a:t>
            </a:r>
          </a:p>
          <a:p>
            <a:r>
              <a:rPr lang="en-US" dirty="0"/>
              <a:t>State diagrams</a:t>
            </a:r>
          </a:p>
          <a:p>
            <a:r>
              <a:rPr lang="en-US" dirty="0"/>
              <a:t>Sequence diagrams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44128" y="3791546"/>
            <a:ext cx="2138690" cy="1701460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9578920" y="3911696"/>
            <a:ext cx="194310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/>
              <a:t>Flow Models</a:t>
            </a:r>
          </a:p>
          <a:p>
            <a:pPr algn="r"/>
            <a:r>
              <a:rPr lang="en-US" dirty="0"/>
              <a:t>e.g.</a:t>
            </a:r>
          </a:p>
          <a:p>
            <a:pPr algn="r"/>
            <a:r>
              <a:rPr lang="en-US" dirty="0"/>
              <a:t>DFDs</a:t>
            </a:r>
          </a:p>
          <a:p>
            <a:pPr algn="r"/>
            <a:r>
              <a:rPr lang="en-US" dirty="0"/>
              <a:t>Data models</a:t>
            </a:r>
          </a:p>
        </p:txBody>
      </p:sp>
      <p:cxnSp>
        <p:nvCxnSpPr>
          <p:cNvPr id="32" name="Straight Connector 31"/>
          <p:cNvCxnSpPr/>
          <p:nvPr/>
        </p:nvCxnSpPr>
        <p:spPr>
          <a:xfrm>
            <a:off x="5277974" y="0"/>
            <a:ext cx="0" cy="6604121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5337852" y="32156"/>
            <a:ext cx="6625532" cy="6155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4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+mj-ea"/>
                <a:cs typeface="+mj-cs"/>
              </a:rPr>
              <a:t>Elements of the Requirements Model</a:t>
            </a:r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5026" y="4621988"/>
            <a:ext cx="1835552" cy="1835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200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uiExpand="1" build="p"/>
      <p:bldP spid="4" grpId="0" animBg="1"/>
      <p:bldP spid="7" grpId="0" animBg="1"/>
      <p:bldP spid="8" grpId="0"/>
      <p:bldP spid="9" grpId="0" animBg="1"/>
      <p:bldP spid="10" grpId="0"/>
      <p:bldP spid="11" grpId="0" animBg="1"/>
      <p:bldP spid="12" grpId="0"/>
      <p:bldP spid="13" grpId="0" animBg="1"/>
      <p:bldP spid="14" grpId="0"/>
      <p:bldP spid="15" grpId="0" animBg="1"/>
      <p:bldP spid="16" grpId="0"/>
      <p:bldP spid="3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Elements of the Requirements Model Cont.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6059" y="1373074"/>
            <a:ext cx="5855623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100" dirty="0">
                <a:solidFill>
                  <a:srgbClr val="C00000"/>
                </a:solidFill>
              </a:rPr>
              <a:t>Describe</a:t>
            </a:r>
            <a:r>
              <a:rPr lang="en-US" sz="2100" dirty="0"/>
              <a:t> the </a:t>
            </a:r>
            <a:r>
              <a:rPr lang="en-US" sz="2100" dirty="0">
                <a:solidFill>
                  <a:srgbClr val="C00000"/>
                </a:solidFill>
              </a:rPr>
              <a:t>system</a:t>
            </a:r>
            <a:r>
              <a:rPr lang="en-US" sz="2100" dirty="0"/>
              <a:t> from the </a:t>
            </a:r>
            <a:r>
              <a:rPr lang="en-US" sz="2100" dirty="0">
                <a:solidFill>
                  <a:srgbClr val="C00000"/>
                </a:solidFill>
              </a:rPr>
              <a:t>user's point of view </a:t>
            </a:r>
            <a:r>
              <a:rPr lang="en-US" sz="2100" dirty="0"/>
              <a:t>using scenarios that are stated in </a:t>
            </a:r>
            <a:r>
              <a:rPr lang="en-US" sz="2100" dirty="0">
                <a:solidFill>
                  <a:srgbClr val="C00000"/>
                </a:solidFill>
              </a:rPr>
              <a:t>use cases </a:t>
            </a:r>
            <a:r>
              <a:rPr lang="en-US" sz="2100" dirty="0"/>
              <a:t>and </a:t>
            </a:r>
            <a:r>
              <a:rPr lang="en-US" sz="2100" dirty="0">
                <a:solidFill>
                  <a:srgbClr val="C00000"/>
                </a:solidFill>
              </a:rPr>
              <a:t>activity diagrams</a:t>
            </a:r>
            <a:endParaRPr lang="en-US" sz="2100" dirty="0"/>
          </a:p>
        </p:txBody>
      </p:sp>
      <p:sp>
        <p:nvSpPr>
          <p:cNvPr id="19" name="Rectangle 18"/>
          <p:cNvSpPr/>
          <p:nvPr/>
        </p:nvSpPr>
        <p:spPr>
          <a:xfrm>
            <a:off x="176059" y="850774"/>
            <a:ext cx="4074748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Scenario-based elements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2684286" y="1312439"/>
            <a:ext cx="3313098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176059" y="2510002"/>
            <a:ext cx="4074748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Class-based elements</a:t>
            </a:r>
          </a:p>
        </p:txBody>
      </p:sp>
      <p:cxnSp>
        <p:nvCxnSpPr>
          <p:cNvPr id="29" name="Straight Connector 28"/>
          <p:cNvCxnSpPr/>
          <p:nvPr/>
        </p:nvCxnSpPr>
        <p:spPr>
          <a:xfrm>
            <a:off x="2684286" y="2971667"/>
            <a:ext cx="3313098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176059" y="3045786"/>
            <a:ext cx="577062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100" dirty="0">
                <a:solidFill>
                  <a:srgbClr val="C00000"/>
                </a:solidFill>
              </a:rPr>
              <a:t>Identify</a:t>
            </a:r>
            <a:r>
              <a:rPr lang="en-US" sz="2100" dirty="0"/>
              <a:t> the </a:t>
            </a:r>
            <a:r>
              <a:rPr lang="en-US" sz="2100" dirty="0">
                <a:solidFill>
                  <a:srgbClr val="C00000"/>
                </a:solidFill>
              </a:rPr>
              <a:t>domain classes</a:t>
            </a:r>
            <a:r>
              <a:rPr lang="en-US" sz="2100" dirty="0"/>
              <a:t> for the </a:t>
            </a:r>
            <a:r>
              <a:rPr lang="en-US" sz="2100" dirty="0">
                <a:solidFill>
                  <a:srgbClr val="C00000"/>
                </a:solidFill>
              </a:rPr>
              <a:t>objects</a:t>
            </a:r>
            <a:r>
              <a:rPr lang="en-US" sz="2100" dirty="0"/>
              <a:t> manipulated by the actors, the attributes of these classes, and how they interact with one another; which utilize </a:t>
            </a:r>
            <a:r>
              <a:rPr lang="en-US" sz="2100" dirty="0">
                <a:solidFill>
                  <a:srgbClr val="C00000"/>
                </a:solidFill>
              </a:rPr>
              <a:t>class diagrams</a:t>
            </a:r>
            <a:r>
              <a:rPr lang="en-US" sz="2100" dirty="0"/>
              <a:t> to do this.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4682" y="4661655"/>
            <a:ext cx="1741386" cy="338554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Use Case Diagram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74682" y="5004861"/>
            <a:ext cx="1741386" cy="147628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5" name="Picture 44"/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171" y="5005717"/>
            <a:ext cx="1475430" cy="147543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2375356" y="4661655"/>
            <a:ext cx="1565010" cy="338554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Activity Diagram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375356" y="5004861"/>
            <a:ext cx="1565010" cy="147628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8" name="Picture 47"/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4971" y="5091983"/>
            <a:ext cx="1282692" cy="1282692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4090564" y="4661655"/>
            <a:ext cx="1443470" cy="338554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Class Diagram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090564" y="5000209"/>
            <a:ext cx="1443470" cy="148093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" name="Picture 50"/>
          <p:cNvPicPr>
            <a:picLocks noChangeAspect="1"/>
          </p:cNvPicPr>
          <p:nvPr/>
        </p:nvPicPr>
        <p:blipFill>
          <a:blip r:embed="rId4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3842" y="5052794"/>
            <a:ext cx="1330532" cy="1330532"/>
          </a:xfrm>
          <a:prstGeom prst="rect">
            <a:avLst/>
          </a:prstGeom>
        </p:spPr>
      </p:pic>
      <p:cxnSp>
        <p:nvCxnSpPr>
          <p:cNvPr id="33" name="Straight Connector 32"/>
          <p:cNvCxnSpPr/>
          <p:nvPr/>
        </p:nvCxnSpPr>
        <p:spPr>
          <a:xfrm>
            <a:off x="6138583" y="711201"/>
            <a:ext cx="0" cy="5892920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6294487" y="1305839"/>
            <a:ext cx="5644964" cy="170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100" dirty="0"/>
              <a:t>Use </a:t>
            </a:r>
            <a:r>
              <a:rPr lang="en-US" sz="2100" dirty="0">
                <a:solidFill>
                  <a:srgbClr val="C00000"/>
                </a:solidFill>
              </a:rPr>
              <a:t>state diagrams</a:t>
            </a:r>
            <a:r>
              <a:rPr lang="en-US" sz="2100" dirty="0"/>
              <a:t> to </a:t>
            </a:r>
            <a:r>
              <a:rPr lang="en-US" sz="2100" dirty="0">
                <a:solidFill>
                  <a:srgbClr val="C00000"/>
                </a:solidFill>
              </a:rPr>
              <a:t>represent</a:t>
            </a:r>
            <a:r>
              <a:rPr lang="en-US" sz="2100" dirty="0"/>
              <a:t> the </a:t>
            </a:r>
            <a:r>
              <a:rPr lang="en-US" sz="2100" dirty="0">
                <a:solidFill>
                  <a:srgbClr val="C00000"/>
                </a:solidFill>
              </a:rPr>
              <a:t>state of the system</a:t>
            </a:r>
            <a:r>
              <a:rPr lang="en-US" sz="2100" dirty="0"/>
              <a:t>, the events that cause the system to change state, and the actions that are taken as a result of a particular event. This can also be applied to each class in the system.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94487" y="783539"/>
            <a:ext cx="4074748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Behavioral elements</a:t>
            </a:r>
          </a:p>
        </p:txBody>
      </p:sp>
      <p:cxnSp>
        <p:nvCxnSpPr>
          <p:cNvPr id="37" name="Straight Connector 36"/>
          <p:cNvCxnSpPr/>
          <p:nvPr/>
        </p:nvCxnSpPr>
        <p:spPr>
          <a:xfrm>
            <a:off x="8837012" y="1245204"/>
            <a:ext cx="3102439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6294487" y="3040970"/>
            <a:ext cx="4074748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Flow-oriented elements</a:t>
            </a:r>
          </a:p>
        </p:txBody>
      </p:sp>
      <p:cxnSp>
        <p:nvCxnSpPr>
          <p:cNvPr id="39" name="Straight Connector 38"/>
          <p:cNvCxnSpPr/>
          <p:nvPr/>
        </p:nvCxnSpPr>
        <p:spPr>
          <a:xfrm>
            <a:off x="8752009" y="3502635"/>
            <a:ext cx="3187442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6294486" y="3576754"/>
            <a:ext cx="5644965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100" dirty="0"/>
              <a:t>Use </a:t>
            </a:r>
            <a:r>
              <a:rPr lang="en-US" sz="2100" dirty="0">
                <a:solidFill>
                  <a:srgbClr val="C00000"/>
                </a:solidFill>
              </a:rPr>
              <a:t>data flow diagrams</a:t>
            </a:r>
            <a:r>
              <a:rPr lang="en-US" sz="2100" dirty="0"/>
              <a:t> to </a:t>
            </a:r>
            <a:r>
              <a:rPr lang="en-US" sz="2100" dirty="0">
                <a:solidFill>
                  <a:srgbClr val="C00000"/>
                </a:solidFill>
              </a:rPr>
              <a:t>show</a:t>
            </a:r>
            <a:r>
              <a:rPr lang="en-US" sz="2100" dirty="0"/>
              <a:t> the </a:t>
            </a:r>
            <a:r>
              <a:rPr lang="en-US" sz="2100" dirty="0">
                <a:solidFill>
                  <a:srgbClr val="C00000"/>
                </a:solidFill>
              </a:rPr>
              <a:t>input</a:t>
            </a:r>
            <a:r>
              <a:rPr lang="en-US" sz="2100" dirty="0"/>
              <a:t> data that comes into a system, what </a:t>
            </a:r>
            <a:r>
              <a:rPr lang="en-US" sz="2100" dirty="0">
                <a:solidFill>
                  <a:srgbClr val="C00000"/>
                </a:solidFill>
              </a:rPr>
              <a:t>functions</a:t>
            </a:r>
            <a:r>
              <a:rPr lang="en-US" sz="2100" dirty="0"/>
              <a:t> are </a:t>
            </a:r>
            <a:r>
              <a:rPr lang="en-US" sz="2100" dirty="0">
                <a:solidFill>
                  <a:srgbClr val="C00000"/>
                </a:solidFill>
              </a:rPr>
              <a:t>applied</a:t>
            </a:r>
            <a:r>
              <a:rPr lang="en-US" sz="2100" dirty="0"/>
              <a:t> to that data to do transformations, and what resulting </a:t>
            </a:r>
            <a:r>
              <a:rPr lang="en-US" sz="2100" dirty="0">
                <a:solidFill>
                  <a:srgbClr val="C00000"/>
                </a:solidFill>
              </a:rPr>
              <a:t>output</a:t>
            </a:r>
            <a:r>
              <a:rPr lang="en-US" sz="2100" dirty="0"/>
              <a:t> data are produced.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9634" y="5170031"/>
            <a:ext cx="738664" cy="1311116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vert270" wrap="square" rtlCol="0">
            <a:spAutoFit/>
          </a:bodyPr>
          <a:lstStyle/>
          <a:p>
            <a:pPr algn="ctr"/>
            <a:r>
              <a:rPr lang="en-US" b="1" dirty="0"/>
              <a:t>Data Flow Diagram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174530" y="5170031"/>
            <a:ext cx="1308300" cy="131111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/>
          <p:nvPr/>
        </p:nvSpPr>
        <p:spPr>
          <a:xfrm>
            <a:off x="9835573" y="4645002"/>
            <a:ext cx="738664" cy="1161723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vert270" wrap="square" rtlCol="0">
            <a:spAutoFit/>
          </a:bodyPr>
          <a:lstStyle/>
          <a:p>
            <a:pPr algn="ctr"/>
            <a:r>
              <a:rPr lang="en-US" b="1" dirty="0"/>
              <a:t>State Diagram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574237" y="4645002"/>
            <a:ext cx="1365214" cy="116172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5" name="Picture 54"/>
          <p:cNvPicPr>
            <a:picLocks noChangeAspect="1"/>
          </p:cNvPicPr>
          <p:nvPr/>
        </p:nvPicPr>
        <p:blipFill rotWithShape="1">
          <a:blip r:embed="rId5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30" b="10382"/>
          <a:stretch/>
        </p:blipFill>
        <p:spPr>
          <a:xfrm>
            <a:off x="10716007" y="4768953"/>
            <a:ext cx="1109641" cy="916433"/>
          </a:xfrm>
          <a:prstGeom prst="rect">
            <a:avLst/>
          </a:prstGeom>
        </p:spPr>
      </p:pic>
      <p:pic>
        <p:nvPicPr>
          <p:cNvPr id="56" name="Picture 55"/>
          <p:cNvPicPr>
            <a:picLocks noChangeAspect="1"/>
          </p:cNvPicPr>
          <p:nvPr/>
        </p:nvPicPr>
        <p:blipFill rotWithShape="1">
          <a:blip r:embed="rId6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5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8824" b="5883"/>
          <a:stretch/>
        </p:blipFill>
        <p:spPr>
          <a:xfrm>
            <a:off x="7297005" y="5436146"/>
            <a:ext cx="1039710" cy="886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013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 animBg="1"/>
      <p:bldP spid="28" grpId="0" animBg="1"/>
      <p:bldP spid="30" grpId="0"/>
      <p:bldP spid="43" grpId="0" animBg="1"/>
      <p:bldP spid="44" grpId="0" animBg="1"/>
      <p:bldP spid="46" grpId="0" animBg="1"/>
      <p:bldP spid="47" grpId="0" animBg="1"/>
      <p:bldP spid="49" grpId="0" animBg="1"/>
      <p:bldP spid="50" grpId="0" animBg="1"/>
      <p:bldP spid="35" grpId="0"/>
      <p:bldP spid="36" grpId="0" animBg="1"/>
      <p:bldP spid="38" grpId="0" animBg="1"/>
      <p:bldP spid="40" grpId="0"/>
      <p:bldP spid="41" grpId="0" animBg="1"/>
      <p:bldP spid="42" grpId="0" animBg="1"/>
      <p:bldP spid="53" grpId="0" animBg="1"/>
      <p:bldP spid="5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Characteristics of a Good SRS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2114887"/>
          </a:xfrm>
        </p:spPr>
        <p:txBody>
          <a:bodyPr/>
          <a:lstStyle/>
          <a:p>
            <a:r>
              <a:rPr lang="en-IN" altLang="en-US" dirty="0"/>
              <a:t>SRS should be </a:t>
            </a:r>
            <a:r>
              <a:rPr lang="en-IN" altLang="en-US" b="1" dirty="0">
                <a:solidFill>
                  <a:srgbClr val="C00000"/>
                </a:solidFill>
              </a:rPr>
              <a:t>accurate, complete, efficient, and of high quality, </a:t>
            </a:r>
            <a:r>
              <a:rPr lang="en-IN" altLang="en-US" dirty="0"/>
              <a:t>so that it does not affect the entire project plan.</a:t>
            </a:r>
          </a:p>
          <a:p>
            <a:r>
              <a:rPr lang="en-IN" altLang="en-US" dirty="0"/>
              <a:t>An SRS is </a:t>
            </a:r>
            <a:r>
              <a:rPr lang="en-IN" altLang="en-US" b="1" dirty="0">
                <a:solidFill>
                  <a:srgbClr val="C00000"/>
                </a:solidFill>
              </a:rPr>
              <a:t>said to be of high quality when </a:t>
            </a:r>
            <a:r>
              <a:rPr lang="en-IN" altLang="en-US" dirty="0"/>
              <a:t>the developer and user </a:t>
            </a:r>
            <a:r>
              <a:rPr lang="en-IN" altLang="en-US" b="1" dirty="0">
                <a:solidFill>
                  <a:srgbClr val="C00000"/>
                </a:solidFill>
              </a:rPr>
              <a:t>easily understand</a:t>
            </a:r>
            <a:r>
              <a:rPr lang="en-IN" altLang="en-US" dirty="0">
                <a:solidFill>
                  <a:srgbClr val="FF0000"/>
                </a:solidFill>
              </a:rPr>
              <a:t> </a:t>
            </a:r>
            <a:r>
              <a:rPr lang="en-IN" altLang="en-US" dirty="0"/>
              <a:t>the prepared document. </a:t>
            </a:r>
          </a:p>
          <a:p>
            <a:r>
              <a:rPr lang="en-IN" altLang="en-US" dirty="0"/>
              <a:t>Characteristics of a Good SRS:</a:t>
            </a:r>
          </a:p>
          <a:p>
            <a:endParaRPr lang="en-IN" altLang="en-US" dirty="0"/>
          </a:p>
          <a:p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272270" y="2978331"/>
            <a:ext cx="1885406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Correct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2157676" y="3439996"/>
            <a:ext cx="2205318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9" name="Content Placeholder 2"/>
          <p:cNvSpPr txBox="1">
            <a:spLocks/>
          </p:cNvSpPr>
          <p:nvPr/>
        </p:nvSpPr>
        <p:spPr>
          <a:xfrm>
            <a:off x="272270" y="3592239"/>
            <a:ext cx="4090724" cy="1097327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altLang="en-US" dirty="0"/>
              <a:t>SRS is correct when </a:t>
            </a:r>
            <a:r>
              <a:rPr lang="en-IN" altLang="en-US" dirty="0">
                <a:solidFill>
                  <a:srgbClr val="C00000"/>
                </a:solidFill>
              </a:rPr>
              <a:t>all user requirements are stated</a:t>
            </a:r>
            <a:r>
              <a:rPr lang="en-IN" altLang="en-US" dirty="0">
                <a:solidFill>
                  <a:srgbClr val="FF0000"/>
                </a:solidFill>
              </a:rPr>
              <a:t> </a:t>
            </a:r>
            <a:r>
              <a:rPr lang="en-IN" altLang="en-US" dirty="0"/>
              <a:t>in the requirements document.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20363" y="2978331"/>
            <a:ext cx="1885406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Unambiguous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6505769" y="3439996"/>
            <a:ext cx="1318885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2" name="Content Placeholder 2"/>
          <p:cNvSpPr txBox="1">
            <a:spLocks/>
          </p:cNvSpPr>
          <p:nvPr/>
        </p:nvSpPr>
        <p:spPr>
          <a:xfrm>
            <a:off x="4620363" y="3592239"/>
            <a:ext cx="3204291" cy="1500977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altLang="en-US" dirty="0"/>
              <a:t>SRS is unambiguous when </a:t>
            </a:r>
            <a:r>
              <a:rPr lang="en-IN" altLang="en-US" dirty="0">
                <a:solidFill>
                  <a:srgbClr val="C00000"/>
                </a:solidFill>
              </a:rPr>
              <a:t>every stated requirement has only one interpretation</a:t>
            </a:r>
            <a:r>
              <a:rPr lang="en-IN" altLang="en-US" dirty="0"/>
              <a:t>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15830" y="2978331"/>
            <a:ext cx="1885406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Complete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10001236" y="3439996"/>
            <a:ext cx="1833713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1" name="Content Placeholder 2"/>
          <p:cNvSpPr txBox="1">
            <a:spLocks/>
          </p:cNvSpPr>
          <p:nvPr/>
        </p:nvSpPr>
        <p:spPr>
          <a:xfrm>
            <a:off x="8115831" y="3553050"/>
            <a:ext cx="3719118" cy="1540167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altLang="en-US" dirty="0"/>
              <a:t>SRS is complete when the </a:t>
            </a:r>
            <a:r>
              <a:rPr lang="en-IN" altLang="en-US" dirty="0">
                <a:solidFill>
                  <a:srgbClr val="C00000"/>
                </a:solidFill>
              </a:rPr>
              <a:t>requirements clearly define what the software is required to do</a:t>
            </a:r>
            <a:r>
              <a:rPr lang="en-IN" altLang="en-US" dirty="0"/>
              <a:t>.</a:t>
            </a:r>
          </a:p>
        </p:txBody>
      </p:sp>
      <p:sp>
        <p:nvSpPr>
          <p:cNvPr id="26" name="Content Placeholder 2"/>
          <p:cNvSpPr txBox="1">
            <a:spLocks/>
          </p:cNvSpPr>
          <p:nvPr/>
        </p:nvSpPr>
        <p:spPr>
          <a:xfrm>
            <a:off x="272270" y="4815682"/>
            <a:ext cx="4090724" cy="111485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altLang="en-US" dirty="0"/>
              <a:t>Note that there is </a:t>
            </a:r>
            <a:r>
              <a:rPr lang="en-IN" altLang="en-US" dirty="0">
                <a:solidFill>
                  <a:srgbClr val="C00000"/>
                </a:solidFill>
              </a:rPr>
              <a:t>no specified tool or procedure to assure the correctness</a:t>
            </a:r>
            <a:r>
              <a:rPr lang="en-IN" altLang="en-US" dirty="0">
                <a:solidFill>
                  <a:schemeClr val="accent2"/>
                </a:solidFill>
              </a:rPr>
              <a:t> </a:t>
            </a:r>
            <a:r>
              <a:rPr lang="en-IN" altLang="en-US" dirty="0"/>
              <a:t>of SRS.</a:t>
            </a:r>
          </a:p>
        </p:txBody>
      </p:sp>
      <p:cxnSp>
        <p:nvCxnSpPr>
          <p:cNvPr id="28" name="Straight Connector 27"/>
          <p:cNvCxnSpPr/>
          <p:nvPr/>
        </p:nvCxnSpPr>
        <p:spPr>
          <a:xfrm>
            <a:off x="4514563" y="2978331"/>
            <a:ext cx="0" cy="3487782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7988388" y="2996261"/>
            <a:ext cx="0" cy="3487782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6917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animBg="1"/>
      <p:bldP spid="9" grpId="0" uiExpand="1" build="p"/>
      <p:bldP spid="10" grpId="0" animBg="1"/>
      <p:bldP spid="12" grpId="0" uiExpand="1" build="p"/>
      <p:bldP spid="19" grpId="0" animBg="1"/>
      <p:bldP spid="21" grpId="0" uiExpand="1" build="p"/>
      <p:bldP spid="26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Characteristics of a Good SRS Cont.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67766" y="899587"/>
            <a:ext cx="4443421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Ranked for Importance/Stability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2053173" y="1361252"/>
            <a:ext cx="4844017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9" name="Content Placeholder 2"/>
          <p:cNvSpPr txBox="1">
            <a:spLocks/>
          </p:cNvSpPr>
          <p:nvPr/>
        </p:nvSpPr>
        <p:spPr>
          <a:xfrm>
            <a:off x="167768" y="1461244"/>
            <a:ext cx="6729422" cy="1112139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tx1"/>
              </a:buClr>
              <a:buNone/>
            </a:pPr>
            <a:r>
              <a:rPr lang="en-IN" altLang="en-US" dirty="0"/>
              <a:t>All requirements are not equally important, hence </a:t>
            </a:r>
            <a:r>
              <a:rPr lang="en-IN" altLang="en-US" dirty="0">
                <a:solidFill>
                  <a:srgbClr val="C00000"/>
                </a:solidFill>
              </a:rPr>
              <a:t>each requirement is identified to make differences</a:t>
            </a:r>
            <a:r>
              <a:rPr lang="en-IN" altLang="en-US" dirty="0">
                <a:solidFill>
                  <a:srgbClr val="FF0000"/>
                </a:solidFill>
              </a:rPr>
              <a:t> </a:t>
            </a:r>
            <a:r>
              <a:rPr lang="en-IN" altLang="en-US" dirty="0"/>
              <a:t>among other requirements.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70151" y="899587"/>
            <a:ext cx="1885406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IN" altLang="en-US" sz="2400" b="1" dirty="0"/>
              <a:t>Modifiable</a:t>
            </a:r>
            <a:endParaRPr lang="en-US" sz="2400" b="1" dirty="0">
              <a:solidFill>
                <a:schemeClr val="bg1"/>
              </a:solidFill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9155557" y="1361252"/>
            <a:ext cx="2846601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2" name="Content Placeholder 2"/>
          <p:cNvSpPr txBox="1">
            <a:spLocks/>
          </p:cNvSpPr>
          <p:nvPr/>
        </p:nvSpPr>
        <p:spPr>
          <a:xfrm>
            <a:off x="7270151" y="1513494"/>
            <a:ext cx="4732007" cy="175222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tx1"/>
              </a:buClr>
              <a:buNone/>
            </a:pPr>
            <a:r>
              <a:rPr lang="en-IN" altLang="en-US" dirty="0"/>
              <a:t>The requirements of the user can change, hence requirements document should be created in such a manner that those </a:t>
            </a:r>
            <a:r>
              <a:rPr lang="en-IN" altLang="en-US" dirty="0">
                <a:solidFill>
                  <a:srgbClr val="C00000"/>
                </a:solidFill>
              </a:rPr>
              <a:t>changes can be modified easily</a:t>
            </a:r>
            <a:r>
              <a:rPr lang="en-IN" altLang="en-US" dirty="0"/>
              <a:t>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7767" y="3745315"/>
            <a:ext cx="1885406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IN" altLang="en-US" sz="2400" b="1" dirty="0"/>
              <a:t>Traceable</a:t>
            </a:r>
            <a:endParaRPr lang="en-US" sz="2400" b="1" dirty="0">
              <a:solidFill>
                <a:schemeClr val="bg1"/>
              </a:solidFill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2053173" y="4206980"/>
            <a:ext cx="1852621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5" name="Content Placeholder 2"/>
          <p:cNvSpPr txBox="1">
            <a:spLocks/>
          </p:cNvSpPr>
          <p:nvPr/>
        </p:nvSpPr>
        <p:spPr>
          <a:xfrm>
            <a:off x="167768" y="4320034"/>
            <a:ext cx="3868656" cy="2093891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tx1"/>
              </a:buClr>
              <a:buNone/>
            </a:pPr>
            <a:r>
              <a:rPr lang="en-IN" altLang="en-US" dirty="0"/>
              <a:t>SRS is traceable when the</a:t>
            </a:r>
            <a:r>
              <a:rPr lang="en-IN" altLang="en-US" dirty="0">
                <a:solidFill>
                  <a:srgbClr val="C00000"/>
                </a:solidFill>
              </a:rPr>
              <a:t> source of each requirement is clear</a:t>
            </a:r>
            <a:r>
              <a:rPr lang="en-IN" altLang="en-US" dirty="0">
                <a:solidFill>
                  <a:srgbClr val="FF0000"/>
                </a:solidFill>
              </a:rPr>
              <a:t> </a:t>
            </a:r>
            <a:r>
              <a:rPr lang="en-IN" altLang="en-US" dirty="0"/>
              <a:t>and facilitates the reference of each requirement in future.</a:t>
            </a:r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151453" y="2642923"/>
            <a:ext cx="6745738" cy="75046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tx1"/>
              </a:buClr>
              <a:buNone/>
            </a:pPr>
            <a:r>
              <a:rPr lang="en-IN" altLang="en-US" dirty="0">
                <a:solidFill>
                  <a:srgbClr val="C00000"/>
                </a:solidFill>
              </a:rPr>
              <a:t>Stability implies the probability of changes</a:t>
            </a:r>
            <a:r>
              <a:rPr lang="en-IN" altLang="en-US" dirty="0">
                <a:solidFill>
                  <a:schemeClr val="accent2"/>
                </a:solidFill>
              </a:rPr>
              <a:t> </a:t>
            </a:r>
            <a:r>
              <a:rPr lang="en-IN" altLang="en-US" dirty="0"/>
              <a:t>in the requirement in future.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78065" y="3745315"/>
            <a:ext cx="1885406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IN" altLang="en-US" sz="2400" b="1" dirty="0"/>
              <a:t>Verifiable</a:t>
            </a:r>
            <a:endParaRPr lang="en-US" sz="2400" b="1" dirty="0">
              <a:solidFill>
                <a:schemeClr val="bg1"/>
              </a:solidFill>
            </a:endParaRPr>
          </a:p>
        </p:txBody>
      </p:sp>
      <p:cxnSp>
        <p:nvCxnSpPr>
          <p:cNvPr id="27" name="Straight Connector 26"/>
          <p:cNvCxnSpPr/>
          <p:nvPr/>
        </p:nvCxnSpPr>
        <p:spPr>
          <a:xfrm>
            <a:off x="6063471" y="4206980"/>
            <a:ext cx="2072000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8" name="Content Placeholder 2"/>
          <p:cNvSpPr txBox="1">
            <a:spLocks/>
          </p:cNvSpPr>
          <p:nvPr/>
        </p:nvSpPr>
        <p:spPr>
          <a:xfrm>
            <a:off x="4178066" y="4320034"/>
            <a:ext cx="3957406" cy="2093891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altLang="en-US" dirty="0"/>
              <a:t>SRS is verifiable when the </a:t>
            </a:r>
            <a:r>
              <a:rPr lang="en-IN" altLang="en-US" dirty="0">
                <a:solidFill>
                  <a:srgbClr val="C00000"/>
                </a:solidFill>
              </a:rPr>
              <a:t>specified requirements can be verified with a cost-effective process</a:t>
            </a:r>
            <a:r>
              <a:rPr lang="en-IN" altLang="en-US" dirty="0">
                <a:solidFill>
                  <a:srgbClr val="FF0000"/>
                </a:solidFill>
              </a:rPr>
              <a:t> </a:t>
            </a:r>
            <a:r>
              <a:rPr lang="en-IN" altLang="en-US" dirty="0"/>
              <a:t>to check whether the final software meets those requirements.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07742" y="3745315"/>
            <a:ext cx="1885406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IN" altLang="en-US" sz="2400" b="1" dirty="0"/>
              <a:t>Consistent</a:t>
            </a:r>
            <a:endParaRPr lang="en-US" sz="2400" b="1" dirty="0">
              <a:solidFill>
                <a:schemeClr val="bg1"/>
              </a:solidFill>
            </a:endParaRPr>
          </a:p>
        </p:txBody>
      </p:sp>
      <p:cxnSp>
        <p:nvCxnSpPr>
          <p:cNvPr id="31" name="Straight Connector 30"/>
          <p:cNvCxnSpPr/>
          <p:nvPr/>
        </p:nvCxnSpPr>
        <p:spPr>
          <a:xfrm>
            <a:off x="10293148" y="4206980"/>
            <a:ext cx="1724891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32" name="Content Placeholder 2"/>
          <p:cNvSpPr txBox="1">
            <a:spLocks/>
          </p:cNvSpPr>
          <p:nvPr/>
        </p:nvSpPr>
        <p:spPr>
          <a:xfrm>
            <a:off x="8407742" y="4320034"/>
            <a:ext cx="3610297" cy="1486499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altLang="en-US" dirty="0"/>
              <a:t>SRS is consistent when the </a:t>
            </a:r>
            <a:r>
              <a:rPr lang="en-IN" altLang="en-US" dirty="0">
                <a:solidFill>
                  <a:srgbClr val="C00000"/>
                </a:solidFill>
              </a:rPr>
              <a:t>subsets of individual requirements defined do not conflict</a:t>
            </a:r>
            <a:r>
              <a:rPr lang="en-IN" altLang="en-US" dirty="0">
                <a:solidFill>
                  <a:srgbClr val="FF0000"/>
                </a:solidFill>
              </a:rPr>
              <a:t> </a:t>
            </a:r>
            <a:r>
              <a:rPr lang="en-IN" altLang="en-US" dirty="0"/>
              <a:t>with each other.</a:t>
            </a:r>
            <a:endParaRPr lang="en-US" alt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7096398" y="899587"/>
            <a:ext cx="0" cy="2493801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151453" y="3523129"/>
            <a:ext cx="11850705" cy="0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4036424" y="3745315"/>
            <a:ext cx="0" cy="2668610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8263283" y="3745315"/>
            <a:ext cx="0" cy="2668610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6650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uiExpand="1" build="p"/>
      <p:bldP spid="10" grpId="0" animBg="1"/>
      <p:bldP spid="12" grpId="0" uiExpand="1" build="p"/>
      <p:bldP spid="13" grpId="0" animBg="1"/>
      <p:bldP spid="15" grpId="0" uiExpand="1" build="p"/>
      <p:bldP spid="16" grpId="0" uiExpand="1" build="p"/>
      <p:bldP spid="26" grpId="0" animBg="1"/>
      <p:bldP spid="28" grpId="0" uiExpand="1" build="p"/>
      <p:bldP spid="30" grpId="0" animBg="1"/>
      <p:bldP spid="32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Problems Without SRS</a:t>
            </a: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131179" y="971265"/>
            <a:ext cx="11929641" cy="7752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Without developing the SRS document, the </a:t>
            </a:r>
            <a:r>
              <a:rPr lang="en-US" dirty="0">
                <a:solidFill>
                  <a:srgbClr val="C00000"/>
                </a:solidFill>
              </a:rPr>
              <a:t>system would not be properly implemented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/>
              <a:t>according to customer needs.</a:t>
            </a:r>
          </a:p>
          <a:p>
            <a:r>
              <a:rPr lang="en-US" dirty="0"/>
              <a:t>Software developers would not know whether what they are developing is </a:t>
            </a:r>
            <a:r>
              <a:rPr lang="en-US" dirty="0">
                <a:solidFill>
                  <a:srgbClr val="C00000"/>
                </a:solidFill>
              </a:rPr>
              <a:t>what exactly is required by the customer</a:t>
            </a:r>
            <a:r>
              <a:rPr lang="en-US" dirty="0"/>
              <a:t>.</a:t>
            </a:r>
          </a:p>
          <a:p>
            <a:r>
              <a:rPr lang="en-US" dirty="0"/>
              <a:t>Without SRS, it will be very difficult for the </a:t>
            </a:r>
            <a:r>
              <a:rPr lang="en-US" dirty="0">
                <a:solidFill>
                  <a:srgbClr val="C00000"/>
                </a:solidFill>
              </a:rPr>
              <a:t>maintenance engineers to understand the functionality </a:t>
            </a:r>
            <a:r>
              <a:rPr lang="en-US" dirty="0"/>
              <a:t>of the system.</a:t>
            </a:r>
          </a:p>
          <a:p>
            <a:r>
              <a:rPr lang="en-US" dirty="0"/>
              <a:t>It will be very difficult for </a:t>
            </a:r>
            <a:r>
              <a:rPr lang="en-US" dirty="0">
                <a:solidFill>
                  <a:srgbClr val="C00000"/>
                </a:solidFill>
              </a:rPr>
              <a:t>user document writers to write the users’ manuals properly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without understanding the SRS.</a:t>
            </a:r>
          </a:p>
        </p:txBody>
      </p:sp>
    </p:spTree>
    <p:extLst>
      <p:ext uri="{BB962C8B-B14F-4D97-AF65-F5344CB8AC3E}">
        <p14:creationId xmlns:p14="http://schemas.microsoft.com/office/powerpoint/2010/main" val="1321612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Standard Template for writing SRS</a:t>
            </a:r>
            <a:endParaRPr lang="en-US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25186" y="820783"/>
            <a:ext cx="5570220" cy="51228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panose="05040102010807070707" pitchFamily="18" charset="2"/>
              <a:buNone/>
            </a:pPr>
            <a:r>
              <a:rPr lang="en-IN" b="1" dirty="0"/>
              <a:t>1. Introduction</a:t>
            </a:r>
          </a:p>
          <a:p>
            <a:pPr marL="457200" lvl="1" indent="0">
              <a:buFont typeface="Wingdings 3" panose="05040102010807070707" pitchFamily="18" charset="2"/>
              <a:buNone/>
            </a:pPr>
            <a:r>
              <a:rPr lang="en-IN" dirty="0"/>
              <a:t>1.1 Purpose</a:t>
            </a:r>
          </a:p>
          <a:p>
            <a:pPr marL="457200" lvl="1" indent="0">
              <a:buFont typeface="Wingdings 3" panose="05040102010807070707" pitchFamily="18" charset="2"/>
              <a:buNone/>
            </a:pPr>
            <a:r>
              <a:rPr lang="en-IN" dirty="0"/>
              <a:t>1.2 Document Conventions</a:t>
            </a:r>
          </a:p>
          <a:p>
            <a:pPr marL="457200" lvl="1" indent="0">
              <a:buFont typeface="Wingdings 3" panose="05040102010807070707" pitchFamily="18" charset="2"/>
              <a:buNone/>
            </a:pPr>
            <a:r>
              <a:rPr lang="en-IN" dirty="0"/>
              <a:t>1.3 Intended Audience and Reading Suggestions</a:t>
            </a:r>
          </a:p>
          <a:p>
            <a:pPr marL="457200" lvl="1" indent="0">
              <a:buFont typeface="Wingdings 3" panose="05040102010807070707" pitchFamily="18" charset="2"/>
              <a:buNone/>
            </a:pPr>
            <a:r>
              <a:rPr lang="en-IN" dirty="0"/>
              <a:t>1.4 Project Scope</a:t>
            </a:r>
          </a:p>
          <a:p>
            <a:pPr marL="457200" lvl="1" indent="0">
              <a:buFont typeface="Wingdings 3" panose="05040102010807070707" pitchFamily="18" charset="2"/>
              <a:buNone/>
            </a:pPr>
            <a:r>
              <a:rPr lang="en-IN" dirty="0"/>
              <a:t>1.5 References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IN" b="1" dirty="0"/>
              <a:t>2. Overall Description</a:t>
            </a:r>
          </a:p>
          <a:p>
            <a:pPr marL="457200" lvl="1" indent="0">
              <a:buFont typeface="Wingdings 3" panose="05040102010807070707" pitchFamily="18" charset="2"/>
              <a:buNone/>
            </a:pPr>
            <a:r>
              <a:rPr lang="en-IN" dirty="0"/>
              <a:t>2.1 Product Perspective</a:t>
            </a:r>
          </a:p>
          <a:p>
            <a:pPr marL="457200" lvl="1" indent="0">
              <a:buFont typeface="Wingdings 3" panose="05040102010807070707" pitchFamily="18" charset="2"/>
              <a:buNone/>
            </a:pPr>
            <a:r>
              <a:rPr lang="en-IN" dirty="0"/>
              <a:t>2.2 Product Features</a:t>
            </a:r>
          </a:p>
          <a:p>
            <a:pPr marL="457200" lvl="1" indent="0">
              <a:buFont typeface="Wingdings 3" panose="05040102010807070707" pitchFamily="18" charset="2"/>
              <a:buNone/>
            </a:pPr>
            <a:r>
              <a:rPr lang="en-IN" dirty="0"/>
              <a:t>2.3 User Classes and Characteristics</a:t>
            </a:r>
          </a:p>
          <a:p>
            <a:pPr marL="457200" lvl="1" indent="0">
              <a:buFont typeface="Wingdings 3" panose="05040102010807070707" pitchFamily="18" charset="2"/>
              <a:buNone/>
            </a:pPr>
            <a:r>
              <a:rPr lang="en-IN" dirty="0"/>
              <a:t>2.4 Operating Environment</a:t>
            </a:r>
          </a:p>
          <a:p>
            <a:pPr marL="457200" lvl="1" indent="0">
              <a:buFont typeface="Wingdings 3" panose="05040102010807070707" pitchFamily="18" charset="2"/>
              <a:buNone/>
            </a:pPr>
            <a:r>
              <a:rPr lang="en-IN" dirty="0"/>
              <a:t>2.5 Design and Implementation Constraints</a:t>
            </a:r>
          </a:p>
          <a:p>
            <a:pPr marL="457200" lvl="1" indent="0">
              <a:buNone/>
            </a:pPr>
            <a:r>
              <a:rPr lang="en-IN" dirty="0"/>
              <a:t>2.6 User Documentation</a:t>
            </a:r>
          </a:p>
          <a:p>
            <a:pPr marL="457200" lvl="1" indent="0">
              <a:buNone/>
            </a:pPr>
            <a:r>
              <a:rPr lang="en-IN" dirty="0"/>
              <a:t>2.7 Assumptions and Dependencies</a:t>
            </a:r>
          </a:p>
          <a:p>
            <a:pPr marL="457200" lvl="1" indent="0">
              <a:buFont typeface="Wingdings 3" panose="05040102010807070707" pitchFamily="18" charset="2"/>
              <a:buNone/>
            </a:pPr>
            <a:endParaRPr lang="en-US" altLang="en-US" dirty="0"/>
          </a:p>
        </p:txBody>
      </p:sp>
      <p:sp>
        <p:nvSpPr>
          <p:cNvPr id="7" name="Rectangle 3"/>
          <p:cNvSpPr>
            <a:spLocks noGrp="1" noChangeArrowheads="1"/>
          </p:cNvSpPr>
          <p:nvPr>
            <p:ph idx="1"/>
          </p:nvPr>
        </p:nvSpPr>
        <p:spPr>
          <a:xfrm>
            <a:off x="6303917" y="820783"/>
            <a:ext cx="6040483" cy="5334000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3. System Features</a:t>
            </a:r>
          </a:p>
          <a:p>
            <a:pPr marL="457200" lvl="1" indent="0">
              <a:buNone/>
            </a:pPr>
            <a:r>
              <a:rPr lang="en-IN" dirty="0"/>
              <a:t>3.1 System Feature 1</a:t>
            </a:r>
          </a:p>
          <a:p>
            <a:pPr marL="457200" lvl="1" indent="0">
              <a:buNone/>
            </a:pPr>
            <a:r>
              <a:rPr lang="en-IN" dirty="0"/>
              <a:t>3.2 System Feature 2 (and so on)</a:t>
            </a:r>
          </a:p>
          <a:p>
            <a:pPr marL="0" indent="0">
              <a:buNone/>
            </a:pPr>
            <a:r>
              <a:rPr lang="en-IN" b="1" dirty="0"/>
              <a:t>4. External Interface Requirements</a:t>
            </a:r>
          </a:p>
          <a:p>
            <a:pPr marL="457200" lvl="1" indent="0">
              <a:buNone/>
            </a:pPr>
            <a:r>
              <a:rPr lang="en-IN" dirty="0"/>
              <a:t>4.1 User Interfaces</a:t>
            </a:r>
          </a:p>
          <a:p>
            <a:pPr marL="457200" lvl="1" indent="0">
              <a:buNone/>
            </a:pPr>
            <a:r>
              <a:rPr lang="en-IN" dirty="0"/>
              <a:t>4.2 Hardware Interfaces</a:t>
            </a:r>
          </a:p>
          <a:p>
            <a:pPr marL="457200" lvl="1" indent="0">
              <a:buNone/>
            </a:pPr>
            <a:r>
              <a:rPr lang="en-IN" dirty="0"/>
              <a:t>4.3 Software Interfaces</a:t>
            </a:r>
          </a:p>
          <a:p>
            <a:pPr marL="457200" lvl="1" indent="0">
              <a:buNone/>
            </a:pPr>
            <a:r>
              <a:rPr lang="en-IN" dirty="0"/>
              <a:t>4.4 Communications Interfaces</a:t>
            </a:r>
          </a:p>
          <a:p>
            <a:pPr marL="0" indent="0">
              <a:buNone/>
            </a:pPr>
            <a:r>
              <a:rPr lang="en-IN" b="1" dirty="0"/>
              <a:t>5. Other </a:t>
            </a:r>
            <a:r>
              <a:rPr lang="en-IN" b="1" dirty="0" err="1"/>
              <a:t>Nonfunctional</a:t>
            </a:r>
            <a:r>
              <a:rPr lang="en-IN" b="1" dirty="0"/>
              <a:t> Requirements</a:t>
            </a:r>
          </a:p>
          <a:p>
            <a:pPr marL="457200" lvl="1" indent="0">
              <a:buNone/>
            </a:pPr>
            <a:r>
              <a:rPr lang="en-IN" dirty="0"/>
              <a:t>5.1 Performance Requirements</a:t>
            </a:r>
          </a:p>
          <a:p>
            <a:pPr marL="457200" lvl="1" indent="0">
              <a:buNone/>
            </a:pPr>
            <a:r>
              <a:rPr lang="en-IN" dirty="0"/>
              <a:t>5.2 Safety Requirements</a:t>
            </a:r>
          </a:p>
          <a:p>
            <a:pPr marL="457200" lvl="1" indent="0">
              <a:buNone/>
            </a:pPr>
            <a:r>
              <a:rPr lang="en-IN" dirty="0"/>
              <a:t>5.3 Security Requirements</a:t>
            </a:r>
          </a:p>
          <a:p>
            <a:pPr marL="457200" lvl="1" indent="0">
              <a:buNone/>
            </a:pPr>
            <a:r>
              <a:rPr lang="en-IN" dirty="0"/>
              <a:t>5.4 Software Quality Attributes</a:t>
            </a:r>
          </a:p>
          <a:p>
            <a:pPr marL="0" indent="0">
              <a:buNone/>
            </a:pPr>
            <a:r>
              <a:rPr lang="en-IN" b="1" dirty="0"/>
              <a:t>6. Other Requirements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343989" y="6118496"/>
            <a:ext cx="913964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200" b="1" dirty="0"/>
              <a:t>Appendix A: Glossary | Appendix B: Analysis Models | Appendix C: Issues List</a:t>
            </a:r>
            <a:endParaRPr lang="en-US" altLang="en-US" sz="22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5912288" y="711201"/>
            <a:ext cx="0" cy="5232398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1888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D3AC1-6253-E31B-25AC-C4F0BBA14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Software Design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6A6093-6367-7BCD-1F33-0A4C212261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Section 2</a:t>
            </a:r>
          </a:p>
        </p:txBody>
      </p:sp>
    </p:spTree>
    <p:extLst>
      <p:ext uri="{BB962C8B-B14F-4D97-AF65-F5344CB8AC3E}">
        <p14:creationId xmlns:p14="http://schemas.microsoft.com/office/powerpoint/2010/main" val="7179918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925EF2-D58F-4AC0-ACED-F747CC08D69F}"/>
              </a:ext>
            </a:extLst>
          </p:cNvPr>
          <p:cNvCxnSpPr>
            <a:cxnSpLocks/>
          </p:cNvCxnSpPr>
          <p:nvPr/>
        </p:nvCxnSpPr>
        <p:spPr>
          <a:xfrm>
            <a:off x="1191446" y="6092331"/>
            <a:ext cx="0" cy="179438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246540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58962" y="731706"/>
            <a:ext cx="971855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Outline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What is Design?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Software design work products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Characteristics of good Design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Design Models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The FURPS quality attributes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Design Concepts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Design Principles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Architectural Design &amp; Styles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Component Level or Procedural Design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Cohesion &amp; Coupling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User Interface Design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Golden Rules of User Interface Design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Web Application Design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6229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1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Design?</a:t>
            </a:r>
          </a:p>
        </p:txBody>
      </p:sp>
      <p:sp>
        <p:nvSpPr>
          <p:cNvPr id="3" name="Rounded Rectangular Callout 2"/>
          <p:cNvSpPr/>
          <p:nvPr/>
        </p:nvSpPr>
        <p:spPr>
          <a:xfrm>
            <a:off x="248194" y="836024"/>
            <a:ext cx="11704320" cy="509452"/>
          </a:xfrm>
          <a:prstGeom prst="wedgeRoundRectCallout">
            <a:avLst>
              <a:gd name="adj1" fmla="val -44724"/>
              <a:gd name="adj2" fmla="val -117694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A </a:t>
            </a:r>
            <a:r>
              <a:rPr lang="en-US" sz="2400" b="1" dirty="0">
                <a:solidFill>
                  <a:srgbClr val="C00000"/>
                </a:solidFill>
              </a:rPr>
              <a:t>meaningful representation</a:t>
            </a:r>
            <a:r>
              <a:rPr lang="en-US" sz="2400" dirty="0"/>
              <a:t> of something to be built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4800" y="1470299"/>
            <a:ext cx="11647714" cy="461665"/>
          </a:xfrm>
          <a:prstGeom prst="rect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prstDash val="lgDash"/>
          </a:ln>
        </p:spPr>
        <p:txBody>
          <a:bodyPr wrap="square">
            <a:spAutoFit/>
          </a:bodyPr>
          <a:lstStyle/>
          <a:p>
            <a:r>
              <a:rPr lang="en-US" sz="2400" dirty="0"/>
              <a:t>It's a </a:t>
            </a:r>
            <a:r>
              <a:rPr lang="en-US" sz="2400" b="1" dirty="0">
                <a:solidFill>
                  <a:srgbClr val="C00000"/>
                </a:solidFill>
              </a:rPr>
              <a:t>process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by which </a:t>
            </a:r>
            <a:r>
              <a:rPr lang="en-US" sz="2400" b="1" dirty="0">
                <a:solidFill>
                  <a:srgbClr val="C00000"/>
                </a:solidFill>
              </a:rPr>
              <a:t>requirements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are </a:t>
            </a:r>
            <a:r>
              <a:rPr lang="en-US" sz="2400" b="1" dirty="0">
                <a:solidFill>
                  <a:srgbClr val="C00000"/>
                </a:solidFill>
              </a:rPr>
              <a:t>translated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into </a:t>
            </a:r>
            <a:r>
              <a:rPr lang="en-US" sz="2400" b="1" dirty="0">
                <a:solidFill>
                  <a:srgbClr val="C00000"/>
                </a:solidFill>
              </a:rPr>
              <a:t>blueprint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for constructing a software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4800" y="2010620"/>
            <a:ext cx="11647714" cy="461665"/>
          </a:xfrm>
          <a:prstGeom prst="rect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prstDash val="lgDash"/>
          </a:ln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Blueprint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gives us the</a:t>
            </a:r>
            <a:r>
              <a:rPr lang="en-US" sz="2400" b="1" dirty="0">
                <a:solidFill>
                  <a:srgbClr val="C00000"/>
                </a:solidFill>
              </a:rPr>
              <a:t> holistic view </a:t>
            </a:r>
            <a:r>
              <a:rPr lang="en-US" sz="2400" dirty="0"/>
              <a:t>(entire view) of a </a:t>
            </a:r>
            <a:r>
              <a:rPr lang="en-US" sz="2400" b="1" dirty="0">
                <a:solidFill>
                  <a:srgbClr val="C00000"/>
                </a:solidFill>
              </a:rPr>
              <a:t>software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179" y="4614836"/>
            <a:ext cx="2937935" cy="1796042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33" t="11111" r="4167" b="26667"/>
          <a:stretch/>
        </p:blipFill>
        <p:spPr>
          <a:xfrm>
            <a:off x="378395" y="2800117"/>
            <a:ext cx="2992344" cy="159591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7" name="Rectangle 16"/>
          <p:cNvSpPr/>
          <p:nvPr/>
        </p:nvSpPr>
        <p:spPr>
          <a:xfrm>
            <a:off x="4482737" y="3169882"/>
            <a:ext cx="1295400" cy="12192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4557940" y="3348595"/>
            <a:ext cx="114499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000" b="1" dirty="0"/>
              <a:t>SRS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41790" y="3169882"/>
            <a:ext cx="1577820" cy="12192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7241790" y="3247001"/>
            <a:ext cx="15778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Design</a:t>
            </a:r>
          </a:p>
          <a:p>
            <a:pPr algn="ctr"/>
            <a:r>
              <a:rPr lang="en-US" sz="3000" b="1" dirty="0"/>
              <a:t>Process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71314" y="3169882"/>
            <a:ext cx="1905000" cy="12192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9971314" y="3247001"/>
            <a:ext cx="1904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Software</a:t>
            </a:r>
          </a:p>
          <a:p>
            <a:pPr algn="ctr"/>
            <a:r>
              <a:rPr lang="en-US" sz="3000" b="1" dirty="0"/>
              <a:t>Design</a:t>
            </a:r>
          </a:p>
        </p:txBody>
      </p:sp>
      <p:cxnSp>
        <p:nvCxnSpPr>
          <p:cNvPr id="23" name="Straight Arrow Connector 22"/>
          <p:cNvCxnSpPr>
            <a:stCxn id="17" idx="3"/>
            <a:endCxn id="19" idx="1"/>
          </p:cNvCxnSpPr>
          <p:nvPr/>
        </p:nvCxnSpPr>
        <p:spPr>
          <a:xfrm>
            <a:off x="5778137" y="3779482"/>
            <a:ext cx="146365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19" idx="3"/>
            <a:endCxn id="21" idx="1"/>
          </p:cNvCxnSpPr>
          <p:nvPr/>
        </p:nvCxnSpPr>
        <p:spPr>
          <a:xfrm>
            <a:off x="8819610" y="3779482"/>
            <a:ext cx="115170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302437" y="4628833"/>
            <a:ext cx="17935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Problem </a:t>
            </a:r>
          </a:p>
          <a:p>
            <a:pPr algn="ctr"/>
            <a:r>
              <a:rPr lang="en-US" sz="2400" dirty="0"/>
              <a:t>Domain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97679" y="4628833"/>
            <a:ext cx="12522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Solution </a:t>
            </a:r>
          </a:p>
          <a:p>
            <a:pPr algn="ctr"/>
            <a:r>
              <a:rPr lang="en-US" sz="2400" dirty="0"/>
              <a:t>Domain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94600" y="3092763"/>
            <a:ext cx="1460429" cy="1379294"/>
          </a:xfrm>
          <a:prstGeom prst="rect">
            <a:avLst/>
          </a:prstGeom>
          <a:noFill/>
          <a:ln w="381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7150899" y="3089743"/>
            <a:ext cx="1744911" cy="1379294"/>
          </a:xfrm>
          <a:prstGeom prst="rect">
            <a:avLst/>
          </a:prstGeom>
          <a:noFill/>
          <a:ln w="381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9896484" y="3096454"/>
            <a:ext cx="2056030" cy="1379294"/>
          </a:xfrm>
          <a:prstGeom prst="rect">
            <a:avLst/>
          </a:prstGeom>
          <a:noFill/>
          <a:ln w="381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121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8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1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4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3" grpId="0" animBg="1"/>
      <p:bldP spid="14" grpId="0" animBg="1"/>
      <p:bldP spid="17" grpId="0" animBg="1"/>
      <p:bldP spid="18" grpId="0"/>
      <p:bldP spid="19" grpId="0" animBg="1"/>
      <p:bldP spid="20" grpId="0"/>
      <p:bldP spid="21" grpId="0" animBg="1"/>
      <p:bldP spid="22" grpId="0"/>
      <p:bldP spid="27" grpId="0"/>
      <p:bldP spid="28" grpId="0"/>
      <p:bldP spid="29" grpId="0" animBg="1"/>
      <p:bldP spid="30" grpId="0" animBg="1"/>
      <p:bldP spid="3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Concepts</a:t>
            </a:r>
          </a:p>
        </p:txBody>
      </p:sp>
      <p:sp>
        <p:nvSpPr>
          <p:cNvPr id="14" name="Rounded Rectangular Callout 13"/>
          <p:cNvSpPr/>
          <p:nvPr/>
        </p:nvSpPr>
        <p:spPr>
          <a:xfrm>
            <a:off x="279321" y="936847"/>
            <a:ext cx="11554092" cy="1038812"/>
          </a:xfrm>
          <a:prstGeom prst="wedgeRoundRectCallout">
            <a:avLst>
              <a:gd name="adj1" fmla="val -40208"/>
              <a:gd name="adj2" fmla="val -93155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2400" dirty="0"/>
              <a:t>The beginning of </a:t>
            </a:r>
            <a:r>
              <a:rPr lang="en-US" sz="2400" b="1" dirty="0">
                <a:solidFill>
                  <a:srgbClr val="C00000"/>
                </a:solidFill>
              </a:rPr>
              <a:t>wisdom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for a </a:t>
            </a:r>
            <a:r>
              <a:rPr lang="en-US" sz="2400" b="1" dirty="0">
                <a:solidFill>
                  <a:srgbClr val="C00000"/>
                </a:solidFill>
              </a:rPr>
              <a:t>software engineer</a:t>
            </a:r>
            <a:r>
              <a:rPr lang="en-US" sz="2400" dirty="0"/>
              <a:t> is to </a:t>
            </a:r>
            <a:r>
              <a:rPr lang="en-US" sz="2400" b="1" dirty="0">
                <a:solidFill>
                  <a:srgbClr val="C00000"/>
                </a:solidFill>
              </a:rPr>
              <a:t>recognize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the </a:t>
            </a:r>
            <a:r>
              <a:rPr lang="en-US" sz="2400" b="1" dirty="0">
                <a:solidFill>
                  <a:srgbClr val="C00000"/>
                </a:solidFill>
              </a:rPr>
              <a:t>difference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between </a:t>
            </a:r>
            <a:r>
              <a:rPr lang="en-US" sz="2400" b="1" dirty="0">
                <a:solidFill>
                  <a:srgbClr val="C00000"/>
                </a:solidFill>
              </a:rPr>
              <a:t>getting a program to work</a:t>
            </a:r>
            <a:r>
              <a:rPr lang="en-US" sz="2400" dirty="0"/>
              <a:t> and </a:t>
            </a:r>
            <a:r>
              <a:rPr lang="en-US" sz="2400" b="1" dirty="0">
                <a:solidFill>
                  <a:srgbClr val="C00000"/>
                </a:solidFill>
              </a:rPr>
              <a:t>getting it right</a:t>
            </a:r>
          </a:p>
          <a:p>
            <a:pPr algn="ctr"/>
            <a:endParaRPr lang="en-US" sz="2400" dirty="0"/>
          </a:p>
        </p:txBody>
      </p:sp>
      <p:sp>
        <p:nvSpPr>
          <p:cNvPr id="3" name="Rectangle 2"/>
          <p:cNvSpPr/>
          <p:nvPr/>
        </p:nvSpPr>
        <p:spPr>
          <a:xfrm>
            <a:off x="279320" y="2381007"/>
            <a:ext cx="2638841" cy="26776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b="1" dirty="0"/>
              <a:t>Fundamental software design </a:t>
            </a:r>
            <a:r>
              <a:rPr lang="en-US" sz="2400" dirty="0"/>
              <a:t>concepts </a:t>
            </a:r>
            <a:r>
              <a:rPr lang="en-US" sz="2400" dirty="0">
                <a:solidFill>
                  <a:srgbClr val="BF2323"/>
                </a:solidFill>
              </a:rPr>
              <a:t>provide</a:t>
            </a:r>
            <a:r>
              <a:rPr lang="en-US" sz="2400" dirty="0"/>
              <a:t> the necessary </a:t>
            </a:r>
            <a:r>
              <a:rPr lang="en-US" sz="2400" dirty="0">
                <a:solidFill>
                  <a:srgbClr val="BF2323"/>
                </a:solidFill>
              </a:rPr>
              <a:t>framework</a:t>
            </a:r>
          </a:p>
          <a:p>
            <a:pPr algn="ctr"/>
            <a:r>
              <a:rPr lang="en-US" sz="2400" dirty="0"/>
              <a:t>for </a:t>
            </a:r>
          </a:p>
          <a:p>
            <a:pPr algn="ctr"/>
            <a:r>
              <a:rPr lang="en-US" sz="2400" b="1" dirty="0">
                <a:solidFill>
                  <a:srgbClr val="BF2323"/>
                </a:solidFill>
              </a:rPr>
              <a:t>“getting it right.”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68841" y="2381007"/>
            <a:ext cx="8464571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dirty="0"/>
              <a:t>Each design concept helps to answer the following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368840" y="3007390"/>
            <a:ext cx="846457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US" sz="2400" dirty="0"/>
              <a:t>What criteria can be used to </a:t>
            </a:r>
            <a:r>
              <a:rPr lang="en-US" sz="2400" dirty="0">
                <a:solidFill>
                  <a:srgbClr val="C00000"/>
                </a:solidFill>
              </a:rPr>
              <a:t>partition software into individual components</a:t>
            </a:r>
            <a:r>
              <a:rPr lang="en-US" sz="2400" dirty="0"/>
              <a:t>?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/>
              <a:t>How is </a:t>
            </a:r>
            <a:r>
              <a:rPr lang="en-US" sz="2400" dirty="0">
                <a:solidFill>
                  <a:srgbClr val="C00000"/>
                </a:solidFill>
              </a:rPr>
              <a:t>function or data structure</a:t>
            </a:r>
            <a:r>
              <a:rPr lang="en-US" sz="2400" dirty="0"/>
              <a:t> detail </a:t>
            </a:r>
            <a:r>
              <a:rPr lang="en-US" sz="2400" dirty="0">
                <a:solidFill>
                  <a:srgbClr val="C00000"/>
                </a:solidFill>
              </a:rPr>
              <a:t>separated from a conceptual representation</a:t>
            </a:r>
            <a:r>
              <a:rPr lang="en-US" sz="2400" dirty="0"/>
              <a:t> of the software?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/>
              <a:t>What uniform criteria </a:t>
            </a:r>
            <a:r>
              <a:rPr lang="en-US" sz="2400" dirty="0">
                <a:solidFill>
                  <a:srgbClr val="C00000"/>
                </a:solidFill>
              </a:rPr>
              <a:t>define the technical quality </a:t>
            </a:r>
            <a:r>
              <a:rPr lang="en-US" sz="2400" dirty="0"/>
              <a:t>of a software design?</a:t>
            </a:r>
          </a:p>
        </p:txBody>
      </p:sp>
    </p:spTree>
    <p:extLst>
      <p:ext uri="{BB962C8B-B14F-4D97-AF65-F5344CB8AC3E}">
        <p14:creationId xmlns:p14="http://schemas.microsoft.com/office/powerpoint/2010/main" val="2682883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3" grpId="0" animBg="1"/>
      <p:bldP spid="27" grpId="0" animBg="1"/>
      <p:bldP spid="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A7453-0C43-5086-9204-E5714F5AD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Concepts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C4E310-BC88-1B20-DB85-40E90B4317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Design creates a </a:t>
            </a:r>
            <a:r>
              <a:rPr lang="en-IN" b="1" dirty="0">
                <a:solidFill>
                  <a:srgbClr val="C00000"/>
                </a:solidFill>
              </a:rPr>
              <a:t>representation</a:t>
            </a:r>
            <a:r>
              <a:rPr lang="en-IN" dirty="0"/>
              <a:t> or </a:t>
            </a:r>
            <a:r>
              <a:rPr lang="en-IN" b="1" dirty="0">
                <a:solidFill>
                  <a:srgbClr val="C00000"/>
                </a:solidFill>
              </a:rPr>
              <a:t>model</a:t>
            </a:r>
            <a:r>
              <a:rPr lang="en-IN" dirty="0"/>
              <a:t> </a:t>
            </a:r>
            <a:r>
              <a:rPr lang="en-IN" b="1" dirty="0">
                <a:solidFill>
                  <a:srgbClr val="C00000"/>
                </a:solidFill>
              </a:rPr>
              <a:t>of the software</a:t>
            </a:r>
            <a:r>
              <a:rPr lang="en-IN" dirty="0"/>
              <a:t>, but </a:t>
            </a:r>
            <a:r>
              <a:rPr lang="en-IN" b="1" dirty="0"/>
              <a:t>unlike</a:t>
            </a:r>
            <a:r>
              <a:rPr lang="en-IN" dirty="0"/>
              <a:t> the </a:t>
            </a:r>
            <a:r>
              <a:rPr lang="en-IN" b="1" dirty="0"/>
              <a:t>requirement model</a:t>
            </a:r>
          </a:p>
          <a:p>
            <a:pPr lvl="1"/>
            <a:r>
              <a:rPr lang="en-IN" dirty="0"/>
              <a:t>The requirement</a:t>
            </a:r>
            <a:r>
              <a:rPr lang="en-IN" b="1" dirty="0"/>
              <a:t> </a:t>
            </a:r>
            <a:r>
              <a:rPr lang="en-IN" dirty="0"/>
              <a:t>model</a:t>
            </a:r>
            <a:r>
              <a:rPr lang="en-IN" b="1" dirty="0"/>
              <a:t> focuses</a:t>
            </a:r>
            <a:r>
              <a:rPr lang="en-IN" dirty="0"/>
              <a:t> on </a:t>
            </a:r>
            <a:r>
              <a:rPr lang="en-IN" b="1" dirty="0"/>
              <a:t>describing required data, function, and behaviour</a:t>
            </a:r>
            <a:r>
              <a:rPr lang="en-IN" dirty="0"/>
              <a:t>.</a:t>
            </a:r>
          </a:p>
          <a:p>
            <a:pPr lvl="1"/>
            <a:r>
              <a:rPr lang="en-IN" dirty="0"/>
              <a:t>The </a:t>
            </a:r>
            <a:r>
              <a:rPr lang="en-IN" b="1" dirty="0">
                <a:solidFill>
                  <a:srgbClr val="C00000"/>
                </a:solidFill>
              </a:rPr>
              <a:t>design model </a:t>
            </a:r>
            <a:r>
              <a:rPr lang="en-IN" dirty="0"/>
              <a:t>provides details about </a:t>
            </a:r>
            <a:r>
              <a:rPr lang="en-IN" b="1" dirty="0"/>
              <a:t>software architecture</a:t>
            </a:r>
            <a:r>
              <a:rPr lang="en-IN" dirty="0"/>
              <a:t>, </a:t>
            </a:r>
            <a:r>
              <a:rPr lang="en-IN" b="1" dirty="0"/>
              <a:t>data structure</a:t>
            </a:r>
            <a:r>
              <a:rPr lang="en-IN" dirty="0"/>
              <a:t>, </a:t>
            </a:r>
            <a:r>
              <a:rPr lang="en-IN" b="1" dirty="0"/>
              <a:t>interface</a:t>
            </a:r>
            <a:r>
              <a:rPr lang="en-IN" dirty="0"/>
              <a:t>, and </a:t>
            </a:r>
            <a:r>
              <a:rPr lang="en-IN" b="1" dirty="0"/>
              <a:t>components</a:t>
            </a:r>
            <a:r>
              <a:rPr lang="en-IN" dirty="0"/>
              <a:t> that are necessary to implement the system.</a:t>
            </a:r>
          </a:p>
          <a:p>
            <a:r>
              <a:rPr lang="en-IN" dirty="0"/>
              <a:t>Who does it? </a:t>
            </a:r>
          </a:p>
          <a:p>
            <a:pPr lvl="1"/>
            <a:r>
              <a:rPr lang="en-IN" b="1" dirty="0">
                <a:solidFill>
                  <a:srgbClr val="C00000"/>
                </a:solidFill>
              </a:rPr>
              <a:t>Software engineers </a:t>
            </a:r>
            <a:r>
              <a:rPr lang="en-IN" dirty="0"/>
              <a:t>conduct each of the design tasks.</a:t>
            </a:r>
          </a:p>
          <a:p>
            <a:r>
              <a:rPr lang="en-IN" dirty="0"/>
              <a:t>Why is it important?</a:t>
            </a:r>
          </a:p>
          <a:p>
            <a:pPr lvl="1"/>
            <a:r>
              <a:rPr lang="en-IN" dirty="0"/>
              <a:t>Design model can </a:t>
            </a:r>
            <a:r>
              <a:rPr lang="en-IN" b="1" dirty="0">
                <a:solidFill>
                  <a:srgbClr val="C00000"/>
                </a:solidFill>
              </a:rPr>
              <a:t>assessed</a:t>
            </a:r>
            <a:r>
              <a:rPr lang="en-IN" dirty="0"/>
              <a:t> for </a:t>
            </a:r>
            <a:r>
              <a:rPr lang="en-IN" b="1" dirty="0">
                <a:solidFill>
                  <a:srgbClr val="C00000"/>
                </a:solidFill>
              </a:rPr>
              <a:t>quality</a:t>
            </a:r>
            <a:r>
              <a:rPr lang="en-IN" dirty="0"/>
              <a:t> and </a:t>
            </a:r>
            <a:r>
              <a:rPr lang="en-IN" b="1" dirty="0">
                <a:solidFill>
                  <a:srgbClr val="C00000"/>
                </a:solidFill>
              </a:rPr>
              <a:t>improved</a:t>
            </a:r>
            <a:r>
              <a:rPr lang="en-IN" dirty="0"/>
              <a:t> </a:t>
            </a:r>
            <a:r>
              <a:rPr lang="en-IN" b="1" dirty="0">
                <a:solidFill>
                  <a:srgbClr val="C00000"/>
                </a:solidFill>
              </a:rPr>
              <a:t>before</a:t>
            </a:r>
            <a:r>
              <a:rPr lang="en-IN" dirty="0"/>
              <a:t> </a:t>
            </a:r>
            <a:r>
              <a:rPr lang="en-IN" b="1" dirty="0">
                <a:solidFill>
                  <a:srgbClr val="C00000"/>
                </a:solidFill>
              </a:rPr>
              <a:t>code</a:t>
            </a:r>
            <a:r>
              <a:rPr lang="en-IN" dirty="0"/>
              <a:t> is </a:t>
            </a:r>
            <a:r>
              <a:rPr lang="en-IN" b="1" dirty="0">
                <a:solidFill>
                  <a:srgbClr val="C00000"/>
                </a:solidFill>
              </a:rPr>
              <a:t>generated</a:t>
            </a:r>
            <a:r>
              <a:rPr lang="en-IN" dirty="0"/>
              <a:t>, </a:t>
            </a:r>
            <a:r>
              <a:rPr lang="en-IN" b="1" dirty="0">
                <a:solidFill>
                  <a:srgbClr val="C00000"/>
                </a:solidFill>
              </a:rPr>
              <a:t>tests</a:t>
            </a:r>
            <a:r>
              <a:rPr lang="en-IN" dirty="0"/>
              <a:t> are conducted, and end-users become involved.</a:t>
            </a:r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0212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Design Process?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72901" y="3554481"/>
            <a:ext cx="1831644" cy="19050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408589" y="1113971"/>
            <a:ext cx="1850571" cy="1850571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08590" y="1580461"/>
            <a:ext cx="185057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Requirement</a:t>
            </a:r>
          </a:p>
          <a:p>
            <a:pPr algn="ctr"/>
            <a:r>
              <a:rPr lang="en-US" sz="2400" b="1" dirty="0"/>
              <a:t>Engineering</a:t>
            </a:r>
          </a:p>
        </p:txBody>
      </p:sp>
      <p:sp>
        <p:nvSpPr>
          <p:cNvPr id="7" name="Folded Corner 6"/>
          <p:cNvSpPr/>
          <p:nvPr/>
        </p:nvSpPr>
        <p:spPr>
          <a:xfrm flipH="1">
            <a:off x="3789469" y="1187056"/>
            <a:ext cx="1447800" cy="1524000"/>
          </a:xfrm>
          <a:prstGeom prst="foldedCorner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olded Corner 7"/>
          <p:cNvSpPr/>
          <p:nvPr/>
        </p:nvSpPr>
        <p:spPr>
          <a:xfrm flipH="1">
            <a:off x="3637069" y="1276715"/>
            <a:ext cx="1447800" cy="1524000"/>
          </a:xfrm>
          <a:prstGeom prst="foldedCorner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3709903" y="1563885"/>
            <a:ext cx="1236236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Analysis</a:t>
            </a:r>
          </a:p>
          <a:p>
            <a:pPr algn="ctr"/>
            <a:r>
              <a:rPr lang="en-US" sz="2400" b="1" dirty="0"/>
              <a:t>Model</a:t>
            </a:r>
          </a:p>
          <a:p>
            <a:pPr algn="ctr"/>
            <a:r>
              <a:rPr lang="en-US" sz="2000" b="1" dirty="0">
                <a:solidFill>
                  <a:srgbClr val="C00000"/>
                </a:solidFill>
              </a:rPr>
              <a:t>(What?)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2526685" y="1758556"/>
            <a:ext cx="821085" cy="38100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6430636" y="1080644"/>
            <a:ext cx="1850571" cy="1850571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6509376" y="1547134"/>
            <a:ext cx="169309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Design</a:t>
            </a:r>
          </a:p>
          <a:p>
            <a:pPr algn="ctr"/>
            <a:r>
              <a:rPr lang="en-US" sz="2400" b="1" dirty="0"/>
              <a:t>Engineering</a:t>
            </a:r>
          </a:p>
        </p:txBody>
      </p:sp>
      <p:sp>
        <p:nvSpPr>
          <p:cNvPr id="13" name="Folded Corner 12"/>
          <p:cNvSpPr/>
          <p:nvPr/>
        </p:nvSpPr>
        <p:spPr>
          <a:xfrm flipH="1">
            <a:off x="9966245" y="1260170"/>
            <a:ext cx="1447800" cy="1524000"/>
          </a:xfrm>
          <a:prstGeom prst="foldedCorne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olded Corner 13"/>
          <p:cNvSpPr/>
          <p:nvPr/>
        </p:nvSpPr>
        <p:spPr>
          <a:xfrm flipH="1">
            <a:off x="9813845" y="1349829"/>
            <a:ext cx="1447800" cy="1524000"/>
          </a:xfrm>
          <a:prstGeom prst="foldedCorne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9990072" y="1636999"/>
            <a:ext cx="1029449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Design</a:t>
            </a:r>
          </a:p>
          <a:p>
            <a:pPr algn="ctr"/>
            <a:r>
              <a:rPr lang="en-US" sz="2400" b="1" dirty="0"/>
              <a:t>Model</a:t>
            </a:r>
          </a:p>
          <a:p>
            <a:pPr algn="ctr"/>
            <a:r>
              <a:rPr lang="en-US" sz="2000" b="1" dirty="0">
                <a:solidFill>
                  <a:srgbClr val="C00000"/>
                </a:solidFill>
              </a:rPr>
              <a:t>(How?)</a:t>
            </a:r>
            <a:endParaRPr lang="en-US" sz="2400" b="1" dirty="0"/>
          </a:p>
        </p:txBody>
      </p:sp>
      <p:sp>
        <p:nvSpPr>
          <p:cNvPr id="16" name="Right Arrow 15"/>
          <p:cNvSpPr/>
          <p:nvPr/>
        </p:nvSpPr>
        <p:spPr>
          <a:xfrm>
            <a:off x="8651360" y="1795986"/>
            <a:ext cx="828614" cy="38100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ight Arrow 16"/>
          <p:cNvSpPr/>
          <p:nvPr/>
        </p:nvSpPr>
        <p:spPr>
          <a:xfrm>
            <a:off x="5413334" y="1810411"/>
            <a:ext cx="854961" cy="38100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2445" y="3783081"/>
            <a:ext cx="1295400" cy="1428750"/>
          </a:xfrm>
          <a:prstGeom prst="rect">
            <a:avLst/>
          </a:prstGeom>
        </p:spPr>
      </p:pic>
      <p:sp>
        <p:nvSpPr>
          <p:cNvPr id="19" name="Right Arrow 18"/>
          <p:cNvSpPr/>
          <p:nvPr/>
        </p:nvSpPr>
        <p:spPr>
          <a:xfrm rot="5400000">
            <a:off x="10498223" y="3021081"/>
            <a:ext cx="381000" cy="38100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89" y="3312562"/>
            <a:ext cx="1253134" cy="125313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85230" y="4845659"/>
            <a:ext cx="18505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Blue Print for Constructing Software</a:t>
            </a:r>
          </a:p>
        </p:txBody>
      </p:sp>
      <p:cxnSp>
        <p:nvCxnSpPr>
          <p:cNvPr id="22" name="Straight Arrow Connector 21"/>
          <p:cNvCxnSpPr>
            <a:stCxn id="20" idx="3"/>
          </p:cNvCxnSpPr>
          <p:nvPr/>
        </p:nvCxnSpPr>
        <p:spPr>
          <a:xfrm flipV="1">
            <a:off x="1809423" y="2818060"/>
            <a:ext cx="8004422" cy="1121069"/>
          </a:xfrm>
          <a:prstGeom prst="straightConnector1">
            <a:avLst/>
          </a:prstGeom>
          <a:ln w="28575"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Rounded Rectangular Callout 23"/>
          <p:cNvSpPr/>
          <p:nvPr/>
        </p:nvSpPr>
        <p:spPr>
          <a:xfrm>
            <a:off x="2832012" y="4683632"/>
            <a:ext cx="3002731" cy="1362355"/>
          </a:xfrm>
          <a:prstGeom prst="wedgeRoundRectCallout">
            <a:avLst>
              <a:gd name="adj1" fmla="val -85267"/>
              <a:gd name="adj2" fmla="val -94611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100" dirty="0"/>
              <a:t>Process involves</a:t>
            </a:r>
          </a:p>
          <a:p>
            <a:pPr algn="ctr"/>
            <a:r>
              <a:rPr lang="en-US" sz="2100" b="1" dirty="0">
                <a:solidFill>
                  <a:srgbClr val="C00000"/>
                </a:solidFill>
              </a:rPr>
              <a:t>Diversification </a:t>
            </a:r>
            <a:r>
              <a:rPr lang="en-US" sz="2100" dirty="0"/>
              <a:t>&amp; </a:t>
            </a:r>
            <a:r>
              <a:rPr lang="en-US" sz="2100" b="1" dirty="0">
                <a:solidFill>
                  <a:srgbClr val="C00000"/>
                </a:solidFill>
              </a:rPr>
              <a:t>Convergence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96172" y="287388"/>
            <a:ext cx="719574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Software </a:t>
            </a:r>
            <a:r>
              <a:rPr lang="en-US" b="1" dirty="0"/>
              <a:t>design</a:t>
            </a:r>
            <a:r>
              <a:rPr lang="en-US" dirty="0"/>
              <a:t> is the </a:t>
            </a:r>
            <a:r>
              <a:rPr lang="en-US" b="1" dirty="0"/>
              <a:t>most creative part</a:t>
            </a:r>
            <a:r>
              <a:rPr lang="en-US" dirty="0"/>
              <a:t> of the development </a:t>
            </a:r>
            <a:r>
              <a:rPr lang="en-US" b="1" dirty="0"/>
              <a:t>process</a:t>
            </a:r>
          </a:p>
        </p:txBody>
      </p:sp>
    </p:spTree>
    <p:extLst>
      <p:ext uri="{BB962C8B-B14F-4D97-AF65-F5344CB8AC3E}">
        <p14:creationId xmlns:p14="http://schemas.microsoft.com/office/powerpoint/2010/main" val="2436730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 animBg="1"/>
      <p:bldP spid="8" grpId="0" animBg="1"/>
      <p:bldP spid="9" grpId="0"/>
      <p:bldP spid="10" grpId="0" animBg="1"/>
      <p:bldP spid="11" grpId="0" animBg="1"/>
      <p:bldP spid="12" grpId="0"/>
      <p:bldP spid="13" grpId="0" animBg="1"/>
      <p:bldP spid="14" grpId="0" animBg="1"/>
      <p:bldP spid="15" grpId="0"/>
      <p:bldP spid="16" grpId="0" animBg="1"/>
      <p:bldP spid="17" grpId="0" animBg="1"/>
      <p:bldP spid="19" grpId="0" animBg="1"/>
      <p:bldP spid="21" grpId="0"/>
      <p:bldP spid="2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design work products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345266" y="1"/>
            <a:ext cx="580319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4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+mj-ea"/>
                <a:cs typeface="+mj-cs"/>
              </a:rPr>
              <a:t>Characteristics</a:t>
            </a:r>
            <a:r>
              <a:rPr lang="en-US" sz="3600" dirty="0"/>
              <a:t> </a:t>
            </a:r>
            <a:r>
              <a:rPr lang="en-US" sz="34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+mj-ea"/>
                <a:cs typeface="+mj-cs"/>
              </a:rPr>
              <a:t>of</a:t>
            </a:r>
            <a:r>
              <a:rPr lang="en-US" sz="3600" dirty="0"/>
              <a:t> </a:t>
            </a:r>
            <a:r>
              <a:rPr lang="en-US" sz="34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+mj-ea"/>
                <a:cs typeface="+mj-cs"/>
              </a:rPr>
              <a:t>good</a:t>
            </a:r>
            <a:r>
              <a:rPr lang="en-US" sz="3600" dirty="0"/>
              <a:t> </a:t>
            </a:r>
            <a:r>
              <a:rPr lang="en-US" sz="34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+mj-ea"/>
                <a:cs typeface="+mj-cs"/>
              </a:rPr>
              <a:t>Design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6297392" y="12700"/>
            <a:ext cx="0" cy="6545251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78925" y="819221"/>
            <a:ext cx="6096000" cy="1061829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US" sz="2100" dirty="0"/>
              <a:t>For a design to be easily implemented in a conventional programming language, the following items must be designed during the design phase.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392" y="2047126"/>
            <a:ext cx="5836550" cy="73866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sz="2100" b="1" dirty="0">
                <a:solidFill>
                  <a:srgbClr val="C00000"/>
                </a:solidFill>
              </a:rPr>
              <a:t>Different modules</a:t>
            </a:r>
            <a:r>
              <a:rPr lang="en-US" sz="2100" dirty="0">
                <a:solidFill>
                  <a:srgbClr val="C00000"/>
                </a:solidFill>
              </a:rPr>
              <a:t> </a:t>
            </a:r>
            <a:r>
              <a:rPr lang="en-US" sz="2100" dirty="0"/>
              <a:t>required to implement the design solution.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392" y="2870433"/>
            <a:ext cx="5836550" cy="10618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sz="2100" b="1" dirty="0">
                <a:solidFill>
                  <a:srgbClr val="C00000"/>
                </a:solidFill>
              </a:rPr>
              <a:t>Control relationship among</a:t>
            </a:r>
            <a:r>
              <a:rPr lang="en-US" sz="2100" dirty="0"/>
              <a:t> the identified </a:t>
            </a:r>
            <a:r>
              <a:rPr lang="en-US" sz="2100" b="1" dirty="0">
                <a:solidFill>
                  <a:srgbClr val="C00000"/>
                </a:solidFill>
              </a:rPr>
              <a:t>modules</a:t>
            </a:r>
            <a:r>
              <a:rPr lang="en-US" sz="2100" dirty="0"/>
              <a:t>. The relationship is also known as the call/invocation relationship among modules.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392" y="4016905"/>
            <a:ext cx="5836550" cy="10618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sz="2100" b="1" dirty="0">
                <a:solidFill>
                  <a:srgbClr val="C00000"/>
                </a:solidFill>
              </a:rPr>
              <a:t>Interface among</a:t>
            </a:r>
            <a:r>
              <a:rPr lang="en-US" sz="2100" dirty="0"/>
              <a:t> different </a:t>
            </a:r>
            <a:r>
              <a:rPr lang="en-US" sz="2100" b="1" dirty="0">
                <a:solidFill>
                  <a:srgbClr val="C00000"/>
                </a:solidFill>
              </a:rPr>
              <a:t>modules</a:t>
            </a:r>
            <a:r>
              <a:rPr lang="en-US" sz="2100" dirty="0"/>
              <a:t>. The interface among different modules identifies the exact data items exchanged among the modules.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392" y="5163377"/>
            <a:ext cx="5836550" cy="73866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sz="2100" b="1" dirty="0">
                <a:solidFill>
                  <a:srgbClr val="C00000"/>
                </a:solidFill>
              </a:rPr>
              <a:t>Algorithms </a:t>
            </a:r>
            <a:r>
              <a:rPr lang="en-US" sz="2100" dirty="0"/>
              <a:t>required </a:t>
            </a:r>
            <a:r>
              <a:rPr lang="en-US" sz="2100" b="1" dirty="0">
                <a:solidFill>
                  <a:srgbClr val="C00000"/>
                </a:solidFill>
              </a:rPr>
              <a:t>to implement</a:t>
            </a:r>
            <a:r>
              <a:rPr lang="en-US" sz="2100" dirty="0"/>
              <a:t> each individual </a:t>
            </a:r>
            <a:r>
              <a:rPr lang="en-US" sz="2100" b="1" dirty="0">
                <a:solidFill>
                  <a:srgbClr val="C00000"/>
                </a:solidFill>
              </a:rPr>
              <a:t>module</a:t>
            </a:r>
            <a:r>
              <a:rPr lang="en-US" sz="2100" dirty="0"/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392" y="5986683"/>
            <a:ext cx="5836550" cy="4154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sz="2100" b="1" dirty="0">
                <a:solidFill>
                  <a:srgbClr val="C00000"/>
                </a:solidFill>
              </a:rPr>
              <a:t>Data structures of </a:t>
            </a:r>
            <a:r>
              <a:rPr lang="en-US" sz="2100" dirty="0"/>
              <a:t>the individual </a:t>
            </a:r>
            <a:r>
              <a:rPr lang="en-US" sz="2100" b="1" dirty="0">
                <a:solidFill>
                  <a:srgbClr val="C00000"/>
                </a:solidFill>
              </a:rPr>
              <a:t>modules</a:t>
            </a:r>
            <a:r>
              <a:rPr lang="en-US" sz="2100" dirty="0"/>
              <a:t>.</a:t>
            </a: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6388808" y="819221"/>
            <a:ext cx="5658049" cy="44529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design must </a:t>
            </a:r>
            <a:r>
              <a:rPr lang="en-US" b="1" dirty="0">
                <a:solidFill>
                  <a:srgbClr val="C00000"/>
                </a:solidFill>
              </a:rPr>
              <a:t>implement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>all explicit requirements</a:t>
            </a:r>
            <a:r>
              <a:rPr lang="en-US" dirty="0"/>
              <a:t> available in the requirement model</a:t>
            </a:r>
          </a:p>
          <a:p>
            <a:r>
              <a:rPr lang="en-US" dirty="0"/>
              <a:t>The design must </a:t>
            </a:r>
            <a:r>
              <a:rPr lang="en-US" b="1" dirty="0">
                <a:solidFill>
                  <a:srgbClr val="C00000"/>
                </a:solidFill>
              </a:rPr>
              <a:t>accommodate all implicit requirements</a:t>
            </a:r>
            <a:r>
              <a:rPr lang="en-US" dirty="0"/>
              <a:t> given by stakeholders</a:t>
            </a:r>
          </a:p>
          <a:p>
            <a:r>
              <a:rPr lang="en-US" dirty="0"/>
              <a:t>The design must be</a:t>
            </a:r>
            <a:r>
              <a:rPr lang="en-US" b="1" dirty="0">
                <a:solidFill>
                  <a:srgbClr val="C00000"/>
                </a:solidFill>
              </a:rPr>
              <a:t> readable</a:t>
            </a:r>
            <a:r>
              <a:rPr lang="en-US" dirty="0"/>
              <a:t> &amp; </a:t>
            </a:r>
            <a:r>
              <a:rPr lang="en-US" b="1" dirty="0">
                <a:solidFill>
                  <a:srgbClr val="C00000"/>
                </a:solidFill>
              </a:rPr>
              <a:t>understandable</a:t>
            </a:r>
          </a:p>
          <a:p>
            <a:r>
              <a:rPr lang="en-US" dirty="0"/>
              <a:t>The good design should </a:t>
            </a:r>
            <a:r>
              <a:rPr lang="en-US" b="1" dirty="0">
                <a:solidFill>
                  <a:srgbClr val="C00000"/>
                </a:solidFill>
              </a:rPr>
              <a:t>provide complete picture of the software</a:t>
            </a:r>
            <a:r>
              <a:rPr lang="en-US" dirty="0"/>
              <a:t>, addressing the </a:t>
            </a:r>
            <a:r>
              <a:rPr lang="en-US" b="1" dirty="0">
                <a:solidFill>
                  <a:srgbClr val="C00000"/>
                </a:solidFill>
              </a:rPr>
              <a:t>data</a:t>
            </a:r>
            <a:r>
              <a:rPr lang="en-US" dirty="0"/>
              <a:t>, </a:t>
            </a:r>
            <a:r>
              <a:rPr lang="en-US" b="1" dirty="0">
                <a:solidFill>
                  <a:srgbClr val="C00000"/>
                </a:solidFill>
              </a:rPr>
              <a:t>functional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and </a:t>
            </a:r>
            <a:r>
              <a:rPr lang="en-US" b="1" dirty="0">
                <a:solidFill>
                  <a:srgbClr val="C00000"/>
                </a:solidFill>
              </a:rPr>
              <a:t>behavioral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domains.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822" y="4761361"/>
            <a:ext cx="2767116" cy="1840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417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 animBg="1"/>
      <p:bldP spid="8" grpId="0" animBg="1"/>
      <p:bldP spid="9" grpId="0" animBg="1"/>
      <p:bldP spid="10" grpId="0" animBg="1"/>
      <p:bldP spid="11" grpId="0" animBg="1"/>
      <p:bldP spid="12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8D58D-43C4-535C-FD08-A17EAF72B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IN" dirty="0"/>
              <a:t>Important Software Design 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48BF4-F894-2BD1-3CD4-5FFA7BBAE7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solidFill>
                  <a:srgbClr val="C00000"/>
                </a:solidFill>
              </a:rPr>
              <a:t>Abstraction</a:t>
            </a:r>
            <a:r>
              <a:rPr lang="en-IN" dirty="0"/>
              <a:t> - Hide Irrelevant data</a:t>
            </a:r>
          </a:p>
          <a:p>
            <a:r>
              <a:rPr lang="en-IN" b="1" dirty="0">
                <a:solidFill>
                  <a:srgbClr val="C00000"/>
                </a:solidFill>
              </a:rPr>
              <a:t>Modularity</a:t>
            </a:r>
            <a:r>
              <a:rPr lang="en-IN" dirty="0"/>
              <a:t> - subdivide the system</a:t>
            </a:r>
          </a:p>
          <a:p>
            <a:r>
              <a:rPr lang="en-US" b="1" dirty="0">
                <a:solidFill>
                  <a:srgbClr val="C00000"/>
                </a:solidFill>
              </a:rPr>
              <a:t>Architecture</a:t>
            </a:r>
            <a:r>
              <a:rPr lang="en-US" dirty="0"/>
              <a:t> - design a structure of something </a:t>
            </a:r>
            <a:r>
              <a:rPr lang="en-IN" dirty="0"/>
              <a:t> </a:t>
            </a:r>
          </a:p>
          <a:p>
            <a:r>
              <a:rPr lang="en-IN" b="1" dirty="0">
                <a:solidFill>
                  <a:srgbClr val="C00000"/>
                </a:solidFill>
              </a:rPr>
              <a:t>Refinement</a:t>
            </a:r>
            <a:r>
              <a:rPr lang="en-IN" dirty="0"/>
              <a:t> - removes impurities</a:t>
            </a:r>
          </a:p>
          <a:p>
            <a:r>
              <a:rPr lang="en-IN" b="1" dirty="0">
                <a:solidFill>
                  <a:srgbClr val="C00000"/>
                </a:solidFill>
              </a:rPr>
              <a:t>Pattern</a:t>
            </a:r>
            <a:r>
              <a:rPr lang="en-IN" dirty="0"/>
              <a:t> - a Repeated form</a:t>
            </a:r>
          </a:p>
          <a:p>
            <a:r>
              <a:rPr lang="en-US" b="1" dirty="0">
                <a:solidFill>
                  <a:srgbClr val="C00000"/>
                </a:solidFill>
              </a:rPr>
              <a:t>Information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Hiding</a:t>
            </a:r>
            <a:r>
              <a:rPr lang="en-US" dirty="0"/>
              <a:t> - Hide the Information so that it cannot be accessed by an unwanted party</a:t>
            </a:r>
          </a:p>
          <a:p>
            <a:r>
              <a:rPr lang="en-IN" b="1" dirty="0">
                <a:solidFill>
                  <a:srgbClr val="C00000"/>
                </a:solidFill>
              </a:rPr>
              <a:t>Refactoring</a:t>
            </a:r>
            <a:r>
              <a:rPr lang="en-IN" dirty="0"/>
              <a:t> - Reconstruct something</a:t>
            </a:r>
          </a:p>
        </p:txBody>
      </p:sp>
    </p:spTree>
    <p:extLst>
      <p:ext uri="{BB962C8B-B14F-4D97-AF65-F5344CB8AC3E}">
        <p14:creationId xmlns:p14="http://schemas.microsoft.com/office/powerpoint/2010/main" val="624003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C00DE-32C5-A4CB-2323-7D91D11DE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Abstraction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CBE4E3B-920E-2873-EC3F-56C580E00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79930"/>
            <a:ext cx="11929641" cy="5674080"/>
          </a:xfrm>
        </p:spPr>
        <p:txBody>
          <a:bodyPr/>
          <a:lstStyle/>
          <a:p>
            <a:r>
              <a:rPr lang="en-US" dirty="0"/>
              <a:t>Abstraction simply means to </a:t>
            </a:r>
            <a:r>
              <a:rPr lang="en-US" b="1" dirty="0">
                <a:solidFill>
                  <a:srgbClr val="C00000"/>
                </a:solidFill>
              </a:rPr>
              <a:t>hide the details </a:t>
            </a:r>
            <a:r>
              <a:rPr lang="en-US" dirty="0"/>
              <a:t>to </a:t>
            </a:r>
            <a:r>
              <a:rPr lang="en-US" b="1" dirty="0">
                <a:solidFill>
                  <a:srgbClr val="C00000"/>
                </a:solidFill>
              </a:rPr>
              <a:t>reduce complexity and increase efficiency </a:t>
            </a:r>
            <a:r>
              <a:rPr lang="en-US" dirty="0"/>
              <a:t>or </a:t>
            </a:r>
            <a:r>
              <a:rPr lang="en-US" b="1" dirty="0">
                <a:solidFill>
                  <a:srgbClr val="C00000"/>
                </a:solidFill>
              </a:rPr>
              <a:t>quality</a:t>
            </a:r>
            <a:r>
              <a:rPr lang="en-US" dirty="0"/>
              <a:t>. </a:t>
            </a:r>
          </a:p>
          <a:p>
            <a:r>
              <a:rPr lang="en-US" dirty="0"/>
              <a:t>Abstraction can be used for existing elements as well as the components being designed.</a:t>
            </a:r>
          </a:p>
          <a:p>
            <a:r>
              <a:rPr lang="en-US" dirty="0"/>
              <a:t>There are two common abstraction mechanisms</a:t>
            </a:r>
          </a:p>
          <a:p>
            <a:pPr lvl="1"/>
            <a:r>
              <a:rPr lang="en-US" dirty="0"/>
              <a:t>Functional Abstraction: </a:t>
            </a:r>
          </a:p>
          <a:p>
            <a:pPr lvl="1"/>
            <a:r>
              <a:rPr lang="en-US" dirty="0"/>
              <a:t>Data Abstraction</a:t>
            </a:r>
          </a:p>
          <a:p>
            <a:r>
              <a:rPr lang="en-US" b="1" dirty="0"/>
              <a:t>Functional abstraction </a:t>
            </a:r>
            <a:r>
              <a:rPr lang="en-US" dirty="0"/>
              <a:t>means that a </a:t>
            </a:r>
            <a:r>
              <a:rPr lang="en-US" b="1" dirty="0">
                <a:solidFill>
                  <a:srgbClr val="C00000"/>
                </a:solidFill>
              </a:rPr>
              <a:t>module is defined by what it does</a:t>
            </a:r>
            <a:r>
              <a:rPr lang="en-US" dirty="0"/>
              <a:t>, </a:t>
            </a:r>
            <a:r>
              <a:rPr lang="en-US" b="1" dirty="0">
                <a:solidFill>
                  <a:srgbClr val="C00000"/>
                </a:solidFill>
              </a:rPr>
              <a:t>not how it does it</a:t>
            </a:r>
            <a:r>
              <a:rPr lang="en-US" dirty="0"/>
              <a:t>. The </a:t>
            </a:r>
            <a:r>
              <a:rPr lang="en-US" b="1" dirty="0"/>
              <a:t>inner workings and algorithms</a:t>
            </a:r>
            <a:r>
              <a:rPr lang="en-US" dirty="0"/>
              <a:t> of the module are </a:t>
            </a:r>
            <a:r>
              <a:rPr lang="en-US" b="1" dirty="0"/>
              <a:t>hidden</a:t>
            </a:r>
            <a:r>
              <a:rPr lang="en-US" dirty="0"/>
              <a:t> from the user, who only needs to know what function the module performs.</a:t>
            </a:r>
          </a:p>
          <a:p>
            <a:r>
              <a:rPr lang="en-US" dirty="0"/>
              <a:t>Imagine a function in a program that calculates the </a:t>
            </a:r>
            <a:r>
              <a:rPr lang="en-US" b="1" dirty="0"/>
              <a:t>square root </a:t>
            </a:r>
            <a:r>
              <a:rPr lang="en-US" dirty="0"/>
              <a:t>of a number, </a:t>
            </a:r>
            <a:r>
              <a:rPr lang="en-US" b="1" dirty="0"/>
              <a:t>you don't need to know how it calculates </a:t>
            </a:r>
            <a:r>
              <a:rPr lang="en-US" dirty="0"/>
              <a:t>the square root, just that it does.</a:t>
            </a:r>
          </a:p>
        </p:txBody>
      </p:sp>
    </p:spTree>
    <p:extLst>
      <p:ext uri="{BB962C8B-B14F-4D97-AF65-F5344CB8AC3E}">
        <p14:creationId xmlns:p14="http://schemas.microsoft.com/office/powerpoint/2010/main" val="734726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4CC1E-7B1E-EB7D-A5EB-AECA22944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Abstraction 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0679A5-1DCE-5105-3D9A-BEC4856060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Data abstraction </a:t>
            </a:r>
            <a:r>
              <a:rPr lang="en-US" dirty="0"/>
              <a:t>means the details of </a:t>
            </a:r>
            <a:r>
              <a:rPr lang="en-US" b="1" dirty="0">
                <a:solidFill>
                  <a:srgbClr val="C00000"/>
                </a:solidFill>
              </a:rPr>
              <a:t>data elements are hidden from the users</a:t>
            </a:r>
            <a:r>
              <a:rPr lang="en-US" dirty="0"/>
              <a:t>. It forms the basis for object-oriented design approaches.</a:t>
            </a:r>
          </a:p>
          <a:p>
            <a:r>
              <a:rPr lang="en-US" dirty="0"/>
              <a:t>Consider a class in an object-oriented program that represents a </a:t>
            </a:r>
            <a:r>
              <a:rPr lang="en-US" b="1" dirty="0"/>
              <a:t>Bank Account. </a:t>
            </a:r>
          </a:p>
          <a:p>
            <a:r>
              <a:rPr lang="en-US" dirty="0"/>
              <a:t>The details of </a:t>
            </a:r>
            <a:r>
              <a:rPr lang="en-US" b="1" dirty="0"/>
              <a:t>Account Number </a:t>
            </a:r>
            <a:r>
              <a:rPr lang="en-US" dirty="0"/>
              <a:t>and </a:t>
            </a:r>
            <a:r>
              <a:rPr lang="en-US" b="1" dirty="0"/>
              <a:t>Balance </a:t>
            </a:r>
            <a:r>
              <a:rPr lang="en-US" dirty="0"/>
              <a:t>are </a:t>
            </a:r>
            <a:r>
              <a:rPr lang="en-US" b="1" dirty="0"/>
              <a:t>hidden</a:t>
            </a:r>
            <a:r>
              <a:rPr lang="en-US" dirty="0"/>
              <a:t> within the class. </a:t>
            </a:r>
          </a:p>
          <a:p>
            <a:r>
              <a:rPr lang="en-US" dirty="0"/>
              <a:t>Users of the </a:t>
            </a:r>
            <a:r>
              <a:rPr lang="en-US" b="1" dirty="0"/>
              <a:t>Bank Account </a:t>
            </a:r>
            <a:r>
              <a:rPr lang="en-US" dirty="0"/>
              <a:t>class </a:t>
            </a:r>
            <a:r>
              <a:rPr lang="en-US" b="1" dirty="0"/>
              <a:t>interact with the account </a:t>
            </a:r>
            <a:r>
              <a:rPr lang="en-US" dirty="0"/>
              <a:t>through </a:t>
            </a:r>
            <a:r>
              <a:rPr lang="en-US" b="1" dirty="0"/>
              <a:t>methods like deposit</a:t>
            </a:r>
            <a:r>
              <a:rPr lang="en-US" dirty="0"/>
              <a:t>, </a:t>
            </a:r>
            <a:r>
              <a:rPr lang="en-US" b="1" dirty="0"/>
              <a:t>withdraw</a:t>
            </a:r>
            <a:r>
              <a:rPr lang="en-US" dirty="0"/>
              <a:t>, and </a:t>
            </a:r>
            <a:r>
              <a:rPr lang="en-US" b="1" dirty="0" err="1"/>
              <a:t>getBalance</a:t>
            </a:r>
            <a:r>
              <a:rPr lang="en-US" b="1" dirty="0"/>
              <a:t> </a:t>
            </a:r>
            <a:r>
              <a:rPr lang="en-US" dirty="0"/>
              <a:t>without needing to know the internal structure of the data.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3224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C00DE-32C5-A4CB-2323-7D91D11DE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Modularity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CBE4E3B-920E-2873-EC3F-56C580E00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79930"/>
            <a:ext cx="11929641" cy="5674080"/>
          </a:xfrm>
        </p:spPr>
        <p:txBody>
          <a:bodyPr/>
          <a:lstStyle/>
          <a:p>
            <a:r>
              <a:rPr lang="en-US" dirty="0"/>
              <a:t>Divide the software into </a:t>
            </a:r>
            <a:r>
              <a:rPr lang="en-US" b="1" dirty="0">
                <a:solidFill>
                  <a:srgbClr val="C00000"/>
                </a:solidFill>
              </a:rPr>
              <a:t>distinct</a:t>
            </a:r>
            <a:r>
              <a:rPr lang="en-US" dirty="0"/>
              <a:t>, </a:t>
            </a:r>
            <a:r>
              <a:rPr lang="en-US" b="1" dirty="0">
                <a:solidFill>
                  <a:srgbClr val="C00000"/>
                </a:solidFill>
              </a:rPr>
              <a:t>independent</a:t>
            </a:r>
            <a:r>
              <a:rPr lang="en-US" dirty="0"/>
              <a:t> modules that can be developed, tested, and </a:t>
            </a:r>
            <a:r>
              <a:rPr lang="en-US" b="1" dirty="0">
                <a:solidFill>
                  <a:srgbClr val="C00000"/>
                </a:solidFill>
              </a:rPr>
              <a:t>maintained separately</a:t>
            </a:r>
            <a:r>
              <a:rPr lang="en-US" dirty="0"/>
              <a:t>.</a:t>
            </a:r>
          </a:p>
          <a:p>
            <a:r>
              <a:rPr lang="en-US" b="1" dirty="0">
                <a:solidFill>
                  <a:srgbClr val="C00000"/>
                </a:solidFill>
              </a:rPr>
              <a:t>Single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large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programs</a:t>
            </a:r>
            <a:r>
              <a:rPr lang="en-US" dirty="0"/>
              <a:t> are </a:t>
            </a:r>
            <a:r>
              <a:rPr lang="en-US" b="1" dirty="0">
                <a:solidFill>
                  <a:srgbClr val="C00000"/>
                </a:solidFill>
              </a:rPr>
              <a:t>difficult to understand </a:t>
            </a:r>
            <a:r>
              <a:rPr lang="en-US" dirty="0"/>
              <a:t>and read due to a large number of reference variables, control paths, global variables, etc.</a:t>
            </a:r>
          </a:p>
          <a:p>
            <a:r>
              <a:rPr lang="en-US" dirty="0"/>
              <a:t>For Example </a:t>
            </a:r>
          </a:p>
          <a:p>
            <a:pPr lvl="1"/>
            <a:r>
              <a:rPr lang="en-US" dirty="0"/>
              <a:t>In</a:t>
            </a:r>
            <a:r>
              <a:rPr lang="en-US" b="1" dirty="0"/>
              <a:t> library management system </a:t>
            </a:r>
            <a:r>
              <a:rPr lang="en-US" dirty="0"/>
              <a:t>modules are </a:t>
            </a:r>
            <a:r>
              <a:rPr lang="en-US" b="1" dirty="0"/>
              <a:t>User Management</a:t>
            </a:r>
            <a:r>
              <a:rPr lang="en-US" dirty="0"/>
              <a:t>, </a:t>
            </a:r>
            <a:r>
              <a:rPr lang="en-US" b="1" dirty="0"/>
              <a:t>Book Management</a:t>
            </a:r>
            <a:r>
              <a:rPr lang="en-US" dirty="0"/>
              <a:t>, </a:t>
            </a:r>
            <a:r>
              <a:rPr lang="en-US" b="1" dirty="0"/>
              <a:t>Borrowing System, </a:t>
            </a:r>
            <a:r>
              <a:rPr lang="en-US" dirty="0"/>
              <a:t>etc.</a:t>
            </a:r>
          </a:p>
          <a:p>
            <a:r>
              <a:rPr lang="en-US" dirty="0"/>
              <a:t>The benefit of modularity is that changes in one module (e.g., adding a new book feature) do not affect other modules.</a:t>
            </a:r>
          </a:p>
        </p:txBody>
      </p:sp>
    </p:spTree>
    <p:extLst>
      <p:ext uri="{BB962C8B-B14F-4D97-AF65-F5344CB8AC3E}">
        <p14:creationId xmlns:p14="http://schemas.microsoft.com/office/powerpoint/2010/main" val="2081154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C00DE-32C5-A4CB-2323-7D91D11DE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Architecture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CBE4E3B-920E-2873-EC3F-56C580E00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79930"/>
            <a:ext cx="11929641" cy="5674080"/>
          </a:xfrm>
        </p:spPr>
        <p:txBody>
          <a:bodyPr/>
          <a:lstStyle/>
          <a:p>
            <a:r>
              <a:rPr lang="en-US" dirty="0"/>
              <a:t>Architecture is a technique to </a:t>
            </a:r>
            <a:r>
              <a:rPr lang="en-US" b="1" dirty="0">
                <a:solidFill>
                  <a:srgbClr val="C00000"/>
                </a:solidFill>
              </a:rPr>
              <a:t>design a structure of something</a:t>
            </a:r>
            <a:r>
              <a:rPr lang="en-US" dirty="0"/>
              <a:t>. </a:t>
            </a:r>
          </a:p>
          <a:p>
            <a:r>
              <a:rPr lang="en-US" dirty="0"/>
              <a:t>In software design, architecture focuses on the </a:t>
            </a:r>
            <a:r>
              <a:rPr lang="en-US" b="1" dirty="0"/>
              <a:t>elements and data within the structure</a:t>
            </a:r>
            <a:r>
              <a:rPr lang="en-US" dirty="0"/>
              <a:t>. These </a:t>
            </a:r>
            <a:r>
              <a:rPr lang="en-US" b="1" dirty="0"/>
              <a:t>components interact </a:t>
            </a:r>
            <a:r>
              <a:rPr lang="en-US" dirty="0"/>
              <a:t>and use the data to perform functions.</a:t>
            </a:r>
          </a:p>
          <a:p>
            <a:r>
              <a:rPr lang="en-US" dirty="0"/>
              <a:t>Example: </a:t>
            </a:r>
            <a:r>
              <a:rPr lang="en-US" b="1" dirty="0"/>
              <a:t>Imagine a website with three main parts</a:t>
            </a:r>
            <a:endParaRPr lang="en-US" dirty="0"/>
          </a:p>
          <a:p>
            <a:pPr lvl="1"/>
            <a:r>
              <a:rPr lang="en-US" dirty="0"/>
              <a:t>Frontend (what users see)</a:t>
            </a:r>
          </a:p>
          <a:p>
            <a:pPr lvl="1"/>
            <a:r>
              <a:rPr lang="en-US" dirty="0"/>
              <a:t>Backend (server and database)</a:t>
            </a:r>
          </a:p>
          <a:p>
            <a:pPr lvl="1"/>
            <a:r>
              <a:rPr lang="en-US" dirty="0"/>
              <a:t>Database (stores data)</a:t>
            </a:r>
          </a:p>
          <a:p>
            <a:r>
              <a:rPr lang="en-US" dirty="0"/>
              <a:t>In this architecture:</a:t>
            </a:r>
          </a:p>
          <a:p>
            <a:pPr lvl="1"/>
            <a:r>
              <a:rPr lang="en-US" dirty="0"/>
              <a:t>The Frontend </a:t>
            </a:r>
            <a:r>
              <a:rPr lang="en-US" b="1" dirty="0">
                <a:solidFill>
                  <a:srgbClr val="C00000"/>
                </a:solidFill>
              </a:rPr>
              <a:t>interacts with users </a:t>
            </a:r>
            <a:r>
              <a:rPr lang="en-US" dirty="0"/>
              <a:t>and </a:t>
            </a:r>
            <a:r>
              <a:rPr lang="en-US" b="1" dirty="0">
                <a:solidFill>
                  <a:srgbClr val="C00000"/>
                </a:solidFill>
              </a:rPr>
              <a:t>sends requests to the Backend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The Backend </a:t>
            </a:r>
            <a:r>
              <a:rPr lang="en-US" b="1" dirty="0">
                <a:solidFill>
                  <a:srgbClr val="C00000"/>
                </a:solidFill>
              </a:rPr>
              <a:t>processes these requests </a:t>
            </a:r>
            <a:r>
              <a:rPr lang="en-US" dirty="0"/>
              <a:t>and </a:t>
            </a:r>
            <a:r>
              <a:rPr lang="en-US" b="1" dirty="0">
                <a:solidFill>
                  <a:srgbClr val="C00000"/>
                </a:solidFill>
              </a:rPr>
              <a:t>interacts with the Database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The Database </a:t>
            </a:r>
            <a:r>
              <a:rPr lang="en-US" b="1" dirty="0">
                <a:solidFill>
                  <a:srgbClr val="C00000"/>
                </a:solidFill>
              </a:rPr>
              <a:t>stores and retrieves data as needed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13715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C00DE-32C5-A4CB-2323-7D91D11DE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Refinement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CBE4E3B-920E-2873-EC3F-56C580E00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79930"/>
            <a:ext cx="11929641" cy="5674080"/>
          </a:xfrm>
        </p:spPr>
        <p:txBody>
          <a:bodyPr/>
          <a:lstStyle/>
          <a:p>
            <a:r>
              <a:rPr lang="en-US" dirty="0"/>
              <a:t>Refinement means </a:t>
            </a:r>
            <a:r>
              <a:rPr lang="en-US" b="1" dirty="0">
                <a:solidFill>
                  <a:srgbClr val="C00000"/>
                </a:solidFill>
              </a:rPr>
              <a:t>improving something </a:t>
            </a:r>
            <a:r>
              <a:rPr lang="en-US" dirty="0"/>
              <a:t>by </a:t>
            </a:r>
            <a:r>
              <a:rPr lang="en-US" b="1" dirty="0">
                <a:solidFill>
                  <a:srgbClr val="C00000"/>
                </a:solidFill>
              </a:rPr>
              <a:t>removing impurities and increasing its quality</a:t>
            </a:r>
            <a:r>
              <a:rPr lang="en-US" dirty="0"/>
              <a:t>. </a:t>
            </a:r>
          </a:p>
          <a:p>
            <a:r>
              <a:rPr lang="en-US" dirty="0"/>
              <a:t>In software design, refinement is the </a:t>
            </a:r>
            <a:r>
              <a:rPr lang="en-US" b="1" dirty="0"/>
              <a:t>process of developing or presenting </a:t>
            </a:r>
            <a:r>
              <a:rPr lang="en-US" dirty="0"/>
              <a:t>the software in </a:t>
            </a:r>
            <a:r>
              <a:rPr lang="en-US" b="1" dirty="0"/>
              <a:t>more detail, identifying and fixing errors to enhance quality</a:t>
            </a:r>
            <a:r>
              <a:rPr lang="en-US" dirty="0"/>
              <a:t>.</a:t>
            </a:r>
          </a:p>
          <a:p>
            <a:r>
              <a:rPr lang="en-US" dirty="0"/>
              <a:t>Imagine you are building a </a:t>
            </a:r>
            <a:r>
              <a:rPr lang="en-US" b="1" dirty="0"/>
              <a:t>mobile app</a:t>
            </a:r>
            <a:endParaRPr lang="en-US" dirty="0"/>
          </a:p>
          <a:p>
            <a:pPr lvl="1"/>
            <a:r>
              <a:rPr lang="en-US" b="1" dirty="0"/>
              <a:t>Initial Design</a:t>
            </a:r>
            <a:r>
              <a:rPr lang="en-US" dirty="0"/>
              <a:t>: You create a </a:t>
            </a:r>
            <a:r>
              <a:rPr lang="en-US" dirty="0">
                <a:solidFill>
                  <a:srgbClr val="C00000"/>
                </a:solidFill>
              </a:rPr>
              <a:t>basic version of the app </a:t>
            </a:r>
            <a:r>
              <a:rPr lang="en-US" dirty="0"/>
              <a:t>with core features.</a:t>
            </a:r>
          </a:p>
          <a:p>
            <a:pPr lvl="1"/>
            <a:r>
              <a:rPr lang="en-US" b="1" dirty="0"/>
              <a:t>Refinement</a:t>
            </a:r>
            <a:r>
              <a:rPr lang="en-US" dirty="0"/>
              <a:t>: You </a:t>
            </a:r>
            <a:r>
              <a:rPr lang="en-US" dirty="0">
                <a:solidFill>
                  <a:srgbClr val="C00000"/>
                </a:solidFill>
              </a:rPr>
              <a:t>test the app and find some bugs </a:t>
            </a:r>
            <a:r>
              <a:rPr lang="en-US" dirty="0"/>
              <a:t>and areas </a:t>
            </a:r>
            <a:r>
              <a:rPr lang="en-US" dirty="0">
                <a:solidFill>
                  <a:srgbClr val="C00000"/>
                </a:solidFill>
              </a:rPr>
              <a:t>for improvement</a:t>
            </a:r>
            <a:r>
              <a:rPr lang="en-US" dirty="0"/>
              <a:t>.</a:t>
            </a:r>
          </a:p>
          <a:p>
            <a:pPr lvl="1"/>
            <a:r>
              <a:rPr lang="en-US" b="1" dirty="0"/>
              <a:t>Improvement</a:t>
            </a:r>
            <a:r>
              <a:rPr lang="en-US" dirty="0"/>
              <a:t>: You </a:t>
            </a:r>
            <a:r>
              <a:rPr lang="en-US" dirty="0">
                <a:solidFill>
                  <a:srgbClr val="C00000"/>
                </a:solidFill>
              </a:rPr>
              <a:t>fix the bugs and add more details </a:t>
            </a:r>
            <a:r>
              <a:rPr lang="en-US" dirty="0"/>
              <a:t>to the app, like better user interface elements and additional features.</a:t>
            </a:r>
          </a:p>
          <a:p>
            <a:r>
              <a:rPr lang="en-US" dirty="0"/>
              <a:t>Through refinement, the </a:t>
            </a:r>
            <a:r>
              <a:rPr lang="en-US" b="1" dirty="0">
                <a:solidFill>
                  <a:srgbClr val="C00000"/>
                </a:solidFill>
              </a:rPr>
              <a:t>app becomes more polished and functional</a:t>
            </a:r>
            <a:r>
              <a:rPr lang="en-US" dirty="0"/>
              <a:t>, ensuring a </a:t>
            </a:r>
            <a:r>
              <a:rPr lang="en-US" b="1" dirty="0">
                <a:solidFill>
                  <a:srgbClr val="C00000"/>
                </a:solidFill>
              </a:rPr>
              <a:t>higher quality product.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9465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C00DE-32C5-A4CB-2323-7D91D11DE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Pattern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CBE4E3B-920E-2873-EC3F-56C580E00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79930"/>
            <a:ext cx="11929641" cy="5674080"/>
          </a:xfrm>
        </p:spPr>
        <p:txBody>
          <a:bodyPr/>
          <a:lstStyle/>
          <a:p>
            <a:r>
              <a:rPr lang="en-US" dirty="0"/>
              <a:t>Pattern means a </a:t>
            </a:r>
            <a:r>
              <a:rPr lang="en-US" b="1" dirty="0">
                <a:solidFill>
                  <a:srgbClr val="C00000"/>
                </a:solidFill>
              </a:rPr>
              <a:t>repeated design or form</a:t>
            </a:r>
            <a:r>
              <a:rPr lang="en-US" dirty="0"/>
              <a:t>. In design, a pattern refers to using the same solution to solve similar problems in different situations.</a:t>
            </a:r>
          </a:p>
          <a:p>
            <a:r>
              <a:rPr lang="en-US" dirty="0"/>
              <a:t>Imagine you're designing websites</a:t>
            </a:r>
          </a:p>
          <a:p>
            <a:r>
              <a:rPr lang="en-US" b="1" dirty="0"/>
              <a:t>Header Design Pattern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You </a:t>
            </a:r>
            <a:r>
              <a:rPr lang="en-US" dirty="0">
                <a:solidFill>
                  <a:srgbClr val="C00000"/>
                </a:solidFill>
              </a:rPr>
              <a:t>use the same layout </a:t>
            </a:r>
            <a:r>
              <a:rPr lang="en-US" dirty="0"/>
              <a:t>for the </a:t>
            </a:r>
            <a:r>
              <a:rPr lang="en-US" dirty="0">
                <a:solidFill>
                  <a:srgbClr val="C00000"/>
                </a:solidFill>
              </a:rPr>
              <a:t>header on multiple pages</a:t>
            </a:r>
            <a:r>
              <a:rPr lang="en-US" dirty="0"/>
              <a:t>—</a:t>
            </a:r>
            <a:r>
              <a:rPr lang="en-US" b="1" dirty="0"/>
              <a:t>logo</a:t>
            </a:r>
            <a:r>
              <a:rPr lang="en-US" dirty="0"/>
              <a:t> on the left, </a:t>
            </a:r>
            <a:r>
              <a:rPr lang="en-US" b="1" dirty="0"/>
              <a:t>navigation menu</a:t>
            </a:r>
            <a:r>
              <a:rPr lang="en-US" dirty="0"/>
              <a:t> in the middle, and </a:t>
            </a:r>
            <a:r>
              <a:rPr lang="en-US" b="1" dirty="0"/>
              <a:t>contact info </a:t>
            </a:r>
            <a:r>
              <a:rPr lang="en-US" dirty="0"/>
              <a:t>on the right.</a:t>
            </a:r>
          </a:p>
          <a:p>
            <a:r>
              <a:rPr lang="en-US" b="1" dirty="0"/>
              <a:t>Button Design Pattern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You use the </a:t>
            </a:r>
            <a:r>
              <a:rPr lang="en-US" dirty="0">
                <a:solidFill>
                  <a:srgbClr val="C00000"/>
                </a:solidFill>
              </a:rPr>
              <a:t>same style and behavior for buttons across the site</a:t>
            </a:r>
            <a:r>
              <a:rPr lang="en-US" dirty="0"/>
              <a:t>—</a:t>
            </a:r>
            <a:r>
              <a:rPr lang="en-US" b="1" dirty="0"/>
              <a:t>rounded corners</a:t>
            </a:r>
            <a:r>
              <a:rPr lang="en-US" dirty="0"/>
              <a:t>, a </a:t>
            </a:r>
            <a:r>
              <a:rPr lang="en-US" b="1" dirty="0"/>
              <a:t>specific color</a:t>
            </a:r>
            <a:r>
              <a:rPr lang="en-US" dirty="0"/>
              <a:t>, and </a:t>
            </a:r>
            <a:r>
              <a:rPr lang="en-US" b="1" dirty="0"/>
              <a:t>hover effects</a:t>
            </a:r>
            <a:r>
              <a:rPr lang="en-US" dirty="0"/>
              <a:t>.</a:t>
            </a:r>
          </a:p>
          <a:p>
            <a:r>
              <a:rPr lang="en-US" dirty="0"/>
              <a:t>By applying these patterns, you create a </a:t>
            </a:r>
            <a:r>
              <a:rPr lang="en-US" b="1" dirty="0">
                <a:solidFill>
                  <a:srgbClr val="C00000"/>
                </a:solidFill>
              </a:rPr>
              <a:t>consistent look and feel</a:t>
            </a:r>
            <a:r>
              <a:rPr lang="en-US" dirty="0"/>
              <a:t>, making the design process more efficient and cohesive.</a:t>
            </a:r>
          </a:p>
        </p:txBody>
      </p:sp>
    </p:spTree>
    <p:extLst>
      <p:ext uri="{BB962C8B-B14F-4D97-AF65-F5344CB8AC3E}">
        <p14:creationId xmlns:p14="http://schemas.microsoft.com/office/powerpoint/2010/main" val="2548320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C00DE-32C5-A4CB-2323-7D91D11DE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Information Hiding 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CBE4E3B-920E-2873-EC3F-56C580E00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79930"/>
            <a:ext cx="11929641" cy="5674080"/>
          </a:xfrm>
        </p:spPr>
        <p:txBody>
          <a:bodyPr/>
          <a:lstStyle/>
          <a:p>
            <a:r>
              <a:rPr lang="en-US" dirty="0"/>
              <a:t>Information Hiding means keeping </a:t>
            </a:r>
            <a:r>
              <a:rPr lang="en-US" b="1" dirty="0">
                <a:solidFill>
                  <a:srgbClr val="C00000"/>
                </a:solidFill>
              </a:rPr>
              <a:t>certain details hidden</a:t>
            </a:r>
            <a:r>
              <a:rPr lang="en-US" dirty="0"/>
              <a:t> so that they </a:t>
            </a:r>
            <a:r>
              <a:rPr lang="en-US" b="1" dirty="0">
                <a:solidFill>
                  <a:srgbClr val="C00000"/>
                </a:solidFill>
              </a:rPr>
              <a:t>cannot be accessed by unauthorized parts</a:t>
            </a:r>
            <a:r>
              <a:rPr lang="en-US" dirty="0"/>
              <a:t>. </a:t>
            </a:r>
          </a:p>
          <a:p>
            <a:r>
              <a:rPr lang="en-US" dirty="0"/>
              <a:t>In software design, it involves designing modules so that each module keeps its information private and only shares what is necessary.</a:t>
            </a:r>
          </a:p>
          <a:p>
            <a:r>
              <a:rPr lang="en-US" dirty="0"/>
              <a:t>Imagine a bank account system</a:t>
            </a:r>
          </a:p>
          <a:p>
            <a:pPr lvl="1"/>
            <a:r>
              <a:rPr lang="en-US" b="1" dirty="0"/>
              <a:t>Account Module</a:t>
            </a:r>
            <a:r>
              <a:rPr lang="en-US" dirty="0"/>
              <a:t>: </a:t>
            </a:r>
            <a:r>
              <a:rPr lang="en-US" dirty="0">
                <a:solidFill>
                  <a:srgbClr val="C00000"/>
                </a:solidFill>
              </a:rPr>
              <a:t>Contains sensitive details </a:t>
            </a:r>
            <a:r>
              <a:rPr lang="en-US" dirty="0"/>
              <a:t>like account number and balance.</a:t>
            </a:r>
          </a:p>
          <a:p>
            <a:pPr lvl="1"/>
            <a:r>
              <a:rPr lang="en-US" b="1" dirty="0"/>
              <a:t>Transaction Module</a:t>
            </a:r>
            <a:r>
              <a:rPr lang="en-US" dirty="0"/>
              <a:t>: </a:t>
            </a:r>
            <a:r>
              <a:rPr lang="en-US" dirty="0">
                <a:solidFill>
                  <a:srgbClr val="C00000"/>
                </a:solidFill>
              </a:rPr>
              <a:t>Allows depositing and withdrawing money </a:t>
            </a:r>
            <a:r>
              <a:rPr lang="en-US" dirty="0"/>
              <a:t>but does </a:t>
            </a:r>
            <a:r>
              <a:rPr lang="en-US" dirty="0">
                <a:solidFill>
                  <a:srgbClr val="C00000"/>
                </a:solidFill>
              </a:rPr>
              <a:t>not access </a:t>
            </a:r>
            <a:r>
              <a:rPr lang="en-US" dirty="0"/>
              <a:t>or show </a:t>
            </a:r>
            <a:r>
              <a:rPr lang="en-US" dirty="0">
                <a:solidFill>
                  <a:srgbClr val="C00000"/>
                </a:solidFill>
              </a:rPr>
              <a:t>account details directly.</a:t>
            </a:r>
          </a:p>
          <a:p>
            <a:r>
              <a:rPr lang="en-US" dirty="0"/>
              <a:t>Here, the </a:t>
            </a:r>
            <a:r>
              <a:rPr lang="en-US" b="1" dirty="0"/>
              <a:t>Account Module</a:t>
            </a:r>
            <a:r>
              <a:rPr lang="en-US" dirty="0"/>
              <a:t> hides the sensitive information. The </a:t>
            </a:r>
            <a:r>
              <a:rPr lang="en-US" b="1" dirty="0"/>
              <a:t>Transaction Module</a:t>
            </a:r>
            <a:r>
              <a:rPr lang="en-US" dirty="0"/>
              <a:t> interacts with the Account Module but doesn't see the internal details, </a:t>
            </a:r>
            <a:r>
              <a:rPr lang="en-US" b="1" dirty="0">
                <a:solidFill>
                  <a:srgbClr val="C00000"/>
                </a:solidFill>
              </a:rPr>
              <a:t>maintaining privacy and security</a:t>
            </a:r>
            <a:r>
              <a:rPr lang="en-US" dirty="0"/>
              <a:t>.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5082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C00DE-32C5-A4CB-2323-7D91D11DE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Refactoring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CBE4E3B-920E-2873-EC3F-56C580E00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79930"/>
            <a:ext cx="11929641" cy="5674080"/>
          </a:xfrm>
        </p:spPr>
        <p:txBody>
          <a:bodyPr/>
          <a:lstStyle/>
          <a:p>
            <a:r>
              <a:rPr lang="en-US" dirty="0"/>
              <a:t>Refactoring means </a:t>
            </a:r>
            <a:r>
              <a:rPr lang="en-US" b="1" dirty="0">
                <a:solidFill>
                  <a:srgbClr val="C00000"/>
                </a:solidFill>
              </a:rPr>
              <a:t>improving the design or structure </a:t>
            </a:r>
            <a:r>
              <a:rPr lang="en-US" dirty="0"/>
              <a:t>of something </a:t>
            </a:r>
            <a:r>
              <a:rPr lang="en-US" b="1" dirty="0">
                <a:solidFill>
                  <a:srgbClr val="C00000"/>
                </a:solidFill>
              </a:rPr>
              <a:t>without changing how it works</a:t>
            </a:r>
            <a:r>
              <a:rPr lang="en-US" dirty="0"/>
              <a:t>. </a:t>
            </a:r>
          </a:p>
          <a:p>
            <a:r>
              <a:rPr lang="en-US" dirty="0"/>
              <a:t>In software design, refactoring involves simplifying and organizing code to make it </a:t>
            </a:r>
            <a:r>
              <a:rPr lang="en-US" b="1" dirty="0"/>
              <a:t>easier to understand and maintain</a:t>
            </a:r>
            <a:r>
              <a:rPr lang="en-US" dirty="0"/>
              <a:t>, while ensuring it </a:t>
            </a:r>
            <a:r>
              <a:rPr lang="en-US" b="1" dirty="0"/>
              <a:t>still functions the same way</a:t>
            </a:r>
            <a:r>
              <a:rPr lang="en-US" dirty="0"/>
              <a:t>.</a:t>
            </a:r>
          </a:p>
          <a:p>
            <a:r>
              <a:rPr lang="en-US" dirty="0"/>
              <a:t>Imagine you have a software application with </a:t>
            </a:r>
            <a:r>
              <a:rPr lang="en-US" b="1" dirty="0"/>
              <a:t>complex and messy code.</a:t>
            </a:r>
          </a:p>
          <a:p>
            <a:r>
              <a:rPr lang="en-US" b="1" dirty="0"/>
              <a:t>Before Refactoring</a:t>
            </a:r>
            <a:r>
              <a:rPr lang="en-US" dirty="0"/>
              <a:t>: The code is difficult to read and maintain, with </a:t>
            </a:r>
            <a:r>
              <a:rPr lang="en-US" dirty="0">
                <a:solidFill>
                  <a:srgbClr val="C00000"/>
                </a:solidFill>
              </a:rPr>
              <a:t>redundant sections and unclear organization</a:t>
            </a:r>
            <a:r>
              <a:rPr lang="en-US" dirty="0"/>
              <a:t>.</a:t>
            </a:r>
          </a:p>
          <a:p>
            <a:r>
              <a:rPr lang="en-US" b="1" dirty="0"/>
              <a:t>After Refactoring</a:t>
            </a:r>
            <a:r>
              <a:rPr lang="en-US" dirty="0"/>
              <a:t>: You reorganize and </a:t>
            </a:r>
            <a:r>
              <a:rPr lang="en-US" dirty="0">
                <a:solidFill>
                  <a:srgbClr val="C00000"/>
                </a:solidFill>
              </a:rPr>
              <a:t>clean up the code</a:t>
            </a:r>
            <a:r>
              <a:rPr lang="en-US" dirty="0"/>
              <a:t>, making it more readable and efficient, but the application still performs the same tasks and behaves the same way.</a:t>
            </a:r>
          </a:p>
          <a:p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8987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23082" y="781958"/>
            <a:ext cx="6356227" cy="462642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r>
              <a:rPr lang="en-US" dirty="0"/>
              <a:t>Has great </a:t>
            </a:r>
            <a:r>
              <a:rPr lang="en-US" b="1" dirty="0">
                <a:solidFill>
                  <a:srgbClr val="C00000"/>
                </a:solidFill>
              </a:rPr>
              <a:t>impact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on </a:t>
            </a:r>
            <a:r>
              <a:rPr lang="en-US" b="1" dirty="0">
                <a:solidFill>
                  <a:srgbClr val="C00000"/>
                </a:solidFill>
              </a:rPr>
              <a:t>testing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and </a:t>
            </a:r>
            <a:r>
              <a:rPr lang="en-US" b="1" dirty="0">
                <a:solidFill>
                  <a:srgbClr val="C00000"/>
                </a:solidFill>
              </a:rPr>
              <a:t>maintenance</a:t>
            </a:r>
          </a:p>
        </p:txBody>
      </p:sp>
      <p:sp>
        <p:nvSpPr>
          <p:cNvPr id="4" name="Isosceles Triangle 3"/>
          <p:cNvSpPr/>
          <p:nvPr/>
        </p:nvSpPr>
        <p:spPr>
          <a:xfrm>
            <a:off x="3848149" y="2486827"/>
            <a:ext cx="4800600" cy="3352800"/>
          </a:xfrm>
          <a:prstGeom prst="triangle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030808" y="5361437"/>
            <a:ext cx="24352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Data/Class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67528" y="4823447"/>
            <a:ext cx="27618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Architectural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1568" y="4252072"/>
            <a:ext cx="22537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Interface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15054" y="3381302"/>
            <a:ext cx="145097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b="1" dirty="0"/>
              <a:t>Procedural</a:t>
            </a:r>
          </a:p>
          <a:p>
            <a:pPr algn="ctr"/>
            <a:r>
              <a:rPr lang="en-US" sz="2200" b="1" dirty="0"/>
              <a:t>Design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5026265" y="4218312"/>
            <a:ext cx="2479484" cy="0"/>
          </a:xfrm>
          <a:prstGeom prst="line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4610149" y="4772827"/>
            <a:ext cx="3276600" cy="0"/>
          </a:xfrm>
          <a:prstGeom prst="line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218132" y="5317244"/>
            <a:ext cx="4049617" cy="0"/>
          </a:xfrm>
          <a:prstGeom prst="line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7545146" y="4199445"/>
            <a:ext cx="4534760" cy="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8017741" y="4772827"/>
            <a:ext cx="4062165" cy="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8385316" y="5300423"/>
            <a:ext cx="3694590" cy="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8771036" y="5823102"/>
            <a:ext cx="3308870" cy="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582381" y="5400571"/>
            <a:ext cx="14975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/>
              <a:t>Data Structure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9247" y="4867171"/>
            <a:ext cx="38106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/>
              <a:t>Relationship among structural elements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90361" y="4293789"/>
            <a:ext cx="2789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/>
              <a:t>Human computer interaction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35072" y="3751467"/>
            <a:ext cx="45448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/>
              <a:t>Procedural description of Software components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782603" y="304727"/>
            <a:ext cx="73793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It is </a:t>
            </a:r>
            <a:r>
              <a:rPr lang="en-US" b="1" dirty="0">
                <a:solidFill>
                  <a:srgbClr val="C00000"/>
                </a:solidFill>
              </a:rPr>
              <a:t>creative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activity. It is most </a:t>
            </a:r>
            <a:r>
              <a:rPr lang="en-US" b="1" dirty="0">
                <a:solidFill>
                  <a:srgbClr val="C00000"/>
                </a:solidFill>
              </a:rPr>
              <a:t>critical activity</a:t>
            </a:r>
            <a:r>
              <a:rPr lang="en-US" dirty="0"/>
              <a:t> during system development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013" y="1173533"/>
            <a:ext cx="3438240" cy="15696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 dirty="0"/>
              <a:t>Scenario-based elements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cases - 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Use-case diagrams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Activity diagrams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Swimlane</a:t>
            </a:r>
            <a:r>
              <a:rPr lang="en-US" dirty="0"/>
              <a:t> diagrams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723082" y="1315329"/>
            <a:ext cx="6356227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dirty="0"/>
              <a:t>Design document forms </a:t>
            </a:r>
            <a:r>
              <a:rPr lang="en-US" sz="2400" b="1" dirty="0">
                <a:solidFill>
                  <a:srgbClr val="C00000"/>
                </a:solidFill>
              </a:rPr>
              <a:t>reference for later phases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013" y="2750253"/>
            <a:ext cx="3438240" cy="129266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 dirty="0"/>
              <a:t>Flow-oriented elements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flow diagrams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Control-flow diagrams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Processing narratives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013" y="4039850"/>
            <a:ext cx="3438240" cy="10156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 dirty="0"/>
              <a:t>Behavioral elements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State diagrams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Sequence diagrams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013" y="5045710"/>
            <a:ext cx="3438240" cy="15696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 dirty="0"/>
              <a:t>Class-based elements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Class diagrams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Analysis packages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CRC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Collabortion</a:t>
            </a:r>
            <a:r>
              <a:rPr lang="en-US" dirty="0"/>
              <a:t> diagrams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7013" y="733832"/>
            <a:ext cx="3438240" cy="461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b="1" dirty="0"/>
              <a:t>Analysis Models</a:t>
            </a:r>
            <a:endParaRPr lang="en-US" sz="2400" b="1" dirty="0">
              <a:solidFill>
                <a:srgbClr val="C00000"/>
              </a:solidFill>
            </a:endParaRPr>
          </a:p>
        </p:txBody>
      </p:sp>
      <p:cxnSp>
        <p:nvCxnSpPr>
          <p:cNvPr id="48" name="Straight Arrow Connector 47"/>
          <p:cNvCxnSpPr>
            <a:stCxn id="41" idx="3"/>
          </p:cNvCxnSpPr>
          <p:nvPr/>
        </p:nvCxnSpPr>
        <p:spPr>
          <a:xfrm>
            <a:off x="3505253" y="1958363"/>
            <a:ext cx="1362275" cy="251203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stCxn id="43" idx="3"/>
          </p:cNvCxnSpPr>
          <p:nvPr/>
        </p:nvCxnSpPr>
        <p:spPr>
          <a:xfrm>
            <a:off x="3505253" y="3396584"/>
            <a:ext cx="2009801" cy="8684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stCxn id="43" idx="3"/>
          </p:cNvCxnSpPr>
          <p:nvPr/>
        </p:nvCxnSpPr>
        <p:spPr>
          <a:xfrm>
            <a:off x="3505253" y="3396584"/>
            <a:ext cx="1362275" cy="107381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43" idx="3"/>
          </p:cNvCxnSpPr>
          <p:nvPr/>
        </p:nvCxnSpPr>
        <p:spPr>
          <a:xfrm>
            <a:off x="3505253" y="3396584"/>
            <a:ext cx="921604" cy="164912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44" idx="3"/>
          </p:cNvCxnSpPr>
          <p:nvPr/>
        </p:nvCxnSpPr>
        <p:spPr>
          <a:xfrm flipV="1">
            <a:off x="3505253" y="3483429"/>
            <a:ext cx="2009801" cy="106425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>
            <a:stCxn id="44" idx="3"/>
          </p:cNvCxnSpPr>
          <p:nvPr/>
        </p:nvCxnSpPr>
        <p:spPr>
          <a:xfrm flipV="1">
            <a:off x="3505253" y="4470401"/>
            <a:ext cx="1277350" cy="7728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>
            <a:stCxn id="45" idx="3"/>
          </p:cNvCxnSpPr>
          <p:nvPr/>
        </p:nvCxnSpPr>
        <p:spPr>
          <a:xfrm flipV="1">
            <a:off x="3505253" y="5045710"/>
            <a:ext cx="921604" cy="7848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>
            <a:stCxn id="45" idx="3"/>
          </p:cNvCxnSpPr>
          <p:nvPr/>
        </p:nvCxnSpPr>
        <p:spPr>
          <a:xfrm flipV="1">
            <a:off x="3505253" y="5573486"/>
            <a:ext cx="500690" cy="25705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605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  <p:bldP spid="4" grpId="0" animBg="1"/>
      <p:bldP spid="5" grpId="0"/>
      <p:bldP spid="6" grpId="0"/>
      <p:bldP spid="7" grpId="0"/>
      <p:bldP spid="8" grpId="0"/>
      <p:bldP spid="16" grpId="0"/>
      <p:bldP spid="17" grpId="0"/>
      <p:bldP spid="18" grpId="0"/>
      <p:bldP spid="19" grpId="0"/>
      <p:bldP spid="40" grpId="0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Models Cont.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76793" y="1300366"/>
            <a:ext cx="2552700" cy="442891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6082420" y="1347041"/>
            <a:ext cx="3155709" cy="502231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3185510" y="1357220"/>
            <a:ext cx="2744646" cy="501214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275171" y="1352188"/>
            <a:ext cx="2758072" cy="501717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275170" y="890780"/>
            <a:ext cx="2758073" cy="461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b="1" dirty="0"/>
              <a:t>Data Design</a:t>
            </a: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273" y="1589464"/>
            <a:ext cx="1398935" cy="1398935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3185508" y="899161"/>
            <a:ext cx="2744647" cy="461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b="1" dirty="0"/>
              <a:t>Architectural Design</a:t>
            </a: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4634" y="1401193"/>
            <a:ext cx="1621966" cy="1621966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351978" y="3292322"/>
            <a:ext cx="2653938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It </a:t>
            </a:r>
            <a:r>
              <a:rPr lang="en-US" sz="2400" b="1" dirty="0"/>
              <a:t>transforms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class models</a:t>
            </a:r>
            <a:r>
              <a:rPr lang="en-US" sz="2400" dirty="0"/>
              <a:t> into</a:t>
            </a:r>
            <a:r>
              <a:rPr lang="en-US" sz="2400" b="1" dirty="0">
                <a:solidFill>
                  <a:srgbClr val="C00000"/>
                </a:solidFill>
              </a:rPr>
              <a:t> design class</a:t>
            </a:r>
            <a:r>
              <a:rPr lang="en-US" sz="2400" dirty="0"/>
              <a:t> realization and </a:t>
            </a:r>
            <a:r>
              <a:rPr lang="en-US" sz="2400" b="1" dirty="0">
                <a:solidFill>
                  <a:srgbClr val="C00000"/>
                </a:solidFill>
              </a:rPr>
              <a:t>prepares data structure</a:t>
            </a:r>
            <a:r>
              <a:rPr lang="en-US" sz="2400" dirty="0"/>
              <a:t> (</a:t>
            </a:r>
            <a:r>
              <a:rPr lang="en-US" sz="2400" b="1" dirty="0">
                <a:solidFill>
                  <a:srgbClr val="C00000"/>
                </a:solidFill>
              </a:rPr>
              <a:t>data design</a:t>
            </a:r>
            <a:r>
              <a:rPr lang="en-US" sz="2400" dirty="0"/>
              <a:t>) required to implement the software.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07978" y="3292322"/>
            <a:ext cx="248770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It </a:t>
            </a:r>
            <a:r>
              <a:rPr lang="en-US" sz="2400" b="1" dirty="0">
                <a:solidFill>
                  <a:srgbClr val="C00000"/>
                </a:solidFill>
              </a:rPr>
              <a:t>defines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the </a:t>
            </a:r>
            <a:r>
              <a:rPr lang="en-US" sz="2400" b="1" dirty="0">
                <a:solidFill>
                  <a:srgbClr val="C00000"/>
                </a:solidFill>
              </a:rPr>
              <a:t>relationship between</a:t>
            </a:r>
            <a:r>
              <a:rPr lang="en-US" sz="2400" dirty="0"/>
              <a:t> major </a:t>
            </a:r>
            <a:r>
              <a:rPr lang="en-US" sz="2400" b="1" dirty="0">
                <a:solidFill>
                  <a:srgbClr val="C00000"/>
                </a:solidFill>
              </a:rPr>
              <a:t>structural elements</a:t>
            </a:r>
            <a:r>
              <a:rPr lang="en-US" sz="2400" dirty="0"/>
              <a:t> of the software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82420" y="886978"/>
            <a:ext cx="3155709" cy="461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b="1" dirty="0"/>
              <a:t>Interface Design</a:t>
            </a: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 rotWithShape="1"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82" b="6625"/>
          <a:stretch/>
        </p:blipFill>
        <p:spPr>
          <a:xfrm>
            <a:off x="6925578" y="1524420"/>
            <a:ext cx="1558879" cy="1349877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6252882" y="3292322"/>
            <a:ext cx="2823883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/>
              <a:t>It defines </a:t>
            </a:r>
            <a:r>
              <a:rPr lang="en-US" sz="2400" b="1" dirty="0">
                <a:solidFill>
                  <a:srgbClr val="C00000"/>
                </a:solidFill>
              </a:rPr>
              <a:t>how software communicates</a:t>
            </a:r>
            <a:r>
              <a:rPr lang="en-US" sz="2400" dirty="0"/>
              <a:t> with </a:t>
            </a:r>
            <a:r>
              <a:rPr lang="en-US" sz="2400" b="1" dirty="0">
                <a:solidFill>
                  <a:srgbClr val="C00000"/>
                </a:solidFill>
              </a:rPr>
              <a:t>systems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&amp; with </a:t>
            </a:r>
            <a:r>
              <a:rPr lang="en-US" sz="2400" b="1" dirty="0">
                <a:solidFill>
                  <a:srgbClr val="C00000"/>
                </a:solidFill>
              </a:rPr>
              <a:t>humans</a:t>
            </a:r>
            <a:r>
              <a:rPr lang="en-US" sz="2400" dirty="0"/>
              <a:t>. An interface implies flow of information &amp; behavior.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376793" y="886978"/>
            <a:ext cx="2552700" cy="461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b="1" dirty="0"/>
              <a:t>Procedural Design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5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9637" y="1370568"/>
            <a:ext cx="1240119" cy="1240119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9562012" y="2650425"/>
            <a:ext cx="22860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It </a:t>
            </a:r>
            <a:r>
              <a:rPr lang="en-US" sz="2400" b="1" dirty="0">
                <a:solidFill>
                  <a:srgbClr val="C00000"/>
                </a:solidFill>
              </a:rPr>
              <a:t>transforms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b="1" dirty="0">
                <a:solidFill>
                  <a:srgbClr val="C00000"/>
                </a:solidFill>
              </a:rPr>
              <a:t>structural elements</a:t>
            </a:r>
            <a:r>
              <a:rPr lang="en-US" sz="2400" dirty="0"/>
              <a:t> of software into </a:t>
            </a:r>
            <a:r>
              <a:rPr lang="en-US" sz="2400" b="1" dirty="0">
                <a:solidFill>
                  <a:srgbClr val="C00000"/>
                </a:solidFill>
              </a:rPr>
              <a:t>procedural description</a:t>
            </a:r>
            <a:r>
              <a:rPr lang="en-US" sz="2400" dirty="0"/>
              <a:t> of software components</a:t>
            </a:r>
          </a:p>
        </p:txBody>
      </p:sp>
    </p:spTree>
    <p:extLst>
      <p:ext uri="{BB962C8B-B14F-4D97-AF65-F5344CB8AC3E}">
        <p14:creationId xmlns:p14="http://schemas.microsoft.com/office/powerpoint/2010/main" val="2202718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6" grpId="0" animBg="1"/>
      <p:bldP spid="28" grpId="0"/>
      <p:bldP spid="29" grpId="0"/>
      <p:bldP spid="30" grpId="0" animBg="1"/>
      <p:bldP spid="32" grpId="0"/>
      <p:bldP spid="33" grpId="0" animBg="1"/>
      <p:bldP spid="3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Quality attributes of software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9209314" y="341869"/>
            <a:ext cx="287382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FURPS</a:t>
            </a:r>
            <a:r>
              <a:rPr lang="en-US" dirty="0"/>
              <a:t> quality attributes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1662" y="5208105"/>
            <a:ext cx="11671661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rgbClr val="C00000"/>
                </a:solidFill>
              </a:rPr>
              <a:t>Ability to extend program</a:t>
            </a:r>
            <a:r>
              <a:rPr lang="en-US" sz="2400" dirty="0"/>
              <a:t>, adaptability, serviceability, testability, compatibility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8498" y="3325448"/>
            <a:ext cx="5434826" cy="1200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measured by </a:t>
            </a:r>
            <a:r>
              <a:rPr lang="en-US" sz="2400" b="1" dirty="0">
                <a:solidFill>
                  <a:srgbClr val="C00000"/>
                </a:solidFill>
              </a:rPr>
              <a:t>processing speed</a:t>
            </a:r>
            <a:r>
              <a:rPr lang="en-US" sz="2400" dirty="0"/>
              <a:t>, </a:t>
            </a:r>
            <a:r>
              <a:rPr lang="en-US" sz="2400" b="1" dirty="0">
                <a:solidFill>
                  <a:srgbClr val="C00000"/>
                </a:solidFill>
              </a:rPr>
              <a:t>response time</a:t>
            </a:r>
            <a:r>
              <a:rPr lang="en-US" sz="2400" dirty="0"/>
              <a:t>, </a:t>
            </a:r>
            <a:r>
              <a:rPr lang="en-US" sz="2400" b="1" dirty="0">
                <a:solidFill>
                  <a:srgbClr val="C00000"/>
                </a:solidFill>
              </a:rPr>
              <a:t>resource consumption</a:t>
            </a:r>
            <a:r>
              <a:rPr lang="en-US" sz="2400" dirty="0"/>
              <a:t>, </a:t>
            </a:r>
            <a:r>
              <a:rPr lang="en-US" sz="2400" b="1" dirty="0">
                <a:solidFill>
                  <a:srgbClr val="C00000"/>
                </a:solidFill>
              </a:rPr>
              <a:t>throughput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and </a:t>
            </a:r>
            <a:r>
              <a:rPr lang="en-US" sz="2400" b="1" dirty="0">
                <a:solidFill>
                  <a:srgbClr val="C00000"/>
                </a:solidFill>
              </a:rPr>
              <a:t>efficiency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1257" y="3325448"/>
            <a:ext cx="5937068" cy="1200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assessed by measuring </a:t>
            </a:r>
            <a:r>
              <a:rPr lang="en-US" sz="2400" b="1" dirty="0">
                <a:solidFill>
                  <a:srgbClr val="C00000"/>
                </a:solidFill>
              </a:rPr>
              <a:t>frequency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&amp; </a:t>
            </a:r>
            <a:r>
              <a:rPr lang="en-US" sz="2400" b="1" dirty="0">
                <a:solidFill>
                  <a:srgbClr val="C00000"/>
                </a:solidFill>
              </a:rPr>
              <a:t>severity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of </a:t>
            </a:r>
            <a:r>
              <a:rPr lang="en-US" sz="2400" b="1" dirty="0">
                <a:solidFill>
                  <a:srgbClr val="C00000"/>
                </a:solidFill>
              </a:rPr>
              <a:t>failures</a:t>
            </a:r>
            <a:r>
              <a:rPr lang="en-US" sz="2400" dirty="0"/>
              <a:t>, </a:t>
            </a:r>
            <a:r>
              <a:rPr lang="en-US" sz="2400" b="1" dirty="0">
                <a:solidFill>
                  <a:srgbClr val="C00000"/>
                </a:solidFill>
              </a:rPr>
              <a:t>accuracy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of </a:t>
            </a:r>
            <a:r>
              <a:rPr lang="en-US" sz="2400" b="1" dirty="0">
                <a:solidFill>
                  <a:srgbClr val="C00000"/>
                </a:solidFill>
              </a:rPr>
              <a:t>outputs</a:t>
            </a:r>
            <a:r>
              <a:rPr lang="en-US" sz="2400" dirty="0"/>
              <a:t>, </a:t>
            </a:r>
            <a:r>
              <a:rPr lang="en-US" sz="2400" b="1" dirty="0">
                <a:solidFill>
                  <a:srgbClr val="C00000"/>
                </a:solidFill>
              </a:rPr>
              <a:t>mean-time-of-failure (MTTF)</a:t>
            </a:r>
            <a:r>
              <a:rPr lang="en-US" sz="2400" dirty="0"/>
              <a:t>, </a:t>
            </a:r>
            <a:r>
              <a:rPr lang="en-US" sz="2400" b="1" dirty="0">
                <a:solidFill>
                  <a:srgbClr val="C00000"/>
                </a:solidFill>
              </a:rPr>
              <a:t>ability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to </a:t>
            </a:r>
            <a:r>
              <a:rPr lang="en-US" sz="2400" b="1" dirty="0">
                <a:solidFill>
                  <a:srgbClr val="C00000"/>
                </a:solidFill>
              </a:rPr>
              <a:t>recover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from </a:t>
            </a:r>
            <a:r>
              <a:rPr lang="en-US" sz="2400" b="1" dirty="0">
                <a:solidFill>
                  <a:srgbClr val="C00000"/>
                </a:solidFill>
              </a:rPr>
              <a:t>errors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8498" y="1442791"/>
            <a:ext cx="5434826" cy="1200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assessed by considering </a:t>
            </a:r>
            <a:r>
              <a:rPr lang="en-US" sz="2400" b="1" dirty="0">
                <a:solidFill>
                  <a:srgbClr val="C00000"/>
                </a:solidFill>
              </a:rPr>
              <a:t>human factors</a:t>
            </a:r>
            <a:r>
              <a:rPr lang="en-US" sz="2400" dirty="0"/>
              <a:t>, overall </a:t>
            </a:r>
            <a:r>
              <a:rPr lang="en-US" sz="2400" b="1" dirty="0">
                <a:solidFill>
                  <a:srgbClr val="C00000"/>
                </a:solidFill>
              </a:rPr>
              <a:t>aesthetics(UI/UX)</a:t>
            </a:r>
            <a:r>
              <a:rPr lang="en-US" sz="2400" dirty="0"/>
              <a:t>, </a:t>
            </a:r>
            <a:r>
              <a:rPr lang="en-US" sz="2400" b="1" dirty="0">
                <a:solidFill>
                  <a:srgbClr val="C00000"/>
                </a:solidFill>
              </a:rPr>
              <a:t>consistency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&amp; </a:t>
            </a:r>
            <a:r>
              <a:rPr lang="en-US" sz="2400" b="1" dirty="0">
                <a:solidFill>
                  <a:srgbClr val="C00000"/>
                </a:solidFill>
              </a:rPr>
              <a:t>documentations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1663" y="1474324"/>
            <a:ext cx="5937068" cy="1200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assessed by </a:t>
            </a:r>
            <a:r>
              <a:rPr lang="en-US" sz="2400" b="1" dirty="0">
                <a:solidFill>
                  <a:srgbClr val="C00000"/>
                </a:solidFill>
              </a:rPr>
              <a:t>feature set </a:t>
            </a:r>
            <a:r>
              <a:rPr lang="en-US" sz="2400" dirty="0"/>
              <a:t>and </a:t>
            </a:r>
            <a:r>
              <a:rPr lang="en-US" sz="2400" b="1" dirty="0">
                <a:solidFill>
                  <a:srgbClr val="C00000"/>
                </a:solidFill>
              </a:rPr>
              <a:t>capabilities of </a:t>
            </a:r>
            <a:r>
              <a:rPr lang="en-US" sz="2400" dirty="0"/>
              <a:t>the </a:t>
            </a:r>
            <a:r>
              <a:rPr lang="en-US" sz="2400" b="1" dirty="0">
                <a:solidFill>
                  <a:srgbClr val="C00000"/>
                </a:solidFill>
              </a:rPr>
              <a:t>program</a:t>
            </a:r>
            <a:r>
              <a:rPr lang="en-US" sz="2400" dirty="0"/>
              <a:t>, </a:t>
            </a:r>
            <a:r>
              <a:rPr lang="en-US" sz="2400" b="1" dirty="0">
                <a:solidFill>
                  <a:srgbClr val="C00000"/>
                </a:solidFill>
              </a:rPr>
              <a:t>generality(scope)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of the </a:t>
            </a:r>
            <a:r>
              <a:rPr lang="en-US" sz="2400" b="1" dirty="0">
                <a:solidFill>
                  <a:srgbClr val="C00000"/>
                </a:solidFill>
              </a:rPr>
              <a:t>functions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&amp; </a:t>
            </a:r>
            <a:r>
              <a:rPr lang="en-US" sz="2400" b="1" dirty="0">
                <a:solidFill>
                  <a:srgbClr val="C00000"/>
                </a:solidFill>
              </a:rPr>
              <a:t>security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of overall </a:t>
            </a:r>
            <a:r>
              <a:rPr lang="en-US" sz="2400" b="1" dirty="0">
                <a:solidFill>
                  <a:srgbClr val="C00000"/>
                </a:solidFill>
              </a:rPr>
              <a:t>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80613" y="956412"/>
            <a:ext cx="2054103" cy="46166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 dirty="0"/>
              <a:t>Usability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40" y="981126"/>
            <a:ext cx="2054103" cy="46166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 dirty="0"/>
              <a:t>Functionality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934" y="2837912"/>
            <a:ext cx="2054103" cy="46166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 dirty="0"/>
              <a:t>Reliability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80613" y="2837912"/>
            <a:ext cx="2054103" cy="46166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 dirty="0"/>
              <a:t>Performance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39" y="4718854"/>
            <a:ext cx="2054103" cy="46166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 dirty="0"/>
              <a:t>Supportability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1663" y="1005840"/>
            <a:ext cx="385042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8498" y="981126"/>
            <a:ext cx="385042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1257" y="2862626"/>
            <a:ext cx="385042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8498" y="2862626"/>
            <a:ext cx="385042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1662" y="4743568"/>
            <a:ext cx="385042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271996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</a:t>
            </a:r>
            <a:r>
              <a:rPr lang="en-US" sz="3600" dirty="0"/>
              <a:t> </a:t>
            </a:r>
            <a:r>
              <a:rPr lang="en-US" dirty="0"/>
              <a:t>Principles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0944" y="4535631"/>
            <a:ext cx="2567806" cy="1899068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8750" y="4541981"/>
            <a:ext cx="3631521" cy="1897468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28" name="Picture 27"/>
          <p:cNvPicPr>
            <a:picLocks noChangeAspect="1"/>
          </p:cNvPicPr>
          <p:nvPr/>
        </p:nvPicPr>
        <p:blipFill rotWithShape="1"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42" t="13915" r="2000" b="3228"/>
          <a:stretch/>
        </p:blipFill>
        <p:spPr>
          <a:xfrm>
            <a:off x="795406" y="4660874"/>
            <a:ext cx="1977675" cy="1697625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124040" y="4541981"/>
            <a:ext cx="426904" cy="189271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2400" b="1" dirty="0"/>
              <a:t>Tunnel Vision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90300" y="4535631"/>
            <a:ext cx="388578" cy="190195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700" b="1" dirty="0"/>
              <a:t>Reinvent the Wheel</a:t>
            </a:r>
          </a:p>
        </p:txBody>
      </p:sp>
      <p:sp>
        <p:nvSpPr>
          <p:cNvPr id="6" name="Rectangle 5"/>
          <p:cNvSpPr/>
          <p:nvPr/>
        </p:nvSpPr>
        <p:spPr>
          <a:xfrm>
            <a:off x="124040" y="898746"/>
            <a:ext cx="6854838" cy="43088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sz="2200" dirty="0"/>
              <a:t>Design process should </a:t>
            </a:r>
            <a:r>
              <a:rPr lang="en-US" sz="2200" b="1" dirty="0">
                <a:solidFill>
                  <a:srgbClr val="C00000"/>
                </a:solidFill>
              </a:rPr>
              <a:t>not suffer</a:t>
            </a:r>
            <a:r>
              <a:rPr lang="en-US" sz="2200" dirty="0"/>
              <a:t> from </a:t>
            </a:r>
            <a:r>
              <a:rPr lang="en-US" sz="2200" b="1" dirty="0">
                <a:solidFill>
                  <a:srgbClr val="C00000"/>
                </a:solidFill>
              </a:rPr>
              <a:t>“tunnel vision”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124040" y="1456262"/>
            <a:ext cx="6854838" cy="43088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sz="2200" dirty="0"/>
              <a:t>Design should be </a:t>
            </a:r>
            <a:r>
              <a:rPr lang="en-US" sz="2200" b="1" dirty="0">
                <a:solidFill>
                  <a:srgbClr val="C00000"/>
                </a:solidFill>
              </a:rPr>
              <a:t>traceable</a:t>
            </a:r>
            <a:r>
              <a:rPr lang="en-US" sz="2200" dirty="0">
                <a:solidFill>
                  <a:srgbClr val="C00000"/>
                </a:solidFill>
              </a:rPr>
              <a:t> </a:t>
            </a:r>
            <a:r>
              <a:rPr lang="en-US" sz="2200" dirty="0"/>
              <a:t>to the </a:t>
            </a:r>
            <a:r>
              <a:rPr lang="en-US" sz="2200" b="1" dirty="0">
                <a:solidFill>
                  <a:srgbClr val="C00000"/>
                </a:solidFill>
              </a:rPr>
              <a:t>analysis 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124040" y="2013778"/>
            <a:ext cx="6854838" cy="43088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sz="2200" dirty="0"/>
              <a:t>Design should </a:t>
            </a:r>
            <a:r>
              <a:rPr lang="en-US" sz="2200" b="1" dirty="0">
                <a:solidFill>
                  <a:srgbClr val="C00000"/>
                </a:solidFill>
              </a:rPr>
              <a:t>not reinvent</a:t>
            </a:r>
            <a:r>
              <a:rPr lang="en-US" sz="2200" dirty="0"/>
              <a:t> the </a:t>
            </a:r>
            <a:r>
              <a:rPr lang="en-US" sz="2200" b="1" dirty="0">
                <a:solidFill>
                  <a:srgbClr val="C00000"/>
                </a:solidFill>
              </a:rPr>
              <a:t>wheel</a:t>
            </a:r>
          </a:p>
        </p:txBody>
      </p:sp>
      <p:sp>
        <p:nvSpPr>
          <p:cNvPr id="9" name="Rectangle 8"/>
          <p:cNvSpPr/>
          <p:nvPr/>
        </p:nvSpPr>
        <p:spPr>
          <a:xfrm>
            <a:off x="124040" y="2571294"/>
            <a:ext cx="6854838" cy="76944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sz="2200" dirty="0"/>
              <a:t>Design should </a:t>
            </a:r>
            <a:r>
              <a:rPr lang="en-US" sz="2200" b="1" dirty="0">
                <a:solidFill>
                  <a:srgbClr val="C00000"/>
                </a:solidFill>
              </a:rPr>
              <a:t>“minimize the intellectual distance”</a:t>
            </a:r>
            <a:r>
              <a:rPr lang="en-US" sz="2200" dirty="0"/>
              <a:t> between the </a:t>
            </a:r>
            <a:r>
              <a:rPr lang="en-US" sz="2200" b="1" dirty="0">
                <a:solidFill>
                  <a:srgbClr val="C00000"/>
                </a:solidFill>
              </a:rPr>
              <a:t>software</a:t>
            </a:r>
            <a:r>
              <a:rPr lang="en-US" sz="2200" dirty="0">
                <a:solidFill>
                  <a:srgbClr val="C00000"/>
                </a:solidFill>
              </a:rPr>
              <a:t> </a:t>
            </a:r>
            <a:r>
              <a:rPr lang="en-US" sz="2200" dirty="0"/>
              <a:t>and </a:t>
            </a:r>
            <a:r>
              <a:rPr lang="en-US" sz="2200" b="1" dirty="0">
                <a:solidFill>
                  <a:srgbClr val="C00000"/>
                </a:solidFill>
              </a:rPr>
              <a:t>the real world</a:t>
            </a:r>
            <a:r>
              <a:rPr lang="en-US" sz="2200" dirty="0"/>
              <a:t> problem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4040" y="3467364"/>
            <a:ext cx="6854838" cy="43088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sz="2200" dirty="0"/>
              <a:t>Design should exhibit (</a:t>
            </a:r>
            <a:r>
              <a:rPr lang="en-US" sz="2200" b="1" dirty="0">
                <a:solidFill>
                  <a:srgbClr val="C00000"/>
                </a:solidFill>
              </a:rPr>
              <a:t>present</a:t>
            </a:r>
            <a:r>
              <a:rPr lang="en-US" sz="2200" dirty="0"/>
              <a:t>) </a:t>
            </a:r>
            <a:r>
              <a:rPr lang="en-US" sz="2200" b="1" dirty="0">
                <a:solidFill>
                  <a:srgbClr val="C00000"/>
                </a:solidFill>
              </a:rPr>
              <a:t>uniformity</a:t>
            </a:r>
            <a:r>
              <a:rPr lang="en-US" sz="2200" dirty="0">
                <a:solidFill>
                  <a:srgbClr val="C00000"/>
                </a:solidFill>
              </a:rPr>
              <a:t> </a:t>
            </a:r>
            <a:r>
              <a:rPr lang="en-US" sz="2200" dirty="0"/>
              <a:t>and </a:t>
            </a:r>
            <a:r>
              <a:rPr lang="en-US" sz="2200" b="1" dirty="0">
                <a:solidFill>
                  <a:srgbClr val="C00000"/>
                </a:solidFill>
              </a:rPr>
              <a:t>integration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4040" y="4024881"/>
            <a:ext cx="6854838" cy="4154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sz="2100" dirty="0"/>
              <a:t>Design should be </a:t>
            </a:r>
            <a:r>
              <a:rPr lang="en-US" sz="2100" b="1" dirty="0">
                <a:solidFill>
                  <a:srgbClr val="C00000"/>
                </a:solidFill>
              </a:rPr>
              <a:t>structured to accommodate change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37143" y="898746"/>
            <a:ext cx="4873150" cy="10618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sz="2100" dirty="0"/>
              <a:t>Design should be </a:t>
            </a:r>
            <a:r>
              <a:rPr lang="en-US" sz="2100" b="1" dirty="0">
                <a:solidFill>
                  <a:srgbClr val="C00000"/>
                </a:solidFill>
              </a:rPr>
              <a:t>structured</a:t>
            </a:r>
            <a:r>
              <a:rPr lang="en-US" sz="2100" dirty="0">
                <a:solidFill>
                  <a:srgbClr val="C00000"/>
                </a:solidFill>
              </a:rPr>
              <a:t> </a:t>
            </a:r>
            <a:r>
              <a:rPr lang="en-US" sz="2100" dirty="0"/>
              <a:t>to </a:t>
            </a:r>
            <a:r>
              <a:rPr lang="en-US" sz="2100" b="1" dirty="0">
                <a:solidFill>
                  <a:srgbClr val="C00000"/>
                </a:solidFill>
              </a:rPr>
              <a:t>degrade gently</a:t>
            </a:r>
            <a:r>
              <a:rPr lang="en-US" sz="2100" dirty="0"/>
              <a:t>, even when abnormal data, events, or operating conditions are encountered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37143" y="2149917"/>
            <a:ext cx="4873150" cy="43088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200" dirty="0">
                <a:solidFill>
                  <a:srgbClr val="C00000"/>
                </a:solidFill>
              </a:rPr>
              <a:t>Design is not coding, coding is not design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37143" y="2770146"/>
            <a:ext cx="4873150" cy="73866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100" b="1" dirty="0">
                <a:solidFill>
                  <a:srgbClr val="C00000"/>
                </a:solidFill>
              </a:rPr>
              <a:t>Design</a:t>
            </a:r>
            <a:r>
              <a:rPr lang="en-US" sz="2100" dirty="0">
                <a:solidFill>
                  <a:srgbClr val="C00000"/>
                </a:solidFill>
              </a:rPr>
              <a:t> </a:t>
            </a:r>
            <a:r>
              <a:rPr lang="en-US" sz="2100" dirty="0"/>
              <a:t>should be </a:t>
            </a:r>
            <a:r>
              <a:rPr lang="en-US" sz="2100" b="1" dirty="0">
                <a:solidFill>
                  <a:srgbClr val="C00000"/>
                </a:solidFill>
              </a:rPr>
              <a:t>assessed for quality </a:t>
            </a:r>
            <a:r>
              <a:rPr lang="en-US" sz="2100" dirty="0"/>
              <a:t>as it is </a:t>
            </a:r>
            <a:r>
              <a:rPr lang="en-US" sz="2100" b="1" dirty="0">
                <a:solidFill>
                  <a:srgbClr val="C00000"/>
                </a:solidFill>
              </a:rPr>
              <a:t>being created</a:t>
            </a:r>
            <a:r>
              <a:rPr lang="en-US" sz="2100" dirty="0"/>
              <a:t>, not after the fact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37143" y="3698152"/>
            <a:ext cx="4873150" cy="73866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sz="2100" dirty="0"/>
              <a:t>Design should be </a:t>
            </a:r>
            <a:r>
              <a:rPr lang="en-US" sz="2100" b="1" dirty="0">
                <a:solidFill>
                  <a:srgbClr val="C00000"/>
                </a:solidFill>
              </a:rPr>
              <a:t>reviewed to minimize conceptual</a:t>
            </a:r>
            <a:r>
              <a:rPr lang="en-US" sz="2100" dirty="0"/>
              <a:t> (semantic) errors</a:t>
            </a:r>
            <a:endParaRPr lang="en-IN" sz="2100" dirty="0"/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4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63"/>
          <a:stretch/>
        </p:blipFill>
        <p:spPr>
          <a:xfrm>
            <a:off x="7135421" y="4535631"/>
            <a:ext cx="4876594" cy="1584811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133699" y="6005027"/>
            <a:ext cx="2412986" cy="41549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rtlCol="0">
            <a:spAutoFit/>
          </a:bodyPr>
          <a:lstStyle/>
          <a:p>
            <a:pPr algn="ctr"/>
            <a:r>
              <a:rPr lang="en-US" sz="2100" b="1" dirty="0">
                <a:solidFill>
                  <a:schemeClr val="tx1"/>
                </a:solidFill>
              </a:rPr>
              <a:t>Coding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46685" y="6005026"/>
            <a:ext cx="2463609" cy="41549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rtlCol="0">
            <a:spAutoFit/>
          </a:bodyPr>
          <a:lstStyle>
            <a:defPPr>
              <a:defRPr lang="en-US"/>
            </a:defPPr>
            <a:lvl1pPr algn="ctr">
              <a:defRPr sz="24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2100" dirty="0">
                <a:solidFill>
                  <a:schemeClr val="tx1"/>
                </a:solidFill>
              </a:rPr>
              <a:t>Design</a:t>
            </a:r>
          </a:p>
        </p:txBody>
      </p:sp>
    </p:spTree>
    <p:extLst>
      <p:ext uri="{BB962C8B-B14F-4D97-AF65-F5344CB8AC3E}">
        <p14:creationId xmlns:p14="http://schemas.microsoft.com/office/powerpoint/2010/main" val="4098841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9" grpId="0" animBg="1"/>
      <p:bldP spid="30" grpId="0" animBg="1"/>
      <p:bldP spid="6" grpId="0" animBg="1"/>
      <p:bldP spid="7" grpId="0" animBg="1"/>
      <p:bldP spid="8" grpId="0" animBg="1"/>
      <p:bldP spid="9" grpId="0" animBg="1"/>
      <p:bldP spid="10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8" grpId="0" animBg="1"/>
      <p:bldP spid="39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Architectural Design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725" y="3942685"/>
            <a:ext cx="1987984" cy="198798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154"/>
          <a:stretch/>
        </p:blipFill>
        <p:spPr>
          <a:xfrm>
            <a:off x="226017" y="756047"/>
            <a:ext cx="2514600" cy="3189249"/>
          </a:xfrm>
          <a:prstGeom prst="rect">
            <a:avLst/>
          </a:prstGeom>
        </p:spPr>
      </p:pic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3301670" y="1434966"/>
            <a:ext cx="8636330" cy="2088752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Large systems</a:t>
            </a:r>
            <a:r>
              <a:rPr lang="en-US" dirty="0"/>
              <a:t> are </a:t>
            </a:r>
            <a:r>
              <a:rPr lang="en-US" b="1" dirty="0">
                <a:solidFill>
                  <a:srgbClr val="C00000"/>
                </a:solidFill>
              </a:rPr>
              <a:t>decomposed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into </a:t>
            </a:r>
            <a:r>
              <a:rPr lang="en-US" b="1" dirty="0">
                <a:solidFill>
                  <a:srgbClr val="C00000"/>
                </a:solidFill>
              </a:rPr>
              <a:t>subsystems</a:t>
            </a:r>
            <a:endParaRPr lang="en-IN" b="1" dirty="0">
              <a:solidFill>
                <a:srgbClr val="C00000"/>
              </a:solidFill>
            </a:endParaRPr>
          </a:p>
          <a:p>
            <a:r>
              <a:rPr lang="en-IN" b="1" dirty="0">
                <a:solidFill>
                  <a:srgbClr val="C00000"/>
                </a:solidFill>
              </a:rPr>
              <a:t>Sub-systems</a:t>
            </a:r>
            <a:r>
              <a:rPr lang="en-IN" dirty="0"/>
              <a:t> provide</a:t>
            </a:r>
            <a:r>
              <a:rPr lang="en-IN" b="1" dirty="0">
                <a:solidFill>
                  <a:srgbClr val="C00000"/>
                </a:solidFill>
              </a:rPr>
              <a:t> related services</a:t>
            </a:r>
          </a:p>
          <a:p>
            <a:r>
              <a:rPr lang="en-IN" dirty="0"/>
              <a:t>Initial design process includes</a:t>
            </a:r>
          </a:p>
          <a:p>
            <a:pPr lvl="1"/>
            <a:r>
              <a:rPr lang="en-IN" dirty="0"/>
              <a:t>Identifying sub-systems</a:t>
            </a:r>
          </a:p>
          <a:p>
            <a:pPr lvl="1"/>
            <a:r>
              <a:rPr lang="en-US" dirty="0"/>
              <a:t>Establishing a framework for sub-system control and communication</a:t>
            </a:r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3301670" y="4247485"/>
            <a:ext cx="8636330" cy="20887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C00000"/>
                </a:solidFill>
              </a:rPr>
              <a:t>Stakeholder Communication:</a:t>
            </a:r>
            <a:r>
              <a:rPr lang="en-US" dirty="0"/>
              <a:t> High-level presentation of system</a:t>
            </a:r>
          </a:p>
          <a:p>
            <a:r>
              <a:rPr lang="en-US" b="1" dirty="0">
                <a:solidFill>
                  <a:srgbClr val="C00000"/>
                </a:solidFill>
              </a:rPr>
              <a:t>System Analysis:</a:t>
            </a:r>
            <a:r>
              <a:rPr lang="en-US" dirty="0"/>
              <a:t> Big effect on performance, reliability, maintainability and other –</a:t>
            </a:r>
            <a:r>
              <a:rPr lang="en-US" dirty="0" err="1"/>
              <a:t>ilities</a:t>
            </a:r>
            <a:r>
              <a:rPr lang="en-US" dirty="0"/>
              <a:t> </a:t>
            </a:r>
            <a:r>
              <a:rPr lang="en-US" b="1" dirty="0"/>
              <a:t>(Usability, Maintainability, Scalability, Reliability, Extensibility, Security, Portability)</a:t>
            </a:r>
          </a:p>
          <a:p>
            <a:r>
              <a:rPr lang="en-US" b="1" dirty="0">
                <a:solidFill>
                  <a:srgbClr val="C00000"/>
                </a:solidFill>
              </a:rPr>
              <a:t>Large-scale Reuse:</a:t>
            </a:r>
            <a:r>
              <a:rPr lang="en-US" dirty="0"/>
              <a:t> Similar requirements similar architecture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01670" y="3639373"/>
            <a:ext cx="4483430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Why to document the Architecture?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5441597" y="4101038"/>
            <a:ext cx="6496403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301670" y="857647"/>
            <a:ext cx="4483430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Software Architecture &amp; Design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5441597" y="1319312"/>
            <a:ext cx="6496403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2921000" y="711201"/>
            <a:ext cx="0" cy="5892799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9408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9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Architectural Styles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7129" y="4108830"/>
            <a:ext cx="1512722" cy="1100161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7977" y="5403332"/>
            <a:ext cx="1103221" cy="1103221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843" y="5403332"/>
            <a:ext cx="1100161" cy="1100161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3410" y="5403332"/>
            <a:ext cx="1100161" cy="1100161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205783" y="996434"/>
            <a:ext cx="4315417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Data-centered architecture style</a:t>
            </a:r>
          </a:p>
        </p:txBody>
      </p:sp>
      <p:sp>
        <p:nvSpPr>
          <p:cNvPr id="9" name="Rectangle 8"/>
          <p:cNvSpPr/>
          <p:nvPr/>
        </p:nvSpPr>
        <p:spPr>
          <a:xfrm>
            <a:off x="205783" y="1568641"/>
            <a:ext cx="4315417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Data-flow architectures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5783" y="2140848"/>
            <a:ext cx="4315416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Call and return architecture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5783" y="2713055"/>
            <a:ext cx="4315416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Object-oriented architecture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7683" y="3285263"/>
            <a:ext cx="4313515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Layered architecture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4711700" y="711201"/>
            <a:ext cx="0" cy="5905499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810243" y="781734"/>
            <a:ext cx="725871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/>
              <a:t>Each style describes a system category that encompasses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99242" y="1547208"/>
            <a:ext cx="6862558" cy="830997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sz="2400" dirty="0"/>
              <a:t>A </a:t>
            </a:r>
            <a:r>
              <a:rPr lang="en-US" sz="2400" b="1" dirty="0">
                <a:solidFill>
                  <a:srgbClr val="C00000"/>
                </a:solidFill>
              </a:rPr>
              <a:t>set of components </a:t>
            </a:r>
            <a:r>
              <a:rPr lang="en-US" sz="2400" dirty="0"/>
              <a:t>(Ex., a database, computational modules) that </a:t>
            </a:r>
            <a:r>
              <a:rPr lang="en-US" sz="2400" b="1" dirty="0">
                <a:solidFill>
                  <a:srgbClr val="C00000"/>
                </a:solidFill>
              </a:rPr>
              <a:t>perform a function </a:t>
            </a:r>
            <a:r>
              <a:rPr lang="en-US" sz="2400" dirty="0"/>
              <a:t>required by a system.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99242" y="2595216"/>
            <a:ext cx="6862558" cy="830997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sz="2400" dirty="0"/>
              <a:t>A set of </a:t>
            </a:r>
            <a:r>
              <a:rPr lang="en-US" sz="2400" b="1" dirty="0">
                <a:solidFill>
                  <a:srgbClr val="C00000"/>
                </a:solidFill>
              </a:rPr>
              <a:t>connectors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that </a:t>
            </a:r>
            <a:r>
              <a:rPr lang="en-US" sz="2400" b="1" dirty="0">
                <a:solidFill>
                  <a:srgbClr val="C00000"/>
                </a:solidFill>
              </a:rPr>
              <a:t>enable “communication, coordination and cooperation”</a:t>
            </a:r>
            <a:r>
              <a:rPr lang="en-US" sz="2400" dirty="0"/>
              <a:t> among components.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99242" y="3643224"/>
            <a:ext cx="6862558" cy="830997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sz="2400" b="1" dirty="0">
                <a:solidFill>
                  <a:srgbClr val="C00000"/>
                </a:solidFill>
              </a:rPr>
              <a:t>Constraints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that define </a:t>
            </a:r>
            <a:r>
              <a:rPr lang="en-US" sz="2400" b="1" dirty="0">
                <a:solidFill>
                  <a:srgbClr val="C00000"/>
                </a:solidFill>
              </a:rPr>
              <a:t>how components can be integrated</a:t>
            </a:r>
            <a:r>
              <a:rPr lang="en-US" sz="2400" dirty="0"/>
              <a:t> to form the system.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99242" y="4691231"/>
            <a:ext cx="6862558" cy="830997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sz="2400" b="1" dirty="0">
                <a:solidFill>
                  <a:srgbClr val="C00000"/>
                </a:solidFill>
              </a:rPr>
              <a:t>Semantic models</a:t>
            </a:r>
            <a:r>
              <a:rPr lang="en-US" sz="2400" dirty="0"/>
              <a:t> that enable a designer </a:t>
            </a:r>
            <a:r>
              <a:rPr lang="en-US" sz="2400" b="1" dirty="0">
                <a:solidFill>
                  <a:srgbClr val="C00000"/>
                </a:solidFill>
              </a:rPr>
              <a:t>to understand the overall properties</a:t>
            </a:r>
            <a:r>
              <a:rPr lang="en-US" sz="2400" dirty="0"/>
              <a:t> of a system.</a:t>
            </a:r>
          </a:p>
        </p:txBody>
      </p:sp>
    </p:spTree>
    <p:extLst>
      <p:ext uri="{BB962C8B-B14F-4D97-AF65-F5344CB8AC3E}">
        <p14:creationId xmlns:p14="http://schemas.microsoft.com/office/powerpoint/2010/main" val="999000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5" grpId="0"/>
      <p:bldP spid="19" grpId="0" animBg="1"/>
      <p:bldP spid="20" grpId="0" animBg="1"/>
      <p:bldP spid="21" grpId="0" animBg="1"/>
      <p:bldP spid="22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Data-centered architecture style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965" y="863443"/>
            <a:ext cx="6313799" cy="38529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7"/>
          <p:cNvSpPr/>
          <p:nvPr/>
        </p:nvSpPr>
        <p:spPr>
          <a:xfrm>
            <a:off x="6974118" y="3938727"/>
            <a:ext cx="499329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/>
              <a:t>That is, client software accesses the data independent of any changes to the data or the actions of other client software.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6680933" y="863443"/>
            <a:ext cx="5286478" cy="3365657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A data store </a:t>
            </a:r>
            <a:r>
              <a:rPr lang="en-US" dirty="0"/>
              <a:t>(Ex., a file or database) </a:t>
            </a:r>
            <a:r>
              <a:rPr lang="en-US" b="1" dirty="0">
                <a:solidFill>
                  <a:srgbClr val="C00000"/>
                </a:solidFill>
              </a:rPr>
              <a:t>resides at the center</a:t>
            </a:r>
            <a:r>
              <a:rPr lang="en-US" dirty="0"/>
              <a:t> of this architecture and is </a:t>
            </a:r>
            <a:r>
              <a:rPr lang="en-US" b="1" dirty="0">
                <a:solidFill>
                  <a:srgbClr val="C00000"/>
                </a:solidFill>
              </a:rPr>
              <a:t>accessed frequently</a:t>
            </a:r>
            <a:r>
              <a:rPr lang="en-US" dirty="0"/>
              <a:t> by other components.</a:t>
            </a:r>
          </a:p>
          <a:p>
            <a:r>
              <a:rPr lang="en-US" dirty="0"/>
              <a:t>Client </a:t>
            </a:r>
            <a:r>
              <a:rPr lang="en-US" b="1" dirty="0">
                <a:solidFill>
                  <a:srgbClr val="C00000"/>
                </a:solidFill>
              </a:rPr>
              <a:t>software accesses a central repository.</a:t>
            </a:r>
          </a:p>
          <a:p>
            <a:r>
              <a:rPr lang="en-US" dirty="0"/>
              <a:t>In </a:t>
            </a:r>
            <a:r>
              <a:rPr lang="en-US" b="1" dirty="0">
                <a:solidFill>
                  <a:srgbClr val="C00000"/>
                </a:solidFill>
              </a:rPr>
              <a:t>some cases </a:t>
            </a:r>
            <a:r>
              <a:rPr lang="en-US" dirty="0"/>
              <a:t>the data </a:t>
            </a:r>
            <a:r>
              <a:rPr lang="en-US" b="1" dirty="0">
                <a:solidFill>
                  <a:srgbClr val="C00000"/>
                </a:solidFill>
              </a:rPr>
              <a:t>repository is passive</a:t>
            </a:r>
            <a:endParaRPr lang="en-IN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6553200" y="723901"/>
            <a:ext cx="0" cy="5905499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3836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uiExpand="1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2BB1A-414F-B128-4961-20D159CC1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Data-centered architecture example</a:t>
            </a:r>
            <a:endParaRPr lang="en-IN" dirty="0"/>
          </a:p>
        </p:txBody>
      </p:sp>
      <p:sp>
        <p:nvSpPr>
          <p:cNvPr id="4" name="Flowchart: Magnetic Disk 3">
            <a:extLst>
              <a:ext uri="{FF2B5EF4-FFF2-40B4-BE49-F238E27FC236}">
                <a16:creationId xmlns:a16="http://schemas.microsoft.com/office/drawing/2014/main" id="{3755234C-017D-2EAD-554D-A85F9062D4C3}"/>
              </a:ext>
            </a:extLst>
          </p:cNvPr>
          <p:cNvSpPr/>
          <p:nvPr/>
        </p:nvSpPr>
        <p:spPr>
          <a:xfrm>
            <a:off x="4447032" y="2676222"/>
            <a:ext cx="3297936" cy="1505555"/>
          </a:xfrm>
          <a:prstGeom prst="flowChartMagneticDisk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900" b="1" dirty="0"/>
          </a:p>
          <a:p>
            <a:pPr algn="ctr"/>
            <a:r>
              <a:rPr lang="en-IN" sz="2400" b="1" dirty="0"/>
              <a:t>Bank Databases</a:t>
            </a:r>
          </a:p>
          <a:p>
            <a:pPr algn="ctr"/>
            <a:r>
              <a:rPr lang="en-IN" dirty="0"/>
              <a:t>Store info about accounts, transactions, customers, loans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0CB100-F286-C06A-95D4-61CBC2DE68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2236" y="4101505"/>
            <a:ext cx="1129679" cy="11296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22BCEFC-3E25-6338-2252-1FD8EFCD2C6E}"/>
              </a:ext>
            </a:extLst>
          </p:cNvPr>
          <p:cNvSpPr txBox="1"/>
          <p:nvPr/>
        </p:nvSpPr>
        <p:spPr>
          <a:xfrm>
            <a:off x="943430" y="5274710"/>
            <a:ext cx="1587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Mobile Banking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BE4F3E5-4ED9-51E7-4C0E-BC338F647F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34165" y="1214700"/>
            <a:ext cx="1129679" cy="112967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A8185FA-53DA-4377-EAAD-13EAECED834F}"/>
              </a:ext>
            </a:extLst>
          </p:cNvPr>
          <p:cNvSpPr txBox="1"/>
          <p:nvPr/>
        </p:nvSpPr>
        <p:spPr>
          <a:xfrm>
            <a:off x="9661276" y="2426096"/>
            <a:ext cx="1675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Internet Banking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7506DDF-076F-B8E6-7968-E068573ECA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79274" y="1214700"/>
            <a:ext cx="1129679" cy="112967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B08E717-4186-1B9F-BE10-0AB4EE0477B8}"/>
              </a:ext>
            </a:extLst>
          </p:cNvPr>
          <p:cNvSpPr txBox="1"/>
          <p:nvPr/>
        </p:nvSpPr>
        <p:spPr>
          <a:xfrm>
            <a:off x="971766" y="2433811"/>
            <a:ext cx="1736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Physical Banking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9BF5E1B-F370-134E-241A-DC181591386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78248" y="4101505"/>
            <a:ext cx="1129679" cy="112967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ADBE78E-98EA-63FA-B89B-218F616201CA}"/>
              </a:ext>
            </a:extLst>
          </p:cNvPr>
          <p:cNvSpPr txBox="1"/>
          <p:nvPr/>
        </p:nvSpPr>
        <p:spPr>
          <a:xfrm>
            <a:off x="10292858" y="5274710"/>
            <a:ext cx="500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UPI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BFC28CB-D699-AFCB-F59A-522FB5E548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31160" y="5017119"/>
            <a:ext cx="1129679" cy="112967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3D33273-E56E-53EF-94EF-057BD7400B9B}"/>
              </a:ext>
            </a:extLst>
          </p:cNvPr>
          <p:cNvSpPr txBox="1"/>
          <p:nvPr/>
        </p:nvSpPr>
        <p:spPr>
          <a:xfrm>
            <a:off x="5789666" y="6146798"/>
            <a:ext cx="612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ATM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8465956-F6F2-7D08-5F1B-9A0C4BB1DA9B}"/>
              </a:ext>
            </a:extLst>
          </p:cNvPr>
          <p:cNvCxnSpPr/>
          <p:nvPr/>
        </p:nvCxnSpPr>
        <p:spPr>
          <a:xfrm>
            <a:off x="2530724" y="1801368"/>
            <a:ext cx="1849252" cy="100177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E2EC409-A381-2D89-0388-0BCA8889F4F2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2301915" y="4024520"/>
            <a:ext cx="2004909" cy="64182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126E69E-7891-E540-370A-983BD89573C1}"/>
              </a:ext>
            </a:extLst>
          </p:cNvPr>
          <p:cNvCxnSpPr>
            <a:cxnSpLocks/>
            <a:stCxn id="14" idx="0"/>
          </p:cNvCxnSpPr>
          <p:nvPr/>
        </p:nvCxnSpPr>
        <p:spPr>
          <a:xfrm flipH="1" flipV="1">
            <a:off x="6095999" y="4278535"/>
            <a:ext cx="1" cy="73858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C13C22F-C898-08DA-7D41-9AA09532B336}"/>
              </a:ext>
            </a:extLst>
          </p:cNvPr>
          <p:cNvCxnSpPr>
            <a:cxnSpLocks/>
          </p:cNvCxnSpPr>
          <p:nvPr/>
        </p:nvCxnSpPr>
        <p:spPr>
          <a:xfrm flipH="1" flipV="1">
            <a:off x="7937949" y="3867912"/>
            <a:ext cx="1882707" cy="71323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4646EFF-D12F-95D3-F336-1BF64C2BC8B9}"/>
              </a:ext>
            </a:extLst>
          </p:cNvPr>
          <p:cNvCxnSpPr>
            <a:cxnSpLocks/>
          </p:cNvCxnSpPr>
          <p:nvPr/>
        </p:nvCxnSpPr>
        <p:spPr>
          <a:xfrm flipH="1">
            <a:off x="7937949" y="1779539"/>
            <a:ext cx="1882707" cy="109760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4054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/>
      <p:bldP spid="9" grpId="0"/>
      <p:bldP spid="11" grpId="0"/>
      <p:bldP spid="13" grpId="0"/>
      <p:bldP spid="15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Data-flow architectures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64200" y="863444"/>
            <a:ext cx="6396621" cy="5590565"/>
          </a:xfrm>
        </p:spPr>
        <p:txBody>
          <a:bodyPr/>
          <a:lstStyle/>
          <a:p>
            <a:r>
              <a:rPr lang="en-IN" dirty="0"/>
              <a:t>This architecture is applied </a:t>
            </a:r>
            <a:r>
              <a:rPr lang="en-IN" b="1" dirty="0">
                <a:solidFill>
                  <a:srgbClr val="C00000"/>
                </a:solidFill>
              </a:rPr>
              <a:t>when input data are to be transformed</a:t>
            </a:r>
            <a:r>
              <a:rPr lang="en-IN" dirty="0"/>
              <a:t>.</a:t>
            </a:r>
          </a:p>
          <a:p>
            <a:r>
              <a:rPr lang="en-IN" dirty="0"/>
              <a:t>A set of components (called </a:t>
            </a:r>
            <a:r>
              <a:rPr lang="en-IN" b="1" dirty="0">
                <a:solidFill>
                  <a:srgbClr val="C00000"/>
                </a:solidFill>
              </a:rPr>
              <a:t>filters</a:t>
            </a:r>
            <a:r>
              <a:rPr lang="en-IN" dirty="0"/>
              <a:t>) </a:t>
            </a:r>
            <a:r>
              <a:rPr lang="en-IN" b="1" dirty="0">
                <a:solidFill>
                  <a:srgbClr val="C00000"/>
                </a:solidFill>
              </a:rPr>
              <a:t>connected by pipes </a:t>
            </a:r>
            <a:r>
              <a:rPr lang="en-IN" dirty="0"/>
              <a:t>that </a:t>
            </a:r>
            <a:r>
              <a:rPr lang="en-IN" b="1" dirty="0">
                <a:solidFill>
                  <a:srgbClr val="C00000"/>
                </a:solidFill>
              </a:rPr>
              <a:t>transmit data</a:t>
            </a:r>
            <a:r>
              <a:rPr lang="en-IN" dirty="0"/>
              <a:t> from one component to the next.</a:t>
            </a:r>
          </a:p>
          <a:p>
            <a:r>
              <a:rPr lang="en-IN" dirty="0"/>
              <a:t>Each filter works independently of those components upstream and downstream, is designed to </a:t>
            </a:r>
          </a:p>
          <a:p>
            <a:pPr lvl="1"/>
            <a:r>
              <a:rPr lang="en-IN" dirty="0"/>
              <a:t>expect data input of a certain form, and </a:t>
            </a:r>
          </a:p>
          <a:p>
            <a:pPr lvl="1"/>
            <a:r>
              <a:rPr lang="en-IN" dirty="0"/>
              <a:t>produces data output (to the next filter) of a specified form.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679" y="2298700"/>
            <a:ext cx="5223322" cy="241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Straight Connector 4"/>
          <p:cNvCxnSpPr/>
          <p:nvPr/>
        </p:nvCxnSpPr>
        <p:spPr>
          <a:xfrm>
            <a:off x="5562600" y="723901"/>
            <a:ext cx="0" cy="5905499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6248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868F8-A798-B363-F8AE-E0374DF3C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Data-flow architectures example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38B4708-8425-6D86-BEF2-644DA35F19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6545" y="1280065"/>
            <a:ext cx="8132064" cy="4993596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96CA0C3-06BF-523F-5F20-A3415C72D776}"/>
              </a:ext>
            </a:extLst>
          </p:cNvPr>
          <p:cNvSpPr txBox="1"/>
          <p:nvPr/>
        </p:nvSpPr>
        <p:spPr>
          <a:xfrm>
            <a:off x="3685032" y="809533"/>
            <a:ext cx="55625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Earthquake disaster assessment</a:t>
            </a:r>
            <a:endParaRPr lang="en-IN" sz="24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515425-4FB3-E847-63B9-944F98AD635C}"/>
              </a:ext>
            </a:extLst>
          </p:cNvPr>
          <p:cNvSpPr txBox="1"/>
          <p:nvPr/>
        </p:nvSpPr>
        <p:spPr>
          <a:xfrm>
            <a:off x="2476545" y="6385326"/>
            <a:ext cx="1032662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dirty="0">
                <a:solidFill>
                  <a:schemeClr val="bg1">
                    <a:lumMod val="65000"/>
                  </a:schemeClr>
                </a:solidFill>
              </a:rPr>
              <a:t>Source: https://conceptdraw.com/a1551c3/p1/preview/640/pict--work-flow-chart-earthquake-disaster-assessment---workflow-diagram.png--diagram-flowchart-example.png</a:t>
            </a:r>
          </a:p>
        </p:txBody>
      </p:sp>
    </p:spTree>
    <p:extLst>
      <p:ext uri="{BB962C8B-B14F-4D97-AF65-F5344CB8AC3E}">
        <p14:creationId xmlns:p14="http://schemas.microsoft.com/office/powerpoint/2010/main" val="2304765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Call and return architecture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0" y="863444"/>
            <a:ext cx="6726821" cy="5590565"/>
          </a:xfrm>
        </p:spPr>
        <p:txBody>
          <a:bodyPr/>
          <a:lstStyle/>
          <a:p>
            <a:r>
              <a:rPr lang="en-IN" dirty="0"/>
              <a:t>This architectural style </a:t>
            </a:r>
            <a:r>
              <a:rPr lang="en-IN" b="1" dirty="0">
                <a:solidFill>
                  <a:srgbClr val="C00000"/>
                </a:solidFill>
              </a:rPr>
              <a:t>enables a software designer (system architect) to achieve a program structure</a:t>
            </a:r>
            <a:r>
              <a:rPr lang="en-IN" dirty="0">
                <a:solidFill>
                  <a:srgbClr val="E40524"/>
                </a:solidFill>
              </a:rPr>
              <a:t> </a:t>
            </a:r>
            <a:r>
              <a:rPr lang="en-IN" dirty="0"/>
              <a:t>that is relatively easy to modify and scale.</a:t>
            </a:r>
          </a:p>
          <a:p>
            <a:r>
              <a:rPr lang="en-IN" dirty="0"/>
              <a:t>A number of sub styles exist within this category as below.</a:t>
            </a:r>
          </a:p>
          <a:p>
            <a:pPr marL="819150" lvl="1" indent="-457200">
              <a:buFont typeface="+mj-lt"/>
              <a:buAutoNum type="arabicPeriod"/>
            </a:pPr>
            <a:r>
              <a:rPr lang="en-IN" b="1" dirty="0"/>
              <a:t>Main program/subprogram architectures</a:t>
            </a:r>
          </a:p>
          <a:p>
            <a:pPr marL="1120775" lvl="2" indent="-457200"/>
            <a:r>
              <a:rPr lang="en-IN" dirty="0"/>
              <a:t>This classic program structure </a:t>
            </a:r>
            <a:r>
              <a:rPr lang="en-IN" b="1" dirty="0">
                <a:solidFill>
                  <a:srgbClr val="C00000"/>
                </a:solidFill>
              </a:rPr>
              <a:t>decomposes function into a control hierarchy </a:t>
            </a:r>
            <a:r>
              <a:rPr lang="en-IN" dirty="0"/>
              <a:t>where a </a:t>
            </a:r>
            <a:r>
              <a:rPr lang="en-IN" b="1" dirty="0"/>
              <a:t>“main” program invokes a number of program components</a:t>
            </a:r>
            <a:r>
              <a:rPr lang="en-IN" dirty="0"/>
              <a:t>, which in turn may invoke still other components.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IN" b="1" dirty="0"/>
              <a:t>Remote procedure call architectures</a:t>
            </a:r>
          </a:p>
          <a:p>
            <a:pPr marL="1120775" lvl="2" indent="-457200"/>
            <a:r>
              <a:rPr lang="en-IN" dirty="0"/>
              <a:t>The components of a main </a:t>
            </a:r>
            <a:r>
              <a:rPr lang="en-IN" b="1" dirty="0">
                <a:solidFill>
                  <a:srgbClr val="C00000"/>
                </a:solidFill>
              </a:rPr>
              <a:t>program/subprogram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architecture are </a:t>
            </a:r>
            <a:r>
              <a:rPr lang="en-IN" b="1" dirty="0">
                <a:solidFill>
                  <a:srgbClr val="C00000"/>
                </a:solidFill>
              </a:rPr>
              <a:t>distributed across multiple computers</a:t>
            </a:r>
            <a:r>
              <a:rPr lang="en-IN" dirty="0"/>
              <a:t> on a network.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4" r="4003"/>
          <a:stretch/>
        </p:blipFill>
        <p:spPr>
          <a:xfrm>
            <a:off x="114300" y="1949830"/>
            <a:ext cx="5094227" cy="2533270"/>
          </a:xfrm>
          <a:prstGeom prst="rect">
            <a:avLst/>
          </a:prstGeom>
        </p:spPr>
      </p:pic>
      <p:cxnSp>
        <p:nvCxnSpPr>
          <p:cNvPr id="5" name="Straight Connector 4"/>
          <p:cNvCxnSpPr/>
          <p:nvPr/>
        </p:nvCxnSpPr>
        <p:spPr>
          <a:xfrm>
            <a:off x="5245100" y="723901"/>
            <a:ext cx="0" cy="5905499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0140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Object-oriented architecture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components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of a system </a:t>
            </a:r>
            <a:r>
              <a:rPr lang="en-US" b="1" dirty="0">
                <a:solidFill>
                  <a:srgbClr val="C00000"/>
                </a:solidFill>
              </a:rPr>
              <a:t>encapsulate data and the operations</a:t>
            </a:r>
            <a:r>
              <a:rPr lang="en-US" dirty="0"/>
              <a:t> that must be applied to manipulate the data.</a:t>
            </a:r>
          </a:p>
          <a:p>
            <a:r>
              <a:rPr lang="en-US" b="1" dirty="0">
                <a:solidFill>
                  <a:srgbClr val="C00000"/>
                </a:solidFill>
              </a:rPr>
              <a:t>Communication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and </a:t>
            </a:r>
            <a:r>
              <a:rPr lang="en-US" b="1" dirty="0">
                <a:solidFill>
                  <a:srgbClr val="C00000"/>
                </a:solidFill>
              </a:rPr>
              <a:t>coordination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between components is accomplished </a:t>
            </a:r>
            <a:r>
              <a:rPr lang="en-US" b="1" dirty="0">
                <a:solidFill>
                  <a:srgbClr val="C00000"/>
                </a:solidFill>
              </a:rPr>
              <a:t>via message passing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8185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Layered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1944" y="863444"/>
            <a:ext cx="7038878" cy="5590565"/>
          </a:xfrm>
        </p:spPr>
        <p:txBody>
          <a:bodyPr/>
          <a:lstStyle/>
          <a:p>
            <a:r>
              <a:rPr lang="en-US" dirty="0"/>
              <a:t>A number of </a:t>
            </a:r>
            <a:r>
              <a:rPr lang="en-US" b="1" dirty="0">
                <a:solidFill>
                  <a:srgbClr val="C00000"/>
                </a:solidFill>
              </a:rPr>
              <a:t>different layers are defined</a:t>
            </a:r>
            <a:r>
              <a:rPr lang="en-US" dirty="0"/>
              <a:t>, each accomplishing </a:t>
            </a:r>
            <a:r>
              <a:rPr lang="en-US" b="1" dirty="0">
                <a:solidFill>
                  <a:srgbClr val="C00000"/>
                </a:solidFill>
              </a:rPr>
              <a:t>operations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that </a:t>
            </a:r>
            <a:r>
              <a:rPr lang="en-US" b="1" dirty="0">
                <a:solidFill>
                  <a:srgbClr val="C00000"/>
                </a:solidFill>
              </a:rPr>
              <a:t>progressively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become </a:t>
            </a:r>
            <a:r>
              <a:rPr lang="en-US" b="1" dirty="0">
                <a:solidFill>
                  <a:srgbClr val="C00000"/>
                </a:solidFill>
              </a:rPr>
              <a:t>closer to the machine instruction</a:t>
            </a:r>
            <a:r>
              <a:rPr lang="en-US" dirty="0"/>
              <a:t> set.</a:t>
            </a:r>
          </a:p>
          <a:p>
            <a:r>
              <a:rPr lang="en-US" dirty="0"/>
              <a:t>At the </a:t>
            </a:r>
            <a:r>
              <a:rPr lang="en-US" b="1" dirty="0">
                <a:solidFill>
                  <a:srgbClr val="C00000"/>
                </a:solidFill>
              </a:rPr>
              <a:t>outer layer</a:t>
            </a:r>
            <a:r>
              <a:rPr lang="en-US" dirty="0"/>
              <a:t>, components service </a:t>
            </a:r>
            <a:r>
              <a:rPr lang="en-US" b="1" dirty="0">
                <a:solidFill>
                  <a:srgbClr val="C00000"/>
                </a:solidFill>
              </a:rPr>
              <a:t>user interface</a:t>
            </a:r>
            <a:r>
              <a:rPr lang="en-US" dirty="0"/>
              <a:t> operations.</a:t>
            </a:r>
          </a:p>
          <a:p>
            <a:r>
              <a:rPr lang="en-US" dirty="0"/>
              <a:t>At the </a:t>
            </a:r>
            <a:r>
              <a:rPr lang="en-US" b="1" dirty="0">
                <a:solidFill>
                  <a:srgbClr val="C00000"/>
                </a:solidFill>
              </a:rPr>
              <a:t>inner layer</a:t>
            </a:r>
            <a:r>
              <a:rPr lang="en-US" dirty="0"/>
              <a:t>, components perform </a:t>
            </a:r>
            <a:r>
              <a:rPr lang="en-US" b="1" dirty="0">
                <a:solidFill>
                  <a:srgbClr val="C00000"/>
                </a:solidFill>
              </a:rPr>
              <a:t>operating system interfacing</a:t>
            </a:r>
            <a:r>
              <a:rPr lang="en-US" dirty="0"/>
              <a:t>.</a:t>
            </a:r>
          </a:p>
          <a:p>
            <a:r>
              <a:rPr lang="en-US" b="1" dirty="0">
                <a:solidFill>
                  <a:srgbClr val="C00000"/>
                </a:solidFill>
              </a:rPr>
              <a:t>Intermediate layers</a:t>
            </a:r>
            <a:r>
              <a:rPr lang="en-US" dirty="0"/>
              <a:t> provide </a:t>
            </a:r>
            <a:r>
              <a:rPr lang="en-US" b="1" dirty="0">
                <a:solidFill>
                  <a:srgbClr val="C00000"/>
                </a:solidFill>
              </a:rPr>
              <a:t>utility services</a:t>
            </a:r>
            <a:r>
              <a:rPr lang="en-US" dirty="0"/>
              <a:t> and application </a:t>
            </a:r>
            <a:r>
              <a:rPr lang="en-US" b="1" dirty="0">
                <a:solidFill>
                  <a:srgbClr val="C00000"/>
                </a:solidFill>
              </a:rPr>
              <a:t>software functions</a:t>
            </a:r>
            <a:r>
              <a:rPr lang="en-US" dirty="0"/>
              <a:t>. 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600" y="1600200"/>
            <a:ext cx="3918019" cy="33118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" name="Straight Connector 5"/>
          <p:cNvCxnSpPr>
            <a:cxnSpLocks/>
          </p:cNvCxnSpPr>
          <p:nvPr/>
        </p:nvCxnSpPr>
        <p:spPr>
          <a:xfrm>
            <a:off x="4826000" y="723901"/>
            <a:ext cx="0" cy="5905499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5604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B36F4-E3A2-4956-55B5-E0048DF10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Layered architecture example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8B3393-2ADA-8114-3F9A-2EACF7BD01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800" b="1" dirty="0">
                <a:solidFill>
                  <a:srgbClr val="C00000"/>
                </a:solidFill>
              </a:rPr>
              <a:t>Different Layered for a web application</a:t>
            </a:r>
            <a:r>
              <a:rPr lang="en-IN" dirty="0"/>
              <a:t>.</a:t>
            </a:r>
            <a:endParaRPr lang="en-IN" b="1" dirty="0">
              <a:solidFill>
                <a:srgbClr val="C00000"/>
              </a:solidFill>
            </a:endParaRPr>
          </a:p>
          <a:p>
            <a:r>
              <a:rPr lang="en-IN" b="1" dirty="0"/>
              <a:t>Presentation Layer</a:t>
            </a:r>
          </a:p>
          <a:p>
            <a:pPr lvl="1"/>
            <a:r>
              <a:rPr lang="en-IN" dirty="0"/>
              <a:t>Handles UI and user interaction (e.g., HTML, CSS, JavaScript).</a:t>
            </a:r>
          </a:p>
          <a:p>
            <a:r>
              <a:rPr lang="en-IN" b="1" dirty="0"/>
              <a:t>Business Logic Layer</a:t>
            </a:r>
          </a:p>
          <a:p>
            <a:pPr lvl="1"/>
            <a:r>
              <a:rPr lang="en-IN" dirty="0"/>
              <a:t>Contains the core functionality and business rules (e.g., Java, C#, Python).</a:t>
            </a:r>
          </a:p>
          <a:p>
            <a:r>
              <a:rPr lang="en-IN" b="1" dirty="0"/>
              <a:t>Data Access Layer</a:t>
            </a:r>
          </a:p>
          <a:p>
            <a:pPr lvl="1"/>
            <a:r>
              <a:rPr lang="en-IN" dirty="0"/>
              <a:t>Manages data retrieval and storage (e.g., SQL, NoSQL databases).</a:t>
            </a:r>
          </a:p>
          <a:p>
            <a:r>
              <a:rPr lang="en-IN" b="1" dirty="0"/>
              <a:t>Database Layer</a:t>
            </a:r>
          </a:p>
          <a:p>
            <a:pPr lvl="1"/>
            <a:r>
              <a:rPr lang="en-IN" dirty="0"/>
              <a:t>The actual database management system (e.g., MySQL, MongoDB).</a:t>
            </a:r>
          </a:p>
        </p:txBody>
      </p:sp>
    </p:spTree>
    <p:extLst>
      <p:ext uri="{BB962C8B-B14F-4D97-AF65-F5344CB8AC3E}">
        <p14:creationId xmlns:p14="http://schemas.microsoft.com/office/powerpoint/2010/main" val="4129623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Component Level Design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3285948" y="967919"/>
            <a:ext cx="8586738" cy="5157110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Component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is a modular, deployable and replaceable part of a system that </a:t>
            </a:r>
            <a:r>
              <a:rPr lang="en-US" b="1" dirty="0">
                <a:solidFill>
                  <a:srgbClr val="C00000"/>
                </a:solidFill>
              </a:rPr>
              <a:t>encapsulates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implementation</a:t>
            </a:r>
            <a:r>
              <a:rPr lang="en-US" dirty="0"/>
              <a:t> and exposes a </a:t>
            </a:r>
            <a:r>
              <a:rPr lang="en-US" dirty="0">
                <a:solidFill>
                  <a:srgbClr val="C00000"/>
                </a:solidFill>
              </a:rPr>
              <a:t>set of interfaces</a:t>
            </a:r>
            <a:r>
              <a:rPr lang="en-US" dirty="0"/>
              <a:t>.</a:t>
            </a:r>
          </a:p>
          <a:p>
            <a:r>
              <a:rPr lang="en-US" dirty="0"/>
              <a:t>Component-level design </a:t>
            </a:r>
            <a:r>
              <a:rPr lang="en-US" b="1" dirty="0">
                <a:solidFill>
                  <a:srgbClr val="C00000"/>
                </a:solidFill>
              </a:rPr>
              <a:t>occurs after data, architectural and interface designs</a:t>
            </a:r>
            <a:r>
              <a:rPr lang="en-US" dirty="0"/>
              <a:t> have been established.</a:t>
            </a:r>
          </a:p>
          <a:p>
            <a:r>
              <a:rPr lang="en-US" dirty="0"/>
              <a:t>It </a:t>
            </a:r>
            <a:r>
              <a:rPr lang="en-US" b="1" dirty="0">
                <a:solidFill>
                  <a:srgbClr val="C00000"/>
                </a:solidFill>
              </a:rPr>
              <a:t>defines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data structures, algorithms, interface characteristics,</a:t>
            </a:r>
            <a:r>
              <a:rPr lang="en-US" dirty="0"/>
              <a:t> and </a:t>
            </a:r>
            <a:r>
              <a:rPr lang="en-US" b="1" dirty="0">
                <a:solidFill>
                  <a:srgbClr val="C00000"/>
                </a:solidFill>
              </a:rPr>
              <a:t>communication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>mechanisms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allocated to each component.</a:t>
            </a:r>
          </a:p>
          <a:p>
            <a:r>
              <a:rPr lang="en-US" dirty="0"/>
              <a:t>The intent is to </a:t>
            </a:r>
            <a:r>
              <a:rPr lang="en-US" b="1" dirty="0">
                <a:solidFill>
                  <a:srgbClr val="C00000"/>
                </a:solidFill>
              </a:rPr>
              <a:t>translate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design model</a:t>
            </a:r>
            <a:r>
              <a:rPr lang="en-US" dirty="0"/>
              <a:t> into </a:t>
            </a:r>
            <a:r>
              <a:rPr lang="en-US" b="1" dirty="0">
                <a:solidFill>
                  <a:srgbClr val="C00000"/>
                </a:solidFill>
              </a:rPr>
              <a:t>operational software</a:t>
            </a:r>
            <a:r>
              <a:rPr lang="en-US" dirty="0"/>
              <a:t>.</a:t>
            </a:r>
          </a:p>
          <a:p>
            <a:r>
              <a:rPr lang="en-US" dirty="0"/>
              <a:t>But the abstraction level of the existing design model is relatively high and the abstraction level of the operational program is low.</a:t>
            </a:r>
          </a:p>
        </p:txBody>
      </p:sp>
      <p:cxnSp>
        <p:nvCxnSpPr>
          <p:cNvPr id="23" name="Straight Connector 22"/>
          <p:cNvCxnSpPr/>
          <p:nvPr/>
        </p:nvCxnSpPr>
        <p:spPr>
          <a:xfrm>
            <a:off x="3116945" y="711201"/>
            <a:ext cx="0" cy="5892799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576" y="857647"/>
            <a:ext cx="1814378" cy="1814378"/>
          </a:xfrm>
          <a:prstGeom prst="rect">
            <a:avLst/>
          </a:prstGeom>
        </p:spPr>
      </p:pic>
      <p:sp>
        <p:nvSpPr>
          <p:cNvPr id="14" name="Rounded Rectangular Callout 13"/>
          <p:cNvSpPr/>
          <p:nvPr/>
        </p:nvSpPr>
        <p:spPr>
          <a:xfrm>
            <a:off x="159657" y="3033486"/>
            <a:ext cx="2788285" cy="3420523"/>
          </a:xfrm>
          <a:prstGeom prst="wedgeRoundRectCallout">
            <a:avLst>
              <a:gd name="adj1" fmla="val 1645"/>
              <a:gd name="adj2" fmla="val -63120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Effective programmers should not waste</a:t>
            </a:r>
            <a:r>
              <a:rPr lang="en-US" sz="2400" dirty="0"/>
              <a:t> their </a:t>
            </a:r>
            <a:r>
              <a:rPr lang="en-US" sz="2400" b="1" dirty="0">
                <a:solidFill>
                  <a:srgbClr val="C00000"/>
                </a:solidFill>
              </a:rPr>
              <a:t>time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in </a:t>
            </a:r>
            <a:r>
              <a:rPr lang="en-US" sz="2400" b="1" dirty="0">
                <a:solidFill>
                  <a:srgbClr val="C00000"/>
                </a:solidFill>
              </a:rPr>
              <a:t>debugging</a:t>
            </a:r>
            <a:r>
              <a:rPr lang="en-US" sz="2400" dirty="0"/>
              <a:t>, they should </a:t>
            </a:r>
            <a:r>
              <a:rPr lang="en-US" sz="2400" b="1" dirty="0">
                <a:solidFill>
                  <a:srgbClr val="C00000"/>
                </a:solidFill>
              </a:rPr>
              <a:t>not introduce bug </a:t>
            </a:r>
            <a:r>
              <a:rPr lang="en-US" sz="2400" dirty="0"/>
              <a:t>to start with</a:t>
            </a:r>
          </a:p>
        </p:txBody>
      </p:sp>
    </p:spTree>
    <p:extLst>
      <p:ext uri="{BB962C8B-B14F-4D97-AF65-F5344CB8AC3E}">
        <p14:creationId xmlns:p14="http://schemas.microsoft.com/office/powerpoint/2010/main" val="2879653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Function Oriented Approach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31179" y="1346144"/>
            <a:ext cx="11929641" cy="5002580"/>
          </a:xfrm>
        </p:spPr>
        <p:txBody>
          <a:bodyPr/>
          <a:lstStyle/>
          <a:p>
            <a:pPr marL="274638" indent="-457200">
              <a:buFont typeface="+mj-lt"/>
              <a:buAutoNum type="arabicPeriod"/>
            </a:pPr>
            <a:r>
              <a:rPr lang="en-US" dirty="0"/>
              <a:t>A system is </a:t>
            </a:r>
            <a:r>
              <a:rPr lang="en-US" b="1" dirty="0">
                <a:solidFill>
                  <a:srgbClr val="C00000"/>
                </a:solidFill>
              </a:rPr>
              <a:t>viewed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as something that </a:t>
            </a:r>
            <a:r>
              <a:rPr lang="en-US" b="1" dirty="0">
                <a:solidFill>
                  <a:srgbClr val="C00000"/>
                </a:solidFill>
              </a:rPr>
              <a:t>performs a set of functions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Starting at this high level view of the system, </a:t>
            </a:r>
            <a:r>
              <a:rPr lang="en-US" b="1" dirty="0">
                <a:solidFill>
                  <a:srgbClr val="C00000"/>
                </a:solidFill>
              </a:rPr>
              <a:t>each function</a:t>
            </a:r>
            <a:r>
              <a:rPr lang="en-US" dirty="0"/>
              <a:t> is successively </a:t>
            </a:r>
            <a:r>
              <a:rPr lang="en-US" b="1" dirty="0">
                <a:solidFill>
                  <a:srgbClr val="C00000"/>
                </a:solidFill>
              </a:rPr>
              <a:t>refined into more detailed functions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For example, consider a </a:t>
            </a:r>
            <a:r>
              <a:rPr lang="en-US" b="1" dirty="0"/>
              <a:t>function create-new-library member </a:t>
            </a:r>
          </a:p>
          <a:p>
            <a:pPr lvl="2"/>
            <a:r>
              <a:rPr lang="en-US" dirty="0"/>
              <a:t>which essentially creates the record for a new member, assigns a unique membership number to him, and prints a bill towards his membership charge. </a:t>
            </a:r>
          </a:p>
          <a:p>
            <a:pPr lvl="2"/>
            <a:r>
              <a:rPr lang="en-US" dirty="0"/>
              <a:t>This function may consist of the following </a:t>
            </a:r>
            <a:r>
              <a:rPr lang="en-US" b="1" dirty="0">
                <a:solidFill>
                  <a:srgbClr val="C00000"/>
                </a:solidFill>
              </a:rPr>
              <a:t>sub-functions</a:t>
            </a:r>
            <a:r>
              <a:rPr lang="en-US" dirty="0"/>
              <a:t>:</a:t>
            </a:r>
          </a:p>
          <a:p>
            <a:pPr lvl="3"/>
            <a:r>
              <a:rPr lang="en-US" b="1" dirty="0">
                <a:solidFill>
                  <a:srgbClr val="C00000"/>
                </a:solidFill>
              </a:rPr>
              <a:t>assign-membership-number, create-member-record and print-bill</a:t>
            </a:r>
          </a:p>
          <a:p>
            <a:pPr lvl="1"/>
            <a:r>
              <a:rPr lang="en-US" dirty="0"/>
              <a:t>Each of these sub-functions may be split into more detailed sub-functions and so on.</a:t>
            </a:r>
          </a:p>
          <a:p>
            <a:pPr marL="274638" indent="-457200">
              <a:buFont typeface="+mj-lt"/>
              <a:buAutoNum type="arabicPeriod"/>
            </a:pPr>
            <a:r>
              <a:rPr lang="en-US" dirty="0"/>
              <a:t>The system </a:t>
            </a:r>
            <a:r>
              <a:rPr lang="en-US" b="1" dirty="0">
                <a:solidFill>
                  <a:srgbClr val="C00000"/>
                </a:solidFill>
              </a:rPr>
              <a:t>state is centralized</a:t>
            </a:r>
            <a:r>
              <a:rPr lang="en-US" dirty="0"/>
              <a:t> and </a:t>
            </a:r>
            <a:r>
              <a:rPr lang="en-US" b="1" dirty="0">
                <a:solidFill>
                  <a:srgbClr val="C00000"/>
                </a:solidFill>
              </a:rPr>
              <a:t>shared among different functions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For Ex., data such as </a:t>
            </a:r>
            <a:r>
              <a:rPr lang="en-US" b="1" dirty="0">
                <a:solidFill>
                  <a:srgbClr val="C00000"/>
                </a:solidFill>
              </a:rPr>
              <a:t>member-records</a:t>
            </a:r>
            <a:r>
              <a:rPr lang="en-US" dirty="0"/>
              <a:t> is available for reference and updating to several functions such as:</a:t>
            </a:r>
          </a:p>
          <a:p>
            <a:pPr lvl="2"/>
            <a:r>
              <a:rPr lang="en-US" dirty="0"/>
              <a:t>create-new-member</a:t>
            </a:r>
          </a:p>
          <a:p>
            <a:pPr lvl="2"/>
            <a:r>
              <a:rPr lang="en-US" dirty="0"/>
              <a:t>delete-member</a:t>
            </a:r>
          </a:p>
          <a:p>
            <a:pPr lvl="2"/>
            <a:r>
              <a:rPr lang="en-US" dirty="0"/>
              <a:t>update-member-record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31179" y="797840"/>
            <a:ext cx="1192964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The following are the features of a typical function-oriented design approach:</a:t>
            </a:r>
          </a:p>
        </p:txBody>
      </p:sp>
    </p:spTree>
    <p:extLst>
      <p:ext uri="{BB962C8B-B14F-4D97-AF65-F5344CB8AC3E}">
        <p14:creationId xmlns:p14="http://schemas.microsoft.com/office/powerpoint/2010/main" val="2662652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Oriented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object-oriented design approach, the </a:t>
            </a:r>
            <a:r>
              <a:rPr lang="en-US" b="1" dirty="0">
                <a:solidFill>
                  <a:srgbClr val="C00000"/>
                </a:solidFill>
              </a:rPr>
              <a:t>system is viewed</a:t>
            </a:r>
            <a:r>
              <a:rPr lang="en-US" dirty="0"/>
              <a:t> as </a:t>
            </a:r>
            <a:r>
              <a:rPr lang="en-US" b="1" dirty="0">
                <a:solidFill>
                  <a:srgbClr val="C00000"/>
                </a:solidFill>
              </a:rPr>
              <a:t>collection of objects </a:t>
            </a:r>
            <a:r>
              <a:rPr lang="en-US" dirty="0"/>
              <a:t>(i.e., entities). </a:t>
            </a:r>
          </a:p>
          <a:p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state is decentralized</a:t>
            </a:r>
            <a:r>
              <a:rPr lang="en-US" dirty="0"/>
              <a:t> among the objects and </a:t>
            </a:r>
            <a:r>
              <a:rPr lang="en-US" b="1" dirty="0">
                <a:solidFill>
                  <a:srgbClr val="C00000"/>
                </a:solidFill>
              </a:rPr>
              <a:t>each object manages its own state</a:t>
            </a:r>
            <a:r>
              <a:rPr lang="en-US" dirty="0"/>
              <a:t> information.</a:t>
            </a:r>
          </a:p>
          <a:p>
            <a:r>
              <a:rPr lang="en-US" dirty="0"/>
              <a:t>For example, in a Library Automation Software, </a:t>
            </a:r>
          </a:p>
          <a:p>
            <a:pPr lvl="1"/>
            <a:r>
              <a:rPr lang="en-US" dirty="0"/>
              <a:t>each library member may be a separate object with its own data and functions to operate on these data. </a:t>
            </a:r>
          </a:p>
          <a:p>
            <a:pPr lvl="1"/>
            <a:r>
              <a:rPr lang="en-US" dirty="0"/>
              <a:t>In fact, the functions defined for one object cannot refer or change data of other objects.</a:t>
            </a:r>
          </a:p>
          <a:p>
            <a:r>
              <a:rPr lang="en-US" b="1" dirty="0">
                <a:solidFill>
                  <a:srgbClr val="C00000"/>
                </a:solidFill>
              </a:rPr>
              <a:t>Objects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have their </a:t>
            </a:r>
            <a:r>
              <a:rPr lang="en-US" b="1" dirty="0">
                <a:solidFill>
                  <a:srgbClr val="C00000"/>
                </a:solidFill>
              </a:rPr>
              <a:t>own internal data</a:t>
            </a:r>
            <a:r>
              <a:rPr lang="en-US" dirty="0"/>
              <a:t> which define their state.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9935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Cohesion &amp; Coupling</a:t>
            </a:r>
          </a:p>
        </p:txBody>
      </p:sp>
      <p:sp>
        <p:nvSpPr>
          <p:cNvPr id="4" name="Rounded Rectangular Callout 3"/>
          <p:cNvSpPr/>
          <p:nvPr/>
        </p:nvSpPr>
        <p:spPr>
          <a:xfrm>
            <a:off x="182879" y="869328"/>
            <a:ext cx="5242561" cy="1650094"/>
          </a:xfrm>
          <a:prstGeom prst="wedgeRoundRectCallout">
            <a:avLst>
              <a:gd name="adj1" fmla="val 64894"/>
              <a:gd name="adj2" fmla="val 14033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2400" dirty="0"/>
              <a:t>A </a:t>
            </a:r>
            <a:r>
              <a:rPr lang="en-US" sz="2400" b="1" dirty="0">
                <a:solidFill>
                  <a:srgbClr val="C00000"/>
                </a:solidFill>
              </a:rPr>
              <a:t>good software design</a:t>
            </a:r>
            <a:r>
              <a:rPr lang="en-US" sz="2400" dirty="0"/>
              <a:t> implies </a:t>
            </a:r>
            <a:r>
              <a:rPr lang="en-US" sz="2400" b="1" dirty="0">
                <a:solidFill>
                  <a:srgbClr val="C00000"/>
                </a:solidFill>
              </a:rPr>
              <a:t>clean decomposition</a:t>
            </a:r>
            <a:r>
              <a:rPr lang="en-US" sz="2400" dirty="0"/>
              <a:t> of the </a:t>
            </a:r>
            <a:r>
              <a:rPr lang="en-US" sz="2400" b="1" dirty="0">
                <a:solidFill>
                  <a:srgbClr val="C00000"/>
                </a:solidFill>
              </a:rPr>
              <a:t>problem into modules</a:t>
            </a:r>
            <a:r>
              <a:rPr lang="en-US" sz="2400" dirty="0"/>
              <a:t>, and the </a:t>
            </a:r>
            <a:r>
              <a:rPr lang="en-US" sz="2400" b="1" dirty="0">
                <a:solidFill>
                  <a:srgbClr val="C00000"/>
                </a:solidFill>
              </a:rPr>
              <a:t>neat arrangement</a:t>
            </a:r>
            <a:r>
              <a:rPr lang="en-US" sz="2400" dirty="0"/>
              <a:t> of these </a:t>
            </a:r>
            <a:r>
              <a:rPr lang="en-US" sz="2400" b="1" dirty="0">
                <a:solidFill>
                  <a:srgbClr val="C00000"/>
                </a:solidFill>
              </a:rPr>
              <a:t>modules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in a </a:t>
            </a:r>
            <a:r>
              <a:rPr lang="en-US" sz="2400" b="1" dirty="0">
                <a:solidFill>
                  <a:srgbClr val="C00000"/>
                </a:solidFill>
              </a:rPr>
              <a:t>hierarchy</a:t>
            </a:r>
            <a:r>
              <a:rPr lang="en-US" sz="2400" dirty="0"/>
              <a:t>.</a:t>
            </a:r>
          </a:p>
          <a:p>
            <a:pPr algn="ctr"/>
            <a:endParaRPr lang="en-US" sz="2400" dirty="0"/>
          </a:p>
        </p:txBody>
      </p:sp>
      <p:sp>
        <p:nvSpPr>
          <p:cNvPr id="5" name="Rounded Rectangular Callout 4"/>
          <p:cNvSpPr/>
          <p:nvPr/>
        </p:nvSpPr>
        <p:spPr>
          <a:xfrm>
            <a:off x="7823683" y="869328"/>
            <a:ext cx="4179631" cy="1650094"/>
          </a:xfrm>
          <a:prstGeom prst="wedgeRoundRectCallout">
            <a:avLst>
              <a:gd name="adj1" fmla="val -64633"/>
              <a:gd name="adj2" fmla="val 12934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sz="2400" dirty="0"/>
              <a:t>The primary </a:t>
            </a:r>
            <a:r>
              <a:rPr lang="en-US" sz="2400" b="1" dirty="0">
                <a:solidFill>
                  <a:srgbClr val="C00000"/>
                </a:solidFill>
              </a:rPr>
              <a:t>characteristics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of </a:t>
            </a:r>
            <a:r>
              <a:rPr lang="en-US" sz="2400" b="1" dirty="0">
                <a:solidFill>
                  <a:srgbClr val="C00000"/>
                </a:solidFill>
              </a:rPr>
              <a:t>neat module decomposition</a:t>
            </a:r>
            <a:r>
              <a:rPr lang="en-US" sz="2400" dirty="0"/>
              <a:t> are </a:t>
            </a:r>
            <a:r>
              <a:rPr lang="en-US" sz="2400" b="1" dirty="0">
                <a:solidFill>
                  <a:srgbClr val="C00000"/>
                </a:solidFill>
              </a:rPr>
              <a:t>high cohesion</a:t>
            </a:r>
            <a:r>
              <a:rPr lang="en-US" sz="2400" dirty="0"/>
              <a:t> and </a:t>
            </a:r>
            <a:r>
              <a:rPr lang="en-US" sz="2400" b="1" dirty="0">
                <a:solidFill>
                  <a:srgbClr val="C00000"/>
                </a:solidFill>
              </a:rPr>
              <a:t>low coupling</a:t>
            </a:r>
            <a:r>
              <a:rPr lang="en-US" sz="2400" dirty="0"/>
              <a:t>.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66" t="8470" r="20666" b="8470"/>
          <a:stretch/>
        </p:blipFill>
        <p:spPr>
          <a:xfrm>
            <a:off x="6226919" y="1260022"/>
            <a:ext cx="968837" cy="836723"/>
          </a:xfrm>
          <a:prstGeom prst="rect">
            <a:avLst/>
          </a:prstGeom>
        </p:spPr>
      </p:pic>
      <p:grpSp>
        <p:nvGrpSpPr>
          <p:cNvPr id="8" name="Group 7"/>
          <p:cNvGrpSpPr/>
          <p:nvPr/>
        </p:nvGrpSpPr>
        <p:grpSpPr>
          <a:xfrm>
            <a:off x="396342" y="4582647"/>
            <a:ext cx="1537051" cy="1537051"/>
            <a:chOff x="525439" y="1183654"/>
            <a:chExt cx="2585691" cy="2585691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71600" y="1676400"/>
              <a:ext cx="838200" cy="1458018"/>
            </a:xfrm>
            <a:prstGeom prst="rect">
              <a:avLst/>
            </a:prstGeom>
          </p:spPr>
        </p:pic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5439" y="1183654"/>
              <a:ext cx="2585691" cy="2585691"/>
            </a:xfrm>
            <a:prstGeom prst="rect">
              <a:avLst/>
            </a:prstGeom>
          </p:spPr>
        </p:pic>
      </p:grpSp>
      <p:grpSp>
        <p:nvGrpSpPr>
          <p:cNvPr id="11" name="Group 10"/>
          <p:cNvGrpSpPr/>
          <p:nvPr/>
        </p:nvGrpSpPr>
        <p:grpSpPr>
          <a:xfrm>
            <a:off x="396342" y="3075944"/>
            <a:ext cx="1537051" cy="1537051"/>
            <a:chOff x="525439" y="1183654"/>
            <a:chExt cx="2585691" cy="2585691"/>
          </a:xfrm>
        </p:grpSpPr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71600" y="1676400"/>
              <a:ext cx="838200" cy="1458018"/>
            </a:xfrm>
            <a:prstGeom prst="rect">
              <a:avLst/>
            </a:prstGeom>
          </p:spPr>
        </p:pic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5439" y="1183654"/>
              <a:ext cx="2585691" cy="2585691"/>
            </a:xfrm>
            <a:prstGeom prst="rect">
              <a:avLst/>
            </a:prstGeom>
          </p:spPr>
        </p:pic>
      </p:grpSp>
      <p:grpSp>
        <p:nvGrpSpPr>
          <p:cNvPr id="22" name="Group 21"/>
          <p:cNvGrpSpPr/>
          <p:nvPr/>
        </p:nvGrpSpPr>
        <p:grpSpPr>
          <a:xfrm>
            <a:off x="9612564" y="3360098"/>
            <a:ext cx="2055541" cy="2006600"/>
            <a:chOff x="9312193" y="3479800"/>
            <a:chExt cx="3200400" cy="3124200"/>
          </a:xfrm>
        </p:grpSpPr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12193" y="4964580"/>
              <a:ext cx="838200" cy="1458018"/>
            </a:xfrm>
            <a:prstGeom prst="rect">
              <a:avLst/>
            </a:prstGeom>
          </p:spPr>
        </p:pic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31393" y="3479800"/>
              <a:ext cx="838200" cy="1458018"/>
            </a:xfrm>
            <a:prstGeom prst="rect">
              <a:avLst/>
            </a:prstGeom>
          </p:spPr>
        </p:pic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674393" y="5145982"/>
              <a:ext cx="838200" cy="1458018"/>
            </a:xfrm>
            <a:prstGeom prst="rect">
              <a:avLst/>
            </a:prstGeom>
          </p:spPr>
        </p:pic>
        <p:sp>
          <p:nvSpPr>
            <p:cNvPr id="17" name="Up-Down Arrow 16"/>
            <p:cNvSpPr/>
            <p:nvPr/>
          </p:nvSpPr>
          <p:spPr>
            <a:xfrm rot="2588511">
              <a:off x="9871064" y="3843021"/>
              <a:ext cx="419100" cy="1051704"/>
            </a:xfrm>
            <a:prstGeom prst="upDown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Up-Down Arrow 17"/>
            <p:cNvSpPr/>
            <p:nvPr/>
          </p:nvSpPr>
          <p:spPr>
            <a:xfrm rot="5400000">
              <a:off x="10740943" y="5139589"/>
              <a:ext cx="419100" cy="1051704"/>
            </a:xfrm>
            <a:prstGeom prst="upDown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Up-Down Arrow 18"/>
            <p:cNvSpPr/>
            <p:nvPr/>
          </p:nvSpPr>
          <p:spPr>
            <a:xfrm rot="19096203">
              <a:off x="11681230" y="3888613"/>
              <a:ext cx="419100" cy="1051704"/>
            </a:xfrm>
            <a:prstGeom prst="upDown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ounded Rectangular Callout 19"/>
          <p:cNvSpPr/>
          <p:nvPr/>
        </p:nvSpPr>
        <p:spPr>
          <a:xfrm>
            <a:off x="2436389" y="3216453"/>
            <a:ext cx="3247235" cy="3157452"/>
          </a:xfrm>
          <a:prstGeom prst="wedgeRoundRectCallout">
            <a:avLst>
              <a:gd name="adj1" fmla="val -73416"/>
              <a:gd name="adj2" fmla="val -6060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2400" b="1" dirty="0">
                <a:solidFill>
                  <a:srgbClr val="B01010"/>
                </a:solidFill>
              </a:rPr>
              <a:t>Cohesion</a:t>
            </a:r>
            <a:r>
              <a:rPr lang="en-US" sz="2400" dirty="0"/>
              <a:t> refers to the degree to which the </a:t>
            </a:r>
            <a:r>
              <a:rPr lang="en-US" sz="2400" b="1" dirty="0"/>
              <a:t>elements within a module</a:t>
            </a:r>
            <a:r>
              <a:rPr lang="en-US" sz="2400" dirty="0"/>
              <a:t> (or class) belong together and </a:t>
            </a:r>
            <a:r>
              <a:rPr lang="en-US" sz="2400" b="1" dirty="0"/>
              <a:t>work together </a:t>
            </a:r>
            <a:r>
              <a:rPr lang="en-US" sz="2400" dirty="0"/>
              <a:t>to </a:t>
            </a:r>
            <a:r>
              <a:rPr lang="en-US" sz="2400" b="1" dirty="0"/>
              <a:t>fulfill a single purpose</a:t>
            </a:r>
            <a:r>
              <a:rPr lang="en-US" sz="2400" dirty="0"/>
              <a:t>. </a:t>
            </a:r>
          </a:p>
        </p:txBody>
      </p:sp>
      <p:sp>
        <p:nvSpPr>
          <p:cNvPr id="21" name="Rounded Rectangular Callout 20"/>
          <p:cNvSpPr/>
          <p:nvPr/>
        </p:nvSpPr>
        <p:spPr>
          <a:xfrm>
            <a:off x="5974369" y="3216452"/>
            <a:ext cx="3019329" cy="3157452"/>
          </a:xfrm>
          <a:prstGeom prst="wedgeRoundRectCallout">
            <a:avLst>
              <a:gd name="adj1" fmla="val 78020"/>
              <a:gd name="adj2" fmla="val -17620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2400" b="1" dirty="0">
                <a:solidFill>
                  <a:srgbClr val="B01010"/>
                </a:solidFill>
              </a:rPr>
              <a:t>Coupling</a:t>
            </a:r>
            <a:r>
              <a:rPr lang="en-US" sz="2400" dirty="0"/>
              <a:t> refers to the degree of </a:t>
            </a:r>
            <a:r>
              <a:rPr lang="en-US" sz="2400" b="1" dirty="0"/>
              <a:t>dependence between modules </a:t>
            </a:r>
            <a:r>
              <a:rPr lang="en-US" sz="2400" dirty="0"/>
              <a:t>(or classes).</a:t>
            </a:r>
          </a:p>
        </p:txBody>
      </p:sp>
      <p:cxnSp>
        <p:nvCxnSpPr>
          <p:cNvPr id="23" name="Straight Connector 22"/>
          <p:cNvCxnSpPr/>
          <p:nvPr/>
        </p:nvCxnSpPr>
        <p:spPr>
          <a:xfrm>
            <a:off x="182879" y="2772232"/>
            <a:ext cx="11820435" cy="0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7859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20" grpId="0" animBg="1"/>
      <p:bldP spid="21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Cohesion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1" y="863444"/>
            <a:ext cx="7027266" cy="5590565"/>
          </a:xfrm>
        </p:spPr>
        <p:txBody>
          <a:bodyPr/>
          <a:lstStyle/>
          <a:p>
            <a:r>
              <a:rPr lang="en-US" dirty="0"/>
              <a:t>Cohesion is an </a:t>
            </a:r>
            <a:r>
              <a:rPr lang="en-US" b="1" dirty="0">
                <a:solidFill>
                  <a:srgbClr val="C00000"/>
                </a:solidFill>
              </a:rPr>
              <a:t>indication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of the </a:t>
            </a:r>
            <a:r>
              <a:rPr lang="en-US" b="1" dirty="0">
                <a:solidFill>
                  <a:srgbClr val="C00000"/>
                </a:solidFill>
              </a:rPr>
              <a:t>relative functional strength</a:t>
            </a:r>
            <a:r>
              <a:rPr lang="en-US" dirty="0"/>
              <a:t> of a module.</a:t>
            </a:r>
          </a:p>
          <a:p>
            <a:r>
              <a:rPr lang="en-US" dirty="0"/>
              <a:t>A </a:t>
            </a:r>
            <a:r>
              <a:rPr lang="en-US" b="1" dirty="0">
                <a:solidFill>
                  <a:srgbClr val="C00000"/>
                </a:solidFill>
              </a:rPr>
              <a:t>cohesive module</a:t>
            </a:r>
            <a:r>
              <a:rPr lang="en-US" dirty="0"/>
              <a:t> performs a </a:t>
            </a:r>
            <a:r>
              <a:rPr lang="en-US" b="1" dirty="0">
                <a:solidFill>
                  <a:srgbClr val="C00000"/>
                </a:solidFill>
              </a:rPr>
              <a:t>single task</a:t>
            </a:r>
            <a:r>
              <a:rPr lang="en-US" dirty="0"/>
              <a:t>, </a:t>
            </a:r>
            <a:r>
              <a:rPr lang="en-US" b="1" dirty="0">
                <a:solidFill>
                  <a:srgbClr val="C00000"/>
                </a:solidFill>
              </a:rPr>
              <a:t>requiring little interaction</a:t>
            </a:r>
            <a:r>
              <a:rPr lang="en-US" dirty="0"/>
              <a:t> with other components. </a:t>
            </a:r>
          </a:p>
          <a:p>
            <a:r>
              <a:rPr lang="en-US" dirty="0"/>
              <a:t>Stated simply, a </a:t>
            </a:r>
            <a:r>
              <a:rPr lang="en-US" b="1" dirty="0">
                <a:solidFill>
                  <a:srgbClr val="C00000"/>
                </a:solidFill>
              </a:rPr>
              <a:t>cohesive module</a:t>
            </a:r>
            <a:r>
              <a:rPr lang="en-US" dirty="0"/>
              <a:t> should (ideally) </a:t>
            </a:r>
            <a:r>
              <a:rPr lang="en-US" b="1" dirty="0">
                <a:solidFill>
                  <a:srgbClr val="C00000"/>
                </a:solidFill>
              </a:rPr>
              <a:t>do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just one thing</a:t>
            </a:r>
            <a:r>
              <a:rPr lang="en-US" dirty="0"/>
              <a:t>.</a:t>
            </a:r>
          </a:p>
          <a:p>
            <a:r>
              <a:rPr lang="en-US" dirty="0"/>
              <a:t>A module having</a:t>
            </a:r>
            <a:r>
              <a:rPr lang="en-US" b="1" dirty="0">
                <a:solidFill>
                  <a:srgbClr val="C00000"/>
                </a:solidFill>
              </a:rPr>
              <a:t> high cohesion</a:t>
            </a:r>
            <a:r>
              <a:rPr lang="en-US" dirty="0"/>
              <a:t> and </a:t>
            </a:r>
            <a:r>
              <a:rPr lang="en-US" b="1" dirty="0">
                <a:solidFill>
                  <a:srgbClr val="C00000"/>
                </a:solidFill>
              </a:rPr>
              <a:t>low coupling</a:t>
            </a:r>
            <a:r>
              <a:rPr lang="en-US" dirty="0"/>
              <a:t> is said to be </a:t>
            </a:r>
            <a:r>
              <a:rPr lang="en-US" b="1" dirty="0">
                <a:solidFill>
                  <a:srgbClr val="C00000"/>
                </a:solidFill>
              </a:rPr>
              <a:t>functionally independent</a:t>
            </a:r>
            <a:r>
              <a:rPr lang="en-US" dirty="0"/>
              <a:t> of other modules. </a:t>
            </a:r>
          </a:p>
          <a:p>
            <a:r>
              <a:rPr lang="en-US" dirty="0"/>
              <a:t>By the term functional independence, we mean that a </a:t>
            </a:r>
            <a:r>
              <a:rPr lang="en-US" b="1" dirty="0">
                <a:solidFill>
                  <a:srgbClr val="C00000"/>
                </a:solidFill>
              </a:rPr>
              <a:t>cohesive module performs a single task or function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8455684" y="1907178"/>
            <a:ext cx="2514601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Coincidental</a:t>
            </a:r>
          </a:p>
        </p:txBody>
      </p:sp>
      <p:sp>
        <p:nvSpPr>
          <p:cNvPr id="5" name="Rectangle 4"/>
          <p:cNvSpPr/>
          <p:nvPr/>
        </p:nvSpPr>
        <p:spPr>
          <a:xfrm>
            <a:off x="8455683" y="2424231"/>
            <a:ext cx="2514601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Logical</a:t>
            </a:r>
          </a:p>
        </p:txBody>
      </p:sp>
      <p:sp>
        <p:nvSpPr>
          <p:cNvPr id="6" name="Rectangle 5"/>
          <p:cNvSpPr/>
          <p:nvPr/>
        </p:nvSpPr>
        <p:spPr>
          <a:xfrm>
            <a:off x="8455683" y="2941284"/>
            <a:ext cx="2514601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Temporal</a:t>
            </a:r>
          </a:p>
        </p:txBody>
      </p:sp>
      <p:sp>
        <p:nvSpPr>
          <p:cNvPr id="7" name="Rectangle 6"/>
          <p:cNvSpPr/>
          <p:nvPr/>
        </p:nvSpPr>
        <p:spPr>
          <a:xfrm>
            <a:off x="8455682" y="3458337"/>
            <a:ext cx="2514602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Procedural</a:t>
            </a:r>
          </a:p>
        </p:txBody>
      </p:sp>
      <p:sp>
        <p:nvSpPr>
          <p:cNvPr id="8" name="Rectangle 7"/>
          <p:cNvSpPr/>
          <p:nvPr/>
        </p:nvSpPr>
        <p:spPr>
          <a:xfrm>
            <a:off x="8455682" y="3975390"/>
            <a:ext cx="2514602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Communicational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8455681" y="4492443"/>
            <a:ext cx="2514604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Sequential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55680" y="5009494"/>
            <a:ext cx="2514604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Functional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01682" y="1907178"/>
            <a:ext cx="553998" cy="356398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vert270" wrap="square">
            <a:spAutoFit/>
          </a:bodyPr>
          <a:lstStyle/>
          <a:p>
            <a:pPr algn="ctr"/>
            <a:r>
              <a:rPr lang="en-US" sz="2400" b="1" dirty="0"/>
              <a:t>Classification of Cohesion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96272" y="1907177"/>
            <a:ext cx="7082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70146" y="4984946"/>
            <a:ext cx="7649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High</a:t>
            </a:r>
          </a:p>
        </p:txBody>
      </p:sp>
      <p:cxnSp>
        <p:nvCxnSpPr>
          <p:cNvPr id="14" name="Straight Arrow Connector 13"/>
          <p:cNvCxnSpPr>
            <a:stCxn id="12" idx="2"/>
            <a:endCxn id="13" idx="0"/>
          </p:cNvCxnSpPr>
          <p:nvPr/>
        </p:nvCxnSpPr>
        <p:spPr>
          <a:xfrm>
            <a:off x="11550408" y="2368842"/>
            <a:ext cx="2215" cy="2616104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7519132" y="701684"/>
            <a:ext cx="4672868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Classification of Cohesion</a:t>
            </a:r>
            <a:endParaRPr lang="en-US" sz="2400" b="1" dirty="0">
              <a:solidFill>
                <a:schemeClr val="bg1"/>
              </a:solidFill>
            </a:endParaRPr>
          </a:p>
        </p:txBody>
      </p:sp>
      <p:cxnSp>
        <p:nvCxnSpPr>
          <p:cNvPr id="17" name="Straight Connector 16"/>
          <p:cNvCxnSpPr/>
          <p:nvPr/>
        </p:nvCxnSpPr>
        <p:spPr>
          <a:xfrm>
            <a:off x="7519132" y="711201"/>
            <a:ext cx="0" cy="5892799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9058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/>
      <p:bldP spid="13" grpId="0"/>
      <p:bldP spid="15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Classification of Cohesion cont.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90499" y="889000"/>
            <a:ext cx="3049090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Coincidental cohesion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2330426" y="1350665"/>
            <a:ext cx="4135688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190499" y="1528463"/>
            <a:ext cx="6367055" cy="4863370"/>
          </a:xfrm>
        </p:spPr>
        <p:txBody>
          <a:bodyPr/>
          <a:lstStyle/>
          <a:p>
            <a:r>
              <a:rPr lang="en-US" dirty="0"/>
              <a:t>A module is said to have coincidental cohesion, if </a:t>
            </a:r>
            <a:r>
              <a:rPr lang="en-US" dirty="0">
                <a:solidFill>
                  <a:srgbClr val="C00000"/>
                </a:solidFill>
              </a:rPr>
              <a:t>it performs a set of tasks</a:t>
            </a:r>
            <a:r>
              <a:rPr lang="en-US" dirty="0"/>
              <a:t> that </a:t>
            </a:r>
            <a:r>
              <a:rPr lang="en-US" dirty="0">
                <a:solidFill>
                  <a:srgbClr val="C00000"/>
                </a:solidFill>
              </a:rPr>
              <a:t>relate to each other very loosely</a:t>
            </a:r>
            <a:r>
              <a:rPr lang="en-US" dirty="0"/>
              <a:t>.</a:t>
            </a:r>
          </a:p>
          <a:p>
            <a:r>
              <a:rPr lang="en-US" dirty="0"/>
              <a:t>In this case, the module </a:t>
            </a:r>
            <a:r>
              <a:rPr lang="en-US" dirty="0">
                <a:solidFill>
                  <a:srgbClr val="C00000"/>
                </a:solidFill>
              </a:rPr>
              <a:t>contains </a:t>
            </a:r>
            <a:r>
              <a:rPr lang="en-US" dirty="0"/>
              <a:t>a </a:t>
            </a:r>
            <a:r>
              <a:rPr lang="en-US" b="1" dirty="0">
                <a:solidFill>
                  <a:srgbClr val="C00000"/>
                </a:solidFill>
              </a:rPr>
              <a:t>random collection of functions</a:t>
            </a:r>
            <a:r>
              <a:rPr lang="en-US" dirty="0"/>
              <a:t>.</a:t>
            </a:r>
          </a:p>
          <a:p>
            <a:r>
              <a:rPr lang="en-US" dirty="0"/>
              <a:t>It is likely that the functions have been put </a:t>
            </a:r>
            <a:r>
              <a:rPr lang="en-US" dirty="0">
                <a:solidFill>
                  <a:srgbClr val="C00000"/>
                </a:solidFill>
              </a:rPr>
              <a:t>in</a:t>
            </a:r>
            <a:r>
              <a:rPr lang="en-US" dirty="0"/>
              <a:t> the </a:t>
            </a:r>
            <a:r>
              <a:rPr lang="en-US" dirty="0">
                <a:solidFill>
                  <a:srgbClr val="C00000"/>
                </a:solidFill>
              </a:rPr>
              <a:t>module</a:t>
            </a:r>
            <a:r>
              <a:rPr lang="en-US" dirty="0"/>
              <a:t> out of </a:t>
            </a:r>
            <a:r>
              <a:rPr lang="en-US" dirty="0">
                <a:solidFill>
                  <a:srgbClr val="C00000"/>
                </a:solidFill>
              </a:rPr>
              <a:t>pure coincidence without any thought</a:t>
            </a:r>
            <a:r>
              <a:rPr lang="en-US" dirty="0"/>
              <a:t> or design.</a:t>
            </a:r>
          </a:p>
          <a:p>
            <a:r>
              <a:rPr lang="en-US" dirty="0"/>
              <a:t>For Ex., Imagine a </a:t>
            </a:r>
            <a:r>
              <a:rPr lang="en-US" b="1" dirty="0"/>
              <a:t>class Utility </a:t>
            </a:r>
            <a:r>
              <a:rPr lang="en-US" dirty="0"/>
              <a:t>that contains a random collection of unrelated methods like</a:t>
            </a:r>
          </a:p>
          <a:p>
            <a:pPr lvl="1"/>
            <a:r>
              <a:rPr lang="en-US" dirty="0" err="1"/>
              <a:t>print_current_date</a:t>
            </a:r>
            <a:r>
              <a:rPr lang="en-US" dirty="0"/>
              <a:t>()</a:t>
            </a:r>
          </a:p>
          <a:p>
            <a:pPr lvl="1"/>
            <a:r>
              <a:rPr lang="en-US" dirty="0" err="1"/>
              <a:t>calculate_sum</a:t>
            </a:r>
            <a:r>
              <a:rPr lang="en-US" dirty="0"/>
              <a:t>(a, b)</a:t>
            </a:r>
          </a:p>
          <a:p>
            <a:pPr lvl="1"/>
            <a:r>
              <a:rPr lang="en-US" dirty="0" err="1"/>
              <a:t>read_file</a:t>
            </a:r>
            <a:r>
              <a:rPr lang="en-US" dirty="0"/>
              <a:t>(filename)</a:t>
            </a:r>
          </a:p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6874328" y="889000"/>
            <a:ext cx="3049090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Logical cohesion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9014255" y="1350665"/>
            <a:ext cx="2925196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3" name="Content Placeholder 2"/>
          <p:cNvSpPr txBox="1">
            <a:spLocks/>
          </p:cNvSpPr>
          <p:nvPr/>
        </p:nvSpPr>
        <p:spPr>
          <a:xfrm>
            <a:off x="6874328" y="1528463"/>
            <a:ext cx="5065123" cy="47378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 module is said to be logically cohesive if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dirty="0">
                <a:solidFill>
                  <a:srgbClr val="C00000"/>
                </a:solidFill>
              </a:rPr>
              <a:t>all elements of the module are </a:t>
            </a:r>
            <a:r>
              <a:rPr lang="en-US" b="1" dirty="0">
                <a:solidFill>
                  <a:srgbClr val="C00000"/>
                </a:solidFill>
              </a:rPr>
              <a:t>logically categorized to do similar things</a:t>
            </a:r>
            <a:r>
              <a:rPr lang="en-US" dirty="0"/>
              <a:t>.</a:t>
            </a:r>
          </a:p>
          <a:p>
            <a:r>
              <a:rPr lang="en-US" dirty="0"/>
              <a:t>For Ex., Imagine a </a:t>
            </a:r>
            <a:r>
              <a:rPr lang="en-US" b="1" dirty="0"/>
              <a:t>class </a:t>
            </a:r>
            <a:r>
              <a:rPr lang="en-US" b="1" dirty="0" err="1"/>
              <a:t>LogManager</a:t>
            </a:r>
            <a:r>
              <a:rPr lang="en-US" b="1" dirty="0"/>
              <a:t> </a:t>
            </a:r>
            <a:r>
              <a:rPr lang="en-US" dirty="0"/>
              <a:t>that handles different types of logging activities based on a method parameter</a:t>
            </a:r>
          </a:p>
          <a:p>
            <a:pPr lvl="1"/>
            <a:r>
              <a:rPr lang="en-US" dirty="0"/>
              <a:t>log(</a:t>
            </a:r>
            <a:r>
              <a:rPr lang="en-US" b="1" dirty="0" err="1"/>
              <a:t>log_type</a:t>
            </a:r>
            <a:r>
              <a:rPr lang="en-US" dirty="0"/>
              <a:t>, message): main  function</a:t>
            </a:r>
          </a:p>
          <a:p>
            <a:pPr lvl="1"/>
            <a:r>
              <a:rPr lang="en-US" dirty="0" err="1"/>
              <a:t>log_</a:t>
            </a:r>
            <a:r>
              <a:rPr lang="en-US" b="1" dirty="0" err="1"/>
              <a:t>error</a:t>
            </a:r>
            <a:r>
              <a:rPr lang="en-US" dirty="0"/>
              <a:t>(message)</a:t>
            </a:r>
          </a:p>
          <a:p>
            <a:pPr lvl="1"/>
            <a:r>
              <a:rPr lang="en-US" dirty="0" err="1"/>
              <a:t>log_</a:t>
            </a:r>
            <a:r>
              <a:rPr lang="en-US" b="1" dirty="0" err="1"/>
              <a:t>info</a:t>
            </a:r>
            <a:r>
              <a:rPr lang="en-US" dirty="0"/>
              <a:t>(message)</a:t>
            </a:r>
          </a:p>
          <a:p>
            <a:pPr lvl="1"/>
            <a:r>
              <a:rPr lang="en-US" dirty="0" err="1"/>
              <a:t>log_</a:t>
            </a:r>
            <a:r>
              <a:rPr lang="en-US" b="1" dirty="0" err="1"/>
              <a:t>debug</a:t>
            </a:r>
            <a:r>
              <a:rPr lang="en-US" dirty="0"/>
              <a:t>(message)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6722295" y="711201"/>
            <a:ext cx="0" cy="5892799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1503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/>
      <p:bldP spid="11" grpId="0" animBg="1"/>
      <p:bldP spid="13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Classification of Cohesion cont.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90499" y="889000"/>
            <a:ext cx="3049090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Temporal cohesion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2330426" y="1350665"/>
            <a:ext cx="4135688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90499" y="1528464"/>
            <a:ext cx="6367055" cy="4970948"/>
          </a:xfrm>
        </p:spPr>
        <p:txBody>
          <a:bodyPr/>
          <a:lstStyle/>
          <a:p>
            <a:r>
              <a:rPr lang="en-US" dirty="0"/>
              <a:t>Temporal cohesion occurs when elements of a module are grouped because they are </a:t>
            </a:r>
            <a:r>
              <a:rPr lang="en-US" b="1" dirty="0">
                <a:solidFill>
                  <a:srgbClr val="B01010"/>
                </a:solidFill>
              </a:rPr>
              <a:t>related by the timing</a:t>
            </a:r>
            <a:r>
              <a:rPr lang="en-US" dirty="0"/>
              <a:t> </a:t>
            </a:r>
            <a:r>
              <a:rPr lang="en-US" b="1" dirty="0">
                <a:solidFill>
                  <a:srgbClr val="B01010"/>
                </a:solidFill>
              </a:rPr>
              <a:t>of their execution</a:t>
            </a:r>
            <a:r>
              <a:rPr lang="en-US" dirty="0"/>
              <a:t>, typically because they are </a:t>
            </a:r>
            <a:r>
              <a:rPr lang="en-US" b="1" dirty="0">
                <a:solidFill>
                  <a:srgbClr val="B01010"/>
                </a:solidFill>
              </a:rPr>
              <a:t>all executed in the same phase </a:t>
            </a:r>
            <a:r>
              <a:rPr lang="en-US" dirty="0"/>
              <a:t>of an operation.</a:t>
            </a:r>
          </a:p>
          <a:p>
            <a:r>
              <a:rPr lang="en-US" dirty="0"/>
              <a:t>For Ex., Imagine a </a:t>
            </a:r>
            <a:r>
              <a:rPr lang="en-US" b="1" dirty="0"/>
              <a:t>class </a:t>
            </a:r>
            <a:r>
              <a:rPr lang="en-US" b="1" dirty="0" err="1"/>
              <a:t>StartupManager</a:t>
            </a:r>
            <a:r>
              <a:rPr lang="en-US" b="1" dirty="0"/>
              <a:t> </a:t>
            </a:r>
            <a:r>
              <a:rPr lang="en-US" dirty="0"/>
              <a:t>that handles various tasks that need to be </a:t>
            </a:r>
            <a:r>
              <a:rPr lang="en-US" b="1" dirty="0"/>
              <a:t>executed</a:t>
            </a:r>
            <a:r>
              <a:rPr lang="en-US" dirty="0"/>
              <a:t> </a:t>
            </a:r>
            <a:r>
              <a:rPr lang="en-US" b="1" dirty="0"/>
              <a:t>during the startup phase </a:t>
            </a:r>
            <a:r>
              <a:rPr lang="en-US" dirty="0"/>
              <a:t>of an application</a:t>
            </a:r>
          </a:p>
          <a:p>
            <a:pPr lvl="1"/>
            <a:r>
              <a:rPr lang="en-US" dirty="0"/>
              <a:t>initialize(): main  function</a:t>
            </a:r>
          </a:p>
          <a:p>
            <a:pPr lvl="1"/>
            <a:r>
              <a:rPr lang="en-US" dirty="0" err="1"/>
              <a:t>load_configuration</a:t>
            </a:r>
            <a:r>
              <a:rPr lang="en-US" dirty="0"/>
              <a:t>()</a:t>
            </a:r>
          </a:p>
          <a:p>
            <a:pPr lvl="1"/>
            <a:r>
              <a:rPr lang="en-US" dirty="0" err="1"/>
              <a:t>connect_to_database</a:t>
            </a:r>
            <a:r>
              <a:rPr lang="en-US" dirty="0"/>
              <a:t>()</a:t>
            </a:r>
          </a:p>
          <a:p>
            <a:pPr lvl="1"/>
            <a:r>
              <a:rPr lang="en-US" dirty="0" err="1"/>
              <a:t>initialize_logging</a:t>
            </a:r>
            <a:r>
              <a:rPr lang="en-US" dirty="0"/>
              <a:t>()</a:t>
            </a:r>
          </a:p>
          <a:p>
            <a:pPr lvl="1"/>
            <a:r>
              <a:rPr lang="en-US" dirty="0" err="1"/>
              <a:t>show_startup_message</a:t>
            </a:r>
            <a:r>
              <a:rPr lang="en-US" dirty="0"/>
              <a:t>()</a:t>
            </a:r>
          </a:p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6874328" y="889000"/>
            <a:ext cx="3049090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Procedural cohesion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9014255" y="1350665"/>
            <a:ext cx="2925196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9" name="Content Placeholder 2"/>
          <p:cNvSpPr txBox="1">
            <a:spLocks/>
          </p:cNvSpPr>
          <p:nvPr/>
        </p:nvSpPr>
        <p:spPr>
          <a:xfrm>
            <a:off x="6874328" y="1528464"/>
            <a:ext cx="5065123" cy="49709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Procedural cohesion occurs when elements of a module are grouped together because they </a:t>
            </a:r>
            <a:r>
              <a:rPr lang="en-US" b="1" dirty="0">
                <a:solidFill>
                  <a:srgbClr val="B01010"/>
                </a:solidFill>
              </a:rPr>
              <a:t>follow a specific sequence of execution to achieve a task, </a:t>
            </a:r>
            <a:r>
              <a:rPr lang="en-US" dirty="0"/>
              <a:t>even though the tasks are different.</a:t>
            </a:r>
          </a:p>
          <a:p>
            <a:r>
              <a:rPr lang="en-US" dirty="0"/>
              <a:t>Imagine a </a:t>
            </a:r>
            <a:r>
              <a:rPr lang="en-US" b="1" dirty="0"/>
              <a:t>class </a:t>
            </a:r>
            <a:r>
              <a:rPr lang="en-US" b="1" dirty="0" err="1"/>
              <a:t>OrderProcessor</a:t>
            </a:r>
            <a:r>
              <a:rPr lang="en-US" b="1" dirty="0"/>
              <a:t> </a:t>
            </a:r>
            <a:r>
              <a:rPr lang="en-US" dirty="0"/>
              <a:t>that handles different steps of processing an order in a sequence</a:t>
            </a:r>
          </a:p>
          <a:p>
            <a:pPr lvl="1"/>
            <a:r>
              <a:rPr lang="en-US" dirty="0" err="1"/>
              <a:t>process_order</a:t>
            </a:r>
            <a:r>
              <a:rPr lang="en-US" dirty="0"/>
              <a:t>(order): main  function</a:t>
            </a:r>
          </a:p>
          <a:p>
            <a:pPr lvl="1"/>
            <a:r>
              <a:rPr lang="en-US" dirty="0" err="1"/>
              <a:t>validate_order</a:t>
            </a:r>
            <a:r>
              <a:rPr lang="en-US" dirty="0"/>
              <a:t>(order)</a:t>
            </a:r>
          </a:p>
          <a:p>
            <a:pPr lvl="1"/>
            <a:r>
              <a:rPr lang="en-US" dirty="0" err="1"/>
              <a:t>calculate_total</a:t>
            </a:r>
            <a:r>
              <a:rPr lang="en-US" dirty="0"/>
              <a:t>(order)</a:t>
            </a:r>
          </a:p>
          <a:p>
            <a:pPr lvl="1"/>
            <a:r>
              <a:rPr lang="en-US" dirty="0" err="1"/>
              <a:t>process_payment</a:t>
            </a:r>
            <a:r>
              <a:rPr lang="en-US" dirty="0"/>
              <a:t>(order)</a:t>
            </a:r>
          </a:p>
          <a:p>
            <a:pPr lvl="1"/>
            <a:r>
              <a:rPr lang="en-US" dirty="0" err="1"/>
              <a:t>generate_receipt</a:t>
            </a:r>
            <a:r>
              <a:rPr lang="en-US" dirty="0"/>
              <a:t>(order)</a:t>
            </a:r>
          </a:p>
        </p:txBody>
      </p:sp>
      <p:cxnSp>
        <p:nvCxnSpPr>
          <p:cNvPr id="10" name="Straight Connector 9"/>
          <p:cNvCxnSpPr>
            <a:cxnSpLocks/>
          </p:cNvCxnSpPr>
          <p:nvPr/>
        </p:nvCxnSpPr>
        <p:spPr>
          <a:xfrm>
            <a:off x="6722295" y="711201"/>
            <a:ext cx="0" cy="5788211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3874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  <p:bldP spid="7" grpId="0" animBg="1"/>
      <p:bldP spid="9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Classification of Cohesion cont.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90498" y="889000"/>
            <a:ext cx="3565709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Communicational cohesion</a:t>
            </a:r>
          </a:p>
        </p:txBody>
      </p:sp>
      <p:cxnSp>
        <p:nvCxnSpPr>
          <p:cNvPr id="5" name="Straight Connector 4"/>
          <p:cNvCxnSpPr>
            <a:cxnSpLocks/>
          </p:cNvCxnSpPr>
          <p:nvPr/>
        </p:nvCxnSpPr>
        <p:spPr>
          <a:xfrm>
            <a:off x="2330426" y="1350665"/>
            <a:ext cx="3451809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90500" y="1528464"/>
            <a:ext cx="5699312" cy="4970948"/>
          </a:xfrm>
        </p:spPr>
        <p:txBody>
          <a:bodyPr/>
          <a:lstStyle/>
          <a:p>
            <a:r>
              <a:rPr lang="en-US" dirty="0"/>
              <a:t>Communicational cohesion occurs when elements of a module are grouped together because they </a:t>
            </a:r>
            <a:r>
              <a:rPr lang="en-US" b="1" dirty="0">
                <a:solidFill>
                  <a:srgbClr val="B01010"/>
                </a:solidFill>
              </a:rPr>
              <a:t>operate on the same data or contribute towards the same piece of data</a:t>
            </a:r>
            <a:r>
              <a:rPr lang="en-US" dirty="0"/>
              <a:t>.</a:t>
            </a:r>
          </a:p>
          <a:p>
            <a:r>
              <a:rPr lang="en-US" dirty="0"/>
              <a:t>Example: A module that calculates statistics like </a:t>
            </a:r>
            <a:r>
              <a:rPr lang="en-US" b="1" dirty="0"/>
              <a:t>mean</a:t>
            </a:r>
            <a:r>
              <a:rPr lang="en-US" dirty="0"/>
              <a:t>, </a:t>
            </a:r>
            <a:r>
              <a:rPr lang="en-US" b="1" dirty="0"/>
              <a:t>median</a:t>
            </a:r>
            <a:r>
              <a:rPr lang="en-US" dirty="0"/>
              <a:t>, and </a:t>
            </a:r>
            <a:r>
              <a:rPr lang="en-US" b="1" dirty="0"/>
              <a:t>mode</a:t>
            </a:r>
            <a:r>
              <a:rPr lang="en-US" dirty="0"/>
              <a:t> from the </a:t>
            </a:r>
            <a:r>
              <a:rPr lang="en-US" b="1" dirty="0"/>
              <a:t>same dataset</a:t>
            </a:r>
            <a:r>
              <a:rPr lang="en-US" dirty="0"/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97618" y="889000"/>
            <a:ext cx="3049090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Sequential cohesion</a:t>
            </a:r>
          </a:p>
        </p:txBody>
      </p:sp>
      <p:cxnSp>
        <p:nvCxnSpPr>
          <p:cNvPr id="8" name="Straight Connector 7"/>
          <p:cNvCxnSpPr>
            <a:cxnSpLocks/>
          </p:cNvCxnSpPr>
          <p:nvPr/>
        </p:nvCxnSpPr>
        <p:spPr>
          <a:xfrm flipV="1">
            <a:off x="8537545" y="1281953"/>
            <a:ext cx="3411173" cy="68712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9" name="Content Placeholder 2"/>
          <p:cNvSpPr txBox="1">
            <a:spLocks/>
          </p:cNvSpPr>
          <p:nvPr/>
        </p:nvSpPr>
        <p:spPr>
          <a:xfrm>
            <a:off x="6397618" y="1528464"/>
            <a:ext cx="5541833" cy="49709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Sequential cohesion occurs when elements of a module are grouped together because the </a:t>
            </a:r>
            <a:r>
              <a:rPr lang="en-US" b="1" dirty="0">
                <a:solidFill>
                  <a:srgbClr val="B01010"/>
                </a:solidFill>
              </a:rPr>
              <a:t>output from one part serves as the input to the next part </a:t>
            </a:r>
            <a:r>
              <a:rPr lang="en-US" dirty="0"/>
              <a:t>in a sequence.</a:t>
            </a:r>
          </a:p>
          <a:p>
            <a:r>
              <a:rPr lang="en-US" dirty="0"/>
              <a:t>Imagine a class </a:t>
            </a:r>
            <a:r>
              <a:rPr lang="en-US" b="1" dirty="0" err="1"/>
              <a:t>DataPipeline</a:t>
            </a:r>
            <a:r>
              <a:rPr lang="en-US" dirty="0"/>
              <a:t> that processes data in a sequence of steps:</a:t>
            </a:r>
          </a:p>
          <a:p>
            <a:pPr lvl="1"/>
            <a:r>
              <a:rPr lang="en-US" dirty="0" err="1"/>
              <a:t>process_data</a:t>
            </a:r>
            <a:r>
              <a:rPr lang="en-US" dirty="0"/>
              <a:t>(</a:t>
            </a:r>
            <a:r>
              <a:rPr lang="en-US" dirty="0" err="1"/>
              <a:t>raw_data</a:t>
            </a:r>
            <a:r>
              <a:rPr lang="en-US" dirty="0"/>
              <a:t>): main  function</a:t>
            </a:r>
          </a:p>
          <a:p>
            <a:pPr lvl="1"/>
            <a:r>
              <a:rPr lang="en-US" dirty="0" err="1"/>
              <a:t>clean_data</a:t>
            </a:r>
            <a:r>
              <a:rPr lang="en-US" dirty="0"/>
              <a:t>(</a:t>
            </a:r>
            <a:r>
              <a:rPr lang="en-US" dirty="0" err="1"/>
              <a:t>raw_data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transform_data</a:t>
            </a:r>
            <a:r>
              <a:rPr lang="en-US" dirty="0"/>
              <a:t>(</a:t>
            </a:r>
            <a:r>
              <a:rPr lang="en-US" dirty="0" err="1"/>
              <a:t>cleaned_data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analyze_data</a:t>
            </a:r>
            <a:r>
              <a:rPr lang="en-US" dirty="0"/>
              <a:t>(</a:t>
            </a:r>
            <a:r>
              <a:rPr lang="en-US" dirty="0" err="1"/>
              <a:t>transformed_data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save_results</a:t>
            </a:r>
            <a:r>
              <a:rPr lang="en-US" dirty="0"/>
              <a:t>(</a:t>
            </a:r>
            <a:r>
              <a:rPr lang="en-US" dirty="0" err="1"/>
              <a:t>analyzed_data</a:t>
            </a:r>
            <a:r>
              <a:rPr lang="en-US" dirty="0"/>
              <a:t>)</a:t>
            </a:r>
          </a:p>
        </p:txBody>
      </p:sp>
      <p:cxnSp>
        <p:nvCxnSpPr>
          <p:cNvPr id="10" name="Straight Connector 9"/>
          <p:cNvCxnSpPr>
            <a:cxnSpLocks/>
          </p:cNvCxnSpPr>
          <p:nvPr/>
        </p:nvCxnSpPr>
        <p:spPr>
          <a:xfrm>
            <a:off x="6166483" y="711201"/>
            <a:ext cx="0" cy="5788211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6153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  <p:bldP spid="7" grpId="0" animBg="1"/>
      <p:bldP spid="9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Classification of Cohesion cont.</a:t>
            </a:r>
            <a:endParaRPr lang="en-US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2330426" y="1350665"/>
            <a:ext cx="9439208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90499" y="889000"/>
            <a:ext cx="3049090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Functional cohesion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2330426" y="1350665"/>
            <a:ext cx="9439208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9" name="Content Placeholder 2"/>
          <p:cNvSpPr txBox="1">
            <a:spLocks/>
          </p:cNvSpPr>
          <p:nvPr/>
        </p:nvSpPr>
        <p:spPr>
          <a:xfrm>
            <a:off x="203562" y="1465162"/>
            <a:ext cx="11566072" cy="47922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Functional cohesion occurs when all elements of a module are grouped together because they </a:t>
            </a:r>
            <a:r>
              <a:rPr lang="en-US" b="1" dirty="0">
                <a:solidFill>
                  <a:srgbClr val="B01010"/>
                </a:solidFill>
              </a:rPr>
              <a:t>all contribute to a single, well-defined task</a:t>
            </a:r>
            <a:r>
              <a:rPr lang="en-US" dirty="0"/>
              <a:t>.</a:t>
            </a:r>
          </a:p>
          <a:p>
            <a:r>
              <a:rPr lang="en-US" dirty="0"/>
              <a:t>Imagine a class </a:t>
            </a:r>
            <a:r>
              <a:rPr lang="en-US" b="1" dirty="0" err="1"/>
              <a:t>MathOperations</a:t>
            </a:r>
            <a:r>
              <a:rPr lang="en-US" dirty="0"/>
              <a:t> that handles the calculation of the </a:t>
            </a:r>
            <a:r>
              <a:rPr lang="en-US" b="1" dirty="0"/>
              <a:t>area</a:t>
            </a:r>
            <a:r>
              <a:rPr lang="en-US" dirty="0"/>
              <a:t> :</a:t>
            </a:r>
          </a:p>
          <a:p>
            <a:pPr lvl="1"/>
            <a:r>
              <a:rPr lang="en-US" dirty="0" err="1">
                <a:solidFill>
                  <a:srgbClr val="B01010"/>
                </a:solidFill>
              </a:rPr>
              <a:t>calculateCircleArea</a:t>
            </a:r>
            <a:r>
              <a:rPr lang="en-US" dirty="0">
                <a:solidFill>
                  <a:srgbClr val="B01010"/>
                </a:solidFill>
              </a:rPr>
              <a:t>()</a:t>
            </a:r>
          </a:p>
          <a:p>
            <a:pPr lvl="1"/>
            <a:r>
              <a:rPr lang="en-US" dirty="0" err="1">
                <a:solidFill>
                  <a:srgbClr val="B01010"/>
                </a:solidFill>
              </a:rPr>
              <a:t>calculateSquareArea</a:t>
            </a:r>
            <a:r>
              <a:rPr lang="en-US" dirty="0">
                <a:solidFill>
                  <a:srgbClr val="B01010"/>
                </a:solidFill>
              </a:rPr>
              <a:t>()</a:t>
            </a:r>
          </a:p>
          <a:p>
            <a:pPr lvl="1"/>
            <a:r>
              <a:rPr lang="en-US" dirty="0" err="1">
                <a:solidFill>
                  <a:srgbClr val="B01010"/>
                </a:solidFill>
              </a:rPr>
              <a:t>calculateRectangleArea</a:t>
            </a:r>
            <a:r>
              <a:rPr lang="en-US" dirty="0">
                <a:solidFill>
                  <a:srgbClr val="B01010"/>
                </a:solidFill>
              </a:rPr>
              <a:t>()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7235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Coupling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1" y="863444"/>
            <a:ext cx="7027266" cy="5590565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Coupling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between two modules is a </a:t>
            </a:r>
            <a:r>
              <a:rPr lang="en-US" b="1" dirty="0">
                <a:solidFill>
                  <a:srgbClr val="C00000"/>
                </a:solidFill>
              </a:rPr>
              <a:t>measure of the degree</a:t>
            </a:r>
            <a:r>
              <a:rPr lang="en-US" dirty="0"/>
              <a:t> of </a:t>
            </a:r>
            <a:r>
              <a:rPr lang="en-US" b="1" dirty="0">
                <a:solidFill>
                  <a:srgbClr val="C00000"/>
                </a:solidFill>
              </a:rPr>
              <a:t>interdependence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or interaction </a:t>
            </a:r>
            <a:r>
              <a:rPr lang="en-US" b="1" dirty="0">
                <a:solidFill>
                  <a:srgbClr val="C00000"/>
                </a:solidFill>
              </a:rPr>
              <a:t>between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two modules</a:t>
            </a:r>
            <a:r>
              <a:rPr lang="en-US" dirty="0"/>
              <a:t>.</a:t>
            </a:r>
          </a:p>
          <a:p>
            <a:r>
              <a:rPr lang="en-US" dirty="0"/>
              <a:t>A module having high cohesion and low coupling is said to be functionally independent of other modules.</a:t>
            </a:r>
          </a:p>
          <a:p>
            <a:r>
              <a:rPr lang="en-US" dirty="0"/>
              <a:t>If </a:t>
            </a:r>
            <a:r>
              <a:rPr lang="en-US" b="1" dirty="0">
                <a:solidFill>
                  <a:srgbClr val="C00000"/>
                </a:solidFill>
              </a:rPr>
              <a:t>two modules interchange large amounts of data</a:t>
            </a:r>
            <a:r>
              <a:rPr lang="en-US" dirty="0"/>
              <a:t>, then they are </a:t>
            </a:r>
            <a:r>
              <a:rPr lang="en-US" b="1" dirty="0">
                <a:solidFill>
                  <a:srgbClr val="C00000"/>
                </a:solidFill>
              </a:rPr>
              <a:t>highly interdependent</a:t>
            </a:r>
            <a:r>
              <a:rPr lang="en-US" dirty="0"/>
              <a:t>.</a:t>
            </a:r>
          </a:p>
          <a:p>
            <a:r>
              <a:rPr lang="en-US" dirty="0"/>
              <a:t>The degree of coupling between two modules depends on their interface complexity.</a:t>
            </a:r>
          </a:p>
          <a:p>
            <a:r>
              <a:rPr lang="en-US" dirty="0"/>
              <a:t>The interface complexity is basically determined by the number of types of parameters that are interchanged while invoking the functions of the module.</a:t>
            </a:r>
          </a:p>
          <a:p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7519132" y="701684"/>
            <a:ext cx="4672868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Classification of Coupling</a:t>
            </a:r>
            <a:endParaRPr lang="en-US" sz="2400" b="1" dirty="0">
              <a:solidFill>
                <a:schemeClr val="bg1"/>
              </a:solidFill>
            </a:endParaRPr>
          </a:p>
        </p:txBody>
      </p:sp>
      <p:cxnSp>
        <p:nvCxnSpPr>
          <p:cNvPr id="17" name="Straight Connector 16"/>
          <p:cNvCxnSpPr/>
          <p:nvPr/>
        </p:nvCxnSpPr>
        <p:spPr>
          <a:xfrm>
            <a:off x="7519132" y="711201"/>
            <a:ext cx="0" cy="5892799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534059" y="1922740"/>
            <a:ext cx="2514601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Data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34058" y="2708036"/>
            <a:ext cx="2514601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Stamp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34058" y="3493332"/>
            <a:ext cx="2514601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Control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34057" y="4278628"/>
            <a:ext cx="2514602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Common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34057" y="5063924"/>
            <a:ext cx="2514602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Content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80057" y="1922740"/>
            <a:ext cx="553998" cy="36028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vert270" wrap="square">
            <a:spAutoFit/>
          </a:bodyPr>
          <a:lstStyle/>
          <a:p>
            <a:pPr algn="ctr"/>
            <a:r>
              <a:rPr lang="en-US" sz="2400" b="1" dirty="0"/>
              <a:t>Classification of Coupling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54789" y="1865032"/>
            <a:ext cx="7082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26447" y="5063923"/>
            <a:ext cx="7649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High</a:t>
            </a:r>
          </a:p>
        </p:txBody>
      </p:sp>
      <p:cxnSp>
        <p:nvCxnSpPr>
          <p:cNvPr id="26" name="Straight Arrow Connector 25"/>
          <p:cNvCxnSpPr>
            <a:stCxn id="24" idx="2"/>
            <a:endCxn id="25" idx="0"/>
          </p:cNvCxnSpPr>
          <p:nvPr/>
        </p:nvCxnSpPr>
        <p:spPr>
          <a:xfrm flipH="1">
            <a:off x="11608924" y="2326697"/>
            <a:ext cx="1" cy="2737226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4906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5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/>
      <p:bldP spid="25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 of Coupling Cont.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0499" y="889000"/>
            <a:ext cx="3049090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Data coupling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2330426" y="1350665"/>
            <a:ext cx="4135688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6" name="Content Placeholder 2"/>
          <p:cNvSpPr>
            <a:spLocks noGrp="1"/>
          </p:cNvSpPr>
          <p:nvPr>
            <p:ph idx="1"/>
          </p:nvPr>
        </p:nvSpPr>
        <p:spPr>
          <a:xfrm>
            <a:off x="190499" y="1528464"/>
            <a:ext cx="6275615" cy="2298953"/>
          </a:xfrm>
        </p:spPr>
        <p:txBody>
          <a:bodyPr/>
          <a:lstStyle/>
          <a:p>
            <a:r>
              <a:rPr lang="en-US" dirty="0"/>
              <a:t>Two modules are data coupled, if</a:t>
            </a:r>
            <a:r>
              <a:rPr lang="en-US" b="1" dirty="0">
                <a:solidFill>
                  <a:srgbClr val="C00000"/>
                </a:solidFill>
              </a:rPr>
              <a:t> they communicate through a parameter</a:t>
            </a:r>
            <a:r>
              <a:rPr lang="en-US" dirty="0"/>
              <a:t>. </a:t>
            </a:r>
          </a:p>
          <a:p>
            <a:r>
              <a:rPr lang="en-US" dirty="0"/>
              <a:t>An example is an elementary (primal) data item passed as a parameter between two modules, e.g. an integer, a float, a character, etc.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6874328" y="889000"/>
            <a:ext cx="3049090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Stamp coupling</a:t>
            </a:r>
          </a:p>
        </p:txBody>
      </p:sp>
      <p:cxnSp>
        <p:nvCxnSpPr>
          <p:cNvPr id="18" name="Straight Connector 17"/>
          <p:cNvCxnSpPr/>
          <p:nvPr/>
        </p:nvCxnSpPr>
        <p:spPr>
          <a:xfrm>
            <a:off x="9014255" y="1350665"/>
            <a:ext cx="2925196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9" name="Content Placeholder 2"/>
          <p:cNvSpPr txBox="1">
            <a:spLocks/>
          </p:cNvSpPr>
          <p:nvPr/>
        </p:nvSpPr>
        <p:spPr>
          <a:xfrm>
            <a:off x="6874328" y="1528464"/>
            <a:ext cx="5065123" cy="33178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This is a special case (or extension) of data coupling</a:t>
            </a:r>
          </a:p>
          <a:p>
            <a:r>
              <a:rPr lang="en-US" dirty="0"/>
              <a:t>Two modules (``A'' and ``B'') exhibit stamp coupling if </a:t>
            </a:r>
            <a:r>
              <a:rPr lang="en-US" b="1" dirty="0">
                <a:solidFill>
                  <a:srgbClr val="C00000"/>
                </a:solidFill>
              </a:rPr>
              <a:t>one passes</a:t>
            </a:r>
            <a:r>
              <a:rPr lang="en-US" dirty="0"/>
              <a:t> directly to the other a </a:t>
            </a:r>
            <a:r>
              <a:rPr lang="en-US" b="1" dirty="0">
                <a:solidFill>
                  <a:srgbClr val="C00000"/>
                </a:solidFill>
              </a:rPr>
              <a:t>composite data item</a:t>
            </a:r>
            <a:r>
              <a:rPr lang="en-US" dirty="0"/>
              <a:t> - such as a record (or structure), array, or (pointer to) a list or tree.</a:t>
            </a:r>
          </a:p>
          <a:p>
            <a:r>
              <a:rPr lang="en-US" dirty="0"/>
              <a:t>This occurs when </a:t>
            </a:r>
            <a:r>
              <a:rPr lang="en-US" b="1" dirty="0" err="1">
                <a:solidFill>
                  <a:srgbClr val="C00000"/>
                </a:solidFill>
              </a:rPr>
              <a:t>ClassB</a:t>
            </a:r>
            <a:r>
              <a:rPr lang="en-US" dirty="0"/>
              <a:t> is </a:t>
            </a:r>
            <a:r>
              <a:rPr lang="en-US" b="1" dirty="0">
                <a:solidFill>
                  <a:srgbClr val="C00000"/>
                </a:solidFill>
              </a:rPr>
              <a:t>declared as a type </a:t>
            </a:r>
            <a:r>
              <a:rPr lang="en-US" dirty="0"/>
              <a:t>for an argument of an </a:t>
            </a:r>
            <a:r>
              <a:rPr lang="en-US" b="1" dirty="0">
                <a:solidFill>
                  <a:srgbClr val="C00000"/>
                </a:solidFill>
              </a:rPr>
              <a:t>operation of </a:t>
            </a:r>
            <a:r>
              <a:rPr lang="en-US" b="1" dirty="0" err="1">
                <a:solidFill>
                  <a:srgbClr val="C00000"/>
                </a:solidFill>
              </a:rPr>
              <a:t>ClassA</a:t>
            </a:r>
            <a:endParaRPr lang="en-US" b="1" dirty="0">
              <a:solidFill>
                <a:srgbClr val="C00000"/>
              </a:solidFill>
            </a:endParaRPr>
          </a:p>
        </p:txBody>
      </p:sp>
      <p:cxnSp>
        <p:nvCxnSpPr>
          <p:cNvPr id="20" name="Straight Connector 19"/>
          <p:cNvCxnSpPr/>
          <p:nvPr/>
        </p:nvCxnSpPr>
        <p:spPr>
          <a:xfrm>
            <a:off x="6722295" y="711201"/>
            <a:ext cx="0" cy="5885542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177619" y="3919583"/>
            <a:ext cx="3519169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Control coupling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2317547" y="4381248"/>
            <a:ext cx="4148567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3" name="Content Placeholder 2"/>
          <p:cNvSpPr txBox="1">
            <a:spLocks/>
          </p:cNvSpPr>
          <p:nvPr/>
        </p:nvSpPr>
        <p:spPr>
          <a:xfrm>
            <a:off x="190499" y="4559047"/>
            <a:ext cx="6275615" cy="19045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If </a:t>
            </a:r>
            <a:r>
              <a:rPr lang="en-US" b="1" dirty="0">
                <a:solidFill>
                  <a:srgbClr val="C00000"/>
                </a:solidFill>
              </a:rPr>
              <a:t>data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from </a:t>
            </a:r>
            <a:r>
              <a:rPr lang="en-US" b="1" dirty="0">
                <a:solidFill>
                  <a:srgbClr val="C00000"/>
                </a:solidFill>
              </a:rPr>
              <a:t>one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module </a:t>
            </a:r>
            <a:r>
              <a:rPr lang="en-US" b="1" dirty="0">
                <a:solidFill>
                  <a:srgbClr val="C00000"/>
                </a:solidFill>
              </a:rPr>
              <a:t>is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>used to direct the order of instruction</a:t>
            </a:r>
            <a:r>
              <a:rPr lang="en-US" dirty="0"/>
              <a:t>s execution </a:t>
            </a:r>
            <a:r>
              <a:rPr lang="en-US" b="1" dirty="0">
                <a:solidFill>
                  <a:srgbClr val="C00000"/>
                </a:solidFill>
              </a:rPr>
              <a:t>in another</a:t>
            </a:r>
            <a:r>
              <a:rPr lang="en-US" dirty="0"/>
              <a:t>.</a:t>
            </a:r>
          </a:p>
          <a:p>
            <a:r>
              <a:rPr lang="en-US" dirty="0"/>
              <a:t>An example of control coupling is a flag set in one module and tested in another module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9993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/>
      <p:bldP spid="17" grpId="0" animBg="1"/>
      <p:bldP spid="19" grpId="0"/>
      <p:bldP spid="21" grpId="0" animBg="1"/>
      <p:bldP spid="23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 of Coupling Cont.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31180" y="1287911"/>
            <a:ext cx="11929641" cy="1966278"/>
          </a:xfrm>
        </p:spPr>
        <p:txBody>
          <a:bodyPr/>
          <a:lstStyle/>
          <a:p>
            <a:r>
              <a:rPr lang="en-US" dirty="0"/>
              <a:t>Common coupling occurs when </a:t>
            </a:r>
            <a:r>
              <a:rPr lang="en-US" b="1" dirty="0">
                <a:solidFill>
                  <a:srgbClr val="B01010"/>
                </a:solidFill>
              </a:rPr>
              <a:t>multiple modules or components share and depend on a common global data structure or variable</a:t>
            </a:r>
            <a:r>
              <a:rPr lang="en-US" dirty="0"/>
              <a:t>. </a:t>
            </a:r>
          </a:p>
          <a:p>
            <a:r>
              <a:rPr lang="en-US" dirty="0"/>
              <a:t>This can lead to </a:t>
            </a:r>
            <a:r>
              <a:rPr lang="en-US" b="1" dirty="0">
                <a:solidFill>
                  <a:srgbClr val="B01010"/>
                </a:solidFill>
              </a:rPr>
              <a:t>tight interdependencies </a:t>
            </a:r>
            <a:r>
              <a:rPr lang="en-US" dirty="0"/>
              <a:t>and make the system harder to maintain.</a:t>
            </a:r>
          </a:p>
          <a:p>
            <a:r>
              <a:rPr lang="en-US" dirty="0"/>
              <a:t>Imagine a system with a global variable that is accessed by multiple classes</a:t>
            </a:r>
          </a:p>
          <a:p>
            <a:pPr lvl="1"/>
            <a:r>
              <a:rPr lang="en-US" dirty="0" err="1"/>
              <a:t>shared_data</a:t>
            </a:r>
            <a:r>
              <a:rPr lang="en-US" dirty="0"/>
              <a:t>: A global variable that is accessed by multiple classes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90499" y="826245"/>
            <a:ext cx="3049090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Common coupling</a:t>
            </a:r>
          </a:p>
        </p:txBody>
      </p:sp>
      <p:cxnSp>
        <p:nvCxnSpPr>
          <p:cNvPr id="5" name="Straight Connector 4"/>
          <p:cNvCxnSpPr>
            <a:cxnSpLocks/>
          </p:cNvCxnSpPr>
          <p:nvPr/>
        </p:nvCxnSpPr>
        <p:spPr>
          <a:xfrm>
            <a:off x="2330426" y="1287910"/>
            <a:ext cx="9439208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90499" y="3350526"/>
            <a:ext cx="3049090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Content coupling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2330426" y="3812191"/>
            <a:ext cx="9439208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9" name="Content Placeholder 2"/>
          <p:cNvSpPr txBox="1">
            <a:spLocks/>
          </p:cNvSpPr>
          <p:nvPr/>
        </p:nvSpPr>
        <p:spPr>
          <a:xfrm>
            <a:off x="203562" y="3926687"/>
            <a:ext cx="11566072" cy="25906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Content coupling happens when </a:t>
            </a:r>
            <a:r>
              <a:rPr lang="en-US" b="1" dirty="0">
                <a:solidFill>
                  <a:srgbClr val="B01010"/>
                </a:solidFill>
              </a:rPr>
              <a:t>one module directly changes or depends on the internal details of another module</a:t>
            </a:r>
            <a:r>
              <a:rPr lang="en-US" dirty="0"/>
              <a:t>.</a:t>
            </a:r>
          </a:p>
          <a:p>
            <a:r>
              <a:rPr lang="en-US" dirty="0"/>
              <a:t>This is the </a:t>
            </a:r>
            <a:r>
              <a:rPr lang="en-US" b="1" dirty="0">
                <a:solidFill>
                  <a:srgbClr val="B01010"/>
                </a:solidFill>
              </a:rPr>
              <a:t>tightest form of coupling </a:t>
            </a:r>
            <a:r>
              <a:rPr lang="en-US" dirty="0"/>
              <a:t>and often leads to </a:t>
            </a:r>
            <a:r>
              <a:rPr lang="en-US" b="1" dirty="0"/>
              <a:t>poor modularity </a:t>
            </a:r>
            <a:r>
              <a:rPr lang="en-US" dirty="0"/>
              <a:t>and </a:t>
            </a:r>
            <a:r>
              <a:rPr lang="en-US" b="1" dirty="0"/>
              <a:t>maintainability</a:t>
            </a:r>
            <a:r>
              <a:rPr lang="en-US" dirty="0"/>
              <a:t>.</a:t>
            </a:r>
          </a:p>
          <a:p>
            <a:r>
              <a:rPr lang="en-US" dirty="0"/>
              <a:t>Imagine two classes where one class directly modifies the internal state of another class</a:t>
            </a:r>
          </a:p>
          <a:p>
            <a:pPr lvl="1"/>
            <a:r>
              <a:rPr lang="en-US" dirty="0" err="1">
                <a:solidFill>
                  <a:srgbClr val="B01010"/>
                </a:solidFill>
              </a:rPr>
              <a:t>DataHolder</a:t>
            </a:r>
            <a:r>
              <a:rPr lang="en-US" dirty="0">
                <a:solidFill>
                  <a:srgbClr val="B01010"/>
                </a:solidFill>
              </a:rPr>
              <a:t> Class</a:t>
            </a:r>
            <a:r>
              <a:rPr lang="en-US" dirty="0"/>
              <a:t>: Contains a </a:t>
            </a:r>
            <a:r>
              <a:rPr lang="en-US" b="1" dirty="0"/>
              <a:t>private method _</a:t>
            </a:r>
            <a:r>
              <a:rPr lang="en-US" b="1" dirty="0" err="1"/>
              <a:t>add_data</a:t>
            </a:r>
            <a:r>
              <a:rPr lang="en-US" b="1" dirty="0"/>
              <a:t> </a:t>
            </a:r>
            <a:r>
              <a:rPr lang="en-US" dirty="0"/>
              <a:t>that modifies the internal state of the class.</a:t>
            </a:r>
          </a:p>
          <a:p>
            <a:pPr lvl="1"/>
            <a:r>
              <a:rPr lang="en-US" dirty="0" err="1">
                <a:solidFill>
                  <a:srgbClr val="B01010"/>
                </a:solidFill>
              </a:rPr>
              <a:t>DataManipulator</a:t>
            </a:r>
            <a:r>
              <a:rPr lang="en-US" dirty="0">
                <a:solidFill>
                  <a:srgbClr val="B01010"/>
                </a:solidFill>
              </a:rPr>
              <a:t> Class</a:t>
            </a:r>
            <a:r>
              <a:rPr lang="en-US" dirty="0"/>
              <a:t>: </a:t>
            </a:r>
            <a:r>
              <a:rPr lang="en-US" b="1" dirty="0"/>
              <a:t>Directly accesses and uses the _</a:t>
            </a:r>
            <a:r>
              <a:rPr lang="en-US" b="1" dirty="0" err="1"/>
              <a:t>add_data</a:t>
            </a:r>
            <a:r>
              <a:rPr lang="en-US" b="1" dirty="0"/>
              <a:t> </a:t>
            </a:r>
            <a:r>
              <a:rPr lang="en-US" dirty="0"/>
              <a:t>method to modify the internal state of </a:t>
            </a:r>
            <a:r>
              <a:rPr lang="en-US" dirty="0" err="1"/>
              <a:t>DataHolder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00577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4" grpId="0" animBg="1"/>
      <p:bldP spid="7" grpId="0" animBg="1"/>
      <p:bldP spid="9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User Interface Design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21000" y="727021"/>
            <a:ext cx="9271000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Golden Rules of User Interface Design</a:t>
            </a:r>
          </a:p>
        </p:txBody>
      </p:sp>
      <p:cxnSp>
        <p:nvCxnSpPr>
          <p:cNvPr id="23" name="Straight Connector 22"/>
          <p:cNvCxnSpPr/>
          <p:nvPr/>
        </p:nvCxnSpPr>
        <p:spPr>
          <a:xfrm>
            <a:off x="2921000" y="711201"/>
            <a:ext cx="0" cy="5892799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49" y="857646"/>
            <a:ext cx="2538697" cy="253869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291" y="3870205"/>
            <a:ext cx="2246811" cy="1891712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7016779" y="1759905"/>
            <a:ext cx="4838700" cy="235573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3359179" y="1751070"/>
            <a:ext cx="3657600" cy="236456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232"/>
          <a:stretch/>
        </p:blipFill>
        <p:spPr>
          <a:xfrm>
            <a:off x="8388643" y="1859292"/>
            <a:ext cx="1828535" cy="2182853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180"/>
          <a:stretch/>
        </p:blipFill>
        <p:spPr>
          <a:xfrm>
            <a:off x="4064029" y="1825174"/>
            <a:ext cx="2247900" cy="2096069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359179" y="1291774"/>
            <a:ext cx="3657600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Place the User in Control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16779" y="1291773"/>
            <a:ext cx="4838700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Reduce the User’s Memory Load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59179" y="4572839"/>
            <a:ext cx="8496300" cy="190053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3359179" y="4111174"/>
            <a:ext cx="8496300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Make the Interface Consistent</a:t>
            </a: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34" b="3656"/>
          <a:stretch/>
        </p:blipFill>
        <p:spPr>
          <a:xfrm>
            <a:off x="8007380" y="4641868"/>
            <a:ext cx="3276600" cy="1800879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5" b="66103"/>
          <a:stretch/>
        </p:blipFill>
        <p:spPr>
          <a:xfrm>
            <a:off x="3574933" y="4847250"/>
            <a:ext cx="4278671" cy="1390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017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21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0970A-7C2F-1517-8BC6-EDA458DC6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Place the User in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62619E-706A-4810-AF75-BA838BF50A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2190805"/>
            <a:ext cx="11929641" cy="4263205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Define the interaction modes in such a way that does not force the user into unnecessary or undesired actions</a:t>
            </a:r>
          </a:p>
          <a:p>
            <a:pPr lvl="1"/>
            <a:r>
              <a:rPr lang="en-US" dirty="0"/>
              <a:t>The user should be able to </a:t>
            </a:r>
            <a:r>
              <a:rPr lang="en-US" dirty="0">
                <a:solidFill>
                  <a:srgbClr val="C00000"/>
                </a:solidFill>
              </a:rPr>
              <a:t>easily enter and exit the mode </a:t>
            </a:r>
            <a:r>
              <a:rPr lang="en-US" dirty="0"/>
              <a:t>with little or no effort.</a:t>
            </a:r>
          </a:p>
          <a:p>
            <a:r>
              <a:rPr lang="en-US" b="1" dirty="0">
                <a:solidFill>
                  <a:srgbClr val="C00000"/>
                </a:solidFill>
              </a:rPr>
              <a:t>Provide for flexible interaction</a:t>
            </a:r>
          </a:p>
          <a:p>
            <a:pPr lvl="1"/>
            <a:r>
              <a:rPr lang="en-US" dirty="0"/>
              <a:t>Different people will use </a:t>
            </a:r>
            <a:r>
              <a:rPr lang="en-US" dirty="0">
                <a:solidFill>
                  <a:srgbClr val="C00000"/>
                </a:solidFill>
              </a:rPr>
              <a:t>different interaction mechanisms</a:t>
            </a:r>
            <a:r>
              <a:rPr lang="en-US" dirty="0"/>
              <a:t>, some might use </a:t>
            </a:r>
            <a:r>
              <a:rPr lang="en-US" dirty="0">
                <a:solidFill>
                  <a:srgbClr val="C00000"/>
                </a:solidFill>
              </a:rPr>
              <a:t>keyboard commands</a:t>
            </a:r>
            <a:r>
              <a:rPr lang="en-US" dirty="0"/>
              <a:t>, some might </a:t>
            </a:r>
            <a:r>
              <a:rPr lang="en-US" dirty="0">
                <a:solidFill>
                  <a:srgbClr val="C00000"/>
                </a:solidFill>
              </a:rPr>
              <a:t>use mouse</a:t>
            </a:r>
            <a:r>
              <a:rPr lang="en-US" dirty="0"/>
              <a:t>, some might </a:t>
            </a:r>
            <a:r>
              <a:rPr lang="en-US" dirty="0">
                <a:solidFill>
                  <a:srgbClr val="C00000"/>
                </a:solidFill>
              </a:rPr>
              <a:t>use touch </a:t>
            </a:r>
            <a:r>
              <a:rPr lang="en-US" dirty="0"/>
              <a:t>screen, etc., </a:t>
            </a:r>
          </a:p>
          <a:p>
            <a:r>
              <a:rPr lang="en-US" b="1" dirty="0">
                <a:solidFill>
                  <a:srgbClr val="C00000"/>
                </a:solidFill>
              </a:rPr>
              <a:t>Allow user interaction to be interruptible and undoable</a:t>
            </a:r>
          </a:p>
          <a:p>
            <a:pPr lvl="1"/>
            <a:r>
              <a:rPr lang="en-US" dirty="0"/>
              <a:t>When a user is doing a sequence of actions the user must be able to interrupt the sequence to </a:t>
            </a:r>
            <a:r>
              <a:rPr lang="en-US" dirty="0">
                <a:solidFill>
                  <a:srgbClr val="C00000"/>
                </a:solidFill>
              </a:rPr>
              <a:t>do some other work without losing the work that had been done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The user should also be able to do </a:t>
            </a:r>
            <a:r>
              <a:rPr lang="en-US" dirty="0">
                <a:solidFill>
                  <a:srgbClr val="C00000"/>
                </a:solidFill>
              </a:rPr>
              <a:t>an undo operation</a:t>
            </a:r>
            <a:r>
              <a:rPr lang="en-US" dirty="0"/>
              <a:t>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C2115D4-77BA-D899-5EE5-0C950866A26C}"/>
              </a:ext>
            </a:extLst>
          </p:cNvPr>
          <p:cNvSpPr txBox="1">
            <a:spLocks/>
          </p:cNvSpPr>
          <p:nvPr/>
        </p:nvSpPr>
        <p:spPr>
          <a:xfrm>
            <a:off x="131180" y="886079"/>
            <a:ext cx="11709764" cy="13047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During a requirements-gathering session for a major new information system, a key user was asked about.</a:t>
            </a:r>
          </a:p>
          <a:p>
            <a:pPr marL="0" indent="0">
              <a:buNone/>
            </a:pPr>
            <a:r>
              <a:rPr lang="en-US" b="1" i="1" dirty="0"/>
              <a:t>Following are the design principles that allow the user to maintain control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873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0970A-7C2F-1517-8BC6-EDA458DC6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Place the User in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62619E-706A-4810-AF75-BA838BF50A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Streamline interaction as skill level advances and allow the interaction to be customized</a:t>
            </a:r>
          </a:p>
          <a:p>
            <a:pPr lvl="1"/>
            <a:r>
              <a:rPr lang="en-US" dirty="0"/>
              <a:t>Advanced or highly skilled users should be provided a chance to customize the interface as user want which allows different interaction mechanisms so that the user doesn’t feel bored while using the same interaction mechanism.</a:t>
            </a:r>
            <a:endParaRPr lang="en-US" b="1" dirty="0">
              <a:solidFill>
                <a:srgbClr val="C00000"/>
              </a:solidFill>
            </a:endParaRPr>
          </a:p>
          <a:p>
            <a:r>
              <a:rPr lang="en-US" b="1" dirty="0">
                <a:solidFill>
                  <a:srgbClr val="C00000"/>
                </a:solidFill>
              </a:rPr>
              <a:t>Hide technical internals from casual users</a:t>
            </a:r>
          </a:p>
          <a:p>
            <a:pPr lvl="1"/>
            <a:r>
              <a:rPr lang="en-US" dirty="0"/>
              <a:t>The user should </a:t>
            </a:r>
            <a:r>
              <a:rPr lang="en-US" dirty="0">
                <a:solidFill>
                  <a:srgbClr val="C00000"/>
                </a:solidFill>
              </a:rPr>
              <a:t>not be aware of the internal technical details </a:t>
            </a:r>
            <a:r>
              <a:rPr lang="en-US" dirty="0"/>
              <a:t>of the system. He should interact with the interface just to do his work.</a:t>
            </a:r>
          </a:p>
          <a:p>
            <a:r>
              <a:rPr lang="en-US" b="1" dirty="0">
                <a:solidFill>
                  <a:srgbClr val="C00000"/>
                </a:solidFill>
              </a:rPr>
              <a:t>Design for direct interaction with objects that appear on-screen</a:t>
            </a:r>
          </a:p>
          <a:p>
            <a:pPr lvl="1"/>
            <a:r>
              <a:rPr lang="en-US" dirty="0"/>
              <a:t>The user should be </a:t>
            </a:r>
            <a:r>
              <a:rPr lang="en-US" dirty="0">
                <a:solidFill>
                  <a:srgbClr val="C00000"/>
                </a:solidFill>
              </a:rPr>
              <a:t>able to use the objects </a:t>
            </a:r>
            <a:r>
              <a:rPr lang="en-US" dirty="0"/>
              <a:t>and manipulate the objects that are present on the screen to </a:t>
            </a:r>
            <a:r>
              <a:rPr lang="en-US" dirty="0">
                <a:solidFill>
                  <a:srgbClr val="C00000"/>
                </a:solidFill>
              </a:rPr>
              <a:t>perform a necessary task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By this, the user feels easy to control over the screen.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2354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0970A-7C2F-1517-8BC6-EDA458DC6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Reduce the User’s Memory Load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62619E-706A-4810-AF75-BA838BF50A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2290549"/>
            <a:ext cx="11929641" cy="4163461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Reduce demand on short-term memory</a:t>
            </a:r>
          </a:p>
          <a:p>
            <a:pPr lvl="1"/>
            <a:r>
              <a:rPr lang="en-US" dirty="0"/>
              <a:t>When users are involved in some complex tasks the demand on </a:t>
            </a:r>
            <a:r>
              <a:rPr lang="en-US" dirty="0">
                <a:solidFill>
                  <a:srgbClr val="C00000"/>
                </a:solidFill>
              </a:rPr>
              <a:t>short-term memory is significant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So the interface </a:t>
            </a:r>
            <a:r>
              <a:rPr lang="en-US" dirty="0">
                <a:solidFill>
                  <a:srgbClr val="C00000"/>
                </a:solidFill>
              </a:rPr>
              <a:t>should be designed in such a way to reduce the remembering </a:t>
            </a:r>
            <a:r>
              <a:rPr lang="en-US" dirty="0"/>
              <a:t>of previously done actions, given inputs, and results.</a:t>
            </a:r>
          </a:p>
          <a:p>
            <a:r>
              <a:rPr lang="en-US" b="1" dirty="0">
                <a:solidFill>
                  <a:srgbClr val="C00000"/>
                </a:solidFill>
              </a:rPr>
              <a:t>Establish meaningful defaults</a:t>
            </a:r>
          </a:p>
          <a:p>
            <a:pPr lvl="1"/>
            <a:r>
              <a:rPr lang="en-US" dirty="0"/>
              <a:t>Always an initial set of defaults </a:t>
            </a:r>
            <a:r>
              <a:rPr lang="en-US" dirty="0">
                <a:solidFill>
                  <a:srgbClr val="C00000"/>
                </a:solidFill>
              </a:rPr>
              <a:t>should be provided to the average user</a:t>
            </a:r>
            <a:r>
              <a:rPr lang="en-US" dirty="0"/>
              <a:t>, if a user needs to add some new features then he should be able to add the required features.</a:t>
            </a:r>
          </a:p>
          <a:p>
            <a:r>
              <a:rPr lang="en-US" b="1" dirty="0">
                <a:solidFill>
                  <a:srgbClr val="C00000"/>
                </a:solidFill>
              </a:rPr>
              <a:t>Define shortcuts that are intuitive</a:t>
            </a:r>
            <a:r>
              <a:rPr lang="en-US" dirty="0"/>
              <a:t>(easy to understand)</a:t>
            </a:r>
          </a:p>
          <a:p>
            <a:pPr lvl="1"/>
            <a:r>
              <a:rPr lang="en-US" dirty="0"/>
              <a:t>Mnemonics(assisting) should be used by the user. Mnemonics means the </a:t>
            </a:r>
            <a:r>
              <a:rPr lang="en-US" dirty="0">
                <a:solidFill>
                  <a:srgbClr val="C00000"/>
                </a:solidFill>
              </a:rPr>
              <a:t>keyboard shortcuts </a:t>
            </a:r>
            <a:r>
              <a:rPr lang="en-US" dirty="0"/>
              <a:t>to do some action on the screen.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C2115D4-77BA-D899-5EE5-0C950866A26C}"/>
              </a:ext>
            </a:extLst>
          </p:cNvPr>
          <p:cNvSpPr txBox="1">
            <a:spLocks/>
          </p:cNvSpPr>
          <p:nvPr/>
        </p:nvSpPr>
        <p:spPr>
          <a:xfrm>
            <a:off x="131180" y="886079"/>
            <a:ext cx="11709764" cy="12295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more a user has to remember, the more error-prone</a:t>
            </a:r>
            <a:r>
              <a:rPr lang="en-US" dirty="0"/>
              <a:t> the interaction with the system will be.</a:t>
            </a:r>
          </a:p>
          <a:p>
            <a:pPr marL="0" indent="0">
              <a:buNone/>
            </a:pPr>
            <a:r>
              <a:rPr lang="en-US" b="1" i="1" dirty="0"/>
              <a:t>Following are the design principles that enable an interface to reduce the user’s memory load</a:t>
            </a:r>
          </a:p>
        </p:txBody>
      </p:sp>
    </p:spTree>
    <p:extLst>
      <p:ext uri="{BB962C8B-B14F-4D97-AF65-F5344CB8AC3E}">
        <p14:creationId xmlns:p14="http://schemas.microsoft.com/office/powerpoint/2010/main" val="759595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uiExpand="1" build="p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0970A-7C2F-1517-8BC6-EDA458DC6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Reduce the User’s Memory Load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62619E-706A-4810-AF75-BA838BF50A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The visual layout of the interface should be based on a real-world metaphor</a:t>
            </a:r>
          </a:p>
          <a:p>
            <a:pPr lvl="1"/>
            <a:r>
              <a:rPr lang="en-US" dirty="0"/>
              <a:t>Anything you represent on a screen if it is a </a:t>
            </a:r>
            <a:r>
              <a:rPr lang="en-US" dirty="0">
                <a:solidFill>
                  <a:srgbClr val="C00000"/>
                </a:solidFill>
              </a:rPr>
              <a:t>metaphor for a real-world </a:t>
            </a:r>
            <a:r>
              <a:rPr lang="en-US" dirty="0"/>
              <a:t>entity then users would easily understand.</a:t>
            </a:r>
          </a:p>
          <a:p>
            <a:r>
              <a:rPr lang="en-US" b="1" dirty="0">
                <a:solidFill>
                  <a:srgbClr val="C00000"/>
                </a:solidFill>
              </a:rPr>
              <a:t>Disclose information in a progressive fashion</a:t>
            </a:r>
          </a:p>
          <a:p>
            <a:pPr lvl="1"/>
            <a:r>
              <a:rPr lang="en-US" dirty="0"/>
              <a:t>The interface should be </a:t>
            </a:r>
            <a:r>
              <a:rPr lang="en-US" dirty="0">
                <a:solidFill>
                  <a:srgbClr val="C00000"/>
                </a:solidFill>
              </a:rPr>
              <a:t>organized hierarchically </a:t>
            </a:r>
            <a:r>
              <a:rPr lang="en-US" dirty="0"/>
              <a:t>i.e., on the main screen the information about the task, an object or some behavior should be presented first at a high level of abstraction. More detail should be presented after the user indicates interest with a mouse pick.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494EA6-63FC-2CB6-007C-1514C8DA9E2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232"/>
          <a:stretch/>
        </p:blipFill>
        <p:spPr>
          <a:xfrm>
            <a:off x="9865032" y="3166441"/>
            <a:ext cx="2195788" cy="2621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609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0970A-7C2F-1517-8BC6-EDA458DC6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Make the Interface Consistent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62619E-706A-4810-AF75-BA838BF50A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1847088"/>
            <a:ext cx="7814837" cy="4606921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Allow the user to put the current task into a meaningful context</a:t>
            </a:r>
          </a:p>
          <a:p>
            <a:pPr lvl="1"/>
            <a:r>
              <a:rPr lang="en-US" dirty="0"/>
              <a:t>Many interfaces have </a:t>
            </a:r>
            <a:r>
              <a:rPr lang="en-US" dirty="0">
                <a:solidFill>
                  <a:srgbClr val="C00000"/>
                </a:solidFill>
              </a:rPr>
              <a:t>dozens of screens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So it is </a:t>
            </a:r>
            <a:r>
              <a:rPr lang="en-US" dirty="0">
                <a:solidFill>
                  <a:srgbClr val="C00000"/>
                </a:solidFill>
              </a:rPr>
              <a:t>important to provide indicators </a:t>
            </a:r>
            <a:r>
              <a:rPr lang="en-US" dirty="0"/>
              <a:t>consistently so that the user know about the doing work. </a:t>
            </a:r>
          </a:p>
          <a:p>
            <a:pPr lvl="1"/>
            <a:r>
              <a:rPr lang="en-US" dirty="0"/>
              <a:t>The user should also know from which page has navigated to the current page and from the current page where it can navigate.</a:t>
            </a:r>
          </a:p>
          <a:p>
            <a:r>
              <a:rPr lang="en-US" b="1" dirty="0">
                <a:solidFill>
                  <a:srgbClr val="C00000"/>
                </a:solidFill>
              </a:rPr>
              <a:t>Maintain consistency across a family of applications</a:t>
            </a:r>
          </a:p>
          <a:p>
            <a:pPr lvl="1"/>
            <a:r>
              <a:rPr lang="en-US" dirty="0"/>
              <a:t>In The development of some </a:t>
            </a:r>
            <a:r>
              <a:rPr lang="en-US" dirty="0">
                <a:solidFill>
                  <a:srgbClr val="C00000"/>
                </a:solidFill>
              </a:rPr>
              <a:t>set of applications </a:t>
            </a:r>
            <a:r>
              <a:rPr lang="en-US" dirty="0"/>
              <a:t>all should follow and </a:t>
            </a:r>
            <a:r>
              <a:rPr lang="en-US" dirty="0">
                <a:solidFill>
                  <a:srgbClr val="C00000"/>
                </a:solidFill>
              </a:rPr>
              <a:t>implement the same design</a:t>
            </a:r>
            <a:r>
              <a:rPr lang="en-US" dirty="0"/>
              <a:t>, rules so that consistency is maintained among applications.</a:t>
            </a:r>
          </a:p>
          <a:p>
            <a:r>
              <a:rPr lang="en-US" dirty="0"/>
              <a:t>If past interactive models have </a:t>
            </a:r>
            <a:r>
              <a:rPr lang="en-US" b="1" dirty="0">
                <a:solidFill>
                  <a:srgbClr val="C00000"/>
                </a:solidFill>
              </a:rPr>
              <a:t>created user expectations </a:t>
            </a:r>
            <a:r>
              <a:rPr lang="en-US" dirty="0"/>
              <a:t>do </a:t>
            </a:r>
            <a:r>
              <a:rPr lang="en-US" b="1" dirty="0"/>
              <a:t>not make changes unless there is a compelling reason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5B68948-7429-8D4F-6164-EBCD2B8F76E6}"/>
              </a:ext>
            </a:extLst>
          </p:cNvPr>
          <p:cNvSpPr txBox="1">
            <a:spLocks/>
          </p:cNvSpPr>
          <p:nvPr/>
        </p:nvSpPr>
        <p:spPr>
          <a:xfrm>
            <a:off x="131180" y="795458"/>
            <a:ext cx="11929641" cy="13671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interface should </a:t>
            </a:r>
            <a:r>
              <a:rPr lang="en-US" b="1" dirty="0">
                <a:solidFill>
                  <a:srgbClr val="C00000"/>
                </a:solidFill>
              </a:rPr>
              <a:t>present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and acquire </a:t>
            </a:r>
            <a:r>
              <a:rPr lang="en-US" b="1" dirty="0">
                <a:solidFill>
                  <a:srgbClr val="C00000"/>
                </a:solidFill>
              </a:rPr>
              <a:t>information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in a </a:t>
            </a:r>
            <a:r>
              <a:rPr lang="en-US" b="1" dirty="0">
                <a:solidFill>
                  <a:srgbClr val="C00000"/>
                </a:solidFill>
              </a:rPr>
              <a:t>consistent fashion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i="1" dirty="0"/>
              <a:t>Following are the design principles that help make the interface consistent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85B8EF-0794-564E-07DF-49EA87A41E7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34" b="3656"/>
          <a:stretch/>
        </p:blipFill>
        <p:spPr>
          <a:xfrm>
            <a:off x="7946018" y="3285484"/>
            <a:ext cx="4114801" cy="22615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9ACA6C7-15AF-86DC-47F0-3EEFF53DDD3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6103"/>
          <a:stretch/>
        </p:blipFill>
        <p:spPr>
          <a:xfrm>
            <a:off x="8062130" y="2162639"/>
            <a:ext cx="3743325" cy="1122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981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build="p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User Interface Analysis and Design Models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4717142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User profile model </a:t>
            </a:r>
            <a:r>
              <a:rPr lang="en-US" dirty="0"/>
              <a:t>– Established by a software engineer</a:t>
            </a:r>
          </a:p>
          <a:p>
            <a:pPr lvl="1"/>
            <a:r>
              <a:rPr lang="en-US" dirty="0"/>
              <a:t>Establishes the profile of the end-users of the system </a:t>
            </a:r>
          </a:p>
          <a:p>
            <a:pPr lvl="1"/>
            <a:r>
              <a:rPr lang="en-US" dirty="0"/>
              <a:t>based on age, gender, physical abilities, education, cultural background, motivation, goals, and personality.</a:t>
            </a:r>
          </a:p>
          <a:p>
            <a:r>
              <a:rPr lang="en-US" b="1" dirty="0">
                <a:solidFill>
                  <a:srgbClr val="C00000"/>
                </a:solidFill>
              </a:rPr>
              <a:t>Design model </a:t>
            </a:r>
            <a:r>
              <a:rPr lang="en-US" dirty="0"/>
              <a:t>– Created by a software engineer</a:t>
            </a:r>
          </a:p>
          <a:p>
            <a:pPr lvl="1"/>
            <a:r>
              <a:rPr lang="en-US" dirty="0"/>
              <a:t>Derived from the analysis model of the requirements.</a:t>
            </a:r>
          </a:p>
          <a:p>
            <a:pPr lvl="1"/>
            <a:r>
              <a:rPr lang="en-US" dirty="0"/>
              <a:t>Incorporates data, architectural, interface, and procedural representations of the software.</a:t>
            </a:r>
          </a:p>
          <a:p>
            <a:r>
              <a:rPr lang="en-US" b="1" dirty="0">
                <a:solidFill>
                  <a:srgbClr val="C00000"/>
                </a:solidFill>
              </a:rPr>
              <a:t>Implementation model</a:t>
            </a:r>
            <a:r>
              <a:rPr lang="en-US" dirty="0"/>
              <a:t> – Created by the software implementers</a:t>
            </a:r>
          </a:p>
          <a:p>
            <a:pPr lvl="1"/>
            <a:r>
              <a:rPr lang="en-US" dirty="0"/>
              <a:t>Consists of the look and feel of the interface combined with all supporting information (books, videos, help files) that describe system syntax and semantics.</a:t>
            </a:r>
          </a:p>
          <a:p>
            <a:r>
              <a:rPr lang="en-US" b="1" dirty="0">
                <a:solidFill>
                  <a:srgbClr val="C00000"/>
                </a:solidFill>
              </a:rPr>
              <a:t>User's mental model</a:t>
            </a:r>
            <a:r>
              <a:rPr lang="en-US" dirty="0"/>
              <a:t> – Developed by the user when interacting with the application</a:t>
            </a:r>
          </a:p>
          <a:p>
            <a:pPr lvl="1"/>
            <a:r>
              <a:rPr lang="en-US" dirty="0"/>
              <a:t>Often called the user's system perception. </a:t>
            </a:r>
          </a:p>
          <a:p>
            <a:pPr lvl="1"/>
            <a:r>
              <a:rPr lang="en-US" dirty="0"/>
              <a:t>Consists of the image of the system; that users carry in their heads.</a:t>
            </a:r>
          </a:p>
          <a:p>
            <a:endParaRPr lang="en-US" dirty="0"/>
          </a:p>
        </p:txBody>
      </p:sp>
      <p:sp>
        <p:nvSpPr>
          <p:cNvPr id="4" name="Rounded Rectangular Callout 3"/>
          <p:cNvSpPr/>
          <p:nvPr/>
        </p:nvSpPr>
        <p:spPr>
          <a:xfrm>
            <a:off x="391886" y="5580586"/>
            <a:ext cx="9927771" cy="830942"/>
          </a:xfrm>
          <a:prstGeom prst="wedgeRoundRectCallout">
            <a:avLst>
              <a:gd name="adj1" fmla="val 54280"/>
              <a:gd name="adj2" fmla="val -6355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The </a:t>
            </a:r>
            <a:r>
              <a:rPr lang="en-US" sz="2400" b="1" dirty="0">
                <a:solidFill>
                  <a:srgbClr val="C00000"/>
                </a:solidFill>
              </a:rPr>
              <a:t>role of the interface designer</a:t>
            </a:r>
            <a:r>
              <a:rPr lang="en-US" sz="2400" dirty="0"/>
              <a:t> is to merge these differences and derive a consistent representation of the interface.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4341" y="5185070"/>
            <a:ext cx="1226458" cy="1226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294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Web Application Design	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3285948" y="967919"/>
            <a:ext cx="8586738" cy="875395"/>
          </a:xfrm>
        </p:spPr>
        <p:txBody>
          <a:bodyPr/>
          <a:lstStyle/>
          <a:p>
            <a:r>
              <a:rPr lang="en-US" dirty="0"/>
              <a:t>Design for </a:t>
            </a:r>
            <a:r>
              <a:rPr lang="en-US" dirty="0" err="1"/>
              <a:t>WebApp</a:t>
            </a:r>
            <a:r>
              <a:rPr lang="en-US" dirty="0"/>
              <a:t> encompasses technical and nontechnical activities that include: </a:t>
            </a:r>
          </a:p>
        </p:txBody>
      </p:sp>
      <p:cxnSp>
        <p:nvCxnSpPr>
          <p:cNvPr id="23" name="Straight Connector 22"/>
          <p:cNvCxnSpPr/>
          <p:nvPr/>
        </p:nvCxnSpPr>
        <p:spPr>
          <a:xfrm>
            <a:off x="3116945" y="711201"/>
            <a:ext cx="0" cy="5892799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941" y="967919"/>
            <a:ext cx="2451064" cy="245106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443" y="3742618"/>
            <a:ext cx="2395125" cy="239512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525518" y="1869199"/>
            <a:ext cx="8347167" cy="461665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Establishing the look and feel </a:t>
            </a:r>
            <a:r>
              <a:rPr lang="en-US" sz="2400" dirty="0"/>
              <a:t>of the </a:t>
            </a:r>
            <a:r>
              <a:rPr lang="en-US" sz="2400" dirty="0" err="1"/>
              <a:t>WebApp</a:t>
            </a:r>
            <a:endParaRPr lang="en-US" sz="2400" dirty="0"/>
          </a:p>
        </p:txBody>
      </p:sp>
      <p:sp>
        <p:nvSpPr>
          <p:cNvPr id="11" name="Rectangle 10"/>
          <p:cNvSpPr/>
          <p:nvPr/>
        </p:nvSpPr>
        <p:spPr>
          <a:xfrm>
            <a:off x="3525518" y="2436628"/>
            <a:ext cx="8347167" cy="461665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Defining the </a:t>
            </a:r>
            <a:r>
              <a:rPr lang="en-US" sz="2400" b="1" dirty="0">
                <a:solidFill>
                  <a:srgbClr val="C00000"/>
                </a:solidFill>
              </a:rPr>
              <a:t>overall architectural structure</a:t>
            </a:r>
            <a:endParaRPr lang="en-US" sz="2400" dirty="0"/>
          </a:p>
        </p:txBody>
      </p:sp>
      <p:sp>
        <p:nvSpPr>
          <p:cNvPr id="15" name="Rectangle 14"/>
          <p:cNvSpPr/>
          <p:nvPr/>
        </p:nvSpPr>
        <p:spPr>
          <a:xfrm>
            <a:off x="3525518" y="3004057"/>
            <a:ext cx="8347167" cy="830997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Developing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the </a:t>
            </a:r>
            <a:r>
              <a:rPr lang="en-US" sz="2400" b="1" dirty="0">
                <a:solidFill>
                  <a:srgbClr val="C00000"/>
                </a:solidFill>
              </a:rPr>
              <a:t>content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and </a:t>
            </a:r>
            <a:r>
              <a:rPr lang="en-US" sz="2400" b="1" dirty="0">
                <a:solidFill>
                  <a:srgbClr val="C00000"/>
                </a:solidFill>
              </a:rPr>
              <a:t>functionality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that reside within the architecture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25518" y="3940818"/>
            <a:ext cx="8347167" cy="461665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Planning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the </a:t>
            </a:r>
            <a:r>
              <a:rPr lang="en-US" sz="2400" b="1" dirty="0">
                <a:solidFill>
                  <a:srgbClr val="C00000"/>
                </a:solidFill>
              </a:rPr>
              <a:t>navigation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that occurs within the </a:t>
            </a:r>
            <a:r>
              <a:rPr lang="en-US" sz="2400" dirty="0" err="1"/>
              <a:t>WebApp</a:t>
            </a:r>
            <a:endParaRPr lang="en-US" sz="2400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1085" y="4508247"/>
            <a:ext cx="1371600" cy="137160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2753" y="4669396"/>
            <a:ext cx="1163527" cy="1163527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0457" y="4618715"/>
            <a:ext cx="2065543" cy="1366203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3294" y="4669397"/>
            <a:ext cx="1163527" cy="1163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935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5" grpId="0" animBg="1"/>
      <p:bldP spid="16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App Interface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758" y="857888"/>
            <a:ext cx="609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The objectives of a </a:t>
            </a:r>
            <a:r>
              <a:rPr lang="en-US" sz="2400" dirty="0" err="1"/>
              <a:t>WebApp</a:t>
            </a:r>
            <a:r>
              <a:rPr lang="en-US" sz="2400" dirty="0"/>
              <a:t> interface are to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8165" y="1225621"/>
            <a:ext cx="4133685" cy="42136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/>
          <p:nvPr/>
        </p:nvSpPr>
        <p:spPr>
          <a:xfrm>
            <a:off x="6722295" y="715020"/>
            <a:ext cx="5469705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b="1" dirty="0"/>
              <a:t>Design pyramid for </a:t>
            </a:r>
            <a:r>
              <a:rPr lang="en-US" sz="2400" b="1" dirty="0" err="1"/>
              <a:t>WebApps</a:t>
            </a:r>
            <a:endParaRPr lang="en-US" sz="2400" b="1" dirty="0"/>
          </a:p>
        </p:txBody>
      </p:sp>
      <p:sp>
        <p:nvSpPr>
          <p:cNvPr id="7" name="Rectangle 6"/>
          <p:cNvSpPr/>
          <p:nvPr/>
        </p:nvSpPr>
        <p:spPr>
          <a:xfrm>
            <a:off x="457527" y="1465334"/>
            <a:ext cx="6096000" cy="830997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US" sz="2400" dirty="0"/>
              <a:t>Establish a </a:t>
            </a:r>
            <a:r>
              <a:rPr lang="en-US" sz="2400" b="1" dirty="0">
                <a:solidFill>
                  <a:srgbClr val="C00000"/>
                </a:solidFill>
              </a:rPr>
              <a:t>consistent window</a:t>
            </a:r>
            <a:r>
              <a:rPr lang="en-US" sz="2400" dirty="0"/>
              <a:t> into the </a:t>
            </a:r>
            <a:r>
              <a:rPr lang="en-US" sz="2400" b="1" dirty="0">
                <a:solidFill>
                  <a:srgbClr val="C00000"/>
                </a:solidFill>
              </a:rPr>
              <a:t>content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and </a:t>
            </a:r>
            <a:r>
              <a:rPr lang="en-US" sz="2400" b="1" dirty="0">
                <a:solidFill>
                  <a:srgbClr val="C00000"/>
                </a:solidFill>
              </a:rPr>
              <a:t>functionality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provided by the interface.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527" y="2501463"/>
            <a:ext cx="6096000" cy="830997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Guide the user</a:t>
            </a:r>
            <a:r>
              <a:rPr lang="en-US" sz="2400" dirty="0"/>
              <a:t> through a series of interactions with the </a:t>
            </a:r>
            <a:r>
              <a:rPr lang="en-US" sz="2400" dirty="0" err="1"/>
              <a:t>WebApp</a:t>
            </a:r>
            <a:r>
              <a:rPr lang="en-US" sz="2400" dirty="0"/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527" y="3581399"/>
            <a:ext cx="6096000" cy="830997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Organize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the </a:t>
            </a:r>
            <a:r>
              <a:rPr lang="en-US" sz="2400" b="1" dirty="0">
                <a:solidFill>
                  <a:srgbClr val="C00000"/>
                </a:solidFill>
              </a:rPr>
              <a:t>navigation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b="1" dirty="0">
                <a:solidFill>
                  <a:srgbClr val="C00000"/>
                </a:solidFill>
              </a:rPr>
              <a:t>options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and </a:t>
            </a:r>
            <a:r>
              <a:rPr lang="en-US" sz="2400" b="1" dirty="0">
                <a:solidFill>
                  <a:srgbClr val="C00000"/>
                </a:solidFill>
              </a:rPr>
              <a:t>content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available to the user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6722295" y="711201"/>
            <a:ext cx="0" cy="4413249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369358" y="5602535"/>
            <a:ext cx="8965142" cy="947317"/>
          </a:xfrm>
        </p:spPr>
        <p:txBody>
          <a:bodyPr/>
          <a:lstStyle/>
          <a:p>
            <a:r>
              <a:rPr lang="en-US" dirty="0"/>
              <a:t>One of the challenges of interface design for </a:t>
            </a:r>
            <a:r>
              <a:rPr lang="en-US" dirty="0" err="1"/>
              <a:t>WebApps</a:t>
            </a:r>
            <a:r>
              <a:rPr lang="en-US" dirty="0"/>
              <a:t> is the </a:t>
            </a:r>
            <a:r>
              <a:rPr lang="en-US" b="1" dirty="0">
                <a:solidFill>
                  <a:srgbClr val="C00000"/>
                </a:solidFill>
              </a:rPr>
              <a:t>nature of the user’s entry point.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323623" y="5019459"/>
            <a:ext cx="2853146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Interface Design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2463550" y="5481124"/>
            <a:ext cx="9609025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5157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3" grpId="0" build="p"/>
      <p:bldP spid="14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pyramid for </a:t>
            </a:r>
            <a:r>
              <a:rPr lang="en-US" dirty="0" err="1"/>
              <a:t>WebApps</a:t>
            </a:r>
            <a:r>
              <a:rPr lang="en-US" dirty="0"/>
              <a:t> Cont.</a:t>
            </a:r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168900" y="1460316"/>
            <a:ext cx="3947462" cy="17491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dirty="0"/>
              <a:t>Also called </a:t>
            </a:r>
            <a:r>
              <a:rPr lang="en-US" sz="2200" b="1" dirty="0">
                <a:solidFill>
                  <a:srgbClr val="C00000"/>
                </a:solidFill>
              </a:rPr>
              <a:t>graphic design</a:t>
            </a:r>
            <a:r>
              <a:rPr lang="en-US" sz="2200" dirty="0"/>
              <a:t>, is an </a:t>
            </a:r>
            <a:r>
              <a:rPr lang="en-US" sz="2200" b="1" dirty="0">
                <a:solidFill>
                  <a:srgbClr val="C00000"/>
                </a:solidFill>
              </a:rPr>
              <a:t>artistic endeavor</a:t>
            </a:r>
            <a:r>
              <a:rPr lang="en-US" sz="2200" dirty="0"/>
              <a:t> </a:t>
            </a:r>
            <a:r>
              <a:rPr lang="en-US" sz="2200" dirty="0" err="1"/>
              <a:t>sthat</a:t>
            </a:r>
            <a:r>
              <a:rPr lang="en-US" sz="2200" dirty="0"/>
              <a:t> </a:t>
            </a:r>
            <a:r>
              <a:rPr lang="en-US" sz="2200" b="1" dirty="0">
                <a:solidFill>
                  <a:srgbClr val="C00000"/>
                </a:solidFill>
              </a:rPr>
              <a:t>complements the technical aspects </a:t>
            </a:r>
            <a:r>
              <a:rPr lang="en-US" sz="2200" dirty="0"/>
              <a:t>of WebApp design.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8899" y="921327"/>
            <a:ext cx="2853146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Aesthetic Design</a:t>
            </a:r>
          </a:p>
        </p:txBody>
      </p:sp>
      <p:cxnSp>
        <p:nvCxnSpPr>
          <p:cNvPr id="18" name="Straight Connector 17"/>
          <p:cNvCxnSpPr/>
          <p:nvPr/>
        </p:nvCxnSpPr>
        <p:spPr>
          <a:xfrm>
            <a:off x="2308826" y="1382992"/>
            <a:ext cx="1615474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9" name="Content Placeholder 2"/>
          <p:cNvSpPr txBox="1">
            <a:spLocks/>
          </p:cNvSpPr>
          <p:nvPr/>
        </p:nvSpPr>
        <p:spPr>
          <a:xfrm>
            <a:off x="4398860" y="1445076"/>
            <a:ext cx="3561903" cy="15664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b="1" dirty="0">
                <a:solidFill>
                  <a:srgbClr val="C00000"/>
                </a:solidFill>
              </a:rPr>
              <a:t>Generate content and design </a:t>
            </a:r>
            <a:r>
              <a:rPr lang="en-US" sz="2200" dirty="0"/>
              <a:t>the representation for content to be used within a </a:t>
            </a:r>
            <a:r>
              <a:rPr lang="en-US" sz="2200" dirty="0" err="1"/>
              <a:t>WebApp</a:t>
            </a:r>
            <a:r>
              <a:rPr lang="en-US" sz="2200" dirty="0"/>
              <a:t>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5593" y="919150"/>
            <a:ext cx="2853147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Content Design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6614421" y="1380815"/>
            <a:ext cx="1294607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2" name="Content Placeholder 2"/>
          <p:cNvSpPr txBox="1">
            <a:spLocks/>
          </p:cNvSpPr>
          <p:nvPr/>
        </p:nvSpPr>
        <p:spPr>
          <a:xfrm>
            <a:off x="8235626" y="1409598"/>
            <a:ext cx="3796897" cy="11678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dirty="0"/>
              <a:t>It represent the overall hypermedia structure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35626" y="842581"/>
            <a:ext cx="2830330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Architecture Design</a:t>
            </a:r>
          </a:p>
        </p:txBody>
      </p:sp>
      <p:cxnSp>
        <p:nvCxnSpPr>
          <p:cNvPr id="24" name="Straight Connector 23"/>
          <p:cNvCxnSpPr/>
          <p:nvPr/>
        </p:nvCxnSpPr>
        <p:spPr>
          <a:xfrm>
            <a:off x="10352735" y="1304246"/>
            <a:ext cx="1679788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8" name="Content Placeholder 2"/>
          <p:cNvSpPr txBox="1">
            <a:spLocks/>
          </p:cNvSpPr>
          <p:nvPr/>
        </p:nvSpPr>
        <p:spPr>
          <a:xfrm>
            <a:off x="8311826" y="3907309"/>
            <a:ext cx="3720697" cy="24934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Represents the navigational </a:t>
            </a:r>
            <a:r>
              <a:rPr lang="en-US" b="1" dirty="0">
                <a:solidFill>
                  <a:srgbClr val="C00000"/>
                </a:solidFill>
              </a:rPr>
              <a:t>flow</a:t>
            </a:r>
            <a:r>
              <a:rPr lang="en-US" b="1" dirty="0"/>
              <a:t> </a:t>
            </a:r>
            <a:r>
              <a:rPr lang="en-US" b="1" dirty="0">
                <a:solidFill>
                  <a:srgbClr val="C00000"/>
                </a:solidFill>
              </a:rPr>
              <a:t>between</a:t>
            </a:r>
            <a:r>
              <a:rPr lang="en-US" b="1" dirty="0"/>
              <a:t> </a:t>
            </a:r>
            <a:r>
              <a:rPr lang="en-US" b="1" dirty="0">
                <a:solidFill>
                  <a:srgbClr val="C00000"/>
                </a:solidFill>
              </a:rPr>
              <a:t>content</a:t>
            </a:r>
            <a:r>
              <a:rPr lang="en-US" b="1" dirty="0"/>
              <a:t> </a:t>
            </a:r>
            <a:r>
              <a:rPr lang="en-US" b="1" dirty="0">
                <a:solidFill>
                  <a:srgbClr val="C00000"/>
                </a:solidFill>
              </a:rPr>
              <a:t>objects</a:t>
            </a:r>
            <a:r>
              <a:rPr lang="en-US" b="1" dirty="0"/>
              <a:t> </a:t>
            </a:r>
            <a:r>
              <a:rPr lang="en-US" dirty="0"/>
              <a:t>and for all WebApp functions. It describes </a:t>
            </a:r>
            <a:r>
              <a:rPr lang="en-US" b="1" dirty="0">
                <a:solidFill>
                  <a:srgbClr val="C00000"/>
                </a:solidFill>
              </a:rPr>
              <a:t>how</a:t>
            </a:r>
            <a:r>
              <a:rPr lang="en-US" dirty="0"/>
              <a:t> the </a:t>
            </a:r>
            <a:r>
              <a:rPr lang="en-US" b="1" dirty="0">
                <a:solidFill>
                  <a:srgbClr val="C00000"/>
                </a:solidFill>
              </a:rPr>
              <a:t>user</a:t>
            </a:r>
            <a:r>
              <a:rPr lang="en-US" b="1" dirty="0"/>
              <a:t> </a:t>
            </a:r>
            <a:r>
              <a:rPr lang="en-US" b="1" dirty="0">
                <a:solidFill>
                  <a:srgbClr val="C00000"/>
                </a:solidFill>
              </a:rPr>
              <a:t>locates</a:t>
            </a:r>
            <a:r>
              <a:rPr lang="en-US" b="1" dirty="0"/>
              <a:t> </a:t>
            </a:r>
            <a:r>
              <a:rPr lang="en-US" dirty="0"/>
              <a:t>and </a:t>
            </a:r>
            <a:r>
              <a:rPr lang="en-US" b="1" dirty="0">
                <a:solidFill>
                  <a:srgbClr val="C00000"/>
                </a:solidFill>
              </a:rPr>
              <a:t>interacts with the content</a:t>
            </a:r>
            <a:r>
              <a:rPr lang="en-US" b="1" dirty="0"/>
              <a:t>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01092" y="3307198"/>
            <a:ext cx="2853146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Navigation Design</a:t>
            </a:r>
          </a:p>
        </p:txBody>
      </p:sp>
      <p:cxnSp>
        <p:nvCxnSpPr>
          <p:cNvPr id="30" name="Straight Connector 29"/>
          <p:cNvCxnSpPr/>
          <p:nvPr/>
        </p:nvCxnSpPr>
        <p:spPr>
          <a:xfrm>
            <a:off x="10441019" y="3768863"/>
            <a:ext cx="1591504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31" name="Content Placeholder 2"/>
          <p:cNvSpPr txBox="1">
            <a:spLocks/>
          </p:cNvSpPr>
          <p:nvPr/>
        </p:nvSpPr>
        <p:spPr>
          <a:xfrm>
            <a:off x="168899" y="3774680"/>
            <a:ext cx="7755730" cy="4759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900" dirty="0"/>
              <a:t>Modern </a:t>
            </a:r>
            <a:r>
              <a:rPr lang="en-US" sz="1900" dirty="0" err="1"/>
              <a:t>WebApps</a:t>
            </a:r>
            <a:r>
              <a:rPr lang="en-US" sz="1900" dirty="0"/>
              <a:t> deliver increasingly sophisticated processing functions that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8899" y="3261680"/>
            <a:ext cx="3382331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Component-Level Design</a:t>
            </a:r>
          </a:p>
        </p:txBody>
      </p:sp>
      <p:cxnSp>
        <p:nvCxnSpPr>
          <p:cNvPr id="33" name="Straight Connector 32"/>
          <p:cNvCxnSpPr/>
          <p:nvPr/>
        </p:nvCxnSpPr>
        <p:spPr>
          <a:xfrm>
            <a:off x="2341862" y="3723345"/>
            <a:ext cx="5605583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68899" y="4176643"/>
            <a:ext cx="7778546" cy="707886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Perform localized processing </a:t>
            </a:r>
            <a:r>
              <a:rPr lang="en-US" sz="2000" dirty="0"/>
              <a:t>to generate content and navigation capability in a dynamic fashion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8899" y="4949492"/>
            <a:ext cx="7778546" cy="707886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/>
              <a:t>Provide </a:t>
            </a:r>
            <a:r>
              <a:rPr lang="en-US" sz="2000" b="1" dirty="0">
                <a:solidFill>
                  <a:srgbClr val="C00000"/>
                </a:solidFill>
              </a:rPr>
              <a:t>computation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/>
              <a:t>or </a:t>
            </a:r>
            <a:r>
              <a:rPr lang="en-US" sz="2000" b="1" dirty="0">
                <a:solidFill>
                  <a:srgbClr val="C00000"/>
                </a:solidFill>
              </a:rPr>
              <a:t>data processing capability</a:t>
            </a:r>
            <a:r>
              <a:rPr lang="en-US" sz="2000" dirty="0"/>
              <a:t> that are appropriate for the </a:t>
            </a:r>
            <a:r>
              <a:rPr lang="en-US" sz="2000" dirty="0" err="1"/>
              <a:t>WebApp’s</a:t>
            </a:r>
            <a:r>
              <a:rPr lang="en-US" sz="2000" dirty="0"/>
              <a:t> business domain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68899" y="5722341"/>
            <a:ext cx="7778546" cy="400110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/>
              <a:t>Provide </a:t>
            </a:r>
            <a:r>
              <a:rPr lang="en-US" sz="2000" b="1" dirty="0">
                <a:solidFill>
                  <a:srgbClr val="C00000"/>
                </a:solidFill>
              </a:rPr>
              <a:t>sophisticated database query</a:t>
            </a:r>
            <a:r>
              <a:rPr lang="en-US" sz="2000" dirty="0"/>
              <a:t> and access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68899" y="6187414"/>
            <a:ext cx="7755730" cy="369332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Establish </a:t>
            </a:r>
            <a:r>
              <a:rPr lang="en-US" b="1" dirty="0">
                <a:solidFill>
                  <a:srgbClr val="C00000"/>
                </a:solidFill>
              </a:rPr>
              <a:t>data interfaces with external corporate</a:t>
            </a:r>
            <a:r>
              <a:rPr lang="en-US" dirty="0"/>
              <a:t> systems</a:t>
            </a:r>
          </a:p>
        </p:txBody>
      </p:sp>
      <p:cxnSp>
        <p:nvCxnSpPr>
          <p:cNvPr id="42" name="Straight Connector 41"/>
          <p:cNvCxnSpPr/>
          <p:nvPr/>
        </p:nvCxnSpPr>
        <p:spPr>
          <a:xfrm>
            <a:off x="168899" y="3123581"/>
            <a:ext cx="11715023" cy="0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4162348" y="919150"/>
            <a:ext cx="0" cy="220443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>
            <a:off x="8130927" y="919150"/>
            <a:ext cx="0" cy="537986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2708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/>
      <p:bldP spid="17" grpId="0" animBg="1"/>
      <p:bldP spid="19" grpId="0" build="p"/>
      <p:bldP spid="20" grpId="0" animBg="1"/>
      <p:bldP spid="22" grpId="0" build="p"/>
      <p:bldP spid="23" grpId="0" animBg="1"/>
      <p:bldP spid="28" grpId="0" build="p"/>
      <p:bldP spid="29" grpId="0" animBg="1"/>
      <p:bldP spid="31" grpId="0" build="p"/>
      <p:bldP spid="32" grpId="0" animBg="1"/>
      <p:bldP spid="14" grpId="0" animBg="1"/>
      <p:bldP spid="15" grpId="0" animBg="1"/>
      <p:bldP spid="37" grpId="0" animBg="1"/>
      <p:bldP spid="39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67081-C95C-863E-D6AD-814BCFA38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Question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6CF6ADA-18AE-2517-3DFF-C5B97D0A8BE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31763" y="761344"/>
          <a:ext cx="11928474" cy="499408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719884">
                  <a:extLst>
                    <a:ext uri="{9D8B030D-6E8A-4147-A177-3AD203B41FA5}">
                      <a16:colId xmlns:a16="http://schemas.microsoft.com/office/drawing/2014/main" val="3971395680"/>
                    </a:ext>
                  </a:extLst>
                </a:gridCol>
                <a:gridCol w="11208590">
                  <a:extLst>
                    <a:ext uri="{9D8B030D-6E8A-4147-A177-3AD203B41FA5}">
                      <a16:colId xmlns:a16="http://schemas.microsoft.com/office/drawing/2014/main" val="17479501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400" dirty="0"/>
                        <a:t>Sr. 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Title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90964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</a:rPr>
                        <a:t>Explain Requirement Engineering Tasks.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</a:rPr>
                        <a:t>OR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</a:rPr>
                        <a:t>Write a short note on Requirement Engineering.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73627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kern="1200" dirty="0">
                          <a:solidFill>
                            <a:schemeClr val="dk1"/>
                          </a:solidFill>
                        </a:rPr>
                        <a:t>Write functional and non-functional requirements of Hotel Management System</a:t>
                      </a:r>
                    </a:p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kern="1200" dirty="0">
                          <a:solidFill>
                            <a:schemeClr val="dk1"/>
                          </a:solidFill>
                        </a:rPr>
                        <a:t>OR</a:t>
                      </a:r>
                    </a:p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kern="1200" dirty="0">
                          <a:solidFill>
                            <a:schemeClr val="dk1"/>
                          </a:solidFill>
                        </a:rPr>
                        <a:t>List five functional requirement of Library management System.</a:t>
                      </a:r>
                      <a:endParaRPr lang="en-IN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4765" marR="24765" marT="24765" marB="24765"/>
                </a:tc>
                <a:extLst>
                  <a:ext uri="{0D108BD9-81ED-4DB2-BD59-A6C34878D82A}">
                    <a16:rowId xmlns:a16="http://schemas.microsoft.com/office/drawing/2014/main" val="41088559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kern="1200" dirty="0">
                          <a:solidFill>
                            <a:schemeClr val="dk1"/>
                          </a:solidFill>
                        </a:rPr>
                        <a:t>Enlist characteristic of SRS. Write a SRS for Hospital management system</a:t>
                      </a:r>
                      <a:endParaRPr lang="en-IN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56190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kern="1200" dirty="0">
                          <a:solidFill>
                            <a:schemeClr val="dk1"/>
                          </a:solidFill>
                        </a:rPr>
                        <a:t>State the difference between procedural Design and Object-Oriented Design.</a:t>
                      </a:r>
                      <a:endParaRPr lang="en-IN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4765" marR="24765" marT="24765" marB="24765"/>
                </a:tc>
                <a:extLst>
                  <a:ext uri="{0D108BD9-81ED-4DB2-BD59-A6C34878D82A}">
                    <a16:rowId xmlns:a16="http://schemas.microsoft.com/office/drawing/2014/main" val="33808749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kern="1200" dirty="0">
                          <a:solidFill>
                            <a:schemeClr val="dk1"/>
                          </a:solidFill>
                        </a:rPr>
                        <a:t>Explain Quality Function Deployment (QFD).</a:t>
                      </a:r>
                      <a:endParaRPr lang="en-IN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4765" marR="24765" marT="24765" marB="24765"/>
                </a:tc>
                <a:extLst>
                  <a:ext uri="{0D108BD9-81ED-4DB2-BD59-A6C34878D82A}">
                    <a16:rowId xmlns:a16="http://schemas.microsoft.com/office/drawing/2014/main" val="11357158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kern="1200" dirty="0">
                          <a:solidFill>
                            <a:schemeClr val="dk1"/>
                          </a:solidFill>
                        </a:rPr>
                        <a:t>List and explain Characteristics of a Good SRS.</a:t>
                      </a:r>
                      <a:endParaRPr lang="en-IN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4765" marR="24765" marT="24765" marB="24765"/>
                </a:tc>
                <a:extLst>
                  <a:ext uri="{0D108BD9-81ED-4DB2-BD59-A6C34878D82A}">
                    <a16:rowId xmlns:a16="http://schemas.microsoft.com/office/drawing/2014/main" val="24276760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kern="1200" dirty="0">
                          <a:solidFill>
                            <a:schemeClr val="dk1"/>
                          </a:solidFill>
                        </a:rPr>
                        <a:t>What is the work product of software design process and who does this?</a:t>
                      </a:r>
                      <a:endParaRPr lang="en-IN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4765" marR="24765" marT="24765" marB="24765"/>
                </a:tc>
                <a:extLst>
                  <a:ext uri="{0D108BD9-81ED-4DB2-BD59-A6C34878D82A}">
                    <a16:rowId xmlns:a16="http://schemas.microsoft.com/office/drawing/2014/main" val="13626419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kern="1200" dirty="0">
                          <a:solidFill>
                            <a:schemeClr val="dk1"/>
                          </a:solidFill>
                        </a:rPr>
                        <a:t>How requirements are classified? list them with an example for each</a:t>
                      </a:r>
                      <a:endParaRPr lang="en-IN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4765" marR="24765" marT="24765" marB="24765"/>
                </a:tc>
                <a:extLst>
                  <a:ext uri="{0D108BD9-81ED-4DB2-BD59-A6C34878D82A}">
                    <a16:rowId xmlns:a16="http://schemas.microsoft.com/office/drawing/2014/main" val="39614301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</a:rPr>
                        <a:t>What is activity diagram and Swim-lane? Draw activity diagram for book issue in library management.</a:t>
                      </a:r>
                      <a:endParaRPr lang="en-IN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4765" marR="24765" marT="24765" marB="24765"/>
                </a:tc>
                <a:extLst>
                  <a:ext uri="{0D108BD9-81ED-4DB2-BD59-A6C34878D82A}">
                    <a16:rowId xmlns:a16="http://schemas.microsoft.com/office/drawing/2014/main" val="34756195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</a:rPr>
                        <a:t>Give a use case diagram for an online shopping which should provide  provisions for registering authenticating the customers</a:t>
                      </a:r>
                      <a:endParaRPr lang="en-IN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4765" marR="24765" marT="24765" marB="24765"/>
                </a:tc>
                <a:extLst>
                  <a:ext uri="{0D108BD9-81ED-4DB2-BD59-A6C34878D82A}">
                    <a16:rowId xmlns:a16="http://schemas.microsoft.com/office/drawing/2014/main" val="26901773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805656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67081-C95C-863E-D6AD-814BCFA38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Question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6CF6ADA-18AE-2517-3DFF-C5B97D0A8BE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31763" y="761344"/>
          <a:ext cx="11931220" cy="29667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722630">
                  <a:extLst>
                    <a:ext uri="{9D8B030D-6E8A-4147-A177-3AD203B41FA5}">
                      <a16:colId xmlns:a16="http://schemas.microsoft.com/office/drawing/2014/main" val="3971395680"/>
                    </a:ext>
                  </a:extLst>
                </a:gridCol>
                <a:gridCol w="11208590">
                  <a:extLst>
                    <a:ext uri="{9D8B030D-6E8A-4147-A177-3AD203B41FA5}">
                      <a16:colId xmlns:a16="http://schemas.microsoft.com/office/drawing/2014/main" val="17479501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400" dirty="0"/>
                        <a:t>Sr. 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Title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90964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Differentiate Procedural Design and Object Oriented Design</a:t>
                      </a:r>
                      <a:endParaRPr lang="en-IN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4765" marR="24765" marT="24765" marB="24765"/>
                </a:tc>
                <a:extLst>
                  <a:ext uri="{0D108BD9-81ED-4DB2-BD59-A6C34878D82A}">
                    <a16:rowId xmlns:a16="http://schemas.microsoft.com/office/drawing/2014/main" val="4857043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What is Architectural Design? Enlist different styles and patterns of architecture.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73627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What is Object Oriented Design of a system? Draw the Use case diagram and Class diagram for Library Management system.</a:t>
                      </a:r>
                    </a:p>
                  </a:txBody>
                  <a:tcPr marL="24765" marR="24765" marT="24765" marB="24765"/>
                </a:tc>
                <a:extLst>
                  <a:ext uri="{0D108BD9-81ED-4DB2-BD59-A6C34878D82A}">
                    <a16:rowId xmlns:a16="http://schemas.microsoft.com/office/drawing/2014/main" val="41088559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Describe Golden Rules of User Interface Design</a:t>
                      </a:r>
                    </a:p>
                  </a:txBody>
                  <a:tcPr marL="24765" marR="24765" marT="24765" marB="24765"/>
                </a:tc>
                <a:extLst>
                  <a:ext uri="{0D108BD9-81ED-4DB2-BD59-A6C34878D82A}">
                    <a16:rowId xmlns:a16="http://schemas.microsoft.com/office/drawing/2014/main" val="4756190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Explain Design pyramid for </a:t>
                      </a:r>
                      <a:r>
                        <a:rPr lang="en-IN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WebApps</a:t>
                      </a:r>
                      <a:endParaRPr lang="en-IN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4765" marR="24765" marT="24765" marB="24765"/>
                </a:tc>
                <a:extLst>
                  <a:ext uri="{0D108BD9-81ED-4DB2-BD59-A6C34878D82A}">
                    <a16:rowId xmlns:a16="http://schemas.microsoft.com/office/drawing/2014/main" val="33808749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Compare Coupling and Cohesion. Explain different types of Coupling and its effects on software modules.</a:t>
                      </a:r>
                    </a:p>
                  </a:txBody>
                  <a:tcPr marL="24765" marR="24765" marT="24765" marB="24765"/>
                </a:tc>
                <a:extLst>
                  <a:ext uri="{0D108BD9-81ED-4DB2-BD59-A6C34878D82A}">
                    <a16:rowId xmlns:a16="http://schemas.microsoft.com/office/drawing/2014/main" val="11357158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List out the various types of cohesion and coupling.</a:t>
                      </a:r>
                    </a:p>
                  </a:txBody>
                  <a:tcPr marL="24765" marR="24765" marT="24765" marB="24765"/>
                </a:tc>
                <a:extLst>
                  <a:ext uri="{0D108BD9-81ED-4DB2-BD59-A6C34878D82A}">
                    <a16:rowId xmlns:a16="http://schemas.microsoft.com/office/drawing/2014/main" val="24276760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27749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Software Engineering </a:t>
            </a:r>
          </a:p>
          <a:p>
            <a:r>
              <a:rPr lang="en-US" dirty="0"/>
              <a:t>(#2301CS405)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Rajkumar.gondaliya@darshan.ac.in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+ 91-9723232741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Computer Engineering Department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Prof. R. B. Gondaliya </a:t>
            </a:r>
          </a:p>
        </p:txBody>
      </p:sp>
      <p:pic>
        <p:nvPicPr>
          <p:cNvPr id="10" name="Picture Placeholder 9"/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</p:spTree>
    <p:extLst>
      <p:ext uri="{BB962C8B-B14F-4D97-AF65-F5344CB8AC3E}">
        <p14:creationId xmlns:p14="http://schemas.microsoft.com/office/powerpoint/2010/main" val="29136949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1824</TotalTime>
  <Words>7290</Words>
  <Application>Microsoft Office PowerPoint</Application>
  <PresentationFormat>Widescreen</PresentationFormat>
  <Paragraphs>848</Paragraphs>
  <Slides>77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77</vt:i4>
      </vt:variant>
    </vt:vector>
  </HeadingPairs>
  <TitlesOfParts>
    <vt:vector size="85" baseType="lpstr">
      <vt:lpstr>Roboto Condensed Light</vt:lpstr>
      <vt:lpstr>Calibri</vt:lpstr>
      <vt:lpstr>Wingdings 3</vt:lpstr>
      <vt:lpstr>Wingdings</vt:lpstr>
      <vt:lpstr>Wingdings 2</vt:lpstr>
      <vt:lpstr>Arial</vt:lpstr>
      <vt:lpstr>Roboto Condensed</vt:lpstr>
      <vt:lpstr>Office Theme</vt:lpstr>
      <vt:lpstr>PowerPoint Presentation</vt:lpstr>
      <vt:lpstr>Software Analysis</vt:lpstr>
      <vt:lpstr>PowerPoint Presentation</vt:lpstr>
      <vt:lpstr>Requirements analysis is hard</vt:lpstr>
      <vt:lpstr>Requirement Engineering</vt:lpstr>
      <vt:lpstr>Functional requirements</vt:lpstr>
      <vt:lpstr>Functional requirements</vt:lpstr>
      <vt:lpstr>Library Management System</vt:lpstr>
      <vt:lpstr>Requirements Engineering Tasks</vt:lpstr>
      <vt:lpstr>Requirements Engineering Tasks Cont.</vt:lpstr>
      <vt:lpstr>Requirements Engineering Tasks Cont.</vt:lpstr>
      <vt:lpstr>Example to illustrate an ambiguous requirement:</vt:lpstr>
      <vt:lpstr>Elicitation is the Hardest Part!</vt:lpstr>
      <vt:lpstr>Collaborative Elicitation</vt:lpstr>
      <vt:lpstr>Quality Function Deployment (QFD)</vt:lpstr>
      <vt:lpstr>The requirement analysis model</vt:lpstr>
      <vt:lpstr>Analysis rule of Thumb</vt:lpstr>
      <vt:lpstr>Elements of the Requirements Model Cont.</vt:lpstr>
      <vt:lpstr>Characteristics of a Good SRS</vt:lpstr>
      <vt:lpstr>Characteristics of a Good SRS Cont.</vt:lpstr>
      <vt:lpstr>Problems Without SRS</vt:lpstr>
      <vt:lpstr>Standard Template for writing SRS</vt:lpstr>
      <vt:lpstr>Software Design</vt:lpstr>
      <vt:lpstr>PowerPoint Presentation</vt:lpstr>
      <vt:lpstr>What is Design?</vt:lpstr>
      <vt:lpstr>Design Concepts</vt:lpstr>
      <vt:lpstr>Design Concepts</vt:lpstr>
      <vt:lpstr>Software Design Process?</vt:lpstr>
      <vt:lpstr>Software design work products</vt:lpstr>
      <vt:lpstr>Important Software Design Concepts</vt:lpstr>
      <vt:lpstr>Abstraction</vt:lpstr>
      <vt:lpstr>Abstraction Cont.</vt:lpstr>
      <vt:lpstr>Modularity</vt:lpstr>
      <vt:lpstr>Architecture</vt:lpstr>
      <vt:lpstr>Refinement</vt:lpstr>
      <vt:lpstr>Pattern</vt:lpstr>
      <vt:lpstr>Information Hiding </vt:lpstr>
      <vt:lpstr>Refactoring</vt:lpstr>
      <vt:lpstr>Design Models</vt:lpstr>
      <vt:lpstr>Design Models Cont.</vt:lpstr>
      <vt:lpstr>Quality attributes of software design</vt:lpstr>
      <vt:lpstr>Design Principles</vt:lpstr>
      <vt:lpstr>Architectural Design</vt:lpstr>
      <vt:lpstr>Architectural Styles</vt:lpstr>
      <vt:lpstr>Data-centered architecture style</vt:lpstr>
      <vt:lpstr>Data-centered architecture example</vt:lpstr>
      <vt:lpstr>Data-flow architectures</vt:lpstr>
      <vt:lpstr>Data-flow architectures example</vt:lpstr>
      <vt:lpstr>Call and return architecture</vt:lpstr>
      <vt:lpstr>Object-oriented architecture</vt:lpstr>
      <vt:lpstr>Layered architecture</vt:lpstr>
      <vt:lpstr>Layered architecture example</vt:lpstr>
      <vt:lpstr>Component Level Design</vt:lpstr>
      <vt:lpstr>Function Oriented Approach</vt:lpstr>
      <vt:lpstr>Object Oriented Approach</vt:lpstr>
      <vt:lpstr>Cohesion &amp; Coupling</vt:lpstr>
      <vt:lpstr>Cohesion</vt:lpstr>
      <vt:lpstr>Classification of Cohesion cont.</vt:lpstr>
      <vt:lpstr>Classification of Cohesion cont.</vt:lpstr>
      <vt:lpstr>Classification of Cohesion cont.</vt:lpstr>
      <vt:lpstr>Classification of Cohesion cont.</vt:lpstr>
      <vt:lpstr>Coupling</vt:lpstr>
      <vt:lpstr>Classification of Coupling Cont.</vt:lpstr>
      <vt:lpstr>Classification of Coupling Cont.</vt:lpstr>
      <vt:lpstr>User Interface Design</vt:lpstr>
      <vt:lpstr>Place the User in Control</vt:lpstr>
      <vt:lpstr>Place the User in Control</vt:lpstr>
      <vt:lpstr>Reduce the User’s Memory Load</vt:lpstr>
      <vt:lpstr>Reduce the User’s Memory Load</vt:lpstr>
      <vt:lpstr>Make the Interface Consistent</vt:lpstr>
      <vt:lpstr>User Interface Analysis and Design Models</vt:lpstr>
      <vt:lpstr>Web Application Design </vt:lpstr>
      <vt:lpstr>Web App Interface Design</vt:lpstr>
      <vt:lpstr>Design pyramid for WebApps Cont.</vt:lpstr>
      <vt:lpstr>Question</vt:lpstr>
      <vt:lpstr>Question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Rajkumar Gondaliya</cp:lastModifiedBy>
  <cp:revision>187</cp:revision>
  <dcterms:created xsi:type="dcterms:W3CDTF">2020-05-01T05:09:15Z</dcterms:created>
  <dcterms:modified xsi:type="dcterms:W3CDTF">2025-01-16T02:21:44Z</dcterms:modified>
</cp:coreProperties>
</file>