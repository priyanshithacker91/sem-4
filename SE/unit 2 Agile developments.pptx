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0"/>
  </p:notesMasterIdLst>
  <p:sldIdLst>
    <p:sldId id="415" r:id="rId2"/>
    <p:sldId id="508" r:id="rId3"/>
    <p:sldId id="502" r:id="rId4"/>
    <p:sldId id="506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19" r:id="rId20"/>
    <p:sldId id="399" r:id="rId21"/>
    <p:sldId id="414" r:id="rId22"/>
    <p:sldId id="401" r:id="rId23"/>
    <p:sldId id="402" r:id="rId24"/>
    <p:sldId id="510" r:id="rId25"/>
    <p:sldId id="403" r:id="rId26"/>
    <p:sldId id="509" r:id="rId27"/>
    <p:sldId id="404" r:id="rId28"/>
    <p:sldId id="405" r:id="rId29"/>
    <p:sldId id="406" r:id="rId30"/>
    <p:sldId id="407" r:id="rId31"/>
    <p:sldId id="408" r:id="rId32"/>
    <p:sldId id="409" r:id="rId33"/>
    <p:sldId id="410" r:id="rId34"/>
    <p:sldId id="411" r:id="rId35"/>
    <p:sldId id="413" r:id="rId36"/>
    <p:sldId id="504" r:id="rId37"/>
    <p:sldId id="507" r:id="rId38"/>
    <p:sldId id="503" r:id="rId39"/>
    <p:sldId id="436" r:id="rId40"/>
    <p:sldId id="438" r:id="rId41"/>
    <p:sldId id="454" r:id="rId42"/>
    <p:sldId id="451" r:id="rId43"/>
    <p:sldId id="453" r:id="rId44"/>
    <p:sldId id="473" r:id="rId45"/>
    <p:sldId id="455" r:id="rId46"/>
    <p:sldId id="474" r:id="rId47"/>
    <p:sldId id="475" r:id="rId48"/>
    <p:sldId id="463" r:id="rId49"/>
    <p:sldId id="460" r:id="rId50"/>
    <p:sldId id="461" r:id="rId51"/>
    <p:sldId id="472" r:id="rId52"/>
    <p:sldId id="469" r:id="rId53"/>
    <p:sldId id="465" r:id="rId54"/>
    <p:sldId id="491" r:id="rId55"/>
    <p:sldId id="492" r:id="rId56"/>
    <p:sldId id="493" r:id="rId57"/>
    <p:sldId id="494" r:id="rId58"/>
    <p:sldId id="495" r:id="rId59"/>
    <p:sldId id="490" r:id="rId60"/>
    <p:sldId id="468" r:id="rId61"/>
    <p:sldId id="464" r:id="rId62"/>
    <p:sldId id="477" r:id="rId63"/>
    <p:sldId id="478" r:id="rId64"/>
    <p:sldId id="482" r:id="rId65"/>
    <p:sldId id="479" r:id="rId66"/>
    <p:sldId id="481" r:id="rId67"/>
    <p:sldId id="486" r:id="rId68"/>
    <p:sldId id="487" r:id="rId69"/>
    <p:sldId id="488" r:id="rId70"/>
    <p:sldId id="497" r:id="rId71"/>
    <p:sldId id="498" r:id="rId72"/>
    <p:sldId id="496" r:id="rId73"/>
    <p:sldId id="445" r:id="rId74"/>
    <p:sldId id="500" r:id="rId75"/>
    <p:sldId id="499" r:id="rId76"/>
    <p:sldId id="511" r:id="rId77"/>
    <p:sldId id="513" r:id="rId78"/>
    <p:sldId id="417" r:id="rId79"/>
  </p:sldIdLst>
  <p:sldSz cx="12192000" cy="6858000"/>
  <p:notesSz cx="6858000" cy="9144000"/>
  <p:embeddedFontLst>
    <p:embeddedFont>
      <p:font typeface="Roboto Condensed" panose="02000000000000000000" pitchFamily="2" charset="0"/>
      <p:regular r:id="rId81"/>
      <p:bold r:id="rId82"/>
      <p:italic r:id="rId83"/>
      <p:boldItalic r:id="rId84"/>
    </p:embeddedFont>
    <p:embeddedFont>
      <p:font typeface="Roboto Condensed Light" panose="02000000000000000000" pitchFamily="2" charset="0"/>
      <p:regular r:id="rId85"/>
      <p:italic r:id="rId86"/>
    </p:embeddedFont>
    <p:embeddedFont>
      <p:font typeface="Wingdings 2" panose="05020102010507070707" pitchFamily="18" charset="2"/>
      <p:regular r:id="rId87"/>
    </p:embeddedFont>
    <p:embeddedFont>
      <p:font typeface="Wingdings 3" panose="05040102010807070707" pitchFamily="18" charset="2"/>
      <p:regular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zSFBhC1pztsyr3XwqzNVg==" hashData="zGROpx2Tw1xC8JLSWaaFHI1SSuwj89yxplgt8pbRxy3lUJ6WpPrmFU8H7elFcv1Ty4KClPedUFY6iMC3MCpT3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font" Target="fonts/font8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7.fntdata"/><Relationship Id="rId61" Type="http://schemas.openxmlformats.org/officeDocument/2006/relationships/slide" Target="slides/slide60.xml"/><Relationship Id="rId82" Type="http://schemas.openxmlformats.org/officeDocument/2006/relationships/font" Target="fonts/font2.fntdata"/><Relationship Id="rId19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Burn 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Pending Story Points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Day 0</c:v>
                </c:pt>
                <c:pt idx="1">
                  <c:v>Day 1</c:v>
                </c:pt>
                <c:pt idx="2">
                  <c:v>Day 2</c:v>
                </c:pt>
                <c:pt idx="3">
                  <c:v>Day 3</c:v>
                </c:pt>
                <c:pt idx="4">
                  <c:v>Day 4</c:v>
                </c:pt>
                <c:pt idx="5">
                  <c:v>Day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64</c:v>
                </c:pt>
                <c:pt idx="2">
                  <c:v>48</c:v>
                </c:pt>
                <c:pt idx="3">
                  <c:v>32</c:v>
                </c:pt>
                <c:pt idx="4">
                  <c:v>16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9F-4CE3-921A-07CF4A3E02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558906832"/>
        <c:axId val="558900304"/>
      </c:line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 Pending Story Points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Day 0</c:v>
                </c:pt>
                <c:pt idx="1">
                  <c:v>Day 1</c:v>
                </c:pt>
                <c:pt idx="2">
                  <c:v>Day 2</c:v>
                </c:pt>
                <c:pt idx="3">
                  <c:v>Day 3</c:v>
                </c:pt>
                <c:pt idx="4">
                  <c:v>Day 4</c:v>
                </c:pt>
                <c:pt idx="5">
                  <c:v>Day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70</c:v>
                </c:pt>
                <c:pt idx="2">
                  <c:v>45</c:v>
                </c:pt>
                <c:pt idx="3">
                  <c:v>35</c:v>
                </c:pt>
                <c:pt idx="4">
                  <c:v>15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9F-4CE3-921A-07CF4A3E025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558905200"/>
        <c:axId val="558901392"/>
      </c:lineChart>
      <c:catAx>
        <c:axId val="558906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900304"/>
        <c:crosses val="autoZero"/>
        <c:auto val="1"/>
        <c:lblAlgn val="ctr"/>
        <c:lblOffset val="100"/>
        <c:noMultiLvlLbl val="0"/>
      </c:catAx>
      <c:valAx>
        <c:axId val="558900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906832"/>
        <c:crosses val="autoZero"/>
        <c:crossBetween val="between"/>
      </c:valAx>
      <c:valAx>
        <c:axId val="558901392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8905200"/>
        <c:crosses val="max"/>
        <c:crossBetween val="between"/>
      </c:valAx>
      <c:catAx>
        <c:axId val="558905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58901392"/>
        <c:crosses val="autoZero"/>
        <c:auto val="1"/>
        <c:lblAlgn val="ctr"/>
        <c:lblOffset val="100"/>
        <c:noMultiLvlLbl val="0"/>
      </c:cat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N" dirty="0"/>
              <a:t>https://www.scrumstudy.com/whyscrum/scrum-phases-and-processes</a:t>
            </a:r>
          </a:p>
          <a:p>
            <a:endParaRPr lang="en-IN" dirty="0"/>
          </a:p>
          <a:p>
            <a:r>
              <a:rPr lang="en-IN" dirty="0"/>
              <a:t>https://www.indeed.com/career-advice/career-development/scrum-phases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4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https://www.scrumstudy.com/whyscrum/scrum-phases-and-processes</a:t>
            </a:r>
          </a:p>
          <a:p>
            <a:endParaRPr lang="en-IN" dirty="0"/>
          </a:p>
          <a:p>
            <a:r>
              <a:rPr lang="en-IN" dirty="0"/>
              <a:t>https://www.indeed.com/career-advice/career-development/scrum-phases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33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https://www.scrumstudy.com/whyscrum/scrum-phases-and-processes</a:t>
            </a:r>
          </a:p>
          <a:p>
            <a:endParaRPr lang="en-IN" dirty="0"/>
          </a:p>
          <a:p>
            <a:r>
              <a:rPr lang="en-IN" dirty="0"/>
              <a:t>https://www.indeed.com/career-advice/career-development/scrum-phases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5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https://www.scrumstudy.com/whyscrum/scrum-phases-and-processes</a:t>
            </a:r>
          </a:p>
          <a:p>
            <a:endParaRPr lang="en-IN" dirty="0"/>
          </a:p>
          <a:p>
            <a:r>
              <a:rPr lang="en-IN" dirty="0"/>
              <a:t>https://www.indeed.com/career-advice/career-development/scrum-phases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91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https://www.visual-paradigm.com/scrum/scrum-burndown-chart/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4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2– Agile Development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2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2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0.xml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0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2.png"/><Relationship Id="rId7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11" Type="http://schemas.openxmlformats.org/officeDocument/2006/relationships/image" Target="../media/image57.png"/><Relationship Id="rId5" Type="http://schemas.openxmlformats.org/officeDocument/2006/relationships/image" Target="../media/image53.png"/><Relationship Id="rId10" Type="http://schemas.openxmlformats.org/officeDocument/2006/relationships/image" Target="../media/image56.png"/><Relationship Id="rId4" Type="http://schemas.openxmlformats.org/officeDocument/2006/relationships/image" Target="../media/image47.png"/><Relationship Id="rId9" Type="http://schemas.openxmlformats.org/officeDocument/2006/relationships/image" Target="../media/image5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  <a:p>
            <a:r>
              <a:rPr lang="en-US" dirty="0"/>
              <a:t>(#2301CS405)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br>
              <a:rPr lang="en-US" dirty="0"/>
            </a:br>
            <a:r>
              <a:rPr lang="en-US" sz="5400" dirty="0"/>
              <a:t>Agile Development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65D76-3395-E72B-A8DE-E013BFCE98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769" y="5742693"/>
            <a:ext cx="5029549" cy="8427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17B92-885D-A860-6940-B26C76881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429" y="1508547"/>
            <a:ext cx="3644681" cy="242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8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82A6-CDE3-9D86-9E54-91912959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77A7-6247-7313-F094-6C129FDEE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52113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-528035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154871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192097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629433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203671"/>
            <a:ext cx="971855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Agile Software Development: Defining Agility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Agile Manifesto and Principles,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Agile Process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Extreme Programming,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Adaptive Software Development,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Scrum,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Dynamic System Development Method</a:t>
            </a:r>
          </a:p>
        </p:txBody>
      </p:sp>
    </p:spTree>
    <p:extLst>
      <p:ext uri="{BB962C8B-B14F-4D97-AF65-F5344CB8AC3E}">
        <p14:creationId xmlns:p14="http://schemas.microsoft.com/office/powerpoint/2010/main" val="8204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Agile?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9"/>
            <a:ext cx="11929641" cy="1165224"/>
          </a:xfrm>
        </p:spPr>
        <p:txBody>
          <a:bodyPr/>
          <a:lstStyle/>
          <a:p>
            <a:r>
              <a:rPr lang="en-US" dirty="0"/>
              <a:t>learning Agile methodology and its complete concepts gain several significant advantages that prepare them for </a:t>
            </a:r>
            <a:r>
              <a:rPr lang="en-US" b="1" dirty="0"/>
              <a:t>success in their future careers</a:t>
            </a:r>
            <a:r>
              <a:rPr lang="en-US" dirty="0"/>
              <a:t>, particularly in industries like </a:t>
            </a:r>
            <a:r>
              <a:rPr lang="en-US" b="1" dirty="0"/>
              <a:t>software development</a:t>
            </a:r>
            <a:r>
              <a:rPr lang="en-US" dirty="0"/>
              <a:t>, </a:t>
            </a:r>
            <a:r>
              <a:rPr lang="en-US" b="1" dirty="0"/>
              <a:t>project management</a:t>
            </a:r>
            <a:r>
              <a:rPr lang="en-US" dirty="0"/>
              <a:t>, and </a:t>
            </a:r>
            <a:r>
              <a:rPr lang="en-US" b="1" dirty="0"/>
              <a:t>product development</a:t>
            </a:r>
            <a:r>
              <a:rPr lang="en-US" dirty="0"/>
              <a:t>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3D813C-93E5-7FAA-BBEC-2DED0557C657}"/>
              </a:ext>
            </a:extLst>
          </p:cNvPr>
          <p:cNvSpPr txBox="1">
            <a:spLocks/>
          </p:cNvSpPr>
          <p:nvPr/>
        </p:nvSpPr>
        <p:spPr>
          <a:xfrm>
            <a:off x="238126" y="2713977"/>
            <a:ext cx="5124449" cy="3819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Industry Relevance and Demand</a:t>
            </a:r>
          </a:p>
          <a:p>
            <a:pPr lvl="1"/>
            <a:r>
              <a:rPr lang="en-US" dirty="0"/>
              <a:t>High Demand</a:t>
            </a:r>
          </a:p>
          <a:p>
            <a:pPr lvl="1"/>
            <a:r>
              <a:rPr lang="en-US" dirty="0"/>
              <a:t>Career Opportunities</a:t>
            </a:r>
          </a:p>
          <a:p>
            <a:r>
              <a:rPr lang="en-IN" b="1" dirty="0"/>
              <a:t>Enhanced Team Collaboration Skills</a:t>
            </a:r>
          </a:p>
          <a:p>
            <a:pPr lvl="1"/>
            <a:r>
              <a:rPr lang="en-US" dirty="0"/>
              <a:t>Teamwork</a:t>
            </a:r>
          </a:p>
          <a:p>
            <a:pPr lvl="1"/>
            <a:r>
              <a:rPr lang="en-US" dirty="0"/>
              <a:t>Role Understanding</a:t>
            </a:r>
          </a:p>
          <a:p>
            <a:r>
              <a:rPr lang="en-IN" b="1" dirty="0"/>
              <a:t>Improved Project Management Skills</a:t>
            </a:r>
          </a:p>
          <a:p>
            <a:pPr lvl="1"/>
            <a:r>
              <a:rPr lang="en-IN" dirty="0"/>
              <a:t>Iterative Approach</a:t>
            </a:r>
          </a:p>
          <a:p>
            <a:pPr lvl="1"/>
            <a:r>
              <a:rPr lang="en-US" dirty="0"/>
              <a:t>Time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C7440-83BA-6CA5-04A3-C01C2C405147}"/>
              </a:ext>
            </a:extLst>
          </p:cNvPr>
          <p:cNvSpPr/>
          <p:nvPr/>
        </p:nvSpPr>
        <p:spPr>
          <a:xfrm>
            <a:off x="238125" y="2162175"/>
            <a:ext cx="11715750" cy="4711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rgbClr val="BF2323"/>
                </a:solidFill>
              </a:rPr>
              <a:t>Here are some key reasons why should learn Agile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A73F43-F20E-C6BE-DEEB-E56AD2AE5718}"/>
              </a:ext>
            </a:extLst>
          </p:cNvPr>
          <p:cNvSpPr txBox="1">
            <a:spLocks/>
          </p:cNvSpPr>
          <p:nvPr/>
        </p:nvSpPr>
        <p:spPr>
          <a:xfrm>
            <a:off x="6255812" y="2713977"/>
            <a:ext cx="5459935" cy="3819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Preparation for Certification</a:t>
            </a:r>
          </a:p>
          <a:p>
            <a:pPr lvl="1"/>
            <a:r>
              <a:rPr lang="en-IN" dirty="0"/>
              <a:t>Professional Certification</a:t>
            </a:r>
          </a:p>
          <a:p>
            <a:pPr lvl="1"/>
            <a:r>
              <a:rPr lang="en-US" dirty="0"/>
              <a:t>Certified ScrumMaster (CSM), </a:t>
            </a:r>
          </a:p>
          <a:p>
            <a:pPr lvl="1"/>
            <a:r>
              <a:rPr lang="en-US" dirty="0"/>
              <a:t>Certified Scrum Product Owner (CSPO), etc.</a:t>
            </a:r>
            <a:endParaRPr lang="en-US" b="1" dirty="0"/>
          </a:p>
          <a:p>
            <a:r>
              <a:rPr lang="en-US" b="1" dirty="0"/>
              <a:t>Adaptability and Flexibility</a:t>
            </a:r>
          </a:p>
          <a:p>
            <a:pPr lvl="1"/>
            <a:r>
              <a:rPr lang="en-US" dirty="0"/>
              <a:t>Responding to Change</a:t>
            </a:r>
          </a:p>
          <a:p>
            <a:pPr lvl="1"/>
            <a:r>
              <a:rPr lang="en-US" dirty="0"/>
              <a:t>Continuous Improvement</a:t>
            </a:r>
          </a:p>
          <a:p>
            <a:r>
              <a:rPr lang="en-US" b="1" dirty="0"/>
              <a:t>Customer-Centric Mindset</a:t>
            </a:r>
          </a:p>
          <a:p>
            <a:pPr lvl="1"/>
            <a:r>
              <a:rPr lang="en-IN" dirty="0"/>
              <a:t>Customer Collaboration</a:t>
            </a:r>
          </a:p>
          <a:p>
            <a:pPr lvl="1"/>
            <a:r>
              <a:rPr lang="en-IN" dirty="0"/>
              <a:t>User-Focused Development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13170C-426E-6612-DEBA-46AC7392AA78}"/>
              </a:ext>
            </a:extLst>
          </p:cNvPr>
          <p:cNvCxnSpPr/>
          <p:nvPr/>
        </p:nvCxnSpPr>
        <p:spPr>
          <a:xfrm>
            <a:off x="5724525" y="2752725"/>
            <a:ext cx="0" cy="3700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 animBg="1"/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B71B1C"/>
                </a:solidFill>
              </a:rPr>
              <a:t>Principles</a:t>
            </a:r>
            <a:r>
              <a:rPr lang="en-US" dirty="0"/>
              <a:t>, </a:t>
            </a:r>
            <a:r>
              <a:rPr lang="en-US" dirty="0">
                <a:solidFill>
                  <a:srgbClr val="BF2323"/>
                </a:solidFill>
              </a:rPr>
              <a:t>patterns</a:t>
            </a:r>
            <a:r>
              <a:rPr lang="en-US" dirty="0"/>
              <a:t>, and </a:t>
            </a:r>
            <a:r>
              <a:rPr lang="en-US" dirty="0">
                <a:solidFill>
                  <a:srgbClr val="B71B1C"/>
                </a:solidFill>
              </a:rPr>
              <a:t>practices</a:t>
            </a:r>
            <a:r>
              <a:rPr lang="en-US" dirty="0"/>
              <a:t> are important, but it’s the</a:t>
            </a:r>
            <a:r>
              <a:rPr lang="en-US" b="1" dirty="0"/>
              <a:t> </a:t>
            </a:r>
            <a:r>
              <a:rPr lang="en-US" dirty="0">
                <a:solidFill>
                  <a:srgbClr val="B71B1C"/>
                </a:solidFill>
              </a:rPr>
              <a:t>people that make them work</a:t>
            </a:r>
          </a:p>
          <a:p>
            <a:r>
              <a:rPr lang="en-US" dirty="0">
                <a:solidFill>
                  <a:srgbClr val="B71B1C"/>
                </a:solidFill>
              </a:rPr>
              <a:t>Process </a:t>
            </a:r>
            <a:r>
              <a:rPr lang="en-US" dirty="0"/>
              <a:t>and </a:t>
            </a:r>
            <a:r>
              <a:rPr lang="en-US" dirty="0">
                <a:solidFill>
                  <a:srgbClr val="B71B1C"/>
                </a:solidFill>
              </a:rPr>
              <a:t>technology</a:t>
            </a:r>
            <a:r>
              <a:rPr lang="en-US" dirty="0"/>
              <a:t> are a</a:t>
            </a:r>
            <a:r>
              <a:rPr lang="en-US" dirty="0">
                <a:solidFill>
                  <a:srgbClr val="B71B1C"/>
                </a:solidFill>
              </a:rPr>
              <a:t> second-order effect</a:t>
            </a:r>
            <a:r>
              <a:rPr lang="en-US" b="1" dirty="0"/>
              <a:t> </a:t>
            </a:r>
            <a:r>
              <a:rPr lang="en-US" dirty="0"/>
              <a:t>on the </a:t>
            </a:r>
            <a:r>
              <a:rPr lang="en-US" dirty="0">
                <a:solidFill>
                  <a:srgbClr val="B71B1C"/>
                </a:solidFill>
              </a:rPr>
              <a:t>outcome of a project</a:t>
            </a:r>
            <a:r>
              <a:rPr lang="en-US" dirty="0"/>
              <a:t>. The </a:t>
            </a:r>
            <a:r>
              <a:rPr lang="en-US" dirty="0">
                <a:solidFill>
                  <a:srgbClr val="B71B1C"/>
                </a:solidFill>
              </a:rPr>
              <a:t>first-order effect</a:t>
            </a:r>
            <a:r>
              <a:rPr lang="en-US" dirty="0"/>
              <a:t> is the </a:t>
            </a:r>
            <a:r>
              <a:rPr lang="en-US" dirty="0">
                <a:solidFill>
                  <a:srgbClr val="B71B1C"/>
                </a:solidFill>
              </a:rPr>
              <a:t>people</a:t>
            </a:r>
            <a:r>
              <a:rPr lang="en-US" dirty="0"/>
              <a:t>.</a:t>
            </a:r>
          </a:p>
          <a:p>
            <a:r>
              <a:rPr lang="en-US" dirty="0"/>
              <a:t>We </a:t>
            </a:r>
            <a:r>
              <a:rPr lang="en-US" dirty="0">
                <a:solidFill>
                  <a:srgbClr val="C00000"/>
                </a:solidFill>
              </a:rPr>
              <a:t>can't manage programming teams like</a:t>
            </a:r>
            <a:r>
              <a:rPr lang="en-US" dirty="0"/>
              <a:t> systems made of </a:t>
            </a:r>
            <a:r>
              <a:rPr lang="en-US" dirty="0">
                <a:solidFill>
                  <a:srgbClr val="C00000"/>
                </a:solidFill>
              </a:rPr>
              <a:t>process-driven components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B71B1C"/>
                </a:solidFill>
              </a:rPr>
              <a:t>People</a:t>
            </a:r>
            <a:r>
              <a:rPr lang="en-US" dirty="0"/>
              <a:t> are </a:t>
            </a:r>
            <a:r>
              <a:rPr lang="en-US" b="1" dirty="0"/>
              <a:t>not</a:t>
            </a:r>
            <a:r>
              <a:rPr lang="en-US" dirty="0"/>
              <a:t> “</a:t>
            </a:r>
            <a:r>
              <a:rPr lang="en-US" dirty="0">
                <a:solidFill>
                  <a:srgbClr val="B71B1C"/>
                </a:solidFill>
              </a:rPr>
              <a:t>plug-compatible programming units</a:t>
            </a:r>
            <a:r>
              <a:rPr lang="en-US" dirty="0"/>
              <a:t>”.</a:t>
            </a:r>
          </a:p>
          <a:p>
            <a:r>
              <a:rPr lang="en-US" dirty="0"/>
              <a:t>If </a:t>
            </a:r>
            <a:r>
              <a:rPr lang="en-US" dirty="0">
                <a:solidFill>
                  <a:srgbClr val="B71B1C"/>
                </a:solidFill>
              </a:rPr>
              <a:t>our projects</a:t>
            </a:r>
            <a:r>
              <a:rPr lang="en-US" dirty="0"/>
              <a:t> are to </a:t>
            </a:r>
            <a:r>
              <a:rPr lang="en-US" dirty="0">
                <a:solidFill>
                  <a:srgbClr val="B71B1C"/>
                </a:solidFill>
              </a:rPr>
              <a:t>succeed</a:t>
            </a:r>
            <a:r>
              <a:rPr lang="en-US" dirty="0"/>
              <a:t>, we are going to have to </a:t>
            </a:r>
            <a:r>
              <a:rPr lang="en-US" b="1" dirty="0">
                <a:solidFill>
                  <a:srgbClr val="B71B1C"/>
                </a:solidFill>
              </a:rPr>
              <a:t>build collaborative and self-organizing teams</a:t>
            </a:r>
            <a:r>
              <a:rPr lang="en-US" dirty="0"/>
              <a:t>.</a:t>
            </a:r>
          </a:p>
          <a:p>
            <a:r>
              <a:rPr lang="en-US" dirty="0"/>
              <a:t>Those companies that encourage the formation of such teams will have a </a:t>
            </a:r>
            <a:r>
              <a:rPr lang="en-US" i="1" dirty="0"/>
              <a:t>huge </a:t>
            </a:r>
            <a:r>
              <a:rPr lang="en-US" dirty="0"/>
              <a:t>competitive advantage over those who hold the view that a software-development organization is nothing more than a pile of twisty little people all alike.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B71B1C"/>
                </a:solidFill>
              </a:rPr>
              <a:t>cohesive </a:t>
            </a:r>
            <a:r>
              <a:rPr lang="en-US" b="1" dirty="0">
                <a:solidFill>
                  <a:srgbClr val="BF2323"/>
                </a:solidFill>
              </a:rPr>
              <a:t>software</a:t>
            </a:r>
            <a:r>
              <a:rPr lang="en-US" b="1" dirty="0">
                <a:solidFill>
                  <a:srgbClr val="B71B1C"/>
                </a:solidFill>
              </a:rPr>
              <a:t> team</a:t>
            </a:r>
            <a:r>
              <a:rPr lang="en-US" dirty="0"/>
              <a:t> is the </a:t>
            </a:r>
            <a:r>
              <a:rPr lang="en-US" b="1" dirty="0">
                <a:solidFill>
                  <a:srgbClr val="B71B1C"/>
                </a:solidFill>
              </a:rPr>
              <a:t>most powerful software development force </a:t>
            </a:r>
            <a:r>
              <a:rPr lang="en-US" dirty="0"/>
              <a:t>there is.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830" y="115912"/>
            <a:ext cx="899313" cy="89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Genesis of Agile Cont.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315" y="-25757"/>
            <a:ext cx="1032096" cy="1032096"/>
          </a:xfrm>
        </p:spPr>
      </p:pic>
      <p:sp>
        <p:nvSpPr>
          <p:cNvPr id="7" name="Rounded Rectangular Callout 6"/>
          <p:cNvSpPr/>
          <p:nvPr/>
        </p:nvSpPr>
        <p:spPr>
          <a:xfrm>
            <a:off x="309094" y="837127"/>
            <a:ext cx="11567318" cy="927279"/>
          </a:xfrm>
          <a:prstGeom prst="wedgeRoundRectCallout">
            <a:avLst>
              <a:gd name="adj1" fmla="val 42741"/>
              <a:gd name="adj2" fmla="val -7997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b="1" dirty="0">
                <a:solidFill>
                  <a:srgbClr val="B71B1C"/>
                </a:solidFill>
              </a:rPr>
              <a:t>weather-cock</a:t>
            </a:r>
            <a:r>
              <a:rPr lang="en-US" sz="2400" dirty="0"/>
              <a:t> on the church spire, though made of iron, </a:t>
            </a:r>
            <a:r>
              <a:rPr lang="en-US" sz="2400" b="1" dirty="0">
                <a:solidFill>
                  <a:srgbClr val="B71B1C"/>
                </a:solidFill>
              </a:rPr>
              <a:t>would soon be broken</a:t>
            </a:r>
            <a:r>
              <a:rPr lang="en-US" sz="2400" dirty="0"/>
              <a:t> by the storm-wind </a:t>
            </a:r>
            <a:r>
              <a:rPr lang="en-US" sz="2400" b="1" dirty="0">
                <a:solidFill>
                  <a:srgbClr val="B71B1C"/>
                </a:solidFill>
              </a:rPr>
              <a:t>if it did not understand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B71B1C"/>
                </a:solidFill>
              </a:rPr>
              <a:t>noble art of turning to every wind</a:t>
            </a:r>
            <a:r>
              <a:rPr lang="en-US" sz="2400" dirty="0"/>
              <a:t>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2359" y="2032001"/>
            <a:ext cx="11929641" cy="453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Many of us have experienced or heard of a </a:t>
            </a:r>
            <a:r>
              <a:rPr lang="en-US" dirty="0">
                <a:solidFill>
                  <a:srgbClr val="B71B1C"/>
                </a:solidFill>
              </a:rPr>
              <a:t>project with no practice to guide it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B71B1C"/>
                </a:solidFill>
              </a:rPr>
              <a:t>lack of effective practices</a:t>
            </a:r>
            <a:r>
              <a:rPr lang="en-US" dirty="0"/>
              <a:t> leads to </a:t>
            </a:r>
            <a:r>
              <a:rPr lang="en-US" dirty="0">
                <a:solidFill>
                  <a:srgbClr val="B71B1C"/>
                </a:solidFill>
              </a:rPr>
              <a:t>unpredictability</a:t>
            </a:r>
            <a:r>
              <a:rPr lang="en-US" dirty="0"/>
              <a:t>, </a:t>
            </a:r>
            <a:r>
              <a:rPr lang="en-US" dirty="0">
                <a:solidFill>
                  <a:srgbClr val="B71B1C"/>
                </a:solidFill>
              </a:rPr>
              <a:t>repeated error</a:t>
            </a:r>
            <a:r>
              <a:rPr lang="en-US" dirty="0"/>
              <a:t>, and </a:t>
            </a:r>
            <a:r>
              <a:rPr lang="en-US" dirty="0">
                <a:solidFill>
                  <a:srgbClr val="B71B1C"/>
                </a:solidFill>
              </a:rPr>
              <a:t>wasted effort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B71B1C"/>
                </a:solidFill>
              </a:rPr>
              <a:t>Customers</a:t>
            </a:r>
            <a:r>
              <a:rPr lang="en-US" dirty="0"/>
              <a:t> are </a:t>
            </a:r>
            <a:r>
              <a:rPr lang="en-US" dirty="0">
                <a:solidFill>
                  <a:srgbClr val="B71B1C"/>
                </a:solidFill>
              </a:rPr>
              <a:t>disappointed</a:t>
            </a:r>
            <a:r>
              <a:rPr lang="en-US" dirty="0"/>
              <a:t> by </a:t>
            </a:r>
            <a:r>
              <a:rPr lang="en-US" dirty="0">
                <a:solidFill>
                  <a:srgbClr val="B71B1C"/>
                </a:solidFill>
              </a:rPr>
              <a:t>slipping schedules</a:t>
            </a:r>
            <a:r>
              <a:rPr lang="en-US" dirty="0"/>
              <a:t>, </a:t>
            </a:r>
            <a:r>
              <a:rPr lang="en-US" dirty="0">
                <a:solidFill>
                  <a:srgbClr val="B71B1C"/>
                </a:solidFill>
              </a:rPr>
              <a:t>growing budgets</a:t>
            </a:r>
            <a:r>
              <a:rPr lang="en-US" dirty="0"/>
              <a:t>, and </a:t>
            </a:r>
            <a:r>
              <a:rPr lang="en-US" dirty="0">
                <a:solidFill>
                  <a:srgbClr val="B71B1C"/>
                </a:solidFill>
              </a:rPr>
              <a:t>poor quality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B71B1C"/>
                </a:solidFill>
              </a:rPr>
              <a:t>Developers</a:t>
            </a:r>
            <a:r>
              <a:rPr lang="en-US" dirty="0"/>
              <a:t> are </a:t>
            </a:r>
            <a:r>
              <a:rPr lang="en-US" dirty="0">
                <a:solidFill>
                  <a:srgbClr val="B71B1C"/>
                </a:solidFill>
              </a:rPr>
              <a:t>disheartened</a:t>
            </a:r>
            <a:r>
              <a:rPr lang="en-US" dirty="0"/>
              <a:t> by </a:t>
            </a:r>
            <a:r>
              <a:rPr lang="en-US" dirty="0">
                <a:solidFill>
                  <a:srgbClr val="B71B1C"/>
                </a:solidFill>
              </a:rPr>
              <a:t>working ever longer hours</a:t>
            </a:r>
            <a:r>
              <a:rPr lang="en-US" dirty="0"/>
              <a:t> to </a:t>
            </a:r>
            <a:r>
              <a:rPr lang="en-US" dirty="0">
                <a:solidFill>
                  <a:srgbClr val="B71B1C"/>
                </a:solidFill>
              </a:rPr>
              <a:t>produce</a:t>
            </a:r>
            <a:r>
              <a:rPr lang="en-US" dirty="0"/>
              <a:t> ever </a:t>
            </a:r>
            <a:r>
              <a:rPr lang="en-US" dirty="0">
                <a:solidFill>
                  <a:srgbClr val="B71B1C"/>
                </a:solidFill>
              </a:rPr>
              <a:t>poorer software</a:t>
            </a:r>
            <a:r>
              <a:rPr lang="en-US" dirty="0"/>
              <a:t>.</a:t>
            </a:r>
          </a:p>
          <a:p>
            <a:r>
              <a:rPr lang="en-US" dirty="0"/>
              <a:t>Once we have </a:t>
            </a:r>
            <a:r>
              <a:rPr lang="en-US" dirty="0">
                <a:solidFill>
                  <a:srgbClr val="B71B1C"/>
                </a:solidFill>
              </a:rPr>
              <a:t>experienced such a fiasco</a:t>
            </a:r>
            <a:r>
              <a:rPr lang="en-US" dirty="0"/>
              <a:t>, we become </a:t>
            </a:r>
            <a:r>
              <a:rPr lang="en-US" dirty="0">
                <a:solidFill>
                  <a:srgbClr val="B71B1C"/>
                </a:solidFill>
              </a:rPr>
              <a:t>afraid</a:t>
            </a:r>
            <a:r>
              <a:rPr lang="en-US" dirty="0"/>
              <a:t> of </a:t>
            </a:r>
            <a:r>
              <a:rPr lang="en-US" dirty="0">
                <a:solidFill>
                  <a:srgbClr val="B71B1C"/>
                </a:solidFill>
              </a:rPr>
              <a:t>repeating the experience</a:t>
            </a:r>
            <a:r>
              <a:rPr lang="en-US" dirty="0"/>
              <a:t>.</a:t>
            </a:r>
          </a:p>
          <a:p>
            <a:r>
              <a:rPr lang="en-US" dirty="0"/>
              <a:t>Our fears motivate us to </a:t>
            </a:r>
            <a:r>
              <a:rPr lang="en-US" b="1" dirty="0">
                <a:solidFill>
                  <a:srgbClr val="B71B1C"/>
                </a:solidFill>
              </a:rPr>
              <a:t>create a </a:t>
            </a:r>
            <a:r>
              <a:rPr lang="en-US" b="1" i="1" dirty="0">
                <a:solidFill>
                  <a:srgbClr val="B71B1C"/>
                </a:solidFill>
              </a:rPr>
              <a:t>process</a:t>
            </a:r>
            <a:r>
              <a:rPr lang="en-US" i="1" dirty="0"/>
              <a:t> </a:t>
            </a:r>
            <a:r>
              <a:rPr lang="en-US" dirty="0"/>
              <a:t>that </a:t>
            </a:r>
            <a:r>
              <a:rPr lang="en-US" dirty="0">
                <a:solidFill>
                  <a:srgbClr val="B71B1C"/>
                </a:solidFill>
              </a:rPr>
              <a:t>constrains</a:t>
            </a:r>
            <a:r>
              <a:rPr lang="en-US" dirty="0"/>
              <a:t> our </a:t>
            </a:r>
            <a:r>
              <a:rPr lang="en-US" dirty="0">
                <a:solidFill>
                  <a:srgbClr val="B71B1C"/>
                </a:solidFill>
              </a:rPr>
              <a:t>activities</a:t>
            </a:r>
            <a:r>
              <a:rPr lang="en-US" dirty="0"/>
              <a:t> and </a:t>
            </a:r>
            <a:r>
              <a:rPr lang="en-US" dirty="0">
                <a:solidFill>
                  <a:srgbClr val="B71B1C"/>
                </a:solidFill>
              </a:rPr>
              <a:t>demands certain outputs</a:t>
            </a:r>
            <a:r>
              <a:rPr lang="en-US" dirty="0"/>
              <a:t>. </a:t>
            </a:r>
          </a:p>
          <a:p>
            <a:r>
              <a:rPr lang="en-US" dirty="0"/>
              <a:t>We </a:t>
            </a:r>
            <a:r>
              <a:rPr lang="en-US" dirty="0">
                <a:solidFill>
                  <a:srgbClr val="B71B1C"/>
                </a:solidFill>
              </a:rPr>
              <a:t>draw these constraints</a:t>
            </a:r>
            <a:r>
              <a:rPr lang="en-US" dirty="0"/>
              <a:t> and </a:t>
            </a:r>
            <a:r>
              <a:rPr lang="en-US" dirty="0">
                <a:solidFill>
                  <a:srgbClr val="B71B1C"/>
                </a:solidFill>
              </a:rPr>
              <a:t>outputs</a:t>
            </a:r>
            <a:r>
              <a:rPr lang="en-US" dirty="0"/>
              <a:t> from </a:t>
            </a:r>
            <a:r>
              <a:rPr lang="en-US" dirty="0">
                <a:solidFill>
                  <a:srgbClr val="B71B1C"/>
                </a:solidFill>
              </a:rPr>
              <a:t>past experience</a:t>
            </a:r>
            <a:r>
              <a:rPr lang="en-US" dirty="0"/>
              <a:t>, choosing things that appeared to work well in previous projects. </a:t>
            </a:r>
          </a:p>
          <a:p>
            <a:r>
              <a:rPr lang="en-US" dirty="0"/>
              <a:t>Our hope is that they will work again and take away our fears.</a:t>
            </a:r>
          </a:p>
        </p:txBody>
      </p:sp>
    </p:spTree>
    <p:extLst>
      <p:ext uri="{BB962C8B-B14F-4D97-AF65-F5344CB8AC3E}">
        <p14:creationId xmlns:p14="http://schemas.microsoft.com/office/powerpoint/2010/main" val="334259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86483"/>
            <a:ext cx="11929641" cy="5590565"/>
          </a:xfrm>
        </p:spPr>
        <p:txBody>
          <a:bodyPr/>
          <a:lstStyle/>
          <a:p>
            <a:r>
              <a:rPr lang="en-US" dirty="0"/>
              <a:t>However, </a:t>
            </a:r>
            <a:r>
              <a:rPr lang="en-US" dirty="0">
                <a:solidFill>
                  <a:srgbClr val="B71B1C"/>
                </a:solidFill>
              </a:rPr>
              <a:t>projects are not so simple</a:t>
            </a:r>
            <a:r>
              <a:rPr lang="en-US" dirty="0"/>
              <a:t> that a </a:t>
            </a:r>
            <a:r>
              <a:rPr lang="en-US" dirty="0">
                <a:solidFill>
                  <a:srgbClr val="B71B1C"/>
                </a:solidFill>
              </a:rPr>
              <a:t>few constraints</a:t>
            </a:r>
            <a:r>
              <a:rPr lang="en-US" dirty="0"/>
              <a:t> and artifacts can reliably </a:t>
            </a:r>
            <a:r>
              <a:rPr lang="en-US" dirty="0">
                <a:solidFill>
                  <a:srgbClr val="B71B1C"/>
                </a:solidFill>
              </a:rPr>
              <a:t>prevent error</a:t>
            </a:r>
            <a:r>
              <a:rPr lang="en-US" dirty="0"/>
              <a:t>. </a:t>
            </a:r>
          </a:p>
          <a:p>
            <a:r>
              <a:rPr lang="en-US" dirty="0"/>
              <a:t>As </a:t>
            </a:r>
            <a:r>
              <a:rPr lang="en-US" dirty="0">
                <a:solidFill>
                  <a:srgbClr val="B71B1C"/>
                </a:solidFill>
              </a:rPr>
              <a:t>errors continue to be made</a:t>
            </a:r>
            <a:r>
              <a:rPr lang="en-US" dirty="0"/>
              <a:t>, we diagnose those errors and </a:t>
            </a:r>
            <a:r>
              <a:rPr lang="en-US" dirty="0">
                <a:solidFill>
                  <a:srgbClr val="B71B1C"/>
                </a:solidFill>
              </a:rPr>
              <a:t>put in place</a:t>
            </a:r>
            <a:r>
              <a:rPr lang="en-US" dirty="0"/>
              <a:t> even </a:t>
            </a:r>
            <a:r>
              <a:rPr lang="en-US" dirty="0">
                <a:solidFill>
                  <a:srgbClr val="B71B1C"/>
                </a:solidFill>
              </a:rPr>
              <a:t>more constraints</a:t>
            </a:r>
            <a:r>
              <a:rPr lang="en-US" dirty="0"/>
              <a:t> and artifacts to prevent those errors in the future. </a:t>
            </a:r>
          </a:p>
          <a:p>
            <a:r>
              <a:rPr lang="en-US" dirty="0"/>
              <a:t>After </a:t>
            </a:r>
            <a:r>
              <a:rPr lang="en-US" dirty="0">
                <a:solidFill>
                  <a:srgbClr val="B71B1C"/>
                </a:solidFill>
              </a:rPr>
              <a:t>many projects</a:t>
            </a:r>
            <a:r>
              <a:rPr lang="en-US" dirty="0"/>
              <a:t> we may find ourselves </a:t>
            </a:r>
            <a:r>
              <a:rPr lang="en-US" dirty="0">
                <a:solidFill>
                  <a:srgbClr val="B71B1C"/>
                </a:solidFill>
              </a:rPr>
              <a:t>overloaded</a:t>
            </a:r>
            <a:r>
              <a:rPr lang="en-US" dirty="0"/>
              <a:t> with a </a:t>
            </a:r>
            <a:r>
              <a:rPr lang="en-US" dirty="0">
                <a:solidFill>
                  <a:srgbClr val="B71B1C"/>
                </a:solidFill>
              </a:rPr>
              <a:t>huge cumbersome (</a:t>
            </a:r>
            <a:r>
              <a:rPr lang="en-IN" dirty="0"/>
              <a:t>heavy/difficult</a:t>
            </a:r>
            <a:r>
              <a:rPr lang="en-US" dirty="0">
                <a:solidFill>
                  <a:srgbClr val="B71B1C"/>
                </a:solidFill>
              </a:rPr>
              <a:t>) process</a:t>
            </a:r>
            <a:r>
              <a:rPr lang="en-US" dirty="0"/>
              <a:t> that greatly holds up our ability to get anything done.</a:t>
            </a:r>
          </a:p>
          <a:p>
            <a:r>
              <a:rPr lang="en-US" dirty="0"/>
              <a:t>A big </a:t>
            </a:r>
            <a:r>
              <a:rPr lang="en-US" b="1" dirty="0">
                <a:solidFill>
                  <a:srgbClr val="B71B1C"/>
                </a:solidFill>
              </a:rPr>
              <a:t>cumbersome process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B71B1C"/>
                </a:solidFill>
              </a:rPr>
              <a:t>slow the team</a:t>
            </a:r>
            <a:r>
              <a:rPr lang="en-US" dirty="0"/>
              <a:t> to the extent that </a:t>
            </a:r>
            <a:r>
              <a:rPr lang="en-US" dirty="0">
                <a:solidFill>
                  <a:srgbClr val="B71B1C"/>
                </a:solidFill>
              </a:rPr>
              <a:t>schedules slip</a:t>
            </a:r>
            <a:r>
              <a:rPr lang="en-US" dirty="0"/>
              <a:t> and </a:t>
            </a:r>
            <a:r>
              <a:rPr lang="en-US" dirty="0">
                <a:solidFill>
                  <a:srgbClr val="B71B1C"/>
                </a:solidFill>
              </a:rPr>
              <a:t>budgets bloat</a:t>
            </a:r>
          </a:p>
          <a:p>
            <a:pPr lvl="1"/>
            <a:r>
              <a:rPr lang="en-US" dirty="0">
                <a:solidFill>
                  <a:srgbClr val="B71B1C"/>
                </a:solidFill>
              </a:rPr>
              <a:t>reduce responsiveness</a:t>
            </a:r>
            <a:r>
              <a:rPr lang="en-US" dirty="0"/>
              <a:t> of the team to the point where they are always creating the wrong product.</a:t>
            </a:r>
          </a:p>
          <a:p>
            <a:r>
              <a:rPr lang="en-US" dirty="0"/>
              <a:t>In 2000 A.D.</a:t>
            </a:r>
          </a:p>
          <a:p>
            <a:pPr lvl="1"/>
            <a:r>
              <a:rPr lang="en-US" dirty="0"/>
              <a:t>there were still many teams operating without a process</a:t>
            </a:r>
          </a:p>
          <a:p>
            <a:pPr lvl="1"/>
            <a:r>
              <a:rPr lang="en-US" dirty="0"/>
              <a:t>the adoption of very large, heavyweight processes is rapidly growing, especially in large corporations</a:t>
            </a:r>
          </a:p>
        </p:txBody>
      </p:sp>
    </p:spTree>
    <p:extLst>
      <p:ext uri="{BB962C8B-B14F-4D97-AF65-F5344CB8AC3E}">
        <p14:creationId xmlns:p14="http://schemas.microsoft.com/office/powerpoint/2010/main" val="357076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Practices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early 2001, </a:t>
            </a:r>
            <a:r>
              <a:rPr lang="en-US" dirty="0">
                <a:solidFill>
                  <a:srgbClr val="B71B1C"/>
                </a:solidFill>
              </a:rPr>
              <a:t>motivated by the observation</a:t>
            </a:r>
            <a:r>
              <a:rPr lang="en-US" dirty="0"/>
              <a:t> that </a:t>
            </a:r>
            <a:r>
              <a:rPr lang="en-US" dirty="0">
                <a:solidFill>
                  <a:srgbClr val="B71B1C"/>
                </a:solidFill>
              </a:rPr>
              <a:t>software teams in many corporations were stuck</a:t>
            </a:r>
            <a:r>
              <a:rPr lang="en-US" dirty="0"/>
              <a:t> in a </a:t>
            </a:r>
            <a:r>
              <a:rPr lang="en-IN" dirty="0"/>
              <a:t>complex situation</a:t>
            </a:r>
            <a:r>
              <a:rPr lang="en-US" dirty="0"/>
              <a:t> of ever-increasing process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B71B1C"/>
                </a:solidFill>
              </a:rPr>
              <a:t>group of industry experts</a:t>
            </a:r>
            <a:r>
              <a:rPr lang="en-US" dirty="0"/>
              <a:t> met to outline the values and principles that would allow software teams to </a:t>
            </a:r>
            <a:r>
              <a:rPr lang="en-US" b="1" dirty="0">
                <a:solidFill>
                  <a:srgbClr val="B71B1C"/>
                </a:solidFill>
              </a:rPr>
              <a:t>work quickly and respond to change</a:t>
            </a:r>
          </a:p>
          <a:p>
            <a:r>
              <a:rPr lang="en-US" dirty="0"/>
              <a:t>They called themselves the </a:t>
            </a:r>
            <a:r>
              <a:rPr lang="en-US" b="1" i="1" dirty="0">
                <a:solidFill>
                  <a:srgbClr val="B71B1C"/>
                </a:solidFill>
              </a:rPr>
              <a:t>Agile Alliance</a:t>
            </a:r>
            <a:r>
              <a:rPr lang="en-US" i="1" dirty="0"/>
              <a:t>. </a:t>
            </a:r>
            <a:r>
              <a:rPr lang="en-US" dirty="0"/>
              <a:t>They worked to create a statement of values. The result was </a:t>
            </a:r>
            <a:r>
              <a:rPr lang="en-US" b="1" i="1" dirty="0"/>
              <a:t>The Manifesto of the Agile Alliance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697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Manifesto of the Agile Alliance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142" y="861743"/>
            <a:ext cx="54264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Manifesto for Agile Software Development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476517" y="1622738"/>
            <a:ext cx="11153106" cy="862886"/>
          </a:xfrm>
          <a:prstGeom prst="wedgeRoundRectCallout">
            <a:avLst>
              <a:gd name="adj1" fmla="val -37178"/>
              <a:gd name="adj2" fmla="val -752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We are uncovering better ways of developing software by doing it and helping others do it.</a:t>
            </a:r>
          </a:p>
          <a:p>
            <a:pPr algn="ctr"/>
            <a:r>
              <a:rPr lang="en-US" sz="2200" dirty="0"/>
              <a:t>Through this work we have come to value: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15571" y="2782956"/>
            <a:ext cx="2345635" cy="3286540"/>
            <a:chOff x="821635" y="2782957"/>
            <a:chExt cx="2345635" cy="3286540"/>
          </a:xfrm>
        </p:grpSpPr>
        <p:sp>
          <p:nvSpPr>
            <p:cNvPr id="4" name="Rectangle 3"/>
            <p:cNvSpPr/>
            <p:nvPr/>
          </p:nvSpPr>
          <p:spPr>
            <a:xfrm>
              <a:off x="821635" y="3929487"/>
              <a:ext cx="2345635" cy="2140010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Individuals and interactions 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over </a:t>
              </a:r>
            </a:p>
            <a:p>
              <a:pPr algn="ctr"/>
              <a:r>
                <a:rPr lang="en-US" sz="2400" b="1" dirty="0"/>
                <a:t>processes and tools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391478" y="2782957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5016" y="3009117"/>
              <a:ext cx="811391" cy="811391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3471905" y="2782956"/>
            <a:ext cx="2345635" cy="3286540"/>
            <a:chOff x="3417556" y="2782956"/>
            <a:chExt cx="2345635" cy="3286540"/>
          </a:xfrm>
        </p:grpSpPr>
        <p:sp>
          <p:nvSpPr>
            <p:cNvPr id="17" name="Rectangle 16"/>
            <p:cNvSpPr/>
            <p:nvPr/>
          </p:nvSpPr>
          <p:spPr>
            <a:xfrm>
              <a:off x="3417556" y="3929486"/>
              <a:ext cx="2345635" cy="2140010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Working </a:t>
              </a:r>
            </a:p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software 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over</a:t>
              </a:r>
              <a:r>
                <a:rPr lang="en-US" sz="2400" dirty="0"/>
                <a:t> </a:t>
              </a:r>
              <a:r>
                <a:rPr lang="en-US" sz="2400" b="1" dirty="0"/>
                <a:t>comprehensive documentation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3987399" y="2782956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9574" y="3047753"/>
              <a:ext cx="811391" cy="811391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6328239" y="2782956"/>
            <a:ext cx="2345635" cy="3286540"/>
            <a:chOff x="6026729" y="2782956"/>
            <a:chExt cx="2345635" cy="3286540"/>
          </a:xfrm>
        </p:grpSpPr>
        <p:sp>
          <p:nvSpPr>
            <p:cNvPr id="20" name="Rectangle 19"/>
            <p:cNvSpPr/>
            <p:nvPr/>
          </p:nvSpPr>
          <p:spPr>
            <a:xfrm>
              <a:off x="6026729" y="3929486"/>
              <a:ext cx="2345635" cy="2140010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Customer collaboration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over</a:t>
              </a:r>
              <a:endParaRPr lang="en-US" sz="2400" dirty="0"/>
            </a:p>
            <a:p>
              <a:pPr algn="ctr"/>
              <a:r>
                <a:rPr lang="en-US" sz="2400" b="1" dirty="0"/>
                <a:t>contract negotiation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596572" y="2782956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2989" y="3034874"/>
              <a:ext cx="811391" cy="811391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9184572" y="2782956"/>
            <a:ext cx="2345635" cy="3286540"/>
            <a:chOff x="8630781" y="2789584"/>
            <a:chExt cx="2345635" cy="3286540"/>
          </a:xfrm>
        </p:grpSpPr>
        <p:sp>
          <p:nvSpPr>
            <p:cNvPr id="23" name="Rectangle 22"/>
            <p:cNvSpPr/>
            <p:nvPr/>
          </p:nvSpPr>
          <p:spPr>
            <a:xfrm>
              <a:off x="8630781" y="3936114"/>
              <a:ext cx="2345635" cy="2140010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Responding </a:t>
              </a:r>
            </a:p>
            <a:p>
              <a:pPr algn="ctr"/>
              <a:r>
                <a:rPr lang="en-US" sz="2400" b="1" dirty="0">
                  <a:solidFill>
                    <a:srgbClr val="B71B1C"/>
                  </a:solidFill>
                </a:rPr>
                <a:t>to change 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</a:rPr>
                <a:t>over</a:t>
              </a:r>
              <a:endParaRPr lang="en-US" sz="2400" dirty="0"/>
            </a:p>
            <a:p>
              <a:pPr algn="ctr"/>
              <a:r>
                <a:rPr lang="en-US" sz="2400" b="1" dirty="0"/>
                <a:t>following </a:t>
              </a:r>
            </a:p>
            <a:p>
              <a:pPr algn="ctr"/>
              <a:r>
                <a:rPr lang="en-US" sz="2400" b="1" dirty="0"/>
                <a:t>a plan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200624" y="2789584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4162" y="3067260"/>
              <a:ext cx="811391" cy="811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235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Individuals and interactions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processes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People </a:t>
            </a:r>
            <a:r>
              <a:rPr lang="en-US" dirty="0"/>
              <a:t>are the most </a:t>
            </a:r>
            <a:r>
              <a:rPr lang="en-US" dirty="0">
                <a:solidFill>
                  <a:schemeClr val="accent6"/>
                </a:solidFill>
              </a:rPr>
              <a:t>important ingredient</a:t>
            </a:r>
            <a:r>
              <a:rPr lang="en-US" dirty="0"/>
              <a:t> of </a:t>
            </a:r>
            <a:r>
              <a:rPr lang="en-US" dirty="0">
                <a:solidFill>
                  <a:schemeClr val="accent6"/>
                </a:solidFill>
              </a:rPr>
              <a:t>success.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6"/>
                </a:solidFill>
              </a:rPr>
              <a:t>good process</a:t>
            </a:r>
            <a:r>
              <a:rPr lang="en-US" dirty="0"/>
              <a:t> will </a:t>
            </a:r>
            <a:r>
              <a:rPr lang="en-US" dirty="0">
                <a:solidFill>
                  <a:schemeClr val="accent6"/>
                </a:solidFill>
              </a:rPr>
              <a:t>not save</a:t>
            </a:r>
            <a:r>
              <a:rPr lang="en-US" dirty="0"/>
              <a:t> the project </a:t>
            </a:r>
            <a:r>
              <a:rPr lang="en-US" dirty="0">
                <a:solidFill>
                  <a:schemeClr val="accent6"/>
                </a:solidFill>
              </a:rPr>
              <a:t>from failure</a:t>
            </a:r>
            <a:r>
              <a:rPr lang="en-US" dirty="0"/>
              <a:t> if the </a:t>
            </a:r>
            <a:r>
              <a:rPr lang="en-US" dirty="0">
                <a:solidFill>
                  <a:srgbClr val="C00000"/>
                </a:solidFill>
              </a:rPr>
              <a:t>team</a:t>
            </a:r>
            <a:r>
              <a:rPr lang="en-US" dirty="0">
                <a:solidFill>
                  <a:schemeClr val="accent6"/>
                </a:solidFill>
              </a:rPr>
              <a:t> doesn’t have strong players</a:t>
            </a:r>
            <a:r>
              <a:rPr lang="en-US" dirty="0"/>
              <a:t>, but a bad process can make even the strongest of players ineffective.</a:t>
            </a:r>
          </a:p>
          <a:p>
            <a:r>
              <a:rPr lang="en-US" dirty="0"/>
              <a:t>Even a </a:t>
            </a:r>
            <a:r>
              <a:rPr lang="en-US" dirty="0">
                <a:solidFill>
                  <a:schemeClr val="accent6"/>
                </a:solidFill>
              </a:rPr>
              <a:t>group of strong players can fail badly</a:t>
            </a:r>
            <a:r>
              <a:rPr lang="en-US" dirty="0"/>
              <a:t> if they </a:t>
            </a:r>
            <a:r>
              <a:rPr lang="en-US" dirty="0">
                <a:solidFill>
                  <a:schemeClr val="accent6"/>
                </a:solidFill>
              </a:rPr>
              <a:t>don’t work as a team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6"/>
                </a:solidFill>
              </a:rPr>
              <a:t>strong player </a:t>
            </a:r>
            <a:r>
              <a:rPr lang="en-US" dirty="0"/>
              <a:t>is </a:t>
            </a:r>
            <a:r>
              <a:rPr lang="en-US" b="1" dirty="0"/>
              <a:t>not necessarily a pro programmer</a:t>
            </a:r>
            <a:r>
              <a:rPr lang="en-US" dirty="0"/>
              <a:t>. A strong player may be an average programmer, but </a:t>
            </a:r>
            <a:r>
              <a:rPr lang="en-US" dirty="0">
                <a:solidFill>
                  <a:schemeClr val="accent6"/>
                </a:solidFill>
              </a:rPr>
              <a:t>someone who works well with others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Working well with others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communicating,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interacting</a:t>
            </a:r>
            <a:r>
              <a:rPr lang="en-US" dirty="0"/>
              <a:t>, is </a:t>
            </a:r>
            <a:r>
              <a:rPr lang="en-US" b="1" dirty="0"/>
              <a:t>more important</a:t>
            </a:r>
            <a:r>
              <a:rPr lang="en-US" dirty="0"/>
              <a:t> than </a:t>
            </a:r>
            <a:r>
              <a:rPr lang="en-US" dirty="0">
                <a:solidFill>
                  <a:schemeClr val="accent6"/>
                </a:solidFill>
              </a:rPr>
              <a:t>raw programming talent</a:t>
            </a:r>
            <a:r>
              <a:rPr lang="en-US" dirty="0"/>
              <a:t>.</a:t>
            </a:r>
          </a:p>
          <a:p>
            <a:r>
              <a:rPr lang="en-US" dirty="0"/>
              <a:t>A team of </a:t>
            </a:r>
            <a:r>
              <a:rPr lang="en-US" dirty="0">
                <a:solidFill>
                  <a:schemeClr val="accent6"/>
                </a:solidFill>
              </a:rPr>
              <a:t>average programmers</a:t>
            </a:r>
            <a:r>
              <a:rPr lang="en-US" dirty="0"/>
              <a:t> who </a:t>
            </a:r>
            <a:r>
              <a:rPr lang="en-US" dirty="0">
                <a:solidFill>
                  <a:schemeClr val="accent6"/>
                </a:solidFill>
              </a:rPr>
              <a:t>communicate well</a:t>
            </a:r>
            <a:r>
              <a:rPr lang="en-US" dirty="0"/>
              <a:t> is more </a:t>
            </a:r>
            <a:r>
              <a:rPr lang="en-US" dirty="0">
                <a:solidFill>
                  <a:schemeClr val="accent6"/>
                </a:solidFill>
              </a:rPr>
              <a:t>likely to succeed</a:t>
            </a:r>
            <a:r>
              <a:rPr lang="en-US" dirty="0"/>
              <a:t> than a group of superstars who fail to interact as a team.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right tools </a:t>
            </a:r>
            <a:r>
              <a:rPr lang="en-US" dirty="0"/>
              <a:t>can be very </a:t>
            </a:r>
            <a:r>
              <a:rPr lang="en-US" dirty="0">
                <a:solidFill>
                  <a:schemeClr val="accent6"/>
                </a:solidFill>
              </a:rPr>
              <a:t>important to success</a:t>
            </a:r>
            <a:r>
              <a:rPr lang="en-US" dirty="0"/>
              <a:t>.</a:t>
            </a:r>
          </a:p>
          <a:p>
            <a:r>
              <a:rPr lang="en-US" dirty="0"/>
              <a:t>Compilers, IDEs, source-code control systems, etc. are all vital to the proper functioning of a team of developers.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5" y="27490"/>
            <a:ext cx="645074" cy="64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8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Individuals and interactions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processes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Remember, </a:t>
            </a:r>
            <a:r>
              <a:rPr lang="en-US" dirty="0">
                <a:solidFill>
                  <a:schemeClr val="accent6"/>
                </a:solidFill>
              </a:rPr>
              <a:t>building the team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</a:rPr>
              <a:t>more important</a:t>
            </a:r>
            <a:r>
              <a:rPr lang="en-US" dirty="0"/>
              <a:t> than </a:t>
            </a:r>
            <a:r>
              <a:rPr lang="en-US" dirty="0">
                <a:solidFill>
                  <a:schemeClr val="accent6"/>
                </a:solidFill>
              </a:rPr>
              <a:t>building the environment</a:t>
            </a:r>
            <a:r>
              <a:rPr lang="en-US" dirty="0"/>
              <a:t>. </a:t>
            </a:r>
          </a:p>
          <a:p>
            <a:r>
              <a:rPr lang="en-US" dirty="0"/>
              <a:t>Many teams and managers make the mistake of building the environment first and expecting the team to gel(fit together well) automatically. </a:t>
            </a:r>
          </a:p>
          <a:p>
            <a:r>
              <a:rPr lang="en-US" dirty="0"/>
              <a:t>Instead, work to create the team, and then let the team configure the environment on the basis of need.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495" y="27490"/>
            <a:ext cx="645074" cy="64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9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software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534" y="3805138"/>
            <a:ext cx="11929641" cy="2092080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Software without documentation</a:t>
            </a:r>
            <a:r>
              <a:rPr lang="en-US" dirty="0"/>
              <a:t> is a </a:t>
            </a:r>
            <a:r>
              <a:rPr lang="en-US" dirty="0">
                <a:solidFill>
                  <a:schemeClr val="accent6"/>
                </a:solidFill>
              </a:rPr>
              <a:t>disaster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Code</a:t>
            </a:r>
            <a:r>
              <a:rPr lang="en-US" dirty="0"/>
              <a:t> is </a:t>
            </a:r>
            <a:r>
              <a:rPr lang="en-US" dirty="0">
                <a:solidFill>
                  <a:schemeClr val="accent6"/>
                </a:solidFill>
              </a:rPr>
              <a:t>not</a:t>
            </a:r>
            <a:r>
              <a:rPr lang="en-US" dirty="0"/>
              <a:t> the ideal </a:t>
            </a:r>
            <a:r>
              <a:rPr lang="en-US" dirty="0">
                <a:solidFill>
                  <a:schemeClr val="accent6"/>
                </a:solidFill>
              </a:rPr>
              <a:t>medium for communicating</a:t>
            </a:r>
            <a:r>
              <a:rPr lang="en-US" dirty="0"/>
              <a:t> the structure of a system.</a:t>
            </a:r>
          </a:p>
          <a:p>
            <a:r>
              <a:rPr lang="en-US" dirty="0"/>
              <a:t>The team needs to </a:t>
            </a:r>
            <a:r>
              <a:rPr lang="en-US" dirty="0">
                <a:solidFill>
                  <a:schemeClr val="accent6"/>
                </a:solidFill>
              </a:rPr>
              <a:t>produce human-readable documents</a:t>
            </a:r>
            <a:r>
              <a:rPr lang="en-US" dirty="0"/>
              <a:t> that </a:t>
            </a:r>
            <a:r>
              <a:rPr lang="en-US" dirty="0">
                <a:solidFill>
                  <a:schemeClr val="accent6"/>
                </a:solidFill>
              </a:rPr>
              <a:t>describe the system</a:t>
            </a:r>
            <a:r>
              <a:rPr lang="en-US" dirty="0"/>
              <a:t> and the rationale for their design decisions.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4362" y="2742261"/>
            <a:ext cx="11595279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 Agile Manifesto </a:t>
            </a:r>
            <a:r>
              <a:rPr lang="en-US" sz="2400" b="1" dirty="0">
                <a:solidFill>
                  <a:schemeClr val="accent6"/>
                </a:solidFill>
              </a:rPr>
              <a:t>makes shipping software for your customers</a:t>
            </a:r>
            <a:r>
              <a:rPr lang="en-US" sz="2400" dirty="0"/>
              <a:t> one of the </a:t>
            </a:r>
            <a:r>
              <a:rPr lang="en-US" sz="2400" b="1" dirty="0">
                <a:solidFill>
                  <a:schemeClr val="accent6"/>
                </a:solidFill>
              </a:rPr>
              <a:t>main focuses</a:t>
            </a:r>
            <a:r>
              <a:rPr lang="en-US" sz="2400" dirty="0"/>
              <a:t>. You can then collect reviews to enhance upcoming releases.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67179" y="864808"/>
            <a:ext cx="11929641" cy="1826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past, software developers would spend countless hours making comprehensive records. </a:t>
            </a:r>
          </a:p>
          <a:p>
            <a:r>
              <a:rPr lang="en-US" dirty="0"/>
              <a:t>It was also before they began to write a single code line. </a:t>
            </a:r>
          </a:p>
          <a:p>
            <a:r>
              <a:rPr lang="en-US" dirty="0"/>
              <a:t>Even though documentation is not wrong, you must concentrate on delivering working software to your customers.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430" y="66127"/>
            <a:ext cx="811391" cy="8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8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software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8"/>
            <a:ext cx="11929641" cy="3013164"/>
          </a:xfrm>
        </p:spPr>
        <p:txBody>
          <a:bodyPr/>
          <a:lstStyle/>
          <a:p>
            <a:r>
              <a:rPr lang="en-US" dirty="0"/>
              <a:t>However, </a:t>
            </a:r>
            <a:r>
              <a:rPr lang="en-US" dirty="0">
                <a:solidFill>
                  <a:srgbClr val="BF2323"/>
                </a:solidFill>
              </a:rPr>
              <a:t>too much documentation is worse </a:t>
            </a:r>
            <a:r>
              <a:rPr lang="en-US" dirty="0"/>
              <a:t>than too little. </a:t>
            </a:r>
          </a:p>
          <a:p>
            <a:pPr lvl="1"/>
            <a:r>
              <a:rPr lang="en-US" dirty="0"/>
              <a:t>Huge software documents take a great deal of time to produce and even more time to keep in sync with the code. </a:t>
            </a:r>
          </a:p>
          <a:p>
            <a:pPr lvl="1"/>
            <a:r>
              <a:rPr lang="en-US" dirty="0"/>
              <a:t>If they are not kept in sync, then they turn into large, complicated lies and become a significant source of misdirection.</a:t>
            </a:r>
          </a:p>
          <a:p>
            <a:r>
              <a:rPr lang="en-US" dirty="0"/>
              <a:t>The document needs to be </a:t>
            </a:r>
            <a:r>
              <a:rPr lang="en-US" i="1" dirty="0"/>
              <a:t>short </a:t>
            </a:r>
            <a:r>
              <a:rPr lang="en-US" dirty="0"/>
              <a:t>and significant.</a:t>
            </a:r>
          </a:p>
          <a:p>
            <a:pPr lvl="1"/>
            <a:r>
              <a:rPr lang="en-US" dirty="0"/>
              <a:t>Short means </a:t>
            </a:r>
            <a:r>
              <a:rPr lang="en-US" b="1" dirty="0"/>
              <a:t>one or two dozen </a:t>
            </a:r>
            <a:r>
              <a:rPr lang="en-US" dirty="0"/>
              <a:t>pages at most</a:t>
            </a:r>
          </a:p>
          <a:p>
            <a:pPr lvl="1"/>
            <a:r>
              <a:rPr lang="en-US" dirty="0"/>
              <a:t>Significant means it should </a:t>
            </a:r>
            <a:r>
              <a:rPr lang="en-US" b="1" dirty="0"/>
              <a:t>discuss the overall design</a:t>
            </a:r>
            <a:r>
              <a:rPr lang="en-US" dirty="0"/>
              <a:t> rationale and </a:t>
            </a:r>
            <a:r>
              <a:rPr lang="en-US" b="1" dirty="0"/>
              <a:t>only the highest-level structures </a:t>
            </a:r>
            <a:r>
              <a:rPr lang="en-US" dirty="0"/>
              <a:t>in the system</a:t>
            </a:r>
          </a:p>
          <a:p>
            <a:r>
              <a:rPr lang="en-US" dirty="0"/>
              <a:t>There is a simple rule called </a:t>
            </a:r>
            <a:r>
              <a:rPr lang="en-US" b="1" dirty="0"/>
              <a:t>Martin’s first law of documentation </a:t>
            </a:r>
            <a:r>
              <a:rPr lang="en-US" dirty="0"/>
              <a:t>that prevents it: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337769" y="4529467"/>
            <a:ext cx="11317356" cy="634985"/>
          </a:xfrm>
          <a:prstGeom prst="wedgeRoundRectCallout">
            <a:avLst>
              <a:gd name="adj1" fmla="val 343"/>
              <a:gd name="adj2" fmla="val -8943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Produce no document unless its need is immediate and significant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430" y="66127"/>
            <a:ext cx="811391" cy="8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collaboration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contract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738" y="2308896"/>
            <a:ext cx="11929641" cy="4194935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>
                <a:solidFill>
                  <a:srgbClr val="BF2323"/>
                </a:solidFill>
              </a:rPr>
              <a:t>cannot</a:t>
            </a:r>
            <a:r>
              <a:rPr lang="en-US" dirty="0"/>
              <a:t> be </a:t>
            </a:r>
            <a:r>
              <a:rPr lang="en-US" dirty="0">
                <a:solidFill>
                  <a:srgbClr val="BF2323"/>
                </a:solidFill>
              </a:rPr>
              <a:t>ordered</a:t>
            </a:r>
            <a:r>
              <a:rPr lang="en-US" dirty="0"/>
              <a:t> </a:t>
            </a:r>
            <a:r>
              <a:rPr lang="en-US" dirty="0">
                <a:solidFill>
                  <a:srgbClr val="BF2323"/>
                </a:solidFill>
              </a:rPr>
              <a:t>like</a:t>
            </a:r>
            <a:r>
              <a:rPr lang="en-US" dirty="0"/>
              <a:t> a </a:t>
            </a:r>
            <a:r>
              <a:rPr lang="en-US" dirty="0">
                <a:solidFill>
                  <a:srgbClr val="BF2323"/>
                </a:solidFill>
              </a:rPr>
              <a:t>commodity</a:t>
            </a:r>
            <a:r>
              <a:rPr lang="en-US" dirty="0"/>
              <a:t>. </a:t>
            </a:r>
          </a:p>
          <a:p>
            <a:r>
              <a:rPr lang="en-US" dirty="0"/>
              <a:t>You cannot write a description of the software you want and then have someone develop it on a fixed schedule for a fixed price. </a:t>
            </a:r>
          </a:p>
          <a:p>
            <a:r>
              <a:rPr lang="en-US" dirty="0"/>
              <a:t>Time and time again, attempts to treat software projects in this manner have failed</a:t>
            </a:r>
          </a:p>
          <a:p>
            <a:r>
              <a:rPr lang="en-US" dirty="0">
                <a:solidFill>
                  <a:srgbClr val="BF2323"/>
                </a:solidFill>
              </a:rPr>
              <a:t>Successful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BF2323"/>
                </a:solidFill>
              </a:rPr>
              <a:t>projects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involve </a:t>
            </a:r>
            <a:r>
              <a:rPr lang="en-US" dirty="0">
                <a:solidFill>
                  <a:srgbClr val="BF2323"/>
                </a:solidFill>
              </a:rPr>
              <a:t>customer feedback </a:t>
            </a:r>
            <a:r>
              <a:rPr lang="en-US" dirty="0"/>
              <a:t>on a regular and frequent basis. </a:t>
            </a:r>
            <a:r>
              <a:rPr lang="en-US" dirty="0">
                <a:solidFill>
                  <a:srgbClr val="BF2323"/>
                </a:solidFill>
              </a:rPr>
              <a:t>Rather than depending on a contract </a:t>
            </a:r>
            <a:r>
              <a:rPr lang="en-US" dirty="0"/>
              <a:t>or a statement of work, the customer of the software works closely with the development team, providing frequent feedback on their efforts.</a:t>
            </a:r>
          </a:p>
          <a:p>
            <a:r>
              <a:rPr lang="en-US" dirty="0"/>
              <a:t>The best contracts are those that govern the way the development team and the customer will work together.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5005" y="1733"/>
            <a:ext cx="680212" cy="6802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9193" y="909884"/>
            <a:ext cx="11440733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According to the Agile Manifesto, the </a:t>
            </a:r>
            <a:r>
              <a:rPr lang="en-US" sz="2400" b="1" dirty="0">
                <a:solidFill>
                  <a:srgbClr val="BF2323"/>
                </a:solidFill>
              </a:rPr>
              <a:t>focus should be on continuous development</a:t>
            </a:r>
            <a:r>
              <a:rPr lang="en-US" sz="2400" dirty="0"/>
              <a:t>. You need to build a feedback loop with your customers so that you can constantly ensure that your product works for them</a:t>
            </a:r>
          </a:p>
        </p:txBody>
      </p:sp>
    </p:spTree>
    <p:extLst>
      <p:ext uri="{BB962C8B-B14F-4D97-AF65-F5344CB8AC3E}">
        <p14:creationId xmlns:p14="http://schemas.microsoft.com/office/powerpoint/2010/main" val="147617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Responding to change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over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/>
              <a:t>following a plan.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9"/>
            <a:ext cx="11929641" cy="3256600"/>
          </a:xfrm>
        </p:spPr>
        <p:txBody>
          <a:bodyPr/>
          <a:lstStyle/>
          <a:p>
            <a:r>
              <a:rPr lang="en-US" dirty="0"/>
              <a:t>We can </a:t>
            </a:r>
            <a:r>
              <a:rPr lang="en-US" dirty="0">
                <a:solidFill>
                  <a:srgbClr val="C00000"/>
                </a:solidFill>
              </a:rPr>
              <a:t>not imagine </a:t>
            </a:r>
            <a:r>
              <a:rPr lang="en-US" dirty="0"/>
              <a:t>a time </a:t>
            </a:r>
            <a:r>
              <a:rPr lang="en-US" dirty="0">
                <a:solidFill>
                  <a:srgbClr val="C00000"/>
                </a:solidFill>
              </a:rPr>
              <a:t>when we would create a roadmap </a:t>
            </a:r>
            <a:r>
              <a:rPr lang="en-US" dirty="0"/>
              <a:t>and it would </a:t>
            </a:r>
            <a:r>
              <a:rPr lang="en-US" dirty="0">
                <a:solidFill>
                  <a:srgbClr val="C00000"/>
                </a:solidFill>
              </a:rPr>
              <a:t>never changes</a:t>
            </a:r>
          </a:p>
          <a:p>
            <a:r>
              <a:rPr lang="en-US" dirty="0"/>
              <a:t>The issue with static roadmaps is that we don’t live in a static world. Needs and </a:t>
            </a:r>
            <a:r>
              <a:rPr lang="en-US" dirty="0">
                <a:solidFill>
                  <a:srgbClr val="C00000"/>
                </a:solidFill>
              </a:rPr>
              <a:t>requirements are always shifting,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priorities are always changing</a:t>
            </a:r>
            <a:r>
              <a:rPr lang="en-US" dirty="0"/>
              <a:t>. That static roadmap will soon grow outdated.</a:t>
            </a:r>
          </a:p>
          <a:p>
            <a:r>
              <a:rPr lang="en-US" dirty="0"/>
              <a:t>It is the ability to </a:t>
            </a:r>
            <a:r>
              <a:rPr lang="en-US" dirty="0">
                <a:solidFill>
                  <a:srgbClr val="C00000"/>
                </a:solidFill>
              </a:rPr>
              <a:t>respond to change that often decides the success or failure </a:t>
            </a:r>
            <a:r>
              <a:rPr lang="en-US" dirty="0"/>
              <a:t>of a software project. </a:t>
            </a:r>
          </a:p>
          <a:p>
            <a:r>
              <a:rPr lang="en-US" dirty="0"/>
              <a:t>When we build plans, we need to make sure that our plans are flexible and ready to adapt to changes in the business and technology.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3589" y="4134119"/>
            <a:ext cx="11440732" cy="156966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That’s why the Agile Manifesto suggests that a </a:t>
            </a:r>
            <a:r>
              <a:rPr lang="en-US" sz="2400" dirty="0">
                <a:solidFill>
                  <a:schemeClr val="accent6"/>
                </a:solidFill>
              </a:rPr>
              <a:t>software team</a:t>
            </a:r>
            <a:r>
              <a:rPr lang="en-US" sz="2400" dirty="0"/>
              <a:t> should have the </a:t>
            </a:r>
            <a:r>
              <a:rPr lang="en-US" sz="2400" dirty="0">
                <a:solidFill>
                  <a:schemeClr val="accent6"/>
                </a:solidFill>
              </a:rPr>
              <a:t>ability to pivot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BF2323"/>
                </a:solidFill>
              </a:rPr>
              <a:t>change direction </a:t>
            </a:r>
            <a:r>
              <a:rPr lang="en-US" sz="2400" dirty="0"/>
              <a:t>whenever they need to, with a </a:t>
            </a:r>
            <a:r>
              <a:rPr lang="en-US" sz="2400" dirty="0">
                <a:solidFill>
                  <a:schemeClr val="accent6"/>
                </a:solidFill>
              </a:rPr>
              <a:t>flexible roadmap </a:t>
            </a:r>
            <a:r>
              <a:rPr lang="en-US" sz="2400" dirty="0"/>
              <a:t>that reflects that. A dynamic roadmap can change from quarter to quarter, sometimes even month to month, and agile teams are able to keep up with those changes.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099" y="38637"/>
            <a:ext cx="619996" cy="61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0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Agility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26" y="1990720"/>
            <a:ext cx="11710988" cy="4452938"/>
          </a:xfrm>
        </p:spPr>
        <p:txBody>
          <a:bodyPr/>
          <a:lstStyle/>
          <a:p>
            <a:r>
              <a:rPr lang="en-US" dirty="0"/>
              <a:t>The ability to </a:t>
            </a:r>
            <a:r>
              <a:rPr lang="en-US" b="1" dirty="0">
                <a:solidFill>
                  <a:srgbClr val="BF2323"/>
                </a:solidFill>
              </a:rPr>
              <a:t>create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BF2323"/>
                </a:solidFill>
              </a:rPr>
              <a:t>respond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to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change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in order to profit in a unstable global business environment.</a:t>
            </a:r>
          </a:p>
          <a:p>
            <a:r>
              <a:rPr lang="en-US" dirty="0"/>
              <a:t>The ability to </a:t>
            </a:r>
            <a:r>
              <a:rPr lang="en-US" b="1" dirty="0">
                <a:solidFill>
                  <a:srgbClr val="BF2323"/>
                </a:solidFill>
              </a:rPr>
              <a:t>quickly reprioritize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use of resources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when requirements, technology, and knowledge shift.</a:t>
            </a:r>
          </a:p>
          <a:p>
            <a:r>
              <a:rPr lang="en-US" dirty="0"/>
              <a:t>A very </a:t>
            </a:r>
            <a:r>
              <a:rPr lang="en-US" b="1" dirty="0">
                <a:solidFill>
                  <a:srgbClr val="BF2323"/>
                </a:solidFill>
              </a:rPr>
              <a:t>fast response to sudden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market </a:t>
            </a:r>
            <a:r>
              <a:rPr lang="en-US" b="1" dirty="0">
                <a:solidFill>
                  <a:srgbClr val="BF2323"/>
                </a:solidFill>
              </a:rPr>
              <a:t>changes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emerging threats by intensive customer interaction.</a:t>
            </a:r>
          </a:p>
          <a:p>
            <a:r>
              <a:rPr lang="en-US" dirty="0"/>
              <a:t>Use of </a:t>
            </a:r>
            <a:r>
              <a:rPr lang="en-US" b="1" dirty="0">
                <a:solidFill>
                  <a:srgbClr val="BF2323"/>
                </a:solidFill>
              </a:rPr>
              <a:t>evolutionary</a:t>
            </a:r>
            <a:r>
              <a:rPr lang="en-US" b="1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incremental</a:t>
            </a:r>
            <a:r>
              <a:rPr lang="en-US" b="1" dirty="0"/>
              <a:t>,</a:t>
            </a:r>
            <a:r>
              <a:rPr lang="en-US" dirty="0"/>
              <a:t> and </a:t>
            </a:r>
            <a:r>
              <a:rPr lang="en-US" b="1" dirty="0">
                <a:solidFill>
                  <a:srgbClr val="BF2323"/>
                </a:solidFill>
              </a:rPr>
              <a:t>iterative delivery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to converge on an optimal customer solution.</a:t>
            </a:r>
          </a:p>
          <a:p>
            <a:r>
              <a:rPr lang="en-US" dirty="0"/>
              <a:t>Maximizing </a:t>
            </a:r>
            <a:r>
              <a:rPr lang="en-US" b="1" dirty="0"/>
              <a:t>BUSINESS VALUE </a:t>
            </a:r>
            <a:r>
              <a:rPr lang="en-US" dirty="0"/>
              <a:t>with </a:t>
            </a:r>
            <a:r>
              <a:rPr lang="en-US" b="1" dirty="0">
                <a:solidFill>
                  <a:srgbClr val="BF2323"/>
                </a:solidFill>
              </a:rPr>
              <a:t>right sized</a:t>
            </a:r>
            <a:r>
              <a:rPr lang="en-US" dirty="0"/>
              <a:t>, </a:t>
            </a:r>
            <a:r>
              <a:rPr lang="en-US" b="1" dirty="0">
                <a:solidFill>
                  <a:srgbClr val="BF2323"/>
                </a:solidFill>
              </a:rPr>
              <a:t>just- enough</a:t>
            </a:r>
            <a:r>
              <a:rPr lang="en-US" dirty="0"/>
              <a:t>, and </a:t>
            </a:r>
            <a:r>
              <a:rPr lang="en-US" b="1" dirty="0">
                <a:solidFill>
                  <a:srgbClr val="BF2323"/>
                </a:solidFill>
              </a:rPr>
              <a:t>just-in-time processes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BF2323"/>
                </a:solidFill>
              </a:rPr>
              <a:t>documentation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4446" y="341869"/>
            <a:ext cx="4144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Agility is </a:t>
            </a:r>
            <a:r>
              <a:rPr lang="en-US" b="1" dirty="0"/>
              <a:t>ability to move quickly and easily</a:t>
            </a:r>
            <a:r>
              <a:rPr lang="en-US" dirty="0"/>
              <a:t>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328613" y="1021353"/>
            <a:ext cx="11501437" cy="685800"/>
          </a:xfrm>
          <a:prstGeom prst="wedgeRoundRectCallout">
            <a:avLst>
              <a:gd name="adj1" fmla="val -41423"/>
              <a:gd name="adj2" fmla="val -1322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It is a property consisting of </a:t>
            </a:r>
            <a:r>
              <a:rPr lang="en-US" sz="2800" b="1" dirty="0">
                <a:solidFill>
                  <a:srgbClr val="BF2323"/>
                </a:solidFill>
              </a:rPr>
              <a:t>quickness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F2323"/>
                </a:solidFill>
              </a:rPr>
              <a:t>lightness</a:t>
            </a:r>
            <a:r>
              <a:rPr lang="en-US" sz="2800" dirty="0"/>
              <a:t>, &amp; </a:t>
            </a:r>
            <a:r>
              <a:rPr lang="en-US" sz="2800" b="1" dirty="0">
                <a:solidFill>
                  <a:srgbClr val="BF2323"/>
                </a:solidFill>
              </a:rPr>
              <a:t>ease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>
                <a:solidFill>
                  <a:srgbClr val="BF2323"/>
                </a:solidFill>
              </a:rPr>
              <a:t>of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>
                <a:solidFill>
                  <a:srgbClr val="BF2323"/>
                </a:solidFill>
              </a:rPr>
              <a:t>movement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159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Agility?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912" y="817841"/>
            <a:ext cx="3036759" cy="17819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7927" y="801677"/>
            <a:ext cx="3026744" cy="1798134"/>
            <a:chOff x="342889" y="1579518"/>
            <a:chExt cx="8240413" cy="4895478"/>
          </a:xfrm>
        </p:grpSpPr>
        <p:pic>
          <p:nvPicPr>
            <p:cNvPr id="6" name="Picture 2" descr="Image result for effective communication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889" y="1641231"/>
              <a:ext cx="8240413" cy="4833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353704" y="1579518"/>
              <a:ext cx="6172201" cy="852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Current Functionality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17312" y="5325070"/>
              <a:ext cx="5143501" cy="852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b="1" dirty="0">
                  <a:solidFill>
                    <a:schemeClr val="bg1"/>
                  </a:solidFill>
                </a:rPr>
                <a:t>Change Request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4963678" y="842952"/>
            <a:ext cx="2422958" cy="19272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7927" y="2684522"/>
            <a:ext cx="1969469" cy="193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10398" y="817841"/>
            <a:ext cx="1724605" cy="17819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279351" y="1107460"/>
            <a:ext cx="138531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Effective 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response 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to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3679" y="2770250"/>
            <a:ext cx="2422958" cy="18445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123703" y="2871902"/>
            <a:ext cx="213712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</a:rPr>
              <a:t>Effective </a:t>
            </a:r>
          </a:p>
          <a:p>
            <a:pPr algn="ctr"/>
            <a:r>
              <a:rPr lang="en-IN" sz="2400" dirty="0">
                <a:solidFill>
                  <a:srgbClr val="000000"/>
                </a:solidFill>
              </a:rPr>
              <a:t>communication </a:t>
            </a:r>
          </a:p>
          <a:p>
            <a:pPr algn="ctr"/>
            <a:r>
              <a:rPr lang="en-IN" sz="2400" dirty="0">
                <a:solidFill>
                  <a:srgbClr val="000000"/>
                </a:solidFill>
              </a:rPr>
              <a:t>among all </a:t>
            </a:r>
          </a:p>
          <a:p>
            <a:pPr algn="ctr"/>
            <a:r>
              <a:rPr lang="en-IN" sz="2400" dirty="0">
                <a:solidFill>
                  <a:srgbClr val="000000"/>
                </a:solidFill>
              </a:rPr>
              <a:t>stakeholders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432" y="958089"/>
            <a:ext cx="1698874" cy="169887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057396" y="2684523"/>
            <a:ext cx="2777607" cy="193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188936" y="2850504"/>
            <a:ext cx="24593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Organizing a team 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so that it is in control to perform 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the work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88" y="2779064"/>
            <a:ext cx="1675748" cy="16757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4274" y="4725060"/>
            <a:ext cx="2814179" cy="171828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751859" y="4741484"/>
            <a:ext cx="2220974" cy="1701859"/>
            <a:chOff x="1957151" y="2266238"/>
            <a:chExt cx="5662546" cy="4339021"/>
          </a:xfrm>
        </p:grpSpPr>
        <p:pic>
          <p:nvPicPr>
            <p:cNvPr id="21" name="Picture 2" descr="Image result for customer in tea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7151" y="2266238"/>
              <a:ext cx="5662546" cy="4339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/>
            <p:cNvSpPr txBox="1"/>
            <p:nvPr/>
          </p:nvSpPr>
          <p:spPr>
            <a:xfrm>
              <a:off x="2817603" y="5812961"/>
              <a:ext cx="3814128" cy="774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>
                  <a:solidFill>
                    <a:srgbClr val="C00000"/>
                  </a:solidFill>
                </a:rPr>
                <a:t>Customer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908454" y="4725060"/>
            <a:ext cx="4478182" cy="17182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050111" y="5010554"/>
            <a:ext cx="20814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Drawing the </a:t>
            </a:r>
          </a:p>
          <a:p>
            <a:pPr algn="ctr"/>
            <a:r>
              <a:rPr lang="en-US" sz="2400" dirty="0"/>
              <a:t>customer onto </a:t>
            </a:r>
          </a:p>
          <a:p>
            <a:pPr algn="ctr"/>
            <a:r>
              <a:rPr lang="en-US" sz="2400" dirty="0"/>
              <a:t>the team</a:t>
            </a:r>
            <a:endParaRPr lang="en-IN" sz="2400" dirty="0"/>
          </a:p>
        </p:txBody>
      </p:sp>
      <p:sp>
        <p:nvSpPr>
          <p:cNvPr id="26" name="Rectangle 25"/>
          <p:cNvSpPr/>
          <p:nvPr/>
        </p:nvSpPr>
        <p:spPr>
          <a:xfrm>
            <a:off x="5208856" y="5010554"/>
            <a:ext cx="20389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Eliminate the </a:t>
            </a:r>
          </a:p>
          <a:p>
            <a:pPr algn="ctr"/>
            <a:r>
              <a:rPr lang="en-US" sz="2400" dirty="0"/>
              <a:t>“us and them” </a:t>
            </a:r>
          </a:p>
          <a:p>
            <a:pPr algn="ctr"/>
            <a:r>
              <a:rPr lang="en-US" sz="2400" dirty="0"/>
              <a:t>attitude</a:t>
            </a:r>
            <a:endParaRPr lang="en-IN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40260" y="4514243"/>
            <a:ext cx="738664" cy="21929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Development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Team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5120280" y="4914900"/>
            <a:ext cx="0" cy="1341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497847" y="846992"/>
            <a:ext cx="4592553" cy="4811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497846" y="1388632"/>
            <a:ext cx="4592554" cy="4270307"/>
          </a:xfrm>
          <a:prstGeom prst="rect">
            <a:avLst/>
          </a:prstGeom>
          <a:ln w="31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574047" y="936255"/>
            <a:ext cx="44909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Rapid and Incremental delivery of software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"/>
          <a:stretch/>
        </p:blipFill>
        <p:spPr>
          <a:xfrm>
            <a:off x="7571460" y="1669737"/>
            <a:ext cx="4429970" cy="129965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"/>
          <a:stretch/>
        </p:blipFill>
        <p:spPr>
          <a:xfrm>
            <a:off x="7696439" y="3851780"/>
            <a:ext cx="4265078" cy="1411616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7637546" y="3441785"/>
            <a:ext cx="43511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14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16" grpId="0" animBg="1"/>
      <p:bldP spid="17" grpId="0"/>
      <p:bldP spid="19" grpId="0" animBg="1"/>
      <p:bldP spid="24" grpId="0" animBg="1"/>
      <p:bldP spid="25" grpId="0"/>
      <p:bldP spid="26" grpId="0"/>
      <p:bldP spid="34" grpId="0" animBg="1"/>
      <p:bldP spid="35" grpId="0" animBg="1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Process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499" y="846908"/>
            <a:ext cx="11748951" cy="510406"/>
          </a:xfrm>
        </p:spPr>
        <p:txBody>
          <a:bodyPr/>
          <a:lstStyle/>
          <a:p>
            <a:r>
              <a:rPr lang="en-IN" dirty="0"/>
              <a:t>Agile software process addresses </a:t>
            </a:r>
            <a:r>
              <a:rPr lang="en-IN" b="1" dirty="0"/>
              <a:t>few assumptions</a:t>
            </a:r>
          </a:p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0499" y="3701975"/>
            <a:ext cx="11748951" cy="4570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An agile </a:t>
            </a:r>
            <a:r>
              <a:rPr lang="en-IN" b="1" dirty="0">
                <a:solidFill>
                  <a:srgbClr val="C00000"/>
                </a:solidFill>
              </a:rPr>
              <a:t>process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must </a:t>
            </a:r>
            <a:r>
              <a:rPr lang="en-IN" b="1" dirty="0">
                <a:solidFill>
                  <a:srgbClr val="C00000"/>
                </a:solidFill>
              </a:rPr>
              <a:t>adapt </a:t>
            </a:r>
            <a:r>
              <a:rPr lang="en-IN" dirty="0"/>
              <a:t>incrementally.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0498" y="4308622"/>
            <a:ext cx="11748951" cy="930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accomplish incremental adaptation, an agile team </a:t>
            </a:r>
            <a:r>
              <a:rPr lang="en-US" b="1" dirty="0">
                <a:solidFill>
                  <a:srgbClr val="C00000"/>
                </a:solidFill>
              </a:rPr>
              <a:t>requires customer feedback</a:t>
            </a:r>
            <a:r>
              <a:rPr lang="en-US" dirty="0"/>
              <a:t> (so that the appropriate adaptations can be made).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69050" y="2805346"/>
            <a:ext cx="1116098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Analysis</a:t>
            </a:r>
            <a:r>
              <a:rPr lang="en-IN" sz="2400" b="1" dirty="0"/>
              <a:t>,</a:t>
            </a:r>
            <a:r>
              <a:rPr lang="en-IN" sz="2400" b="1" dirty="0">
                <a:solidFill>
                  <a:schemeClr val="accent2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design</a:t>
            </a:r>
            <a:r>
              <a:rPr lang="en-IN" sz="2400" b="1" dirty="0"/>
              <a:t>,</a:t>
            </a:r>
            <a:r>
              <a:rPr lang="en-IN" sz="2400" b="1" dirty="0">
                <a:solidFill>
                  <a:schemeClr val="accent2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construction</a:t>
            </a:r>
            <a:r>
              <a:rPr lang="en-IN" sz="2400" b="1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and </a:t>
            </a:r>
            <a:r>
              <a:rPr lang="en-IN" sz="2400" b="1" dirty="0">
                <a:solidFill>
                  <a:srgbClr val="C00000"/>
                </a:solidFill>
              </a:rPr>
              <a:t>testing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are </a:t>
            </a:r>
            <a:r>
              <a:rPr lang="en-IN" sz="2400" b="1" dirty="0">
                <a:solidFill>
                  <a:srgbClr val="C00000"/>
                </a:solidFill>
              </a:rPr>
              <a:t>not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as </a:t>
            </a:r>
            <a:r>
              <a:rPr lang="en-IN" sz="2400" b="1" dirty="0">
                <a:solidFill>
                  <a:srgbClr val="C00000"/>
                </a:solidFill>
              </a:rPr>
              <a:t>predictable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as we might like.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9050" y="1464447"/>
            <a:ext cx="1116098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Difficulty in predicting changes</a:t>
            </a:r>
            <a:r>
              <a:rPr lang="en-IN" sz="2400" dirty="0"/>
              <a:t> of requirements and customer priorities.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9050" y="2115483"/>
            <a:ext cx="1116098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For many types of software; </a:t>
            </a:r>
            <a:r>
              <a:rPr lang="en-IN" sz="2400" b="1" dirty="0">
                <a:solidFill>
                  <a:srgbClr val="C00000"/>
                </a:solidFill>
              </a:rPr>
              <a:t>design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and </a:t>
            </a:r>
            <a:r>
              <a:rPr lang="en-IN" sz="2400" b="1" dirty="0">
                <a:solidFill>
                  <a:srgbClr val="C00000"/>
                </a:solidFill>
              </a:rPr>
              <a:t>construction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are </a:t>
            </a:r>
            <a:r>
              <a:rPr lang="en-IN" sz="2400" b="1" dirty="0">
                <a:solidFill>
                  <a:srgbClr val="C00000"/>
                </a:solidFill>
              </a:rPr>
              <a:t>interleaved</a:t>
            </a:r>
            <a:r>
              <a:rPr lang="en-IN" sz="2400" dirty="0">
                <a:solidFill>
                  <a:schemeClr val="accent2"/>
                </a:solidFill>
              </a:rPr>
              <a:t> </a:t>
            </a:r>
            <a:r>
              <a:rPr lang="en-IN" sz="2400" dirty="0"/>
              <a:t>(mixed).</a:t>
            </a:r>
          </a:p>
        </p:txBody>
      </p:sp>
    </p:spTree>
    <p:extLst>
      <p:ext uri="{BB962C8B-B14F-4D97-AF65-F5344CB8AC3E}">
        <p14:creationId xmlns:p14="http://schemas.microsoft.com/office/powerpoint/2010/main" val="27693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992" y="2978863"/>
            <a:ext cx="1740105" cy="15500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921" y="2001659"/>
            <a:ext cx="2317340" cy="1408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333" y="4700697"/>
            <a:ext cx="2544517" cy="9158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Agility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8"/>
            <a:ext cx="11769081" cy="559056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Highest priority </a:t>
            </a:r>
            <a:r>
              <a:rPr lang="en-IN" dirty="0"/>
              <a:t>is to </a:t>
            </a:r>
            <a:r>
              <a:rPr lang="en-IN" b="1" dirty="0">
                <a:solidFill>
                  <a:srgbClr val="C00000"/>
                </a:solidFill>
              </a:rPr>
              <a:t>satisfy</a:t>
            </a:r>
            <a:r>
              <a:rPr lang="en-IN" dirty="0"/>
              <a:t> the </a:t>
            </a:r>
            <a:r>
              <a:rPr lang="en-IN" b="1" dirty="0">
                <a:solidFill>
                  <a:srgbClr val="C00000"/>
                </a:solidFill>
              </a:rPr>
              <a:t>customer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through early &amp; </a:t>
            </a:r>
            <a:r>
              <a:rPr lang="en-IN" b="1" dirty="0">
                <a:solidFill>
                  <a:srgbClr val="C00000"/>
                </a:solidFill>
              </a:rPr>
              <a:t>continuous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b="1" dirty="0">
                <a:solidFill>
                  <a:srgbClr val="C00000"/>
                </a:solidFill>
              </a:rPr>
              <a:t>delivery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</a:t>
            </a:r>
            <a:r>
              <a:rPr lang="en-IN" b="1" dirty="0">
                <a:solidFill>
                  <a:srgbClr val="C00000"/>
                </a:solidFill>
              </a:rPr>
              <a:t>software</a:t>
            </a:r>
          </a:p>
          <a:p>
            <a:r>
              <a:rPr lang="en-US" dirty="0"/>
              <a:t>The sponsors, developers, and users should be </a:t>
            </a:r>
            <a:r>
              <a:rPr lang="en-US" b="1" dirty="0">
                <a:solidFill>
                  <a:srgbClr val="BF2323"/>
                </a:solidFill>
              </a:rPr>
              <a:t>able to maintain a constant pace indefinitely</a:t>
            </a:r>
            <a:r>
              <a:rPr lang="en-US" dirty="0"/>
              <a:t>.</a:t>
            </a:r>
            <a:endParaRPr lang="en-IN" b="1" dirty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Welcome changing</a:t>
            </a:r>
            <a:r>
              <a:rPr lang="en-IN" dirty="0"/>
              <a:t> requirements</a:t>
            </a:r>
          </a:p>
          <a:p>
            <a:r>
              <a:rPr lang="en-IN" b="1" dirty="0">
                <a:solidFill>
                  <a:srgbClr val="C00000"/>
                </a:solidFill>
              </a:rPr>
              <a:t>Deliver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working </a:t>
            </a:r>
            <a:r>
              <a:rPr lang="en-IN" b="1" dirty="0">
                <a:solidFill>
                  <a:srgbClr val="C00000"/>
                </a:solidFill>
              </a:rPr>
              <a:t>software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b="1" dirty="0">
                <a:solidFill>
                  <a:srgbClr val="C00000"/>
                </a:solidFill>
              </a:rPr>
              <a:t>frequently</a:t>
            </a:r>
          </a:p>
          <a:p>
            <a:r>
              <a:rPr lang="en-IN" b="1" dirty="0">
                <a:solidFill>
                  <a:srgbClr val="C00000"/>
                </a:solidFill>
              </a:rPr>
              <a:t>Business people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developers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must </a:t>
            </a:r>
            <a:r>
              <a:rPr lang="en-IN" b="1" dirty="0">
                <a:solidFill>
                  <a:srgbClr val="C00000"/>
                </a:solidFill>
              </a:rPr>
              <a:t>work together</a:t>
            </a:r>
          </a:p>
          <a:p>
            <a:r>
              <a:rPr lang="en-IN" b="1" dirty="0">
                <a:solidFill>
                  <a:srgbClr val="C00000"/>
                </a:solidFill>
              </a:rPr>
              <a:t>Build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projects </a:t>
            </a:r>
            <a:r>
              <a:rPr lang="en-IN" b="1" dirty="0">
                <a:solidFill>
                  <a:srgbClr val="C00000"/>
                </a:solidFill>
              </a:rPr>
              <a:t>around motivated</a:t>
            </a:r>
            <a:r>
              <a:rPr lang="en-IN" dirty="0"/>
              <a:t> individuals</a:t>
            </a:r>
          </a:p>
          <a:p>
            <a:r>
              <a:rPr lang="en-IN" dirty="0"/>
              <a:t>Emphasize</a:t>
            </a:r>
            <a:r>
              <a:rPr lang="en-IN" b="1" dirty="0">
                <a:solidFill>
                  <a:srgbClr val="C00000"/>
                </a:solidFill>
              </a:rPr>
              <a:t> face-to-face conversation</a:t>
            </a:r>
          </a:p>
          <a:p>
            <a:r>
              <a:rPr lang="en-IN" b="1" dirty="0">
                <a:solidFill>
                  <a:srgbClr val="C00000"/>
                </a:solidFill>
              </a:rPr>
              <a:t>Working software </a:t>
            </a:r>
            <a:r>
              <a:rPr lang="en-IN" dirty="0"/>
              <a:t>is the </a:t>
            </a:r>
            <a:r>
              <a:rPr lang="en-IN" b="1" dirty="0">
                <a:solidFill>
                  <a:srgbClr val="C00000"/>
                </a:solidFill>
              </a:rPr>
              <a:t>measure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</a:t>
            </a:r>
            <a:r>
              <a:rPr lang="en-IN" b="1" dirty="0">
                <a:solidFill>
                  <a:srgbClr val="C00000"/>
                </a:solidFill>
              </a:rPr>
              <a:t>progress</a:t>
            </a:r>
          </a:p>
          <a:p>
            <a:r>
              <a:rPr lang="en-IN" dirty="0"/>
              <a:t>Continuous </a:t>
            </a:r>
            <a:r>
              <a:rPr lang="en-IN" b="1" dirty="0">
                <a:solidFill>
                  <a:srgbClr val="C00000"/>
                </a:solidFill>
              </a:rPr>
              <a:t>attention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</a:t>
            </a:r>
            <a:r>
              <a:rPr lang="en-IN" b="1" dirty="0">
                <a:solidFill>
                  <a:srgbClr val="C00000"/>
                </a:solidFill>
              </a:rPr>
              <a:t>technical excellence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good design</a:t>
            </a:r>
          </a:p>
          <a:p>
            <a:r>
              <a:rPr lang="en-IN" b="1" dirty="0">
                <a:solidFill>
                  <a:srgbClr val="C00000"/>
                </a:solidFill>
              </a:rPr>
              <a:t>Simplicity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the art of maximizing the amount of work done</a:t>
            </a:r>
          </a:p>
          <a:p>
            <a:r>
              <a:rPr lang="en-IN" dirty="0"/>
              <a:t>The best designs emerge from </a:t>
            </a:r>
            <a:r>
              <a:rPr lang="en-IN" b="1" dirty="0">
                <a:solidFill>
                  <a:srgbClr val="C00000"/>
                </a:solidFill>
              </a:rPr>
              <a:t>self-organizing teams</a:t>
            </a:r>
          </a:p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team tunes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adjusts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its </a:t>
            </a:r>
            <a:r>
              <a:rPr lang="en-IN" b="1" dirty="0" err="1">
                <a:solidFill>
                  <a:srgbClr val="C00000"/>
                </a:solidFill>
              </a:rPr>
              <a:t>behavior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become more effective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agile methodology not 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990601"/>
            <a:ext cx="3765485" cy="2575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512" y="990601"/>
            <a:ext cx="3757893" cy="257036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076685" y="999187"/>
            <a:ext cx="0" cy="533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798" y="990601"/>
            <a:ext cx="3752932" cy="2566974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8108753" y="990601"/>
            <a:ext cx="0" cy="533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ular Callout 12"/>
          <p:cNvSpPr/>
          <p:nvPr/>
        </p:nvSpPr>
        <p:spPr>
          <a:xfrm>
            <a:off x="300446" y="4078178"/>
            <a:ext cx="3553097" cy="1682541"/>
          </a:xfrm>
          <a:prstGeom prst="wedgeRoundRectCallout">
            <a:avLst>
              <a:gd name="adj1" fmla="val -36642"/>
              <a:gd name="adj2" fmla="val -955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Project plan &amp; requirements are clear &amp; unlikely to change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4320219" y="4078178"/>
            <a:ext cx="3553097" cy="1682541"/>
          </a:xfrm>
          <a:prstGeom prst="wedgeRoundRectCallout">
            <a:avLst>
              <a:gd name="adj1" fmla="val 13726"/>
              <a:gd name="adj2" fmla="val -8545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Unclear understanding of Agile Approach among Teams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8472219" y="4078179"/>
            <a:ext cx="3553097" cy="1682541"/>
          </a:xfrm>
          <a:prstGeom prst="wedgeRoundRectCallout">
            <a:avLst>
              <a:gd name="adj1" fmla="val 1226"/>
              <a:gd name="adj2" fmla="val -9321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Big Enterprises where team collaboration is tough</a:t>
            </a:r>
          </a:p>
        </p:txBody>
      </p:sp>
    </p:spTree>
    <p:extLst>
      <p:ext uri="{BB962C8B-B14F-4D97-AF65-F5344CB8AC3E}">
        <p14:creationId xmlns:p14="http://schemas.microsoft.com/office/powerpoint/2010/main" val="398383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Process Models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0703" y="1052464"/>
            <a:ext cx="42864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Extreme Programming (XP)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702" y="1666159"/>
            <a:ext cx="837643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Adaptive Software Development (ASD)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702" y="2318491"/>
            <a:ext cx="837643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Dynamic Systems Development Method (DSDM)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702" y="2970823"/>
            <a:ext cx="837643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Feature Driven Development (FDD)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120" y="3708632"/>
            <a:ext cx="1155091" cy="121098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833" y="1326647"/>
            <a:ext cx="1485378" cy="10304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1" b="9584"/>
          <a:stretch/>
        </p:blipFill>
        <p:spPr>
          <a:xfrm>
            <a:off x="4637119" y="5074030"/>
            <a:ext cx="1595818" cy="12460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243" y="5181598"/>
            <a:ext cx="1030952" cy="10309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27373" y="1052464"/>
            <a:ext cx="399976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Scrum</a:t>
            </a:r>
          </a:p>
        </p:txBody>
      </p:sp>
    </p:spTree>
    <p:extLst>
      <p:ext uri="{BB962C8B-B14F-4D97-AF65-F5344CB8AC3E}">
        <p14:creationId xmlns:p14="http://schemas.microsoft.com/office/powerpoint/2010/main" val="95926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Extreme Programming (XP)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499" y="877520"/>
            <a:ext cx="11929641" cy="15967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most widely used approach to agile software development</a:t>
            </a:r>
          </a:p>
          <a:p>
            <a:r>
              <a:rPr lang="en-US" dirty="0"/>
              <a:t>A variant of XP called </a:t>
            </a:r>
            <a:r>
              <a:rPr lang="en-US" b="1" dirty="0">
                <a:solidFill>
                  <a:srgbClr val="BF2323"/>
                </a:solidFill>
              </a:rPr>
              <a:t>Industrial XP (IXP) </a:t>
            </a:r>
            <a:r>
              <a:rPr lang="en-US" dirty="0"/>
              <a:t>has been proposed to target process for large organizations</a:t>
            </a:r>
          </a:p>
          <a:p>
            <a:r>
              <a:rPr lang="en-US" dirty="0"/>
              <a:t>It uses </a:t>
            </a:r>
            <a:r>
              <a:rPr lang="en-US" b="1" dirty="0">
                <a:solidFill>
                  <a:srgbClr val="BF2323"/>
                </a:solidFill>
              </a:rPr>
              <a:t>object oriented approach </a:t>
            </a:r>
            <a:r>
              <a:rPr lang="en-US" dirty="0"/>
              <a:t>as its preferred development model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6474" y="2573194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XP Values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107567" y="3034859"/>
            <a:ext cx="981997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Content Placeholder 2"/>
          <p:cNvSpPr txBox="1">
            <a:spLocks/>
          </p:cNvSpPr>
          <p:nvPr/>
        </p:nvSpPr>
        <p:spPr>
          <a:xfrm>
            <a:off x="190499" y="3133793"/>
            <a:ext cx="11737040" cy="3366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Communication: </a:t>
            </a:r>
            <a:r>
              <a:rPr lang="en-US" dirty="0"/>
              <a:t>To achieve effective communication, it </a:t>
            </a:r>
            <a:r>
              <a:rPr lang="en-US" b="1" dirty="0">
                <a:solidFill>
                  <a:srgbClr val="BF2323"/>
                </a:solidFill>
              </a:rPr>
              <a:t>emphasized close &amp; informal (verbal) collaboration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between customers and developers</a:t>
            </a:r>
          </a:p>
          <a:p>
            <a:r>
              <a:rPr lang="en-US" b="1" dirty="0"/>
              <a:t>Simplicity: </a:t>
            </a:r>
            <a:r>
              <a:rPr lang="en-US" dirty="0"/>
              <a:t>It restricts developers to </a:t>
            </a:r>
            <a:r>
              <a:rPr lang="en-US" b="1" dirty="0">
                <a:solidFill>
                  <a:srgbClr val="BF2323"/>
                </a:solidFill>
              </a:rPr>
              <a:t>design</a:t>
            </a:r>
            <a:r>
              <a:rPr lang="en-US" dirty="0"/>
              <a:t> for </a:t>
            </a:r>
            <a:r>
              <a:rPr lang="en-US" b="1" dirty="0">
                <a:solidFill>
                  <a:srgbClr val="BF2323"/>
                </a:solidFill>
              </a:rPr>
              <a:t>immediate needs,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not</a:t>
            </a:r>
            <a:r>
              <a:rPr lang="en-US" dirty="0">
                <a:solidFill>
                  <a:srgbClr val="BF2323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BF2323"/>
                </a:solidFill>
              </a:rPr>
              <a:t>future needs</a:t>
            </a:r>
          </a:p>
          <a:p>
            <a:r>
              <a:rPr lang="en-US" b="1" dirty="0"/>
              <a:t>Feedback: </a:t>
            </a:r>
            <a:r>
              <a:rPr lang="en-US" dirty="0"/>
              <a:t>It is derived </a:t>
            </a:r>
            <a:r>
              <a:rPr lang="en-US" b="1" dirty="0">
                <a:solidFill>
                  <a:srgbClr val="BF2323"/>
                </a:solidFill>
              </a:rPr>
              <a:t>from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three sources the </a:t>
            </a:r>
            <a:r>
              <a:rPr lang="en-US" b="1" dirty="0">
                <a:solidFill>
                  <a:srgbClr val="BF2323"/>
                </a:solidFill>
              </a:rPr>
              <a:t>implemented software</a:t>
            </a:r>
            <a:r>
              <a:rPr lang="en-US" dirty="0"/>
              <a:t>, the </a:t>
            </a:r>
            <a:r>
              <a:rPr lang="en-US" b="1" dirty="0">
                <a:solidFill>
                  <a:srgbClr val="BF2323"/>
                </a:solidFill>
              </a:rPr>
              <a:t>customer,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BF2323"/>
                </a:solidFill>
              </a:rPr>
              <a:t>other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rgbClr val="BF2323"/>
                </a:solidFill>
              </a:rPr>
              <a:t>software team members</a:t>
            </a:r>
            <a:r>
              <a:rPr lang="en-US" dirty="0"/>
              <a:t>, it uses </a:t>
            </a:r>
            <a:r>
              <a:rPr lang="en-US" b="1" dirty="0">
                <a:solidFill>
                  <a:srgbClr val="BF2323"/>
                </a:solidFill>
              </a:rPr>
              <a:t>Unit testing </a:t>
            </a:r>
            <a:r>
              <a:rPr lang="en-US" dirty="0"/>
              <a:t>as primary testing</a:t>
            </a:r>
          </a:p>
          <a:p>
            <a:r>
              <a:rPr lang="en-US" b="1" dirty="0"/>
              <a:t>Courage: </a:t>
            </a:r>
            <a:r>
              <a:rPr lang="en-US" dirty="0"/>
              <a:t>It demands courage (discipline), there is often significant pressure to design for future requirements, XP team </a:t>
            </a:r>
            <a:r>
              <a:rPr lang="en-US" b="1" dirty="0">
                <a:solidFill>
                  <a:srgbClr val="BF2323"/>
                </a:solidFill>
              </a:rPr>
              <a:t>must have the discipline (courage) to design for today</a:t>
            </a:r>
          </a:p>
          <a:p>
            <a:r>
              <a:rPr lang="en-US" b="1" dirty="0"/>
              <a:t>Respect: </a:t>
            </a:r>
            <a:r>
              <a:rPr lang="en-US" dirty="0"/>
              <a:t>XP team </a:t>
            </a:r>
            <a:r>
              <a:rPr lang="en-US" b="1" dirty="0">
                <a:solidFill>
                  <a:srgbClr val="BF2323"/>
                </a:solidFill>
              </a:rPr>
              <a:t>respect</a:t>
            </a:r>
            <a:r>
              <a:rPr lang="en-US" dirty="0"/>
              <a:t> among </a:t>
            </a:r>
            <a:r>
              <a:rPr lang="en-US" b="1" dirty="0">
                <a:solidFill>
                  <a:srgbClr val="BF2323"/>
                </a:solidFill>
              </a:rPr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98156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XP Process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58" y="1985679"/>
            <a:ext cx="5684645" cy="4509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784295"/>
            <a:ext cx="620034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It considers four framework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3446" y="1254334"/>
            <a:ext cx="626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1.</a:t>
            </a:r>
            <a:r>
              <a:rPr lang="en-US" sz="2400" dirty="0"/>
              <a:t> Planning </a:t>
            </a:r>
            <a:r>
              <a:rPr lang="en-US" sz="2400" dirty="0">
                <a:solidFill>
                  <a:srgbClr val="BF2323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6"/>
                </a:solidFill>
              </a:rPr>
              <a:t>2.</a:t>
            </a:r>
            <a:r>
              <a:rPr lang="en-US" sz="2400" dirty="0"/>
              <a:t> Design </a:t>
            </a:r>
            <a:r>
              <a:rPr lang="en-US" sz="2400" dirty="0">
                <a:solidFill>
                  <a:srgbClr val="BF2323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6"/>
                </a:solidFill>
              </a:rPr>
              <a:t>3.</a:t>
            </a:r>
            <a:r>
              <a:rPr lang="en-US" sz="2400" dirty="0"/>
              <a:t> Coding </a:t>
            </a:r>
            <a:r>
              <a:rPr lang="en-US" sz="2400" dirty="0">
                <a:solidFill>
                  <a:srgbClr val="BF2323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accent6"/>
                </a:solidFill>
              </a:rPr>
              <a:t>4.</a:t>
            </a:r>
            <a:r>
              <a:rPr lang="en-US" sz="2400" dirty="0"/>
              <a:t> Testing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200349" y="711201"/>
            <a:ext cx="68771" cy="589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51595" y="862676"/>
            <a:ext cx="5422541" cy="552568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51594" y="862675"/>
            <a:ext cx="5422541" cy="457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0365" y="1392973"/>
            <a:ext cx="535376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 Stories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Customers assigns value </a:t>
            </a:r>
            <a:r>
              <a:rPr lang="en-US" sz="2000" dirty="0"/>
              <a:t>(priority)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Developers assigns cost </a:t>
            </a:r>
            <a:r>
              <a:rPr lang="en-US" dirty="0"/>
              <a:t>(number of development weeks)</a:t>
            </a:r>
          </a:p>
          <a:p>
            <a:r>
              <a:rPr lang="en-US" sz="2400" dirty="0"/>
              <a:t>Project velocity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Computed at the end of first release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Number of stories implemented in first release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Estimates for future release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Guard against over-commitment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561" y="4400179"/>
            <a:ext cx="2632256" cy="182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0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 examples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31763" y="1092382"/>
          <a:ext cx="1192847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6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an option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stay logged in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 that I don’t have to enter my credentials every time.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to be able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 my password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I forget it, so that I can regain access to my account.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 an error message if I enter incorrect login details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 that I know when my login attempt has failed.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E343E7-D12B-C5ED-A980-67ABB53C9BF6}"/>
              </a:ext>
            </a:extLst>
          </p:cNvPr>
          <p:cNvSpPr txBox="1">
            <a:spLocks/>
          </p:cNvSpPr>
          <p:nvPr/>
        </p:nvSpPr>
        <p:spPr>
          <a:xfrm>
            <a:off x="62753" y="751355"/>
            <a:ext cx="8822825" cy="3775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BF2323"/>
                </a:solidFill>
              </a:rPr>
              <a:t>User story examples for login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0F0485-449F-6696-8400-F48303CBA9D1}"/>
              </a:ext>
            </a:extLst>
          </p:cNvPr>
          <p:cNvSpPr txBox="1">
            <a:spLocks/>
          </p:cNvSpPr>
          <p:nvPr/>
        </p:nvSpPr>
        <p:spPr>
          <a:xfrm>
            <a:off x="42113" y="3456560"/>
            <a:ext cx="8822825" cy="3775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BF2323"/>
                </a:solidFill>
              </a:rPr>
              <a:t>User story examples for online shopping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E2CC76F-3A69-A6FE-2C74-407DDC5A8E52}"/>
              </a:ext>
            </a:extLst>
          </p:cNvPr>
          <p:cNvGraphicFramePr>
            <a:graphicFrameLocks/>
          </p:cNvGraphicFramePr>
          <p:nvPr/>
        </p:nvGraphicFramePr>
        <p:xfrm>
          <a:off x="131763" y="3816169"/>
          <a:ext cx="11928474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6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 my order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 I can know when to expect delivery.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an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eco-conscious shopper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 environmental impact details for products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 I can make sustainable choices.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an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shopper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 want the ability to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save products that I’m interested in for later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so I don’t have to search for them again.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30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The XP Process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114" y="787400"/>
            <a:ext cx="11805336" cy="2262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77114" y="787400"/>
            <a:ext cx="546786" cy="2262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/>
              <a:t>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3" y="1575091"/>
            <a:ext cx="2045199" cy="1171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5128" y="828752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CRC 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188" y="3126151"/>
            <a:ext cx="11811262" cy="2107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1188" y="3126151"/>
            <a:ext cx="552712" cy="210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/>
              <a:t>Coding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28" y="3380296"/>
            <a:ext cx="1600200" cy="167762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71187" y="5338339"/>
            <a:ext cx="9801487" cy="121486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77195" y="5338339"/>
            <a:ext cx="546705" cy="1214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/>
              <a:t>Testing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92" y="5477499"/>
            <a:ext cx="907023" cy="907023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D8B4114-9BF9-2489-9DA1-F5F17C36E676}"/>
              </a:ext>
            </a:extLst>
          </p:cNvPr>
          <p:cNvSpPr txBox="1">
            <a:spLocks/>
          </p:cNvSpPr>
          <p:nvPr/>
        </p:nvSpPr>
        <p:spPr>
          <a:xfrm>
            <a:off x="3083425" y="877520"/>
            <a:ext cx="8822825" cy="22974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BF2323"/>
                </a:solidFill>
              </a:rPr>
              <a:t>Keep-it-Simple</a:t>
            </a:r>
            <a:r>
              <a:rPr lang="en-US" dirty="0"/>
              <a:t> (Design of extra functionality is discouraged)</a:t>
            </a:r>
          </a:p>
          <a:p>
            <a:r>
              <a:rPr lang="en-US" b="1" dirty="0">
                <a:solidFill>
                  <a:srgbClr val="BF2323"/>
                </a:solidFill>
              </a:rPr>
              <a:t>Preparation of CRC </a:t>
            </a:r>
            <a:r>
              <a:rPr lang="en-US" dirty="0"/>
              <a:t>card is work project</a:t>
            </a:r>
          </a:p>
          <a:p>
            <a:pPr lvl="1"/>
            <a:r>
              <a:rPr lang="en-US" dirty="0"/>
              <a:t>CRC cards identify and organize object oriented classes</a:t>
            </a:r>
          </a:p>
          <a:p>
            <a:r>
              <a:rPr lang="en-US" b="1" dirty="0">
                <a:solidFill>
                  <a:srgbClr val="BF2323"/>
                </a:solidFill>
              </a:rPr>
              <a:t>Spike Solutions </a:t>
            </a:r>
            <a:r>
              <a:rPr lang="en-US" dirty="0">
                <a:solidFill>
                  <a:srgbClr val="BF2323"/>
                </a:solidFill>
              </a:rPr>
              <a:t>(in case of difficult design problem is encountered)</a:t>
            </a:r>
          </a:p>
          <a:p>
            <a:pPr lvl="1"/>
            <a:r>
              <a:rPr lang="en-US" dirty="0"/>
              <a:t>Operational prototype intended to clear confusion</a:t>
            </a:r>
          </a:p>
          <a:p>
            <a:r>
              <a:rPr lang="en-US" dirty="0"/>
              <a:t>Refactoring</a:t>
            </a:r>
          </a:p>
          <a:p>
            <a:r>
              <a:rPr lang="en-US" dirty="0"/>
              <a:t>Modify internals of code, No observable change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F98CEB8-25DB-FAB9-7BE6-5848F7138752}"/>
              </a:ext>
            </a:extLst>
          </p:cNvPr>
          <p:cNvSpPr txBox="1">
            <a:spLocks/>
          </p:cNvSpPr>
          <p:nvPr/>
        </p:nvSpPr>
        <p:spPr>
          <a:xfrm>
            <a:off x="3046564" y="3157478"/>
            <a:ext cx="8935886" cy="20762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BF2323"/>
                </a:solidFill>
              </a:rPr>
              <a:t>Develops</a:t>
            </a:r>
            <a:r>
              <a:rPr lang="en-US" sz="2000" dirty="0"/>
              <a:t> a series of </a:t>
            </a:r>
            <a:r>
              <a:rPr lang="en-US" sz="2000" b="1" dirty="0">
                <a:solidFill>
                  <a:srgbClr val="BF2323"/>
                </a:solidFill>
              </a:rPr>
              <a:t>Unit test </a:t>
            </a:r>
            <a:r>
              <a:rPr lang="en-US" sz="2000" dirty="0"/>
              <a:t>for stories included in current release</a:t>
            </a:r>
          </a:p>
          <a:p>
            <a:r>
              <a:rPr lang="en-US" sz="2000" b="1" dirty="0"/>
              <a:t>Complete</a:t>
            </a:r>
            <a:r>
              <a:rPr lang="en-US" sz="2000" dirty="0"/>
              <a:t> </a:t>
            </a:r>
            <a:r>
              <a:rPr lang="en-US" sz="2000" b="1" dirty="0"/>
              <a:t>code</a:t>
            </a:r>
            <a:r>
              <a:rPr lang="en-US" sz="2000" dirty="0"/>
              <a:t> perform </a:t>
            </a:r>
            <a:r>
              <a:rPr lang="en-US" sz="2000" b="1" dirty="0">
                <a:solidFill>
                  <a:srgbClr val="BF2323"/>
                </a:solidFill>
              </a:rPr>
              <a:t>unit-test</a:t>
            </a:r>
            <a:r>
              <a:rPr lang="en-US" sz="2000" dirty="0"/>
              <a:t> to get immediate feedback</a:t>
            </a:r>
          </a:p>
          <a:p>
            <a:r>
              <a:rPr lang="en-US" sz="2000" dirty="0"/>
              <a:t>XP recommend </a:t>
            </a:r>
            <a:r>
              <a:rPr lang="en-US" sz="2000" b="1" dirty="0">
                <a:solidFill>
                  <a:srgbClr val="BF2323"/>
                </a:solidFill>
              </a:rPr>
              <a:t>pair-programming</a:t>
            </a:r>
            <a:r>
              <a:rPr lang="en-US" sz="2000" dirty="0"/>
              <a:t>, “</a:t>
            </a:r>
            <a:r>
              <a:rPr lang="en-US" sz="2000" b="1" dirty="0">
                <a:solidFill>
                  <a:srgbClr val="BF2323"/>
                </a:solidFill>
              </a:rPr>
              <a:t>Two heads are better than one</a:t>
            </a:r>
            <a:r>
              <a:rPr lang="en-US" sz="2000" dirty="0"/>
              <a:t>”</a:t>
            </a:r>
          </a:p>
          <a:p>
            <a:r>
              <a:rPr lang="en-US" sz="2000" b="1" dirty="0">
                <a:solidFill>
                  <a:srgbClr val="BF2323"/>
                </a:solidFill>
              </a:rPr>
              <a:t>Integrate code </a:t>
            </a:r>
            <a:r>
              <a:rPr lang="en-US" sz="2000" dirty="0"/>
              <a:t>with other team members, this “</a:t>
            </a:r>
            <a:r>
              <a:rPr lang="en-US" sz="2000" b="1" dirty="0">
                <a:solidFill>
                  <a:srgbClr val="BF2323"/>
                </a:solidFill>
              </a:rPr>
              <a:t>continuous integration</a:t>
            </a:r>
            <a:r>
              <a:rPr lang="en-US" sz="2000" dirty="0"/>
              <a:t>” helps to avoid compatibility &amp; interfacing problems, “</a:t>
            </a:r>
            <a:r>
              <a:rPr lang="en-US" sz="2000" b="1" dirty="0">
                <a:solidFill>
                  <a:srgbClr val="BF2323"/>
                </a:solidFill>
              </a:rPr>
              <a:t>smoke testing</a:t>
            </a:r>
            <a:r>
              <a:rPr lang="en-US" sz="2000" dirty="0"/>
              <a:t>” environment to uncover errors early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E73557A-AAF0-1F27-0CD1-55D1CB058309}"/>
              </a:ext>
            </a:extLst>
          </p:cNvPr>
          <p:cNvSpPr txBox="1">
            <a:spLocks/>
          </p:cNvSpPr>
          <p:nvPr/>
        </p:nvSpPr>
        <p:spPr>
          <a:xfrm>
            <a:off x="2231604" y="5354692"/>
            <a:ext cx="8154738" cy="1175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Unit test </a:t>
            </a:r>
            <a:r>
              <a:rPr lang="en-US" sz="2000" dirty="0"/>
              <a:t>by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BF2323"/>
                </a:solidFill>
              </a:rPr>
              <a:t>developers</a:t>
            </a:r>
            <a:r>
              <a:rPr lang="en-US" sz="2000" dirty="0"/>
              <a:t> &amp; fix small problems</a:t>
            </a:r>
          </a:p>
          <a:p>
            <a:r>
              <a:rPr lang="en-US" sz="2000" b="1" dirty="0">
                <a:solidFill>
                  <a:srgbClr val="BF2323"/>
                </a:solidFill>
              </a:rPr>
              <a:t>Acceptance tests </a:t>
            </a:r>
            <a:r>
              <a:rPr lang="en-US" sz="2000" dirty="0"/>
              <a:t>- Specified by </a:t>
            </a:r>
            <a:r>
              <a:rPr lang="en-US" sz="2000" b="1" dirty="0">
                <a:solidFill>
                  <a:srgbClr val="BF2323"/>
                </a:solidFill>
              </a:rPr>
              <a:t>customer</a:t>
            </a:r>
          </a:p>
          <a:p>
            <a:r>
              <a:rPr lang="en-US" sz="2000" dirty="0"/>
              <a:t>This encourages regression testing strategy  whenever code is modified</a:t>
            </a:r>
          </a:p>
        </p:txBody>
      </p:sp>
    </p:spTree>
    <p:extLst>
      <p:ext uri="{BB962C8B-B14F-4D97-AF65-F5344CB8AC3E}">
        <p14:creationId xmlns:p14="http://schemas.microsoft.com/office/powerpoint/2010/main" val="43235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9" grpId="0" animBg="1"/>
      <p:bldP spid="10" grpId="0" animBg="1"/>
      <p:bldP spid="14" grpId="0" animBg="1"/>
      <p:bldP spid="16" grpId="0" animBg="1"/>
      <p:bldP spid="27" grpId="0" build="allAtOnce"/>
      <p:bldP spid="28" grpId="0" build="allAtOnce"/>
      <p:bldP spid="29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5BE5-5BC5-D62D-9392-0B9B61F5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CRC</a:t>
            </a:r>
            <a:r>
              <a:rPr lang="en-US" sz="3600" b="1"/>
              <a:t>(Class-Responsibility-Collaboration) </a:t>
            </a:r>
            <a:r>
              <a:rPr lang="en-US" sz="3600" b="1" dirty="0"/>
              <a:t>Card for Library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25BEBF5-CA45-F512-3475-3D9E606FDA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0" y="1308847"/>
          <a:ext cx="5815248" cy="20349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2548">
                  <a:extLst>
                    <a:ext uri="{9D8B030D-6E8A-4147-A177-3AD203B41FA5}">
                      <a16:colId xmlns:a16="http://schemas.microsoft.com/office/drawing/2014/main" val="2500672428"/>
                    </a:ext>
                  </a:extLst>
                </a:gridCol>
                <a:gridCol w="2442700">
                  <a:extLst>
                    <a:ext uri="{9D8B030D-6E8A-4147-A177-3AD203B41FA5}">
                      <a16:colId xmlns:a16="http://schemas.microsoft.com/office/drawing/2014/main" val="3579883561"/>
                    </a:ext>
                  </a:extLst>
                </a:gridCol>
              </a:tblGrid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21281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Know its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25609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Keep track of borrowed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281988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Keep track of overdue fines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2306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Borrows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65687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599E062-9C93-6DA1-2636-253F3341A144}"/>
              </a:ext>
            </a:extLst>
          </p:cNvPr>
          <p:cNvSpPr/>
          <p:nvPr/>
        </p:nvSpPr>
        <p:spPr>
          <a:xfrm>
            <a:off x="6099411" y="887506"/>
            <a:ext cx="5805013" cy="4213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Class: </a:t>
            </a:r>
            <a:r>
              <a:rPr lang="en-IN" sz="2000" b="1" dirty="0"/>
              <a:t>Borrower</a:t>
            </a:r>
          </a:p>
        </p:txBody>
      </p:sp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9B9582CB-9D3B-B501-94B4-68BBD9BE34FF}"/>
              </a:ext>
            </a:extLst>
          </p:cNvPr>
          <p:cNvGraphicFramePr>
            <a:graphicFrameLocks/>
          </p:cNvGraphicFramePr>
          <p:nvPr/>
        </p:nvGraphicFramePr>
        <p:xfrm>
          <a:off x="131761" y="4170081"/>
          <a:ext cx="5815248" cy="20349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2548">
                  <a:extLst>
                    <a:ext uri="{9D8B030D-6E8A-4147-A177-3AD203B41FA5}">
                      <a16:colId xmlns:a16="http://schemas.microsoft.com/office/drawing/2014/main" val="2500672428"/>
                    </a:ext>
                  </a:extLst>
                </a:gridCol>
                <a:gridCol w="2442700">
                  <a:extLst>
                    <a:ext uri="{9D8B030D-6E8A-4147-A177-3AD203B41FA5}">
                      <a16:colId xmlns:a16="http://schemas.microsoft.com/office/drawing/2014/main" val="3579883561"/>
                    </a:ext>
                  </a:extLst>
                </a:gridCol>
              </a:tblGrid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21281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Check in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25609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Check out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Book, Borrower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281988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Search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2306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Know all borrower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Borrower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65687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E386F4-3739-BA16-52B4-6B78C20CAF75}"/>
              </a:ext>
            </a:extLst>
          </p:cNvPr>
          <p:cNvSpPr/>
          <p:nvPr/>
        </p:nvSpPr>
        <p:spPr>
          <a:xfrm>
            <a:off x="135172" y="3748740"/>
            <a:ext cx="5805013" cy="4213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Class: </a:t>
            </a:r>
            <a:r>
              <a:rPr lang="en-IN" sz="2000" b="1" dirty="0"/>
              <a:t>Librarian</a:t>
            </a:r>
          </a:p>
        </p:txBody>
      </p:sp>
      <p:graphicFrame>
        <p:nvGraphicFramePr>
          <p:cNvPr id="15" name="Content Placeholder 9">
            <a:extLst>
              <a:ext uri="{FF2B5EF4-FFF2-40B4-BE49-F238E27FC236}">
                <a16:creationId xmlns:a16="http://schemas.microsoft.com/office/drawing/2014/main" id="{04A76A77-3E59-AE7E-0C75-F7A696EC76FF}"/>
              </a:ext>
            </a:extLst>
          </p:cNvPr>
          <p:cNvGraphicFramePr>
            <a:graphicFrameLocks/>
          </p:cNvGraphicFramePr>
          <p:nvPr/>
        </p:nvGraphicFramePr>
        <p:xfrm>
          <a:off x="131761" y="1308847"/>
          <a:ext cx="5815248" cy="20349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2548">
                  <a:extLst>
                    <a:ext uri="{9D8B030D-6E8A-4147-A177-3AD203B41FA5}">
                      <a16:colId xmlns:a16="http://schemas.microsoft.com/office/drawing/2014/main" val="2500672428"/>
                    </a:ext>
                  </a:extLst>
                </a:gridCol>
                <a:gridCol w="2442700">
                  <a:extLst>
                    <a:ext uri="{9D8B030D-6E8A-4147-A177-3AD203B41FA5}">
                      <a16:colId xmlns:a16="http://schemas.microsoft.com/office/drawing/2014/main" val="3579883561"/>
                    </a:ext>
                  </a:extLst>
                </a:gridCol>
              </a:tblGrid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21281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Know 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025609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Know its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281988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r>
                        <a:rPr lang="en-IN" dirty="0"/>
                        <a:t>Know its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142306"/>
                  </a:ext>
                </a:extLst>
              </a:tr>
              <a:tr h="406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Know its registration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65687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D8EEC0D-A642-B968-4520-7BD745AA9C54}"/>
              </a:ext>
            </a:extLst>
          </p:cNvPr>
          <p:cNvSpPr/>
          <p:nvPr/>
        </p:nvSpPr>
        <p:spPr>
          <a:xfrm>
            <a:off x="135172" y="887506"/>
            <a:ext cx="5805013" cy="4213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Class: </a:t>
            </a:r>
            <a:r>
              <a:rPr lang="en-IN" sz="2000" b="1" dirty="0"/>
              <a:t>Book</a:t>
            </a:r>
          </a:p>
        </p:txBody>
      </p:sp>
    </p:spTree>
    <p:extLst>
      <p:ext uri="{BB962C8B-B14F-4D97-AF65-F5344CB8AC3E}">
        <p14:creationId xmlns:p14="http://schemas.microsoft.com/office/powerpoint/2010/main" val="1045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IN" dirty="0"/>
              <a:t>Scrum?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96"/>
          <a:stretch/>
        </p:blipFill>
        <p:spPr>
          <a:xfrm>
            <a:off x="183569" y="862249"/>
            <a:ext cx="4681538" cy="2784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ounded Rectangular Callout 4"/>
          <p:cNvSpPr/>
          <p:nvPr/>
        </p:nvSpPr>
        <p:spPr>
          <a:xfrm>
            <a:off x="133350" y="3785657"/>
            <a:ext cx="4681538" cy="2316563"/>
          </a:xfrm>
          <a:prstGeom prst="wedgeRoundRectCallout">
            <a:avLst>
              <a:gd name="adj1" fmla="val -28"/>
              <a:gd name="adj2" fmla="val -711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scrum is a method of restarting play in rugby that involves players packing closely together with their heads down and attempting to gain possession of the ball.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5093" y="862249"/>
            <a:ext cx="6849257" cy="4522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IN" sz="2400" dirty="0"/>
              <a:t>It is a </a:t>
            </a:r>
            <a:r>
              <a:rPr lang="en-IN" sz="2400" b="1" dirty="0">
                <a:solidFill>
                  <a:srgbClr val="C00000"/>
                </a:solidFill>
              </a:rPr>
              <a:t>lightweight process framework</a:t>
            </a:r>
            <a:r>
              <a:rPr lang="en-IN" sz="2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3350" y="1395064"/>
            <a:ext cx="6861000" cy="8052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IN" sz="2200" dirty="0"/>
              <a:t>Lightweight means the </a:t>
            </a:r>
            <a:r>
              <a:rPr lang="en-IN" sz="2200" b="1" dirty="0">
                <a:solidFill>
                  <a:srgbClr val="C00000"/>
                </a:solidFill>
              </a:rPr>
              <a:t>overhead of the process is kept as small </a:t>
            </a:r>
            <a:r>
              <a:rPr lang="en-IN" sz="2200" dirty="0"/>
              <a:t>as possible in order to maximize the productivity.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4830" y="2678665"/>
            <a:ext cx="1747807" cy="1106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94" y="2869453"/>
            <a:ext cx="1029056" cy="8039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315829" y="2720430"/>
            <a:ext cx="1747807" cy="1065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802" y="2803375"/>
            <a:ext cx="827859" cy="87002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588027" y="3924298"/>
            <a:ext cx="2022050" cy="1447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1" b="9584"/>
          <a:stretch/>
        </p:blipFill>
        <p:spPr>
          <a:xfrm>
            <a:off x="9707119" y="3924298"/>
            <a:ext cx="1854144" cy="1447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170555" y="3924298"/>
            <a:ext cx="414308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/>
              <a:t>Sprint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94300" y="2378684"/>
            <a:ext cx="2022050" cy="1447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176828" y="2378684"/>
            <a:ext cx="414308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/>
              <a:t>Product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4" t="9556" r="11779" b="9941"/>
          <a:stretch/>
        </p:blipFill>
        <p:spPr>
          <a:xfrm>
            <a:off x="9642517" y="2572436"/>
            <a:ext cx="1919288" cy="990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454830" y="2378684"/>
            <a:ext cx="1747807" cy="341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Product Backlog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829" y="2378684"/>
            <a:ext cx="1747807" cy="341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Product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5969" y="336944"/>
            <a:ext cx="87582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C00000"/>
                </a:solidFill>
              </a:rPr>
              <a:t>Scrum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IN" dirty="0"/>
              <a:t>is an agile process model which is used for </a:t>
            </a:r>
            <a:r>
              <a:rPr lang="en-IN" b="1" dirty="0">
                <a:solidFill>
                  <a:srgbClr val="C00000"/>
                </a:solidFill>
              </a:rPr>
              <a:t>developing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complex software</a:t>
            </a:r>
            <a:r>
              <a:rPr lang="en-IN" dirty="0"/>
              <a:t> systems.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55708" y="3924298"/>
            <a:ext cx="3080611" cy="253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503" y="4075176"/>
            <a:ext cx="2720137" cy="234920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466573" y="3924298"/>
            <a:ext cx="489487" cy="25345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dirty="0"/>
              <a:t>Daily Scrum Meeting</a:t>
            </a:r>
          </a:p>
        </p:txBody>
      </p:sp>
    </p:spTree>
    <p:extLst>
      <p:ext uri="{BB962C8B-B14F-4D97-AF65-F5344CB8AC3E}">
        <p14:creationId xmlns:p14="http://schemas.microsoft.com/office/powerpoint/2010/main" val="203848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framework at a glance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730" y="2995089"/>
            <a:ext cx="924786" cy="924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12" y="2514600"/>
            <a:ext cx="914400" cy="960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11" y="4036119"/>
            <a:ext cx="1029056" cy="803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9374" r="4688" b="6251"/>
          <a:stretch/>
        </p:blipFill>
        <p:spPr>
          <a:xfrm>
            <a:off x="2664530" y="4036118"/>
            <a:ext cx="1076112" cy="8039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125" y="789540"/>
            <a:ext cx="1030952" cy="10309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4" t="9556" r="11779" b="9941"/>
          <a:stretch/>
        </p:blipFill>
        <p:spPr>
          <a:xfrm>
            <a:off x="10405782" y="3547246"/>
            <a:ext cx="1078339" cy="5565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920" y="910792"/>
            <a:ext cx="575720" cy="78944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914" y="856300"/>
            <a:ext cx="29988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/>
              <a:t>Inputs from Customers, Team, Managers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31967" y="1648599"/>
            <a:ext cx="381000" cy="61722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1184367" y="1676400"/>
            <a:ext cx="381000" cy="61722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1336767" y="1744975"/>
            <a:ext cx="381000" cy="617225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0967" y="3440668"/>
            <a:ext cx="1634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Product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5" y="4876800"/>
            <a:ext cx="112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Product Backlog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3567" y="4867870"/>
            <a:ext cx="1632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Sprint Planning Meeting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684" y="1627407"/>
            <a:ext cx="5382497" cy="317540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13519" y="4838546"/>
            <a:ext cx="10590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Sprint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3520" y="1710421"/>
            <a:ext cx="938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Scrum Master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6696" y="1807658"/>
            <a:ext cx="10910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Daily Scrum Meetings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334" y="2562177"/>
            <a:ext cx="818743" cy="3429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66877" y="2943415"/>
            <a:ext cx="1500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Sprint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9107" y="4110173"/>
            <a:ext cx="1549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Finished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5279" y="5544961"/>
            <a:ext cx="2117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Sprint Retrospective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36"/>
          <a:stretch/>
        </p:blipFill>
        <p:spPr>
          <a:xfrm>
            <a:off x="10153053" y="4820098"/>
            <a:ext cx="1207061" cy="698457"/>
          </a:xfrm>
          <a:prstGeom prst="rect">
            <a:avLst/>
          </a:prstGeom>
        </p:spPr>
      </p:pic>
      <p:sp>
        <p:nvSpPr>
          <p:cNvPr id="27" name="Rounded Rectangular Callout 26"/>
          <p:cNvSpPr/>
          <p:nvPr/>
        </p:nvSpPr>
        <p:spPr>
          <a:xfrm>
            <a:off x="3181205" y="951820"/>
            <a:ext cx="3153662" cy="1511444"/>
          </a:xfrm>
          <a:prstGeom prst="wedgeRoundRectCallout">
            <a:avLst>
              <a:gd name="adj1" fmla="val -47585"/>
              <a:gd name="adj2" fmla="val 846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100" b="1" dirty="0"/>
              <a:t>Team Selects starting at top as much as it can commit to deliver by end of sprint</a:t>
            </a:r>
          </a:p>
          <a:p>
            <a:pPr algn="ctr"/>
            <a:endParaRPr lang="en-US" sz="2100" b="1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333016" y="5754820"/>
            <a:ext cx="3904232" cy="757219"/>
          </a:xfrm>
          <a:prstGeom prst="wedgeRoundRectCallout">
            <a:avLst>
              <a:gd name="adj1" fmla="val -19458"/>
              <a:gd name="adj2" fmla="val -823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100" b="1" dirty="0"/>
          </a:p>
          <a:p>
            <a:pPr algn="ctr"/>
            <a:r>
              <a:rPr lang="en-US" sz="2100" b="1" dirty="0"/>
              <a:t>Prioritized list of what is required: features, bugs to fix...</a:t>
            </a:r>
          </a:p>
          <a:p>
            <a:pPr algn="ctr"/>
            <a:endParaRPr lang="en-US" sz="2100" b="1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6373520" y="5495002"/>
            <a:ext cx="3106656" cy="838582"/>
          </a:xfrm>
          <a:prstGeom prst="wedgeRoundRectCallout">
            <a:avLst>
              <a:gd name="adj1" fmla="val 22241"/>
              <a:gd name="adj2" fmla="val -14339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Sprint end date and team deliverable do not change</a:t>
            </a:r>
          </a:p>
        </p:txBody>
      </p:sp>
      <p:cxnSp>
        <p:nvCxnSpPr>
          <p:cNvPr id="30" name="Straight Arrow Connector 29"/>
          <p:cNvCxnSpPr>
            <a:stCxn id="18" idx="0"/>
          </p:cNvCxnSpPr>
          <p:nvPr/>
        </p:nvCxnSpPr>
        <p:spPr>
          <a:xfrm>
            <a:off x="7104933" y="1627407"/>
            <a:ext cx="720031" cy="3298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1"/>
          </p:cNvCxnSpPr>
          <p:nvPr/>
        </p:nvCxnSpPr>
        <p:spPr>
          <a:xfrm flipH="1">
            <a:off x="8986766" y="1305016"/>
            <a:ext cx="1231359" cy="699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82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9" grpId="0"/>
      <p:bldP spid="20" grpId="0"/>
      <p:bldP spid="21" grpId="0"/>
      <p:bldP spid="23" grpId="0"/>
      <p:bldP spid="24" grpId="0"/>
      <p:bldP spid="25" grpId="0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2170" y="868214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Backlog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993263" y="1329879"/>
            <a:ext cx="99342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190499" y="1443094"/>
            <a:ext cx="11737040" cy="174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It is a </a:t>
            </a:r>
            <a:r>
              <a:rPr lang="en-IN" b="1" dirty="0">
                <a:solidFill>
                  <a:srgbClr val="C00000"/>
                </a:solidFill>
              </a:rPr>
              <a:t>prioritized list of project requirements</a:t>
            </a:r>
            <a:r>
              <a:rPr lang="en-IN" dirty="0"/>
              <a:t> or features that must be provided to the customer.</a:t>
            </a:r>
          </a:p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items can be included </a:t>
            </a:r>
            <a:r>
              <a:rPr lang="en-IN" dirty="0"/>
              <a:t>in the backlog at </a:t>
            </a:r>
            <a:r>
              <a:rPr lang="en-IN" b="1" dirty="0">
                <a:solidFill>
                  <a:srgbClr val="C00000"/>
                </a:solidFill>
              </a:rPr>
              <a:t>any time</a:t>
            </a:r>
            <a:r>
              <a:rPr lang="en-IN" dirty="0"/>
              <a:t>.</a:t>
            </a:r>
          </a:p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product manager analyses </a:t>
            </a:r>
            <a:r>
              <a:rPr lang="en-IN" dirty="0"/>
              <a:t>this </a:t>
            </a:r>
            <a:r>
              <a:rPr lang="en-IN" b="1" dirty="0">
                <a:solidFill>
                  <a:srgbClr val="C00000"/>
                </a:solidFill>
              </a:rPr>
              <a:t>list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updates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priorities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as per the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402" y="3235181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Sprint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88495" y="3696846"/>
            <a:ext cx="99342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ontent Placeholder 2"/>
          <p:cNvSpPr txBox="1">
            <a:spLocks/>
          </p:cNvSpPr>
          <p:nvPr/>
        </p:nvSpPr>
        <p:spPr>
          <a:xfrm>
            <a:off x="185731" y="3810061"/>
            <a:ext cx="11737040" cy="1743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These are the </a:t>
            </a:r>
            <a:r>
              <a:rPr lang="en-IN" b="1" dirty="0">
                <a:solidFill>
                  <a:srgbClr val="C00000"/>
                </a:solidFill>
              </a:rPr>
              <a:t>work units </a:t>
            </a:r>
            <a:r>
              <a:rPr lang="en-IN" dirty="0"/>
              <a:t>that are needed </a:t>
            </a:r>
            <a:r>
              <a:rPr lang="en-IN" b="1" dirty="0">
                <a:solidFill>
                  <a:srgbClr val="C00000"/>
                </a:solidFill>
              </a:rPr>
              <a:t>to achieve</a:t>
            </a:r>
            <a:r>
              <a:rPr lang="en-IN" dirty="0"/>
              <a:t> the requirements mentioned in the backlogs.</a:t>
            </a:r>
          </a:p>
          <a:p>
            <a:r>
              <a:rPr lang="en-IN" dirty="0"/>
              <a:t>Typically the sprints have </a:t>
            </a:r>
            <a:r>
              <a:rPr lang="en-IN" b="1" dirty="0">
                <a:solidFill>
                  <a:srgbClr val="C00000"/>
                </a:solidFill>
              </a:rPr>
              <a:t>fixed duration</a:t>
            </a:r>
            <a:r>
              <a:rPr lang="en-IN" dirty="0"/>
              <a:t> or time box (of </a:t>
            </a:r>
            <a:r>
              <a:rPr lang="en-IN" b="1" dirty="0">
                <a:solidFill>
                  <a:srgbClr val="C00000"/>
                </a:solidFill>
              </a:rPr>
              <a:t>2 to 4 weeks, 30 days</a:t>
            </a:r>
            <a:r>
              <a:rPr lang="en-IN" dirty="0"/>
              <a:t>).</a:t>
            </a:r>
          </a:p>
          <a:p>
            <a:r>
              <a:rPr lang="en-IN" b="1" dirty="0">
                <a:solidFill>
                  <a:srgbClr val="C00000"/>
                </a:solidFill>
              </a:rPr>
              <a:t>Change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</a:t>
            </a:r>
            <a:r>
              <a:rPr lang="en-IN" b="1" dirty="0">
                <a:solidFill>
                  <a:srgbClr val="C00000"/>
                </a:solidFill>
              </a:rPr>
              <a:t>not introduced </a:t>
            </a:r>
            <a:r>
              <a:rPr lang="en-IN" dirty="0"/>
              <a:t>during the </a:t>
            </a:r>
            <a:r>
              <a:rPr lang="en-IN" b="1" dirty="0">
                <a:solidFill>
                  <a:srgbClr val="C00000"/>
                </a:solidFill>
              </a:rPr>
              <a:t>sprint</a:t>
            </a:r>
            <a:r>
              <a:rPr lang="en-IN" dirty="0"/>
              <a:t>.</a:t>
            </a:r>
          </a:p>
          <a:p>
            <a:r>
              <a:rPr lang="en-IN" dirty="0"/>
              <a:t>Thus sprints allow the team </a:t>
            </a:r>
            <a:r>
              <a:rPr lang="en-IN" b="1" dirty="0">
                <a:solidFill>
                  <a:srgbClr val="C00000"/>
                </a:solidFill>
              </a:rPr>
              <a:t>members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</a:t>
            </a:r>
            <a:r>
              <a:rPr lang="en-IN" b="1" dirty="0">
                <a:solidFill>
                  <a:srgbClr val="C00000"/>
                </a:solidFill>
              </a:rPr>
              <a:t>work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 </a:t>
            </a:r>
            <a:r>
              <a:rPr lang="en-IN" b="1" dirty="0">
                <a:solidFill>
                  <a:srgbClr val="C00000"/>
                </a:solidFill>
              </a:rPr>
              <a:t>stable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short-term environment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715" y="1912629"/>
            <a:ext cx="1029056" cy="803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357" y="4399182"/>
            <a:ext cx="1600716" cy="94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4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8" grpId="0" animBg="1"/>
      <p:bldP spid="10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170" y="814426"/>
            <a:ext cx="227099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Scrum Meetings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993263" y="1276091"/>
            <a:ext cx="99342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190499" y="1389305"/>
            <a:ext cx="11737040" cy="5057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There are </a:t>
            </a:r>
            <a:r>
              <a:rPr lang="en-IN" b="1" dirty="0">
                <a:solidFill>
                  <a:srgbClr val="C00000"/>
                </a:solidFill>
              </a:rPr>
              <a:t>15 minutes daily meetings </a:t>
            </a:r>
            <a:r>
              <a:rPr lang="en-IN" dirty="0"/>
              <a:t>to </a:t>
            </a:r>
            <a:r>
              <a:rPr lang="en-IN" b="1" dirty="0">
                <a:solidFill>
                  <a:srgbClr val="C00000"/>
                </a:solidFill>
              </a:rPr>
              <a:t>report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completed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activities, </a:t>
            </a:r>
            <a:r>
              <a:rPr lang="en-IN" b="1" dirty="0">
                <a:solidFill>
                  <a:srgbClr val="C00000"/>
                </a:solidFill>
              </a:rPr>
              <a:t>obstacles </a:t>
            </a:r>
            <a:r>
              <a:rPr lang="en-IN" dirty="0"/>
              <a:t>(difficulty) and </a:t>
            </a:r>
            <a:r>
              <a:rPr lang="en-IN" b="1" dirty="0">
                <a:solidFill>
                  <a:srgbClr val="C00000"/>
                </a:solidFill>
              </a:rPr>
              <a:t>plan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for </a:t>
            </a:r>
            <a:r>
              <a:rPr lang="en-IN" b="1" dirty="0">
                <a:solidFill>
                  <a:srgbClr val="C00000"/>
                </a:solidFill>
              </a:rPr>
              <a:t>next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activities.</a:t>
            </a:r>
          </a:p>
          <a:p>
            <a:r>
              <a:rPr lang="en-IN" dirty="0"/>
              <a:t>Following are three questions that are mainly discussed during the meetings.</a:t>
            </a:r>
          </a:p>
          <a:p>
            <a:pPr marL="923925" lvl="1" indent="-457200">
              <a:buFont typeface="+mj-lt"/>
              <a:buAutoNum type="arabicPeriod"/>
            </a:pPr>
            <a:r>
              <a:rPr lang="en-IN" b="1" dirty="0"/>
              <a:t>What</a:t>
            </a:r>
            <a:r>
              <a:rPr lang="en-IN" dirty="0"/>
              <a:t> are the </a:t>
            </a:r>
            <a:r>
              <a:rPr lang="en-IN" b="1" dirty="0">
                <a:solidFill>
                  <a:srgbClr val="C00000"/>
                </a:solidFill>
              </a:rPr>
              <a:t>tasks done </a:t>
            </a:r>
            <a:r>
              <a:rPr lang="en-IN" dirty="0"/>
              <a:t>since</a:t>
            </a:r>
            <a:r>
              <a:rPr lang="en-IN" b="1" dirty="0">
                <a:solidFill>
                  <a:srgbClr val="C00000"/>
                </a:solidFill>
              </a:rPr>
              <a:t> last meeting ?</a:t>
            </a:r>
          </a:p>
          <a:p>
            <a:pPr marL="923925" lvl="1" indent="-457200">
              <a:buFont typeface="+mj-lt"/>
              <a:buAutoNum type="arabicPeriod"/>
            </a:pPr>
            <a:r>
              <a:rPr lang="en-IN" b="1" dirty="0"/>
              <a:t>What</a:t>
            </a:r>
            <a:r>
              <a:rPr lang="en-IN" dirty="0"/>
              <a:t> are the </a:t>
            </a:r>
            <a:r>
              <a:rPr lang="en-IN" b="1" dirty="0">
                <a:solidFill>
                  <a:srgbClr val="C00000"/>
                </a:solidFill>
              </a:rPr>
              <a:t>issues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team is </a:t>
            </a:r>
            <a:r>
              <a:rPr lang="en-IN" b="1" dirty="0">
                <a:solidFill>
                  <a:srgbClr val="C00000"/>
                </a:solidFill>
              </a:rPr>
              <a:t>facing ?</a:t>
            </a:r>
          </a:p>
          <a:p>
            <a:pPr marL="923925" lvl="1" indent="-457200">
              <a:buFont typeface="+mj-lt"/>
              <a:buAutoNum type="arabicPeriod"/>
            </a:pPr>
            <a:r>
              <a:rPr lang="en-IN" b="1" dirty="0"/>
              <a:t>What</a:t>
            </a:r>
            <a:r>
              <a:rPr lang="en-IN" dirty="0"/>
              <a:t> are the</a:t>
            </a:r>
            <a:r>
              <a:rPr lang="en-IN" b="1" dirty="0">
                <a:solidFill>
                  <a:srgbClr val="C00000"/>
                </a:solidFill>
              </a:rPr>
              <a:t> next activities</a:t>
            </a:r>
            <a:r>
              <a:rPr lang="en-IN" dirty="0"/>
              <a:t> that are </a:t>
            </a:r>
            <a:r>
              <a:rPr lang="en-IN" b="1" dirty="0">
                <a:solidFill>
                  <a:srgbClr val="C00000"/>
                </a:solidFill>
              </a:rPr>
              <a:t>planned?</a:t>
            </a:r>
          </a:p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scrum master</a:t>
            </a:r>
            <a:r>
              <a:rPr lang="en-IN" dirty="0"/>
              <a:t> leads the meeting and </a:t>
            </a:r>
            <a:r>
              <a:rPr lang="en-IN" b="1" dirty="0">
                <a:solidFill>
                  <a:srgbClr val="C00000"/>
                </a:solidFill>
              </a:rPr>
              <a:t>analyses the response </a:t>
            </a:r>
            <a:r>
              <a:rPr lang="en-IN" dirty="0"/>
              <a:t>of each team member.</a:t>
            </a:r>
          </a:p>
          <a:p>
            <a:r>
              <a:rPr lang="en-IN" dirty="0"/>
              <a:t>Scrum meeting </a:t>
            </a:r>
            <a:r>
              <a:rPr lang="en-IN" b="1" dirty="0">
                <a:solidFill>
                  <a:srgbClr val="C00000"/>
                </a:solidFill>
              </a:rPr>
              <a:t>helps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team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</a:t>
            </a:r>
            <a:r>
              <a:rPr lang="en-IN" b="1" dirty="0">
                <a:solidFill>
                  <a:srgbClr val="C00000"/>
                </a:solidFill>
              </a:rPr>
              <a:t>uncover potential problems</a:t>
            </a:r>
            <a:r>
              <a:rPr lang="en-IN" dirty="0"/>
              <a:t> as early as possible</a:t>
            </a:r>
          </a:p>
          <a:p>
            <a:r>
              <a:rPr lang="en-IN" dirty="0"/>
              <a:t>It  leads to </a:t>
            </a:r>
            <a:r>
              <a:rPr lang="en-IN" b="1" dirty="0">
                <a:solidFill>
                  <a:srgbClr val="C00000"/>
                </a:solidFill>
              </a:rPr>
              <a:t>“knowledge socialization”</a:t>
            </a:r>
            <a:r>
              <a:rPr lang="en-IN" dirty="0"/>
              <a:t> &amp; promotes </a:t>
            </a:r>
            <a:r>
              <a:rPr lang="en-IN" b="1" dirty="0">
                <a:solidFill>
                  <a:srgbClr val="C00000"/>
                </a:solidFill>
              </a:rPr>
              <a:t>“self-organizing team structure”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25" y="2278802"/>
            <a:ext cx="1030952" cy="1030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72170" y="5054731"/>
            <a:ext cx="227099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Demo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993263" y="5516396"/>
            <a:ext cx="993427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cont.</a:t>
            </a:r>
            <a:endParaRPr lang="en-US" dirty="0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27480" y="5605297"/>
            <a:ext cx="11737040" cy="930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Deliver </a:t>
            </a:r>
            <a:r>
              <a:rPr lang="en-IN" b="1" dirty="0">
                <a:solidFill>
                  <a:srgbClr val="C00000"/>
                </a:solidFill>
              </a:rPr>
              <a:t>software increment </a:t>
            </a:r>
            <a:r>
              <a:rPr lang="en-IN" dirty="0"/>
              <a:t>to customer</a:t>
            </a:r>
          </a:p>
          <a:p>
            <a:r>
              <a:rPr lang="en-IN" dirty="0"/>
              <a:t>Implemented functionalities are </a:t>
            </a:r>
            <a:r>
              <a:rPr lang="en-IN" b="1" dirty="0">
                <a:solidFill>
                  <a:srgbClr val="C00000"/>
                </a:solidFill>
              </a:rPr>
              <a:t>demonstrated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to the customer</a:t>
            </a:r>
          </a:p>
        </p:txBody>
      </p:sp>
    </p:spTree>
    <p:extLst>
      <p:ext uri="{BB962C8B-B14F-4D97-AF65-F5344CB8AC3E}">
        <p14:creationId xmlns:p14="http://schemas.microsoft.com/office/powerpoint/2010/main" val="120116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12" grpId="0" animBg="1"/>
      <p:bldP spid="1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Software development (ASD)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8"/>
            <a:ext cx="11929641" cy="92518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This is a technique for building complex software systems using iterative approach.</a:t>
            </a:r>
            <a:endParaRPr lang="en-IN" dirty="0"/>
          </a:p>
          <a:p>
            <a:r>
              <a:rPr lang="en-US" dirty="0"/>
              <a:t>ASD focus on </a:t>
            </a:r>
            <a:r>
              <a:rPr lang="en-US" dirty="0">
                <a:solidFill>
                  <a:srgbClr val="C00000"/>
                </a:solidFill>
              </a:rPr>
              <a:t>working in collaboration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team self-organization</a:t>
            </a:r>
            <a:r>
              <a:rPr lang="en-US" dirty="0"/>
              <a:t>.</a:t>
            </a:r>
            <a:endParaRPr lang="en-IN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1" y="3166766"/>
            <a:ext cx="3846139" cy="3247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31180" y="1940885"/>
            <a:ext cx="4716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ASD incorporates three phases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180" y="2488659"/>
            <a:ext cx="560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Speculation, 2. Collaboration &amp; 3. Learning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31180" y="1860203"/>
            <a:ext cx="11782914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961939" y="1917701"/>
            <a:ext cx="0" cy="4496583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72210" y="1917701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Speculation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7993303" y="2379366"/>
            <a:ext cx="382666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Content Placeholder 2"/>
          <p:cNvSpPr txBox="1">
            <a:spLocks/>
          </p:cNvSpPr>
          <p:nvPr/>
        </p:nvSpPr>
        <p:spPr>
          <a:xfrm>
            <a:off x="6190539" y="2492581"/>
            <a:ext cx="5723555" cy="1272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 adaptive </a:t>
            </a:r>
            <a:r>
              <a:rPr lang="en-IN" b="1" dirty="0">
                <a:solidFill>
                  <a:srgbClr val="C00000"/>
                </a:solidFill>
              </a:rPr>
              <a:t>cycle planning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conducted</a:t>
            </a:r>
            <a:r>
              <a:rPr lang="en-IN" dirty="0"/>
              <a:t>.</a:t>
            </a:r>
          </a:p>
          <a:p>
            <a:r>
              <a:rPr lang="en-IN" dirty="0"/>
              <a:t>In this cycle planning mainly three types of information is 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9496" y="3807899"/>
            <a:ext cx="4073176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dirty="0"/>
              <a:t>Customer’s </a:t>
            </a:r>
            <a:r>
              <a:rPr lang="en-IN" sz="2100" b="1" dirty="0">
                <a:solidFill>
                  <a:srgbClr val="C00000"/>
                </a:solidFill>
              </a:rPr>
              <a:t>mission statement</a:t>
            </a:r>
            <a:endParaRPr lang="en-IN" sz="2100" dirty="0"/>
          </a:p>
        </p:txBody>
      </p:sp>
      <p:sp>
        <p:nvSpPr>
          <p:cNvPr id="20" name="Rectangle 19"/>
          <p:cNvSpPr/>
          <p:nvPr/>
        </p:nvSpPr>
        <p:spPr>
          <a:xfrm>
            <a:off x="7099496" y="4360000"/>
            <a:ext cx="4073176" cy="6924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dirty="0"/>
              <a:t>Project </a:t>
            </a:r>
            <a:r>
              <a:rPr lang="en-IN" sz="2100" b="1" dirty="0">
                <a:solidFill>
                  <a:srgbClr val="C00000"/>
                </a:solidFill>
              </a:rPr>
              <a:t>constraints </a:t>
            </a:r>
          </a:p>
          <a:p>
            <a:r>
              <a:rPr lang="en-IN" dirty="0"/>
              <a:t>(Delivery date, budgets etc…)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9496" y="5208444"/>
            <a:ext cx="4073176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Basic requirements </a:t>
            </a:r>
            <a:r>
              <a:rPr lang="en-IN" sz="2100" dirty="0"/>
              <a:t>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613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16" grpId="0" animBg="1"/>
      <p:bldP spid="18" grpId="0" build="p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Software development (ASD) cont.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170" y="868214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Collaboration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993263" y="1329879"/>
            <a:ext cx="411170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190499" y="1443093"/>
            <a:ext cx="5781282" cy="210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 this, </a:t>
            </a:r>
            <a:r>
              <a:rPr lang="en-IN" b="1" dirty="0">
                <a:solidFill>
                  <a:srgbClr val="C00000"/>
                </a:solidFill>
              </a:rPr>
              <a:t>collaboration</a:t>
            </a:r>
            <a:r>
              <a:rPr lang="en-IN" dirty="0"/>
              <a:t> among the </a:t>
            </a:r>
            <a:r>
              <a:rPr lang="en-IN" b="1" dirty="0">
                <a:solidFill>
                  <a:srgbClr val="C00000"/>
                </a:solidFill>
              </a:rPr>
              <a:t>members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</a:t>
            </a:r>
            <a:r>
              <a:rPr lang="en-IN" b="1" dirty="0">
                <a:solidFill>
                  <a:srgbClr val="C00000"/>
                </a:solidFill>
              </a:rPr>
              <a:t>development team</a:t>
            </a:r>
            <a:r>
              <a:rPr lang="en-IN" dirty="0"/>
              <a:t> is a key factor.</a:t>
            </a:r>
          </a:p>
          <a:p>
            <a:r>
              <a:rPr lang="en-IN" dirty="0"/>
              <a:t>For </a:t>
            </a:r>
            <a:r>
              <a:rPr lang="en-IN" b="1" dirty="0">
                <a:solidFill>
                  <a:srgbClr val="C00000"/>
                </a:solidFill>
              </a:rPr>
              <a:t>successful collaboration </a:t>
            </a:r>
            <a:r>
              <a:rPr lang="en-IN" dirty="0"/>
              <a:t>and coordination it is necessary to have following </a:t>
            </a:r>
            <a:r>
              <a:rPr lang="en-IN" b="1" dirty="0">
                <a:solidFill>
                  <a:srgbClr val="C00000"/>
                </a:solidFill>
              </a:rPr>
              <a:t>qualities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 every individual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7796" y="872699"/>
            <a:ext cx="18326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Learning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438889" y="1334364"/>
            <a:ext cx="344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6636125" y="1447579"/>
            <a:ext cx="5372099" cy="1887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Emphasize is on </a:t>
            </a:r>
            <a:r>
              <a:rPr lang="en-IN" b="1" dirty="0">
                <a:solidFill>
                  <a:srgbClr val="C00000"/>
                </a:solidFill>
              </a:rPr>
              <a:t>learning</a:t>
            </a:r>
            <a:r>
              <a:rPr lang="en-IN" dirty="0"/>
              <a:t> new </a:t>
            </a:r>
            <a:r>
              <a:rPr lang="en-IN" b="1" dirty="0">
                <a:solidFill>
                  <a:srgbClr val="C00000"/>
                </a:solidFill>
              </a:rPr>
              <a:t>skills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techniques.</a:t>
            </a:r>
          </a:p>
          <a:p>
            <a:r>
              <a:rPr lang="en-IN" dirty="0"/>
              <a:t>There are three ways by which the team members 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576" y="3713570"/>
            <a:ext cx="5227713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Assist each other</a:t>
            </a:r>
            <a:r>
              <a:rPr lang="en-IN" sz="2100" dirty="0"/>
              <a:t> without resentment (offense)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575" y="4270797"/>
            <a:ext cx="151620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dirty="0"/>
              <a:t>Work </a:t>
            </a:r>
            <a:r>
              <a:rPr lang="en-IN" sz="2100" b="1" dirty="0">
                <a:solidFill>
                  <a:srgbClr val="C00000"/>
                </a:solidFill>
              </a:rPr>
              <a:t>hard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8523" y="4283182"/>
            <a:ext cx="3547766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Posses</a:t>
            </a:r>
            <a:r>
              <a:rPr lang="en-IN" sz="2100" dirty="0">
                <a:solidFill>
                  <a:srgbClr val="C00000"/>
                </a:solidFill>
              </a:rPr>
              <a:t> </a:t>
            </a:r>
            <a:r>
              <a:rPr lang="en-IN" sz="2100" dirty="0"/>
              <a:t>the required </a:t>
            </a:r>
            <a:r>
              <a:rPr lang="en-IN" sz="2100" b="1" dirty="0">
                <a:solidFill>
                  <a:srgbClr val="C00000"/>
                </a:solidFill>
              </a:rPr>
              <a:t>skill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8575" y="4898857"/>
            <a:ext cx="5227713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Communicate problems </a:t>
            </a:r>
            <a:r>
              <a:rPr lang="en-IN" sz="2100" dirty="0"/>
              <a:t>and help each other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576" y="5447119"/>
            <a:ext cx="5227712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>
                <a:solidFill>
                  <a:srgbClr val="C00000"/>
                </a:solidFill>
              </a:rPr>
              <a:t>Criticize</a:t>
            </a:r>
            <a:r>
              <a:rPr lang="en-IN" sz="2100" dirty="0">
                <a:solidFill>
                  <a:srgbClr val="C00000"/>
                </a:solidFill>
              </a:rPr>
              <a:t> </a:t>
            </a:r>
            <a:r>
              <a:rPr lang="en-IN" sz="2100" b="1" dirty="0">
                <a:solidFill>
                  <a:srgbClr val="C00000"/>
                </a:solidFill>
              </a:rPr>
              <a:t>without</a:t>
            </a:r>
            <a:r>
              <a:rPr lang="en-IN" sz="2100" dirty="0">
                <a:solidFill>
                  <a:srgbClr val="C00000"/>
                </a:solidFill>
              </a:rPr>
              <a:t> </a:t>
            </a:r>
            <a:r>
              <a:rPr lang="en-IN" sz="2100" dirty="0"/>
              <a:t>any </a:t>
            </a:r>
            <a:r>
              <a:rPr lang="en-IN" sz="2100" b="1" dirty="0">
                <a:solidFill>
                  <a:srgbClr val="C00000"/>
                </a:solidFill>
              </a:rPr>
              <a:t>hate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2846" y="3112519"/>
            <a:ext cx="536537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dirty="0"/>
              <a:t>Focus groups</a:t>
            </a:r>
          </a:p>
          <a:p>
            <a:r>
              <a:rPr lang="en-IN" sz="2100" dirty="0"/>
              <a:t>The </a:t>
            </a:r>
            <a:r>
              <a:rPr lang="en-IN" sz="2100" b="1" dirty="0">
                <a:solidFill>
                  <a:srgbClr val="C00000"/>
                </a:solidFill>
              </a:rPr>
              <a:t>feedback</a:t>
            </a:r>
            <a:r>
              <a:rPr lang="en-IN" sz="2100" dirty="0">
                <a:solidFill>
                  <a:srgbClr val="C00000"/>
                </a:solidFill>
              </a:rPr>
              <a:t> </a:t>
            </a:r>
            <a:r>
              <a:rPr lang="en-IN" sz="2100" dirty="0"/>
              <a:t>from the </a:t>
            </a:r>
            <a:r>
              <a:rPr lang="en-IN" sz="2100" b="1" dirty="0">
                <a:solidFill>
                  <a:srgbClr val="C00000"/>
                </a:solidFill>
              </a:rPr>
              <a:t>end-users</a:t>
            </a:r>
            <a:r>
              <a:rPr lang="en-IN" sz="2100" dirty="0"/>
              <a:t> is obtained.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2846" y="3906666"/>
            <a:ext cx="536537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dirty="0"/>
              <a:t>Formal </a:t>
            </a:r>
            <a:r>
              <a:rPr lang="en-IN" sz="2100" b="1" dirty="0">
                <a:solidFill>
                  <a:srgbClr val="C00000"/>
                </a:solidFill>
              </a:rPr>
              <a:t>technical review</a:t>
            </a:r>
          </a:p>
          <a:p>
            <a:r>
              <a:rPr lang="en-IN" sz="2100" dirty="0"/>
              <a:t>This review is conducted for better quality.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2846" y="4701322"/>
            <a:ext cx="5365378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100" b="1" dirty="0" err="1">
                <a:solidFill>
                  <a:srgbClr val="C00000"/>
                </a:solidFill>
              </a:rPr>
              <a:t>Postmortems</a:t>
            </a:r>
            <a:endParaRPr lang="en-IN" sz="2100" b="1" dirty="0">
              <a:solidFill>
                <a:srgbClr val="C00000"/>
              </a:solidFill>
            </a:endParaRPr>
          </a:p>
          <a:p>
            <a:r>
              <a:rPr lang="en-IN" sz="2100" dirty="0"/>
              <a:t>Team analyses its own performance and makes appropriate improvements.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6360460" y="747191"/>
            <a:ext cx="0" cy="586876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23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build="p"/>
      <p:bldP spid="10" grpId="0" animBg="1"/>
      <p:bldP spid="12" grpId="0" build="p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Systems Development Methods (DSDM)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6345" y="864205"/>
            <a:ext cx="117449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Various phases of this life cycle model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7480" y="1505768"/>
            <a:ext cx="11737040" cy="3456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Feasibility study: </a:t>
            </a:r>
            <a:r>
              <a:rPr lang="en-IN" dirty="0"/>
              <a:t>By analysing the business requirements and constraints the </a:t>
            </a:r>
            <a:r>
              <a:rPr lang="en-IN" dirty="0">
                <a:solidFill>
                  <a:srgbClr val="C00000"/>
                </a:solidFill>
              </a:rPr>
              <a:t>viability of the application is determined</a:t>
            </a:r>
          </a:p>
          <a:p>
            <a:r>
              <a:rPr lang="en-IN" b="1" dirty="0"/>
              <a:t>Business study: </a:t>
            </a:r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functional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informational requirements </a:t>
            </a:r>
            <a:r>
              <a:rPr lang="en-IN" dirty="0"/>
              <a:t>are </a:t>
            </a:r>
            <a:r>
              <a:rPr lang="en-IN" dirty="0">
                <a:solidFill>
                  <a:srgbClr val="C00000"/>
                </a:solidFill>
              </a:rPr>
              <a:t>identified</a:t>
            </a:r>
            <a:r>
              <a:rPr lang="en-IN" dirty="0"/>
              <a:t> and then the </a:t>
            </a:r>
            <a:r>
              <a:rPr lang="en-IN" dirty="0">
                <a:solidFill>
                  <a:srgbClr val="C00000"/>
                </a:solidFill>
              </a:rPr>
              <a:t>business value </a:t>
            </a:r>
            <a:r>
              <a:rPr lang="en-IN" dirty="0"/>
              <a:t>of the application is </a:t>
            </a:r>
            <a:r>
              <a:rPr lang="en-IN" dirty="0">
                <a:solidFill>
                  <a:srgbClr val="C00000"/>
                </a:solidFill>
              </a:rPr>
              <a:t>determined</a:t>
            </a:r>
          </a:p>
          <a:p>
            <a:r>
              <a:rPr lang="en-IN" b="1" dirty="0"/>
              <a:t>Functional model iteration: </a:t>
            </a:r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produces</a:t>
            </a:r>
            <a:r>
              <a:rPr lang="en-US" dirty="0"/>
              <a:t> a collection of </a:t>
            </a:r>
            <a:r>
              <a:rPr lang="en-US" dirty="0">
                <a:solidFill>
                  <a:srgbClr val="C00000"/>
                </a:solidFill>
              </a:rPr>
              <a:t>progressive prototypes </a:t>
            </a:r>
            <a:r>
              <a:rPr lang="en-US" dirty="0"/>
              <a:t>that </a:t>
            </a:r>
            <a:r>
              <a:rPr lang="en-US" dirty="0">
                <a:solidFill>
                  <a:srgbClr val="C00000"/>
                </a:solidFill>
              </a:rPr>
              <a:t>demonstrate</a:t>
            </a:r>
            <a:r>
              <a:rPr lang="en-US" dirty="0"/>
              <a:t> practicality for the </a:t>
            </a:r>
            <a:r>
              <a:rPr lang="en-US" dirty="0">
                <a:solidFill>
                  <a:srgbClr val="C00000"/>
                </a:solidFill>
              </a:rPr>
              <a:t>client</a:t>
            </a:r>
            <a:r>
              <a:rPr lang="en-US" dirty="0"/>
              <a:t>.</a:t>
            </a:r>
            <a:endParaRPr lang="en-IN" dirty="0"/>
          </a:p>
          <a:p>
            <a:r>
              <a:rPr lang="en-IN" b="1" dirty="0"/>
              <a:t>Design and build iteration: </a:t>
            </a:r>
            <a:r>
              <a:rPr lang="en-IN" dirty="0"/>
              <a:t>If possible </a:t>
            </a:r>
            <a:r>
              <a:rPr lang="en-IN" dirty="0">
                <a:solidFill>
                  <a:srgbClr val="C00000"/>
                </a:solidFill>
              </a:rPr>
              <a:t>design and build activities </a:t>
            </a:r>
            <a:r>
              <a:rPr lang="en-IN" dirty="0"/>
              <a:t>can be carried out in </a:t>
            </a:r>
            <a:r>
              <a:rPr lang="en-IN" dirty="0">
                <a:solidFill>
                  <a:srgbClr val="C00000"/>
                </a:solidFill>
              </a:rPr>
              <a:t>parallel</a:t>
            </a:r>
          </a:p>
          <a:p>
            <a:r>
              <a:rPr lang="en-IN" b="1" dirty="0"/>
              <a:t>Implementation: </a:t>
            </a:r>
            <a:r>
              <a:rPr lang="en-IN" dirty="0"/>
              <a:t>The software </a:t>
            </a:r>
            <a:r>
              <a:rPr lang="en-IN" dirty="0">
                <a:solidFill>
                  <a:srgbClr val="C00000"/>
                </a:solidFill>
              </a:rPr>
              <a:t>increment</a:t>
            </a:r>
            <a:r>
              <a:rPr lang="en-IN" dirty="0"/>
              <a:t> is placed in the working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97481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Driven Development (FDD)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42" y="1060824"/>
            <a:ext cx="8849503" cy="370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ular Callout 6"/>
          <p:cNvSpPr/>
          <p:nvPr/>
        </p:nvSpPr>
        <p:spPr>
          <a:xfrm>
            <a:off x="9386046" y="2312893"/>
            <a:ext cx="2528047" cy="2568389"/>
          </a:xfrm>
          <a:prstGeom prst="wedgeRoundRectCallout">
            <a:avLst>
              <a:gd name="adj1" fmla="val -67889"/>
              <a:gd name="adj2" fmla="val -9355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is practical process model for </a:t>
            </a:r>
            <a:r>
              <a:rPr lang="en-US" sz="2400" b="1" dirty="0">
                <a:solidFill>
                  <a:srgbClr val="C00000"/>
                </a:solidFill>
              </a:rPr>
              <a:t>object oriented software engineering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24437" y="5447085"/>
            <a:ext cx="6293222" cy="738562"/>
          </a:xfrm>
          <a:prstGeom prst="wedgeRoundRectCallout">
            <a:avLst>
              <a:gd name="adj1" fmla="val -14906"/>
              <a:gd name="adj2" fmla="val -14868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2400" dirty="0"/>
              <a:t>In FDD, the </a:t>
            </a:r>
            <a:r>
              <a:rPr lang="en-IN" sz="2400" dirty="0">
                <a:solidFill>
                  <a:srgbClr val="C00000"/>
                </a:solidFill>
              </a:rPr>
              <a:t>feature means client valued function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160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Driven Development (FDD) cont.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170" y="868214"/>
            <a:ext cx="374092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1. Develop overall model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993263" y="1329879"/>
            <a:ext cx="411170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Content Placeholder 2"/>
          <p:cNvSpPr txBox="1">
            <a:spLocks/>
          </p:cNvSpPr>
          <p:nvPr/>
        </p:nvSpPr>
        <p:spPr>
          <a:xfrm>
            <a:off x="190499" y="1443094"/>
            <a:ext cx="5781282" cy="1232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 high-level </a:t>
            </a:r>
            <a:r>
              <a:rPr lang="en-IN" dirty="0">
                <a:solidFill>
                  <a:srgbClr val="C00000"/>
                </a:solidFill>
              </a:rPr>
              <a:t>walkthrough of scope </a:t>
            </a:r>
            <a:r>
              <a:rPr lang="en-IN" dirty="0"/>
              <a:t>and detailed domain walkthrough are conducted to create overall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841" y="2675966"/>
            <a:ext cx="374092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2. Build feature list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974934" y="3137631"/>
            <a:ext cx="411170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172170" y="3250846"/>
            <a:ext cx="5781282" cy="771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List of </a:t>
            </a:r>
            <a:r>
              <a:rPr lang="en-IN" dirty="0">
                <a:solidFill>
                  <a:srgbClr val="C00000"/>
                </a:solidFill>
              </a:rPr>
              <a:t>features</a:t>
            </a:r>
            <a:r>
              <a:rPr lang="en-IN" dirty="0"/>
              <a:t> is created and expressed in the following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176" y="4072133"/>
            <a:ext cx="575046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09575" indent="-342900" algn="ctr"/>
            <a:r>
              <a:rPr lang="en-IN" sz="2000" b="1" dirty="0">
                <a:solidFill>
                  <a:srgbClr val="C00000"/>
                </a:solidFill>
              </a:rPr>
              <a:t>&lt;action&gt; </a:t>
            </a:r>
            <a:r>
              <a:rPr lang="en-IN" sz="2000" dirty="0">
                <a:solidFill>
                  <a:srgbClr val="C00000"/>
                </a:solidFill>
              </a:rPr>
              <a:t>the </a:t>
            </a:r>
            <a:r>
              <a:rPr lang="en-IN" sz="2000" b="1" dirty="0">
                <a:solidFill>
                  <a:srgbClr val="C00000"/>
                </a:solidFill>
              </a:rPr>
              <a:t>&lt;result&gt; &lt;by for of to&gt; </a:t>
            </a:r>
            <a:r>
              <a:rPr lang="en-IN" sz="2000" dirty="0"/>
              <a:t>a(n) </a:t>
            </a:r>
            <a:r>
              <a:rPr lang="en-IN" sz="2000" b="1" dirty="0">
                <a:solidFill>
                  <a:srgbClr val="C00000"/>
                </a:solidFill>
              </a:rPr>
              <a:t>&lt;object&gt;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849" y="4518438"/>
            <a:ext cx="5763116" cy="3847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09575" indent="-342900" algn="ctr"/>
            <a:r>
              <a:rPr lang="en-IN" sz="1900" b="1" dirty="0"/>
              <a:t>For Ex. “Display product-specifications of the product”</a:t>
            </a:r>
            <a:endParaRPr lang="en-IN" sz="1900" dirty="0"/>
          </a:p>
        </p:txBody>
      </p:sp>
      <p:sp>
        <p:nvSpPr>
          <p:cNvPr id="14" name="Rectangle 13"/>
          <p:cNvSpPr/>
          <p:nvPr/>
        </p:nvSpPr>
        <p:spPr>
          <a:xfrm>
            <a:off x="135512" y="5134873"/>
            <a:ext cx="374092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3. Plan by feature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956605" y="5596538"/>
            <a:ext cx="411170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>
          <a:xfrm>
            <a:off x="153841" y="5709753"/>
            <a:ext cx="5781282" cy="879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After completing the feature list the </a:t>
            </a:r>
            <a:r>
              <a:rPr lang="en-IN" dirty="0">
                <a:solidFill>
                  <a:srgbClr val="C00000"/>
                </a:solidFill>
              </a:rPr>
              <a:t>development plan is created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360460" y="747191"/>
            <a:ext cx="0" cy="586876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617796" y="872699"/>
            <a:ext cx="276825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Design by feature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8438889" y="1334364"/>
            <a:ext cx="344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6636125" y="1447579"/>
            <a:ext cx="5372099" cy="878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For each feature the </a:t>
            </a:r>
            <a:r>
              <a:rPr lang="en-IN" dirty="0">
                <a:solidFill>
                  <a:srgbClr val="C00000"/>
                </a:solidFill>
              </a:rPr>
              <a:t>sequence diagram is created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5956" y="2324910"/>
            <a:ext cx="276825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Build by feature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8437049" y="2786575"/>
            <a:ext cx="344831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Content Placeholder 2"/>
          <p:cNvSpPr txBox="1">
            <a:spLocks/>
          </p:cNvSpPr>
          <p:nvPr/>
        </p:nvSpPr>
        <p:spPr>
          <a:xfrm>
            <a:off x="6634285" y="2899790"/>
            <a:ext cx="5372099" cy="878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Finally the </a:t>
            </a:r>
            <a:r>
              <a:rPr lang="en-IN" dirty="0">
                <a:solidFill>
                  <a:srgbClr val="C00000"/>
                </a:solidFill>
              </a:rPr>
              <a:t>class owner</a:t>
            </a:r>
            <a:r>
              <a:rPr lang="en-IN" dirty="0"/>
              <a:t> develop the </a:t>
            </a:r>
            <a:r>
              <a:rPr lang="en-IN" dirty="0">
                <a:solidFill>
                  <a:srgbClr val="C00000"/>
                </a:solidFill>
              </a:rPr>
              <a:t>actual code </a:t>
            </a:r>
            <a:r>
              <a:rPr lang="en-IN" dirty="0"/>
              <a:t>for their classes</a:t>
            </a:r>
          </a:p>
        </p:txBody>
      </p:sp>
    </p:spTree>
    <p:extLst>
      <p:ext uri="{BB962C8B-B14F-4D97-AF65-F5344CB8AC3E}">
        <p14:creationId xmlns:p14="http://schemas.microsoft.com/office/powerpoint/2010/main" val="21227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build="p"/>
      <p:bldP spid="9" grpId="0" animBg="1"/>
      <p:bldP spid="11" grpId="0" build="p"/>
      <p:bldP spid="12" grpId="0" animBg="1"/>
      <p:bldP spid="13" grpId="0" animBg="1"/>
      <p:bldP spid="14" grpId="0" animBg="1"/>
      <p:bldP spid="16" grpId="0" build="p"/>
      <p:bldP spid="20" grpId="0" animBg="1"/>
      <p:bldP spid="22" grpId="0" build="p"/>
      <p:bldP spid="23" grpId="0" animBg="1"/>
      <p:bldP spid="2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6135-FD08-2A35-F338-6B28DB42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vs. Agile Software Development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31A295-52A7-5B9C-4D60-BCED3D2C65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763" y="877888"/>
          <a:ext cx="11928474" cy="3370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81013">
                  <a:extLst>
                    <a:ext uri="{9D8B030D-6E8A-4147-A177-3AD203B41FA5}">
                      <a16:colId xmlns:a16="http://schemas.microsoft.com/office/drawing/2014/main" val="4145337764"/>
                    </a:ext>
                  </a:extLst>
                </a:gridCol>
                <a:gridCol w="4471303">
                  <a:extLst>
                    <a:ext uri="{9D8B030D-6E8A-4147-A177-3AD203B41FA5}">
                      <a16:colId xmlns:a16="http://schemas.microsoft.com/office/drawing/2014/main" val="700771652"/>
                    </a:ext>
                  </a:extLst>
                </a:gridCol>
                <a:gridCol w="3976158">
                  <a:extLst>
                    <a:ext uri="{9D8B030D-6E8A-4147-A177-3AD203B41FA5}">
                      <a16:colId xmlns:a16="http://schemas.microsoft.com/office/drawing/2014/main" val="756731907"/>
                    </a:ext>
                  </a:extLst>
                </a:gridCol>
              </a:tblGrid>
              <a:tr h="4040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Agile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8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Requirements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Clear Initial requirement and low change rate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Unclear requirement, creative, innovative,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53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9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Testing Approach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Sequential (Post-Development)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Concurrent with Development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7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Organizational Structure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Linear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Iterative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53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</a:rPr>
                        <a:t>Customer Involvement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Limited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Always Involved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18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Only when necessary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19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They work individually within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Collaborative or in Pair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93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Product 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Most Important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85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291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01F9-892A-C2ED-E149-5E84DA12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Scrum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C07D3-F808-5555-EA3D-8BEA0E7C2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2144520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-528035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154871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192097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629433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203671"/>
            <a:ext cx="97185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Introduction to Scrum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Project Phases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Agile Estimation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Planning Game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Product Backlog &amp; Sprint Backlog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Iteration Planning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User Story Definition, Characteristics and Content of User Stories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Acceptance Tests and Verifying Stories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Project Velocity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Burn Down Chart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Sprint Planning and Retrospective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Daily Scrum, Scrum Roles, Product Owner, Scrum Master, Scrum Team, Scrum case study,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Tools for Agile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03733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Introduction to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C00000"/>
                </a:solidFill>
              </a:rPr>
              <a:t>Scrum</a:t>
            </a:r>
            <a:r>
              <a:rPr lang="en-US" dirty="0"/>
              <a:t> is one of the </a:t>
            </a:r>
            <a:r>
              <a:rPr lang="en-US" dirty="0">
                <a:solidFill>
                  <a:srgbClr val="C00000"/>
                </a:solidFill>
              </a:rPr>
              <a:t>Agile frameworks</a:t>
            </a:r>
            <a:r>
              <a:rPr lang="en-US" dirty="0"/>
              <a:t> followed to </a:t>
            </a:r>
            <a:r>
              <a:rPr lang="en-US" dirty="0">
                <a:solidFill>
                  <a:srgbClr val="C00000"/>
                </a:solidFill>
              </a:rPr>
              <a:t>complete challenging projects</a:t>
            </a:r>
            <a:r>
              <a:rPr lang="en-US" dirty="0"/>
              <a:t> wherein there are </a:t>
            </a:r>
            <a:r>
              <a:rPr lang="en-US" dirty="0">
                <a:solidFill>
                  <a:srgbClr val="C00000"/>
                </a:solidFill>
              </a:rPr>
              <a:t>dynamic changes in the requirements</a:t>
            </a:r>
            <a:r>
              <a:rPr lang="en-US" dirty="0"/>
              <a:t> by using one or </a:t>
            </a:r>
            <a:r>
              <a:rPr lang="en-US" dirty="0">
                <a:solidFill>
                  <a:srgbClr val="C00000"/>
                </a:solidFill>
              </a:rPr>
              <a:t>more cross-functional, self-organizing teams</a:t>
            </a:r>
            <a:r>
              <a:rPr lang="en-US" dirty="0"/>
              <a:t> of about </a:t>
            </a:r>
            <a:r>
              <a:rPr lang="en-US" dirty="0">
                <a:solidFill>
                  <a:srgbClr val="C00000"/>
                </a:solidFill>
              </a:rPr>
              <a:t>7 +/- 2 people</a:t>
            </a:r>
            <a:r>
              <a:rPr lang="en-US" dirty="0"/>
              <a:t> on each team.</a:t>
            </a:r>
          </a:p>
          <a:p>
            <a:pPr algn="l"/>
            <a:r>
              <a:rPr lang="en-US" dirty="0">
                <a:solidFill>
                  <a:srgbClr val="C00000"/>
                </a:solidFill>
              </a:rPr>
              <a:t>Scrum</a:t>
            </a:r>
            <a:r>
              <a:rPr lang="en-US" dirty="0"/>
              <a:t> consists of </a:t>
            </a:r>
            <a:r>
              <a:rPr lang="en-US" dirty="0">
                <a:solidFill>
                  <a:srgbClr val="C00000"/>
                </a:solidFill>
              </a:rPr>
              <a:t>3 roles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Scrum Master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Development Team</a:t>
            </a:r>
            <a:r>
              <a:rPr lang="en-US" dirty="0"/>
              <a:t>. </a:t>
            </a:r>
          </a:p>
          <a:p>
            <a:pPr algn="l"/>
            <a:r>
              <a:rPr lang="en-US" dirty="0"/>
              <a:t>Scrum uses </a:t>
            </a:r>
            <a:r>
              <a:rPr lang="en-US" dirty="0">
                <a:solidFill>
                  <a:srgbClr val="C00000"/>
                </a:solidFill>
              </a:rPr>
              <a:t>fixed-length iterations</a:t>
            </a:r>
            <a:r>
              <a:rPr lang="en-US" dirty="0"/>
              <a:t> called </a:t>
            </a:r>
            <a:r>
              <a:rPr lang="en-US" dirty="0">
                <a:solidFill>
                  <a:srgbClr val="C00000"/>
                </a:solidFill>
              </a:rPr>
              <a:t>sprints</a:t>
            </a:r>
            <a:r>
              <a:rPr lang="en-US" dirty="0"/>
              <a:t> ranging from </a:t>
            </a:r>
            <a:r>
              <a:rPr lang="en-US" dirty="0">
                <a:solidFill>
                  <a:srgbClr val="C00000"/>
                </a:solidFill>
              </a:rPr>
              <a:t>one week to four weeks</a:t>
            </a:r>
            <a:r>
              <a:rPr lang="en-US" dirty="0"/>
              <a:t> (or 30 days long)</a:t>
            </a:r>
          </a:p>
          <a:p>
            <a:pPr algn="l"/>
            <a:r>
              <a:rPr lang="en-US" dirty="0"/>
              <a:t>Scrum </a:t>
            </a:r>
            <a:r>
              <a:rPr lang="en-US" dirty="0">
                <a:solidFill>
                  <a:srgbClr val="C00000"/>
                </a:solidFill>
              </a:rPr>
              <a:t>teams</a:t>
            </a:r>
            <a:r>
              <a:rPr lang="en-US" dirty="0"/>
              <a:t> should consist of</a:t>
            </a:r>
            <a:r>
              <a:rPr lang="en-US" dirty="0">
                <a:solidFill>
                  <a:srgbClr val="C00000"/>
                </a:solidFill>
              </a:rPr>
              <a:t> 7 +/- 2 people</a:t>
            </a:r>
          </a:p>
          <a:p>
            <a:pPr algn="l"/>
            <a:r>
              <a:rPr lang="en-US" dirty="0">
                <a:solidFill>
                  <a:srgbClr val="C00000"/>
                </a:solidFill>
              </a:rPr>
              <a:t>Sprint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time bound</a:t>
            </a:r>
            <a:r>
              <a:rPr lang="en-US" dirty="0"/>
              <a:t> &amp; it </a:t>
            </a:r>
            <a:r>
              <a:rPr lang="en-US" dirty="0">
                <a:solidFill>
                  <a:srgbClr val="C00000"/>
                </a:solidFill>
              </a:rPr>
              <a:t>cannot exceed</a:t>
            </a:r>
            <a:r>
              <a:rPr lang="en-US" dirty="0"/>
              <a:t> more than </a:t>
            </a:r>
            <a:r>
              <a:rPr lang="en-US" dirty="0">
                <a:solidFill>
                  <a:srgbClr val="C00000"/>
                </a:solidFill>
              </a:rPr>
              <a:t>30 days</a:t>
            </a:r>
          </a:p>
          <a:p>
            <a:pPr algn="l"/>
            <a:r>
              <a:rPr lang="en-US" dirty="0"/>
              <a:t>Scrum </a:t>
            </a:r>
            <a:r>
              <a:rPr lang="en-US" dirty="0">
                <a:solidFill>
                  <a:srgbClr val="C00000"/>
                </a:solidFill>
              </a:rPr>
              <a:t>team</a:t>
            </a:r>
            <a:r>
              <a:rPr lang="en-US" dirty="0"/>
              <a:t> aims to </a:t>
            </a:r>
            <a:r>
              <a:rPr lang="en-US" dirty="0">
                <a:solidFill>
                  <a:srgbClr val="C00000"/>
                </a:solidFill>
              </a:rPr>
              <a:t>build a potentially shippable product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end of each sprint</a:t>
            </a:r>
          </a:p>
          <a:p>
            <a:pPr algn="l"/>
            <a:r>
              <a:rPr lang="en-US" dirty="0"/>
              <a:t>Daily </a:t>
            </a:r>
            <a:r>
              <a:rPr lang="en-US" dirty="0">
                <a:solidFill>
                  <a:srgbClr val="C00000"/>
                </a:solidFill>
              </a:rPr>
              <a:t>Scrum / Stand-up meeting</a:t>
            </a:r>
            <a:r>
              <a:rPr lang="en-US" dirty="0"/>
              <a:t> should be only for </a:t>
            </a:r>
            <a:r>
              <a:rPr lang="en-US" dirty="0">
                <a:solidFill>
                  <a:srgbClr val="C00000"/>
                </a:solidFill>
              </a:rPr>
              <a:t>15 mins</a:t>
            </a:r>
            <a:r>
              <a:rPr lang="en-US" dirty="0"/>
              <a:t>, and as the name goes, the team should be standing during the entire meeting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73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Agile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7519"/>
            <a:ext cx="11929641" cy="3073038"/>
          </a:xfrm>
        </p:spPr>
        <p:txBody>
          <a:bodyPr/>
          <a:lstStyle/>
          <a:p>
            <a:r>
              <a:rPr lang="en-US" dirty="0"/>
              <a:t>It’s </a:t>
            </a:r>
            <a:r>
              <a:rPr lang="en-US" dirty="0">
                <a:solidFill>
                  <a:srgbClr val="C00000"/>
                </a:solidFill>
              </a:rPr>
              <a:t>nowhere a rule</a:t>
            </a:r>
            <a:r>
              <a:rPr lang="en-US" dirty="0"/>
              <a:t> saying you </a:t>
            </a:r>
            <a:r>
              <a:rPr lang="en-US" dirty="0">
                <a:solidFill>
                  <a:srgbClr val="C00000"/>
                </a:solidFill>
              </a:rPr>
              <a:t>have to adopt one of the techniques to estimate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team can use any logic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estimate</a:t>
            </a:r>
            <a:r>
              <a:rPr lang="en-US" dirty="0"/>
              <a:t> their </a:t>
            </a:r>
            <a:r>
              <a:rPr lang="en-US" dirty="0">
                <a:solidFill>
                  <a:srgbClr val="C00000"/>
                </a:solidFill>
              </a:rPr>
              <a:t>user stories</a:t>
            </a:r>
            <a:r>
              <a:rPr lang="en-US" dirty="0"/>
              <a:t>.</a:t>
            </a:r>
          </a:p>
          <a:p>
            <a:r>
              <a:rPr lang="en-US" dirty="0"/>
              <a:t>Once the team has worked for awhile in Agile projects, their ability to estimate the user stories becomes much better and more accurate.</a:t>
            </a:r>
          </a:p>
          <a:p>
            <a:r>
              <a:rPr lang="en-US" dirty="0"/>
              <a:t>But </a:t>
            </a:r>
            <a:r>
              <a:rPr lang="en-US" dirty="0">
                <a:solidFill>
                  <a:srgbClr val="C00000"/>
                </a:solidFill>
              </a:rPr>
              <a:t>teams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new to Agile</a:t>
            </a:r>
            <a:r>
              <a:rPr lang="en-US" dirty="0"/>
              <a:t> sometimes face </a:t>
            </a:r>
            <a:r>
              <a:rPr lang="en-US" dirty="0">
                <a:solidFill>
                  <a:srgbClr val="C00000"/>
                </a:solidFill>
              </a:rPr>
              <a:t>difficulty in estimating</a:t>
            </a:r>
            <a:r>
              <a:rPr lang="en-US" dirty="0"/>
              <a:t> the points for the user stories.</a:t>
            </a:r>
          </a:p>
          <a:p>
            <a:r>
              <a:rPr lang="en-US" dirty="0"/>
              <a:t>Below are the </a:t>
            </a:r>
            <a:r>
              <a:rPr lang="en-US" b="1" dirty="0">
                <a:solidFill>
                  <a:srgbClr val="C00000"/>
                </a:solidFill>
              </a:rPr>
              <a:t>few estimation techniques</a:t>
            </a:r>
            <a:r>
              <a:rPr lang="en-US" dirty="0"/>
              <a:t>, which can be used to </a:t>
            </a:r>
            <a:r>
              <a:rPr lang="en-US" dirty="0">
                <a:solidFill>
                  <a:srgbClr val="C00000"/>
                </a:solidFill>
              </a:rPr>
              <a:t>estimate the user stories</a:t>
            </a:r>
            <a:r>
              <a:rPr lang="en-US" dirty="0"/>
              <a:t> accordingly:</a:t>
            </a:r>
            <a:endParaRPr lang="en-IN" dirty="0"/>
          </a:p>
        </p:txBody>
      </p:sp>
      <p:grpSp>
        <p:nvGrpSpPr>
          <p:cNvPr id="6" name="Group 5"/>
          <p:cNvGrpSpPr/>
          <p:nvPr/>
        </p:nvGrpSpPr>
        <p:grpSpPr>
          <a:xfrm>
            <a:off x="409855" y="3950556"/>
            <a:ext cx="2800705" cy="2517527"/>
            <a:chOff x="409855" y="3950556"/>
            <a:chExt cx="2800705" cy="2517527"/>
          </a:xfrm>
        </p:grpSpPr>
        <p:sp>
          <p:nvSpPr>
            <p:cNvPr id="5" name="Rectangle 4"/>
            <p:cNvSpPr/>
            <p:nvPr/>
          </p:nvSpPr>
          <p:spPr>
            <a:xfrm>
              <a:off x="409855" y="4410412"/>
              <a:ext cx="2800705" cy="2057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919" y="4585960"/>
              <a:ext cx="1706575" cy="1706575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09855" y="3950556"/>
              <a:ext cx="2800705" cy="459856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Planning Poker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489235" y="3950556"/>
            <a:ext cx="2800705" cy="2517526"/>
            <a:chOff x="3489235" y="3950556"/>
            <a:chExt cx="2800705" cy="2517526"/>
          </a:xfrm>
        </p:grpSpPr>
        <p:sp>
          <p:nvSpPr>
            <p:cNvPr id="11" name="Rectangle 10"/>
            <p:cNvSpPr/>
            <p:nvPr/>
          </p:nvSpPr>
          <p:spPr>
            <a:xfrm>
              <a:off x="3489235" y="4410411"/>
              <a:ext cx="2800705" cy="20576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489235" y="3950556"/>
              <a:ext cx="2800705" cy="459856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T-Shirt Sizes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2427" y="4553631"/>
              <a:ext cx="1771229" cy="1771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630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Planning Poker?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49385"/>
            <a:ext cx="11929641" cy="149204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Planning Poker</a:t>
            </a:r>
            <a:r>
              <a:rPr lang="en-US" dirty="0"/>
              <a:t> is a </a:t>
            </a:r>
            <a:r>
              <a:rPr lang="en-US" dirty="0">
                <a:solidFill>
                  <a:schemeClr val="accent6"/>
                </a:solidFill>
              </a:rPr>
              <a:t>collaborative story estimating technique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agile team</a:t>
            </a:r>
            <a:r>
              <a:rPr lang="en-US" dirty="0"/>
              <a:t> uses Planning Poker to </a:t>
            </a:r>
            <a:r>
              <a:rPr lang="en-US" dirty="0">
                <a:solidFill>
                  <a:schemeClr val="accent6"/>
                </a:solidFill>
              </a:rPr>
              <a:t>estimate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product backlogs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Story points</a:t>
            </a:r>
            <a:r>
              <a:rPr lang="en-US" dirty="0"/>
              <a:t>, ideal days, or other estimating units can be used for Planning Poker.</a:t>
            </a:r>
          </a:p>
          <a:p>
            <a:endParaRPr lang="en-IN" dirty="0"/>
          </a:p>
        </p:txBody>
      </p:sp>
      <p:grpSp>
        <p:nvGrpSpPr>
          <p:cNvPr id="52" name="Group 51"/>
          <p:cNvGrpSpPr/>
          <p:nvPr/>
        </p:nvGrpSpPr>
        <p:grpSpPr>
          <a:xfrm>
            <a:off x="3684660" y="2664560"/>
            <a:ext cx="2968453" cy="3736237"/>
            <a:chOff x="2980934" y="2328897"/>
            <a:chExt cx="2968453" cy="3736237"/>
          </a:xfrm>
        </p:grpSpPr>
        <p:sp>
          <p:nvSpPr>
            <p:cNvPr id="46" name="Rectangle 45"/>
            <p:cNvSpPr/>
            <p:nvPr/>
          </p:nvSpPr>
          <p:spPr>
            <a:xfrm>
              <a:off x="2980934" y="2899207"/>
              <a:ext cx="2968453" cy="316592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191268" y="3044000"/>
              <a:ext cx="722376" cy="850392"/>
              <a:chOff x="1783080" y="3008376"/>
              <a:chExt cx="722376" cy="850392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123707" y="3044000"/>
              <a:ext cx="722376" cy="850392"/>
              <a:chOff x="1783080" y="3008376"/>
              <a:chExt cx="722376" cy="850392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056146" y="3044000"/>
              <a:ext cx="722376" cy="850392"/>
              <a:chOff x="1783080" y="3008376"/>
              <a:chExt cx="722376" cy="850392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3216100" y="4069461"/>
              <a:ext cx="722376" cy="850392"/>
              <a:chOff x="1783080" y="3008376"/>
              <a:chExt cx="722376" cy="850392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136756" y="4069461"/>
              <a:ext cx="722376" cy="850392"/>
              <a:chOff x="1783080" y="3008376"/>
              <a:chExt cx="722376" cy="850392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5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5057412" y="4069461"/>
              <a:ext cx="722376" cy="850392"/>
              <a:chOff x="1783080" y="3008376"/>
              <a:chExt cx="722376" cy="850392"/>
            </a:xfrm>
          </p:grpSpPr>
          <p:sp>
            <p:nvSpPr>
              <p:cNvPr id="35" name="Rounded Rectangle 34"/>
              <p:cNvSpPr/>
              <p:nvPr/>
            </p:nvSpPr>
            <p:spPr>
              <a:xfrm>
                <a:off x="1783080" y="3008376"/>
                <a:ext cx="722376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1860804" y="3108960"/>
                <a:ext cx="566928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8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216100" y="5066959"/>
              <a:ext cx="1193854" cy="850392"/>
              <a:chOff x="1783080" y="3008376"/>
              <a:chExt cx="1052492" cy="850392"/>
            </a:xfrm>
          </p:grpSpPr>
          <p:sp>
            <p:nvSpPr>
              <p:cNvPr id="38" name="Rounded Rectangle 37"/>
              <p:cNvSpPr/>
              <p:nvPr/>
            </p:nvSpPr>
            <p:spPr>
              <a:xfrm>
                <a:off x="1783080" y="3008376"/>
                <a:ext cx="1052492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1860804" y="3108960"/>
                <a:ext cx="881352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13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4604225" y="5066959"/>
              <a:ext cx="1174297" cy="850392"/>
              <a:chOff x="1783080" y="3008376"/>
              <a:chExt cx="1052492" cy="850392"/>
            </a:xfrm>
          </p:grpSpPr>
          <p:sp>
            <p:nvSpPr>
              <p:cNvPr id="41" name="Rounded Rectangle 40"/>
              <p:cNvSpPr/>
              <p:nvPr/>
            </p:nvSpPr>
            <p:spPr>
              <a:xfrm>
                <a:off x="1783080" y="3008376"/>
                <a:ext cx="1052492" cy="850392"/>
              </a:xfrm>
              <a:prstGeom prst="roundRect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1860804" y="3108960"/>
                <a:ext cx="881352" cy="658310"/>
              </a:xfrm>
              <a:prstGeom prst="round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N" sz="4800" b="1" dirty="0">
                    <a:solidFill>
                      <a:srgbClr val="C00000"/>
                    </a:solidFill>
                  </a:rPr>
                  <a:t>21</a:t>
                </a: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2981189" y="2328897"/>
              <a:ext cx="2968198" cy="5818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Poker Cards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55065" y="2664560"/>
            <a:ext cx="2968453" cy="3727424"/>
            <a:chOff x="1061129" y="2676137"/>
            <a:chExt cx="2968453" cy="3727424"/>
          </a:xfrm>
        </p:grpSpPr>
        <p:sp>
          <p:nvSpPr>
            <p:cNvPr id="54" name="Rectangle 53"/>
            <p:cNvSpPr/>
            <p:nvPr/>
          </p:nvSpPr>
          <p:spPr>
            <a:xfrm>
              <a:off x="1061129" y="3237634"/>
              <a:ext cx="2968453" cy="316592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9683" y="3909535"/>
              <a:ext cx="2347340" cy="234734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1061384" y="2676137"/>
              <a:ext cx="2968198" cy="58188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Product </a:t>
              </a:r>
              <a:r>
                <a:rPr lang="en-US" sz="2400" b="1" dirty="0"/>
                <a:t>Backlogs</a:t>
              </a:r>
              <a:endParaRPr lang="en-IN" sz="2400" b="1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253527" y="3384560"/>
              <a:ext cx="2581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400" b="1" dirty="0"/>
                <a:t>User Stories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7014256" y="2664560"/>
            <a:ext cx="4907667" cy="4147139"/>
            <a:chOff x="7153154" y="2676136"/>
            <a:chExt cx="4907667" cy="4147139"/>
          </a:xfrm>
        </p:grpSpPr>
        <p:sp>
          <p:nvSpPr>
            <p:cNvPr id="58" name="Rectangle 57"/>
            <p:cNvSpPr/>
            <p:nvPr/>
          </p:nvSpPr>
          <p:spPr>
            <a:xfrm>
              <a:off x="7974957" y="2676137"/>
              <a:ext cx="4085864" cy="37362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194854" y="2723045"/>
              <a:ext cx="3681229" cy="4100230"/>
              <a:chOff x="7361476" y="2757770"/>
              <a:chExt cx="3681229" cy="410023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9989" y="3497862"/>
                <a:ext cx="3360138" cy="3360138"/>
              </a:xfrm>
              <a:prstGeom prst="rect">
                <a:avLst/>
              </a:prstGeom>
            </p:spPr>
          </p:pic>
          <p:sp>
            <p:nvSpPr>
              <p:cNvPr id="5" name="Rounded Rectangular Callout 4"/>
              <p:cNvSpPr/>
              <p:nvPr/>
            </p:nvSpPr>
            <p:spPr>
              <a:xfrm>
                <a:off x="7361476" y="3434034"/>
                <a:ext cx="886968" cy="957072"/>
              </a:xfrm>
              <a:prstGeom prst="wedgeRoundRectCallout">
                <a:avLst>
                  <a:gd name="adj1" fmla="val 25626"/>
                  <a:gd name="adj2" fmla="val 80634"/>
                  <a:gd name="adj3" fmla="val 16667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5400" b="1" dirty="0"/>
              </a:p>
            </p:txBody>
          </p:sp>
          <p:sp>
            <p:nvSpPr>
              <p:cNvPr id="11" name="Rounded Rectangular Callout 10"/>
              <p:cNvSpPr/>
              <p:nvPr/>
            </p:nvSpPr>
            <p:spPr>
              <a:xfrm>
                <a:off x="8826635" y="2757770"/>
                <a:ext cx="886968" cy="957072"/>
              </a:xfrm>
              <a:prstGeom prst="wedgeRoundRectCallout">
                <a:avLst>
                  <a:gd name="adj1" fmla="val 22443"/>
                  <a:gd name="adj2" fmla="val 75241"/>
                  <a:gd name="adj3" fmla="val 16667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5400" b="1" dirty="0"/>
              </a:p>
            </p:txBody>
          </p:sp>
          <p:sp>
            <p:nvSpPr>
              <p:cNvPr id="15" name="Rounded Rectangular Callout 14"/>
              <p:cNvSpPr/>
              <p:nvPr/>
            </p:nvSpPr>
            <p:spPr>
              <a:xfrm>
                <a:off x="10155737" y="3446046"/>
                <a:ext cx="886968" cy="957072"/>
              </a:xfrm>
              <a:prstGeom prst="wedgeRoundRectCallout">
                <a:avLst>
                  <a:gd name="adj1" fmla="val -1451"/>
                  <a:gd name="adj2" fmla="val 75676"/>
                  <a:gd name="adj3" fmla="val 16667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5400" b="1" dirty="0"/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10224317" y="3497862"/>
                <a:ext cx="722376" cy="850392"/>
                <a:chOff x="1783080" y="3008376"/>
                <a:chExt cx="722376" cy="850392"/>
              </a:xfrm>
            </p:grpSpPr>
            <p:sp>
              <p:nvSpPr>
                <p:cNvPr id="7" name="Rounded Rectangle 6"/>
                <p:cNvSpPr/>
                <p:nvPr/>
              </p:nvSpPr>
              <p:spPr>
                <a:xfrm>
                  <a:off x="1783080" y="3008376"/>
                  <a:ext cx="722376" cy="850392"/>
                </a:xfrm>
                <a:prstGeom prst="roundRect">
                  <a:avLst/>
                </a:prstGeom>
                <a:ln w="28575">
                  <a:solidFill>
                    <a:schemeClr val="accent6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" name="Rounded Rectangle 7"/>
                <p:cNvSpPr/>
                <p:nvPr/>
              </p:nvSpPr>
              <p:spPr>
                <a:xfrm>
                  <a:off x="1860804" y="3108960"/>
                  <a:ext cx="566928" cy="658310"/>
                </a:xfrm>
                <a:prstGeom prst="roundRect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800" b="1" dirty="0">
                      <a:solidFill>
                        <a:srgbClr val="C00000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8908931" y="2822686"/>
                <a:ext cx="722376" cy="850392"/>
                <a:chOff x="1783080" y="3008376"/>
                <a:chExt cx="722376" cy="850392"/>
              </a:xfrm>
            </p:grpSpPr>
            <p:sp>
              <p:nvSpPr>
                <p:cNvPr id="17" name="Rounded Rectangle 16"/>
                <p:cNvSpPr/>
                <p:nvPr/>
              </p:nvSpPr>
              <p:spPr>
                <a:xfrm>
                  <a:off x="1783080" y="3008376"/>
                  <a:ext cx="722376" cy="850392"/>
                </a:xfrm>
                <a:prstGeom prst="roundRect">
                  <a:avLst/>
                </a:prstGeom>
                <a:ln w="28575">
                  <a:solidFill>
                    <a:schemeClr val="accent6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8" name="Rounded Rectangle 17"/>
                <p:cNvSpPr/>
                <p:nvPr/>
              </p:nvSpPr>
              <p:spPr>
                <a:xfrm>
                  <a:off x="1860804" y="3108960"/>
                  <a:ext cx="566928" cy="658310"/>
                </a:xfrm>
                <a:prstGeom prst="roundRect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800" b="1" dirty="0">
                      <a:solidFill>
                        <a:srgbClr val="C00000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19" name="Group 18"/>
              <p:cNvGrpSpPr/>
              <p:nvPr/>
            </p:nvGrpSpPr>
            <p:grpSpPr>
              <a:xfrm>
                <a:off x="7443772" y="3487374"/>
                <a:ext cx="722376" cy="850392"/>
                <a:chOff x="1783080" y="3008376"/>
                <a:chExt cx="722376" cy="850392"/>
              </a:xfrm>
            </p:grpSpPr>
            <p:sp>
              <p:nvSpPr>
                <p:cNvPr id="20" name="Rounded Rectangle 19"/>
                <p:cNvSpPr/>
                <p:nvPr/>
              </p:nvSpPr>
              <p:spPr>
                <a:xfrm>
                  <a:off x="1783080" y="3008376"/>
                  <a:ext cx="722376" cy="850392"/>
                </a:xfrm>
                <a:prstGeom prst="roundRect">
                  <a:avLst/>
                </a:prstGeom>
                <a:ln w="28575">
                  <a:solidFill>
                    <a:schemeClr val="accent6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Rounded Rectangle 20"/>
                <p:cNvSpPr/>
                <p:nvPr/>
              </p:nvSpPr>
              <p:spPr>
                <a:xfrm>
                  <a:off x="1860804" y="3108960"/>
                  <a:ext cx="566928" cy="658310"/>
                </a:xfrm>
                <a:prstGeom prst="roundRect">
                  <a:avLst/>
                </a:prstGeom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800" b="1" dirty="0">
                      <a:solidFill>
                        <a:srgbClr val="C00000"/>
                      </a:solidFill>
                    </a:rPr>
                    <a:t>1</a:t>
                  </a:r>
                </a:p>
              </p:txBody>
            </p:sp>
          </p:grpSp>
        </p:grpSp>
        <p:sp>
          <p:nvSpPr>
            <p:cNvPr id="59" name="Rectangle 58"/>
            <p:cNvSpPr/>
            <p:nvPr/>
          </p:nvSpPr>
          <p:spPr>
            <a:xfrm rot="16200000">
              <a:off x="5696788" y="4132502"/>
              <a:ext cx="3736239" cy="8235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The team member select the card to estimate Story</a:t>
              </a:r>
            </a:p>
          </p:txBody>
        </p:sp>
      </p:grpSp>
      <p:pic>
        <p:nvPicPr>
          <p:cNvPr id="63" name="Picture 62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960" y="-1159"/>
            <a:ext cx="688978" cy="6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2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Planning Poker?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914400"/>
            <a:ext cx="11929641" cy="5559553"/>
          </a:xfrm>
        </p:spPr>
        <p:txBody>
          <a:bodyPr/>
          <a:lstStyle/>
          <a:p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starts with planning session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or customer </a:t>
            </a:r>
            <a:r>
              <a:rPr lang="en-US" dirty="0">
                <a:solidFill>
                  <a:srgbClr val="C00000"/>
                </a:solidFill>
              </a:rPr>
              <a:t>reads an agile user story</a:t>
            </a:r>
            <a:r>
              <a:rPr lang="en-US" dirty="0"/>
              <a:t> or describes a feature </a:t>
            </a:r>
            <a:r>
              <a:rPr lang="en-US" dirty="0">
                <a:solidFill>
                  <a:srgbClr val="C00000"/>
                </a:solidFill>
              </a:rPr>
              <a:t>to the team member</a:t>
            </a:r>
            <a:r>
              <a:rPr lang="en-US" dirty="0"/>
              <a:t>. 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C00000"/>
                </a:solidFill>
              </a:rPr>
              <a:t>team member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holding</a:t>
            </a:r>
            <a:r>
              <a:rPr lang="en-US" dirty="0"/>
              <a:t> a deck of Planning </a:t>
            </a:r>
            <a:r>
              <a:rPr lang="en-US" dirty="0">
                <a:solidFill>
                  <a:schemeClr val="accent6"/>
                </a:solidFill>
              </a:rPr>
              <a:t>Poker cards</a:t>
            </a:r>
            <a:r>
              <a:rPr lang="en-US" dirty="0"/>
              <a:t> with values </a:t>
            </a:r>
            <a:r>
              <a:rPr lang="en-US" dirty="0">
                <a:solidFill>
                  <a:schemeClr val="accent6"/>
                </a:solidFill>
              </a:rPr>
              <a:t>0, 1, 2, 3, 5, 8, 13</a:t>
            </a:r>
            <a:r>
              <a:rPr lang="en-US" dirty="0"/>
              <a:t>, and 21 (Generally </a:t>
            </a:r>
            <a:r>
              <a:rPr lang="en-US" dirty="0">
                <a:solidFill>
                  <a:schemeClr val="accent6"/>
                </a:solidFill>
              </a:rPr>
              <a:t>Fibonacci sequence</a:t>
            </a:r>
            <a:r>
              <a:rPr lang="en-US" dirty="0"/>
              <a:t>)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poker card values</a:t>
            </a:r>
            <a:r>
              <a:rPr lang="en-US" dirty="0"/>
              <a:t> represent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number of story points</a:t>
            </a:r>
            <a:r>
              <a:rPr lang="en-US" dirty="0"/>
              <a:t>, 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ideal days</a:t>
            </a:r>
            <a:r>
              <a:rPr lang="en-US" dirty="0"/>
              <a:t>, or 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other units</a:t>
            </a:r>
            <a:r>
              <a:rPr lang="en-US" dirty="0"/>
              <a:t> in which the team estimates.</a:t>
            </a:r>
          </a:p>
          <a:p>
            <a:r>
              <a:rPr lang="en-US" dirty="0"/>
              <a:t>The team member </a:t>
            </a:r>
            <a:r>
              <a:rPr lang="en-US" dirty="0">
                <a:solidFill>
                  <a:schemeClr val="accent6"/>
                </a:solidFill>
              </a:rPr>
              <a:t>discuss the feature</a:t>
            </a:r>
            <a:r>
              <a:rPr lang="en-US" dirty="0"/>
              <a:t>, </a:t>
            </a:r>
            <a:r>
              <a:rPr lang="en-US" dirty="0">
                <a:solidFill>
                  <a:schemeClr val="accent6"/>
                </a:solidFill>
              </a:rPr>
              <a:t>asking questions</a:t>
            </a:r>
            <a:r>
              <a:rPr lang="en-US" dirty="0"/>
              <a:t> to the product owner as needed.</a:t>
            </a:r>
          </a:p>
          <a:p>
            <a:r>
              <a:rPr lang="en-US" dirty="0"/>
              <a:t>After the </a:t>
            </a:r>
            <a:r>
              <a:rPr lang="en-US" dirty="0">
                <a:solidFill>
                  <a:schemeClr val="accent6"/>
                </a:solidFill>
              </a:rPr>
              <a:t>completion of the discussion</a:t>
            </a:r>
            <a:r>
              <a:rPr lang="en-US" dirty="0"/>
              <a:t>, each </a:t>
            </a:r>
            <a:r>
              <a:rPr lang="en-US" dirty="0">
                <a:solidFill>
                  <a:schemeClr val="accent6"/>
                </a:solidFill>
              </a:rPr>
              <a:t>team member</a:t>
            </a:r>
            <a:r>
              <a:rPr lang="en-US" dirty="0"/>
              <a:t> selects </a:t>
            </a:r>
            <a:r>
              <a:rPr lang="en-US" dirty="0">
                <a:solidFill>
                  <a:schemeClr val="accent6"/>
                </a:solidFill>
              </a:rPr>
              <a:t>one card </a:t>
            </a:r>
            <a:r>
              <a:rPr lang="en-US" dirty="0"/>
              <a:t>to </a:t>
            </a:r>
            <a:r>
              <a:rPr lang="en-US" dirty="0">
                <a:solidFill>
                  <a:schemeClr val="accent6"/>
                </a:solidFill>
              </a:rPr>
              <a:t>represent</a:t>
            </a:r>
            <a:r>
              <a:rPr lang="en-US" dirty="0"/>
              <a:t> his or her </a:t>
            </a:r>
            <a:r>
              <a:rPr lang="en-US" dirty="0">
                <a:solidFill>
                  <a:schemeClr val="accent6"/>
                </a:solidFill>
              </a:rPr>
              <a:t>estimate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All cards</a:t>
            </a:r>
            <a:r>
              <a:rPr lang="en-US" dirty="0"/>
              <a:t> are then </a:t>
            </a:r>
            <a:r>
              <a:rPr lang="en-IN" dirty="0">
                <a:solidFill>
                  <a:schemeClr val="accent6"/>
                </a:solidFill>
              </a:rPr>
              <a:t>disclosed</a:t>
            </a:r>
            <a:r>
              <a:rPr lang="en-US" dirty="0">
                <a:solidFill>
                  <a:schemeClr val="accent6"/>
                </a:solidFill>
              </a:rPr>
              <a:t> at the same time</a:t>
            </a:r>
            <a:r>
              <a:rPr lang="en-US" dirty="0"/>
              <a:t>.</a:t>
            </a:r>
            <a:endParaRPr lang="en-IN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960" y="-1159"/>
            <a:ext cx="688978" cy="6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1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Planning Poker estimation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all</a:t>
            </a:r>
            <a:r>
              <a:rPr lang="en-US" dirty="0"/>
              <a:t> the team </a:t>
            </a:r>
            <a:r>
              <a:rPr lang="en-US" dirty="0">
                <a:solidFill>
                  <a:schemeClr val="accent6"/>
                </a:solidFill>
              </a:rPr>
              <a:t>members</a:t>
            </a:r>
            <a:r>
              <a:rPr lang="en-US" dirty="0"/>
              <a:t> have </a:t>
            </a:r>
            <a:r>
              <a:rPr lang="en-US" dirty="0">
                <a:solidFill>
                  <a:schemeClr val="accent6"/>
                </a:solidFill>
              </a:rPr>
              <a:t>selected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same value</a:t>
            </a:r>
            <a:r>
              <a:rPr lang="en-US" dirty="0"/>
              <a:t>, that </a:t>
            </a:r>
            <a:r>
              <a:rPr lang="en-US" dirty="0">
                <a:solidFill>
                  <a:schemeClr val="accent6"/>
                </a:solidFill>
              </a:rPr>
              <a:t>becomes the estimate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dirty="0">
                <a:solidFill>
                  <a:schemeClr val="accent6"/>
                </a:solidFill>
              </a:rPr>
              <a:t>not</a:t>
            </a:r>
            <a:r>
              <a:rPr lang="en-US" dirty="0"/>
              <a:t>, the </a:t>
            </a:r>
            <a:r>
              <a:rPr lang="en-US" dirty="0">
                <a:solidFill>
                  <a:schemeClr val="accent6"/>
                </a:solidFill>
              </a:rPr>
              <a:t>team members discuss their estimates</a:t>
            </a:r>
            <a:r>
              <a:rPr lang="en-US" dirty="0"/>
              <a:t>, the </a:t>
            </a:r>
            <a:r>
              <a:rPr lang="en-US" dirty="0">
                <a:solidFill>
                  <a:schemeClr val="accent6"/>
                </a:solidFill>
              </a:rPr>
              <a:t>high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low estimators</a:t>
            </a:r>
            <a:r>
              <a:rPr lang="en-US" dirty="0"/>
              <a:t> should especially </a:t>
            </a:r>
            <a:r>
              <a:rPr lang="en-US" dirty="0">
                <a:solidFill>
                  <a:schemeClr val="accent6"/>
                </a:solidFill>
              </a:rPr>
              <a:t>share their reasons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chemeClr val="accent6"/>
                </a:solidFill>
              </a:rPr>
              <a:t>Experts</a:t>
            </a:r>
            <a:r>
              <a:rPr lang="en-US" dirty="0"/>
              <a:t> with detailed knowledge </a:t>
            </a:r>
            <a:r>
              <a:rPr lang="en-US" dirty="0">
                <a:solidFill>
                  <a:schemeClr val="accent6"/>
                </a:solidFill>
              </a:rPr>
              <a:t>will discuss</a:t>
            </a:r>
            <a:r>
              <a:rPr lang="en-US" dirty="0"/>
              <a:t> with the team </a:t>
            </a:r>
            <a:r>
              <a:rPr lang="en-US" dirty="0">
                <a:solidFill>
                  <a:schemeClr val="accent6"/>
                </a:solidFill>
              </a:rPr>
              <a:t>why</a:t>
            </a:r>
            <a:r>
              <a:rPr lang="en-US" dirty="0"/>
              <a:t> a certain </a:t>
            </a:r>
            <a:r>
              <a:rPr lang="en-US" dirty="0">
                <a:solidFill>
                  <a:schemeClr val="accent6"/>
                </a:solidFill>
              </a:rPr>
              <a:t>story</a:t>
            </a:r>
            <a:r>
              <a:rPr lang="en-US" dirty="0"/>
              <a:t> is much </a:t>
            </a:r>
            <a:r>
              <a:rPr lang="en-US" dirty="0">
                <a:solidFill>
                  <a:schemeClr val="accent6"/>
                </a:solidFill>
              </a:rPr>
              <a:t>easier/more difficult </a:t>
            </a:r>
            <a:r>
              <a:rPr lang="en-US" dirty="0"/>
              <a:t>than it first appears.</a:t>
            </a:r>
          </a:p>
          <a:p>
            <a:r>
              <a:rPr lang="en-US" dirty="0">
                <a:solidFill>
                  <a:schemeClr val="accent6"/>
                </a:solidFill>
              </a:rPr>
              <a:t>After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discussion</a:t>
            </a:r>
            <a:r>
              <a:rPr lang="en-US" dirty="0"/>
              <a:t>, each team </a:t>
            </a:r>
            <a:r>
              <a:rPr lang="en-US" dirty="0">
                <a:solidFill>
                  <a:schemeClr val="accent6"/>
                </a:solidFill>
              </a:rPr>
              <a:t>member reselects</a:t>
            </a:r>
            <a:r>
              <a:rPr lang="en-US" dirty="0"/>
              <a:t> an estimate </a:t>
            </a:r>
            <a:r>
              <a:rPr lang="en-US" dirty="0">
                <a:solidFill>
                  <a:schemeClr val="accent6"/>
                </a:solidFill>
              </a:rPr>
              <a:t>card</a:t>
            </a:r>
            <a:r>
              <a:rPr lang="en-US" dirty="0"/>
              <a:t>, and a</a:t>
            </a:r>
            <a:r>
              <a:rPr lang="en-US" dirty="0">
                <a:solidFill>
                  <a:schemeClr val="accent6"/>
                </a:solidFill>
              </a:rPr>
              <a:t>ll cards are again </a:t>
            </a:r>
            <a:r>
              <a:rPr lang="en-IN" dirty="0">
                <a:solidFill>
                  <a:schemeClr val="accent6"/>
                </a:solidFill>
              </a:rPr>
              <a:t>disclosed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at the same time.</a:t>
            </a:r>
          </a:p>
          <a:p>
            <a:r>
              <a:rPr lang="en-US" dirty="0"/>
              <a:t>This poker planning </a:t>
            </a:r>
            <a:r>
              <a:rPr lang="en-US" dirty="0">
                <a:solidFill>
                  <a:schemeClr val="accent6"/>
                </a:solidFill>
              </a:rPr>
              <a:t>process is repeated until the final vote</a:t>
            </a:r>
            <a:r>
              <a:rPr lang="en-US" dirty="0"/>
              <a:t> (value) is </a:t>
            </a:r>
            <a:r>
              <a:rPr lang="en-US" dirty="0">
                <a:solidFill>
                  <a:schemeClr val="accent6"/>
                </a:solidFill>
              </a:rPr>
              <a:t>achieved</a:t>
            </a:r>
            <a:r>
              <a:rPr lang="en-US" dirty="0"/>
              <a:t>.</a:t>
            </a:r>
          </a:p>
          <a:p>
            <a:r>
              <a:rPr lang="en-US" dirty="0"/>
              <a:t>Then the team will </a:t>
            </a:r>
            <a:r>
              <a:rPr lang="en-US" dirty="0">
                <a:solidFill>
                  <a:schemeClr val="accent6"/>
                </a:solidFill>
              </a:rPr>
              <a:t>come</a:t>
            </a:r>
            <a:r>
              <a:rPr lang="en-US" dirty="0"/>
              <a:t> to an </a:t>
            </a:r>
            <a:r>
              <a:rPr lang="en-US" dirty="0">
                <a:solidFill>
                  <a:schemeClr val="accent6"/>
                </a:solidFill>
              </a:rPr>
              <a:t>agreement on the estimate</a:t>
            </a:r>
            <a:r>
              <a:rPr lang="en-US" dirty="0"/>
              <a:t> for that user </a:t>
            </a:r>
            <a:r>
              <a:rPr lang="en-US" dirty="0">
                <a:solidFill>
                  <a:schemeClr val="accent6"/>
                </a:solidFill>
              </a:rPr>
              <a:t>story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conclude on that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960" y="-1159"/>
            <a:ext cx="688978" cy="6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6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T-Shirt Sizes Estimation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39" y="4536099"/>
            <a:ext cx="1554821" cy="155482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040992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31439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278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0992" y="3546752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40635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5205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10080" y="807989"/>
            <a:ext cx="1849120" cy="2037075"/>
            <a:chOff x="1910080" y="807989"/>
            <a:chExt cx="1849120" cy="2037075"/>
          </a:xfrm>
        </p:grpSpPr>
        <p:sp>
          <p:nvSpPr>
            <p:cNvPr id="28" name="Rectangle 27"/>
            <p:cNvSpPr/>
            <p:nvPr/>
          </p:nvSpPr>
          <p:spPr>
            <a:xfrm>
              <a:off x="1910080" y="1229337"/>
              <a:ext cx="1849120" cy="161572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672" y="1321072"/>
              <a:ext cx="1432255" cy="143225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1910080" y="807989"/>
              <a:ext cx="1849120" cy="41634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/>
                <a:t>1 - 3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77792" y="807989"/>
            <a:ext cx="1849120" cy="2037075"/>
            <a:chOff x="3977792" y="807989"/>
            <a:chExt cx="1849120" cy="2037075"/>
          </a:xfrm>
        </p:grpSpPr>
        <p:sp>
          <p:nvSpPr>
            <p:cNvPr id="29" name="Rectangle 28"/>
            <p:cNvSpPr/>
            <p:nvPr/>
          </p:nvSpPr>
          <p:spPr>
            <a:xfrm>
              <a:off x="3977792" y="1229337"/>
              <a:ext cx="1849120" cy="161572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6224" y="1321072"/>
              <a:ext cx="1432255" cy="1432255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3977792" y="807989"/>
              <a:ext cx="1849120" cy="41634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/>
                <a:t>5 - 8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045504" y="807989"/>
            <a:ext cx="1849120" cy="2037075"/>
            <a:chOff x="6045504" y="807989"/>
            <a:chExt cx="1849120" cy="2037075"/>
          </a:xfrm>
        </p:grpSpPr>
        <p:sp>
          <p:nvSpPr>
            <p:cNvPr id="35" name="Rectangle 34"/>
            <p:cNvSpPr/>
            <p:nvPr/>
          </p:nvSpPr>
          <p:spPr>
            <a:xfrm>
              <a:off x="6045504" y="1229337"/>
              <a:ext cx="1849120" cy="161572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3936" y="1300899"/>
              <a:ext cx="1432255" cy="1432255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6045504" y="807989"/>
              <a:ext cx="1849120" cy="41634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/>
                <a:t>13 - 20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097215" y="807989"/>
            <a:ext cx="1849120" cy="2037075"/>
            <a:chOff x="8097215" y="807989"/>
            <a:chExt cx="1849120" cy="2037075"/>
          </a:xfrm>
        </p:grpSpPr>
        <p:sp>
          <p:nvSpPr>
            <p:cNvPr id="38" name="Rectangle 37"/>
            <p:cNvSpPr/>
            <p:nvPr/>
          </p:nvSpPr>
          <p:spPr>
            <a:xfrm>
              <a:off x="8097215" y="1229337"/>
              <a:ext cx="1849120" cy="161572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5647" y="1308234"/>
              <a:ext cx="1432255" cy="1432255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8097215" y="807989"/>
              <a:ext cx="1849120" cy="41634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/>
                <a:t>40 - 50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175086" y="807989"/>
            <a:ext cx="1849120" cy="2037075"/>
            <a:chOff x="10175086" y="807989"/>
            <a:chExt cx="1849120" cy="2037075"/>
          </a:xfrm>
        </p:grpSpPr>
        <p:sp>
          <p:nvSpPr>
            <p:cNvPr id="41" name="Rectangle 40"/>
            <p:cNvSpPr/>
            <p:nvPr/>
          </p:nvSpPr>
          <p:spPr>
            <a:xfrm>
              <a:off x="10175086" y="1229337"/>
              <a:ext cx="1849120" cy="161572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3518" y="1321071"/>
              <a:ext cx="1432255" cy="1432255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10175086" y="807989"/>
              <a:ext cx="1849120" cy="41634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100" b="1" dirty="0"/>
                <a:t>50+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4072992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39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72278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72992" y="3546752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72635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77205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1809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82256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91095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809" y="3546752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91452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96022" y="3556074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47941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38388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47227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50272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40719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49558" y="2952068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60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50272" y="3546752"/>
            <a:ext cx="467360" cy="508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55</a:t>
            </a:r>
          </a:p>
        </p:txBody>
      </p:sp>
      <p:cxnSp>
        <p:nvCxnSpPr>
          <p:cNvPr id="73" name="Straight Connector 72"/>
          <p:cNvCxnSpPr/>
          <p:nvPr/>
        </p:nvCxnSpPr>
        <p:spPr>
          <a:xfrm>
            <a:off x="2040992" y="4226560"/>
            <a:ext cx="166664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072992" y="4226560"/>
            <a:ext cx="166664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91809" y="4226560"/>
            <a:ext cx="166664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8305647" y="4196080"/>
            <a:ext cx="166664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10250272" y="4185920"/>
            <a:ext cx="166664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9" idx="3"/>
            <a:endCxn id="24" idx="2"/>
          </p:cNvCxnSpPr>
          <p:nvPr/>
        </p:nvCxnSpPr>
        <p:spPr>
          <a:xfrm flipV="1">
            <a:off x="1991360" y="4064074"/>
            <a:ext cx="882955" cy="1249436"/>
          </a:xfrm>
          <a:prstGeom prst="bentConnector2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9" idx="3"/>
            <a:endCxn id="48" idx="2"/>
          </p:cNvCxnSpPr>
          <p:nvPr/>
        </p:nvCxnSpPr>
        <p:spPr>
          <a:xfrm flipV="1">
            <a:off x="1991360" y="4064074"/>
            <a:ext cx="2914955" cy="1249436"/>
          </a:xfrm>
          <a:prstGeom prst="bentConnector2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9" idx="3"/>
            <a:endCxn id="54" idx="2"/>
          </p:cNvCxnSpPr>
          <p:nvPr/>
        </p:nvCxnSpPr>
        <p:spPr>
          <a:xfrm flipV="1">
            <a:off x="1991360" y="4064074"/>
            <a:ext cx="5033772" cy="1249436"/>
          </a:xfrm>
          <a:prstGeom prst="bentConnector2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9" idx="3"/>
            <a:endCxn id="57" idx="2"/>
          </p:cNvCxnSpPr>
          <p:nvPr/>
        </p:nvCxnSpPr>
        <p:spPr>
          <a:xfrm flipV="1">
            <a:off x="1991360" y="3460068"/>
            <a:ext cx="7080708" cy="1853442"/>
          </a:xfrm>
          <a:prstGeom prst="bentConnector2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9" idx="3"/>
            <a:endCxn id="63" idx="2"/>
          </p:cNvCxnSpPr>
          <p:nvPr/>
        </p:nvCxnSpPr>
        <p:spPr>
          <a:xfrm flipV="1">
            <a:off x="1991360" y="3460068"/>
            <a:ext cx="9083039" cy="1853442"/>
          </a:xfrm>
          <a:prstGeom prst="bentConnector2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83819" y="6152207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Product Backlog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6155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2" grpId="0" animBg="1"/>
      <p:bldP spid="63" grpId="0" animBg="1"/>
      <p:bldP spid="64" grpId="0" animBg="1"/>
      <p:bldP spid="65" grpId="0" animBg="1"/>
      <p:bldP spid="9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T-Shirt Sizes Estimation Cont.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times </a:t>
            </a:r>
            <a:r>
              <a:rPr lang="en-US" dirty="0">
                <a:solidFill>
                  <a:schemeClr val="accent6"/>
                </a:solidFill>
              </a:rPr>
              <a:t>it happens</a:t>
            </a:r>
            <a:r>
              <a:rPr lang="en-US" dirty="0"/>
              <a:t> that the </a:t>
            </a:r>
            <a:r>
              <a:rPr lang="en-US" dirty="0">
                <a:solidFill>
                  <a:schemeClr val="accent6"/>
                </a:solidFill>
              </a:rPr>
              <a:t>team members</a:t>
            </a:r>
            <a:r>
              <a:rPr lang="en-US" dirty="0"/>
              <a:t> start </a:t>
            </a:r>
            <a:r>
              <a:rPr lang="en-US" dirty="0">
                <a:solidFill>
                  <a:schemeClr val="accent6"/>
                </a:solidFill>
              </a:rPr>
              <a:t>aligning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story points</a:t>
            </a:r>
            <a:r>
              <a:rPr lang="en-US" dirty="0"/>
              <a:t> with the </a:t>
            </a:r>
            <a:r>
              <a:rPr lang="en-US" dirty="0">
                <a:solidFill>
                  <a:schemeClr val="accent6"/>
                </a:solidFill>
              </a:rPr>
              <a:t>hours of effort</a:t>
            </a:r>
            <a:r>
              <a:rPr lang="en-US" dirty="0"/>
              <a:t>, which can create </a:t>
            </a:r>
            <a:r>
              <a:rPr lang="en-US" dirty="0">
                <a:solidFill>
                  <a:schemeClr val="accent6"/>
                </a:solidFill>
              </a:rPr>
              <a:t>confusion</a:t>
            </a:r>
            <a:r>
              <a:rPr lang="en-US" dirty="0"/>
              <a:t>.</a:t>
            </a:r>
          </a:p>
          <a:p>
            <a:r>
              <a:rPr lang="en-US" dirty="0"/>
              <a:t>To avoid this, it may be </a:t>
            </a:r>
            <a:r>
              <a:rPr lang="en-US" dirty="0">
                <a:solidFill>
                  <a:schemeClr val="accent6"/>
                </a:solidFill>
              </a:rPr>
              <a:t>more effective</a:t>
            </a:r>
            <a:r>
              <a:rPr lang="en-US" dirty="0"/>
              <a:t> to </a:t>
            </a:r>
            <a:r>
              <a:rPr lang="en-US" dirty="0">
                <a:solidFill>
                  <a:schemeClr val="accent6"/>
                </a:solidFill>
              </a:rPr>
              <a:t>switch to a non-numeric estimation</a:t>
            </a:r>
            <a:r>
              <a:rPr lang="en-US" dirty="0"/>
              <a:t> technique.</a:t>
            </a:r>
          </a:p>
          <a:p>
            <a:r>
              <a:rPr lang="en-US" dirty="0"/>
              <a:t>In the </a:t>
            </a:r>
            <a:r>
              <a:rPr lang="en-US" dirty="0">
                <a:solidFill>
                  <a:schemeClr val="accent6"/>
                </a:solidFill>
              </a:rPr>
              <a:t>T-Shirt Sizing</a:t>
            </a:r>
            <a:r>
              <a:rPr lang="en-US" dirty="0"/>
              <a:t>, the </a:t>
            </a:r>
            <a:r>
              <a:rPr lang="en-US" dirty="0">
                <a:solidFill>
                  <a:schemeClr val="accent6"/>
                </a:solidFill>
              </a:rPr>
              <a:t>team is asked to estimate</a:t>
            </a:r>
            <a:r>
              <a:rPr lang="en-US" dirty="0"/>
              <a:t> the </a:t>
            </a:r>
            <a:r>
              <a:rPr lang="en-US" dirty="0">
                <a:solidFill>
                  <a:schemeClr val="accent6"/>
                </a:solidFill>
              </a:rPr>
              <a:t>story</a:t>
            </a:r>
            <a:r>
              <a:rPr lang="en-US" dirty="0"/>
              <a:t> effort in terms of </a:t>
            </a:r>
            <a:r>
              <a:rPr lang="en-US" dirty="0">
                <a:solidFill>
                  <a:schemeClr val="accent6"/>
                </a:solidFill>
              </a:rPr>
              <a:t>extra-small, small, medium, large, extra large, or double extra-large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sizes can</a:t>
            </a:r>
            <a:r>
              <a:rPr lang="en-US" dirty="0"/>
              <a:t>, if necessary, be given </a:t>
            </a:r>
            <a:r>
              <a:rPr lang="en-US" dirty="0">
                <a:solidFill>
                  <a:schemeClr val="accent6"/>
                </a:solidFill>
              </a:rPr>
              <a:t>numerical value after the estimation</a:t>
            </a:r>
            <a:r>
              <a:rPr lang="en-US" dirty="0"/>
              <a:t> is finished.</a:t>
            </a:r>
          </a:p>
          <a:p>
            <a:r>
              <a:rPr lang="en-US" dirty="0"/>
              <a:t>By removing the numeric concept, </a:t>
            </a:r>
            <a:r>
              <a:rPr lang="en-US" dirty="0">
                <a:solidFill>
                  <a:schemeClr val="accent6"/>
                </a:solidFill>
              </a:rPr>
              <a:t>team will be free to think in more abstract way</a:t>
            </a:r>
            <a:r>
              <a:rPr lang="en-US" dirty="0"/>
              <a:t>.</a:t>
            </a:r>
          </a:p>
          <a:p>
            <a:r>
              <a:rPr lang="en-US" dirty="0"/>
              <a:t>The main problem with this method is that non-numerical </a:t>
            </a:r>
            <a:r>
              <a:rPr lang="en-US" dirty="0">
                <a:solidFill>
                  <a:srgbClr val="BF2323"/>
                </a:solidFill>
              </a:rPr>
              <a:t>scales are usually less detailed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T-Shirt Sizes</a:t>
            </a:r>
            <a:r>
              <a:rPr lang="en-US" dirty="0"/>
              <a:t> method of </a:t>
            </a:r>
            <a:r>
              <a:rPr lang="en-US" dirty="0">
                <a:solidFill>
                  <a:schemeClr val="accent6"/>
                </a:solidFill>
              </a:rPr>
              <a:t>estimates</a:t>
            </a:r>
            <a:r>
              <a:rPr lang="en-US" dirty="0"/>
              <a:t> will be </a:t>
            </a:r>
            <a:r>
              <a:rPr lang="en-US" dirty="0">
                <a:solidFill>
                  <a:schemeClr val="accent6"/>
                </a:solidFill>
              </a:rPr>
              <a:t>good for the teams</a:t>
            </a:r>
            <a:r>
              <a:rPr lang="en-US" dirty="0"/>
              <a:t> just </a:t>
            </a:r>
            <a:r>
              <a:rPr lang="en-US" dirty="0">
                <a:solidFill>
                  <a:schemeClr val="accent6"/>
                </a:solidFill>
              </a:rPr>
              <a:t>starting</a:t>
            </a:r>
            <a:r>
              <a:rPr lang="en-US" dirty="0"/>
              <a:t> with </a:t>
            </a:r>
            <a:r>
              <a:rPr lang="en-US" dirty="0">
                <a:solidFill>
                  <a:schemeClr val="accent6"/>
                </a:solidFill>
              </a:rPr>
              <a:t>Agile projects</a:t>
            </a:r>
            <a:r>
              <a:rPr lang="en-US" dirty="0"/>
              <a:t>.</a:t>
            </a:r>
          </a:p>
          <a:p>
            <a:r>
              <a:rPr lang="en-US" dirty="0"/>
              <a:t>Eventually it’s a good idea to move toward the numeric method of estimation.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84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T-Shirt Sizes Estimation Cont.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Steps of T-Shirt Sizing Estimation</a:t>
            </a:r>
          </a:p>
          <a:p>
            <a:r>
              <a:rPr lang="en-US" dirty="0"/>
              <a:t>Make S, M, L, XL Cards</a:t>
            </a:r>
          </a:p>
          <a:p>
            <a:r>
              <a:rPr lang="en-US" dirty="0"/>
              <a:t>Product Owner will explain the story to be estimated and the development team will ask questions if they have any issues or </a:t>
            </a:r>
            <a:r>
              <a:rPr lang="en-US" dirty="0" err="1"/>
              <a:t>unclarity</a:t>
            </a:r>
            <a:r>
              <a:rPr lang="en-US" dirty="0"/>
              <a:t>.</a:t>
            </a:r>
          </a:p>
          <a:p>
            <a:r>
              <a:rPr lang="en-US" dirty="0"/>
              <a:t>Each developer gives each story a t-shirt size.</a:t>
            </a:r>
          </a:p>
          <a:p>
            <a:r>
              <a:rPr lang="en-US" dirty="0"/>
              <a:t>All in Development team will raise their cards simultaneously.</a:t>
            </a:r>
          </a:p>
          <a:p>
            <a:r>
              <a:rPr lang="en-US" dirty="0"/>
              <a:t>The development team will discuss the differences.</a:t>
            </a:r>
          </a:p>
          <a:p>
            <a:r>
              <a:rPr lang="en-US" dirty="0"/>
              <a:t>The product owner explains the story further or clarifies misunderstanding if any.</a:t>
            </a:r>
          </a:p>
          <a:p>
            <a:r>
              <a:rPr lang="en-US" dirty="0"/>
              <a:t>The team will Go back to Step 3-Step5 until all are agree with one size.</a:t>
            </a:r>
          </a:p>
          <a:p>
            <a:r>
              <a:rPr lang="en-US" dirty="0"/>
              <a:t>Complete or place the stories in size buckets.</a:t>
            </a:r>
          </a:p>
          <a:p>
            <a:r>
              <a:rPr lang="en-US" dirty="0"/>
              <a:t>Estimate the time to complete all stories in S, M, L, XL buckets.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T-Shirt Sizes Estimation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Benefits of </a:t>
            </a:r>
            <a:r>
              <a:rPr lang="en-IN" b="1" dirty="0"/>
              <a:t>T-Shirt Sizing Estimation</a:t>
            </a:r>
            <a:endParaRPr lang="en-US" b="1" dirty="0"/>
          </a:p>
          <a:p>
            <a:r>
              <a:rPr lang="en-US" dirty="0"/>
              <a:t>This is a </a:t>
            </a:r>
            <a:r>
              <a:rPr lang="en-US" dirty="0">
                <a:solidFill>
                  <a:schemeClr val="accent6"/>
                </a:solidFill>
              </a:rPr>
              <a:t>very informal strategy</a:t>
            </a:r>
            <a:r>
              <a:rPr lang="en-US" dirty="0"/>
              <a:t> and can be </a:t>
            </a:r>
            <a:r>
              <a:rPr lang="en-US" dirty="0">
                <a:solidFill>
                  <a:schemeClr val="accent6"/>
                </a:solidFill>
              </a:rPr>
              <a:t>utilized quickly</a:t>
            </a:r>
            <a:r>
              <a:rPr lang="en-US" dirty="0"/>
              <a:t> with a </a:t>
            </a:r>
            <a:r>
              <a:rPr lang="en-US" dirty="0">
                <a:solidFill>
                  <a:schemeClr val="accent6"/>
                </a:solidFill>
              </a:rPr>
              <a:t>large number of items</a:t>
            </a:r>
            <a:r>
              <a:rPr lang="en-US" dirty="0"/>
              <a:t>.</a:t>
            </a:r>
          </a:p>
          <a:p>
            <a:r>
              <a:rPr lang="en-US" dirty="0"/>
              <a:t>It is a popular agile </a:t>
            </a:r>
            <a:r>
              <a:rPr lang="en-US" dirty="0">
                <a:solidFill>
                  <a:schemeClr val="accent6"/>
                </a:solidFill>
              </a:rPr>
              <a:t>relative estimation technique</a:t>
            </a:r>
            <a:r>
              <a:rPr lang="en-US" dirty="0"/>
              <a:t>.</a:t>
            </a:r>
          </a:p>
          <a:p>
            <a:r>
              <a:rPr lang="en-US" dirty="0"/>
              <a:t>Forcing the estimate into one of a fixed set of sizes allows the </a:t>
            </a:r>
            <a:r>
              <a:rPr lang="en-US" dirty="0">
                <a:solidFill>
                  <a:schemeClr val="accent6"/>
                </a:solidFill>
              </a:rPr>
              <a:t>process to go quickly</a:t>
            </a:r>
          </a:p>
          <a:p>
            <a:r>
              <a:rPr lang="en-US" dirty="0"/>
              <a:t>It is a good way to Introduce terms to relative estimating.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chemeClr val="accent6"/>
                </a:solidFill>
              </a:rPr>
              <a:t>very effective </a:t>
            </a:r>
            <a:r>
              <a:rPr lang="en-US" dirty="0"/>
              <a:t>for equality estimating</a:t>
            </a:r>
          </a:p>
          <a:p>
            <a:r>
              <a:rPr lang="en-US" dirty="0"/>
              <a:t>T-shirt sizes can be a </a:t>
            </a:r>
            <a:r>
              <a:rPr lang="en-US" dirty="0">
                <a:solidFill>
                  <a:schemeClr val="accent6"/>
                </a:solidFill>
              </a:rPr>
              <a:t>great way to becoming familiar with relative estimating</a:t>
            </a:r>
            <a:r>
              <a:rPr lang="en-US" dirty="0"/>
              <a:t>. </a:t>
            </a:r>
          </a:p>
          <a:p>
            <a:r>
              <a:rPr lang="en-US" dirty="0"/>
              <a:t>But However, insignificantly put some fundamental numbers on them (e.g., Medium=5) and after that steadily shift to using the numbers directly.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87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49385"/>
            <a:ext cx="9764660" cy="115712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roles in Scrum</a:t>
            </a:r>
            <a:r>
              <a:rPr lang="en-US" dirty="0"/>
              <a:t> are quite </a:t>
            </a:r>
            <a:r>
              <a:rPr lang="en-US" dirty="0">
                <a:solidFill>
                  <a:schemeClr val="accent6"/>
                </a:solidFill>
              </a:rPr>
              <a:t>different from the traditional software methods</a:t>
            </a:r>
            <a:r>
              <a:rPr lang="en-US" dirty="0"/>
              <a:t>. Clearly defined roles and expectations help individuals perform their tasks efficiently. In Scrum, there are </a:t>
            </a:r>
            <a:r>
              <a:rPr lang="en-US" b="1" dirty="0"/>
              <a:t>three roles</a:t>
            </a:r>
            <a:r>
              <a:rPr lang="en-US" dirty="0"/>
              <a:t>: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201269" y="2209630"/>
            <a:ext cx="2345635" cy="4224876"/>
            <a:chOff x="640183" y="2162257"/>
            <a:chExt cx="2345635" cy="4224876"/>
          </a:xfrm>
        </p:grpSpPr>
        <p:sp>
          <p:nvSpPr>
            <p:cNvPr id="6" name="Rectangle 5"/>
            <p:cNvSpPr/>
            <p:nvPr/>
          </p:nvSpPr>
          <p:spPr>
            <a:xfrm>
              <a:off x="640183" y="3992878"/>
              <a:ext cx="2345635" cy="2394255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The product owner </a:t>
              </a:r>
              <a:r>
                <a:rPr lang="en-US" sz="2400" dirty="0">
                  <a:solidFill>
                    <a:schemeClr val="accent6"/>
                  </a:solidFill>
                </a:rPr>
                <a:t>maximizes the value the product</a:t>
              </a:r>
              <a:r>
                <a:rPr lang="en-US" sz="2400" dirty="0"/>
                <a:t> creates.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154932" y="2162257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40183" y="3530131"/>
              <a:ext cx="2345635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IN" sz="2400" b="1" dirty="0"/>
                <a:t>Product owner 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0045" y="2397210"/>
              <a:ext cx="835153" cy="835153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5740326" y="2219790"/>
            <a:ext cx="2865017" cy="4222542"/>
            <a:chOff x="3301544" y="2168990"/>
            <a:chExt cx="2865017" cy="4222542"/>
          </a:xfrm>
        </p:grpSpPr>
        <p:sp>
          <p:nvSpPr>
            <p:cNvPr id="23" name="Rectangle 22"/>
            <p:cNvSpPr/>
            <p:nvPr/>
          </p:nvSpPr>
          <p:spPr>
            <a:xfrm>
              <a:off x="3301544" y="3992879"/>
              <a:ext cx="2865017" cy="2398653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The scrum master </a:t>
              </a:r>
              <a:r>
                <a:rPr lang="en-US" sz="2400" dirty="0">
                  <a:solidFill>
                    <a:schemeClr val="accent6"/>
                  </a:solidFill>
                </a:rPr>
                <a:t>offers process and method coaching</a:t>
              </a:r>
              <a:r>
                <a:rPr lang="en-US" sz="2400" dirty="0"/>
                <a:t> to the product owner, developers, and stakeholders.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121654" y="2168990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301544" y="3530131"/>
              <a:ext cx="2865017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IN" sz="2400" b="1" dirty="0"/>
                <a:t>Scrum Master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304" y="2357745"/>
              <a:ext cx="914095" cy="914095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8798766" y="2219790"/>
            <a:ext cx="2865018" cy="4222264"/>
            <a:chOff x="6482286" y="2168990"/>
            <a:chExt cx="2865018" cy="4222264"/>
          </a:xfrm>
        </p:grpSpPr>
        <p:sp>
          <p:nvSpPr>
            <p:cNvPr id="28" name="Rectangle 27"/>
            <p:cNvSpPr/>
            <p:nvPr/>
          </p:nvSpPr>
          <p:spPr>
            <a:xfrm>
              <a:off x="6482287" y="3992880"/>
              <a:ext cx="2865017" cy="2398374"/>
            </a:xfrm>
            <a:prstGeom prst="rect">
              <a:avLst/>
            </a:prstGeom>
            <a:ln>
              <a:prstDash val="lg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The development team </a:t>
              </a:r>
              <a:r>
                <a:rPr lang="en-US" sz="2400" dirty="0">
                  <a:solidFill>
                    <a:schemeClr val="accent6"/>
                  </a:solidFill>
                </a:rPr>
                <a:t>creates products</a:t>
              </a:r>
              <a:r>
                <a:rPr lang="en-US" sz="2400" dirty="0"/>
                <a:t> that offer a great user experience and have the right quality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7240774" y="2168990"/>
              <a:ext cx="1316135" cy="131613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482286" y="3530130"/>
              <a:ext cx="2865017" cy="46166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IN" sz="2400" b="1" dirty="0"/>
                <a:t>Development Team</a:t>
              </a:r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0234" y="2403943"/>
              <a:ext cx="797852" cy="797852"/>
            </a:xfrm>
            <a:prstGeom prst="rect">
              <a:avLst/>
            </a:prstGeom>
          </p:spPr>
        </p:pic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15" y="4039169"/>
            <a:ext cx="1950415" cy="195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7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 owner  - Scrum Roles and Responsibilities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makes sure the </a:t>
            </a:r>
            <a:r>
              <a:rPr lang="en-US" dirty="0">
                <a:solidFill>
                  <a:srgbClr val="C00000"/>
                </a:solidFill>
              </a:rPr>
              <a:t>Scrum team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aligned with the goals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overall product</a:t>
            </a:r>
            <a:r>
              <a:rPr lang="en-US" dirty="0"/>
              <a:t> that the team is developing. </a:t>
            </a:r>
          </a:p>
          <a:p>
            <a:r>
              <a:rPr lang="en-US" dirty="0"/>
              <a:t>He </a:t>
            </a:r>
            <a:r>
              <a:rPr lang="en-US" dirty="0">
                <a:solidFill>
                  <a:srgbClr val="C00000"/>
                </a:solidFill>
              </a:rPr>
              <a:t>understands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business needs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product</a:t>
            </a:r>
            <a:r>
              <a:rPr lang="en-US" dirty="0"/>
              <a:t>, like customer expectations, and market trends. </a:t>
            </a:r>
          </a:p>
          <a:p>
            <a:r>
              <a:rPr lang="en-US" dirty="0"/>
              <a:t>Because he has to understand how the Scrum team fits into bigger picture goals, product owners </a:t>
            </a:r>
            <a:r>
              <a:rPr lang="en-US" dirty="0">
                <a:solidFill>
                  <a:srgbClr val="C00000"/>
                </a:solidFill>
              </a:rPr>
              <a:t>usually stay in touch with product managers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other stakeholders outside the team</a:t>
            </a:r>
            <a:r>
              <a:rPr lang="en-US" dirty="0"/>
              <a:t>. </a:t>
            </a:r>
          </a:p>
          <a:p>
            <a:r>
              <a:rPr lang="en-US" dirty="0"/>
              <a:t>Responsibilities of Product Owner: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Manage the product backlog</a:t>
            </a:r>
            <a:r>
              <a:rPr lang="en-US" dirty="0"/>
              <a:t> by ordering work by priority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Set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product vision</a:t>
            </a:r>
            <a:r>
              <a:rPr lang="en-US" dirty="0"/>
              <a:t> for the team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Communicate with external stakeholders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translate their needs</a:t>
            </a:r>
            <a:r>
              <a:rPr lang="en-US" dirty="0"/>
              <a:t> to the team</a:t>
            </a:r>
          </a:p>
          <a:p>
            <a:pPr lvl="1"/>
            <a:r>
              <a:rPr lang="en-US" dirty="0"/>
              <a:t>Make sure the team is focused on hitting product needs through </a:t>
            </a:r>
            <a:r>
              <a:rPr lang="en-US" dirty="0">
                <a:solidFill>
                  <a:srgbClr val="C00000"/>
                </a:solidFill>
              </a:rPr>
              <a:t>communication and evaluating progress</a:t>
            </a:r>
          </a:p>
          <a:p>
            <a:pPr lvl="1"/>
            <a:r>
              <a:rPr lang="en-US" dirty="0"/>
              <a:t>He </a:t>
            </a:r>
            <a:r>
              <a:rPr lang="en-US" dirty="0">
                <a:solidFill>
                  <a:srgbClr val="C00000"/>
                </a:solidFill>
              </a:rPr>
              <a:t>provides clarification</a:t>
            </a:r>
            <a:r>
              <a:rPr lang="en-US" dirty="0"/>
              <a:t> on the </a:t>
            </a:r>
            <a:r>
              <a:rPr lang="en-US" dirty="0">
                <a:solidFill>
                  <a:srgbClr val="C00000"/>
                </a:solidFill>
              </a:rPr>
              <a:t>user story </a:t>
            </a:r>
            <a:r>
              <a:rPr lang="en-US" dirty="0"/>
              <a:t>to the development team whenever needed</a:t>
            </a:r>
          </a:p>
          <a:p>
            <a:pPr lvl="1"/>
            <a:r>
              <a:rPr lang="en-US" dirty="0"/>
              <a:t>He</a:t>
            </a:r>
            <a:r>
              <a:rPr lang="en-US" dirty="0">
                <a:solidFill>
                  <a:srgbClr val="C00000"/>
                </a:solidFill>
              </a:rPr>
              <a:t> releases burn-down charts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620" y="0"/>
            <a:ext cx="711201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7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Master - Scrum Roles and Responsibilities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 is a </a:t>
            </a:r>
            <a:r>
              <a:rPr lang="en-US" dirty="0">
                <a:solidFill>
                  <a:srgbClr val="C00000"/>
                </a:solidFill>
              </a:rPr>
              <a:t>facilitator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Scrum process</a:t>
            </a:r>
          </a:p>
          <a:p>
            <a:r>
              <a:rPr lang="en-US" dirty="0"/>
              <a:t>He </a:t>
            </a:r>
            <a:r>
              <a:rPr lang="en-US" dirty="0">
                <a:solidFill>
                  <a:srgbClr val="C00000"/>
                </a:solidFill>
              </a:rPr>
              <a:t>makes sure</a:t>
            </a:r>
            <a:r>
              <a:rPr lang="en-US" dirty="0"/>
              <a:t> that a </a:t>
            </a:r>
            <a:r>
              <a:rPr lang="en-US" dirty="0">
                <a:solidFill>
                  <a:srgbClr val="C00000"/>
                </a:solidFill>
              </a:rPr>
              <a:t>Scrum team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operating</a:t>
            </a:r>
            <a:r>
              <a:rPr lang="en-US" dirty="0"/>
              <a:t> as </a:t>
            </a:r>
            <a:r>
              <a:rPr lang="en-US" dirty="0">
                <a:solidFill>
                  <a:srgbClr val="C00000"/>
                </a:solidFill>
              </a:rPr>
              <a:t>effectively</a:t>
            </a:r>
            <a:r>
              <a:rPr lang="en-US" dirty="0"/>
              <a:t> as possible with Scrum values.</a:t>
            </a:r>
          </a:p>
          <a:p>
            <a:r>
              <a:rPr lang="en-US" dirty="0"/>
              <a:t>He </a:t>
            </a:r>
            <a:r>
              <a:rPr lang="en-US" dirty="0">
                <a:solidFill>
                  <a:srgbClr val="C00000"/>
                </a:solidFill>
              </a:rPr>
              <a:t>keeps the team on track</a:t>
            </a:r>
            <a:r>
              <a:rPr lang="en-US" dirty="0"/>
              <a:t>, plan and lead meetings, and work out any obstacles the team might face.</a:t>
            </a:r>
          </a:p>
          <a:p>
            <a:r>
              <a:rPr lang="en-US" dirty="0"/>
              <a:t>He helps to </a:t>
            </a:r>
            <a:r>
              <a:rPr lang="en-US" dirty="0">
                <a:solidFill>
                  <a:srgbClr val="C00000"/>
                </a:solidFill>
              </a:rPr>
              <a:t>incorporate Scrum</a:t>
            </a:r>
            <a:r>
              <a:rPr lang="en-US" dirty="0"/>
              <a:t> concepts </a:t>
            </a:r>
            <a:r>
              <a:rPr lang="en-US" dirty="0">
                <a:solidFill>
                  <a:srgbClr val="C00000"/>
                </a:solidFill>
              </a:rPr>
              <a:t>into the organization</a:t>
            </a:r>
            <a:r>
              <a:rPr lang="en-US" dirty="0"/>
              <a:t>. </a:t>
            </a:r>
          </a:p>
          <a:p>
            <a:r>
              <a:rPr lang="en-US" dirty="0"/>
              <a:t>He is a </a:t>
            </a:r>
            <a:r>
              <a:rPr lang="en-US" dirty="0">
                <a:solidFill>
                  <a:srgbClr val="C00000"/>
                </a:solidFill>
              </a:rPr>
              <a:t>leader and a behind-the-scenes</a:t>
            </a:r>
            <a:r>
              <a:rPr lang="en-US" dirty="0"/>
              <a:t> supporter, he is also known as the “servant leader” of the Scrum team.</a:t>
            </a:r>
          </a:p>
          <a:p>
            <a:r>
              <a:rPr lang="en-US" dirty="0"/>
              <a:t>Has </a:t>
            </a:r>
            <a:r>
              <a:rPr lang="en-US" dirty="0">
                <a:solidFill>
                  <a:srgbClr val="C00000"/>
                </a:solidFill>
              </a:rPr>
              <a:t>no management authority</a:t>
            </a:r>
            <a:r>
              <a:rPr lang="en-US" dirty="0"/>
              <a:t> for the team (for example, he or she </a:t>
            </a:r>
            <a:r>
              <a:rPr lang="en-US" dirty="0">
                <a:solidFill>
                  <a:srgbClr val="C00000"/>
                </a:solidFill>
              </a:rPr>
              <a:t>cannot command the team</a:t>
            </a:r>
            <a:r>
              <a:rPr lang="en-US" dirty="0"/>
              <a:t> to do a specific task).</a:t>
            </a:r>
          </a:p>
          <a:p>
            <a:r>
              <a:rPr lang="en-US" dirty="0"/>
              <a:t>Only </a:t>
            </a:r>
            <a:r>
              <a:rPr lang="en-US" dirty="0">
                <a:solidFill>
                  <a:srgbClr val="C00000"/>
                </a:solidFill>
              </a:rPr>
              <a:t>person</a:t>
            </a:r>
            <a:r>
              <a:rPr lang="en-US" dirty="0"/>
              <a:t> who can take the </a:t>
            </a:r>
            <a:r>
              <a:rPr lang="en-US" dirty="0">
                <a:solidFill>
                  <a:srgbClr val="C00000"/>
                </a:solidFill>
              </a:rPr>
              <a:t>issues or request</a:t>
            </a:r>
            <a:r>
              <a:rPr lang="en-US" dirty="0"/>
              <a:t> to the</a:t>
            </a:r>
            <a:r>
              <a:rPr lang="en-US" dirty="0">
                <a:solidFill>
                  <a:srgbClr val="C00000"/>
                </a:solidFill>
              </a:rPr>
              <a:t> top management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85" y="-16256"/>
            <a:ext cx="771856" cy="77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9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Scrum Master - Scrum Roles and Responsibilities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Responsibilities of the Scrum Master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Shields the team</a:t>
            </a:r>
            <a:r>
              <a:rPr lang="en-US" dirty="0"/>
              <a:t> from </a:t>
            </a:r>
            <a:r>
              <a:rPr lang="en-US" dirty="0">
                <a:solidFill>
                  <a:srgbClr val="C00000"/>
                </a:solidFill>
              </a:rPr>
              <a:t>external interferences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distractions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Creates</a:t>
            </a:r>
            <a:r>
              <a:rPr lang="en-US" dirty="0"/>
              <a:t> a p</a:t>
            </a:r>
            <a:r>
              <a:rPr lang="en-US" dirty="0">
                <a:solidFill>
                  <a:srgbClr val="C00000"/>
                </a:solidFill>
              </a:rPr>
              <a:t>ositive environment</a:t>
            </a:r>
            <a:r>
              <a:rPr lang="en-US" dirty="0"/>
              <a:t> for the team to be self-organizing.</a:t>
            </a:r>
            <a:endParaRPr lang="en-IN" dirty="0"/>
          </a:p>
          <a:p>
            <a:pPr lvl="1"/>
            <a:r>
              <a:rPr lang="en-US" dirty="0"/>
              <a:t>Facilitate </a:t>
            </a:r>
            <a:r>
              <a:rPr lang="en-US" dirty="0">
                <a:solidFill>
                  <a:srgbClr val="C00000"/>
                </a:solidFill>
              </a:rPr>
              <a:t>daily Scrum meetings</a:t>
            </a:r>
            <a:r>
              <a:rPr lang="en-US" dirty="0"/>
              <a:t> (also called “daily standups”)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Lead sprint planning</a:t>
            </a:r>
            <a:r>
              <a:rPr lang="en-US" dirty="0"/>
              <a:t> meetings</a:t>
            </a:r>
          </a:p>
          <a:p>
            <a:pPr lvl="1"/>
            <a:r>
              <a:rPr lang="en-US" dirty="0"/>
              <a:t>Conduct </a:t>
            </a:r>
            <a:r>
              <a:rPr lang="en-US" dirty="0">
                <a:solidFill>
                  <a:srgbClr val="C00000"/>
                </a:solidFill>
              </a:rPr>
              <a:t>“retrospective” reviews</a:t>
            </a:r>
            <a:r>
              <a:rPr lang="en-US" dirty="0"/>
              <a:t> to see what went well and what can be improved for the following sprint</a:t>
            </a:r>
          </a:p>
          <a:p>
            <a:pPr lvl="1"/>
            <a:r>
              <a:rPr lang="en-US" dirty="0"/>
              <a:t>Manage obstacles that arise for the team by communicating with stakeholders outside of the team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85" y="-16256"/>
            <a:ext cx="771856" cy="77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Development Team - Scrum Roles and Responsibilities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Development team is a </a:t>
            </a:r>
            <a:r>
              <a:rPr lang="en-US" dirty="0">
                <a:solidFill>
                  <a:srgbClr val="C00000"/>
                </a:solidFill>
              </a:rPr>
              <a:t>self-organizing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cross-functional team</a:t>
            </a:r>
            <a:r>
              <a:rPr lang="en-US" dirty="0"/>
              <a:t> (consists of the members with </a:t>
            </a:r>
            <a:r>
              <a:rPr lang="en-US" dirty="0">
                <a:solidFill>
                  <a:srgbClr val="C00000"/>
                </a:solidFill>
              </a:rPr>
              <a:t>testing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development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business analyst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domain expertise</a:t>
            </a:r>
            <a:r>
              <a:rPr lang="en-US" dirty="0"/>
              <a:t>, etc., skills).</a:t>
            </a:r>
          </a:p>
          <a:p>
            <a:r>
              <a:rPr lang="en-US" dirty="0"/>
              <a:t>The team </a:t>
            </a:r>
            <a:r>
              <a:rPr lang="en-US" dirty="0">
                <a:solidFill>
                  <a:srgbClr val="C00000"/>
                </a:solidFill>
              </a:rPr>
              <a:t>should self-manage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tasks</a:t>
            </a:r>
            <a:r>
              <a:rPr lang="en-US" dirty="0"/>
              <a:t> among the team.</a:t>
            </a:r>
          </a:p>
          <a:p>
            <a:r>
              <a:rPr lang="en-US" dirty="0"/>
              <a:t>The team should </a:t>
            </a:r>
            <a:r>
              <a:rPr lang="en-US" dirty="0">
                <a:solidFill>
                  <a:srgbClr val="C00000"/>
                </a:solidFill>
              </a:rPr>
              <a:t>resolve people management issues</a:t>
            </a:r>
            <a:r>
              <a:rPr lang="en-US" dirty="0"/>
              <a:t> if any among the team and should only take it to Scrum Master if it has gone out of the team’s control.</a:t>
            </a:r>
          </a:p>
          <a:p>
            <a:r>
              <a:rPr lang="en-US" dirty="0"/>
              <a:t>The team members usually </a:t>
            </a:r>
            <a:r>
              <a:rPr lang="en-US" dirty="0">
                <a:solidFill>
                  <a:srgbClr val="C00000"/>
                </a:solidFill>
              </a:rPr>
              <a:t>collaborate to map out goals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plans for achieving them</a:t>
            </a:r>
            <a:r>
              <a:rPr lang="en-US" dirty="0"/>
              <a:t> without waiting for orders</a:t>
            </a:r>
          </a:p>
          <a:p>
            <a:r>
              <a:rPr lang="en-US" dirty="0"/>
              <a:t>The team </a:t>
            </a:r>
            <a:r>
              <a:rPr lang="en-US" dirty="0">
                <a:solidFill>
                  <a:srgbClr val="C00000"/>
                </a:solidFill>
              </a:rPr>
              <a:t>work with product owner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reprioritizing</a:t>
            </a:r>
            <a:r>
              <a:rPr lang="en-US" dirty="0"/>
              <a:t> the product backlog items.</a:t>
            </a:r>
          </a:p>
          <a:p>
            <a:r>
              <a:rPr lang="en-US" dirty="0"/>
              <a:t>The team </a:t>
            </a:r>
            <a:r>
              <a:rPr lang="en-US" dirty="0">
                <a:solidFill>
                  <a:srgbClr val="C00000"/>
                </a:solidFill>
              </a:rPr>
              <a:t>consists of 7+/- 2</a:t>
            </a:r>
            <a:r>
              <a:rPr lang="en-US" dirty="0"/>
              <a:t> members.</a:t>
            </a:r>
          </a:p>
          <a:p>
            <a:r>
              <a:rPr lang="en-US" dirty="0"/>
              <a:t>The team is </a:t>
            </a:r>
            <a:r>
              <a:rPr lang="en-US" dirty="0">
                <a:solidFill>
                  <a:srgbClr val="C00000"/>
                </a:solidFill>
              </a:rPr>
              <a:t>responsible to complete the committed task</a:t>
            </a:r>
            <a:r>
              <a:rPr lang="en-US" dirty="0"/>
              <a:t> for the sprint.</a:t>
            </a:r>
          </a:p>
          <a:p>
            <a:r>
              <a:rPr lang="en-US" dirty="0"/>
              <a:t>Responsibilities of Scrum Development Team:</a:t>
            </a:r>
          </a:p>
          <a:p>
            <a:pPr lvl="1"/>
            <a:r>
              <a:rPr lang="en-US" dirty="0"/>
              <a:t>Help in </a:t>
            </a:r>
            <a:r>
              <a:rPr lang="en-US" dirty="0">
                <a:solidFill>
                  <a:srgbClr val="C00000"/>
                </a:solidFill>
              </a:rPr>
              <a:t>sprint planning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goal setting</a:t>
            </a:r>
          </a:p>
          <a:p>
            <a:pPr lvl="1"/>
            <a:r>
              <a:rPr lang="en-US" dirty="0"/>
              <a:t>Lend</a:t>
            </a:r>
            <a:r>
              <a:rPr lang="en-US" dirty="0">
                <a:solidFill>
                  <a:srgbClr val="C00000"/>
                </a:solidFill>
              </a:rPr>
              <a:t> expertise to program, design, or improve products</a:t>
            </a:r>
          </a:p>
          <a:p>
            <a:pPr lvl="1"/>
            <a:r>
              <a:rPr lang="en-US" dirty="0"/>
              <a:t>Test </a:t>
            </a:r>
            <a:r>
              <a:rPr lang="en-US" dirty="0">
                <a:solidFill>
                  <a:srgbClr val="C00000"/>
                </a:solidFill>
              </a:rPr>
              <a:t>products and prototypes</a:t>
            </a:r>
            <a:r>
              <a:rPr lang="en-US" dirty="0"/>
              <a:t>, plus other forms of quality assurance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846" y="1"/>
            <a:ext cx="715975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2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scrum Phases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295345" y="832303"/>
            <a:ext cx="3452410" cy="4004041"/>
            <a:chOff x="205192" y="832303"/>
            <a:chExt cx="3452410" cy="4004041"/>
          </a:xfrm>
        </p:grpSpPr>
        <p:sp>
          <p:nvSpPr>
            <p:cNvPr id="8" name="Rectangle 7"/>
            <p:cNvSpPr/>
            <p:nvPr/>
          </p:nvSpPr>
          <p:spPr>
            <a:xfrm>
              <a:off x="614148" y="832303"/>
              <a:ext cx="3043453" cy="415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400" b="1" dirty="0">
                  <a:solidFill>
                    <a:schemeClr val="tx1"/>
                  </a:solidFill>
                </a:rPr>
                <a:t>Initiate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05194" y="1310374"/>
              <a:ext cx="3452407" cy="415498"/>
              <a:chOff x="205194" y="1407448"/>
              <a:chExt cx="3452407" cy="415498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614150" y="1407448"/>
                <a:ext cx="3043451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Project Vision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05194" y="1407448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05194" y="1801332"/>
              <a:ext cx="3452407" cy="738664"/>
              <a:chOff x="205194" y="1974800"/>
              <a:chExt cx="3452407" cy="738664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14151" y="1974800"/>
                <a:ext cx="3043450" cy="73866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Identify Scrum Master and Stakeholder(s)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05194" y="1974800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2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205193" y="2615456"/>
              <a:ext cx="3452409" cy="415498"/>
              <a:chOff x="205193" y="2837311"/>
              <a:chExt cx="3452409" cy="41549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614150" y="2837311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Form Scrum Team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05193" y="2837311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3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205193" y="3106414"/>
              <a:ext cx="3452409" cy="415498"/>
              <a:chOff x="205193" y="3412456"/>
              <a:chExt cx="3452409" cy="415498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14150" y="3412456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Develop Epic(s)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205193" y="3412456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4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205193" y="3597372"/>
              <a:ext cx="3452409" cy="738664"/>
              <a:chOff x="205193" y="3949056"/>
              <a:chExt cx="3452409" cy="738664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14150" y="3949056"/>
                <a:ext cx="3043452" cy="73866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Prioritized Product Backlog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05193" y="3949056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5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05193" y="4420846"/>
              <a:ext cx="3452409" cy="415498"/>
              <a:chOff x="205193" y="4818174"/>
              <a:chExt cx="3452409" cy="415498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614150" y="4818174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Conduct Release Planning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05193" y="4818174"/>
                <a:ext cx="408955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6</a:t>
                </a:r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205192" y="832303"/>
              <a:ext cx="408956" cy="4154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100" b="1" dirty="0"/>
                <a:t>1</a:t>
              </a: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4193328" y="832303"/>
            <a:ext cx="3550693" cy="3180567"/>
            <a:chOff x="4064538" y="832303"/>
            <a:chExt cx="3550693" cy="3180567"/>
          </a:xfrm>
        </p:grpSpPr>
        <p:sp>
          <p:nvSpPr>
            <p:cNvPr id="32" name="Rectangle 31"/>
            <p:cNvSpPr/>
            <p:nvPr/>
          </p:nvSpPr>
          <p:spPr>
            <a:xfrm>
              <a:off x="4571777" y="832303"/>
              <a:ext cx="3043453" cy="415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400" b="1" dirty="0">
                  <a:solidFill>
                    <a:schemeClr val="tx1"/>
                  </a:solidFill>
                </a:rPr>
                <a:t>Plan and Estimate</a:t>
              </a: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4064539" y="1310374"/>
              <a:ext cx="3550691" cy="415498"/>
              <a:chOff x="3794080" y="1339208"/>
              <a:chExt cx="3550691" cy="415498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4301320" y="1339208"/>
                <a:ext cx="3043451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User Stories</a:t>
                </a: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794080" y="1339208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7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4064539" y="1806790"/>
              <a:ext cx="3550691" cy="738664"/>
              <a:chOff x="3794080" y="1890216"/>
              <a:chExt cx="3550691" cy="738664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4301321" y="1890216"/>
                <a:ext cx="3043450" cy="73866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Approve, Estimate, and Commit User Stories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3794080" y="1890216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8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4064538" y="2615456"/>
              <a:ext cx="3550693" cy="415498"/>
              <a:chOff x="3794079" y="2764390"/>
              <a:chExt cx="3550693" cy="415498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4301320" y="2764390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Tasks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794079" y="2764390"/>
                <a:ext cx="507239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9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4064538" y="3106414"/>
              <a:ext cx="3550693" cy="415498"/>
              <a:chOff x="3794079" y="3315398"/>
              <a:chExt cx="3550693" cy="415498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4301320" y="3315398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Estimate Tasks</a:t>
                </a: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794079" y="3315398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10</a:t>
                </a: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4064538" y="3597372"/>
              <a:ext cx="3550693" cy="415498"/>
              <a:chOff x="3794079" y="3866406"/>
              <a:chExt cx="3550693" cy="415498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4301320" y="3866406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Sprint Backlog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3794079" y="3866406"/>
                <a:ext cx="507239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11</a:t>
                </a:r>
              </a:p>
            </p:txBody>
          </p:sp>
        </p:grpSp>
        <p:sp>
          <p:nvSpPr>
            <p:cNvPr id="51" name="Rectangle 50"/>
            <p:cNvSpPr/>
            <p:nvPr/>
          </p:nvSpPr>
          <p:spPr>
            <a:xfrm>
              <a:off x="4064539" y="832303"/>
              <a:ext cx="507238" cy="4154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100" b="1" dirty="0"/>
                <a:t>2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4193328" y="4279853"/>
            <a:ext cx="3550693" cy="2180963"/>
            <a:chOff x="8060807" y="839508"/>
            <a:chExt cx="3550693" cy="2180963"/>
          </a:xfrm>
        </p:grpSpPr>
        <p:sp>
          <p:nvSpPr>
            <p:cNvPr id="57" name="Rectangle 56"/>
            <p:cNvSpPr/>
            <p:nvPr/>
          </p:nvSpPr>
          <p:spPr>
            <a:xfrm>
              <a:off x="8568046" y="839508"/>
              <a:ext cx="3043453" cy="415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400" b="1" dirty="0">
                  <a:solidFill>
                    <a:schemeClr val="tx1"/>
                  </a:solidFill>
                </a:rPr>
                <a:t>Implement</a:t>
              </a: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060808" y="1317579"/>
              <a:ext cx="3550691" cy="415498"/>
              <a:chOff x="3794080" y="1339208"/>
              <a:chExt cx="3550691" cy="415498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4301320" y="1339208"/>
                <a:ext cx="3043451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Create Deliverables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794080" y="1339208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12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8060808" y="1806790"/>
              <a:ext cx="3550691" cy="415498"/>
              <a:chOff x="3794080" y="1890216"/>
              <a:chExt cx="3550691" cy="415498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4301321" y="1890216"/>
                <a:ext cx="3043450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>
                    <a:solidFill>
                      <a:schemeClr val="tx1"/>
                    </a:solidFill>
                  </a:rPr>
                  <a:t>Conduct Daily Standup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794080" y="1890216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13</a:t>
                </a:r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8060807" y="2281807"/>
              <a:ext cx="3550693" cy="738664"/>
              <a:chOff x="3794079" y="2764390"/>
              <a:chExt cx="3550693" cy="738664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4301320" y="2764390"/>
                <a:ext cx="3043452" cy="73866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Groom Prioritized Product Backlog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3794079" y="2764390"/>
                <a:ext cx="507239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14</a:t>
                </a:r>
              </a:p>
            </p:txBody>
          </p:sp>
        </p:grpSp>
        <p:sp>
          <p:nvSpPr>
            <p:cNvPr id="73" name="Rectangle 72"/>
            <p:cNvSpPr/>
            <p:nvPr/>
          </p:nvSpPr>
          <p:spPr>
            <a:xfrm>
              <a:off x="8060808" y="839508"/>
              <a:ext cx="507238" cy="4154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100" b="1" dirty="0"/>
                <a:t>3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122468" y="877170"/>
            <a:ext cx="3550693" cy="2192316"/>
            <a:chOff x="4064538" y="4296077"/>
            <a:chExt cx="3550693" cy="2192316"/>
          </a:xfrm>
        </p:grpSpPr>
        <p:sp>
          <p:nvSpPr>
            <p:cNvPr id="74" name="Rectangle 73"/>
            <p:cNvSpPr/>
            <p:nvPr/>
          </p:nvSpPr>
          <p:spPr>
            <a:xfrm>
              <a:off x="4571777" y="4296077"/>
              <a:ext cx="3043453" cy="415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400" b="1" dirty="0">
                  <a:solidFill>
                    <a:schemeClr val="tx1"/>
                  </a:solidFill>
                </a:rPr>
                <a:t>Review and Retrospect</a:t>
              </a: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4064539" y="4802982"/>
              <a:ext cx="3550691" cy="415498"/>
              <a:chOff x="3794080" y="1339208"/>
              <a:chExt cx="3550691" cy="415498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4301320" y="1339208"/>
                <a:ext cx="3043451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Convene Scrum of Scrums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794080" y="1339208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15</a:t>
                </a: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4064539" y="5271082"/>
              <a:ext cx="3550691" cy="738664"/>
              <a:chOff x="3794080" y="1890216"/>
              <a:chExt cx="3550691" cy="738664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4301321" y="1890216"/>
                <a:ext cx="3043450" cy="738664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>
                    <a:solidFill>
                      <a:schemeClr val="tx1"/>
                    </a:solidFill>
                  </a:rPr>
                  <a:t>Demonstrate and Validate Sprint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794080" y="1890216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16</a:t>
                </a: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4064538" y="6072895"/>
              <a:ext cx="3550693" cy="415498"/>
              <a:chOff x="3794079" y="2764390"/>
              <a:chExt cx="3550693" cy="415498"/>
            </a:xfrm>
          </p:grpSpPr>
          <p:sp>
            <p:nvSpPr>
              <p:cNvPr id="82" name="Rectangle 81"/>
              <p:cNvSpPr/>
              <p:nvPr/>
            </p:nvSpPr>
            <p:spPr>
              <a:xfrm>
                <a:off x="4301320" y="2764390"/>
                <a:ext cx="3043452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Retrospect Sprint</a:t>
                </a: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3794079" y="2764390"/>
                <a:ext cx="507239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17</a:t>
                </a:r>
              </a:p>
            </p:txBody>
          </p:sp>
        </p:grpSp>
        <p:sp>
          <p:nvSpPr>
            <p:cNvPr id="84" name="Rectangle 83"/>
            <p:cNvSpPr/>
            <p:nvPr/>
          </p:nvSpPr>
          <p:spPr>
            <a:xfrm>
              <a:off x="4064539" y="4296077"/>
              <a:ext cx="507238" cy="4154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100" b="1" dirty="0"/>
                <a:t>4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8163986" y="3339890"/>
            <a:ext cx="3550691" cy="1416261"/>
            <a:chOff x="8060808" y="3410359"/>
            <a:chExt cx="3550691" cy="1416261"/>
          </a:xfrm>
        </p:grpSpPr>
        <p:sp>
          <p:nvSpPr>
            <p:cNvPr id="85" name="Rectangle 84"/>
            <p:cNvSpPr/>
            <p:nvPr/>
          </p:nvSpPr>
          <p:spPr>
            <a:xfrm>
              <a:off x="8568046" y="3410359"/>
              <a:ext cx="3043453" cy="4154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2400" b="1" dirty="0">
                  <a:solidFill>
                    <a:schemeClr val="tx1"/>
                  </a:solidFill>
                </a:rPr>
                <a:t>Release</a:t>
              </a: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8060808" y="3917264"/>
              <a:ext cx="3550691" cy="415498"/>
              <a:chOff x="3794080" y="1339208"/>
              <a:chExt cx="3550691" cy="415498"/>
            </a:xfrm>
          </p:grpSpPr>
          <p:sp>
            <p:nvSpPr>
              <p:cNvPr id="87" name="Rectangle 86"/>
              <p:cNvSpPr/>
              <p:nvPr/>
            </p:nvSpPr>
            <p:spPr>
              <a:xfrm>
                <a:off x="4301320" y="1339208"/>
                <a:ext cx="3043451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/>
                  <a:t>Ship Deliverables</a:t>
                </a:r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3794080" y="1339208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18</a:t>
                </a:r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8060808" y="4411122"/>
              <a:ext cx="3550691" cy="415498"/>
              <a:chOff x="3794080" y="1890216"/>
              <a:chExt cx="3550691" cy="415498"/>
            </a:xfrm>
          </p:grpSpPr>
          <p:sp>
            <p:nvSpPr>
              <p:cNvPr id="90" name="Rectangle 89"/>
              <p:cNvSpPr/>
              <p:nvPr/>
            </p:nvSpPr>
            <p:spPr>
              <a:xfrm>
                <a:off x="4301321" y="1890216"/>
                <a:ext cx="3043450" cy="415498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100" dirty="0">
                    <a:solidFill>
                      <a:schemeClr val="tx1"/>
                    </a:solidFill>
                  </a:rPr>
                  <a:t>Retrospect Project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794080" y="1890216"/>
                <a:ext cx="507240" cy="41549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/>
                  <a:t>19</a:t>
                </a: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8060808" y="3410359"/>
              <a:ext cx="507238" cy="41549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100" b="1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826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1. Initiate: t</a:t>
            </a:r>
            <a:r>
              <a:rPr lang="en-IN" dirty="0"/>
              <a:t>he scrum Phases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77518"/>
            <a:ext cx="11271388" cy="5590565"/>
          </a:xfrm>
        </p:spPr>
        <p:txBody>
          <a:bodyPr/>
          <a:lstStyle/>
          <a:p>
            <a:r>
              <a:rPr lang="en-US" b="1" dirty="0"/>
              <a:t>Create Project Vision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Project Business Case is reviewed</a:t>
            </a:r>
            <a:r>
              <a:rPr lang="en-US" dirty="0"/>
              <a:t> to create a Project Vision Statement.</a:t>
            </a:r>
          </a:p>
          <a:p>
            <a:pPr lvl="1"/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provide focus </a:t>
            </a:r>
            <a:r>
              <a:rPr lang="en-US" dirty="0"/>
              <a:t>for the entire project. </a:t>
            </a:r>
          </a:p>
          <a:p>
            <a:pPr lvl="1"/>
            <a:r>
              <a:rPr lang="en-US" dirty="0"/>
              <a:t>During this process </a:t>
            </a:r>
            <a:r>
              <a:rPr lang="en-US" dirty="0">
                <a:solidFill>
                  <a:srgbClr val="C00000"/>
                </a:solidFill>
              </a:rPr>
              <a:t>Product Owner is identified</a:t>
            </a:r>
            <a:r>
              <a:rPr lang="en-US" dirty="0"/>
              <a:t>.</a:t>
            </a:r>
          </a:p>
          <a:p>
            <a:r>
              <a:rPr lang="en-US" b="1" dirty="0"/>
              <a:t>Identify Scrum Master and Stakeholder(s)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Scrum Master and Stakeholders are identified</a:t>
            </a:r>
            <a:r>
              <a:rPr lang="en-US" dirty="0"/>
              <a:t> using specific Selection Criteria.	</a:t>
            </a:r>
          </a:p>
          <a:p>
            <a:r>
              <a:rPr lang="en-US" b="1" dirty="0"/>
              <a:t>Form Scrum Team</a:t>
            </a:r>
          </a:p>
          <a:p>
            <a:pPr lvl="1"/>
            <a:r>
              <a:rPr lang="en-US" dirty="0"/>
              <a:t>In this process, Scrum </a:t>
            </a:r>
            <a:r>
              <a:rPr lang="en-US" dirty="0">
                <a:solidFill>
                  <a:srgbClr val="C00000"/>
                </a:solidFill>
              </a:rPr>
              <a:t>Team members are identified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Normally the </a:t>
            </a:r>
            <a:r>
              <a:rPr lang="en-US" dirty="0">
                <a:solidFill>
                  <a:srgbClr val="C00000"/>
                </a:solidFill>
              </a:rPr>
              <a:t>Product Owner has the primary responsibility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selecting</a:t>
            </a:r>
            <a:r>
              <a:rPr lang="en-US" dirty="0"/>
              <a:t> team members, but often does so in collaboration with the Scrum Master.</a:t>
            </a:r>
          </a:p>
          <a:p>
            <a:r>
              <a:rPr lang="en-US" b="1" dirty="0"/>
              <a:t>Develop Epic(s)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epic is a large body of work</a:t>
            </a:r>
            <a:r>
              <a:rPr lang="en-US" dirty="0"/>
              <a:t> that can be </a:t>
            </a:r>
            <a:r>
              <a:rPr lang="en-US" dirty="0">
                <a:solidFill>
                  <a:srgbClr val="C00000"/>
                </a:solidFill>
              </a:rPr>
              <a:t>broken down </a:t>
            </a:r>
            <a:r>
              <a:rPr lang="en-US" dirty="0"/>
              <a:t>into a number of smaller stories.</a:t>
            </a:r>
          </a:p>
          <a:p>
            <a:pPr lvl="1"/>
            <a:r>
              <a:rPr lang="en-US" dirty="0"/>
              <a:t>In this process, the Project Vision Statement serves as the basis for developing Epics. </a:t>
            </a:r>
          </a:p>
        </p:txBody>
      </p:sp>
    </p:spTree>
    <p:extLst>
      <p:ext uri="{BB962C8B-B14F-4D97-AF65-F5344CB8AC3E}">
        <p14:creationId xmlns:p14="http://schemas.microsoft.com/office/powerpoint/2010/main" val="6509035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1. Initiate: t</a:t>
            </a:r>
            <a:r>
              <a:rPr lang="en-IN" dirty="0"/>
              <a:t>he scrum Phases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Prioritized Product Backlog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Epic(s)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refined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elaborated</a:t>
            </a:r>
            <a:r>
              <a:rPr lang="en-US" dirty="0"/>
              <a:t>, and then </a:t>
            </a:r>
            <a:r>
              <a:rPr lang="en-US" dirty="0">
                <a:solidFill>
                  <a:srgbClr val="C00000"/>
                </a:solidFill>
              </a:rPr>
              <a:t>prioritized</a:t>
            </a:r>
            <a:r>
              <a:rPr lang="en-US" dirty="0"/>
              <a:t> to create a Prioritized Product Backlog for the project.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Done Criteria </a:t>
            </a:r>
            <a:r>
              <a:rPr lang="en-US" dirty="0"/>
              <a:t>is also established at this point.</a:t>
            </a:r>
          </a:p>
          <a:p>
            <a:r>
              <a:rPr lang="en-US" b="1" dirty="0"/>
              <a:t>Conduct Release Planning</a:t>
            </a:r>
          </a:p>
          <a:p>
            <a:pPr lvl="1"/>
            <a:r>
              <a:rPr lang="en-US" dirty="0"/>
              <a:t>The Scrum </a:t>
            </a:r>
            <a:r>
              <a:rPr lang="en-US" dirty="0">
                <a:solidFill>
                  <a:srgbClr val="C00000"/>
                </a:solidFill>
              </a:rPr>
              <a:t>Core Team reviews the User Stories</a:t>
            </a:r>
            <a:r>
              <a:rPr lang="en-US" dirty="0"/>
              <a:t> in the Prioritized Product Backlog to develop a Release Planning Schedule, which is essentially a </a:t>
            </a:r>
            <a:r>
              <a:rPr lang="en-US" dirty="0">
                <a:solidFill>
                  <a:srgbClr val="C00000"/>
                </a:solidFill>
              </a:rPr>
              <a:t>phased deployment schedule</a:t>
            </a:r>
            <a:r>
              <a:rPr lang="en-US" dirty="0"/>
              <a:t> that can be shared with the project stakeholders.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Length of Sprint </a:t>
            </a:r>
            <a:r>
              <a:rPr lang="en-US" dirty="0"/>
              <a:t>is also </a:t>
            </a:r>
            <a:r>
              <a:rPr lang="en-US" dirty="0">
                <a:solidFill>
                  <a:srgbClr val="C00000"/>
                </a:solidFill>
              </a:rPr>
              <a:t>determined</a:t>
            </a:r>
            <a:r>
              <a:rPr lang="en-US" dirty="0"/>
              <a:t> in this process.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767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2. Plan and Estimate: t</a:t>
            </a:r>
            <a:r>
              <a:rPr lang="en-IN" dirty="0"/>
              <a:t>he scrum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User Stories</a:t>
            </a:r>
          </a:p>
          <a:p>
            <a:pPr lvl="1"/>
            <a:r>
              <a:rPr lang="en-US" dirty="0"/>
              <a:t>In this process, </a:t>
            </a:r>
            <a:r>
              <a:rPr lang="en-US" dirty="0">
                <a:solidFill>
                  <a:srgbClr val="C00000"/>
                </a:solidFill>
              </a:rPr>
              <a:t>User Stories</a:t>
            </a:r>
            <a:r>
              <a:rPr lang="en-US" dirty="0"/>
              <a:t> and their related </a:t>
            </a:r>
            <a:r>
              <a:rPr lang="en-US" dirty="0">
                <a:solidFill>
                  <a:srgbClr val="C00000"/>
                </a:solidFill>
              </a:rPr>
              <a:t>User Story Acceptance Criteria</a:t>
            </a:r>
            <a:r>
              <a:rPr lang="en-US" dirty="0"/>
              <a:t> are created. </a:t>
            </a:r>
          </a:p>
          <a:p>
            <a:pPr lvl="1"/>
            <a:r>
              <a:rPr lang="en-US" dirty="0"/>
              <a:t>User </a:t>
            </a:r>
            <a:r>
              <a:rPr lang="en-US" dirty="0">
                <a:solidFill>
                  <a:srgbClr val="C00000"/>
                </a:solidFill>
              </a:rPr>
              <a:t>Stories</a:t>
            </a:r>
            <a:r>
              <a:rPr lang="en-US" dirty="0"/>
              <a:t> are usually </a:t>
            </a:r>
            <a:r>
              <a:rPr lang="en-US" dirty="0">
                <a:solidFill>
                  <a:srgbClr val="C00000"/>
                </a:solidFill>
              </a:rPr>
              <a:t>written by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and are designed to</a:t>
            </a:r>
            <a:r>
              <a:rPr lang="en-US" dirty="0">
                <a:solidFill>
                  <a:srgbClr val="C00000"/>
                </a:solidFill>
              </a:rPr>
              <a:t> ensure that the customer's requirements </a:t>
            </a:r>
            <a:r>
              <a:rPr lang="en-US" dirty="0"/>
              <a:t>are </a:t>
            </a:r>
            <a:r>
              <a:rPr lang="en-US" dirty="0">
                <a:solidFill>
                  <a:srgbClr val="C00000"/>
                </a:solidFill>
              </a:rPr>
              <a:t>clearly depicted</a:t>
            </a:r>
            <a:r>
              <a:rPr lang="en-US" dirty="0"/>
              <a:t> and can be</a:t>
            </a:r>
            <a:r>
              <a:rPr lang="en-US" dirty="0">
                <a:solidFill>
                  <a:srgbClr val="C00000"/>
                </a:solidFill>
              </a:rPr>
              <a:t> fully understood </a:t>
            </a:r>
            <a:r>
              <a:rPr lang="en-US" dirty="0"/>
              <a:t>by all stakeholders.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Scrum Team members</a:t>
            </a:r>
            <a:r>
              <a:rPr lang="en-US" dirty="0"/>
              <a:t> are creating the User Stories. </a:t>
            </a:r>
          </a:p>
          <a:p>
            <a:pPr lvl="1"/>
            <a:r>
              <a:rPr lang="en-US" dirty="0"/>
              <a:t>User </a:t>
            </a:r>
            <a:r>
              <a:rPr lang="en-US" dirty="0">
                <a:solidFill>
                  <a:srgbClr val="C00000"/>
                </a:solidFill>
              </a:rPr>
              <a:t>Stories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incorporated</a:t>
            </a:r>
            <a:r>
              <a:rPr lang="en-US" dirty="0"/>
              <a:t> into the </a:t>
            </a:r>
            <a:r>
              <a:rPr lang="en-US" dirty="0">
                <a:solidFill>
                  <a:srgbClr val="C00000"/>
                </a:solidFill>
              </a:rPr>
              <a:t>Prioritized Product Backlog</a:t>
            </a:r>
            <a:r>
              <a:rPr lang="en-US" dirty="0"/>
              <a:t>.</a:t>
            </a:r>
          </a:p>
          <a:p>
            <a:r>
              <a:rPr lang="en-US" b="1" dirty="0"/>
              <a:t>Approve, Estimate, and Commit User Stories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approves</a:t>
            </a:r>
            <a:r>
              <a:rPr lang="en-US" dirty="0"/>
              <a:t> User </a:t>
            </a:r>
            <a:r>
              <a:rPr lang="en-US" dirty="0">
                <a:solidFill>
                  <a:srgbClr val="C00000"/>
                </a:solidFill>
              </a:rPr>
              <a:t>Stories</a:t>
            </a:r>
            <a:r>
              <a:rPr lang="en-US" dirty="0"/>
              <a:t> for a </a:t>
            </a:r>
            <a:r>
              <a:rPr lang="en-US" dirty="0">
                <a:solidFill>
                  <a:srgbClr val="C00000"/>
                </a:solidFill>
              </a:rPr>
              <a:t>Sprint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Then, the </a:t>
            </a:r>
            <a:r>
              <a:rPr lang="en-US" dirty="0">
                <a:solidFill>
                  <a:srgbClr val="C00000"/>
                </a:solidFill>
              </a:rPr>
              <a:t>Scrum Master </a:t>
            </a:r>
            <a:r>
              <a:rPr lang="en-US" dirty="0"/>
              <a:t>and Scrum </a:t>
            </a:r>
            <a:r>
              <a:rPr lang="en-US" dirty="0">
                <a:solidFill>
                  <a:srgbClr val="C00000"/>
                </a:solidFill>
              </a:rPr>
              <a:t>Team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estimate the effort </a:t>
            </a:r>
            <a:r>
              <a:rPr lang="en-US" dirty="0"/>
              <a:t>required to develop the functionality described in each User Story, and the Scrum Team commits to deliver the customer requirements in the form of </a:t>
            </a:r>
            <a:r>
              <a:rPr lang="en-US" dirty="0">
                <a:solidFill>
                  <a:srgbClr val="C00000"/>
                </a:solidFill>
              </a:rPr>
              <a:t>Approved, Estimated, and Committed User Stories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4028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2. Plan and Estimate: t</a:t>
            </a:r>
            <a:r>
              <a:rPr lang="en-IN" dirty="0"/>
              <a:t>he scrum Phases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Tasks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Approved</a:t>
            </a:r>
            <a:r>
              <a:rPr lang="en-US" dirty="0"/>
              <a:t>, Estimated, and Committed </a:t>
            </a:r>
            <a:r>
              <a:rPr lang="en-US" dirty="0">
                <a:solidFill>
                  <a:srgbClr val="C00000"/>
                </a:solidFill>
              </a:rPr>
              <a:t>User Stories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broken down</a:t>
            </a:r>
            <a:r>
              <a:rPr lang="en-US" dirty="0"/>
              <a:t> into </a:t>
            </a:r>
            <a:r>
              <a:rPr lang="en-US" dirty="0">
                <a:solidFill>
                  <a:srgbClr val="C00000"/>
                </a:solidFill>
              </a:rPr>
              <a:t>specific tasks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compiled into a Task List</a:t>
            </a:r>
            <a:r>
              <a:rPr lang="en-US" dirty="0"/>
              <a:t>. </a:t>
            </a:r>
          </a:p>
          <a:p>
            <a:r>
              <a:rPr lang="en-US" b="1" dirty="0"/>
              <a:t>Estimate Tasks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Scrum Core Team</a:t>
            </a:r>
            <a:r>
              <a:rPr lang="en-US" dirty="0"/>
              <a:t>, in Task Estimation Meetings, </a:t>
            </a:r>
            <a:r>
              <a:rPr lang="en-US" dirty="0">
                <a:solidFill>
                  <a:srgbClr val="C00000"/>
                </a:solidFill>
              </a:rPr>
              <a:t>estimate the effort required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accomplish each task</a:t>
            </a:r>
            <a:r>
              <a:rPr lang="en-US" dirty="0"/>
              <a:t> in the Task List. </a:t>
            </a:r>
          </a:p>
          <a:p>
            <a:r>
              <a:rPr lang="en-US" b="1" dirty="0"/>
              <a:t>Create Sprint Backlog</a:t>
            </a:r>
          </a:p>
          <a:p>
            <a:pPr lvl="1"/>
            <a:r>
              <a:rPr lang="en-US" dirty="0"/>
              <a:t>In this process, the</a:t>
            </a:r>
            <a:r>
              <a:rPr lang="en-US" dirty="0">
                <a:solidFill>
                  <a:srgbClr val="C00000"/>
                </a:solidFill>
              </a:rPr>
              <a:t> Scrum Core Team</a:t>
            </a:r>
            <a:r>
              <a:rPr lang="en-US" dirty="0"/>
              <a:t> holds Sprint Planning Meetings where the group creates a Sprint Backlog </a:t>
            </a:r>
            <a:r>
              <a:rPr lang="en-US" dirty="0">
                <a:solidFill>
                  <a:srgbClr val="C00000"/>
                </a:solidFill>
              </a:rPr>
              <a:t>containing all tasks to be completed in the Sprint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27772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3. Implement: t</a:t>
            </a:r>
            <a:r>
              <a:rPr lang="en-IN" dirty="0"/>
              <a:t>he scrum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Deliverables 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Scrum Team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works on the tasks</a:t>
            </a:r>
            <a:r>
              <a:rPr lang="en-US" dirty="0"/>
              <a:t> in the Sprint Backlog to create Sprint Deliverables. 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Scrum board </a:t>
            </a:r>
            <a:r>
              <a:rPr lang="en-US" dirty="0"/>
              <a:t>is often used to </a:t>
            </a:r>
            <a:r>
              <a:rPr lang="en-US" dirty="0">
                <a:solidFill>
                  <a:srgbClr val="C00000"/>
                </a:solidFill>
              </a:rPr>
              <a:t>track the work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activities</a:t>
            </a:r>
            <a:r>
              <a:rPr lang="en-US" dirty="0"/>
              <a:t> being carried out.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Issues or problems</a:t>
            </a:r>
            <a:r>
              <a:rPr lang="en-US" dirty="0"/>
              <a:t> being faced by the Scrum Team could be </a:t>
            </a:r>
            <a:r>
              <a:rPr lang="en-US" dirty="0">
                <a:solidFill>
                  <a:srgbClr val="C00000"/>
                </a:solidFill>
              </a:rPr>
              <a:t>updated</a:t>
            </a:r>
            <a:r>
              <a:rPr lang="en-US" dirty="0"/>
              <a:t> in a </a:t>
            </a:r>
            <a:r>
              <a:rPr lang="en-US" dirty="0">
                <a:solidFill>
                  <a:srgbClr val="C00000"/>
                </a:solidFill>
              </a:rPr>
              <a:t>Hurdle Log</a:t>
            </a:r>
            <a:r>
              <a:rPr lang="en-US" dirty="0"/>
              <a:t>.</a:t>
            </a:r>
          </a:p>
          <a:p>
            <a:r>
              <a:rPr lang="en-US" b="1" dirty="0"/>
              <a:t>Conduct Daily Standup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Everyday</a:t>
            </a:r>
            <a:r>
              <a:rPr lang="en-US" dirty="0"/>
              <a:t> a</a:t>
            </a:r>
            <a:r>
              <a:rPr lang="en-US" dirty="0">
                <a:solidFill>
                  <a:srgbClr val="C00000"/>
                </a:solidFill>
              </a:rPr>
              <a:t> highly focused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Time-boxed </a:t>
            </a:r>
            <a:r>
              <a:rPr lang="en-US" dirty="0"/>
              <a:t>meeting is conducted referred to as the </a:t>
            </a:r>
            <a:r>
              <a:rPr lang="en-US" dirty="0">
                <a:solidFill>
                  <a:srgbClr val="C00000"/>
                </a:solidFill>
              </a:rPr>
              <a:t>Daily Standup Meeting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This is the forum for the Scrum Team to</a:t>
            </a:r>
            <a:r>
              <a:rPr lang="en-US" dirty="0">
                <a:solidFill>
                  <a:srgbClr val="C00000"/>
                </a:solidFill>
              </a:rPr>
              <a:t> update each other on their progress and any Hurdle</a:t>
            </a:r>
            <a:r>
              <a:rPr lang="en-US" dirty="0"/>
              <a:t> they may be facing.</a:t>
            </a:r>
          </a:p>
          <a:p>
            <a:r>
              <a:rPr lang="en-US" b="1" dirty="0"/>
              <a:t>Groom Prioritized Product Backlog</a:t>
            </a:r>
          </a:p>
          <a:p>
            <a:pPr lvl="1"/>
            <a:r>
              <a:rPr lang="en-US" dirty="0"/>
              <a:t>In this process, the </a:t>
            </a:r>
            <a:r>
              <a:rPr lang="en-US" dirty="0">
                <a:solidFill>
                  <a:srgbClr val="C00000"/>
                </a:solidFill>
              </a:rPr>
              <a:t>Prioritized Product Backlog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continuously updated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maintained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A Prioritized Product Backlog Review Meeting may be held, in which any changes or updates to the backlog are discussed and incorporated into the Prioritized Product Backlog as appropriate.</a:t>
            </a:r>
          </a:p>
        </p:txBody>
      </p:sp>
    </p:spTree>
    <p:extLst>
      <p:ext uri="{BB962C8B-B14F-4D97-AF65-F5344CB8AC3E}">
        <p14:creationId xmlns:p14="http://schemas.microsoft.com/office/powerpoint/2010/main" val="12101989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4. Review and Retrospect - t</a:t>
            </a:r>
            <a:r>
              <a:rPr lang="en-IN" dirty="0"/>
              <a:t>he scrum Phases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31180" y="1204232"/>
            <a:ext cx="11929641" cy="5590565"/>
          </a:xfrm>
        </p:spPr>
        <p:txBody>
          <a:bodyPr/>
          <a:lstStyle/>
          <a:p>
            <a:r>
              <a:rPr lang="en-US" b="1" dirty="0"/>
              <a:t>Convene Scrum of Scrums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Scrum Team</a:t>
            </a:r>
            <a:r>
              <a:rPr lang="en-US" dirty="0"/>
              <a:t> representatives </a:t>
            </a:r>
            <a:r>
              <a:rPr lang="en-US" dirty="0">
                <a:solidFill>
                  <a:srgbClr val="C00000"/>
                </a:solidFill>
              </a:rPr>
              <a:t>convene for Scrum of Scrums (SoS)</a:t>
            </a:r>
            <a:r>
              <a:rPr lang="en-US" dirty="0"/>
              <a:t> Meetings in predetermined intervals or whenever required </a:t>
            </a:r>
            <a:r>
              <a:rPr lang="en-US" dirty="0">
                <a:solidFill>
                  <a:srgbClr val="C00000"/>
                </a:solidFill>
              </a:rPr>
              <a:t>to collaborate and track their respective progress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impediments(Hurdle)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dependencies</a:t>
            </a:r>
            <a:r>
              <a:rPr lang="en-US" dirty="0"/>
              <a:t> across teams. </a:t>
            </a:r>
          </a:p>
          <a:p>
            <a:pPr lvl="1"/>
            <a:r>
              <a:rPr lang="en-US" dirty="0"/>
              <a:t>This is </a:t>
            </a:r>
            <a:r>
              <a:rPr lang="en-US" dirty="0">
                <a:solidFill>
                  <a:srgbClr val="C00000"/>
                </a:solidFill>
              </a:rPr>
              <a:t>relevant only for large projects</a:t>
            </a:r>
            <a:r>
              <a:rPr lang="en-US" dirty="0"/>
              <a:t> where multiple Scrum Teams are involved.</a:t>
            </a:r>
          </a:p>
          <a:p>
            <a:r>
              <a:rPr lang="en-US" b="1" dirty="0"/>
              <a:t>Demonstrate and Validate Sprint</a:t>
            </a:r>
          </a:p>
          <a:p>
            <a:pPr lvl="1"/>
            <a:r>
              <a:rPr lang="en-US" dirty="0"/>
              <a:t>The</a:t>
            </a:r>
            <a:r>
              <a:rPr lang="en-US" dirty="0">
                <a:solidFill>
                  <a:srgbClr val="C00000"/>
                </a:solidFill>
              </a:rPr>
              <a:t> Scrum Team demonstrates the Sprint Deliverables</a:t>
            </a:r>
            <a:r>
              <a:rPr lang="en-US" dirty="0"/>
              <a:t> to the </a:t>
            </a:r>
            <a:r>
              <a:rPr lang="en-US" dirty="0">
                <a:solidFill>
                  <a:srgbClr val="C00000"/>
                </a:solidFill>
              </a:rPr>
              <a:t>Product Owner and relevant stakeholders</a:t>
            </a:r>
            <a:r>
              <a:rPr lang="en-US" dirty="0"/>
              <a:t> in a Sprint Review Meeting.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purpose</a:t>
            </a:r>
            <a:r>
              <a:rPr lang="en-US" dirty="0"/>
              <a:t> of this meeting is to </a:t>
            </a:r>
            <a:r>
              <a:rPr lang="en-US" dirty="0">
                <a:solidFill>
                  <a:srgbClr val="C00000"/>
                </a:solidFill>
              </a:rPr>
              <a:t>secure approval and acceptance from the Product Owner</a:t>
            </a:r>
            <a:r>
              <a:rPr lang="en-US" dirty="0"/>
              <a:t> for the Deliverables created in the Sprint.</a:t>
            </a:r>
          </a:p>
          <a:p>
            <a:r>
              <a:rPr lang="en-US" b="1" dirty="0"/>
              <a:t>Retrospect Sprint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Scrum Master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Scrum Team meet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discuss the lessons learned throughout the Sprint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information is </a:t>
            </a:r>
            <a:r>
              <a:rPr lang="en-US" dirty="0">
                <a:solidFill>
                  <a:srgbClr val="C00000"/>
                </a:solidFill>
              </a:rPr>
              <a:t>documented as lessons learned</a:t>
            </a:r>
            <a:r>
              <a:rPr lang="en-US" dirty="0"/>
              <a:t> which can be applied to future Sprints. </a:t>
            </a:r>
          </a:p>
          <a:p>
            <a:pPr lvl="1"/>
            <a:r>
              <a:rPr lang="en-US" dirty="0"/>
              <a:t>Often, as a result of this discussion, there may be </a:t>
            </a:r>
            <a:r>
              <a:rPr lang="en-US" dirty="0">
                <a:solidFill>
                  <a:srgbClr val="C00000"/>
                </a:solidFill>
              </a:rPr>
              <a:t>Agreed Actionable Improvements</a:t>
            </a:r>
            <a:r>
              <a:rPr lang="en-US" dirty="0"/>
              <a:t> or Updated Scrum Guidance Body Recommendations.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106" y="720806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phase is concerned with reviewing the deliverables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2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5. </a:t>
            </a:r>
            <a:r>
              <a:rPr lang="en-IN" sz="3600" dirty="0"/>
              <a:t>Release - </a:t>
            </a:r>
            <a:r>
              <a:rPr lang="en-IN" dirty="0"/>
              <a:t>the scrum Phases Cont.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4800" y="1268401"/>
            <a:ext cx="11582400" cy="3753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Ship Deliverables</a:t>
            </a:r>
          </a:p>
          <a:p>
            <a:pPr lvl="1"/>
            <a:r>
              <a:rPr lang="en-US" dirty="0"/>
              <a:t>In this process, </a:t>
            </a:r>
            <a:r>
              <a:rPr lang="en-US" dirty="0">
                <a:solidFill>
                  <a:srgbClr val="C00000"/>
                </a:solidFill>
              </a:rPr>
              <a:t>Accepted Deliverables are delivered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transitioned</a:t>
            </a:r>
            <a:r>
              <a:rPr lang="en-US" dirty="0"/>
              <a:t> to the relevant stakeholders. </a:t>
            </a:r>
          </a:p>
          <a:p>
            <a:r>
              <a:rPr lang="en-US" b="1" dirty="0"/>
              <a:t>Retrospect Project</a:t>
            </a:r>
          </a:p>
          <a:p>
            <a:pPr lvl="1"/>
            <a:r>
              <a:rPr lang="en-US" dirty="0"/>
              <a:t>In this process, </a:t>
            </a:r>
            <a:r>
              <a:rPr lang="en-US" dirty="0">
                <a:solidFill>
                  <a:srgbClr val="C00000"/>
                </a:solidFill>
              </a:rPr>
              <a:t>which completes the project</a:t>
            </a:r>
            <a:r>
              <a:rPr lang="en-US" dirty="0"/>
              <a:t>, organizational stakeholders and Scrum Core Team members assemble to </a:t>
            </a:r>
            <a:r>
              <a:rPr lang="en-US" dirty="0">
                <a:solidFill>
                  <a:srgbClr val="C00000"/>
                </a:solidFill>
              </a:rPr>
              <a:t>retrospect</a:t>
            </a:r>
            <a:r>
              <a:rPr lang="en-US" dirty="0"/>
              <a:t> the project and </a:t>
            </a:r>
            <a:r>
              <a:rPr lang="en-US" dirty="0">
                <a:solidFill>
                  <a:srgbClr val="C00000"/>
                </a:solidFill>
              </a:rPr>
              <a:t>identify, document, and internalize the lessons learned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Often, these lessons lead to the documentation of Agreed Actionable Improvements, to be</a:t>
            </a:r>
            <a:r>
              <a:rPr lang="en-US" dirty="0">
                <a:solidFill>
                  <a:srgbClr val="C00000"/>
                </a:solidFill>
              </a:rPr>
              <a:t> implemented in future projects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8320" y="711201"/>
            <a:ext cx="1158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phase emphasizes on delivering the Accepted Deliverables to the customer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9369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Typical Sprint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Product Backlog</a:t>
            </a:r>
          </a:p>
          <a:p>
            <a:r>
              <a:rPr lang="en-IN" dirty="0"/>
              <a:t>Sprint Planning</a:t>
            </a:r>
          </a:p>
          <a:p>
            <a:r>
              <a:rPr lang="en-IN" dirty="0"/>
              <a:t>Sprint Backlog</a:t>
            </a:r>
          </a:p>
          <a:p>
            <a:r>
              <a:rPr lang="en-IN" dirty="0"/>
              <a:t>Sprint</a:t>
            </a:r>
          </a:p>
          <a:p>
            <a:r>
              <a:rPr lang="en-IN" dirty="0"/>
              <a:t>Daily Scrum Meeting</a:t>
            </a:r>
          </a:p>
          <a:p>
            <a:r>
              <a:rPr lang="en-IN" dirty="0"/>
              <a:t>MVP (Minimum Viable Product)</a:t>
            </a:r>
          </a:p>
          <a:p>
            <a:r>
              <a:rPr lang="en-IN" dirty="0"/>
              <a:t>Sprint Review</a:t>
            </a:r>
          </a:p>
          <a:p>
            <a:r>
              <a:rPr lang="en-IN" dirty="0"/>
              <a:t>Sprint Retrospective</a:t>
            </a:r>
          </a:p>
        </p:txBody>
      </p:sp>
    </p:spTree>
    <p:extLst>
      <p:ext uri="{BB962C8B-B14F-4D97-AF65-F5344CB8AC3E}">
        <p14:creationId xmlns:p14="http://schemas.microsoft.com/office/powerpoint/2010/main" val="221047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Backlog - Sprint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Product Backlog</a:t>
            </a:r>
            <a:r>
              <a:rPr lang="en-US" dirty="0"/>
              <a:t> (Scrum Backlog) or Scrum Product Backlog is the central element to manage all of the </a:t>
            </a:r>
            <a:r>
              <a:rPr lang="en-US" dirty="0">
                <a:solidFill>
                  <a:srgbClr val="C00000"/>
                </a:solidFill>
              </a:rPr>
              <a:t>known requirements of a Scrum Project</a:t>
            </a:r>
            <a:r>
              <a:rPr lang="en-US" dirty="0"/>
              <a:t>.</a:t>
            </a:r>
          </a:p>
          <a:p>
            <a:r>
              <a:rPr lang="en-US" dirty="0"/>
              <a:t>As requirements, you count </a:t>
            </a:r>
            <a:r>
              <a:rPr lang="en-US" dirty="0">
                <a:solidFill>
                  <a:srgbClr val="C00000"/>
                </a:solidFill>
              </a:rPr>
              <a:t>functional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non-functional requirements</a:t>
            </a:r>
            <a:r>
              <a:rPr lang="en-US" dirty="0"/>
              <a:t> and other features related to user experience and user interface design.</a:t>
            </a:r>
          </a:p>
          <a:p>
            <a:r>
              <a:rPr lang="en-US" dirty="0"/>
              <a:t>The Scrum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responsible</a:t>
            </a:r>
            <a:r>
              <a:rPr lang="en-US" dirty="0"/>
              <a:t> for the creation, maintenance, and fine-tuning of a </a:t>
            </a:r>
            <a:r>
              <a:rPr lang="en-US" dirty="0">
                <a:solidFill>
                  <a:srgbClr val="C00000"/>
                </a:solidFill>
              </a:rPr>
              <a:t>Product Backlog</a:t>
            </a:r>
            <a:r>
              <a:rPr lang="en-US" dirty="0"/>
              <a:t>. He </a:t>
            </a:r>
            <a:r>
              <a:rPr lang="en-US" dirty="0">
                <a:solidFill>
                  <a:srgbClr val="C00000"/>
                </a:solidFill>
              </a:rPr>
              <a:t>prioritizes requirements</a:t>
            </a:r>
            <a:r>
              <a:rPr lang="en-US" dirty="0"/>
              <a:t> in the Product Backlog.</a:t>
            </a:r>
          </a:p>
          <a:p>
            <a:r>
              <a:rPr lang="en-US" dirty="0"/>
              <a:t>The Product Backlog </a:t>
            </a:r>
            <a:r>
              <a:rPr lang="en-US" dirty="0">
                <a:solidFill>
                  <a:srgbClr val="C00000"/>
                </a:solidFill>
              </a:rPr>
              <a:t>doesn't answer</a:t>
            </a:r>
            <a:r>
              <a:rPr lang="en-US" dirty="0"/>
              <a:t> the question of </a:t>
            </a:r>
            <a:r>
              <a:rPr lang="en-US" dirty="0">
                <a:solidFill>
                  <a:srgbClr val="C00000"/>
                </a:solidFill>
              </a:rPr>
              <a:t>how</a:t>
            </a:r>
            <a:r>
              <a:rPr lang="en-US" dirty="0"/>
              <a:t> these requirements will be developed and delivered.</a:t>
            </a:r>
          </a:p>
          <a:p>
            <a:r>
              <a:rPr lang="en-US" dirty="0"/>
              <a:t>The Scrum Product Owner creates the </a:t>
            </a:r>
            <a:r>
              <a:rPr lang="en-US" dirty="0">
                <a:solidFill>
                  <a:srgbClr val="C00000"/>
                </a:solidFill>
              </a:rPr>
              <a:t>first version</a:t>
            </a:r>
            <a:r>
              <a:rPr lang="en-US" dirty="0"/>
              <a:t> of the Product Backlog based on his best initial understanding of the product.</a:t>
            </a:r>
          </a:p>
          <a:p>
            <a:r>
              <a:rPr lang="en-US" dirty="0"/>
              <a:t>While the Scrum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 closely </a:t>
            </a:r>
            <a:r>
              <a:rPr lang="en-US" dirty="0">
                <a:solidFill>
                  <a:srgbClr val="C00000"/>
                </a:solidFill>
              </a:rPr>
              <a:t>observes</a:t>
            </a:r>
            <a:r>
              <a:rPr lang="en-US" dirty="0"/>
              <a:t> how the </a:t>
            </a:r>
            <a:r>
              <a:rPr lang="en-US" dirty="0">
                <a:solidFill>
                  <a:srgbClr val="C00000"/>
                </a:solidFill>
              </a:rPr>
              <a:t>product emerges</a:t>
            </a:r>
            <a:r>
              <a:rPr lang="en-US" dirty="0"/>
              <a:t> from sprint to sprint and while the knowledge about client requirements increases, he or she </a:t>
            </a:r>
            <a:r>
              <a:rPr lang="en-US" dirty="0">
                <a:solidFill>
                  <a:srgbClr val="C00000"/>
                </a:solidFill>
              </a:rPr>
              <a:t>adds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removes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fine-tunes requirements</a:t>
            </a:r>
            <a:r>
              <a:rPr lang="en-US" dirty="0"/>
              <a:t> in the Product Backlog.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383" y="72111"/>
            <a:ext cx="805407" cy="80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3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Backlog - Sprint Phases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8" y="1562246"/>
            <a:ext cx="11929641" cy="472117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user story </a:t>
            </a:r>
            <a:r>
              <a:rPr lang="en-US" dirty="0"/>
              <a:t>in the Scrum Product Backlog </a:t>
            </a:r>
            <a:r>
              <a:rPr lang="en-US" dirty="0">
                <a:solidFill>
                  <a:srgbClr val="C00000"/>
                </a:solidFill>
              </a:rPr>
              <a:t>always add a business or technical value</a:t>
            </a:r>
            <a:r>
              <a:rPr lang="en-US" dirty="0"/>
              <a:t> to its client, business owner and end-users</a:t>
            </a:r>
          </a:p>
          <a:p>
            <a:r>
              <a:rPr lang="en-US" dirty="0"/>
              <a:t>All </a:t>
            </a:r>
            <a:r>
              <a:rPr lang="en-US" dirty="0">
                <a:solidFill>
                  <a:srgbClr val="C00000"/>
                </a:solidFill>
              </a:rPr>
              <a:t>user stories</a:t>
            </a:r>
            <a:r>
              <a:rPr lang="en-US" dirty="0"/>
              <a:t> in the Scrum Product Backlog are </a:t>
            </a:r>
            <a:r>
              <a:rPr lang="en-US" dirty="0">
                <a:solidFill>
                  <a:srgbClr val="C00000"/>
                </a:solidFill>
              </a:rPr>
              <a:t>prioritized </a:t>
            </a:r>
            <a:r>
              <a:rPr lang="en-US" dirty="0"/>
              <a:t>and ordered from highest to lowest priority</a:t>
            </a:r>
          </a:p>
          <a:p>
            <a:r>
              <a:rPr lang="en-US" dirty="0"/>
              <a:t>User </a:t>
            </a:r>
            <a:r>
              <a:rPr lang="en-US" dirty="0">
                <a:solidFill>
                  <a:srgbClr val="C00000"/>
                </a:solidFill>
              </a:rPr>
              <a:t>stories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estimated</a:t>
            </a:r>
          </a:p>
          <a:p>
            <a:r>
              <a:rPr lang="en-US" dirty="0"/>
              <a:t>There are </a:t>
            </a:r>
            <a:r>
              <a:rPr lang="en-US" dirty="0">
                <a:solidFill>
                  <a:srgbClr val="C00000"/>
                </a:solidFill>
              </a:rPr>
              <a:t>no action items</a:t>
            </a:r>
            <a:r>
              <a:rPr lang="en-US" dirty="0"/>
              <a:t> or low-level tasks in the Scrum Product Backlog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179" y="905891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Each Scrum Product Backlog has specific attributes that differentiate it from a simple to-do list: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166" y="3922831"/>
            <a:ext cx="1554821" cy="155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1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Product Backlog - Sprint Phases Cont.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31763" y="877888"/>
          <a:ext cx="11928476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create new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an authorized user I want to 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script to purge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see the list</a:t>
                      </a:r>
                      <a:r>
                        <a:rPr lang="en-US" baseline="0" dirty="0"/>
                        <a:t> of items so that I can select 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an authorized user I want to add new item so that</a:t>
                      </a:r>
                      <a:r>
                        <a:rPr lang="en-US" baseline="0" dirty="0"/>
                        <a:t> is appears in the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delete the selected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edit</a:t>
                      </a:r>
                      <a:r>
                        <a:rPr lang="en-US" baseline="0" dirty="0"/>
                        <a:t> the selected 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 authorized user I want to set a reminder for selected item so that I am reminded when item</a:t>
                      </a:r>
                      <a:r>
                        <a:rPr lang="en-US" baseline="0" dirty="0"/>
                        <a:t> is due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 and administrator</a:t>
                      </a:r>
                      <a:r>
                        <a:rPr lang="en-US" baseline="0" dirty="0"/>
                        <a:t> I want to see the list of accounts on login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66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Planning - </a:t>
            </a:r>
            <a:r>
              <a:rPr lang="en-IN" dirty="0"/>
              <a:t>Sprint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sprint planning meeting is </a:t>
            </a:r>
            <a:r>
              <a:rPr lang="en-US" dirty="0">
                <a:solidFill>
                  <a:srgbClr val="C00000"/>
                </a:solidFill>
              </a:rPr>
              <a:t>attended</a:t>
            </a:r>
            <a:r>
              <a:rPr lang="en-US" dirty="0"/>
              <a:t> by the </a:t>
            </a:r>
            <a:r>
              <a:rPr lang="en-US" dirty="0">
                <a:solidFill>
                  <a:srgbClr val="C00000"/>
                </a:solidFill>
              </a:rPr>
              <a:t>product owner, Scrum Master, and the development team</a:t>
            </a:r>
            <a:r>
              <a:rPr lang="en-US" dirty="0"/>
              <a:t>.</a:t>
            </a:r>
          </a:p>
          <a:p>
            <a:r>
              <a:rPr lang="en-US" dirty="0"/>
              <a:t>The duration of the sprint planning meeting is generally based on rule of thumb: “</a:t>
            </a:r>
            <a:r>
              <a:rPr lang="en-US" dirty="0">
                <a:solidFill>
                  <a:srgbClr val="C00000"/>
                </a:solidFill>
              </a:rPr>
              <a:t>Multiply the number of weeks in your sprint by 2 hours</a:t>
            </a:r>
            <a:r>
              <a:rPr lang="en-US" dirty="0"/>
              <a:t>”</a:t>
            </a:r>
          </a:p>
          <a:p>
            <a:r>
              <a:rPr lang="en-US" dirty="0"/>
              <a:t>Sprint Planning Meeting constitutes two parts, namely the </a:t>
            </a:r>
            <a:r>
              <a:rPr lang="en-US" dirty="0">
                <a:solidFill>
                  <a:srgbClr val="C00000"/>
                </a:solidFill>
              </a:rPr>
              <a:t>WHAT-Meeting</a:t>
            </a:r>
            <a:r>
              <a:rPr lang="en-US" dirty="0"/>
              <a:t>, and the </a:t>
            </a:r>
            <a:r>
              <a:rPr lang="en-US" dirty="0">
                <a:solidFill>
                  <a:srgbClr val="C00000"/>
                </a:solidFill>
              </a:rPr>
              <a:t>HOW-Meeting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WHAT</a:t>
            </a:r>
            <a:r>
              <a:rPr lang="en-US" dirty="0"/>
              <a:t>-Meeting focuses on the </a:t>
            </a:r>
            <a:r>
              <a:rPr lang="en-US" dirty="0">
                <a:solidFill>
                  <a:srgbClr val="C00000"/>
                </a:solidFill>
              </a:rPr>
              <a:t>scope of a Sprint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HOW</a:t>
            </a:r>
            <a:r>
              <a:rPr lang="en-US" dirty="0"/>
              <a:t>-Meeting focuses on </a:t>
            </a:r>
            <a:r>
              <a:rPr lang="en-US" dirty="0">
                <a:solidFill>
                  <a:srgbClr val="C00000"/>
                </a:solidFill>
              </a:rPr>
              <a:t>how this scope will be implemented</a:t>
            </a:r>
          </a:p>
          <a:p>
            <a:r>
              <a:rPr lang="en-US" dirty="0"/>
              <a:t>Sprint planning is basically divided into 2 parts: </a:t>
            </a:r>
            <a:r>
              <a:rPr lang="en-US" dirty="0">
                <a:solidFill>
                  <a:srgbClr val="C00000"/>
                </a:solidFill>
              </a:rPr>
              <a:t>Sprint Goal</a:t>
            </a:r>
            <a:r>
              <a:rPr lang="en-US" dirty="0"/>
              <a:t> &amp; </a:t>
            </a:r>
            <a:r>
              <a:rPr lang="en-US" dirty="0">
                <a:solidFill>
                  <a:srgbClr val="C00000"/>
                </a:solidFill>
              </a:rPr>
              <a:t>Sprint Backlog</a:t>
            </a:r>
          </a:p>
          <a:p>
            <a:r>
              <a:rPr lang="en-US" b="1" dirty="0"/>
              <a:t>The Sprint Goal: </a:t>
            </a:r>
          </a:p>
          <a:p>
            <a:pPr lvl="1"/>
            <a:r>
              <a:rPr lang="en-US" dirty="0"/>
              <a:t>It clearly </a:t>
            </a:r>
            <a:r>
              <a:rPr lang="en-US" dirty="0">
                <a:solidFill>
                  <a:srgbClr val="BF2323"/>
                </a:solidFill>
              </a:rPr>
              <a:t>describes</a:t>
            </a:r>
            <a:r>
              <a:rPr lang="en-US" dirty="0"/>
              <a:t> what </a:t>
            </a:r>
            <a:r>
              <a:rPr lang="en-US" dirty="0">
                <a:solidFill>
                  <a:srgbClr val="BF2323"/>
                </a:solidFill>
              </a:rPr>
              <a:t>Sprint aims to achieve </a:t>
            </a:r>
            <a:r>
              <a:rPr lang="en-US" dirty="0"/>
              <a:t>for the business, end-users, and IT systems.</a:t>
            </a:r>
          </a:p>
          <a:p>
            <a:pPr lvl="1"/>
            <a:r>
              <a:rPr lang="en-US" dirty="0"/>
              <a:t>The first half of sprint planning goes with deciding the sprint goal.</a:t>
            </a:r>
          </a:p>
          <a:p>
            <a:pPr lvl="1"/>
            <a:r>
              <a:rPr lang="en-US" dirty="0"/>
              <a:t>It is discussed and decided </a:t>
            </a:r>
            <a:r>
              <a:rPr lang="en-US" dirty="0">
                <a:solidFill>
                  <a:srgbClr val="C00000"/>
                </a:solidFill>
              </a:rPr>
              <a:t>collaboratively</a:t>
            </a:r>
            <a:r>
              <a:rPr lang="en-US" dirty="0"/>
              <a:t> by the </a:t>
            </a:r>
            <a:r>
              <a:rPr lang="en-US" dirty="0">
                <a:solidFill>
                  <a:srgbClr val="C00000"/>
                </a:solidFill>
              </a:rPr>
              <a:t>team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product owner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team discusses on </a:t>
            </a:r>
            <a:r>
              <a:rPr lang="en-US" dirty="0">
                <a:solidFill>
                  <a:srgbClr val="C00000"/>
                </a:solidFill>
              </a:rPr>
              <a:t>what needs</a:t>
            </a:r>
            <a:r>
              <a:rPr lang="en-US" dirty="0"/>
              <a:t> to be </a:t>
            </a:r>
            <a:r>
              <a:rPr lang="en-US" dirty="0">
                <a:solidFill>
                  <a:srgbClr val="C00000"/>
                </a:solidFill>
              </a:rPr>
              <a:t>achieved</a:t>
            </a:r>
            <a:r>
              <a:rPr lang="en-US" dirty="0"/>
              <a:t> at the end of that particular sprint.</a:t>
            </a:r>
          </a:p>
        </p:txBody>
      </p:sp>
    </p:spTree>
    <p:extLst>
      <p:ext uri="{BB962C8B-B14F-4D97-AF65-F5344CB8AC3E}">
        <p14:creationId xmlns:p14="http://schemas.microsoft.com/office/powerpoint/2010/main" val="5419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Planning - </a:t>
            </a:r>
            <a:r>
              <a:rPr lang="en-IN" dirty="0"/>
              <a:t>Sprint Phases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Sprint Backlog: </a:t>
            </a:r>
          </a:p>
          <a:p>
            <a:pPr lvl="1"/>
            <a:r>
              <a:rPr lang="en-US" dirty="0"/>
              <a:t>This is the other </a:t>
            </a:r>
            <a:r>
              <a:rPr lang="en-US" dirty="0">
                <a:solidFill>
                  <a:srgbClr val="C00000"/>
                </a:solidFill>
              </a:rPr>
              <a:t>output</a:t>
            </a:r>
            <a:r>
              <a:rPr lang="en-US" dirty="0"/>
              <a:t> of</a:t>
            </a:r>
            <a:r>
              <a:rPr lang="en-US" dirty="0">
                <a:solidFill>
                  <a:srgbClr val="C00000"/>
                </a:solidFill>
              </a:rPr>
              <a:t> sprint planning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Sprint backlog </a:t>
            </a:r>
            <a:r>
              <a:rPr lang="en-US" dirty="0"/>
              <a:t>is the </a:t>
            </a:r>
            <a:r>
              <a:rPr lang="en-US" dirty="0">
                <a:solidFill>
                  <a:srgbClr val="C00000"/>
                </a:solidFill>
              </a:rPr>
              <a:t>list of the product backlog item</a:t>
            </a:r>
            <a:r>
              <a:rPr lang="en-US" dirty="0"/>
              <a:t> for which the development team </a:t>
            </a:r>
            <a:r>
              <a:rPr lang="en-US" dirty="0">
                <a:solidFill>
                  <a:srgbClr val="C00000"/>
                </a:solidFill>
              </a:rPr>
              <a:t>commits to deliver</a:t>
            </a:r>
            <a:r>
              <a:rPr lang="en-US" dirty="0"/>
              <a:t> as part of that particular sprint.</a:t>
            </a:r>
          </a:p>
          <a:p>
            <a:r>
              <a:rPr lang="en-US" b="1" dirty="0"/>
              <a:t>Sprint Velocity: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Sprint velocity</a:t>
            </a:r>
            <a:r>
              <a:rPr lang="en-US" dirty="0"/>
              <a:t> is the </a:t>
            </a:r>
            <a:r>
              <a:rPr lang="en-US" dirty="0">
                <a:solidFill>
                  <a:srgbClr val="C00000"/>
                </a:solidFill>
              </a:rPr>
              <a:t>capability of the development team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deliver the number of user stories</a:t>
            </a:r>
            <a:r>
              <a:rPr lang="en-US" dirty="0"/>
              <a:t> based on the estimated story points in other words the </a:t>
            </a:r>
            <a:r>
              <a:rPr lang="en-US" b="1" dirty="0"/>
              <a:t>speed/rate of progress </a:t>
            </a:r>
            <a:r>
              <a:rPr lang="en-US" dirty="0"/>
              <a:t>of a Scrum Team is called "Velocity". </a:t>
            </a:r>
          </a:p>
          <a:p>
            <a:pPr lvl="1"/>
            <a:r>
              <a:rPr lang="en-US" dirty="0"/>
              <a:t>Sprint </a:t>
            </a:r>
            <a:r>
              <a:rPr lang="en-US" dirty="0">
                <a:solidFill>
                  <a:srgbClr val="C00000"/>
                </a:solidFill>
              </a:rPr>
              <a:t>velocity of the first sprint</a:t>
            </a:r>
            <a:r>
              <a:rPr lang="en-US" dirty="0"/>
              <a:t> decides the capacity of the development team and hence will be </a:t>
            </a:r>
            <a:r>
              <a:rPr lang="en-US" dirty="0">
                <a:solidFill>
                  <a:srgbClr val="C00000"/>
                </a:solidFill>
              </a:rPr>
              <a:t>useful for planning further sprints</a:t>
            </a:r>
            <a:r>
              <a:rPr lang="en-US" dirty="0"/>
              <a:t> accordingly.</a:t>
            </a:r>
          </a:p>
          <a:p>
            <a:pPr lvl="1"/>
            <a:r>
              <a:rPr lang="en-US" dirty="0"/>
              <a:t>It </a:t>
            </a:r>
            <a:r>
              <a:rPr lang="en-US" dirty="0">
                <a:solidFill>
                  <a:srgbClr val="C00000"/>
                </a:solidFill>
              </a:rPr>
              <a:t>expresses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total number of story points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completed</a:t>
            </a:r>
            <a:r>
              <a:rPr lang="en-US" dirty="0"/>
              <a:t> that the Scrum Team delivers per Sprint (Iteration).</a:t>
            </a:r>
          </a:p>
        </p:txBody>
      </p:sp>
    </p:spTree>
    <p:extLst>
      <p:ext uri="{BB962C8B-B14F-4D97-AF65-F5344CB8AC3E}">
        <p14:creationId xmlns:p14="http://schemas.microsoft.com/office/powerpoint/2010/main" val="109948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 - </a:t>
            </a:r>
            <a:r>
              <a:rPr lang="en-IN" dirty="0"/>
              <a:t>Sprint Phases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Sprint Backlog</a:t>
            </a:r>
            <a:r>
              <a:rPr lang="en-US" dirty="0"/>
              <a:t> is the </a:t>
            </a:r>
            <a:r>
              <a:rPr lang="en-US" dirty="0">
                <a:solidFill>
                  <a:srgbClr val="C00000"/>
                </a:solidFill>
              </a:rPr>
              <a:t>list of the product backlog item</a:t>
            </a:r>
            <a:r>
              <a:rPr lang="en-US" dirty="0"/>
              <a:t> for which the Development </a:t>
            </a:r>
            <a:r>
              <a:rPr lang="en-US" dirty="0">
                <a:solidFill>
                  <a:srgbClr val="C00000"/>
                </a:solidFill>
              </a:rPr>
              <a:t>team commits to deliver</a:t>
            </a:r>
            <a:r>
              <a:rPr lang="en-US" dirty="0"/>
              <a:t> as part of that particular </a:t>
            </a:r>
            <a:r>
              <a:rPr lang="en-US" dirty="0">
                <a:solidFill>
                  <a:srgbClr val="C00000"/>
                </a:solidFill>
              </a:rPr>
              <a:t>sprint</a:t>
            </a:r>
            <a:r>
              <a:rPr lang="en-US" dirty="0"/>
              <a:t>. </a:t>
            </a:r>
          </a:p>
          <a:p>
            <a:r>
              <a:rPr lang="en-US" dirty="0"/>
              <a:t>Sprint Backlog is a </a:t>
            </a:r>
            <a:r>
              <a:rPr lang="en-US" dirty="0">
                <a:solidFill>
                  <a:srgbClr val="C00000"/>
                </a:solidFill>
              </a:rPr>
              <a:t>living artifact</a:t>
            </a:r>
            <a:r>
              <a:rPr lang="en-US" dirty="0"/>
              <a:t>, and during the </a:t>
            </a:r>
            <a:r>
              <a:rPr lang="en-US" dirty="0">
                <a:solidFill>
                  <a:srgbClr val="C00000"/>
                </a:solidFill>
              </a:rPr>
              <a:t>duration of Sprint</a:t>
            </a:r>
            <a:r>
              <a:rPr lang="en-US" dirty="0"/>
              <a:t>, the team members </a:t>
            </a:r>
            <a:r>
              <a:rPr lang="en-US" dirty="0">
                <a:solidFill>
                  <a:srgbClr val="C00000"/>
                </a:solidFill>
              </a:rPr>
              <a:t>continuously update it</a:t>
            </a:r>
            <a:r>
              <a:rPr lang="en-US" dirty="0"/>
              <a:t>.</a:t>
            </a:r>
          </a:p>
          <a:p>
            <a:r>
              <a:rPr lang="en-US" dirty="0"/>
              <a:t>When a Scrum Team member works on a task, his or her name is associated with it.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status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task</a:t>
            </a:r>
            <a:r>
              <a:rPr lang="en-US" dirty="0"/>
              <a:t> is set to </a:t>
            </a:r>
            <a:r>
              <a:rPr lang="en-US" dirty="0">
                <a:solidFill>
                  <a:srgbClr val="C00000"/>
                </a:solidFill>
              </a:rPr>
              <a:t>"Started Tasks"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"Work In Progress"</a:t>
            </a:r>
            <a:r>
              <a:rPr lang="en-US" dirty="0"/>
              <a:t>.</a:t>
            </a:r>
          </a:p>
          <a:p>
            <a:r>
              <a:rPr lang="en-US" dirty="0"/>
              <a:t>When the </a:t>
            </a:r>
            <a:r>
              <a:rPr lang="en-US" dirty="0">
                <a:solidFill>
                  <a:srgbClr val="C00000"/>
                </a:solidFill>
              </a:rPr>
              <a:t>task is completed </a:t>
            </a:r>
            <a:r>
              <a:rPr lang="en-US" dirty="0"/>
              <a:t>according to its Definition of Done, its status is set to "</a:t>
            </a:r>
            <a:r>
              <a:rPr lang="en-US" dirty="0">
                <a:solidFill>
                  <a:srgbClr val="C00000"/>
                </a:solidFill>
              </a:rPr>
              <a:t>Done</a:t>
            </a:r>
            <a:r>
              <a:rPr lang="en-US" dirty="0"/>
              <a:t>" or "</a:t>
            </a:r>
            <a:r>
              <a:rPr lang="en-US" dirty="0">
                <a:solidFill>
                  <a:srgbClr val="C00000"/>
                </a:solidFill>
              </a:rPr>
              <a:t>Completed</a:t>
            </a:r>
            <a:r>
              <a:rPr lang="en-US" dirty="0"/>
              <a:t>".</a:t>
            </a:r>
          </a:p>
          <a:p>
            <a:r>
              <a:rPr lang="en-US" dirty="0">
                <a:solidFill>
                  <a:srgbClr val="C00000"/>
                </a:solidFill>
              </a:rPr>
              <a:t>New tasks </a:t>
            </a:r>
            <a:r>
              <a:rPr lang="en-US" dirty="0"/>
              <a:t>(not new user stories) </a:t>
            </a:r>
            <a:r>
              <a:rPr lang="en-US" dirty="0">
                <a:solidFill>
                  <a:srgbClr val="C00000"/>
                </a:solidFill>
              </a:rPr>
              <a:t>can be added </a:t>
            </a:r>
            <a:r>
              <a:rPr lang="en-US" dirty="0"/>
              <a:t>to the Sprint Backlog during the Sprint. </a:t>
            </a:r>
          </a:p>
          <a:p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end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every day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remaining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effort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deliver</a:t>
            </a:r>
            <a:r>
              <a:rPr lang="en-US" dirty="0"/>
              <a:t> the full Sprint Backlog is </a:t>
            </a:r>
            <a:r>
              <a:rPr lang="en-US" dirty="0">
                <a:solidFill>
                  <a:srgbClr val="C00000"/>
                </a:solidFill>
              </a:rPr>
              <a:t>calculated</a:t>
            </a:r>
            <a:r>
              <a:rPr lang="en-US" dirty="0"/>
              <a:t>. </a:t>
            </a:r>
          </a:p>
          <a:p>
            <a:r>
              <a:rPr lang="en-US" dirty="0"/>
              <a:t>This helps the Scrum Team and the Scrum Product Owner to </a:t>
            </a:r>
            <a:r>
              <a:rPr lang="en-US" dirty="0">
                <a:solidFill>
                  <a:srgbClr val="C00000"/>
                </a:solidFill>
              </a:rPr>
              <a:t>monitor the remaining amount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work</a:t>
            </a:r>
            <a:r>
              <a:rPr lang="en-US" dirty="0"/>
              <a:t> to bring the Sprint goals to success.</a:t>
            </a:r>
          </a:p>
        </p:txBody>
      </p:sp>
    </p:spTree>
    <p:extLst>
      <p:ext uri="{BB962C8B-B14F-4D97-AF65-F5344CB8AC3E}">
        <p14:creationId xmlns:p14="http://schemas.microsoft.com/office/powerpoint/2010/main" val="211936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- </a:t>
            </a:r>
            <a:r>
              <a:rPr lang="en-IN" dirty="0"/>
              <a:t>Sprint Phases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</a:t>
            </a:r>
            <a:r>
              <a:rPr lang="en-US" dirty="0">
                <a:solidFill>
                  <a:srgbClr val="C00000"/>
                </a:solidFill>
              </a:rPr>
              <a:t>activities</a:t>
            </a:r>
            <a:r>
              <a:rPr lang="en-US" dirty="0"/>
              <a:t> to implement the requirements </a:t>
            </a:r>
            <a:r>
              <a:rPr lang="en-US" dirty="0">
                <a:solidFill>
                  <a:srgbClr val="C00000"/>
                </a:solidFill>
              </a:rPr>
              <a:t>happen</a:t>
            </a:r>
            <a:r>
              <a:rPr lang="en-US" dirty="0"/>
              <a:t> during </a:t>
            </a:r>
            <a:r>
              <a:rPr lang="en-US" dirty="0">
                <a:solidFill>
                  <a:srgbClr val="C00000"/>
                </a:solidFill>
              </a:rPr>
              <a:t>Sprints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Sprint Defined period</a:t>
            </a:r>
            <a:r>
              <a:rPr lang="en-US" dirty="0"/>
              <a:t> of time in which the specific committed work has to be completed.</a:t>
            </a:r>
          </a:p>
          <a:p>
            <a:r>
              <a:rPr lang="en-US" dirty="0"/>
              <a:t>Sprint is</a:t>
            </a:r>
            <a:r>
              <a:rPr lang="en-US" dirty="0">
                <a:solidFill>
                  <a:srgbClr val="C00000"/>
                </a:solidFill>
              </a:rPr>
              <a:t> time-boxed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cannot</a:t>
            </a:r>
            <a:r>
              <a:rPr lang="en-US" dirty="0"/>
              <a:t> be </a:t>
            </a:r>
            <a:r>
              <a:rPr lang="en-US" dirty="0">
                <a:solidFill>
                  <a:srgbClr val="C00000"/>
                </a:solidFill>
              </a:rPr>
              <a:t>extended under any circumstance</a:t>
            </a:r>
            <a:r>
              <a:rPr lang="en-US" dirty="0"/>
              <a:t>, irrespective of whether all the user stories committed are delivered or not.</a:t>
            </a:r>
          </a:p>
          <a:p>
            <a:r>
              <a:rPr lang="en-US" dirty="0"/>
              <a:t>We can think </a:t>
            </a:r>
            <a:r>
              <a:rPr lang="en-US" dirty="0">
                <a:solidFill>
                  <a:srgbClr val="C00000"/>
                </a:solidFill>
              </a:rPr>
              <a:t>sprints</a:t>
            </a:r>
            <a:r>
              <a:rPr lang="en-US" dirty="0"/>
              <a:t> like </a:t>
            </a:r>
            <a:r>
              <a:rPr lang="en-US" dirty="0">
                <a:solidFill>
                  <a:srgbClr val="C00000"/>
                </a:solidFill>
              </a:rPr>
              <a:t>micro-projects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Sprints</a:t>
            </a:r>
            <a:r>
              <a:rPr lang="en-US" dirty="0"/>
              <a:t> are always </a:t>
            </a:r>
            <a:r>
              <a:rPr lang="en-US" dirty="0">
                <a:solidFill>
                  <a:srgbClr val="C00000"/>
                </a:solidFill>
              </a:rPr>
              <a:t>short</a:t>
            </a:r>
            <a:r>
              <a:rPr lang="en-US" dirty="0"/>
              <a:t>, usually between </a:t>
            </a:r>
            <a:r>
              <a:rPr lang="en-US" dirty="0">
                <a:solidFill>
                  <a:srgbClr val="C00000"/>
                </a:solidFill>
              </a:rPr>
              <a:t>2 to 4 weeks</a:t>
            </a:r>
          </a:p>
          <a:p>
            <a:r>
              <a:rPr lang="en-US" dirty="0"/>
              <a:t>If any </a:t>
            </a:r>
            <a:r>
              <a:rPr lang="en-US" dirty="0">
                <a:solidFill>
                  <a:srgbClr val="C00000"/>
                </a:solidFill>
              </a:rPr>
              <a:t>user story</a:t>
            </a:r>
            <a:r>
              <a:rPr lang="en-US" dirty="0"/>
              <a:t> or part of a user story is </a:t>
            </a:r>
            <a:r>
              <a:rPr lang="en-US" dirty="0">
                <a:solidFill>
                  <a:srgbClr val="C00000"/>
                </a:solidFill>
              </a:rPr>
              <a:t>pending</a:t>
            </a:r>
            <a:r>
              <a:rPr lang="en-US" dirty="0"/>
              <a:t> after the </a:t>
            </a:r>
            <a:r>
              <a:rPr lang="en-US" dirty="0">
                <a:solidFill>
                  <a:srgbClr val="C00000"/>
                </a:solidFill>
              </a:rPr>
              <a:t>sprint completion time</a:t>
            </a:r>
            <a:r>
              <a:rPr lang="en-US" dirty="0"/>
              <a:t>, that particular user story will be </a:t>
            </a:r>
            <a:r>
              <a:rPr lang="en-US" dirty="0">
                <a:solidFill>
                  <a:srgbClr val="C00000"/>
                </a:solidFill>
              </a:rPr>
              <a:t>moved back to the product backlog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reprioritization</a:t>
            </a:r>
            <a:r>
              <a:rPr lang="en-US" dirty="0"/>
              <a:t>.</a:t>
            </a:r>
          </a:p>
          <a:p>
            <a:r>
              <a:rPr lang="en-US" dirty="0"/>
              <a:t>During the Sprint, </a:t>
            </a:r>
            <a:r>
              <a:rPr lang="en-US" dirty="0">
                <a:solidFill>
                  <a:srgbClr val="C00000"/>
                </a:solidFill>
              </a:rPr>
              <a:t>daily Scrum (Daily Scrum Meeting)</a:t>
            </a:r>
            <a:r>
              <a:rPr lang="en-US" dirty="0"/>
              <a:t> happens every day at the same time in the same place.</a:t>
            </a:r>
          </a:p>
        </p:txBody>
      </p:sp>
    </p:spTree>
    <p:extLst>
      <p:ext uri="{BB962C8B-B14F-4D97-AF65-F5344CB8AC3E}">
        <p14:creationId xmlns:p14="http://schemas.microsoft.com/office/powerpoint/2010/main" val="398243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Scrum Meeting - </a:t>
            </a:r>
            <a:r>
              <a:rPr lang="en-IN" dirty="0"/>
              <a:t>Sprint Phases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Daily Scrum Meeting</a:t>
            </a:r>
            <a:r>
              <a:rPr lang="en-US" dirty="0"/>
              <a:t> happens </a:t>
            </a:r>
            <a:r>
              <a:rPr lang="en-US" dirty="0">
                <a:solidFill>
                  <a:srgbClr val="C00000"/>
                </a:solidFill>
              </a:rPr>
              <a:t>every day</a:t>
            </a:r>
            <a:r>
              <a:rPr lang="en-US" dirty="0"/>
              <a:t> at the same time in the same place.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goal</a:t>
            </a:r>
            <a:r>
              <a:rPr lang="en-US" dirty="0"/>
              <a:t> of this </a:t>
            </a:r>
            <a:r>
              <a:rPr lang="en-US" dirty="0">
                <a:solidFill>
                  <a:srgbClr val="C00000"/>
                </a:solidFill>
              </a:rPr>
              <a:t>meeting</a:t>
            </a:r>
            <a:r>
              <a:rPr lang="en-US" dirty="0"/>
              <a:t> is to </a:t>
            </a:r>
            <a:r>
              <a:rPr lang="en-US" dirty="0">
                <a:solidFill>
                  <a:srgbClr val="C00000"/>
                </a:solidFill>
              </a:rPr>
              <a:t>align all members</a:t>
            </a:r>
            <a:r>
              <a:rPr lang="en-US" dirty="0"/>
              <a:t> of the Scrum Team regularly. </a:t>
            </a:r>
          </a:p>
          <a:p>
            <a:r>
              <a:rPr lang="en-US" dirty="0"/>
              <a:t>Scrum Team Members can also </a:t>
            </a:r>
            <a:r>
              <a:rPr lang="en-US" dirty="0">
                <a:solidFill>
                  <a:srgbClr val="C00000"/>
                </a:solidFill>
              </a:rPr>
              <a:t>ask help from the Scrum Master</a:t>
            </a:r>
            <a:r>
              <a:rPr lang="en-US" dirty="0"/>
              <a:t> to</a:t>
            </a:r>
            <a:r>
              <a:rPr lang="en-US" dirty="0">
                <a:solidFill>
                  <a:srgbClr val="C00000"/>
                </a:solidFill>
              </a:rPr>
              <a:t> remove any burden</a:t>
            </a:r>
            <a:r>
              <a:rPr lang="en-US" dirty="0"/>
              <a:t> which may potentially slow down or block the progress of a Sprint.</a:t>
            </a:r>
          </a:p>
          <a:p>
            <a:r>
              <a:rPr lang="en-US" dirty="0"/>
              <a:t>Following are </a:t>
            </a:r>
            <a:r>
              <a:rPr lang="en-US" dirty="0">
                <a:solidFill>
                  <a:srgbClr val="C00000"/>
                </a:solidFill>
              </a:rPr>
              <a:t>three questions</a:t>
            </a:r>
            <a:r>
              <a:rPr lang="en-US" dirty="0"/>
              <a:t> that are mainly discussed during the meetings.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What</a:t>
            </a:r>
            <a:r>
              <a:rPr lang="en-US" dirty="0"/>
              <a:t> are the</a:t>
            </a:r>
            <a:r>
              <a:rPr lang="en-US" dirty="0">
                <a:solidFill>
                  <a:srgbClr val="C00000"/>
                </a:solidFill>
              </a:rPr>
              <a:t> tasks done</a:t>
            </a:r>
            <a:r>
              <a:rPr lang="en-US" dirty="0"/>
              <a:t> since last meeting 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What</a:t>
            </a:r>
            <a:r>
              <a:rPr lang="en-US" dirty="0"/>
              <a:t> are the </a:t>
            </a:r>
            <a:r>
              <a:rPr lang="en-US" dirty="0">
                <a:solidFill>
                  <a:srgbClr val="C00000"/>
                </a:solidFill>
              </a:rPr>
              <a:t>issues</a:t>
            </a:r>
            <a:r>
              <a:rPr lang="en-US" dirty="0"/>
              <a:t> that team is </a:t>
            </a:r>
            <a:r>
              <a:rPr lang="en-US" dirty="0">
                <a:solidFill>
                  <a:srgbClr val="C00000"/>
                </a:solidFill>
              </a:rPr>
              <a:t>facing</a:t>
            </a:r>
            <a:r>
              <a:rPr lang="en-US" dirty="0"/>
              <a:t> 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What</a:t>
            </a:r>
            <a:r>
              <a:rPr lang="en-US" dirty="0"/>
              <a:t> are the </a:t>
            </a:r>
            <a:r>
              <a:rPr lang="en-US" dirty="0">
                <a:solidFill>
                  <a:srgbClr val="C00000"/>
                </a:solidFill>
              </a:rPr>
              <a:t>next activities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planned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859" y="4557978"/>
            <a:ext cx="1030952" cy="10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9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Sprint Review</a:t>
            </a:r>
            <a:r>
              <a:rPr lang="en-US" dirty="0"/>
              <a:t> Meeting happens at the </a:t>
            </a:r>
            <a:r>
              <a:rPr lang="en-US" dirty="0">
                <a:solidFill>
                  <a:srgbClr val="C00000"/>
                </a:solidFill>
              </a:rPr>
              <a:t>end of the Sprint</a:t>
            </a:r>
            <a:r>
              <a:rPr lang="en-US" dirty="0"/>
              <a:t>. </a:t>
            </a:r>
          </a:p>
          <a:p>
            <a:r>
              <a:rPr lang="en-US" dirty="0"/>
              <a:t>It usually takes </a:t>
            </a:r>
            <a:r>
              <a:rPr lang="en-US" dirty="0">
                <a:solidFill>
                  <a:srgbClr val="C00000"/>
                </a:solidFill>
              </a:rPr>
              <a:t>one to two hours</a:t>
            </a:r>
            <a:r>
              <a:rPr lang="en-US" dirty="0"/>
              <a:t>.</a:t>
            </a:r>
          </a:p>
          <a:p>
            <a:r>
              <a:rPr lang="en-US" dirty="0"/>
              <a:t>The Sprint Review Meeting allows the </a:t>
            </a:r>
            <a:r>
              <a:rPr lang="en-US" dirty="0">
                <a:solidFill>
                  <a:srgbClr val="C00000"/>
                </a:solidFill>
              </a:rPr>
              <a:t>Scrum Product Owner </a:t>
            </a:r>
            <a:r>
              <a:rPr lang="en-US" dirty="0"/>
              <a:t>to </a:t>
            </a:r>
            <a:r>
              <a:rPr lang="en-US" dirty="0">
                <a:solidFill>
                  <a:srgbClr val="C00000"/>
                </a:solidFill>
              </a:rPr>
              <a:t>review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manage</a:t>
            </a:r>
            <a:r>
              <a:rPr lang="en-US" dirty="0"/>
              <a:t> the Scrum </a:t>
            </a:r>
            <a:r>
              <a:rPr lang="en-US" dirty="0">
                <a:solidFill>
                  <a:srgbClr val="C00000"/>
                </a:solidFill>
              </a:rPr>
              <a:t>Team's work </a:t>
            </a:r>
            <a:r>
              <a:rPr lang="en-US" dirty="0"/>
              <a:t>from the Sprint.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goal</a:t>
            </a:r>
            <a:r>
              <a:rPr lang="en-US" dirty="0"/>
              <a:t> of the Sprint Review Meeting is to </a:t>
            </a:r>
            <a:r>
              <a:rPr lang="en-US" dirty="0">
                <a:solidFill>
                  <a:srgbClr val="C00000"/>
                </a:solidFill>
              </a:rPr>
              <a:t>review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shippable product increment</a:t>
            </a:r>
            <a:r>
              <a:rPr lang="en-US" dirty="0"/>
              <a:t> built during the Sprint and </a:t>
            </a:r>
            <a:r>
              <a:rPr lang="en-US" dirty="0">
                <a:solidFill>
                  <a:srgbClr val="C00000"/>
                </a:solidFill>
              </a:rPr>
              <a:t>bring transparency</a:t>
            </a:r>
            <a:r>
              <a:rPr lang="en-US" dirty="0"/>
              <a:t> to the </a:t>
            </a:r>
            <a:r>
              <a:rPr lang="en-US" dirty="0">
                <a:solidFill>
                  <a:srgbClr val="C00000"/>
                </a:solidFill>
              </a:rPr>
              <a:t>product development process</a:t>
            </a:r>
            <a:r>
              <a:rPr lang="en-US" dirty="0"/>
              <a:t>.</a:t>
            </a:r>
          </a:p>
          <a:p>
            <a:r>
              <a:rPr lang="en-US" dirty="0"/>
              <a:t>Then scrum team spends their energy on the successful completion and </a:t>
            </a:r>
            <a:r>
              <a:rPr lang="en-US" dirty="0">
                <a:solidFill>
                  <a:srgbClr val="C00000"/>
                </a:solidFill>
              </a:rPr>
              <a:t>demonstration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Sprint outcome</a:t>
            </a:r>
            <a:r>
              <a:rPr lang="en-US" dirty="0"/>
              <a:t>, which we call the </a:t>
            </a:r>
            <a:r>
              <a:rPr lang="en-US" dirty="0">
                <a:solidFill>
                  <a:srgbClr val="C00000"/>
                </a:solidFill>
              </a:rPr>
              <a:t>shippable product increment</a:t>
            </a:r>
            <a:r>
              <a:rPr lang="en-US" dirty="0"/>
              <a:t>.</a:t>
            </a:r>
          </a:p>
          <a:p>
            <a:r>
              <a:rPr lang="en-US" dirty="0"/>
              <a:t>The Sprint Review Meeting </a:t>
            </a:r>
            <a:r>
              <a:rPr lang="en-US" dirty="0">
                <a:solidFill>
                  <a:srgbClr val="C00000"/>
                </a:solidFill>
              </a:rPr>
              <a:t>enables the Product Owner </a:t>
            </a:r>
            <a:r>
              <a:rPr lang="en-US" dirty="0"/>
              <a:t>to </a:t>
            </a:r>
            <a:r>
              <a:rPr lang="en-US" dirty="0">
                <a:solidFill>
                  <a:srgbClr val="C00000"/>
                </a:solidFill>
              </a:rPr>
              <a:t>inspect the current status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product</a:t>
            </a:r>
            <a:r>
              <a:rPr lang="en-US" dirty="0"/>
              <a:t> and adapt the goals of the subsequent Sprint.</a:t>
            </a:r>
          </a:p>
        </p:txBody>
      </p:sp>
    </p:spTree>
    <p:extLst>
      <p:ext uri="{BB962C8B-B14F-4D97-AF65-F5344CB8AC3E}">
        <p14:creationId xmlns:p14="http://schemas.microsoft.com/office/powerpoint/2010/main" val="354174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Retrospective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Sprint Retrospective Meeting happens</a:t>
            </a:r>
            <a:r>
              <a:rPr lang="en-US" dirty="0"/>
              <a:t> directly </a:t>
            </a:r>
            <a:r>
              <a:rPr lang="en-US" dirty="0">
                <a:solidFill>
                  <a:srgbClr val="C00000"/>
                </a:solidFill>
              </a:rPr>
              <a:t>after the Sprint Review</a:t>
            </a:r>
            <a:r>
              <a:rPr lang="en-US" dirty="0"/>
              <a:t> Meeting, and it </a:t>
            </a:r>
            <a:r>
              <a:rPr lang="en-US" dirty="0">
                <a:solidFill>
                  <a:srgbClr val="C00000"/>
                </a:solidFill>
              </a:rPr>
              <a:t>closes the Sprint</a:t>
            </a:r>
            <a:r>
              <a:rPr lang="en-US" dirty="0"/>
              <a:t>.</a:t>
            </a:r>
          </a:p>
          <a:p>
            <a:r>
              <a:rPr lang="en-US" dirty="0"/>
              <a:t>During the Sprint Retrospective Meeting, the Scrum Team </a:t>
            </a:r>
            <a:r>
              <a:rPr lang="en-US" dirty="0">
                <a:solidFill>
                  <a:srgbClr val="C00000"/>
                </a:solidFill>
              </a:rPr>
              <a:t>reflects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way they work together</a:t>
            </a:r>
            <a:r>
              <a:rPr lang="en-US" dirty="0"/>
              <a:t>,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how they use the Scrum Framework</a:t>
            </a:r>
            <a:r>
              <a:rPr lang="en-US" dirty="0"/>
              <a:t>, and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how they can improve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goal</a:t>
            </a:r>
            <a:r>
              <a:rPr lang="en-US" dirty="0"/>
              <a:t> of the Sprint </a:t>
            </a:r>
            <a:r>
              <a:rPr lang="en-US" dirty="0">
                <a:solidFill>
                  <a:srgbClr val="C00000"/>
                </a:solidFill>
              </a:rPr>
              <a:t>Retrospective Meetings</a:t>
            </a:r>
            <a:r>
              <a:rPr lang="en-US" dirty="0"/>
              <a:t> is to </a:t>
            </a:r>
            <a:r>
              <a:rPr lang="en-US" dirty="0">
                <a:solidFill>
                  <a:srgbClr val="C00000"/>
                </a:solidFill>
              </a:rPr>
              <a:t>improve the teamwork</a:t>
            </a:r>
            <a:r>
              <a:rPr lang="en-US" dirty="0"/>
              <a:t> of Scrum Team members and the </a:t>
            </a:r>
            <a:r>
              <a:rPr lang="en-US" dirty="0">
                <a:solidFill>
                  <a:srgbClr val="C00000"/>
                </a:solidFill>
              </a:rPr>
              <a:t>application of the Scrum process</a:t>
            </a:r>
            <a:r>
              <a:rPr lang="en-US" dirty="0"/>
              <a:t>.  The meeting </a:t>
            </a:r>
            <a:r>
              <a:rPr lang="en-US" dirty="0">
                <a:solidFill>
                  <a:srgbClr val="C00000"/>
                </a:solidFill>
              </a:rPr>
              <a:t>assess</a:t>
            </a:r>
            <a:r>
              <a:rPr lang="en-US" dirty="0"/>
              <a:t> what </a:t>
            </a:r>
            <a:r>
              <a:rPr lang="en-US" dirty="0">
                <a:solidFill>
                  <a:srgbClr val="C00000"/>
                </a:solidFill>
              </a:rPr>
              <a:t>went wrong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what went well</a:t>
            </a:r>
            <a:r>
              <a:rPr lang="en-US" dirty="0"/>
              <a:t>.</a:t>
            </a:r>
          </a:p>
          <a:p>
            <a:r>
              <a:rPr lang="en-US" dirty="0"/>
              <a:t>Sprint </a:t>
            </a:r>
            <a:r>
              <a:rPr lang="en-US" dirty="0">
                <a:solidFill>
                  <a:srgbClr val="C00000"/>
                </a:solidFill>
              </a:rPr>
              <a:t>Retrospective</a:t>
            </a:r>
            <a:r>
              <a:rPr lang="en-US" dirty="0"/>
              <a:t> Meetings </a:t>
            </a:r>
            <a:r>
              <a:rPr lang="en-US" dirty="0">
                <a:solidFill>
                  <a:srgbClr val="C00000"/>
                </a:solidFill>
              </a:rPr>
              <a:t>lead to an increase in productivity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performance</a:t>
            </a:r>
            <a:r>
              <a:rPr lang="en-US" dirty="0"/>
              <a:t> of Scrum Team members, and the </a:t>
            </a:r>
            <a:r>
              <a:rPr lang="en-US" dirty="0">
                <a:solidFill>
                  <a:srgbClr val="C00000"/>
                </a:solidFill>
              </a:rPr>
              <a:t>quality of engineered software</a:t>
            </a:r>
            <a:r>
              <a:rPr lang="en-US" dirty="0"/>
              <a:t>.</a:t>
            </a:r>
          </a:p>
          <a:p>
            <a:r>
              <a:rPr lang="en-US" dirty="0"/>
              <a:t>A Sprint </a:t>
            </a:r>
            <a:r>
              <a:rPr lang="en-US" dirty="0">
                <a:solidFill>
                  <a:srgbClr val="C00000"/>
                </a:solidFill>
              </a:rPr>
              <a:t>Retrospective Meeting </a:t>
            </a:r>
            <a:r>
              <a:rPr lang="en-US" dirty="0"/>
              <a:t>is virtually a </a:t>
            </a:r>
            <a:r>
              <a:rPr lang="en-US" dirty="0">
                <a:solidFill>
                  <a:srgbClr val="C00000"/>
                </a:solidFill>
              </a:rPr>
              <a:t>mini post-mortem</a:t>
            </a:r>
            <a:r>
              <a:rPr lang="en-US" dirty="0"/>
              <a:t> to define improvement potentials and </a:t>
            </a:r>
            <a:r>
              <a:rPr lang="en-US" dirty="0">
                <a:solidFill>
                  <a:srgbClr val="C00000"/>
                </a:solidFill>
              </a:rPr>
              <a:t>remove process-related obstacles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5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MVP (Minimum Viable Product)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end of each sprint</a:t>
            </a:r>
            <a:r>
              <a:rPr lang="en-US" dirty="0"/>
              <a:t>, the team expects to be </a:t>
            </a:r>
            <a:r>
              <a:rPr lang="en-US" dirty="0">
                <a:solidFill>
                  <a:srgbClr val="C00000"/>
                </a:solidFill>
              </a:rPr>
              <a:t>ready with a potentially shippable product</a:t>
            </a:r>
            <a:r>
              <a:rPr lang="en-US" dirty="0"/>
              <a:t>.</a:t>
            </a:r>
          </a:p>
          <a:p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start of each sprint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user stories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selected</a:t>
            </a:r>
            <a:r>
              <a:rPr lang="en-US" dirty="0"/>
              <a:t> in such a logical manner that after the sprint, the will be in a position to deliver a potentially shippable product that can be shipped and used and can add to ROI(Return on investment).</a:t>
            </a:r>
          </a:p>
        </p:txBody>
      </p:sp>
    </p:spTree>
    <p:extLst>
      <p:ext uri="{BB962C8B-B14F-4D97-AF65-F5344CB8AC3E}">
        <p14:creationId xmlns:p14="http://schemas.microsoft.com/office/powerpoint/2010/main" val="33686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Burn Down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"</a:t>
            </a:r>
            <a:r>
              <a:rPr lang="en-US" dirty="0">
                <a:solidFill>
                  <a:srgbClr val="C00000"/>
                </a:solidFill>
              </a:rPr>
              <a:t>Scrum Burn down Chart</a:t>
            </a:r>
            <a:r>
              <a:rPr lang="en-US" dirty="0"/>
              <a:t>" is a </a:t>
            </a:r>
            <a:r>
              <a:rPr lang="en-US" dirty="0">
                <a:solidFill>
                  <a:srgbClr val="C00000"/>
                </a:solidFill>
              </a:rPr>
              <a:t>visual measurement tool</a:t>
            </a:r>
            <a:r>
              <a:rPr lang="en-US" dirty="0"/>
              <a:t> that shows the </a:t>
            </a:r>
            <a:r>
              <a:rPr lang="en-US" dirty="0">
                <a:solidFill>
                  <a:srgbClr val="C00000"/>
                </a:solidFill>
              </a:rPr>
              <a:t>completed work per Sprint </a:t>
            </a:r>
            <a:r>
              <a:rPr lang="en-US" dirty="0"/>
              <a:t>against the </a:t>
            </a:r>
            <a:r>
              <a:rPr lang="en-US" dirty="0">
                <a:solidFill>
                  <a:srgbClr val="C00000"/>
                </a:solidFill>
              </a:rPr>
              <a:t>projected rate of completion</a:t>
            </a:r>
            <a:r>
              <a:rPr lang="en-US" dirty="0"/>
              <a:t> for the current project release.</a:t>
            </a:r>
          </a:p>
          <a:p>
            <a:r>
              <a:rPr lang="en-US" dirty="0"/>
              <a:t>A burn-down chart is a graphical representation of </a:t>
            </a:r>
            <a:r>
              <a:rPr lang="en-US" dirty="0">
                <a:solidFill>
                  <a:srgbClr val="C00000"/>
                </a:solidFill>
              </a:rPr>
              <a:t>time versus work left</a:t>
            </a:r>
            <a:r>
              <a:rPr lang="en-US" dirty="0"/>
              <a:t> to do. </a:t>
            </a:r>
          </a:p>
          <a:p>
            <a:r>
              <a:rPr lang="en-US" dirty="0"/>
              <a:t>It is generally </a:t>
            </a:r>
            <a:r>
              <a:rPr lang="en-US" dirty="0">
                <a:solidFill>
                  <a:srgbClr val="C00000"/>
                </a:solidFill>
              </a:rPr>
              <a:t>used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agile software development </a:t>
            </a:r>
            <a:r>
              <a:rPr lang="en-US" dirty="0"/>
              <a:t>methodologies like Scrum. </a:t>
            </a:r>
          </a:p>
          <a:p>
            <a:r>
              <a:rPr lang="en-US" dirty="0"/>
              <a:t>The burn-down charts can be applied to any project containing </a:t>
            </a:r>
            <a:r>
              <a:rPr lang="en-US" dirty="0">
                <a:solidFill>
                  <a:srgbClr val="C00000"/>
                </a:solidFill>
              </a:rPr>
              <a:t>measurable progress over time</a:t>
            </a:r>
            <a:r>
              <a:rPr lang="en-US" dirty="0"/>
              <a:t>.</a:t>
            </a:r>
          </a:p>
          <a:p>
            <a:r>
              <a:rPr lang="en-US" dirty="0"/>
              <a:t>Generally, in a burn-down chart, the </a:t>
            </a:r>
            <a:r>
              <a:rPr lang="en-US" dirty="0">
                <a:solidFill>
                  <a:srgbClr val="C00000"/>
                </a:solidFill>
              </a:rPr>
              <a:t>outstanding work</a:t>
            </a:r>
            <a:r>
              <a:rPr lang="en-US" dirty="0"/>
              <a:t> is often on the </a:t>
            </a:r>
            <a:r>
              <a:rPr lang="en-US" dirty="0">
                <a:solidFill>
                  <a:srgbClr val="C00000"/>
                </a:solidFill>
              </a:rPr>
              <a:t>vertical axis</a:t>
            </a:r>
            <a:r>
              <a:rPr lang="en-US" dirty="0"/>
              <a:t>, with </a:t>
            </a:r>
            <a:r>
              <a:rPr lang="en-US" dirty="0">
                <a:solidFill>
                  <a:srgbClr val="C00000"/>
                </a:solidFill>
              </a:rPr>
              <a:t>time</a:t>
            </a:r>
            <a:r>
              <a:rPr lang="en-US" dirty="0"/>
              <a:t> on the </a:t>
            </a:r>
            <a:r>
              <a:rPr lang="en-US" dirty="0">
                <a:solidFill>
                  <a:srgbClr val="C00000"/>
                </a:solidFill>
              </a:rPr>
              <a:t>horizontal</a:t>
            </a:r>
            <a:r>
              <a:rPr lang="en-US" dirty="0"/>
              <a:t>. </a:t>
            </a:r>
          </a:p>
          <a:p>
            <a:r>
              <a:rPr lang="en-US" dirty="0"/>
              <a:t>It is useful for </a:t>
            </a:r>
            <a:r>
              <a:rPr lang="en-US" dirty="0">
                <a:solidFill>
                  <a:srgbClr val="C00000"/>
                </a:solidFill>
              </a:rPr>
              <a:t>predicting</a:t>
            </a:r>
            <a:r>
              <a:rPr lang="en-US" dirty="0"/>
              <a:t> when all of the work will be </a:t>
            </a:r>
            <a:r>
              <a:rPr lang="en-US" dirty="0">
                <a:solidFill>
                  <a:srgbClr val="C00000"/>
                </a:solidFill>
              </a:rPr>
              <a:t>completed</a:t>
            </a:r>
            <a:r>
              <a:rPr lang="en-US" dirty="0"/>
              <a:t>.</a:t>
            </a:r>
          </a:p>
          <a:p>
            <a:r>
              <a:rPr lang="en-US" dirty="0"/>
              <a:t>In the Daily Scrum the Development Team updates the Sprint Burn Down and plots the remaining work of the day. </a:t>
            </a:r>
          </a:p>
          <a:p>
            <a:pPr lvl="1"/>
            <a:r>
              <a:rPr lang="en-US" dirty="0"/>
              <a:t>monitoring the project scope</a:t>
            </a:r>
          </a:p>
          <a:p>
            <a:pPr lvl="1"/>
            <a:r>
              <a:rPr lang="en-US" dirty="0"/>
              <a:t>Keeping the team running on schedule</a:t>
            </a:r>
          </a:p>
          <a:p>
            <a:pPr lvl="1"/>
            <a:r>
              <a:rPr lang="en-US" dirty="0"/>
              <a:t>Comparing the planned work against the team progression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70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Burn Down Chart Cont.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6509" y="962294"/>
          <a:ext cx="11403743" cy="417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6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0235">
                <a:tc>
                  <a:txBody>
                    <a:bodyPr/>
                    <a:lstStyle/>
                    <a:p>
                      <a:r>
                        <a:rPr lang="en-US" sz="2400" dirty="0"/>
                        <a:t>Sr.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Day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/>
                        <a:t>No of  Story Points Pending after the day</a:t>
                      </a:r>
                    </a:p>
                    <a:p>
                      <a:pPr algn="ctr"/>
                      <a:r>
                        <a:rPr lang="en-US" sz="2400" baseline="0" dirty="0"/>
                        <a:t>as per plan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No of  Story Points Pending after the day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actually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Initially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Day</a:t>
                      </a:r>
                      <a:r>
                        <a:rPr lang="en-US" sz="2400" baseline="0" dirty="0"/>
                        <a:t> 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Day</a:t>
                      </a:r>
                      <a:r>
                        <a:rPr lang="en-US" sz="2400" baseline="0" dirty="0"/>
                        <a:t> 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Day</a:t>
                      </a:r>
                      <a:r>
                        <a:rPr lang="en-US" sz="2400" baseline="0" dirty="0"/>
                        <a:t> 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Day</a:t>
                      </a:r>
                      <a:r>
                        <a:rPr lang="en-US" sz="2400" baseline="0" dirty="0"/>
                        <a:t> 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750">
                <a:tc>
                  <a:txBody>
                    <a:bodyPr/>
                    <a:lstStyle/>
                    <a:p>
                      <a:r>
                        <a:rPr lang="en-US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Day</a:t>
                      </a:r>
                      <a:r>
                        <a:rPr lang="en-US" sz="2400" baseline="0" dirty="0"/>
                        <a:t> 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59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Burn Down Chart Cont.</a:t>
            </a:r>
            <a:endParaRPr lang="en-US" dirty="0"/>
          </a:p>
        </p:txBody>
      </p:sp>
      <p:graphicFrame>
        <p:nvGraphicFramePr>
          <p:cNvPr id="9" name="Chart 8"/>
          <p:cNvGraphicFramePr/>
          <p:nvPr/>
        </p:nvGraphicFramePr>
        <p:xfrm>
          <a:off x="701822" y="101508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31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909B-882B-9804-94E5-C1770EE4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17D2F-8D06-E073-D9D7-5162EA913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2" y="711200"/>
            <a:ext cx="12055590" cy="5886823"/>
          </a:xfrm>
        </p:spPr>
        <p:txBody>
          <a:bodyPr/>
          <a:lstStyle/>
          <a:p>
            <a:r>
              <a:rPr lang="en-US" sz="2000" dirty="0"/>
              <a:t>Define agility in the context of software development.</a:t>
            </a:r>
          </a:p>
          <a:p>
            <a:r>
              <a:rPr lang="en-US" sz="2000" dirty="0"/>
              <a:t>List the values outlined in the Agile Manifesto.</a:t>
            </a:r>
          </a:p>
          <a:p>
            <a:r>
              <a:rPr lang="en-US" sz="2000" dirty="0"/>
              <a:t>Recall the principles of Agile software development.</a:t>
            </a:r>
          </a:p>
          <a:p>
            <a:r>
              <a:rPr lang="en-US" sz="2000" dirty="0"/>
              <a:t>Explain the concept of Extreme Programming (XP) and its key practices.</a:t>
            </a:r>
          </a:p>
          <a:p>
            <a:r>
              <a:rPr lang="en-US" sz="2000" dirty="0"/>
              <a:t>Define Scrum and its key components.</a:t>
            </a:r>
          </a:p>
          <a:p>
            <a:r>
              <a:rPr lang="en-US" sz="2000" dirty="0"/>
              <a:t>List and explain the roles within a Scrum team.</a:t>
            </a:r>
          </a:p>
          <a:p>
            <a:pPr marL="0" indent="0">
              <a:buNone/>
            </a:pP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dirty="0"/>
              <a:t>    Explain the significance of the Scrum Master role in a Scrum team.</a:t>
            </a:r>
          </a:p>
          <a:p>
            <a:pPr marL="0" indent="0">
              <a:buNone/>
            </a:pP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dirty="0"/>
              <a:t>    Explain Scrum Roles and Responsibilities of Product Owner.</a:t>
            </a:r>
          </a:p>
          <a:p>
            <a:r>
              <a:rPr lang="en-US" sz="2000" dirty="0"/>
              <a:t>Recall the purpose of Scrum ceremonies such as Sprint Planning and Daily Standups.</a:t>
            </a:r>
          </a:p>
          <a:p>
            <a:pPr marL="0" indent="0">
              <a:buNone/>
            </a:pPr>
            <a:r>
              <a:rPr lang="en-US" sz="2000" dirty="0"/>
              <a:t>	OR </a:t>
            </a:r>
          </a:p>
          <a:p>
            <a:pPr marL="0" indent="0">
              <a:buNone/>
            </a:pPr>
            <a:r>
              <a:rPr lang="en-US" sz="2000" dirty="0"/>
              <a:t>    Explain term Daily Scrum Meeting.</a:t>
            </a:r>
          </a:p>
          <a:p>
            <a:r>
              <a:rPr lang="en-US" sz="2000" dirty="0"/>
              <a:t>Differentiate between Sprint Backlog and Product Backlog in Scrum.</a:t>
            </a:r>
          </a:p>
          <a:p>
            <a:r>
              <a:rPr lang="en-US" sz="2000" dirty="0"/>
              <a:t>Describe the principles of Adaptive Software Development (ASD) and how it differs from traditional approaches.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967591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909B-882B-9804-94E5-C1770EE4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17D2F-8D06-E073-D9D7-5162EA913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8905"/>
            <a:ext cx="11929641" cy="5590565"/>
          </a:xfrm>
        </p:spPr>
        <p:txBody>
          <a:bodyPr/>
          <a:lstStyle/>
          <a:p>
            <a:r>
              <a:rPr lang="en-US" sz="2000" dirty="0"/>
              <a:t>Differentiate between Scrum and other Agile methodologies.</a:t>
            </a:r>
          </a:p>
          <a:p>
            <a:r>
              <a:rPr lang="en-US" sz="2000" dirty="0"/>
              <a:t>Develop a user story for a Library Management software feature.</a:t>
            </a:r>
          </a:p>
          <a:p>
            <a:r>
              <a:rPr lang="en-US" sz="2000" dirty="0"/>
              <a:t>Compare and contrast the burn-down chart and burn-up chart in Agile project management.</a:t>
            </a:r>
          </a:p>
          <a:p>
            <a:pPr marL="0" indent="0">
              <a:buNone/>
            </a:pP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dirty="0"/>
              <a:t>    Write a short note on burn-down chart.</a:t>
            </a:r>
          </a:p>
          <a:p>
            <a:r>
              <a:rPr lang="en-US" sz="2000" dirty="0"/>
              <a:t>Explain the Scrum framework.</a:t>
            </a:r>
          </a:p>
          <a:p>
            <a:r>
              <a:rPr lang="en-US" sz="2000" dirty="0"/>
              <a:t>Explain Feature Driven Development (FDD).</a:t>
            </a:r>
          </a:p>
          <a:p>
            <a:r>
              <a:rPr lang="en-US" sz="2000" dirty="0"/>
              <a:t>Define Agile estimation and its importance in software development.</a:t>
            </a:r>
          </a:p>
          <a:p>
            <a:r>
              <a:rPr lang="en-US" sz="2000" dirty="0"/>
              <a:t>List and explain different Scrum Phases.</a:t>
            </a:r>
          </a:p>
          <a:p>
            <a:r>
              <a:rPr lang="en-US" sz="2000" dirty="0"/>
              <a:t>List and explain different Sprint Phases.</a:t>
            </a:r>
          </a:p>
          <a:p>
            <a:pPr marL="0" indent="0">
              <a:buNone/>
            </a:pP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dirty="0"/>
              <a:t>    Write a short note on Product Backlog.</a:t>
            </a:r>
          </a:p>
          <a:p>
            <a:pPr marL="0" indent="0">
              <a:buNone/>
            </a:pPr>
            <a:r>
              <a:rPr lang="en-US" sz="2000" dirty="0"/>
              <a:t>	OR</a:t>
            </a:r>
          </a:p>
          <a:p>
            <a:pPr marL="0" indent="0">
              <a:buNone/>
            </a:pPr>
            <a:r>
              <a:rPr lang="en-US" sz="2000" dirty="0"/>
              <a:t>    Write a short note on Sprint Backlog.</a:t>
            </a:r>
          </a:p>
        </p:txBody>
      </p:sp>
    </p:spTree>
    <p:extLst>
      <p:ext uri="{BB962C8B-B14F-4D97-AF65-F5344CB8AC3E}">
        <p14:creationId xmlns:p14="http://schemas.microsoft.com/office/powerpoint/2010/main" val="17727880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  <a:p>
            <a:r>
              <a:rPr lang="en-US" dirty="0"/>
              <a:t>(#2301CS405)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+91-9723232741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83219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8162</Words>
  <Application>Microsoft Office PowerPoint</Application>
  <PresentationFormat>Widescreen</PresentationFormat>
  <Paragraphs>956</Paragraphs>
  <Slides>78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Roboto Condensed</vt:lpstr>
      <vt:lpstr>Wingdings 2</vt:lpstr>
      <vt:lpstr>Wingdings</vt:lpstr>
      <vt:lpstr>Roboto Condensed Light</vt:lpstr>
      <vt:lpstr>Wingdings 3</vt:lpstr>
      <vt:lpstr>Arial</vt:lpstr>
      <vt:lpstr>Calibri</vt:lpstr>
      <vt:lpstr>Office Theme</vt:lpstr>
      <vt:lpstr>PowerPoint Presentation</vt:lpstr>
      <vt:lpstr>Agile Models</vt:lpstr>
      <vt:lpstr>PowerPoint Presentation</vt:lpstr>
      <vt:lpstr>Why Learn Agile?</vt:lpstr>
      <vt:lpstr>Introduction</vt:lpstr>
      <vt:lpstr>The Genesis of Agile Cont.</vt:lpstr>
      <vt:lpstr>Agile Practices</vt:lpstr>
      <vt:lpstr>Agile Practices Cont.</vt:lpstr>
      <vt:lpstr>The Manifesto of the Agile Alliance</vt:lpstr>
      <vt:lpstr>Individuals and interactions over processes and tools</vt:lpstr>
      <vt:lpstr>Individuals and interactions over processes and tools</vt:lpstr>
      <vt:lpstr>Working software over comprehensive documentation</vt:lpstr>
      <vt:lpstr>Working software over comprehensive documentation</vt:lpstr>
      <vt:lpstr>Customer collaboration over contract negotiation</vt:lpstr>
      <vt:lpstr>Responding to change over following a plan.</vt:lpstr>
      <vt:lpstr>Agility</vt:lpstr>
      <vt:lpstr>What is Agility? Cont.</vt:lpstr>
      <vt:lpstr>Agile Process</vt:lpstr>
      <vt:lpstr>Agility Principles</vt:lpstr>
      <vt:lpstr>Where agile methodology not work</vt:lpstr>
      <vt:lpstr>Agile Process Models</vt:lpstr>
      <vt:lpstr>Extreme Programming (XP)</vt:lpstr>
      <vt:lpstr>The XP Process</vt:lpstr>
      <vt:lpstr>User story examples</vt:lpstr>
      <vt:lpstr>The XP Process cont.</vt:lpstr>
      <vt:lpstr>CRC(Class-Responsibility-Collaboration) Card for Library</vt:lpstr>
      <vt:lpstr>What is Scrum?</vt:lpstr>
      <vt:lpstr>Scrum framework at a glance</vt:lpstr>
      <vt:lpstr>Scrum cont.</vt:lpstr>
      <vt:lpstr>Scrum cont.</vt:lpstr>
      <vt:lpstr>Adaptive Software development (ASD)</vt:lpstr>
      <vt:lpstr>Adaptive Software development (ASD) cont.</vt:lpstr>
      <vt:lpstr>Dynamic Systems Development Methods (DSDM)</vt:lpstr>
      <vt:lpstr>Feature Driven Development (FDD)</vt:lpstr>
      <vt:lpstr>Feature Driven Development (FDD) cont.</vt:lpstr>
      <vt:lpstr>Traditional vs. Agile Software Development</vt:lpstr>
      <vt:lpstr>Agile Scrum Framework</vt:lpstr>
      <vt:lpstr>PowerPoint Presentation</vt:lpstr>
      <vt:lpstr>Introduction to Scrum</vt:lpstr>
      <vt:lpstr>Agile Estimation</vt:lpstr>
      <vt:lpstr>What is Planning Poker?</vt:lpstr>
      <vt:lpstr>What is Planning Poker?</vt:lpstr>
      <vt:lpstr>Planning Poker estimation Cont.</vt:lpstr>
      <vt:lpstr>T-Shirt Sizes Estimation</vt:lpstr>
      <vt:lpstr>T-Shirt Sizes Estimation Cont.</vt:lpstr>
      <vt:lpstr>T-Shirt Sizes Estimation Cont.</vt:lpstr>
      <vt:lpstr>T-Shirt Sizes Estimation Cont.</vt:lpstr>
      <vt:lpstr>Scrum Roles and Responsibilities</vt:lpstr>
      <vt:lpstr>Product owner  - Scrum Roles and Responsibilities </vt:lpstr>
      <vt:lpstr>Scrum Master - Scrum Roles and Responsibilities  </vt:lpstr>
      <vt:lpstr>Scrum Master - Scrum Roles and Responsibilities Cont.</vt:lpstr>
      <vt:lpstr>Development Team - Scrum Roles and Responsibilities </vt:lpstr>
      <vt:lpstr>The scrum Phases</vt:lpstr>
      <vt:lpstr>1. Initiate: the scrum Phases Cont.</vt:lpstr>
      <vt:lpstr>1. Initiate: the scrum Phases Cont.</vt:lpstr>
      <vt:lpstr>2. Plan and Estimate: the scrum Phases</vt:lpstr>
      <vt:lpstr>2. Plan and Estimate: the scrum Phases Cont.</vt:lpstr>
      <vt:lpstr>3. Implement: the scrum Phases</vt:lpstr>
      <vt:lpstr>4. Review and Retrospect - the scrum Phases</vt:lpstr>
      <vt:lpstr>5. Release - the scrum Phases Cont.</vt:lpstr>
      <vt:lpstr>Typical Sprint Phases</vt:lpstr>
      <vt:lpstr>Product Backlog - Sprint Phases</vt:lpstr>
      <vt:lpstr>Product Backlog - Sprint Phases Cont.</vt:lpstr>
      <vt:lpstr>Sample Product Backlog - Sprint Phases Cont.</vt:lpstr>
      <vt:lpstr>Sprint Planning - Sprint Phases</vt:lpstr>
      <vt:lpstr>Sprint Planning - Sprint Phases Cont.</vt:lpstr>
      <vt:lpstr>Sprint Backlog - Sprint Phases </vt:lpstr>
      <vt:lpstr>Sprint - Sprint Phases </vt:lpstr>
      <vt:lpstr>Daily Scrum Meeting - Sprint Phases </vt:lpstr>
      <vt:lpstr>Sprint Review</vt:lpstr>
      <vt:lpstr>Sprint Retrospective</vt:lpstr>
      <vt:lpstr>MVP (Minimum Viable Product)</vt:lpstr>
      <vt:lpstr>Burn Down Chart</vt:lpstr>
      <vt:lpstr>Burn Down Chart Cont.</vt:lpstr>
      <vt:lpstr>Burn Down Chart Cont.</vt:lpstr>
      <vt:lpstr>Question</vt:lpstr>
      <vt:lpstr>Question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Rajkumar Gondaliya</cp:lastModifiedBy>
  <cp:revision>183</cp:revision>
  <dcterms:created xsi:type="dcterms:W3CDTF">2020-05-01T05:09:15Z</dcterms:created>
  <dcterms:modified xsi:type="dcterms:W3CDTF">2024-12-08T12:29:07Z</dcterms:modified>
</cp:coreProperties>
</file>