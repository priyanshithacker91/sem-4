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1"/>
  </p:notesMasterIdLst>
  <p:sldIdLst>
    <p:sldId id="308" r:id="rId2"/>
    <p:sldId id="352" r:id="rId3"/>
    <p:sldId id="353" r:id="rId4"/>
    <p:sldId id="406" r:id="rId5"/>
    <p:sldId id="310" r:id="rId6"/>
    <p:sldId id="407" r:id="rId7"/>
    <p:sldId id="403" r:id="rId8"/>
    <p:sldId id="311" r:id="rId9"/>
    <p:sldId id="395" r:id="rId10"/>
    <p:sldId id="364" r:id="rId11"/>
    <p:sldId id="391" r:id="rId12"/>
    <p:sldId id="365" r:id="rId13"/>
    <p:sldId id="366" r:id="rId14"/>
    <p:sldId id="367" r:id="rId15"/>
    <p:sldId id="368" r:id="rId16"/>
    <p:sldId id="369" r:id="rId17"/>
    <p:sldId id="392" r:id="rId18"/>
    <p:sldId id="394" r:id="rId19"/>
    <p:sldId id="312" r:id="rId20"/>
    <p:sldId id="396" r:id="rId21"/>
    <p:sldId id="400" r:id="rId22"/>
    <p:sldId id="397" r:id="rId23"/>
    <p:sldId id="398" r:id="rId24"/>
    <p:sldId id="399" r:id="rId25"/>
    <p:sldId id="401" r:id="rId26"/>
    <p:sldId id="313" r:id="rId27"/>
    <p:sldId id="414" r:id="rId28"/>
    <p:sldId id="362" r:id="rId29"/>
    <p:sldId id="415" r:id="rId30"/>
    <p:sldId id="359" r:id="rId31"/>
    <p:sldId id="360" r:id="rId32"/>
    <p:sldId id="361" r:id="rId33"/>
    <p:sldId id="316" r:id="rId34"/>
    <p:sldId id="356" r:id="rId35"/>
    <p:sldId id="357" r:id="rId36"/>
    <p:sldId id="408" r:id="rId37"/>
    <p:sldId id="314" r:id="rId38"/>
    <p:sldId id="416" r:id="rId39"/>
    <p:sldId id="315" r:id="rId40"/>
    <p:sldId id="370" r:id="rId41"/>
    <p:sldId id="410" r:id="rId42"/>
    <p:sldId id="409" r:id="rId43"/>
    <p:sldId id="411" r:id="rId44"/>
    <p:sldId id="412" r:id="rId45"/>
    <p:sldId id="413" r:id="rId46"/>
    <p:sldId id="417" r:id="rId47"/>
    <p:sldId id="324" r:id="rId48"/>
    <p:sldId id="332" r:id="rId49"/>
    <p:sldId id="325" r:id="rId50"/>
    <p:sldId id="326" r:id="rId51"/>
    <p:sldId id="330" r:id="rId52"/>
    <p:sldId id="328" r:id="rId53"/>
    <p:sldId id="329" r:id="rId54"/>
    <p:sldId id="331" r:id="rId55"/>
    <p:sldId id="333" r:id="rId56"/>
    <p:sldId id="334" r:id="rId57"/>
    <p:sldId id="418" r:id="rId58"/>
    <p:sldId id="335" r:id="rId59"/>
    <p:sldId id="336" r:id="rId60"/>
    <p:sldId id="338" r:id="rId61"/>
    <p:sldId id="339" r:id="rId62"/>
    <p:sldId id="340" r:id="rId63"/>
    <p:sldId id="345" r:id="rId64"/>
    <p:sldId id="341" r:id="rId65"/>
    <p:sldId id="342" r:id="rId66"/>
    <p:sldId id="344" r:id="rId67"/>
    <p:sldId id="355" r:id="rId68"/>
    <p:sldId id="371" r:id="rId69"/>
    <p:sldId id="372" r:id="rId70"/>
  </p:sldIdLst>
  <p:sldSz cx="12192000" cy="6858000"/>
  <p:notesSz cx="6858000" cy="9144000"/>
  <p:embeddedFontLst>
    <p:embeddedFont>
      <p:font typeface="Wingdings 3" panose="05040102010807070707" pitchFamily="18" charset="2"/>
      <p:regular r:id="rId72"/>
    </p:embeddedFont>
    <p:embeddedFont>
      <p:font typeface="Roboto Condensed Light" panose="02000000000000000000" pitchFamily="2" charset="0"/>
      <p:regular r:id="rId73"/>
      <p:italic r:id="rId74"/>
    </p:embeddedFont>
    <p:embeddedFont>
      <p:font typeface="Wingdings 2" panose="05020102010507070707" pitchFamily="18" charset="2"/>
      <p:regular r:id="rId75"/>
    </p:embeddedFont>
    <p:embeddedFont>
      <p:font typeface="Segoe UI Black" panose="020B0A02040204020203" pitchFamily="34" charset="0"/>
      <p:bold r:id="rId76"/>
      <p:boldItalic r:id="rId77"/>
    </p:embeddedFont>
    <p:embeddedFont>
      <p:font typeface="Calibri" panose="020F0502020204030204" pitchFamily="34" charset="0"/>
      <p:regular r:id="rId78"/>
      <p:bold r:id="rId79"/>
      <p:italic r:id="rId80"/>
      <p:boldItalic r:id="rId81"/>
    </p:embeddedFont>
    <p:embeddedFont>
      <p:font typeface="Consolas" panose="020B0609020204030204" pitchFamily="49" charset="0"/>
      <p:regular r:id="rId82"/>
      <p:bold r:id="rId83"/>
      <p:italic r:id="rId84"/>
      <p:boldItalic r:id="rId85"/>
    </p:embeddedFont>
    <p:embeddedFont>
      <p:font typeface="Roboto Condensed" panose="02000000000000000000" pitchFamily="2" charset="0"/>
      <p:regular r:id="rId86"/>
      <p:bold r:id="rId87"/>
      <p:italic r:id="rId88"/>
      <p:boldItalic r:id="rId8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Ydvd1TDbB6oeU2muBkzA4A==" hashData="HVzPSddEGA82KsKjWxYIUYgK35x3HFGvvWCX4IJHdgXPvFvLXASEvnRo1Owitd2c09Q0TXdXABO58mvJBlWKFA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1A60"/>
    <a:srgbClr val="301B92"/>
    <a:srgbClr val="673BB7"/>
    <a:srgbClr val="607D8B"/>
    <a:srgbClr val="ED524F"/>
    <a:srgbClr val="B71B1C"/>
    <a:srgbClr val="F54337"/>
    <a:srgbClr val="890E4F"/>
    <a:srgbClr val="EA1E63"/>
    <a:srgbClr val="C6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18" autoAdjust="0"/>
    <p:restoredTop sz="94660"/>
  </p:normalViewPr>
  <p:slideViewPr>
    <p:cSldViewPr snapToGrid="0">
      <p:cViewPr varScale="1">
        <p:scale>
          <a:sx n="87" d="100"/>
          <a:sy n="87" d="100"/>
        </p:scale>
        <p:origin x="710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3.fntdata"/><Relationship Id="rId89" Type="http://schemas.openxmlformats.org/officeDocument/2006/relationships/font" Target="fonts/font18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3.fntdata"/><Relationship Id="rId79" Type="http://schemas.openxmlformats.org/officeDocument/2006/relationships/font" Target="fonts/font8.fntdata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.fntdata"/><Relationship Id="rId80" Type="http://schemas.openxmlformats.org/officeDocument/2006/relationships/font" Target="fonts/font9.fntdata"/><Relationship Id="rId85" Type="http://schemas.openxmlformats.org/officeDocument/2006/relationships/font" Target="fonts/font14.fntdata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4.fntdata"/><Relationship Id="rId83" Type="http://schemas.openxmlformats.org/officeDocument/2006/relationships/font" Target="fonts/font12.fntdata"/><Relationship Id="rId88" Type="http://schemas.openxmlformats.org/officeDocument/2006/relationships/font" Target="fonts/font17.fntdata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2.fntdata"/><Relationship Id="rId78" Type="http://schemas.openxmlformats.org/officeDocument/2006/relationships/font" Target="fonts/font7.fntdata"/><Relationship Id="rId81" Type="http://schemas.openxmlformats.org/officeDocument/2006/relationships/font" Target="fonts/font10.fntdata"/><Relationship Id="rId86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5.fntdata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6.fntdata"/><Relationship Id="rId61" Type="http://schemas.openxmlformats.org/officeDocument/2006/relationships/slide" Target="slides/slide60.xml"/><Relationship Id="rId82" Type="http://schemas.openxmlformats.org/officeDocument/2006/relationships/font" Target="fonts/font1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4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31716" y="307556"/>
            <a:ext cx="2702140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3F8D339-A0AA-4150-B7E8-C84E7F2AB7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29689" y="813992"/>
            <a:ext cx="1931131" cy="58745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12BAB0-1CB8-413D-970D-4F482F1A0EDB}"/>
              </a:ext>
            </a:extLst>
          </p:cNvPr>
          <p:cNvSpPr/>
          <p:nvPr userDrawn="1"/>
        </p:nvSpPr>
        <p:spPr>
          <a:xfrm>
            <a:off x="9678128" y="764317"/>
            <a:ext cx="2554142" cy="5874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2301CS404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Python, Object and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1180" y="895352"/>
            <a:ext cx="11929640" cy="5558657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32187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1F51F16C-249B-E345-B841-8128601D1D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3386" y="5940670"/>
            <a:ext cx="1649042" cy="50128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6E1CEFF-5022-B343-970D-93BF7837B193}"/>
              </a:ext>
            </a:extLst>
          </p:cNvPr>
          <p:cNvSpPr/>
          <p:nvPr userDrawn="1"/>
        </p:nvSpPr>
        <p:spPr>
          <a:xfrm>
            <a:off x="10313387" y="5940670"/>
            <a:ext cx="1649042" cy="50128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005C2D9D-009B-9EB6-82C4-B7A969649391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E7070E7-D463-5A8C-E033-4ECEE4C20A6E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2301CS404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Python, Object and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02C0DDD-3E9D-6FA2-01AF-80EEB51198D5}"/>
              </a:ext>
            </a:extLst>
          </p:cNvPr>
          <p:cNvSpPr/>
          <p:nvPr userDrawn="1"/>
        </p:nvSpPr>
        <p:spPr>
          <a:xfrm>
            <a:off x="0" y="5554716"/>
            <a:ext cx="2554142" cy="75530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71450" y="863444"/>
            <a:ext cx="11889371" cy="561437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856EAF62-25EF-CE1D-88DD-7E37C05998C3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10E5F5-5C01-BC13-1D9D-9B9FB3CE86D9}"/>
              </a:ext>
            </a:extLst>
          </p:cNvPr>
          <p:cNvGrpSpPr/>
          <p:nvPr userDrawn="1"/>
        </p:nvGrpSpPr>
        <p:grpSpPr>
          <a:xfrm>
            <a:off x="75479" y="5848750"/>
            <a:ext cx="2554142" cy="587454"/>
            <a:chOff x="131178" y="5775962"/>
            <a:chExt cx="2530238" cy="58195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4882651-041F-B108-92F9-8D0C482FDB6D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BA7640B-DE7F-A09A-1943-190EBBAFE6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39767" y="5775962"/>
              <a:ext cx="1913058" cy="581955"/>
            </a:xfrm>
            <a:prstGeom prst="rect">
              <a:avLst/>
            </a:prstGeom>
          </p:spPr>
        </p:pic>
      </p:grp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9340BFD3-7AE9-8A90-F297-21D579DBAAD8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2301CS404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Python, Object and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525FD31-DBEE-9A49-8D30-8AA370CD1AC6}"/>
              </a:ext>
            </a:extLst>
          </p:cNvPr>
          <p:cNvGrpSpPr/>
          <p:nvPr userDrawn="1"/>
        </p:nvGrpSpPr>
        <p:grpSpPr>
          <a:xfrm>
            <a:off x="10313386" y="6223181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E2024B0-256A-DE40-97A3-3554EEB4DE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7E3F7EC-9A5A-AA4D-ADD8-31449DFF979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6" y="99192"/>
            <a:ext cx="2554142" cy="587454"/>
            <a:chOff x="131178" y="5775962"/>
            <a:chExt cx="2530238" cy="58195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39767" y="5775962"/>
              <a:ext cx="1913058" cy="581955"/>
            </a:xfrm>
            <a:prstGeom prst="rect">
              <a:avLst/>
            </a:prstGeom>
          </p:spPr>
        </p:pic>
      </p:grp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71DE99F3-0128-5445-E186-1CE78E6C11DC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2CBED7B-5100-8AC7-CB6D-6972AE8053EF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2301CS404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Python, Object and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6" y="5890392"/>
            <a:ext cx="2554142" cy="587454"/>
            <a:chOff x="131178" y="5775962"/>
            <a:chExt cx="2530238" cy="58195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39767" y="5775962"/>
              <a:ext cx="1913058" cy="581955"/>
            </a:xfrm>
            <a:prstGeom prst="rect">
              <a:avLst/>
            </a:prstGeom>
          </p:spPr>
        </p:pic>
      </p:grp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7D5E867D-AF4C-0DF5-88B0-64A003DF62C5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80E67B4-E064-17F5-433D-7ECD6F730F73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2301CS404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Python, Object and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6" y="5890392"/>
            <a:ext cx="2554142" cy="587454"/>
            <a:chOff x="131178" y="5775962"/>
            <a:chExt cx="2530238" cy="58195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39767" y="5775962"/>
              <a:ext cx="1913058" cy="581955"/>
            </a:xfrm>
            <a:prstGeom prst="rect">
              <a:avLst/>
            </a:prstGeom>
          </p:spPr>
        </p:pic>
      </p:grp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B06346B7-A07D-2EA4-FC24-B861772FA0E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496A798-7FE5-59DF-9F03-8EE8FA0CC7F9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2301CS404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Python, Object and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FBF56C4-A1BE-EE44-A786-4A827E0E8E1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721" y="318857"/>
            <a:ext cx="2976891" cy="904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026A30E-B0EE-991E-0979-12649F2AAFA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Unit-01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Introduction to Python, Object and Data Structure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shruti.maniar@darshan.ac.in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3760C-09CC-1D19-AE75-4D7848D5D6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Shruti R. Maniar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Python Programming(</a:t>
            </a:r>
            <a:r>
              <a:rPr lang="en-IN" sz="1800" dirty="0">
                <a:effectLst/>
                <a:latin typeface="Roboto Condensed" panose="02000000000000000000" pitchFamily="2" charset="0"/>
              </a:rPr>
              <a:t>2301CS404</a:t>
            </a:r>
            <a:r>
              <a:rPr lang="en-IN" dirty="0"/>
              <a:t>)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161DE45-276D-7849-BC99-BAB0D00EC1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2436520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3622876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12385"/>
            <a:ext cx="4909938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Introduction to python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Features of python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Installing python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Hello World program using python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Indentations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Print() function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Input() function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Data types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Variables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Expressions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Functions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String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List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Tuple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Set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Dictionary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List Comprehension</a:t>
            </a:r>
          </a:p>
          <a:p>
            <a:pPr indent="446088">
              <a:buFont typeface="Wingdings" pitchFamily="2" charset="2"/>
              <a:buChar char="ü"/>
            </a:pPr>
            <a:endParaRPr lang="en-US" sz="2000" dirty="0"/>
          </a:p>
          <a:p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4FDAE-63DF-8D47-AAF3-9CE3DE8C9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0CECFDBB-80A6-A340-8B02-E63C62DFA3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2995441"/>
              </p:ext>
            </p:extLst>
          </p:nvPr>
        </p:nvGraphicFramePr>
        <p:xfrm>
          <a:off x="457200" y="947212"/>
          <a:ext cx="4780844" cy="349869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788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2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147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Sr. No.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Unit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4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/>
                        <a:t>Introduction to Python, Object and Data Structure	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4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/>
                        <a:t>Python Operators, Conditional and Looping Statements, Functions in Python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12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/>
                        <a:t> File IO in Python, Exception handling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12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/>
                        <a:t> Modules, 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Matplotlib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99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Object Oriented Programming with Python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CEEF694-0F3C-9249-A97A-DF55B0465232}"/>
              </a:ext>
            </a:extLst>
          </p:cNvPr>
          <p:cNvSpPr/>
          <p:nvPr/>
        </p:nvSpPr>
        <p:spPr>
          <a:xfrm>
            <a:off x="5350545" y="947212"/>
            <a:ext cx="6639959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Reference Book:</a:t>
            </a:r>
          </a:p>
          <a:p>
            <a:endParaRPr lang="en-US" sz="1400" dirty="0"/>
          </a:p>
          <a:p>
            <a:pPr marL="342900" indent="-342900">
              <a:buFontTx/>
              <a:buAutoNum type="arabicParenR"/>
            </a:pPr>
            <a:r>
              <a:rPr lang="en-US" sz="1600" dirty="0"/>
              <a:t>Introduction to Computation and Programming Using Python</a:t>
            </a:r>
          </a:p>
          <a:p>
            <a:pPr marL="342900" indent="-342900">
              <a:buFontTx/>
              <a:buAutoNum type="arabicParenR"/>
            </a:pPr>
            <a:r>
              <a:rPr lang="en-US" sz="1600" dirty="0"/>
              <a:t>Core Python Programming by R. Nageswara Rao</a:t>
            </a:r>
          </a:p>
          <a:p>
            <a:pPr marL="342900" indent="-342900">
              <a:buAutoNum type="arabicParenR"/>
            </a:pPr>
            <a:r>
              <a:rPr lang="en-US" sz="1600" dirty="0"/>
              <a:t>Core Python Programming by  Wesley J. Chun </a:t>
            </a:r>
          </a:p>
          <a:p>
            <a:pPr marL="342900" indent="-342900">
              <a:buAutoNum type="arabicParenR"/>
            </a:pPr>
            <a:r>
              <a:rPr lang="en-US" sz="1600" dirty="0"/>
              <a:t>Programming in Python 3 : A Complete Introduction to the Python Language</a:t>
            </a:r>
          </a:p>
        </p:txBody>
      </p:sp>
    </p:spTree>
    <p:extLst>
      <p:ext uri="{BB962C8B-B14F-4D97-AF65-F5344CB8AC3E}">
        <p14:creationId xmlns:p14="http://schemas.microsoft.com/office/powerpoint/2010/main" val="936464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31E3-ECBC-F381-3340-D902C868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2D3247-A647-CFE8-CA94-07842920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- Introduction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09A34B-9E5C-040B-BA85-A85544572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212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Python's creator thinks it has a diversity problem — Quartz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46584" y="1663700"/>
            <a:ext cx="2645416" cy="223096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is an </a:t>
            </a:r>
            <a:r>
              <a:rPr lang="en-US" b="1" dirty="0">
                <a:solidFill>
                  <a:srgbClr val="C00000"/>
                </a:solidFill>
              </a:rPr>
              <a:t>open source, interpreted, high-level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b="1" dirty="0">
                <a:solidFill>
                  <a:srgbClr val="C00000"/>
                </a:solidFill>
              </a:rPr>
              <a:t>general-purpose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programming language.</a:t>
            </a:r>
          </a:p>
          <a:p>
            <a:r>
              <a:rPr lang="en-US" dirty="0"/>
              <a:t>Python's design philosophy emphasizes </a:t>
            </a:r>
            <a:r>
              <a:rPr lang="en-US" b="1" dirty="0">
                <a:solidFill>
                  <a:srgbClr val="C00000"/>
                </a:solidFill>
              </a:rPr>
              <a:t>code readability </a:t>
            </a:r>
            <a:r>
              <a:rPr lang="en-US" dirty="0"/>
              <a:t>with its notable use of significant </a:t>
            </a:r>
            <a:r>
              <a:rPr lang="en-US" b="1" dirty="0">
                <a:solidFill>
                  <a:srgbClr val="C00000"/>
                </a:solidFill>
              </a:rPr>
              <a:t>whitespace</a:t>
            </a:r>
            <a:r>
              <a:rPr lang="en-US" dirty="0"/>
              <a:t>.</a:t>
            </a:r>
          </a:p>
          <a:p>
            <a:r>
              <a:rPr lang="en-US" dirty="0"/>
              <a:t>Python is </a:t>
            </a:r>
            <a:r>
              <a:rPr lang="en-US" b="1" dirty="0">
                <a:solidFill>
                  <a:srgbClr val="C00000"/>
                </a:solidFill>
              </a:rPr>
              <a:t>dynamically typed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garbage-collected </a:t>
            </a:r>
            <a:r>
              <a:rPr lang="en-US" dirty="0"/>
              <a:t>language</a:t>
            </a:r>
            <a:r>
              <a:rPr lang="en-US" b="1" dirty="0"/>
              <a:t>.</a:t>
            </a:r>
          </a:p>
          <a:p>
            <a:r>
              <a:rPr lang="en-US" dirty="0"/>
              <a:t>Python was conceived in the late </a:t>
            </a:r>
            <a:r>
              <a:rPr lang="en-US" b="1" dirty="0">
                <a:solidFill>
                  <a:srgbClr val="C00000"/>
                </a:solidFill>
              </a:rPr>
              <a:t>1980s</a:t>
            </a:r>
            <a:r>
              <a:rPr lang="en-US" dirty="0"/>
              <a:t> as a successor to the </a:t>
            </a:r>
            <a:r>
              <a:rPr lang="en-US" b="1" dirty="0">
                <a:solidFill>
                  <a:srgbClr val="C00000"/>
                </a:solidFill>
              </a:rPr>
              <a:t>ABC language</a:t>
            </a:r>
            <a:r>
              <a:rPr lang="en-US" dirty="0"/>
              <a:t>.</a:t>
            </a:r>
          </a:p>
          <a:p>
            <a:r>
              <a:rPr lang="en-US" dirty="0"/>
              <a:t>Python was Created by </a:t>
            </a:r>
            <a:r>
              <a:rPr lang="en-US" b="1" dirty="0">
                <a:solidFill>
                  <a:srgbClr val="C00000"/>
                </a:solidFill>
              </a:rPr>
              <a:t>Guido van </a:t>
            </a:r>
            <a:r>
              <a:rPr lang="en-US" b="1" dirty="0" err="1">
                <a:solidFill>
                  <a:srgbClr val="C00000"/>
                </a:solidFill>
              </a:rPr>
              <a:t>Rossum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and first released in </a:t>
            </a:r>
            <a:r>
              <a:rPr lang="en-US" b="1" dirty="0">
                <a:solidFill>
                  <a:srgbClr val="C00000"/>
                </a:solidFill>
              </a:rPr>
              <a:t>1991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C00000"/>
                </a:solidFill>
              </a:rPr>
              <a:t>Python 2.0</a:t>
            </a:r>
            <a:r>
              <a:rPr lang="en-US" dirty="0"/>
              <a:t>, released in </a:t>
            </a:r>
            <a:r>
              <a:rPr lang="en-US" b="1" dirty="0">
                <a:solidFill>
                  <a:srgbClr val="C00000"/>
                </a:solidFill>
              </a:rPr>
              <a:t>2000</a:t>
            </a:r>
            <a:r>
              <a:rPr lang="en-US" dirty="0"/>
              <a:t>, </a:t>
            </a:r>
          </a:p>
          <a:p>
            <a:pPr lvl="1"/>
            <a:r>
              <a:rPr lang="en-US" dirty="0"/>
              <a:t>introduced features like list comprehensions and a garbage collection system with reference counting.</a:t>
            </a:r>
          </a:p>
          <a:p>
            <a:r>
              <a:rPr lang="en-IN" b="1" dirty="0">
                <a:solidFill>
                  <a:srgbClr val="C00000"/>
                </a:solidFill>
              </a:rPr>
              <a:t>Python 3.0 </a:t>
            </a:r>
            <a:r>
              <a:rPr lang="en-IN" dirty="0"/>
              <a:t>released in </a:t>
            </a:r>
            <a:r>
              <a:rPr lang="en-IN" b="1" dirty="0">
                <a:solidFill>
                  <a:srgbClr val="C00000"/>
                </a:solidFill>
              </a:rPr>
              <a:t>2008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current version of python is </a:t>
            </a:r>
            <a:r>
              <a:rPr lang="en-IN" b="1" dirty="0"/>
              <a:t>3.13.0</a:t>
            </a:r>
            <a:r>
              <a:rPr lang="en-IN" dirty="0"/>
              <a:t> (as of Nov 2024)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Python 2 language was officially discontinued in 2020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50AC9-CB5B-4B0A-48C2-DCDFEC89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EF4C7B-8F06-9417-D856-7D49AEC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- Features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BF2EE8-8B9C-C559-8923-E73C325F9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666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3D588-E1F0-7AB7-3CD1-543425B11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86A69-386E-E40D-0696-45DB02D11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of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7B7EC-A341-4C0B-A1F1-AA4D3A9DF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Easy to use</a:t>
            </a:r>
          </a:p>
          <a:p>
            <a:pPr lvl="1"/>
            <a:r>
              <a:rPr lang="en-IN" dirty="0"/>
              <a:t>Python is a</a:t>
            </a:r>
            <a:r>
              <a:rPr lang="en-IN" b="1" dirty="0"/>
              <a:t> high-level programming language</a:t>
            </a:r>
            <a:r>
              <a:rPr lang="en-IN" dirty="0"/>
              <a:t> that has English-like syntax. This makes it easier to read and understand the code.</a:t>
            </a:r>
          </a:p>
          <a:p>
            <a:r>
              <a:rPr lang="en-IN" dirty="0">
                <a:solidFill>
                  <a:srgbClr val="C00000"/>
                </a:solidFill>
              </a:rPr>
              <a:t>Dynamically Typed Language</a:t>
            </a:r>
          </a:p>
          <a:p>
            <a:pPr lvl="1"/>
            <a:r>
              <a:rPr lang="en-IN" dirty="0"/>
              <a:t>Python automatically assigns the data type during </a:t>
            </a:r>
            <a:r>
              <a:rPr lang="en-IN" b="1" dirty="0"/>
              <a:t>execution</a:t>
            </a:r>
            <a:r>
              <a:rPr lang="en-IN" dirty="0"/>
              <a:t>. The programmer doesn’t need to worry about declaring variables and their data types.</a:t>
            </a:r>
            <a:endParaRPr lang="en-IN" dirty="0">
              <a:solidFill>
                <a:srgbClr val="C00000"/>
              </a:solidFill>
            </a:endParaRPr>
          </a:p>
          <a:p>
            <a:r>
              <a:rPr lang="en-IN" dirty="0">
                <a:solidFill>
                  <a:srgbClr val="C00000"/>
                </a:solidFill>
              </a:rPr>
              <a:t>Vast Libraries Support</a:t>
            </a:r>
          </a:p>
          <a:p>
            <a:pPr lvl="1"/>
            <a:r>
              <a:rPr lang="en-IN" dirty="0"/>
              <a:t>The standard library of Python is huge, you can find almost all the functions needed for your task. So, you don’t have to depend on external libraries.</a:t>
            </a:r>
            <a:endParaRPr lang="en-IN" dirty="0">
              <a:solidFill>
                <a:srgbClr val="C00000"/>
              </a:solidFill>
            </a:endParaRPr>
          </a:p>
          <a:p>
            <a:r>
              <a:rPr lang="en-IN" dirty="0">
                <a:solidFill>
                  <a:srgbClr val="C00000"/>
                </a:solidFill>
              </a:rPr>
              <a:t>Free and Open-Source</a:t>
            </a:r>
          </a:p>
          <a:p>
            <a:pPr lvl="1"/>
            <a:r>
              <a:rPr lang="en-IN" dirty="0"/>
              <a:t>Python comes under the OSI approved open-source license. This makes it free to use and distribute. </a:t>
            </a:r>
          </a:p>
          <a:p>
            <a:pPr lvl="1"/>
            <a:r>
              <a:rPr lang="en-US" dirty="0"/>
              <a:t>The Python Software Foundation distributes pre-made binaries(precompiled versions of the Python interpreter and standard library) that are freely available for use on all major operating systems called </a:t>
            </a:r>
            <a:r>
              <a:rPr lang="en-US" dirty="0" err="1"/>
              <a:t>CPython</a:t>
            </a:r>
            <a:r>
              <a:rPr lang="en-US" dirty="0"/>
              <a:t>.</a:t>
            </a:r>
            <a:endParaRPr lang="en-IN" dirty="0"/>
          </a:p>
          <a:p>
            <a:pPr lvl="1"/>
            <a:r>
              <a:rPr lang="en-US" dirty="0"/>
              <a:t>You can get </a:t>
            </a:r>
            <a:r>
              <a:rPr lang="en-US" dirty="0" err="1"/>
              <a:t>CPython’s</a:t>
            </a:r>
            <a:r>
              <a:rPr lang="en-US" dirty="0"/>
              <a:t> source-code, too. Plus, you can modify the source code and distribute it as allowed by </a:t>
            </a:r>
            <a:r>
              <a:rPr lang="en-US" dirty="0" err="1"/>
              <a:t>CPython’s</a:t>
            </a:r>
            <a:r>
              <a:rPr lang="en-US" dirty="0"/>
              <a:t> license.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345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of Python (cont..)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75893"/>
            <a:ext cx="11929641" cy="4827236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Portability</a:t>
            </a:r>
          </a:p>
          <a:p>
            <a:pPr lvl="1"/>
            <a:r>
              <a:rPr lang="en-IN" dirty="0"/>
              <a:t>In many languages like C/C++, you need to change your </a:t>
            </a:r>
            <a:r>
              <a:rPr lang="en-IN" b="1" dirty="0"/>
              <a:t>code</a:t>
            </a:r>
            <a:r>
              <a:rPr lang="en-IN" dirty="0"/>
              <a:t> to run the program on different platforms. That is not the same with Python. You only write once and run it anywhere.</a:t>
            </a:r>
          </a:p>
          <a:p>
            <a:pPr lvl="1"/>
            <a:r>
              <a:rPr lang="en-US" dirty="0"/>
              <a:t>Python runs on all major operating systems like Microsoft Windows, Linux, and Mac OS X.</a:t>
            </a:r>
            <a:endParaRPr lang="en-IN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High-Level Language</a:t>
            </a:r>
            <a:endParaRPr lang="en-IN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Python looks more like a readable, human language than like a low-level language. </a:t>
            </a:r>
            <a:endParaRPr lang="en-IN" dirty="0"/>
          </a:p>
          <a:p>
            <a:pPr lvl="1"/>
            <a:r>
              <a:rPr lang="en-US" dirty="0"/>
              <a:t>This gives you the ability to program at a faster rate.</a:t>
            </a:r>
            <a:endParaRPr lang="en-IN" dirty="0">
              <a:solidFill>
                <a:srgbClr val="C00000"/>
              </a:solidFill>
            </a:endParaRPr>
          </a:p>
          <a:p>
            <a:r>
              <a:rPr lang="en-IN" dirty="0">
                <a:solidFill>
                  <a:srgbClr val="C00000"/>
                </a:solidFill>
              </a:rPr>
              <a:t>Improved Productivity</a:t>
            </a:r>
          </a:p>
          <a:p>
            <a:pPr lvl="1"/>
            <a:r>
              <a:rPr lang="en-IN" dirty="0"/>
              <a:t>Python is a very </a:t>
            </a:r>
            <a:r>
              <a:rPr lang="en-IN" b="1" dirty="0"/>
              <a:t>productive language</a:t>
            </a:r>
            <a:r>
              <a:rPr lang="en-IN" dirty="0"/>
              <a:t>. Due to the simplicity, developers can focus on solving the problem.</a:t>
            </a:r>
          </a:p>
          <a:p>
            <a:r>
              <a:rPr lang="en-IN" dirty="0">
                <a:solidFill>
                  <a:srgbClr val="C00000"/>
                </a:solidFill>
              </a:rPr>
              <a:t>Interpreted Language</a:t>
            </a:r>
          </a:p>
          <a:p>
            <a:pPr lvl="1"/>
            <a:r>
              <a:rPr lang="en-IN" dirty="0"/>
              <a:t>Python is an interpreted language which means that Python directly</a:t>
            </a:r>
            <a:r>
              <a:rPr lang="en-IN" b="1" dirty="0"/>
              <a:t> executes the code</a:t>
            </a:r>
            <a:r>
              <a:rPr lang="en-IN" dirty="0"/>
              <a:t> line by line. In case of any error, it stops further execution and reports back the error which has occurred.</a:t>
            </a:r>
          </a:p>
          <a:p>
            <a:r>
              <a:rPr lang="en-US" dirty="0">
                <a:solidFill>
                  <a:srgbClr val="C00000"/>
                </a:solidFill>
              </a:rPr>
              <a:t>It’s Safe</a:t>
            </a:r>
          </a:p>
          <a:p>
            <a:pPr lvl="1"/>
            <a:r>
              <a:rPr lang="en-US" dirty="0"/>
              <a:t>Python doesn’t have pointers like other C-based languages, making it much more reliable.</a:t>
            </a:r>
          </a:p>
          <a:p>
            <a:pPr lvl="1"/>
            <a:r>
              <a:rPr lang="en-US" dirty="0"/>
              <a:t>Along with that, errors never pass silently unless they’re explicitly silenced. </a:t>
            </a:r>
            <a:endParaRPr lang="en-IN" dirty="0"/>
          </a:p>
          <a:p>
            <a:pPr lvl="1"/>
            <a:r>
              <a:rPr lang="en-US" dirty="0"/>
              <a:t>This allows you to see and read why the program crashed and where to correct your error. </a:t>
            </a:r>
            <a:endParaRPr lang="en-US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4EB143-9EDC-10E9-4DE9-EF5611789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- Installation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64F4B7-A690-164A-C08F-1904A6F7F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812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42150-EE49-3A42-AD1E-CC8F9572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– 1 Search Python on Google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64B7A7-199D-F1E2-B762-DE91A74F7B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576" y="807396"/>
            <a:ext cx="8316484" cy="552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566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23624-CADD-2DDB-4015-C3AB9E80E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E3A8C-DC78-BDAA-8A51-5898CE32D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Step-2 Open python.org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445566-8A8D-6E6D-7F54-9A227DF59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44" y="807395"/>
            <a:ext cx="9478748" cy="572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932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7F779-564C-074E-8E3B-A9B66697A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Step-3 Download the suitable installer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D7CA4-95B5-492F-60C6-A9868B9A23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5" t="6569" r="6921" b="10794"/>
          <a:stretch/>
        </p:blipFill>
        <p:spPr>
          <a:xfrm>
            <a:off x="914400" y="992222"/>
            <a:ext cx="8566484" cy="488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000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6A0DC-608F-8D4C-A52F-30C058483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Step-4 Run .exe and Select Customize installation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3F3F34-6E43-5F4F-8353-69328FAA35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233" y="941658"/>
            <a:ext cx="7822956" cy="5066109"/>
          </a:xfrm>
        </p:spPr>
      </p:pic>
    </p:spTree>
    <p:extLst>
      <p:ext uri="{BB962C8B-B14F-4D97-AF65-F5344CB8AC3E}">
        <p14:creationId xmlns:p14="http://schemas.microsoft.com/office/powerpoint/2010/main" val="3315019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A969-B983-D448-974C-6C1D78B2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Step-5 Select all Optional Features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A0C96E-95C0-194B-A7DC-7C267D9145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165" y="930507"/>
            <a:ext cx="7506929" cy="5093304"/>
          </a:xfrm>
        </p:spPr>
      </p:pic>
    </p:spTree>
    <p:extLst>
      <p:ext uri="{BB962C8B-B14F-4D97-AF65-F5344CB8AC3E}">
        <p14:creationId xmlns:p14="http://schemas.microsoft.com/office/powerpoint/2010/main" val="61897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69123-ADD8-1A40-A647-586EE4F13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Step-6 Select Advanced Options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3826B3-A19F-2D48-A28C-2AB653ADB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4499" y="919356"/>
            <a:ext cx="7658954" cy="4960076"/>
          </a:xfrm>
        </p:spPr>
      </p:pic>
    </p:spTree>
    <p:extLst>
      <p:ext uri="{BB962C8B-B14F-4D97-AF65-F5344CB8AC3E}">
        <p14:creationId xmlns:p14="http://schemas.microsoft.com/office/powerpoint/2010/main" val="143304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30E43-DB05-0A4E-8ED9-24337DC1C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Step-7 Installation Started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863F58-D36B-0349-A0A6-A415D4343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199" y="1022673"/>
            <a:ext cx="7987216" cy="486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139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08701-7641-D62F-E8B7-0A8BB9CF8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CFEA4-DB59-F48F-FE6D-855E7530F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Step-8 Installation Completed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9DC160-8400-F635-EA1C-0F142E5B3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9300" y="919490"/>
            <a:ext cx="7951142" cy="502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41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BB583-369A-21E8-DB83-233DA1C33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3032E-319D-F078-ABB1-D9071CCE2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Verify Successful Installation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523148-FD40-CE6C-A6A4-62D964FC7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2999" y="869614"/>
            <a:ext cx="5686268" cy="43175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92C015-8C1D-0396-5716-24D1BFD7E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92736" y="869614"/>
            <a:ext cx="5627716" cy="329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126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Installing Python for Linux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Command for installation :</a:t>
            </a:r>
          </a:p>
          <a:p>
            <a:pPr lvl="1"/>
            <a:r>
              <a:rPr lang="en-IN" dirty="0" err="1"/>
              <a:t>sudo</a:t>
            </a:r>
            <a:r>
              <a:rPr lang="en-IN" dirty="0"/>
              <a:t> apt-get update</a:t>
            </a:r>
          </a:p>
          <a:p>
            <a:pPr lvl="1"/>
            <a:r>
              <a:rPr lang="en-IN" dirty="0" err="1"/>
              <a:t>sudo</a:t>
            </a:r>
            <a:r>
              <a:rPr lang="en-IN" dirty="0"/>
              <a:t> apt-get install python3</a:t>
            </a:r>
          </a:p>
          <a:p>
            <a:r>
              <a:rPr lang="en-IN" dirty="0">
                <a:solidFill>
                  <a:srgbClr val="C00000"/>
                </a:solidFill>
              </a:rPr>
              <a:t>To verify the installation :</a:t>
            </a:r>
          </a:p>
          <a:p>
            <a:pPr lvl="1"/>
            <a:r>
              <a:rPr lang="en-IN" b="1" dirty="0"/>
              <a:t>python</a:t>
            </a:r>
            <a:r>
              <a:rPr lang="en-IN" b="1" dirty="0">
                <a:solidFill>
                  <a:srgbClr val="FF0000"/>
                </a:solidFill>
              </a:rPr>
              <a:t>3</a:t>
            </a:r>
            <a:r>
              <a:rPr lang="en-IN" dirty="0"/>
              <a:t> --version </a:t>
            </a:r>
          </a:p>
        </p:txBody>
      </p:sp>
    </p:spTree>
    <p:extLst>
      <p:ext uri="{BB962C8B-B14F-4D97-AF65-F5344CB8AC3E}">
        <p14:creationId xmlns:p14="http://schemas.microsoft.com/office/powerpoint/2010/main" val="79380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3B7DD-44CE-B8F1-A112-F166009E5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24442-CEAD-768D-C266-3CE5A7F5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Anaconda for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B0E45-97AE-53C3-F893-C029D124D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37108"/>
          </a:xfrm>
        </p:spPr>
        <p:txBody>
          <a:bodyPr/>
          <a:lstStyle/>
          <a:p>
            <a:r>
              <a:rPr lang="en-US" b="1" dirty="0"/>
              <a:t>Anaconda</a:t>
            </a:r>
            <a:r>
              <a:rPr lang="en-US" dirty="0"/>
              <a:t> is a popular open-source distribution of the Python and R programming languages.</a:t>
            </a:r>
          </a:p>
          <a:p>
            <a:r>
              <a:rPr lang="en-US" dirty="0"/>
              <a:t>Anaconda comes packed with a suite of powerful tools designed to enhance your data science and machine learning workflow. </a:t>
            </a:r>
          </a:p>
          <a:p>
            <a:r>
              <a:rPr lang="en-US" dirty="0"/>
              <a:t>Following are some most useful ones:</a:t>
            </a:r>
          </a:p>
          <a:p>
            <a:pPr lvl="1"/>
            <a:r>
              <a:rPr lang="en-IN" dirty="0" err="1"/>
              <a:t>Jupyter</a:t>
            </a:r>
            <a:r>
              <a:rPr lang="en-IN" dirty="0"/>
              <a:t> Notebook</a:t>
            </a:r>
          </a:p>
          <a:p>
            <a:pPr lvl="1"/>
            <a:r>
              <a:rPr lang="en-IN" dirty="0"/>
              <a:t>Spyder</a:t>
            </a:r>
          </a:p>
          <a:p>
            <a:pPr lvl="1"/>
            <a:r>
              <a:rPr lang="en-IN" dirty="0" err="1"/>
              <a:t>Rstudio</a:t>
            </a:r>
            <a:endParaRPr lang="en-IN" dirty="0"/>
          </a:p>
          <a:p>
            <a:pPr lvl="1"/>
            <a:r>
              <a:rPr lang="en-IN" dirty="0"/>
              <a:t>VS Code (Visual Studio Code)</a:t>
            </a:r>
          </a:p>
          <a:p>
            <a:pPr lvl="1"/>
            <a:r>
              <a:rPr lang="en-IN" dirty="0"/>
              <a:t>Anaconda Navigator</a:t>
            </a:r>
          </a:p>
          <a:p>
            <a:pPr lvl="1"/>
            <a:r>
              <a:rPr lang="en-IN" dirty="0"/>
              <a:t>TensorFlow, etc…</a:t>
            </a:r>
            <a:endParaRPr lang="en-US" dirty="0"/>
          </a:p>
          <a:p>
            <a:endParaRPr lang="en-US" dirty="0"/>
          </a:p>
          <a:p>
            <a:r>
              <a:rPr lang="en-US" dirty="0"/>
              <a:t>We will use </a:t>
            </a:r>
            <a:r>
              <a:rPr lang="en-US" b="1" dirty="0" err="1"/>
              <a:t>Jupyter</a:t>
            </a:r>
            <a:r>
              <a:rPr lang="en-US" b="1" dirty="0"/>
              <a:t> Notebook </a:t>
            </a:r>
            <a:r>
              <a:rPr lang="en-US" dirty="0"/>
              <a:t>for doing interactive programming and getting immediate visualization.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10C28A-6527-F803-3D25-7D384BD95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305" y="1770612"/>
            <a:ext cx="5152078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67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E986B-9C97-8199-9D96-B329834B9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E95944-6B8F-1713-9DCF-3E4AD50A2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Anaconda Installation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058D25-24F5-A416-72EB-592B014BB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335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FDD49-2BD0-82D1-D6F2-B11C7A8B8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3CCBC-F0F2-49E4-70CE-EA6774CE2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– 1 Search anaconda python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DA4033-9C4C-4E4A-4981-9650B3FC0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9300" y="1065370"/>
            <a:ext cx="7951142" cy="473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381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93272-24FB-0ED7-24CE-6027F4D4F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25944-B14D-1FB9-6628-9EF49A24E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– 2 Download the Installer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24CD76-B95D-516A-E281-0C88CCB6F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9300" y="1277671"/>
            <a:ext cx="7951142" cy="432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010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2B5FE-EF79-CED5-B934-D70700F9A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7631A-FA2D-1E53-5864-7C085E31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– 3 Follow the steps on wizard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02C93E-1F5A-9D2B-634C-260CD1FA3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7427" y="1064029"/>
            <a:ext cx="5419460" cy="462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021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5DF37-043B-366E-9822-8FB79EC1F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B1C44-99EE-E101-DFEB-4D3BB9F46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– 4 Verify the installation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0044AC-72B0-4118-013F-D6061EC15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45425" y="822960"/>
            <a:ext cx="5237019" cy="541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918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Hello World using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write python programs, we can use any text editors or IDE (Integrated Development Environment).</a:t>
            </a:r>
          </a:p>
          <a:p>
            <a:r>
              <a:rPr lang="en-IN" dirty="0"/>
              <a:t>Create new file in editor, save it as </a:t>
            </a:r>
            <a:r>
              <a:rPr lang="en-IN" b="1" dirty="0"/>
              <a:t>first</a:t>
            </a:r>
            <a:r>
              <a:rPr lang="en-IN" b="1" dirty="0">
                <a:solidFill>
                  <a:srgbClr val="FF0000"/>
                </a:solidFill>
              </a:rPr>
              <a:t>.py </a:t>
            </a:r>
            <a:r>
              <a:rPr lang="en-IN" dirty="0"/>
              <a:t>(Extensions for python programs will be .</a:t>
            </a:r>
            <a:r>
              <a:rPr lang="en-IN" dirty="0" err="1"/>
              <a:t>py</a:t>
            </a:r>
            <a:r>
              <a:rPr lang="en-IN" dirty="0"/>
              <a:t>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To run the python file open command prompt and change directory to where your python file is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Next, run python command (python filename.py)</a:t>
            </a:r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1605" y="3418497"/>
            <a:ext cx="4047596" cy="973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65197" y="4802189"/>
            <a:ext cx="5386917" cy="503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515509" y="2431038"/>
            <a:ext cx="403439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"Hello World from python"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1015516" y="2431038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1015516" y="210185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first.py</a:t>
            </a:r>
          </a:p>
        </p:txBody>
      </p:sp>
      <p:sp>
        <p:nvSpPr>
          <p:cNvPr id="10" name="Line Callout 1 9"/>
          <p:cNvSpPr/>
          <p:nvPr/>
        </p:nvSpPr>
        <p:spPr>
          <a:xfrm>
            <a:off x="5884333" y="2040468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89527"/>
              <a:gd name="adj4" fmla="val -1479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Python line does not end with </a:t>
            </a:r>
            <a:r>
              <a:rPr lang="en-IN" b="1" dirty="0">
                <a:solidFill>
                  <a:srgbClr val="FF0000"/>
                </a:solidFill>
              </a:rPr>
              <a:t>;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build="p" animBg="1"/>
      <p:bldP spid="9" grpId="0" animBg="1"/>
      <p:bldP spid="11" grpId="0" animBg="1"/>
      <p:bldP spid="10" grpId="0" animBg="1"/>
      <p:bldP spid="10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9CAB0-C556-D5F6-A3C7-A3FA361B0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8A66D1-FB87-5DCE-CFF9-98AB76827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Indentation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6353FA-D86F-AB89-FA7C-D82552DBB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006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2B39-49AA-CB4F-9792-AC1F5B051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Indentation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112FE-BC6B-D149-963D-833B6B7C7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Indentation in general means </a:t>
            </a:r>
            <a:r>
              <a:rPr lang="en-US" dirty="0">
                <a:solidFill>
                  <a:srgbClr val="C00000"/>
                </a:solidFill>
              </a:rPr>
              <a:t>indenting words or spaces or lines </a:t>
            </a:r>
            <a:r>
              <a:rPr lang="en-US" dirty="0"/>
              <a:t>in the document to follow the styling rule for documentation.</a:t>
            </a:r>
          </a:p>
          <a:p>
            <a:r>
              <a:rPr lang="en-US" dirty="0"/>
              <a:t>Indentation in Python refers to the </a:t>
            </a:r>
            <a:r>
              <a:rPr lang="en-US" dirty="0">
                <a:solidFill>
                  <a:srgbClr val="C00000"/>
                </a:solidFill>
              </a:rPr>
              <a:t>(spaces and tabs) </a:t>
            </a:r>
            <a:r>
              <a:rPr lang="en-US" dirty="0"/>
              <a:t>that are used at the beginning of a statement. </a:t>
            </a:r>
          </a:p>
          <a:p>
            <a:r>
              <a:rPr lang="en-US" dirty="0"/>
              <a:t>The statements with the </a:t>
            </a:r>
            <a:r>
              <a:rPr lang="en-US" dirty="0">
                <a:solidFill>
                  <a:srgbClr val="C00000"/>
                </a:solidFill>
              </a:rPr>
              <a:t>same indentation </a:t>
            </a:r>
            <a:r>
              <a:rPr lang="en-US" dirty="0"/>
              <a:t>belong to the </a:t>
            </a:r>
            <a:r>
              <a:rPr lang="en-US" dirty="0">
                <a:solidFill>
                  <a:srgbClr val="C00000"/>
                </a:solidFill>
              </a:rPr>
              <a:t>same group </a:t>
            </a:r>
            <a:r>
              <a:rPr lang="en-US" dirty="0"/>
              <a:t>called a suite. </a:t>
            </a:r>
            <a:endParaRPr lang="en-IN" dirty="0"/>
          </a:p>
          <a:p>
            <a:r>
              <a:rPr lang="en-US" dirty="0"/>
              <a:t>In many different programming languages like C, C++, Java, etc. use curly </a:t>
            </a:r>
            <a:r>
              <a:rPr lang="en-US" dirty="0">
                <a:solidFill>
                  <a:srgbClr val="C00000"/>
                </a:solidFill>
              </a:rPr>
              <a:t>brackets or braces {}</a:t>
            </a:r>
            <a:r>
              <a:rPr lang="en-US" dirty="0"/>
              <a:t> to define or to identify a block of code in the program, whereas in Python, it is done using the </a:t>
            </a:r>
            <a:r>
              <a:rPr lang="en-US" dirty="0">
                <a:solidFill>
                  <a:srgbClr val="C00000"/>
                </a:solidFill>
              </a:rPr>
              <a:t>spaces or tabs</a:t>
            </a:r>
            <a:r>
              <a:rPr lang="en-US" dirty="0"/>
              <a:t>, which is known as </a:t>
            </a:r>
            <a:r>
              <a:rPr lang="en-US" dirty="0">
                <a:solidFill>
                  <a:srgbClr val="C00000"/>
                </a:solidFill>
              </a:rPr>
              <a:t>indentation</a:t>
            </a:r>
            <a:r>
              <a:rPr lang="en-US" dirty="0"/>
              <a:t> and also it is generally known as </a:t>
            </a:r>
            <a:r>
              <a:rPr lang="en-US" dirty="0">
                <a:solidFill>
                  <a:srgbClr val="C00000"/>
                </a:solidFill>
              </a:rPr>
              <a:t>4 space rule </a:t>
            </a:r>
            <a:r>
              <a:rPr lang="en-US" dirty="0"/>
              <a:t>in Pep8 documentation of rules for styling and designing the code for Python.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C41F98-171C-F049-B94D-01AB8E4006F0}"/>
              </a:ext>
            </a:extLst>
          </p:cNvPr>
          <p:cNvSpPr/>
          <p:nvPr/>
        </p:nvSpPr>
        <p:spPr>
          <a:xfrm>
            <a:off x="969099" y="4844142"/>
            <a:ext cx="2721955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Condition: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   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"True"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 else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   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"False"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DE6E85-8CBB-9D49-B753-6D6F6A54C3B4}"/>
              </a:ext>
            </a:extLst>
          </p:cNvPr>
          <p:cNvSpPr/>
          <p:nvPr/>
        </p:nvSpPr>
        <p:spPr>
          <a:xfrm>
            <a:off x="469106" y="4844142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6E7C351-8E9D-A643-96D0-723972564798}"/>
              </a:ext>
            </a:extLst>
          </p:cNvPr>
          <p:cNvSpPr/>
          <p:nvPr/>
        </p:nvSpPr>
        <p:spPr>
          <a:xfrm>
            <a:off x="469106" y="451495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Line Callout 1 6">
            <a:extLst>
              <a:ext uri="{FF2B5EF4-FFF2-40B4-BE49-F238E27FC236}">
                <a16:creationId xmlns:a16="http://schemas.microsoft.com/office/drawing/2014/main" id="{CEFEDD48-434B-B64B-8342-9C23C8980A0E}"/>
              </a:ext>
            </a:extLst>
          </p:cNvPr>
          <p:cNvSpPr/>
          <p:nvPr/>
        </p:nvSpPr>
        <p:spPr>
          <a:xfrm>
            <a:off x="5003387" y="4962087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82408"/>
              <a:gd name="adj4" fmla="val -7060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IndentationError</a:t>
            </a:r>
            <a:r>
              <a:rPr lang="en-US" dirty="0">
                <a:solidFill>
                  <a:schemeClr val="tx1"/>
                </a:solidFill>
              </a:rPr>
              <a:t>: unindent does not match any outer indentation level</a:t>
            </a:r>
          </a:p>
        </p:txBody>
      </p:sp>
    </p:spTree>
    <p:extLst>
      <p:ext uri="{BB962C8B-B14F-4D97-AF65-F5344CB8AC3E}">
        <p14:creationId xmlns:p14="http://schemas.microsoft.com/office/powerpoint/2010/main" val="1862708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animBg="1"/>
      <p:bldP spid="7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D37C1-5BE1-9FD7-334C-D53C8BF3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13C98D-2F01-A8F0-88BE-0698FA566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&amp; Output Function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15708-745A-26A5-E47A-54CCDCD06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33396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8E574-D468-C44A-A4AF-B590E757B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5012C-9519-5847-A901-781E248F4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print() function prints the </a:t>
            </a:r>
            <a:r>
              <a:rPr lang="en-US" dirty="0">
                <a:solidFill>
                  <a:srgbClr val="C00000"/>
                </a:solidFill>
              </a:rPr>
              <a:t>specified message </a:t>
            </a:r>
            <a:r>
              <a:rPr lang="en-US" dirty="0"/>
              <a:t>to the screen, or other standard output device.</a:t>
            </a:r>
          </a:p>
          <a:p>
            <a:r>
              <a:rPr lang="en-US" dirty="0"/>
              <a:t>The object will be converted into a </a:t>
            </a:r>
            <a:r>
              <a:rPr lang="en-US" dirty="0">
                <a:solidFill>
                  <a:srgbClr val="C00000"/>
                </a:solidFill>
              </a:rPr>
              <a:t>string</a:t>
            </a:r>
            <a:r>
              <a:rPr lang="en-US" dirty="0"/>
              <a:t> before written to the screen.</a:t>
            </a:r>
          </a:p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3013E2-558B-0A48-9212-BFAAC5A1E50B}"/>
              </a:ext>
            </a:extLst>
          </p:cNvPr>
          <p:cNvSpPr/>
          <p:nvPr/>
        </p:nvSpPr>
        <p:spPr>
          <a:xfrm>
            <a:off x="1002550" y="2524688"/>
            <a:ext cx="923426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print(object(s), </a:t>
            </a:r>
            <a:r>
              <a:rPr lang="en-IN" sz="1600" b="1" dirty="0" err="1">
                <a:solidFill>
                  <a:srgbClr val="000000"/>
                </a:solidFill>
                <a:latin typeface="Menlo" panose="020B0609030804020204" pitchFamily="49" charset="0"/>
              </a:rPr>
              <a:t>sep</a:t>
            </a:r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=separator, end=end)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21B5BC-EFBC-7241-9BAC-5D4CFA6857A1}"/>
              </a:ext>
            </a:extLst>
          </p:cNvPr>
          <p:cNvSpPr/>
          <p:nvPr/>
        </p:nvSpPr>
        <p:spPr>
          <a:xfrm>
            <a:off x="502558" y="2524688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A47D327F-5E68-5D45-9296-5BF721419726}"/>
              </a:ext>
            </a:extLst>
          </p:cNvPr>
          <p:cNvSpPr/>
          <p:nvPr/>
        </p:nvSpPr>
        <p:spPr>
          <a:xfrm>
            <a:off x="502558" y="219550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id="{01E1A7F1-00F6-574F-AA49-6BF704EF66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2893501"/>
              </p:ext>
            </p:extLst>
          </p:nvPr>
        </p:nvGraphicFramePr>
        <p:xfrm>
          <a:off x="562032" y="3192426"/>
          <a:ext cx="11146748" cy="160570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38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8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42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Parameter Name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Object(s)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/>
                        <a:t>Any number of objects. Will be converted into string before printing.	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sep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/>
                        <a:t> Optional. Specify how to separate the objects, if there is more than one. Default is ' '	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end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/>
                        <a:t> Optional. Specify what to print at the end. Default is '\n'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64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 animBg="1"/>
      <p:bldP spid="13" grpId="0" animBg="1"/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8E574-D468-C44A-A4AF-B590E757B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input() 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5012C-9519-5847-A901-781E248F4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input() function </a:t>
            </a:r>
            <a:r>
              <a:rPr lang="en-IN" dirty="0">
                <a:solidFill>
                  <a:srgbClr val="C00000"/>
                </a:solidFill>
              </a:rPr>
              <a:t>allows user to enter values</a:t>
            </a:r>
            <a:r>
              <a:rPr lang="en-IN" dirty="0"/>
              <a:t>.</a:t>
            </a:r>
          </a:p>
          <a:p>
            <a:r>
              <a:rPr lang="en-IN" dirty="0"/>
              <a:t>Whatever you enter as input, the input function converts it into a </a:t>
            </a:r>
            <a:r>
              <a:rPr lang="en-IN" dirty="0">
                <a:solidFill>
                  <a:srgbClr val="C00000"/>
                </a:solidFill>
              </a:rPr>
              <a:t>string</a:t>
            </a:r>
            <a:r>
              <a:rPr lang="en-IN" dirty="0"/>
              <a:t>. If you enter an integer value still input() function convert it into a string.</a:t>
            </a:r>
          </a:p>
          <a:p>
            <a:endParaRPr lang="en-IN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6A25C1-C974-2347-B0A4-8890AA017BD0}"/>
              </a:ext>
            </a:extLst>
          </p:cNvPr>
          <p:cNvSpPr/>
          <p:nvPr/>
        </p:nvSpPr>
        <p:spPr>
          <a:xfrm>
            <a:off x="1036004" y="2602746"/>
            <a:ext cx="582199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Menlo" panose="020B0609030804020204" pitchFamily="49" charset="0"/>
              </a:rPr>
              <a:t>input(prompt)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F5EF8B-6810-DE4E-A8D2-ED702FA5D826}"/>
              </a:ext>
            </a:extLst>
          </p:cNvPr>
          <p:cNvSpPr/>
          <p:nvPr/>
        </p:nvSpPr>
        <p:spPr>
          <a:xfrm>
            <a:off x="536011" y="2602746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B764F1CC-2F1C-9440-A694-A33B9B4DBBC2}"/>
              </a:ext>
            </a:extLst>
          </p:cNvPr>
          <p:cNvSpPr/>
          <p:nvPr/>
        </p:nvSpPr>
        <p:spPr>
          <a:xfrm>
            <a:off x="536011" y="227356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C97D32B5-246A-D348-A901-FD8C92F2D6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7001795"/>
              </p:ext>
            </p:extLst>
          </p:nvPr>
        </p:nvGraphicFramePr>
        <p:xfrm>
          <a:off x="536011" y="3270484"/>
          <a:ext cx="11146748" cy="87418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38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8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42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Parameter Name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prompt(s)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/>
                        <a:t>A String, representing a default message before the input.	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741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  <p:bldP spid="9" grpId="0" animBg="1"/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0F054-021D-1D4B-8906-51692AE72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5D317D-43D1-5547-92E5-72999EE37773}"/>
              </a:ext>
            </a:extLst>
          </p:cNvPr>
          <p:cNvSpPr/>
          <p:nvPr/>
        </p:nvSpPr>
        <p:spPr>
          <a:xfrm>
            <a:off x="902191" y="1387264"/>
            <a:ext cx="4550755" cy="3293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a =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str = 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your name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num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int(input(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Number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IN" sz="1600" dirty="0" err="1">
                <a:solidFill>
                  <a:srgbClr val="A31515"/>
                </a:solidFill>
                <a:latin typeface="Menlo" panose="020B0609030804020204" pitchFamily="49" charset="0"/>
              </a:rPr>
              <a:t>Hello"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 err="1">
                <a:solidFill>
                  <a:srgbClr val="A31515"/>
                </a:solidFill>
                <a:latin typeface="Menlo" panose="020B0609030804020204" pitchFamily="49" charset="0"/>
              </a:rPr>
              <a:t>"World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"Hello"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"World"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sep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"-"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"Hello"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"DU"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sep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"-"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,end=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"Hello"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"DU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"a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a,end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",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IN" sz="1600" dirty="0" err="1">
                <a:solidFill>
                  <a:srgbClr val="A31515"/>
                </a:solidFill>
                <a:latin typeface="Menlo" panose="020B0609030804020204" pitchFamily="49" charset="0"/>
              </a:rPr>
              <a:t>num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num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"your Name 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+ str)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"Your Name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str,sep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4B0FA7-043A-5B4E-9781-AB6666326AAA}"/>
              </a:ext>
            </a:extLst>
          </p:cNvPr>
          <p:cNvSpPr/>
          <p:nvPr/>
        </p:nvSpPr>
        <p:spPr>
          <a:xfrm>
            <a:off x="402198" y="1387264"/>
            <a:ext cx="499993" cy="32932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3306E25C-0AE7-E840-8055-1883A531731E}"/>
              </a:ext>
            </a:extLst>
          </p:cNvPr>
          <p:cNvSpPr/>
          <p:nvPr/>
        </p:nvSpPr>
        <p:spPr>
          <a:xfrm>
            <a:off x="402198" y="105808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30A89F-9926-0D43-BD83-4B132C1A1159}"/>
              </a:ext>
            </a:extLst>
          </p:cNvPr>
          <p:cNvSpPr/>
          <p:nvPr/>
        </p:nvSpPr>
        <p:spPr>
          <a:xfrm>
            <a:off x="6211983" y="1375334"/>
            <a:ext cx="3545334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your name = ABC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Number = 10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4 5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Hello World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Hello-World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Hello-DU </a:t>
            </a:r>
            <a:r>
              <a:rPr lang="en-IN" sz="1600" b="1" dirty="0" err="1">
                <a:latin typeface="Consolas" pitchFamily="49" charset="0"/>
                <a:cs typeface="Consolas" panose="020B0609020204030204" pitchFamily="49" charset="0"/>
              </a:rPr>
              <a:t>HelloDU</a:t>
            </a:r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a =  4, </a:t>
            </a:r>
            <a:r>
              <a:rPr lang="en-IN" sz="1600" b="1" dirty="0" err="1">
                <a:latin typeface="Consolas" pitchFamily="49" charset="0"/>
                <a:cs typeface="Consolas" panose="020B0609020204030204" pitchFamily="49" charset="0"/>
              </a:rPr>
              <a:t>num</a:t>
            </a:r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=  10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your Name =ABC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Your Name =ABC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3E0CA86D-C187-054D-A4A2-2843ABBB5EAF}"/>
              </a:ext>
            </a:extLst>
          </p:cNvPr>
          <p:cNvSpPr/>
          <p:nvPr/>
        </p:nvSpPr>
        <p:spPr>
          <a:xfrm>
            <a:off x="6211983" y="1058080"/>
            <a:ext cx="126247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721947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Program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99944"/>
            <a:ext cx="11929641" cy="5590565"/>
          </a:xfrm>
        </p:spPr>
        <p:txBody>
          <a:bodyPr/>
          <a:lstStyle/>
          <a:p>
            <a:r>
              <a:rPr lang="en-IN" dirty="0"/>
              <a:t>WAP to develop simple calculator in python.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201706-5425-C740-85B5-B3D6F3A723A8}"/>
              </a:ext>
            </a:extLst>
          </p:cNvPr>
          <p:cNvSpPr/>
          <p:nvPr/>
        </p:nvSpPr>
        <p:spPr>
          <a:xfrm>
            <a:off x="991401" y="1632637"/>
            <a:ext cx="7282804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number1 = int(input(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first number: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number2 = int(input(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second number: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print(number1,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"+"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number2,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number1+number2)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print(number1,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"*"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number2,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number1*number2)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print(number1,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"-"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number2,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number1-number2)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print(number1,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"/"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number2,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number1/number2)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19642F-5D1A-FE4D-B4D4-C463D97A5E30}"/>
              </a:ext>
            </a:extLst>
          </p:cNvPr>
          <p:cNvSpPr/>
          <p:nvPr/>
        </p:nvSpPr>
        <p:spPr>
          <a:xfrm>
            <a:off x="491408" y="1632637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24" name="Rectangle: Top Corners Rounded 6">
            <a:extLst>
              <a:ext uri="{FF2B5EF4-FFF2-40B4-BE49-F238E27FC236}">
                <a16:creationId xmlns:a16="http://schemas.microsoft.com/office/drawing/2014/main" id="{BD17EFDB-5E2A-0E47-A330-1E891ECFE3E0}"/>
              </a:ext>
            </a:extLst>
          </p:cNvPr>
          <p:cNvSpPr/>
          <p:nvPr/>
        </p:nvSpPr>
        <p:spPr>
          <a:xfrm>
            <a:off x="491408" y="130345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C836B4-3A87-494C-AB65-0CA690BFC3A5}"/>
              </a:ext>
            </a:extLst>
          </p:cNvPr>
          <p:cNvSpPr/>
          <p:nvPr/>
        </p:nvSpPr>
        <p:spPr>
          <a:xfrm>
            <a:off x="491408" y="3746254"/>
            <a:ext cx="3545334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first number: 3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second number: 3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3 + 3 = 6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3 * 3 = 9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3 - 3 = 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3 / 3 = 1.0</a:t>
            </a:r>
          </a:p>
        </p:txBody>
      </p:sp>
      <p:sp>
        <p:nvSpPr>
          <p:cNvPr id="26" name="Rectangle: Top Corners Rounded 6">
            <a:extLst>
              <a:ext uri="{FF2B5EF4-FFF2-40B4-BE49-F238E27FC236}">
                <a16:creationId xmlns:a16="http://schemas.microsoft.com/office/drawing/2014/main" id="{62ED6631-A899-4B4C-9AC3-E75EAD79764E}"/>
              </a:ext>
            </a:extLst>
          </p:cNvPr>
          <p:cNvSpPr/>
          <p:nvPr/>
        </p:nvSpPr>
        <p:spPr>
          <a:xfrm>
            <a:off x="491408" y="3429000"/>
            <a:ext cx="126247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84291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 animBg="1"/>
      <p:bldP spid="23" grpId="0" animBg="1"/>
      <p:bldP spid="24" grpId="0" animBg="1"/>
      <p:bldP spid="25" grpId="0" uiExpand="1" build="p" animBg="1"/>
      <p:bldP spid="2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Program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99944"/>
            <a:ext cx="11929641" cy="5590565"/>
          </a:xfrm>
        </p:spPr>
        <p:txBody>
          <a:bodyPr/>
          <a:lstStyle/>
          <a:p>
            <a:r>
              <a:rPr lang="en-IN" dirty="0"/>
              <a:t>WAP to calculate simple interest.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2CD77B-7355-4047-B1C0-9A2D543AED50}"/>
              </a:ext>
            </a:extLst>
          </p:cNvPr>
          <p:cNvSpPr/>
          <p:nvPr/>
        </p:nvSpPr>
        <p:spPr>
          <a:xfrm>
            <a:off x="999414" y="1639271"/>
            <a:ext cx="7282804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 = int(input(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P: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R = int(input(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R: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 = int(input(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N: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Simple_interest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(P * R * T) /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100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"The simple interest is:"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Simple_interest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46B9B0-EA81-0647-88CC-67081B168111}"/>
              </a:ext>
            </a:extLst>
          </p:cNvPr>
          <p:cNvSpPr/>
          <p:nvPr/>
        </p:nvSpPr>
        <p:spPr>
          <a:xfrm>
            <a:off x="499421" y="1639271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21" name="Rectangle: Top Corners Rounded 6">
            <a:extLst>
              <a:ext uri="{FF2B5EF4-FFF2-40B4-BE49-F238E27FC236}">
                <a16:creationId xmlns:a16="http://schemas.microsoft.com/office/drawing/2014/main" id="{FCC79A3A-C32F-9445-A595-5C10C6765460}"/>
              </a:ext>
            </a:extLst>
          </p:cNvPr>
          <p:cNvSpPr/>
          <p:nvPr/>
        </p:nvSpPr>
        <p:spPr>
          <a:xfrm>
            <a:off x="499421" y="131008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217CDE-4761-B544-B129-33DE33B3D90E}"/>
              </a:ext>
            </a:extLst>
          </p:cNvPr>
          <p:cNvSpPr/>
          <p:nvPr/>
        </p:nvSpPr>
        <p:spPr>
          <a:xfrm>
            <a:off x="499421" y="3514754"/>
            <a:ext cx="4050277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P: 10000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R: 5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N: 1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The simple interest is: 500.0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9435A1AB-233B-8344-8059-A1098B8DFF2A}"/>
              </a:ext>
            </a:extLst>
          </p:cNvPr>
          <p:cNvSpPr/>
          <p:nvPr/>
        </p:nvSpPr>
        <p:spPr>
          <a:xfrm>
            <a:off x="499421" y="3197500"/>
            <a:ext cx="126247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73415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 animBg="1"/>
      <p:bldP spid="20" grpId="0" animBg="1"/>
      <p:bldP spid="21" grpId="0" animBg="1"/>
      <p:bldP spid="22" grpId="0" uiExpand="1" build="p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Program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99944"/>
            <a:ext cx="11929641" cy="5590565"/>
          </a:xfrm>
        </p:spPr>
        <p:txBody>
          <a:bodyPr/>
          <a:lstStyle/>
          <a:p>
            <a:r>
              <a:rPr lang="en-IN" dirty="0"/>
              <a:t>WAP to calculate area of circle.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7238C0-42A4-6D4B-9339-A61E1CE24396}"/>
              </a:ext>
            </a:extLst>
          </p:cNvPr>
          <p:cNvSpPr/>
          <p:nvPr/>
        </p:nvSpPr>
        <p:spPr>
          <a:xfrm>
            <a:off x="977112" y="1650538"/>
            <a:ext cx="7282804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PI =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3.14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r = float(input(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"Enter the radius of a circle:"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area = PI * r * r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"Area of a circle = %.2f"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%area)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B89899-B118-984E-8C49-944AF3433FAF}"/>
              </a:ext>
            </a:extLst>
          </p:cNvPr>
          <p:cNvSpPr/>
          <p:nvPr/>
        </p:nvSpPr>
        <p:spPr>
          <a:xfrm>
            <a:off x="477119" y="1650538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12A0B103-383F-6E4D-96E4-176232B0EF8D}"/>
              </a:ext>
            </a:extLst>
          </p:cNvPr>
          <p:cNvSpPr/>
          <p:nvPr/>
        </p:nvSpPr>
        <p:spPr>
          <a:xfrm>
            <a:off x="477119" y="132135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Example3.py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DDA960-75F4-B948-9626-A5D4437BD180}"/>
              </a:ext>
            </a:extLst>
          </p:cNvPr>
          <p:cNvSpPr/>
          <p:nvPr/>
        </p:nvSpPr>
        <p:spPr>
          <a:xfrm>
            <a:off x="477119" y="3456322"/>
            <a:ext cx="4540930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Enter the radius of a circle:100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Area of a circle = 31400.00</a:t>
            </a:r>
          </a:p>
        </p:txBody>
      </p:sp>
      <p:sp>
        <p:nvSpPr>
          <p:cNvPr id="21" name="Rectangle: Top Corners Rounded 6">
            <a:extLst>
              <a:ext uri="{FF2B5EF4-FFF2-40B4-BE49-F238E27FC236}">
                <a16:creationId xmlns:a16="http://schemas.microsoft.com/office/drawing/2014/main" id="{871562F6-23B5-434B-8966-297BB65058F3}"/>
              </a:ext>
            </a:extLst>
          </p:cNvPr>
          <p:cNvSpPr/>
          <p:nvPr/>
        </p:nvSpPr>
        <p:spPr>
          <a:xfrm>
            <a:off x="477119" y="3139068"/>
            <a:ext cx="126247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167390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 animBg="1"/>
      <p:bldP spid="17" grpId="0" animBg="1"/>
      <p:bldP spid="19" grpId="0" animBg="1"/>
      <p:bldP spid="20" grpId="0" uiExpand="1" build="p" animBg="1"/>
      <p:bldP spid="2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E0C48-3262-1F81-7D1D-D7B6164FD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9BB6FA-87AC-9517-3F67-2C4CCDD5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Datatypes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7BA2D-1363-1F80-E829-06862B59D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8064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1980942"/>
              </p:ext>
            </p:extLst>
          </p:nvPr>
        </p:nvGraphicFramePr>
        <p:xfrm>
          <a:off x="360825" y="160952"/>
          <a:ext cx="11224818" cy="3139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8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043">
                  <a:extLst>
                    <a:ext uri="{9D8B030D-6E8A-4147-A177-3AD203B41FA5}">
                      <a16:colId xmlns:a16="http://schemas.microsoft.com/office/drawing/2014/main" val="1960142769"/>
                    </a:ext>
                  </a:extLst>
                </a:gridCol>
                <a:gridCol w="8774349">
                  <a:extLst>
                    <a:ext uri="{9D8B030D-6E8A-4147-A177-3AD203B41FA5}">
                      <a16:colId xmlns:a16="http://schemas.microsoft.com/office/drawing/2014/main" val="154927172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Class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grid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9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Types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9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Integer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int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Whole number such as 0,1,5,</a:t>
                      </a:r>
                      <a:r>
                        <a:rPr lang="en-US" sz="2000" baseline="0">
                          <a:solidFill>
                            <a:schemeClr val="tx1"/>
                          </a:solidFill>
                        </a:rPr>
                        <a:t> -5 etc..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Float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float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Numbers with decimal points such as 1.5, 7.9</a:t>
                      </a:r>
                      <a:r>
                        <a:rPr lang="en-US" sz="2000" baseline="0">
                          <a:solidFill>
                            <a:schemeClr val="tx1"/>
                          </a:solidFill>
                        </a:rPr>
                        <a:t>, -8.2 etc..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Complex Number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complex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Complex number (real_part)+(imaginary_part)j such as 2 + 3j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String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str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Sequence of character (Ordered) such as “darshan”, ‘college’, “</a:t>
                      </a:r>
                      <a:r>
                        <a:rPr lang="gu-IN" sz="2000" dirty="0">
                          <a:solidFill>
                            <a:schemeClr val="tx1"/>
                          </a:solidFill>
                        </a:rPr>
                        <a:t>રાજકોટ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” etc..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Boolean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bool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Logical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values indicating 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</a:rPr>
                        <a:t>T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ure or 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</a:rPr>
                        <a:t>F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alse (T and F here are capital in python)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21823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7011976"/>
              </p:ext>
            </p:extLst>
          </p:nvPr>
        </p:nvGraphicFramePr>
        <p:xfrm>
          <a:off x="353734" y="3490549"/>
          <a:ext cx="11261092" cy="3215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54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96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Data Structures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List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list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Ordered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Sequence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of objects, will be represented with 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</a:rPr>
                        <a:t>square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</a:rPr>
                        <a:t>[ ]</a:t>
                      </a:r>
                    </a:p>
                    <a:p>
                      <a:pPr algn="l"/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[ 18,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True, 102.3 ]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1900" dirty="0" err="1"/>
                        <a:t>Tuple</a:t>
                      </a:r>
                      <a:endParaRPr lang="en-IN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2"/>
                          </a:solidFill>
                        </a:rPr>
                        <a:t>Tup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Ordered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immutable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sequence of objects, will be represented with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round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IN" sz="2000" b="1" baseline="0" dirty="0">
                          <a:solidFill>
                            <a:srgbClr val="FF0000"/>
                          </a:solidFill>
                        </a:rPr>
                        <a:t>( 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( 18,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True, 102.3 )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1900" dirty="0"/>
                        <a:t>Set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2"/>
                          </a:solidFill>
                        </a:rPr>
                        <a:t>Set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Unordered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collection of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unique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objects, will be represented with the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curly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IN" sz="2000" b="1" baseline="0" dirty="0">
                          <a:solidFill>
                            <a:srgbClr val="FF0000"/>
                          </a:solidFill>
                        </a:rPr>
                        <a:t>{ }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{ 18,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True, 102.3 }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Dictionary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2"/>
                          </a:solidFill>
                        </a:rPr>
                        <a:t>Dict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Ordered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key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: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value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pair of objects , will be represented with 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</a:rPr>
                        <a:t>curly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</a:rPr>
                        <a:t>{ }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{ “college”: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“code”: “054” }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133A3-AFE8-6A05-B842-ECE6B600F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30941E-7E35-3D8F-AE3D-8DC87A18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E6A569-2925-A8AB-3CAE-46CCF2DDA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8713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702725"/>
          </a:xfrm>
        </p:spPr>
        <p:txBody>
          <a:bodyPr/>
          <a:lstStyle/>
          <a:p>
            <a:r>
              <a:rPr lang="en-US" dirty="0"/>
              <a:t>A Python variable is a </a:t>
            </a:r>
            <a:r>
              <a:rPr lang="en-US" dirty="0">
                <a:solidFill>
                  <a:srgbClr val="C00000"/>
                </a:solidFill>
              </a:rPr>
              <a:t>reserved memory location </a:t>
            </a:r>
            <a:r>
              <a:rPr lang="en-US" dirty="0"/>
              <a:t>to store values.</a:t>
            </a:r>
          </a:p>
          <a:p>
            <a:r>
              <a:rPr lang="en-US" dirty="0"/>
              <a:t>Unlike other programming languages, Python has </a:t>
            </a:r>
            <a:r>
              <a:rPr lang="en-US" dirty="0">
                <a:solidFill>
                  <a:srgbClr val="C00000"/>
                </a:solidFill>
              </a:rPr>
              <a:t>no command </a:t>
            </a:r>
            <a:r>
              <a:rPr lang="en-US" dirty="0"/>
              <a:t>for declaring a variable.</a:t>
            </a:r>
          </a:p>
          <a:p>
            <a:r>
              <a:rPr lang="en-US" dirty="0"/>
              <a:t>A variable is created the moment you </a:t>
            </a:r>
            <a:r>
              <a:rPr lang="en-US" dirty="0">
                <a:solidFill>
                  <a:srgbClr val="C00000"/>
                </a:solidFill>
              </a:rPr>
              <a:t>first assign </a:t>
            </a:r>
            <a:r>
              <a:rPr lang="en-US" dirty="0"/>
              <a:t>a value to it.</a:t>
            </a:r>
          </a:p>
          <a:p>
            <a:r>
              <a:rPr lang="en-IN" dirty="0"/>
              <a:t>Python uses Dynamic Typing so,</a:t>
            </a:r>
            <a:endParaRPr lang="en-US" dirty="0"/>
          </a:p>
          <a:p>
            <a:pPr lvl="1"/>
            <a:r>
              <a:rPr lang="en-IN" dirty="0"/>
              <a:t>We need </a:t>
            </a:r>
            <a:r>
              <a:rPr lang="en-IN" dirty="0">
                <a:solidFill>
                  <a:srgbClr val="C00000"/>
                </a:solidFill>
              </a:rPr>
              <a:t>not to specify the data types </a:t>
            </a:r>
            <a:r>
              <a:rPr lang="en-IN" dirty="0"/>
              <a:t>to the variable as it will internally assign the data type to the variable according to the </a:t>
            </a:r>
            <a:r>
              <a:rPr lang="en-IN" dirty="0">
                <a:solidFill>
                  <a:srgbClr val="C00000"/>
                </a:solidFill>
              </a:rPr>
              <a:t>value assigned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we can also </a:t>
            </a:r>
            <a:r>
              <a:rPr lang="en-IN" dirty="0">
                <a:solidFill>
                  <a:srgbClr val="C00000"/>
                </a:solidFill>
              </a:rPr>
              <a:t>reassign new value of the different data type to the same variable</a:t>
            </a:r>
            <a:r>
              <a:rPr lang="en-IN" dirty="0"/>
              <a:t>, variable data type will change to new data type automatically.</a:t>
            </a:r>
          </a:p>
          <a:p>
            <a:pPr lvl="1"/>
            <a:r>
              <a:rPr lang="en-IN" dirty="0"/>
              <a:t>We can check the current data type of the variable with </a:t>
            </a:r>
            <a:r>
              <a:rPr lang="en-IN" b="1" dirty="0">
                <a:solidFill>
                  <a:srgbClr val="C00000"/>
                </a:solidFill>
              </a:rPr>
              <a:t>type(</a:t>
            </a:r>
            <a:r>
              <a:rPr lang="en-IN" b="1" dirty="0" err="1">
                <a:solidFill>
                  <a:srgbClr val="C00000"/>
                </a:solidFill>
              </a:rPr>
              <a:t>variablename</a:t>
            </a:r>
            <a:r>
              <a:rPr lang="en-IN" b="1" dirty="0">
                <a:solidFill>
                  <a:srgbClr val="C00000"/>
                </a:solidFill>
              </a:rPr>
              <a:t>)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in-built function.</a:t>
            </a:r>
          </a:p>
          <a:p>
            <a:r>
              <a:rPr lang="en-IN" dirty="0"/>
              <a:t>Rules for Variable Name : </a:t>
            </a:r>
          </a:p>
          <a:p>
            <a:pPr lvl="1"/>
            <a:r>
              <a:rPr lang="en-IN" dirty="0"/>
              <a:t>Variable Name must begin with Letter or Underscore(_),  it can not start with digit.</a:t>
            </a:r>
          </a:p>
          <a:p>
            <a:pPr lvl="1"/>
            <a:r>
              <a:rPr lang="en-IN" dirty="0"/>
              <a:t>Remaining characters of the Variable Name can be letters, numbers or Underscore.</a:t>
            </a:r>
          </a:p>
          <a:p>
            <a:pPr lvl="1"/>
            <a:r>
              <a:rPr lang="en-IN" dirty="0"/>
              <a:t>Spaces and Special Characters are not allowed.</a:t>
            </a:r>
          </a:p>
          <a:p>
            <a:pPr lvl="1"/>
            <a:r>
              <a:rPr lang="en-IN" dirty="0"/>
              <a:t>Python Keywords are not allowed to be a Variable Name.</a:t>
            </a:r>
          </a:p>
          <a:p>
            <a:pPr lvl="1"/>
            <a:r>
              <a:rPr lang="en-IN" dirty="0"/>
              <a:t>Variable Names are Case-Sensitive.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Python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99944"/>
            <a:ext cx="11929641" cy="5590565"/>
          </a:xfrm>
        </p:spPr>
        <p:txBody>
          <a:bodyPr/>
          <a:lstStyle/>
          <a:p>
            <a:r>
              <a:rPr lang="en-IN" dirty="0"/>
              <a:t>Example 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55170" y="1512070"/>
            <a:ext cx="8472276" cy="25853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print(x)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print(type(x))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y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123.456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print(y)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insitute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of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engneering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and technology"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print(x)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print(type(x))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55177" y="1512070"/>
            <a:ext cx="499993" cy="2554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10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55177" y="1182886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demo.py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32909" y="4475738"/>
            <a:ext cx="847227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python demo.py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32916" y="4475738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32916" y="414655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Run in terminal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62019" y="5224040"/>
            <a:ext cx="847227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10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&lt;class 'int'&gt;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123.456</a:t>
            </a:r>
          </a:p>
          <a:p>
            <a:r>
              <a:rPr lang="en-IN" sz="1600" b="1" dirty="0" err="1">
                <a:latin typeface="Consolas" pitchFamily="49" charset="0"/>
                <a:cs typeface="Consolas" panose="020B0609020204030204" pitchFamily="49" charset="0"/>
              </a:rPr>
              <a:t>Darshan</a:t>
            </a:r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institute of engineering and technology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&lt;class 'str'&gt;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62026" y="5224040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62026" y="489485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9" name="Line Callout 1 18"/>
          <p:cNvSpPr/>
          <p:nvPr/>
        </p:nvSpPr>
        <p:spPr>
          <a:xfrm>
            <a:off x="4584700" y="1803400"/>
            <a:ext cx="4889500" cy="482600"/>
          </a:xfrm>
          <a:prstGeom prst="borderCallout1">
            <a:avLst>
              <a:gd name="adj1" fmla="val 50329"/>
              <a:gd name="adj2" fmla="val -392"/>
              <a:gd name="adj3" fmla="val -22139"/>
              <a:gd name="adj4" fmla="val -5409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Reassign same variable to hold different data type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/>
          <p:cNvCxnSpPr>
            <a:endCxn id="19" idx="2"/>
          </p:cNvCxnSpPr>
          <p:nvPr/>
        </p:nvCxnSpPr>
        <p:spPr>
          <a:xfrm flipV="1">
            <a:off x="3594100" y="2044700"/>
            <a:ext cx="990600" cy="11938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  <p:bldP spid="10" grpId="0" animBg="1"/>
      <p:bldP spid="11" grpId="0" animBg="1"/>
      <p:bldP spid="13" grpId="0" build="p" animBg="1"/>
      <p:bldP spid="14" grpId="0" animBg="1"/>
      <p:bldP spid="15" grpId="0" animBg="1"/>
      <p:bldP spid="16" grpId="0" uiExpand="1" build="p" animBg="1"/>
      <p:bldP spid="17" grpId="0" animBg="1"/>
      <p:bldP spid="18" grpId="0" animBg="1"/>
      <p:bldP spid="1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7CF9-32CF-A9D2-5D34-FE34E4B85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B7F273-4B78-A63D-4E40-FF40B254D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A26413-6466-C98D-A6E0-220DFA17A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0234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EDF56-97BA-23FE-B318-23F5A5D60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8CD69-20D0-7300-41D0-4D935737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9AE4E-D349-69B2-16FA-D8D7BC50D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702725"/>
          </a:xfrm>
        </p:spPr>
        <p:txBody>
          <a:bodyPr/>
          <a:lstStyle/>
          <a:p>
            <a:r>
              <a:rPr lang="en-US" dirty="0"/>
              <a:t>In Python, comments are used to explain code and make it more readable. </a:t>
            </a:r>
          </a:p>
          <a:p>
            <a:r>
              <a:rPr lang="en-US" dirty="0"/>
              <a:t>They are ignored by the Python interpreter when the code is executed. </a:t>
            </a:r>
          </a:p>
          <a:p>
            <a:r>
              <a:rPr lang="en-US" dirty="0"/>
              <a:t>There are two main types of comments in Python: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IN" dirty="0">
              <a:solidFill>
                <a:schemeClr val="accent6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Single-line Comments:</a:t>
            </a:r>
          </a:p>
          <a:p>
            <a:pPr marL="1001712" lvl="1" indent="-457200"/>
            <a:r>
              <a:rPr lang="en-IN" dirty="0"/>
              <a:t>These are created using the </a:t>
            </a:r>
            <a:r>
              <a:rPr lang="en-IN" b="1" dirty="0"/>
              <a:t>#</a:t>
            </a:r>
            <a:r>
              <a:rPr lang="en-IN" dirty="0"/>
              <a:t> symbol.</a:t>
            </a:r>
          </a:p>
          <a:p>
            <a:pPr marL="1001712" lvl="1" indent="-457200"/>
            <a:r>
              <a:rPr lang="en-IN" dirty="0"/>
              <a:t>Everything after the #, on that line is considered to be a comment.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Multi-line Comments:</a:t>
            </a:r>
          </a:p>
          <a:p>
            <a:pPr marL="1001712" lvl="1" indent="-457200"/>
            <a:r>
              <a:rPr lang="en-IN" dirty="0"/>
              <a:t>These can be done using triple quotes </a:t>
            </a:r>
            <a:r>
              <a:rPr lang="en-IN" b="1" dirty="0"/>
              <a:t>(‘ ‘ ’ or “ ” ”).</a:t>
            </a:r>
          </a:p>
          <a:p>
            <a:pPr marL="544512" lvl="1" indent="0"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55C26-58CB-C9FE-019D-B02D0250FFC5}"/>
              </a:ext>
            </a:extLst>
          </p:cNvPr>
          <p:cNvSpPr txBox="1"/>
          <p:nvPr/>
        </p:nvSpPr>
        <p:spPr>
          <a:xfrm>
            <a:off x="4389121" y="2246803"/>
            <a:ext cx="7705898" cy="100450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is Single-line Comment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World..!!"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#This comment is on the same line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58EAD6-E0F2-23C8-91FE-81C3A9716401}"/>
              </a:ext>
            </a:extLst>
          </p:cNvPr>
          <p:cNvSpPr txBox="1"/>
          <p:nvPr/>
        </p:nvSpPr>
        <p:spPr>
          <a:xfrm>
            <a:off x="7801497" y="3718453"/>
            <a:ext cx="4259323" cy="27998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endParaRPr lang="en-US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''' This is Multiline Comment 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that spans multiple lines </a:t>
            </a:r>
          </a:p>
          <a:p>
            <a:pPr>
              <a:lnSpc>
                <a:spcPts val="1425"/>
              </a:lnSpc>
            </a:pPr>
            <a:endParaRPr lang="en-US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World..!!"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 Another multiline comments</a:t>
            </a:r>
          </a:p>
          <a:p>
            <a:pPr>
              <a:lnSpc>
                <a:spcPts val="1425"/>
              </a:lnSpc>
            </a:pPr>
            <a:endParaRPr lang="en-US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using  triple quotes </a:t>
            </a:r>
          </a:p>
          <a:p>
            <a:pPr>
              <a:lnSpc>
                <a:spcPts val="1425"/>
              </a:lnSpc>
            </a:pPr>
            <a:endParaRPr lang="en-US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970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1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311C2-3F66-D565-854A-6A7115021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E56517-3DB6-78A0-3EBD-1D7EDA7CF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7B2CE3-8FF7-2FD8-C7E3-5115D34AD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6764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8F5C6-CD6B-19A0-C33A-60BEAB13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050D1-76A2-F671-E422-8139E02F4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34C29-5119-D09C-6570-9A87FE97C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34258"/>
            <a:ext cx="11929641" cy="5702725"/>
          </a:xfrm>
        </p:spPr>
        <p:txBody>
          <a:bodyPr/>
          <a:lstStyle/>
          <a:p>
            <a:r>
              <a:rPr lang="en-US" dirty="0"/>
              <a:t>In Python, a </a:t>
            </a:r>
            <a:r>
              <a:rPr lang="en-US" b="1" dirty="0"/>
              <a:t>Token</a:t>
            </a:r>
            <a:r>
              <a:rPr lang="en-US" dirty="0"/>
              <a:t> is the smallest unit of a program. </a:t>
            </a:r>
          </a:p>
          <a:p>
            <a:r>
              <a:rPr lang="en-US" dirty="0"/>
              <a:t>Tokens are the building blocks of a Python program. Here are the main types of tokens in Python: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Keywords : </a:t>
            </a:r>
            <a:r>
              <a:rPr lang="en-US" b="1" dirty="0"/>
              <a:t>Reserved words </a:t>
            </a:r>
            <a:r>
              <a:rPr lang="en-US" dirty="0"/>
              <a:t>that have special meaning and cannot be used as identifiers</a:t>
            </a:r>
            <a:r>
              <a:rPr lang="en-IN" dirty="0"/>
              <a:t>. Example : If, else, for, while, try, except, etc.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Identifiers: </a:t>
            </a:r>
            <a:r>
              <a:rPr lang="en-US" b="1" dirty="0"/>
              <a:t>Names given to variables, functions, classes, and other objects</a:t>
            </a:r>
            <a:r>
              <a:rPr lang="en-US" dirty="0"/>
              <a:t>.</a:t>
            </a:r>
            <a:endParaRPr lang="en-IN" dirty="0">
              <a:solidFill>
                <a:schemeClr val="accent6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Literals: </a:t>
            </a:r>
            <a:r>
              <a:rPr lang="en-US" b="1" dirty="0"/>
              <a:t>Constant values </a:t>
            </a:r>
            <a:r>
              <a:rPr lang="en-US" dirty="0"/>
              <a:t>used in programs. They can be of various types (string, numeric, </a:t>
            </a:r>
            <a:r>
              <a:rPr lang="en-US" dirty="0" err="1"/>
              <a:t>boolean</a:t>
            </a:r>
            <a:r>
              <a:rPr lang="en-US" dirty="0"/>
              <a:t>, etc..)</a:t>
            </a:r>
            <a:endParaRPr lang="en-IN" dirty="0">
              <a:solidFill>
                <a:schemeClr val="accent6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Operators: </a:t>
            </a:r>
            <a:r>
              <a:rPr lang="en-US" b="1" dirty="0"/>
              <a:t>Symbols that perform operations </a:t>
            </a:r>
            <a:r>
              <a:rPr lang="en-US" dirty="0"/>
              <a:t>on one or more operands. Example : +,-,*,/,==, !=,etc.</a:t>
            </a:r>
            <a:endParaRPr lang="en-IN" dirty="0">
              <a:solidFill>
                <a:schemeClr val="accent6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Delimiters: </a:t>
            </a:r>
            <a:r>
              <a:rPr lang="en-US" b="1" dirty="0"/>
              <a:t>Symbols used to separate code </a:t>
            </a:r>
            <a:r>
              <a:rPr lang="en-US" dirty="0"/>
              <a:t>elements. Example : (),[],{} and comma(,).</a:t>
            </a:r>
            <a:endParaRPr lang="en-IN" dirty="0">
              <a:solidFill>
                <a:schemeClr val="accent6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6"/>
                </a:solidFill>
              </a:rPr>
              <a:t>Comments: </a:t>
            </a:r>
            <a:r>
              <a:rPr lang="en-US" b="1" dirty="0"/>
              <a:t>Text added to the code for documentation purposes</a:t>
            </a:r>
            <a:r>
              <a:rPr lang="en-US" dirty="0"/>
              <a:t>, which is ignored by the Python interpreter. Example : #, ’ ’ ’ ,” ” ”</a:t>
            </a:r>
            <a:endParaRPr lang="en-IN" dirty="0">
              <a:solidFill>
                <a:schemeClr val="accent6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I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23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8CCA1-5570-AF98-7EC1-24E3633F7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C434E-E735-E263-033A-93A5B235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281038-7E29-5207-BE96-81E2AF66F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E0499-039B-710D-C4BE-CE60917841C2}"/>
              </a:ext>
            </a:extLst>
          </p:cNvPr>
          <p:cNvSpPr txBox="1"/>
          <p:nvPr/>
        </p:nvSpPr>
        <p:spPr>
          <a:xfrm>
            <a:off x="0" y="863445"/>
            <a:ext cx="12191999" cy="25358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is a comment</a:t>
            </a:r>
            <a:endParaRPr lang="en-US" sz="2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en-US" sz="2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x is identifier , 42 is literal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x &gt; </a:t>
            </a:r>
            <a:r>
              <a:rPr lang="en-US" sz="2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if is keyword, &gt; is operator, 0 is literal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"x is positive"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print is function, "x is positive" is string literal</a:t>
            </a:r>
          </a:p>
          <a:p>
            <a:pPr>
              <a:lnSpc>
                <a:spcPct val="150000"/>
              </a:lnSpc>
            </a:pP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272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29A6F-0B72-94DA-B3D1-1687D10E1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072D88-BED5-3BD3-5256-DBA0359A4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4B3CDF-AEEB-5ABD-CC69-C88EE7811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9077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 is </a:t>
            </a:r>
            <a:r>
              <a:rPr lang="en-US" dirty="0">
                <a:solidFill>
                  <a:srgbClr val="C00000"/>
                </a:solidFill>
              </a:rPr>
              <a:t>Ordered Sequence of character </a:t>
            </a:r>
            <a:r>
              <a:rPr lang="en-US" dirty="0"/>
              <a:t>such as “</a:t>
            </a:r>
            <a:r>
              <a:rPr lang="en-US" dirty="0" err="1"/>
              <a:t>darshan</a:t>
            </a:r>
            <a:r>
              <a:rPr lang="en-US" dirty="0"/>
              <a:t>”, ‘college’, “</a:t>
            </a:r>
            <a:r>
              <a:rPr lang="en-US" dirty="0" err="1"/>
              <a:t>રાજકોટ</a:t>
            </a:r>
            <a:r>
              <a:rPr lang="en-US" dirty="0"/>
              <a:t>” etc..</a:t>
            </a:r>
          </a:p>
          <a:p>
            <a:r>
              <a:rPr lang="en-US" dirty="0"/>
              <a:t>Strings are </a:t>
            </a:r>
            <a:r>
              <a:rPr lang="en-US" dirty="0">
                <a:solidFill>
                  <a:srgbClr val="C00000"/>
                </a:solidFill>
              </a:rPr>
              <a:t>arrays of characters </a:t>
            </a:r>
            <a:r>
              <a:rPr lang="en-US" dirty="0"/>
              <a:t>representing </a:t>
            </a:r>
            <a:r>
              <a:rPr lang="en-US" dirty="0">
                <a:solidFill>
                  <a:srgbClr val="C00000"/>
                </a:solidFill>
              </a:rPr>
              <a:t>Unicode </a:t>
            </a:r>
            <a:r>
              <a:rPr lang="en-US" dirty="0"/>
              <a:t>characters.</a:t>
            </a:r>
          </a:p>
          <a:p>
            <a:r>
              <a:rPr lang="en-IN" dirty="0"/>
              <a:t>String can be represented as single, double or triple quotes.</a:t>
            </a:r>
          </a:p>
          <a:p>
            <a:pPr fontAlgn="base"/>
            <a:r>
              <a:rPr lang="en-US" dirty="0"/>
              <a:t>String with </a:t>
            </a:r>
            <a:r>
              <a:rPr lang="en-US" dirty="0">
                <a:solidFill>
                  <a:srgbClr val="C00000"/>
                </a:solidFill>
              </a:rPr>
              <a:t>triple</a:t>
            </a:r>
            <a:r>
              <a:rPr lang="en-US" dirty="0"/>
              <a:t> Quotes allows </a:t>
            </a:r>
            <a:r>
              <a:rPr lang="en-US" dirty="0">
                <a:solidFill>
                  <a:srgbClr val="C00000"/>
                </a:solidFill>
              </a:rPr>
              <a:t>multiple</a:t>
            </a:r>
            <a:r>
              <a:rPr lang="en-US" dirty="0"/>
              <a:t> lines.</a:t>
            </a:r>
          </a:p>
          <a:p>
            <a:pPr fontAlgn="base"/>
            <a:r>
              <a:rPr lang="en-IN" dirty="0"/>
              <a:t>String in Python is </a:t>
            </a:r>
            <a:r>
              <a:rPr lang="en-IN" dirty="0">
                <a:solidFill>
                  <a:srgbClr val="C00000"/>
                </a:solidFill>
              </a:rPr>
              <a:t>immutable</a:t>
            </a:r>
            <a:r>
              <a:rPr lang="en-IN" dirty="0"/>
              <a:t>.</a:t>
            </a:r>
            <a:endParaRPr lang="en-US" dirty="0"/>
          </a:p>
          <a:p>
            <a:r>
              <a:rPr lang="en-US" dirty="0"/>
              <a:t>Square brackets can be used to access elements of the string, Ex. “</a:t>
            </a:r>
            <a:r>
              <a:rPr lang="en-US" dirty="0" err="1"/>
              <a:t>Darshan</a:t>
            </a:r>
            <a:r>
              <a:rPr lang="en-US" dirty="0"/>
              <a:t>”[1] = a, characters can also be accessed with reverse index like “</a:t>
            </a:r>
            <a:r>
              <a:rPr lang="en-US" dirty="0" err="1"/>
              <a:t>Darshan</a:t>
            </a:r>
            <a:r>
              <a:rPr lang="en-US" dirty="0"/>
              <a:t>”[-1] = n.</a:t>
            </a:r>
            <a:endParaRPr lang="en-I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452435" y="4255264"/>
            <a:ext cx="10869686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3200" b="1" dirty="0">
                <a:latin typeface="Consolas" pitchFamily="49" charset="0"/>
                <a:cs typeface="Consolas" panose="020B0609020204030204" pitchFamily="49" charset="0"/>
              </a:rPr>
              <a:t>            x = "  D  a  r  s  h  a  n  "</a:t>
            </a:r>
          </a:p>
          <a:p>
            <a:r>
              <a:rPr lang="en-IN" sz="3200" b="1" dirty="0">
                <a:latin typeface="Consolas" pitchFamily="49" charset="0"/>
                <a:cs typeface="Consolas" panose="020B0609020204030204" pitchFamily="49" charset="0"/>
              </a:rPr>
              <a:t>        index =    0  1  2  3  4  5  6</a:t>
            </a:r>
          </a:p>
          <a:p>
            <a:r>
              <a:rPr lang="en-IN" sz="3200" b="1" dirty="0">
                <a:latin typeface="Consolas" pitchFamily="49" charset="0"/>
                <a:cs typeface="Consolas" panose="020B0609020204030204" pitchFamily="49" charset="0"/>
              </a:rPr>
              <a:t>Reverse index </a:t>
            </a:r>
            <a:r>
              <a:rPr lang="en-IN" sz="3200" b="1">
                <a:latin typeface="Consolas" pitchFamily="49" charset="0"/>
                <a:cs typeface="Consolas" panose="020B0609020204030204" pitchFamily="49" charset="0"/>
              </a:rPr>
              <a:t>=    -7 </a:t>
            </a:r>
            <a:r>
              <a:rPr lang="en-IN" sz="3200" b="1" dirty="0">
                <a:latin typeface="Consolas" pitchFamily="49" charset="0"/>
                <a:cs typeface="Consolas" panose="020B0609020204030204" pitchFamily="49" charset="0"/>
              </a:rPr>
              <a:t>-6 -5 -4 -3 -2 -1 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452435" y="3926080"/>
            <a:ext cx="155102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String 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uiExpand="1" build="p" animBg="1"/>
      <p:bldP spid="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Slicing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get the </a:t>
            </a:r>
            <a:r>
              <a:rPr lang="en-US" dirty="0">
                <a:solidFill>
                  <a:srgbClr val="C00000"/>
                </a:solidFill>
              </a:rPr>
              <a:t>substring</a:t>
            </a:r>
            <a:r>
              <a:rPr lang="en-US" dirty="0"/>
              <a:t> in python using string slicing, we can specify </a:t>
            </a:r>
            <a:r>
              <a:rPr lang="en-US" dirty="0">
                <a:solidFill>
                  <a:srgbClr val="C00000"/>
                </a:solidFill>
              </a:rPr>
              <a:t>start index, end index and steps </a:t>
            </a:r>
            <a:r>
              <a:rPr lang="en-US" dirty="0"/>
              <a:t>(colon separated) to slice the string.</a:t>
            </a:r>
          </a:p>
          <a:p>
            <a:endParaRPr lang="en-IN" dirty="0"/>
          </a:p>
          <a:p>
            <a:endParaRPr lang="en-IN" dirty="0"/>
          </a:p>
          <a:p>
            <a:pPr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pPr>
              <a:buNone/>
            </a:pPr>
            <a:endParaRPr lang="en-IN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522641" y="1895324"/>
            <a:ext cx="10238491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 institute of engineering and technology, 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gujarat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 INDIA'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subx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x[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startindex:endindex:steps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566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165339"/>
            <a:ext cx="9679232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 of engineering and technology,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gujarat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 INDIA'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subx1 = x[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subx2 = x[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49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subx3 = x[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66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subx4 = x[::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subx5 = x[::-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print(subx1)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print(subx2)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print(subx3)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print(subx4)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print(subx5)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165339"/>
            <a:ext cx="499993" cy="28007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283615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strslicedemo.py</a:t>
            </a:r>
          </a:p>
        </p:txBody>
      </p:sp>
      <p:sp>
        <p:nvSpPr>
          <p:cNvPr id="17" name="Line Callout 1 16"/>
          <p:cNvSpPr/>
          <p:nvPr/>
        </p:nvSpPr>
        <p:spPr>
          <a:xfrm>
            <a:off x="4665133" y="3525454"/>
            <a:ext cx="5607967" cy="420013"/>
          </a:xfrm>
          <a:prstGeom prst="borderCallout1">
            <a:avLst>
              <a:gd name="adj1" fmla="val 53885"/>
              <a:gd name="adj2" fmla="val -612"/>
              <a:gd name="adj3" fmla="val 299567"/>
              <a:gd name="adj4" fmla="val -38789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2" name="Line Callout 1 11"/>
          <p:cNvSpPr/>
          <p:nvPr/>
        </p:nvSpPr>
        <p:spPr>
          <a:xfrm>
            <a:off x="5794233" y="2331655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7568"/>
              <a:gd name="adj4" fmla="val -57919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tx1"/>
                </a:solidFill>
              </a:rPr>
              <a:t>endindex</a:t>
            </a:r>
            <a:r>
              <a:rPr lang="en-IN" dirty="0">
                <a:solidFill>
                  <a:schemeClr val="tx1"/>
                </a:solidFill>
              </a:rPr>
              <a:t> will not be included in the substring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3" name="Line Callout 1 12"/>
          <p:cNvSpPr/>
          <p:nvPr/>
        </p:nvSpPr>
        <p:spPr>
          <a:xfrm>
            <a:off x="4682066" y="4016521"/>
            <a:ext cx="5607967" cy="420013"/>
          </a:xfrm>
          <a:prstGeom prst="borderCallout1">
            <a:avLst>
              <a:gd name="adj1" fmla="val 53885"/>
              <a:gd name="adj2" fmla="val -612"/>
              <a:gd name="adj3" fmla="val 247156"/>
              <a:gd name="adj4" fmla="val -39393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8" name="Line Callout 1 17"/>
          <p:cNvSpPr/>
          <p:nvPr/>
        </p:nvSpPr>
        <p:spPr>
          <a:xfrm>
            <a:off x="4682066" y="4524521"/>
            <a:ext cx="5607967" cy="420013"/>
          </a:xfrm>
          <a:prstGeom prst="borderCallout1">
            <a:avLst>
              <a:gd name="adj1" fmla="val 53885"/>
              <a:gd name="adj2" fmla="val -612"/>
              <a:gd name="adj3" fmla="val 180634"/>
              <a:gd name="adj4" fmla="val -3894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INDIA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9" name="Line Callout 1 18"/>
          <p:cNvSpPr/>
          <p:nvPr/>
        </p:nvSpPr>
        <p:spPr>
          <a:xfrm>
            <a:off x="4682066" y="5049454"/>
            <a:ext cx="5607967" cy="420013"/>
          </a:xfrm>
          <a:prstGeom prst="borderCallout1">
            <a:avLst>
              <a:gd name="adj1" fmla="val 53885"/>
              <a:gd name="adj2" fmla="val -612"/>
              <a:gd name="adj3" fmla="val 116128"/>
              <a:gd name="adj4" fmla="val -3909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drhnisiueo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niern</a:t>
            </a:r>
            <a:r>
              <a:rPr lang="en-IN" i="1" dirty="0">
                <a:solidFill>
                  <a:schemeClr val="tx1"/>
                </a:solidFill>
              </a:rPr>
              <a:t> n </a:t>
            </a:r>
            <a:r>
              <a:rPr lang="en-IN" i="1" dirty="0" err="1">
                <a:solidFill>
                  <a:schemeClr val="tx1"/>
                </a:solidFill>
              </a:rPr>
              <a:t>ehooy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akt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uaa,IDA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0" name="Line Callout 1 19"/>
          <p:cNvSpPr/>
          <p:nvPr/>
        </p:nvSpPr>
        <p:spPr>
          <a:xfrm>
            <a:off x="2971800" y="5532054"/>
            <a:ext cx="7318233" cy="420013"/>
          </a:xfrm>
          <a:prstGeom prst="borderCallout1">
            <a:avLst>
              <a:gd name="adj1" fmla="val 53885"/>
              <a:gd name="adj2" fmla="val -612"/>
              <a:gd name="adj3" fmla="val 55654"/>
              <a:gd name="adj4" fmla="val -7189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AIDNI ,</a:t>
            </a:r>
            <a:r>
              <a:rPr lang="en-IN" i="1" dirty="0" err="1">
                <a:solidFill>
                  <a:schemeClr val="tx1"/>
                </a:solidFill>
              </a:rPr>
              <a:t>tarajug</a:t>
            </a:r>
            <a:r>
              <a:rPr lang="en-IN" i="1" dirty="0">
                <a:solidFill>
                  <a:schemeClr val="tx1"/>
                </a:solidFill>
              </a:rPr>
              <a:t> ,</a:t>
            </a:r>
            <a:r>
              <a:rPr lang="en-IN" i="1" dirty="0" err="1">
                <a:solidFill>
                  <a:schemeClr val="tx1"/>
                </a:solidFill>
              </a:rPr>
              <a:t>tokjar</a:t>
            </a:r>
            <a:r>
              <a:rPr lang="en-IN" i="1" dirty="0">
                <a:solidFill>
                  <a:schemeClr val="tx1"/>
                </a:solidFill>
              </a:rPr>
              <a:t> ,</a:t>
            </a:r>
            <a:r>
              <a:rPr lang="en-IN" i="1" dirty="0" err="1">
                <a:solidFill>
                  <a:schemeClr val="tx1"/>
                </a:solidFill>
              </a:rPr>
              <a:t>ygolonhcet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dna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gnireenigne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fo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etutitsni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nahsrad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 animBg="1"/>
      <p:bldP spid="6" grpId="0" animBg="1"/>
      <p:bldP spid="14" grpId="0" build="p" animBg="1"/>
      <p:bldP spid="15" grpId="0" animBg="1"/>
      <p:bldP spid="16" grpId="0" animBg="1"/>
      <p:bldP spid="17" grpId="0" animBg="1"/>
      <p:bldP spid="17" grpId="1" animBg="1"/>
      <p:bldP spid="12" grpId="0" animBg="1"/>
      <p:bldP spid="12" grpId="1" animBg="1"/>
      <p:bldP spid="13" grpId="0" animBg="1"/>
      <p:bldP spid="13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has lots of </a:t>
            </a:r>
            <a:r>
              <a:rPr lang="en-US" dirty="0">
                <a:solidFill>
                  <a:srgbClr val="C00000"/>
                </a:solidFill>
              </a:rPr>
              <a:t>built-in methods </a:t>
            </a:r>
            <a:r>
              <a:rPr lang="en-US" dirty="0"/>
              <a:t>that you can use on strings, we are going to cover some frequently used methods for string like</a:t>
            </a:r>
          </a:p>
          <a:p>
            <a:pPr lvl="1"/>
            <a:r>
              <a:rPr lang="en-IN" b="1" dirty="0" err="1">
                <a:solidFill>
                  <a:srgbClr val="C00000"/>
                </a:solidFill>
              </a:rPr>
              <a:t>len</a:t>
            </a:r>
            <a:r>
              <a:rPr lang="en-IN" b="1" dirty="0">
                <a:solidFill>
                  <a:srgbClr val="C00000"/>
                </a:solidFill>
              </a:rPr>
              <a:t>()</a:t>
            </a:r>
          </a:p>
          <a:p>
            <a:pPr lvl="1"/>
            <a:r>
              <a:rPr lang="en-IN" dirty="0"/>
              <a:t>count()</a:t>
            </a:r>
          </a:p>
          <a:p>
            <a:pPr lvl="1"/>
            <a:r>
              <a:rPr lang="en-IN" dirty="0"/>
              <a:t>title(), lower(), upper()</a:t>
            </a:r>
          </a:p>
          <a:p>
            <a:pPr lvl="1"/>
            <a:r>
              <a:rPr lang="en-IN" dirty="0" err="1"/>
              <a:t>istitle</a:t>
            </a:r>
            <a:r>
              <a:rPr lang="en-IN" dirty="0"/>
              <a:t>(), </a:t>
            </a:r>
            <a:r>
              <a:rPr lang="en-IN" dirty="0" err="1"/>
              <a:t>islower</a:t>
            </a:r>
            <a:r>
              <a:rPr lang="en-IN" dirty="0"/>
              <a:t>(), </a:t>
            </a:r>
            <a:r>
              <a:rPr lang="en-IN" dirty="0" err="1"/>
              <a:t>isupper</a:t>
            </a:r>
            <a:r>
              <a:rPr lang="en-IN" dirty="0"/>
              <a:t>()</a:t>
            </a:r>
          </a:p>
          <a:p>
            <a:pPr lvl="1"/>
            <a:r>
              <a:rPr lang="en-IN" dirty="0"/>
              <a:t>find(), </a:t>
            </a:r>
            <a:r>
              <a:rPr lang="en-IN" dirty="0" err="1"/>
              <a:t>rfind</a:t>
            </a:r>
            <a:r>
              <a:rPr lang="en-IN" dirty="0"/>
              <a:t>(), replace()</a:t>
            </a:r>
          </a:p>
          <a:p>
            <a:pPr lvl="1"/>
            <a:r>
              <a:rPr lang="en-IN" dirty="0"/>
              <a:t>index(), </a:t>
            </a:r>
            <a:r>
              <a:rPr lang="en-IN" dirty="0" err="1"/>
              <a:t>rindex</a:t>
            </a:r>
            <a:r>
              <a:rPr lang="en-IN" dirty="0"/>
              <a:t>()</a:t>
            </a:r>
          </a:p>
          <a:p>
            <a:pPr lvl="1"/>
            <a:r>
              <a:rPr lang="en-IN" dirty="0"/>
              <a:t>Methods for validations like</a:t>
            </a:r>
          </a:p>
          <a:p>
            <a:pPr lvl="2"/>
            <a:r>
              <a:rPr lang="en-IN" dirty="0" err="1"/>
              <a:t>isalpha</a:t>
            </a:r>
            <a:r>
              <a:rPr lang="en-IN" dirty="0"/>
              <a:t>(), </a:t>
            </a:r>
            <a:r>
              <a:rPr lang="en-IN" dirty="0" err="1"/>
              <a:t>isalnum</a:t>
            </a:r>
            <a:r>
              <a:rPr lang="en-IN" dirty="0"/>
              <a:t>(), </a:t>
            </a:r>
            <a:r>
              <a:rPr lang="en-IN" dirty="0" err="1"/>
              <a:t>isdecimal</a:t>
            </a:r>
            <a:r>
              <a:rPr lang="en-IN" dirty="0"/>
              <a:t>(), </a:t>
            </a:r>
            <a:r>
              <a:rPr lang="en-IN" dirty="0" err="1"/>
              <a:t>isdigit</a:t>
            </a:r>
            <a:r>
              <a:rPr lang="en-IN" dirty="0"/>
              <a:t>()</a:t>
            </a:r>
          </a:p>
          <a:p>
            <a:pPr lvl="1"/>
            <a:r>
              <a:rPr lang="en-IN" dirty="0"/>
              <a:t>strip(), </a:t>
            </a:r>
            <a:r>
              <a:rPr lang="en-IN" dirty="0" err="1"/>
              <a:t>lstrip</a:t>
            </a:r>
            <a:r>
              <a:rPr lang="en-IN" dirty="0"/>
              <a:t>(), </a:t>
            </a:r>
            <a:r>
              <a:rPr lang="en-IN" dirty="0" err="1"/>
              <a:t>rstrip</a:t>
            </a:r>
            <a:r>
              <a:rPr lang="en-IN" dirty="0"/>
              <a:t>()</a:t>
            </a:r>
          </a:p>
          <a:p>
            <a:pPr lvl="1"/>
            <a:r>
              <a:rPr lang="en-IN" dirty="0"/>
              <a:t>split()</a:t>
            </a:r>
          </a:p>
          <a:p>
            <a:pPr lvl="1"/>
            <a:r>
              <a:rPr lang="en-IN" dirty="0"/>
              <a:t>Etc..</a:t>
            </a:r>
          </a:p>
          <a:p>
            <a:r>
              <a:rPr lang="en-IN" b="1" dirty="0"/>
              <a:t>Note</a:t>
            </a:r>
            <a:r>
              <a:rPr lang="en-IN" dirty="0"/>
              <a:t> : </a:t>
            </a:r>
            <a:r>
              <a:rPr lang="en-IN" dirty="0" err="1"/>
              <a:t>len</a:t>
            </a:r>
            <a:r>
              <a:rPr lang="en-IN" dirty="0"/>
              <a:t>() is not the method of the string but can be used to get the </a:t>
            </a:r>
            <a:r>
              <a:rPr lang="en-IN" dirty="0">
                <a:solidFill>
                  <a:srgbClr val="C00000"/>
                </a:solidFill>
              </a:rPr>
              <a:t>length of the string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12002" y="6024043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(x))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12009" y="6024043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12009" y="569485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lendemo.py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3346258" y="5828534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89527"/>
              <a:gd name="adj4" fmla="val -1479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7 (length of “</a:t>
            </a:r>
            <a:r>
              <a:rPr lang="en-IN" dirty="0" err="1">
                <a:solidFill>
                  <a:schemeClr val="tx1"/>
                </a:solidFill>
              </a:rPr>
              <a:t>Darshan</a:t>
            </a:r>
            <a:r>
              <a:rPr lang="en-IN" dirty="0">
                <a:solidFill>
                  <a:schemeClr val="tx1"/>
                </a:solidFill>
              </a:rPr>
              <a:t>”)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Methods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count</a:t>
            </a:r>
            <a:r>
              <a:rPr lang="en-IN" dirty="0"/>
              <a:t>() method will </a:t>
            </a:r>
            <a:r>
              <a:rPr lang="en-US" dirty="0"/>
              <a:t>returns the number of times a </a:t>
            </a:r>
            <a:r>
              <a:rPr lang="en-US" dirty="0">
                <a:solidFill>
                  <a:srgbClr val="C00000"/>
                </a:solidFill>
              </a:rPr>
              <a:t>specified value occurs </a:t>
            </a:r>
            <a:r>
              <a:rPr lang="en-US" dirty="0"/>
              <a:t>in a string.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/>
              <a:t>title</a:t>
            </a:r>
            <a:r>
              <a:rPr lang="en-IN" sz="2400" dirty="0"/>
              <a:t>(), </a:t>
            </a:r>
            <a:r>
              <a:rPr lang="en-IN" sz="2400" b="1" dirty="0"/>
              <a:t>lower</a:t>
            </a:r>
            <a:r>
              <a:rPr lang="en-IN" sz="2400" dirty="0"/>
              <a:t>(), </a:t>
            </a:r>
            <a:r>
              <a:rPr lang="en-IN" sz="2400" b="1" dirty="0"/>
              <a:t>upper</a:t>
            </a:r>
            <a:r>
              <a:rPr lang="en-IN" sz="2400" dirty="0"/>
              <a:t>()</a:t>
            </a:r>
            <a:r>
              <a:rPr lang="en-US" sz="2400" dirty="0"/>
              <a:t> will returns </a:t>
            </a:r>
            <a:r>
              <a:rPr lang="en-US" sz="2400" dirty="0">
                <a:solidFill>
                  <a:srgbClr val="C00000"/>
                </a:solidFill>
              </a:rPr>
              <a:t>capitalized, lower case and upper case </a:t>
            </a:r>
            <a:r>
              <a:rPr lang="en-US" sz="2400" dirty="0"/>
              <a:t>string respectively.</a:t>
            </a:r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598979"/>
            <a:ext cx="8472276" cy="8584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ca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x.count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'a'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print(ca)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598979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26979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countdemo.py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3728366" y="1679695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98649"/>
              <a:gd name="adj4" fmla="val -3343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2 (occurrence of ‘a’ in “</a:t>
            </a:r>
            <a:r>
              <a:rPr lang="en-IN" dirty="0" err="1">
                <a:solidFill>
                  <a:schemeClr val="tx1"/>
                </a:solidFill>
              </a:rPr>
              <a:t>Darshan</a:t>
            </a:r>
            <a:r>
              <a:rPr lang="en-IN" dirty="0">
                <a:solidFill>
                  <a:schemeClr val="tx1"/>
                </a:solidFill>
              </a:rPr>
              <a:t>”)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41471" y="3826759"/>
            <a:ext cx="8472276" cy="1846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 = </a:t>
            </a:r>
            <a:r>
              <a:rPr lang="en-US" sz="1600">
                <a:solidFill>
                  <a:srgbClr val="000000"/>
                </a:solidFill>
                <a:latin typeface="Consolas"/>
              </a:rPr>
              <a:t>x.title()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l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x.lower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u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x.upper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print(c)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print(l)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print(u)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41478" y="3826759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41478" y="349757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changecase.py</a:t>
            </a:r>
          </a:p>
        </p:txBody>
      </p:sp>
      <p:sp>
        <p:nvSpPr>
          <p:cNvPr id="11" name="Line Callout 1 10"/>
          <p:cNvSpPr/>
          <p:nvPr/>
        </p:nvSpPr>
        <p:spPr>
          <a:xfrm>
            <a:off x="4723247" y="3917751"/>
            <a:ext cx="4495800" cy="510412"/>
          </a:xfrm>
          <a:prstGeom prst="borderCallout1">
            <a:avLst>
              <a:gd name="adj1" fmla="val 53885"/>
              <a:gd name="adj2" fmla="val -612"/>
              <a:gd name="adj3" fmla="val 204649"/>
              <a:gd name="adj4" fmla="val -5903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dirty="0" err="1">
                <a:solidFill>
                  <a:schemeClr val="tx1"/>
                </a:solidFill>
              </a:rPr>
              <a:t>Darshan</a:t>
            </a:r>
            <a:r>
              <a:rPr lang="en-IN" dirty="0">
                <a:solidFill>
                  <a:schemeClr val="tx1"/>
                </a:solidFill>
              </a:rPr>
              <a:t> Institute, Rajkot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Line Callout 1 11"/>
          <p:cNvSpPr/>
          <p:nvPr/>
        </p:nvSpPr>
        <p:spPr>
          <a:xfrm>
            <a:off x="4721535" y="4501666"/>
            <a:ext cx="4495800" cy="510412"/>
          </a:xfrm>
          <a:prstGeom prst="borderCallout1">
            <a:avLst>
              <a:gd name="adj1" fmla="val 53885"/>
              <a:gd name="adj2" fmla="val -612"/>
              <a:gd name="adj3" fmla="val 140236"/>
              <a:gd name="adj4" fmla="val -5903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dirty="0" err="1">
                <a:solidFill>
                  <a:schemeClr val="tx1"/>
                </a:solidFill>
              </a:rPr>
              <a:t>darshan</a:t>
            </a:r>
            <a:r>
              <a:rPr lang="en-IN" dirty="0">
                <a:solidFill>
                  <a:schemeClr val="tx1"/>
                </a:solidFill>
              </a:rPr>
              <a:t> institute, </a:t>
            </a:r>
            <a:r>
              <a:rPr lang="en-IN" dirty="0" err="1">
                <a:solidFill>
                  <a:schemeClr val="tx1"/>
                </a:solidFill>
              </a:rPr>
              <a:t>rajkot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Line Callout 1 12"/>
          <p:cNvSpPr/>
          <p:nvPr/>
        </p:nvSpPr>
        <p:spPr>
          <a:xfrm>
            <a:off x="4740371" y="5085580"/>
            <a:ext cx="4495800" cy="510412"/>
          </a:xfrm>
          <a:prstGeom prst="borderCallout1">
            <a:avLst>
              <a:gd name="adj1" fmla="val 53885"/>
              <a:gd name="adj2" fmla="val -612"/>
              <a:gd name="adj3" fmla="val 71797"/>
              <a:gd name="adj4" fmla="val -5948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DARSHAN INSTITUTE, RAJKOT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  <p:bldP spid="8" grpId="0" build="p" animBg="1"/>
      <p:bldP spid="9" grpId="0" animBg="1"/>
      <p:bldP spid="10" grpId="0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Methods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 err="1"/>
              <a:t>istitle</a:t>
            </a:r>
            <a:r>
              <a:rPr lang="en-IN" sz="2400" dirty="0"/>
              <a:t>(), </a:t>
            </a:r>
            <a:r>
              <a:rPr lang="en-IN" sz="2400" b="1" dirty="0" err="1"/>
              <a:t>islower</a:t>
            </a:r>
            <a:r>
              <a:rPr lang="en-IN" sz="2400" dirty="0"/>
              <a:t>(), </a:t>
            </a:r>
            <a:r>
              <a:rPr lang="en-IN" sz="2400" b="1" dirty="0" err="1"/>
              <a:t>isupper</a:t>
            </a:r>
            <a:r>
              <a:rPr lang="en-IN" sz="2400" dirty="0"/>
              <a:t>()</a:t>
            </a:r>
            <a:r>
              <a:rPr lang="en-US" sz="2400" dirty="0"/>
              <a:t> will returns True if the given string is </a:t>
            </a:r>
            <a:r>
              <a:rPr lang="en-US" sz="2400" dirty="0">
                <a:solidFill>
                  <a:srgbClr val="C00000"/>
                </a:solidFill>
              </a:rPr>
              <a:t>capitalized, lower case and upper case</a:t>
            </a:r>
            <a:r>
              <a:rPr lang="en-US" sz="2400" dirty="0"/>
              <a:t> respectively.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/>
              <a:t>strip</a:t>
            </a:r>
            <a:r>
              <a:rPr lang="en-IN" sz="2400" dirty="0"/>
              <a:t>() method will </a:t>
            </a:r>
            <a:r>
              <a:rPr lang="en-US" sz="2400" dirty="0">
                <a:solidFill>
                  <a:srgbClr val="C00000"/>
                </a:solidFill>
              </a:rPr>
              <a:t>remove whitespaces from both</a:t>
            </a:r>
            <a:r>
              <a:rPr lang="en-US" sz="2400" dirty="0"/>
              <a:t> side of the string and returns the string.</a:t>
            </a:r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 err="1"/>
              <a:t>rstrip</a:t>
            </a:r>
            <a:r>
              <a:rPr lang="en-IN" sz="2400" dirty="0"/>
              <a:t>() and </a:t>
            </a:r>
            <a:r>
              <a:rPr lang="en-IN" sz="2400" b="1" dirty="0" err="1"/>
              <a:t>lstrip</a:t>
            </a:r>
            <a:r>
              <a:rPr lang="en-IN" sz="2400" dirty="0"/>
              <a:t>() will remove whitespaces from </a:t>
            </a:r>
            <a:r>
              <a:rPr lang="en-IN" sz="2400" dirty="0">
                <a:solidFill>
                  <a:srgbClr val="C00000"/>
                </a:solidFill>
              </a:rPr>
              <a:t>right and left </a:t>
            </a:r>
            <a:r>
              <a:rPr lang="en-IN" sz="2400" dirty="0"/>
              <a:t>side respectively.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05702" y="4771862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    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 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x.strip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print(f)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05709" y="4771862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05709" y="444267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stripdemo.py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3711433" y="4852578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98649"/>
              <a:gd name="adj4" fmla="val -3343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dirty="0">
                <a:solidFill>
                  <a:schemeClr val="tx1"/>
                </a:solidFill>
              </a:rPr>
              <a:t> (without space)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41471" y="1964093"/>
            <a:ext cx="8472276" cy="1846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x.istitle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l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x.islower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u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x.isupper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print(c)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print(l)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print(u)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41478" y="1964093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41478" y="163490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checkcase.py</a:t>
            </a:r>
          </a:p>
        </p:txBody>
      </p:sp>
      <p:sp>
        <p:nvSpPr>
          <p:cNvPr id="11" name="Line Callout 1 10"/>
          <p:cNvSpPr/>
          <p:nvPr/>
        </p:nvSpPr>
        <p:spPr>
          <a:xfrm>
            <a:off x="4723247" y="2055085"/>
            <a:ext cx="4495800" cy="510412"/>
          </a:xfrm>
          <a:prstGeom prst="borderCallout1">
            <a:avLst>
              <a:gd name="adj1" fmla="val 53885"/>
              <a:gd name="adj2" fmla="val -612"/>
              <a:gd name="adj3" fmla="val 204649"/>
              <a:gd name="adj4" fmla="val -5903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False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2" name="Line Callout 1 11"/>
          <p:cNvSpPr/>
          <p:nvPr/>
        </p:nvSpPr>
        <p:spPr>
          <a:xfrm>
            <a:off x="4721535" y="2639000"/>
            <a:ext cx="4495800" cy="510412"/>
          </a:xfrm>
          <a:prstGeom prst="borderCallout1">
            <a:avLst>
              <a:gd name="adj1" fmla="val 53885"/>
              <a:gd name="adj2" fmla="val -612"/>
              <a:gd name="adj3" fmla="val 140236"/>
              <a:gd name="adj4" fmla="val -5903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True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3" name="Line Callout 1 12"/>
          <p:cNvSpPr/>
          <p:nvPr/>
        </p:nvSpPr>
        <p:spPr>
          <a:xfrm>
            <a:off x="4740371" y="3222914"/>
            <a:ext cx="4495800" cy="510412"/>
          </a:xfrm>
          <a:prstGeom prst="borderCallout1">
            <a:avLst>
              <a:gd name="adj1" fmla="val 53885"/>
              <a:gd name="adj2" fmla="val -612"/>
              <a:gd name="adj3" fmla="val 71797"/>
              <a:gd name="adj4" fmla="val -5948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False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  <p:bldP spid="8" grpId="0" uiExpand="1" build="p" animBg="1"/>
      <p:bldP spid="9" grpId="0" animBg="1"/>
      <p:bldP spid="10" grpId="0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Methods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find</a:t>
            </a:r>
            <a:r>
              <a:rPr lang="en-IN" dirty="0"/>
              <a:t>() method will search the string and </a:t>
            </a:r>
            <a:r>
              <a:rPr lang="en-US" dirty="0">
                <a:solidFill>
                  <a:srgbClr val="C00000"/>
                </a:solidFill>
              </a:rPr>
              <a:t>returns the index </a:t>
            </a:r>
            <a:r>
              <a:rPr lang="en-US" dirty="0"/>
              <a:t>at which they find the specified value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 err="1"/>
              <a:t>rfind</a:t>
            </a:r>
            <a:r>
              <a:rPr lang="en-IN" dirty="0"/>
              <a:t>() will search the string and </a:t>
            </a:r>
            <a:r>
              <a:rPr lang="en-US" dirty="0"/>
              <a:t>returns the </a:t>
            </a:r>
            <a:r>
              <a:rPr lang="en-US" dirty="0">
                <a:solidFill>
                  <a:srgbClr val="C00000"/>
                </a:solidFill>
              </a:rPr>
              <a:t>last index</a:t>
            </a:r>
            <a:r>
              <a:rPr lang="en-US" dirty="0"/>
              <a:t> at which they find the specified value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/>
              <a:t>Note</a:t>
            </a:r>
            <a:r>
              <a:rPr lang="en-IN" sz="2400" dirty="0"/>
              <a:t> : </a:t>
            </a:r>
            <a:r>
              <a:rPr lang="en-IN" sz="2400" b="1" dirty="0"/>
              <a:t>find</a:t>
            </a:r>
            <a:r>
              <a:rPr lang="en-IN" sz="2400" dirty="0"/>
              <a:t>() and </a:t>
            </a:r>
            <a:r>
              <a:rPr lang="en-IN" sz="2400" b="1" dirty="0" err="1"/>
              <a:t>rfind</a:t>
            </a:r>
            <a:r>
              <a:rPr lang="en-IN" sz="2400" dirty="0"/>
              <a:t>() will </a:t>
            </a:r>
            <a:r>
              <a:rPr lang="en-IN" sz="2400" b="1" dirty="0"/>
              <a:t>return -1</a:t>
            </a:r>
            <a:r>
              <a:rPr lang="en-IN" sz="2400" dirty="0"/>
              <a:t> if they are unable to find the given string.</a:t>
            </a:r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/>
              <a:t>replace</a:t>
            </a:r>
            <a:r>
              <a:rPr lang="en-IN" sz="2400" dirty="0"/>
              <a:t>() will </a:t>
            </a:r>
            <a:r>
              <a:rPr lang="en-US" sz="2400" dirty="0">
                <a:solidFill>
                  <a:srgbClr val="C00000"/>
                </a:solidFill>
              </a:rPr>
              <a:t>replace</a:t>
            </a:r>
            <a:r>
              <a:rPr lang="en-US" sz="2400" dirty="0"/>
              <a:t> str1 with str2 from our string and return the updated string</a:t>
            </a:r>
            <a:endParaRPr lang="en-I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598979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x.find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print(f)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598979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26979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finddemo.py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794233" y="1688161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8 (occurrence of ‘in’  in x)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427778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x.rfind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print(r)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427778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09859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rfinddemo.py</a:t>
            </a:r>
          </a:p>
        </p:txBody>
      </p:sp>
      <p:sp>
        <p:nvSpPr>
          <p:cNvPr id="17" name="Line Callout 1 16"/>
          <p:cNvSpPr/>
          <p:nvPr/>
        </p:nvSpPr>
        <p:spPr>
          <a:xfrm>
            <a:off x="5794233" y="3516960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27 (last occurrence of ‘in’  in x)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5696863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x.replace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india'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print(r)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5688396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535921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replacedemo.py</a:t>
            </a:r>
          </a:p>
        </p:txBody>
      </p:sp>
      <p:sp>
        <p:nvSpPr>
          <p:cNvPr id="21" name="Line Callout 1 20"/>
          <p:cNvSpPr/>
          <p:nvPr/>
        </p:nvSpPr>
        <p:spPr>
          <a:xfrm>
            <a:off x="5794233" y="5786045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“</a:t>
            </a:r>
            <a:r>
              <a:rPr lang="en-IN" dirty="0" err="1">
                <a:solidFill>
                  <a:schemeClr val="tx1"/>
                </a:solidFill>
              </a:rPr>
              <a:t>darshan</a:t>
            </a:r>
            <a:r>
              <a:rPr lang="en-IN" dirty="0">
                <a:solidFill>
                  <a:schemeClr val="tx1"/>
                </a:solidFill>
              </a:rPr>
              <a:t> institute, </a:t>
            </a:r>
            <a:r>
              <a:rPr lang="en-IN" dirty="0" err="1">
                <a:solidFill>
                  <a:schemeClr val="tx1"/>
                </a:solidFill>
              </a:rPr>
              <a:t>rajkot</a:t>
            </a:r>
            <a:r>
              <a:rPr lang="en-IN" dirty="0">
                <a:solidFill>
                  <a:schemeClr val="tx1"/>
                </a:solidFill>
              </a:rPr>
              <a:t>, INDIA”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  <p:bldP spid="14" grpId="0" build="p" animBg="1"/>
      <p:bldP spid="15" grpId="0" animBg="1"/>
      <p:bldP spid="16" grpId="0" animBg="1"/>
      <p:bldP spid="17" grpId="0" animBg="1"/>
      <p:bldP spid="17" grpId="1" animBg="1"/>
      <p:bldP spid="18" grpId="0" build="p" animBg="1"/>
      <p:bldP spid="19" grpId="0" animBg="1"/>
      <p:bldP spid="20" grpId="0" animBg="1"/>
      <p:bldP spid="21" grpId="0" animBg="1"/>
      <p:bldP spid="21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Methods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index</a:t>
            </a:r>
            <a:r>
              <a:rPr lang="en-IN" dirty="0"/>
              <a:t>() method will search the string and </a:t>
            </a:r>
            <a:r>
              <a:rPr lang="en-US" dirty="0"/>
              <a:t>returns the </a:t>
            </a:r>
            <a:r>
              <a:rPr lang="en-US" dirty="0">
                <a:solidFill>
                  <a:srgbClr val="C00000"/>
                </a:solidFill>
              </a:rPr>
              <a:t>index</a:t>
            </a:r>
            <a:r>
              <a:rPr lang="en-US" dirty="0"/>
              <a:t> at which they find the specified value, but if they are unable to find the string it will raise an exception.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 err="1"/>
              <a:t>rindex</a:t>
            </a:r>
            <a:r>
              <a:rPr lang="en-IN" dirty="0"/>
              <a:t>() will search the string and </a:t>
            </a:r>
            <a:r>
              <a:rPr lang="en-US" dirty="0"/>
              <a:t>returns the </a:t>
            </a:r>
            <a:r>
              <a:rPr lang="en-US" dirty="0">
                <a:solidFill>
                  <a:srgbClr val="C00000"/>
                </a:solidFill>
              </a:rPr>
              <a:t>last index </a:t>
            </a:r>
            <a:r>
              <a:rPr lang="en-US" dirty="0"/>
              <a:t>at which they find the specified value , but if they are unable to find the string it will raise an exception.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Note : </a:t>
            </a:r>
            <a:r>
              <a:rPr lang="en-IN" b="1" dirty="0"/>
              <a:t>find</a:t>
            </a:r>
            <a:r>
              <a:rPr lang="en-IN" dirty="0"/>
              <a:t>() and </a:t>
            </a:r>
            <a:r>
              <a:rPr lang="en-IN" b="1" dirty="0"/>
              <a:t>index</a:t>
            </a:r>
            <a:r>
              <a:rPr lang="en-IN" dirty="0"/>
              <a:t>() are almost same, the only difference is if </a:t>
            </a:r>
            <a:r>
              <a:rPr lang="en-IN" b="1" dirty="0"/>
              <a:t>find</a:t>
            </a:r>
            <a:r>
              <a:rPr lang="en-IN" dirty="0"/>
              <a:t>() is unable to find the string it will </a:t>
            </a:r>
            <a:r>
              <a:rPr lang="en-IN" dirty="0">
                <a:solidFill>
                  <a:srgbClr val="C00000"/>
                </a:solidFill>
              </a:rPr>
              <a:t>return -1 </a:t>
            </a:r>
            <a:r>
              <a:rPr lang="en-IN" dirty="0"/>
              <a:t>and if </a:t>
            </a:r>
            <a:r>
              <a:rPr lang="en-IN" b="1" dirty="0"/>
              <a:t>index</a:t>
            </a:r>
            <a:r>
              <a:rPr lang="en-IN" dirty="0"/>
              <a:t>() is unable to find the </a:t>
            </a:r>
            <a:r>
              <a:rPr lang="en-IN" dirty="0">
                <a:solidFill>
                  <a:srgbClr val="C00000"/>
                </a:solidFill>
              </a:rPr>
              <a:t>string it will raise an exception</a:t>
            </a:r>
            <a:r>
              <a:rPr lang="en-IN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895324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x.index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print(f)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895324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566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indexdemo.py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794233" y="1984506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8 (occurrence of ‘in’  in x)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4139006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x.rindex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print(r)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4139006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80982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rindexdemo.py</a:t>
            </a:r>
          </a:p>
        </p:txBody>
      </p:sp>
      <p:sp>
        <p:nvSpPr>
          <p:cNvPr id="17" name="Line Callout 1 16"/>
          <p:cNvSpPr/>
          <p:nvPr/>
        </p:nvSpPr>
        <p:spPr>
          <a:xfrm>
            <a:off x="5794233" y="4228188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27 (last occurrence of ‘in’  in x)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  <p:bldP spid="14" grpId="0" build="p" animBg="1"/>
      <p:bldP spid="15" grpId="0" animBg="1"/>
      <p:bldP spid="16" grpId="0" animBg="1"/>
      <p:bldP spid="17" grpId="0" animBg="1"/>
      <p:bldP spid="17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Methods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isalnum</a:t>
            </a:r>
            <a:r>
              <a:rPr lang="en-IN" dirty="0"/>
              <a:t>() method will </a:t>
            </a:r>
            <a:r>
              <a:rPr lang="en-US" dirty="0"/>
              <a:t>return true if all the characters in the string are </a:t>
            </a:r>
            <a:r>
              <a:rPr lang="en-US" dirty="0">
                <a:solidFill>
                  <a:srgbClr val="C00000"/>
                </a:solidFill>
              </a:rPr>
              <a:t>alphanumeric</a:t>
            </a:r>
            <a:r>
              <a:rPr lang="en-US" dirty="0"/>
              <a:t> (</a:t>
            </a:r>
            <a:r>
              <a:rPr lang="en-US" dirty="0" err="1"/>
              <a:t>i.e</a:t>
            </a:r>
            <a:r>
              <a:rPr lang="en-US" dirty="0"/>
              <a:t> either alphabets or numeric).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 err="1"/>
              <a:t>isalpha</a:t>
            </a:r>
            <a:r>
              <a:rPr lang="en-IN" dirty="0"/>
              <a:t>() and </a:t>
            </a:r>
            <a:r>
              <a:rPr lang="en-IN" b="1" dirty="0"/>
              <a:t>is</a:t>
            </a:r>
            <a:r>
              <a:rPr lang="en-US" b="1" dirty="0"/>
              <a:t>numeric</a:t>
            </a:r>
            <a:r>
              <a:rPr lang="en-IN" dirty="0"/>
              <a:t>() will return true if all the characters in the string are only </a:t>
            </a:r>
            <a:r>
              <a:rPr lang="en-IN" dirty="0">
                <a:solidFill>
                  <a:srgbClr val="C00000"/>
                </a:solidFill>
              </a:rPr>
              <a:t>alphabets and </a:t>
            </a:r>
            <a:r>
              <a:rPr lang="en-US" dirty="0">
                <a:solidFill>
                  <a:srgbClr val="C00000"/>
                </a:solidFill>
              </a:rPr>
              <a:t>numeric respectively.</a:t>
            </a:r>
            <a:endParaRPr lang="en-IN" dirty="0">
              <a:solidFill>
                <a:srgbClr val="C00000"/>
              </a:solidFill>
            </a:endParaRPr>
          </a:p>
          <a:p>
            <a:r>
              <a:rPr lang="en-IN" b="1" dirty="0" err="1"/>
              <a:t>isdecimal</a:t>
            </a:r>
            <a:r>
              <a:rPr lang="en-IN" dirty="0"/>
              <a:t>() will </a:t>
            </a:r>
            <a:r>
              <a:rPr lang="en-US" dirty="0"/>
              <a:t>return true is all the characters in the string are </a:t>
            </a:r>
            <a:r>
              <a:rPr lang="en-US" dirty="0">
                <a:solidFill>
                  <a:srgbClr val="C00000"/>
                </a:solidFill>
              </a:rPr>
              <a:t>decimal</a:t>
            </a:r>
            <a:r>
              <a:rPr lang="en-US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Note</a:t>
            </a:r>
            <a:r>
              <a:rPr lang="en-IN" dirty="0"/>
              <a:t> : </a:t>
            </a:r>
            <a:r>
              <a:rPr lang="en-IN" b="1" dirty="0" err="1"/>
              <a:t>isnumeric</a:t>
            </a:r>
            <a:r>
              <a:rPr lang="en-IN" dirty="0"/>
              <a:t>() and </a:t>
            </a:r>
            <a:r>
              <a:rPr lang="en-IN" b="1" dirty="0" err="1"/>
              <a:t>isdigit</a:t>
            </a:r>
            <a:r>
              <a:rPr lang="en-IN" dirty="0"/>
              <a:t>() are almost same, you suppose to find the difference as Home work assignment for the string methods.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895324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'darshan123'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x.isalnum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print(f)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895324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566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isalnumdemo.py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794233" y="1984506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True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4587739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'123.5'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x.isdecimal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print(r)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4587739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425855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isdecimaldemo.py</a:t>
            </a:r>
          </a:p>
        </p:txBody>
      </p:sp>
      <p:sp>
        <p:nvSpPr>
          <p:cNvPr id="17" name="Line Callout 1 16"/>
          <p:cNvSpPr/>
          <p:nvPr/>
        </p:nvSpPr>
        <p:spPr>
          <a:xfrm>
            <a:off x="5794233" y="4676921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False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  <p:bldP spid="14" grpId="0" build="p" animBg="1"/>
      <p:bldP spid="15" grpId="0" animBg="1"/>
      <p:bldP spid="16" grpId="0" animBg="1"/>
      <p:bldP spid="17" grpId="0" animBg="1"/>
      <p:bldP spid="17" grpId="1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str.format</a:t>
            </a:r>
            <a:r>
              <a:rPr lang="en-US" b="1" dirty="0"/>
              <a:t>()</a:t>
            </a:r>
            <a:r>
              <a:rPr lang="en-US" dirty="0"/>
              <a:t> is one of the </a:t>
            </a:r>
            <a:r>
              <a:rPr lang="en-US" i="1" dirty="0"/>
              <a:t>string formatting methods</a:t>
            </a:r>
            <a:r>
              <a:rPr lang="en-US" dirty="0"/>
              <a:t> in Python3, which allows multiple </a:t>
            </a:r>
            <a:r>
              <a:rPr lang="en-US" dirty="0">
                <a:solidFill>
                  <a:srgbClr val="C00000"/>
                </a:solidFill>
              </a:rPr>
              <a:t>substitutions</a:t>
            </a:r>
            <a:r>
              <a:rPr lang="en-US" dirty="0"/>
              <a:t> and value formatting. </a:t>
            </a:r>
          </a:p>
          <a:p>
            <a:r>
              <a:rPr lang="en-US" dirty="0"/>
              <a:t>This method lets us concatenate elements within a string through positional formatting.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specify multiple parameters to the function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2496457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'{} </a:t>
            </a:r>
            <a:r>
              <a:rPr lang="fr-FR" sz="1600" dirty="0" err="1">
                <a:solidFill>
                  <a:srgbClr val="A31515"/>
                </a:solidFill>
                <a:latin typeface="Consolas"/>
              </a:rPr>
              <a:t>institute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, </a:t>
            </a:r>
            <a:r>
              <a:rPr lang="fr-FR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'</a:t>
            </a:r>
            <a:endParaRPr lang="fr-FR" sz="1600" dirty="0">
              <a:solidFill>
                <a:srgbClr val="000000"/>
              </a:solidFill>
              <a:latin typeface="Consolas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/>
              </a:rPr>
              <a:t>y = </a:t>
            </a:r>
            <a:r>
              <a:rPr lang="fr-FR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fr-FR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'darshan'</a:t>
            </a:r>
            <a:r>
              <a:rPr lang="fr-FR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fr-FR" sz="1600" dirty="0" err="1">
                <a:solidFill>
                  <a:srgbClr val="000000"/>
                </a:solidFill>
                <a:latin typeface="Consolas"/>
              </a:rPr>
              <a:t>print</a:t>
            </a:r>
            <a:r>
              <a:rPr lang="fr-FR" sz="1600" dirty="0">
                <a:solidFill>
                  <a:srgbClr val="000000"/>
                </a:solidFill>
                <a:latin typeface="Consolas"/>
              </a:rPr>
              <a:t>(y)</a:t>
            </a:r>
          </a:p>
          <a:p>
            <a:r>
              <a:rPr lang="fr-FR" sz="1600" dirty="0" err="1">
                <a:solidFill>
                  <a:srgbClr val="000000"/>
                </a:solidFill>
                <a:latin typeface="Consolas"/>
              </a:rPr>
              <a:t>print</a:t>
            </a:r>
            <a:r>
              <a:rPr lang="fr-FR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fr-FR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'ABCD'</a:t>
            </a:r>
            <a:r>
              <a:rPr lang="fr-FR" sz="1600" dirty="0">
                <a:solidFill>
                  <a:srgbClr val="000000"/>
                </a:solidFill>
                <a:latin typeface="Consolas"/>
              </a:rPr>
              <a:t>))</a:t>
            </a:r>
            <a:endParaRPr lang="fr-FR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249645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21672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strformat.py</a:t>
            </a:r>
          </a:p>
        </p:txBody>
      </p:sp>
      <p:sp>
        <p:nvSpPr>
          <p:cNvPr id="10" name="Line Callout 1 9"/>
          <p:cNvSpPr/>
          <p:nvPr/>
        </p:nvSpPr>
        <p:spPr>
          <a:xfrm>
            <a:off x="5794233" y="2585640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30505"/>
              <a:gd name="adj4" fmla="val -7147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 institute,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1" name="Line Callout 1 10"/>
          <p:cNvSpPr/>
          <p:nvPr/>
        </p:nvSpPr>
        <p:spPr>
          <a:xfrm>
            <a:off x="5794233" y="3068240"/>
            <a:ext cx="5220900" cy="657093"/>
          </a:xfrm>
          <a:prstGeom prst="borderCallout1">
            <a:avLst>
              <a:gd name="adj1" fmla="val 53885"/>
              <a:gd name="adj2" fmla="val -612"/>
              <a:gd name="adj3" fmla="val 57703"/>
              <a:gd name="adj4" fmla="val -39694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Inline function call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ABCD institute,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4680857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'{} institute, {}'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y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print(y)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'ABCD'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'XYZ'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468085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43516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strformat.py</a:t>
            </a:r>
          </a:p>
        </p:txBody>
      </p:sp>
      <p:sp>
        <p:nvSpPr>
          <p:cNvPr id="15" name="Line Callout 1 14"/>
          <p:cNvSpPr/>
          <p:nvPr/>
        </p:nvSpPr>
        <p:spPr>
          <a:xfrm>
            <a:off x="5794233" y="4770040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30505"/>
              <a:gd name="adj4" fmla="val -7147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 institute,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6" name="Line Callout 1 15"/>
          <p:cNvSpPr/>
          <p:nvPr/>
        </p:nvSpPr>
        <p:spPr>
          <a:xfrm>
            <a:off x="5794233" y="5252640"/>
            <a:ext cx="5220900" cy="657093"/>
          </a:xfrm>
          <a:prstGeom prst="borderCallout1">
            <a:avLst>
              <a:gd name="adj1" fmla="val 53885"/>
              <a:gd name="adj2" fmla="val -612"/>
              <a:gd name="adj3" fmla="val 56415"/>
              <a:gd name="adj4" fmla="val -26234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Inline function call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ABCD institute, XYZ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build="p" animBg="1"/>
      <p:bldP spid="8" grpId="0" animBg="1"/>
      <p:bldP spid="9" grpId="0" animBg="1"/>
      <p:bldP spid="10" grpId="0" animBg="1"/>
      <p:bldP spid="10" grpId="1" animBg="1"/>
      <p:bldP spid="11" grpId="0" animBg="1"/>
      <p:bldP spid="11" grpId="1" animBg="1"/>
      <p:bldP spid="12" grpId="0" build="p" animBg="1"/>
      <p:bldP spid="13" grpId="0" animBg="1"/>
      <p:bldP spid="14" grpId="0" animBg="1"/>
      <p:bldP spid="15" grpId="0" animBg="1"/>
      <p:bldP spid="15" grpId="1" animBg="1"/>
      <p:bldP spid="16" grpId="0" animBg="1"/>
      <p:bldP spid="16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Formatting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specify the order of parameters in the string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also specify alias within the string to specify the order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We can format the decimal values using format method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641324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'{1} institute, {0}'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y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print(y)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'ABCD'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'XYZ'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641324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312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strformat.py</a:t>
            </a:r>
          </a:p>
        </p:txBody>
      </p:sp>
      <p:sp>
        <p:nvSpPr>
          <p:cNvPr id="15" name="Line Callout 1 14"/>
          <p:cNvSpPr/>
          <p:nvPr/>
        </p:nvSpPr>
        <p:spPr>
          <a:xfrm>
            <a:off x="5794233" y="1730507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30505"/>
              <a:gd name="adj4" fmla="val -7147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 institute,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6" name="Line Callout 1 15"/>
          <p:cNvSpPr/>
          <p:nvPr/>
        </p:nvSpPr>
        <p:spPr>
          <a:xfrm>
            <a:off x="5794233" y="2213107"/>
            <a:ext cx="5220900" cy="657093"/>
          </a:xfrm>
          <a:prstGeom prst="borderCallout1">
            <a:avLst>
              <a:gd name="adj1" fmla="val 53885"/>
              <a:gd name="adj2" fmla="val -612"/>
              <a:gd name="adj3" fmla="val 55126"/>
              <a:gd name="adj4" fmla="val -27207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Inline function call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XYZ institute, ABCD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842657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'{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collegename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} institute, {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cityname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}'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collegename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,cityname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842657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5134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strformat.py</a:t>
            </a:r>
          </a:p>
        </p:txBody>
      </p:sp>
      <p:sp>
        <p:nvSpPr>
          <p:cNvPr id="20" name="Line Callout 1 19"/>
          <p:cNvSpPr/>
          <p:nvPr/>
        </p:nvSpPr>
        <p:spPr>
          <a:xfrm>
            <a:off x="8071767" y="3940306"/>
            <a:ext cx="3730767" cy="428493"/>
          </a:xfrm>
          <a:prstGeom prst="borderCallout1">
            <a:avLst>
              <a:gd name="adj1" fmla="val 53885"/>
              <a:gd name="adj2" fmla="val -612"/>
              <a:gd name="adj3" fmla="val 73204"/>
              <a:gd name="adj4" fmla="val -1882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 institute,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5239657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rgbClr val="000000"/>
                </a:solidFill>
                <a:latin typeface="Consolas"/>
              </a:rPr>
              <a:t>per = (</a:t>
            </a:r>
            <a:r>
              <a:rPr lang="it-IT" sz="1600" dirty="0">
                <a:solidFill>
                  <a:srgbClr val="098658"/>
                </a:solidFill>
                <a:latin typeface="Consolas"/>
              </a:rPr>
              <a:t>438</a:t>
            </a:r>
            <a:r>
              <a:rPr lang="it-IT" sz="1600" dirty="0">
                <a:solidFill>
                  <a:srgbClr val="000000"/>
                </a:solidFill>
                <a:latin typeface="Consolas"/>
              </a:rPr>
              <a:t> / </a:t>
            </a:r>
            <a:r>
              <a:rPr lang="it-IT" sz="1600" dirty="0">
                <a:solidFill>
                  <a:srgbClr val="098658"/>
                </a:solidFill>
                <a:latin typeface="Consolas"/>
              </a:rPr>
              <a:t>500</a:t>
            </a:r>
            <a:r>
              <a:rPr lang="it-IT" sz="1600" dirty="0">
                <a:solidFill>
                  <a:srgbClr val="000000"/>
                </a:solidFill>
                <a:latin typeface="Consolas"/>
              </a:rPr>
              <a:t>) * </a:t>
            </a:r>
            <a:r>
              <a:rPr lang="it-IT" sz="1600" dirty="0">
                <a:solidFill>
                  <a:srgbClr val="098658"/>
                </a:solidFill>
                <a:latin typeface="Consolas"/>
              </a:rPr>
              <a:t>100</a:t>
            </a:r>
            <a:endParaRPr lang="it-IT" sz="1600" dirty="0">
              <a:solidFill>
                <a:srgbClr val="000000"/>
              </a:solidFill>
              <a:latin typeface="Consolas"/>
            </a:endParaRPr>
          </a:p>
          <a:p>
            <a:r>
              <a:rPr lang="it-IT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it-IT" sz="1600" dirty="0">
                <a:solidFill>
                  <a:srgbClr val="A31515"/>
                </a:solidFill>
                <a:latin typeface="Consolas"/>
              </a:rPr>
              <a:t>'result = {r</a:t>
            </a:r>
            <a:r>
              <a:rPr lang="it-IT" sz="1600" dirty="0">
                <a:solidFill>
                  <a:srgbClr val="0000FF"/>
                </a:solidFill>
                <a:latin typeface="Consolas"/>
              </a:rPr>
              <a:t>:3.2f</a:t>
            </a:r>
            <a:r>
              <a:rPr lang="it-IT" sz="1600" dirty="0">
                <a:solidFill>
                  <a:srgbClr val="A31515"/>
                </a:solidFill>
                <a:latin typeface="Consolas"/>
              </a:rPr>
              <a:t>} %'</a:t>
            </a:r>
            <a:r>
              <a:rPr lang="it-IT" sz="1600" dirty="0">
                <a:solidFill>
                  <a:srgbClr val="000000"/>
                </a:solidFill>
                <a:latin typeface="Consolas"/>
              </a:rPr>
              <a:t>.format(r=per)</a:t>
            </a:r>
          </a:p>
          <a:p>
            <a:r>
              <a:rPr lang="it-IT" sz="1600" dirty="0">
                <a:solidFill>
                  <a:srgbClr val="000000"/>
                </a:solidFill>
                <a:latin typeface="Consolas"/>
              </a:rPr>
              <a:t>print(x)</a:t>
            </a:r>
            <a:endParaRPr lang="it-IT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5239657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2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49104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strformat.py</a:t>
            </a:r>
          </a:p>
        </p:txBody>
      </p:sp>
      <p:sp>
        <p:nvSpPr>
          <p:cNvPr id="25" name="Line Callout 1 24"/>
          <p:cNvSpPr/>
          <p:nvPr/>
        </p:nvSpPr>
        <p:spPr>
          <a:xfrm>
            <a:off x="5997433" y="5481239"/>
            <a:ext cx="3730767" cy="428493"/>
          </a:xfrm>
          <a:prstGeom prst="borderCallout1">
            <a:avLst>
              <a:gd name="adj1" fmla="val 53885"/>
              <a:gd name="adj2" fmla="val -612"/>
              <a:gd name="adj3" fmla="val 114698"/>
              <a:gd name="adj4" fmla="val -10642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result = 87.60 %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6" name="Line Callout 1 25"/>
          <p:cNvSpPr/>
          <p:nvPr/>
        </p:nvSpPr>
        <p:spPr>
          <a:xfrm>
            <a:off x="2559967" y="6124704"/>
            <a:ext cx="835167" cy="428493"/>
          </a:xfrm>
          <a:prstGeom prst="borderCallout1">
            <a:avLst>
              <a:gd name="adj1" fmla="val -3417"/>
              <a:gd name="adj2" fmla="val 50077"/>
              <a:gd name="adj3" fmla="val -88821"/>
              <a:gd name="adj4" fmla="val 5753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width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7" name="Line Callout 1 26"/>
          <p:cNvSpPr/>
          <p:nvPr/>
        </p:nvSpPr>
        <p:spPr>
          <a:xfrm>
            <a:off x="3550567" y="6124704"/>
            <a:ext cx="1309300" cy="428493"/>
          </a:xfrm>
          <a:prstGeom prst="borderCallout1">
            <a:avLst>
              <a:gd name="adj1" fmla="val -3417"/>
              <a:gd name="adj2" fmla="val 50077"/>
              <a:gd name="adj3" fmla="val -82893"/>
              <a:gd name="adj4" fmla="val -19669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precision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build="p" animBg="1"/>
      <p:bldP spid="13" grpId="0" animBg="1"/>
      <p:bldP spid="14" grpId="0" animBg="1"/>
      <p:bldP spid="15" grpId="0" animBg="1"/>
      <p:bldP spid="15" grpId="1" animBg="1"/>
      <p:bldP spid="16" grpId="0" animBg="1"/>
      <p:bldP spid="16" grpId="1" animBg="1"/>
      <p:bldP spid="17" grpId="0" build="p" animBg="1"/>
      <p:bldP spid="18" grpId="0" animBg="1"/>
      <p:bldP spid="19" grpId="0" animBg="1"/>
      <p:bldP spid="20" grpId="0" animBg="1"/>
      <p:bldP spid="20" grpId="1" animBg="1"/>
      <p:bldP spid="22" grpId="0" uiExpand="1" build="p" animBg="1"/>
      <p:bldP spid="23" grpId="0" animBg="1"/>
      <p:bldP spid="2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DFD4C-F342-C7D6-0B0C-F954E65DF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FA9271-8AC1-332D-6DBC-DAE6ACF5E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Structures in Python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779110-7055-6F52-9839-1D30F5C4D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3859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four built-in data structures in Python - </a:t>
            </a:r>
            <a:r>
              <a:rPr lang="en-US" i="1" dirty="0"/>
              <a:t>list, dictionary, </a:t>
            </a:r>
            <a:r>
              <a:rPr lang="en-US" i="1" dirty="0" err="1"/>
              <a:t>tuple</a:t>
            </a:r>
            <a:r>
              <a:rPr lang="en-US" i="1" dirty="0"/>
              <a:t> and set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Lets explore all the data structures in detail…</a:t>
            </a:r>
          </a:p>
        </p:txBody>
      </p:sp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1001243"/>
              </p:ext>
            </p:extLst>
          </p:nvPr>
        </p:nvGraphicFramePr>
        <p:xfrm>
          <a:off x="369291" y="1490045"/>
          <a:ext cx="11413358" cy="3215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54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8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List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list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Ordered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Sequence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of objects, will be represented with 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</a:rPr>
                        <a:t>square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</a:rPr>
                        <a:t>[ ]</a:t>
                      </a:r>
                    </a:p>
                    <a:p>
                      <a:pPr algn="l"/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[ 18,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True, 102.3 ]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Dictionary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2"/>
                          </a:solidFill>
                        </a:rPr>
                        <a:t>dict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Ordered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key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: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value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pair of objects , will be represented with 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</a:rPr>
                        <a:t>curly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</a:rPr>
                        <a:t>{ }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{ “college”: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“code”: “054” }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1900" dirty="0" err="1"/>
                        <a:t>Tuple</a:t>
                      </a:r>
                      <a:endParaRPr lang="en-IN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err="1">
                          <a:solidFill>
                            <a:schemeClr val="tx2"/>
                          </a:solidFill>
                        </a:rPr>
                        <a:t>tup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Ordered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immutable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sequence of objects, will be represented with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round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IN" sz="2000" b="1" baseline="0" dirty="0">
                          <a:solidFill>
                            <a:srgbClr val="FF0000"/>
                          </a:solidFill>
                        </a:rPr>
                        <a:t>( 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( 18,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True, 102.3 )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1900" dirty="0"/>
                        <a:t>Set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2"/>
                          </a:solidFill>
                        </a:rPr>
                        <a:t>set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Unordered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collection of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unique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objects, will be represented with the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curly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IN" sz="2000" b="1" baseline="0" dirty="0">
                          <a:solidFill>
                            <a:srgbClr val="FF0000"/>
                          </a:solidFill>
                        </a:rPr>
                        <a:t>{ }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{ 18,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True, 102.3 }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is a </a:t>
            </a:r>
            <a:r>
              <a:rPr lang="en-US" dirty="0">
                <a:solidFill>
                  <a:srgbClr val="C00000"/>
                </a:solidFill>
              </a:rPr>
              <a:t>mutable ordered sequence of objects</a:t>
            </a:r>
            <a:r>
              <a:rPr lang="en-US" dirty="0"/>
              <a:t>, duplicate values are allowed inside list.</a:t>
            </a:r>
          </a:p>
          <a:p>
            <a:r>
              <a:rPr lang="en-US" dirty="0"/>
              <a:t>List will be represented by </a:t>
            </a:r>
            <a:r>
              <a:rPr lang="en-US" dirty="0">
                <a:solidFill>
                  <a:srgbClr val="C00000"/>
                </a:solidFill>
              </a:rPr>
              <a:t>square brackets </a:t>
            </a:r>
            <a:r>
              <a:rPr lang="en-US" dirty="0"/>
              <a:t>[ ].</a:t>
            </a:r>
          </a:p>
          <a:p>
            <a:r>
              <a:rPr lang="en-US" dirty="0"/>
              <a:t>Python does not have array, List can be used similar to Array.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use slicing similar to string in order to get the sub list from the list.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2614991"/>
            <a:ext cx="8472276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b="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b="0" dirty="0">
                <a:solidFill>
                  <a:srgbClr val="000000"/>
                </a:solidFill>
                <a:latin typeface="Consolas"/>
              </a:rPr>
              <a:t>[-1])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2614991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228580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list.py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6260060" y="2792675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07614"/>
              <a:gd name="adj4" fmla="val -57217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3 </a:t>
            </a:r>
            <a:r>
              <a:rPr lang="en-IN" dirty="0">
                <a:solidFill>
                  <a:schemeClr val="tx1"/>
                </a:solidFill>
              </a:rPr>
              <a:t>(length of the List)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Line Callout 1 7"/>
          <p:cNvSpPr/>
          <p:nvPr/>
        </p:nvSpPr>
        <p:spPr>
          <a:xfrm>
            <a:off x="6260059" y="2319501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64842"/>
              <a:gd name="adj4" fmla="val -6126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institute </a:t>
            </a:r>
            <a:r>
              <a:rPr lang="en-IN" dirty="0">
                <a:solidFill>
                  <a:schemeClr val="tx1"/>
                </a:solidFill>
              </a:rPr>
              <a:t>(List index starts with 0)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Line Callout 1 8"/>
          <p:cNvSpPr/>
          <p:nvPr/>
        </p:nvSpPr>
        <p:spPr>
          <a:xfrm>
            <a:off x="6251433" y="3257383"/>
            <a:ext cx="5220900" cy="624504"/>
          </a:xfrm>
          <a:prstGeom prst="borderCallout1">
            <a:avLst>
              <a:gd name="adj1" fmla="val 53885"/>
              <a:gd name="adj2" fmla="val -612"/>
              <a:gd name="adj3" fmla="val 77979"/>
              <a:gd name="adj4" fmla="val -6791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'institute',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</a:p>
          <a:p>
            <a:pPr algn="ctr"/>
            <a:r>
              <a:rPr lang="en-IN" b="1" i="1" dirty="0">
                <a:solidFill>
                  <a:schemeClr val="tx1"/>
                </a:solidFill>
              </a:rPr>
              <a:t>Note : </a:t>
            </a:r>
            <a:r>
              <a:rPr lang="en-IN" i="1" dirty="0">
                <a:solidFill>
                  <a:schemeClr val="tx1"/>
                </a:solidFill>
              </a:rPr>
              <a:t> spelling of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 is updated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5222724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'gujarat'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5222724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48935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list.py</a:t>
            </a:r>
          </a:p>
        </p:txBody>
      </p:sp>
      <p:sp>
        <p:nvSpPr>
          <p:cNvPr id="13" name="Line Callout 1 12"/>
          <p:cNvSpPr/>
          <p:nvPr/>
        </p:nvSpPr>
        <p:spPr>
          <a:xfrm>
            <a:off x="6251433" y="5616707"/>
            <a:ext cx="5220900" cy="716360"/>
          </a:xfrm>
          <a:prstGeom prst="borderCallout1">
            <a:avLst>
              <a:gd name="adj1" fmla="val 53885"/>
              <a:gd name="adj2" fmla="val -612"/>
              <a:gd name="adj3" fmla="val 13685"/>
              <a:gd name="adj4" fmla="val -57857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['institute',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</a:p>
          <a:p>
            <a:pPr algn="ctr"/>
            <a:r>
              <a:rPr lang="en-IN" b="1" i="1" dirty="0">
                <a:solidFill>
                  <a:schemeClr val="tx1"/>
                </a:solidFill>
              </a:rPr>
              <a:t>Note : </a:t>
            </a:r>
            <a:r>
              <a:rPr lang="en-IN" i="1" dirty="0">
                <a:solidFill>
                  <a:schemeClr val="tx1"/>
                </a:solidFill>
              </a:rPr>
              <a:t> end index not included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Line Callout 1 13"/>
          <p:cNvSpPr/>
          <p:nvPr/>
        </p:nvSpPr>
        <p:spPr>
          <a:xfrm>
            <a:off x="6260060" y="3931362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27086"/>
              <a:gd name="adj4" fmla="val -5920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(-1 represent last element)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 animBg="1"/>
      <p:bldP spid="5" grpId="0" animBg="1"/>
      <p:bldP spid="6" grpId="0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build="p" animBg="1"/>
      <p:bldP spid="11" grpId="0" animBg="1"/>
      <p:bldP spid="12" grpId="0" animBg="1"/>
      <p:bldP spid="13" grpId="0" animBg="1"/>
      <p:bldP spid="13" grpId="1" animBg="1"/>
      <p:bldP spid="14" grpId="0" animBg="1"/>
      <p:bldP spid="14" grpId="1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append() method will </a:t>
            </a:r>
            <a:r>
              <a:rPr lang="en-US" dirty="0">
                <a:solidFill>
                  <a:srgbClr val="C00000"/>
                </a:solidFill>
              </a:rPr>
              <a:t>add element </a:t>
            </a:r>
            <a:r>
              <a:rPr lang="en-US" dirty="0"/>
              <a:t>at the end of the list.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insert() method will </a:t>
            </a:r>
            <a:r>
              <a:rPr lang="en-US" dirty="0">
                <a:solidFill>
                  <a:srgbClr val="C00000"/>
                </a:solidFill>
              </a:rPr>
              <a:t>add element </a:t>
            </a:r>
            <a:r>
              <a:rPr lang="en-US" dirty="0"/>
              <a:t>at the </a:t>
            </a:r>
            <a:r>
              <a:rPr lang="en-US" dirty="0">
                <a:solidFill>
                  <a:srgbClr val="C00000"/>
                </a:solidFill>
              </a:rPr>
              <a:t>specified index </a:t>
            </a:r>
            <a:r>
              <a:rPr lang="en-US" dirty="0"/>
              <a:t>in the list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700" dirty="0"/>
          </a:p>
          <a:p>
            <a:r>
              <a:rPr lang="en-US" dirty="0"/>
              <a:t>extend() method will add </a:t>
            </a:r>
            <a:r>
              <a:rPr lang="en-US" dirty="0">
                <a:solidFill>
                  <a:srgbClr val="C00000"/>
                </a:solidFill>
              </a:rPr>
              <a:t>one data structure </a:t>
            </a:r>
            <a:r>
              <a:rPr lang="en-US" dirty="0"/>
              <a:t>(List or any) to current List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641324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my_list.append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gujarat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641324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312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appendlistdemo.py</a:t>
            </a:r>
          </a:p>
        </p:txBody>
      </p:sp>
      <p:sp>
        <p:nvSpPr>
          <p:cNvPr id="15" name="Line Callout 1 14"/>
          <p:cNvSpPr/>
          <p:nvPr/>
        </p:nvSpPr>
        <p:spPr>
          <a:xfrm>
            <a:off x="5980499" y="1942174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90987"/>
              <a:gd name="adj4" fmla="val -6174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'institute',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', '</a:t>
            </a:r>
            <a:r>
              <a:rPr lang="en-IN" i="1" dirty="0" err="1">
                <a:solidFill>
                  <a:schemeClr val="tx1"/>
                </a:solidFill>
              </a:rPr>
              <a:t>gujarat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436257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my_list.insert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'of'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my_list.insert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'engineering'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43625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2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1070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insertlistdemo.py</a:t>
            </a:r>
          </a:p>
        </p:txBody>
      </p:sp>
      <p:sp>
        <p:nvSpPr>
          <p:cNvPr id="30" name="Line Callout 1 29"/>
          <p:cNvSpPr/>
          <p:nvPr/>
        </p:nvSpPr>
        <p:spPr>
          <a:xfrm>
            <a:off x="5980499" y="3737107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50265"/>
              <a:gd name="adj4" fmla="val -6223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'institute', 'of', 'engineering',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39568" y="5468257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my_list1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my_list2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'gujarat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my_list1.extend(my_list2)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print(my_list1)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39575" y="546825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3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39575" y="51390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extendlistdemo.py</a:t>
            </a:r>
          </a:p>
        </p:txBody>
      </p:sp>
      <p:sp>
        <p:nvSpPr>
          <p:cNvPr id="35" name="Line Callout 1 34"/>
          <p:cNvSpPr/>
          <p:nvPr/>
        </p:nvSpPr>
        <p:spPr>
          <a:xfrm>
            <a:off x="4194033" y="6065440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70147"/>
              <a:gd name="adj4" fmla="val -2463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'institute', ‘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', ‘</a:t>
            </a:r>
            <a:r>
              <a:rPr lang="en-IN" i="1" dirty="0" err="1">
                <a:solidFill>
                  <a:schemeClr val="tx1"/>
                </a:solidFill>
              </a:rPr>
              <a:t>gujarat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build="p" animBg="1"/>
      <p:bldP spid="13" grpId="0" animBg="1"/>
      <p:bldP spid="14" grpId="0" animBg="1"/>
      <p:bldP spid="15" grpId="0" animBg="1"/>
      <p:bldP spid="15" grpId="1" animBg="1"/>
      <p:bldP spid="21" grpId="0" build="p" animBg="1"/>
      <p:bldP spid="28" grpId="0" animBg="1"/>
      <p:bldP spid="29" grpId="0" animBg="1"/>
      <p:bldP spid="30" grpId="0" animBg="1"/>
      <p:bldP spid="30" grpId="1" animBg="1"/>
      <p:bldP spid="31" grpId="0" build="p" animBg="1"/>
      <p:bldP spid="32" grpId="0" animBg="1"/>
      <p:bldP spid="33" grpId="0" animBg="1"/>
      <p:bldP spid="35" grpId="0" animBg="1"/>
      <p:bldP spid="35" grpId="1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Methods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pop() method will remove the </a:t>
            </a:r>
            <a:r>
              <a:rPr lang="en-US" dirty="0">
                <a:solidFill>
                  <a:srgbClr val="C00000"/>
                </a:solidFill>
              </a:rPr>
              <a:t>last element </a:t>
            </a:r>
            <a:r>
              <a:rPr lang="en-US" dirty="0"/>
              <a:t>from the list and return it.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remove() method will remove </a:t>
            </a:r>
            <a:r>
              <a:rPr lang="en-US" dirty="0">
                <a:solidFill>
                  <a:srgbClr val="C00000"/>
                </a:solidFill>
              </a:rPr>
              <a:t>first occurrence </a:t>
            </a:r>
            <a:r>
              <a:rPr lang="en-US" dirty="0"/>
              <a:t>of specified element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sz="700" dirty="0"/>
          </a:p>
          <a:p>
            <a:r>
              <a:rPr lang="en-US" dirty="0"/>
              <a:t>clear() method will </a:t>
            </a:r>
            <a:r>
              <a:rPr lang="en-US" dirty="0">
                <a:solidFill>
                  <a:srgbClr val="C00000"/>
                </a:solidFill>
              </a:rPr>
              <a:t>remove all </a:t>
            </a:r>
            <a:r>
              <a:rPr lang="en-US" dirty="0"/>
              <a:t>the elements from the List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index() method will return </a:t>
            </a:r>
            <a:r>
              <a:rPr lang="en-US" dirty="0">
                <a:solidFill>
                  <a:srgbClr val="C00000"/>
                </a:solidFill>
              </a:rPr>
              <a:t>first index </a:t>
            </a:r>
            <a:r>
              <a:rPr lang="en-US" dirty="0"/>
              <a:t>of the specified element.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641324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institute'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temp = my_list.pop()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print(temp)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641324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312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poplistdemo.py</a:t>
            </a:r>
          </a:p>
        </p:txBody>
      </p:sp>
      <p:sp>
        <p:nvSpPr>
          <p:cNvPr id="15" name="Line Callout 1 14"/>
          <p:cNvSpPr/>
          <p:nvPr/>
        </p:nvSpPr>
        <p:spPr>
          <a:xfrm>
            <a:off x="5989126" y="1761019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31251"/>
              <a:gd name="adj4" fmla="val -68687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436257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my_list.remove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436257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2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1070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removelistdemo.py</a:t>
            </a:r>
          </a:p>
        </p:txBody>
      </p:sp>
      <p:sp>
        <p:nvSpPr>
          <p:cNvPr id="30" name="Line Callout 1 29"/>
          <p:cNvSpPr/>
          <p:nvPr/>
        </p:nvSpPr>
        <p:spPr>
          <a:xfrm>
            <a:off x="5980499" y="3737107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91882"/>
              <a:gd name="adj4" fmla="val -6223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['institute', 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39568" y="4993805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my_list.clear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39575" y="4993805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3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39575" y="466462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clearlistdemo.py</a:t>
            </a:r>
          </a:p>
        </p:txBody>
      </p:sp>
      <p:sp>
        <p:nvSpPr>
          <p:cNvPr id="34" name="Line Callout 1 33"/>
          <p:cNvSpPr/>
          <p:nvPr/>
        </p:nvSpPr>
        <p:spPr>
          <a:xfrm>
            <a:off x="5997432" y="5294655"/>
            <a:ext cx="3180435" cy="428493"/>
          </a:xfrm>
          <a:prstGeom prst="borderCallout1">
            <a:avLst>
              <a:gd name="adj1" fmla="val 53885"/>
              <a:gd name="adj2" fmla="val -612"/>
              <a:gd name="adj3" fmla="val 82824"/>
              <a:gd name="adj4" fmla="val -10067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6" name="Line Callout 1 15"/>
          <p:cNvSpPr/>
          <p:nvPr/>
        </p:nvSpPr>
        <p:spPr>
          <a:xfrm>
            <a:off x="5989126" y="2244098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74882"/>
              <a:gd name="adj4" fmla="val -6207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'institute‘]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uiExpand="1" build="p" animBg="1"/>
      <p:bldP spid="13" grpId="0" animBg="1"/>
      <p:bldP spid="14" grpId="0" animBg="1"/>
      <p:bldP spid="15" grpId="0" animBg="1"/>
      <p:bldP spid="15" grpId="1" animBg="1"/>
      <p:bldP spid="21" grpId="0" build="p" animBg="1"/>
      <p:bldP spid="28" grpId="0" animBg="1"/>
      <p:bldP spid="29" grpId="0" animBg="1"/>
      <p:bldP spid="30" grpId="0" animBg="1"/>
      <p:bldP spid="30" grpId="1" animBg="1"/>
      <p:bldP spid="31" grpId="0" build="p" animBg="1"/>
      <p:bldP spid="32" grpId="0" animBg="1"/>
      <p:bldP spid="33" grpId="0" animBg="1"/>
      <p:bldP spid="34" grpId="0" animBg="1"/>
      <p:bldP spid="34" grpId="1" animBg="1"/>
      <p:bldP spid="16" grpId="0" animBg="1"/>
      <p:bldP spid="16" grpId="1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Methods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count() method will return the </a:t>
            </a:r>
            <a:r>
              <a:rPr lang="en-US" dirty="0">
                <a:solidFill>
                  <a:srgbClr val="C00000"/>
                </a:solidFill>
              </a:rPr>
              <a:t>number of occurrence </a:t>
            </a:r>
            <a:r>
              <a:rPr lang="en-US" dirty="0"/>
              <a:t>of the specified element.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reverse() method will </a:t>
            </a:r>
            <a:r>
              <a:rPr lang="en-US" dirty="0">
                <a:solidFill>
                  <a:srgbClr val="C00000"/>
                </a:solidFill>
              </a:rPr>
              <a:t>reverse</a:t>
            </a:r>
            <a:r>
              <a:rPr lang="en-US" dirty="0"/>
              <a:t> the elements of the List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sz="700" dirty="0"/>
          </a:p>
          <a:p>
            <a:r>
              <a:rPr lang="en-US" dirty="0"/>
              <a:t>sort() method will </a:t>
            </a:r>
            <a:r>
              <a:rPr lang="en-US" dirty="0">
                <a:solidFill>
                  <a:srgbClr val="C00000"/>
                </a:solidFill>
              </a:rPr>
              <a:t>sort</a:t>
            </a:r>
            <a:r>
              <a:rPr lang="en-US" dirty="0"/>
              <a:t> the elements in the List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641324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my_list.count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print(c)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641324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312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countlistdemo.py</a:t>
            </a:r>
          </a:p>
        </p:txBody>
      </p:sp>
      <p:sp>
        <p:nvSpPr>
          <p:cNvPr id="15" name="Line Callout 1 14"/>
          <p:cNvSpPr/>
          <p:nvPr/>
        </p:nvSpPr>
        <p:spPr>
          <a:xfrm>
            <a:off x="5989126" y="1761019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27225"/>
              <a:gd name="adj4" fmla="val -7414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2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436257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institute'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my_list.reverse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436257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2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1070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reverselistdemo.py</a:t>
            </a:r>
          </a:p>
        </p:txBody>
      </p:sp>
      <p:sp>
        <p:nvSpPr>
          <p:cNvPr id="30" name="Line Callout 1 29"/>
          <p:cNvSpPr/>
          <p:nvPr/>
        </p:nvSpPr>
        <p:spPr>
          <a:xfrm>
            <a:off x="5980499" y="3737107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91882"/>
              <a:gd name="adj4" fmla="val -6223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', ‘</a:t>
            </a:r>
            <a:r>
              <a:rPr lang="en-IN" i="1" dirty="0" err="1">
                <a:solidFill>
                  <a:schemeClr val="tx1"/>
                </a:solidFill>
              </a:rPr>
              <a:t>institute','darshan</a:t>
            </a:r>
            <a:r>
              <a:rPr lang="en-IN" i="1" dirty="0">
                <a:solidFill>
                  <a:schemeClr val="tx1"/>
                </a:solidFill>
              </a:rPr>
              <a:t>']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39568" y="4993805"/>
            <a:ext cx="847227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college'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'of'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'enginnering'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my_list.sort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my_list.sort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(reverse=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39575" y="4993805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3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39575" y="466462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sortlistdemo.py</a:t>
            </a:r>
          </a:p>
        </p:txBody>
      </p:sp>
      <p:sp>
        <p:nvSpPr>
          <p:cNvPr id="34" name="Line Callout 1 33"/>
          <p:cNvSpPr/>
          <p:nvPr/>
        </p:nvSpPr>
        <p:spPr>
          <a:xfrm>
            <a:off x="5997431" y="5294655"/>
            <a:ext cx="5165149" cy="428493"/>
          </a:xfrm>
          <a:prstGeom prst="borderCallout1">
            <a:avLst>
              <a:gd name="adj1" fmla="val 53885"/>
              <a:gd name="adj2" fmla="val -612"/>
              <a:gd name="adj3" fmla="val 84837"/>
              <a:gd name="adj4" fmla="val -6276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['college', 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</a:t>
            </a:r>
            <a:r>
              <a:rPr lang="en-IN" i="1" dirty="0" err="1">
                <a:solidFill>
                  <a:schemeClr val="tx1"/>
                </a:solidFill>
              </a:rPr>
              <a:t>enginnering</a:t>
            </a:r>
            <a:r>
              <a:rPr lang="en-IN" i="1" dirty="0">
                <a:solidFill>
                  <a:schemeClr val="tx1"/>
                </a:solidFill>
              </a:rPr>
              <a:t>', 'of',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7" name="Line Callout 1 16"/>
          <p:cNvSpPr/>
          <p:nvPr/>
        </p:nvSpPr>
        <p:spPr>
          <a:xfrm>
            <a:off x="5997431" y="5794987"/>
            <a:ext cx="5165149" cy="428493"/>
          </a:xfrm>
          <a:prstGeom prst="borderCallout1">
            <a:avLst>
              <a:gd name="adj1" fmla="val 53885"/>
              <a:gd name="adj2" fmla="val -612"/>
              <a:gd name="adj3" fmla="val 80811"/>
              <a:gd name="adj4" fmla="val -6359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', 'of', '</a:t>
            </a:r>
            <a:r>
              <a:rPr lang="en-IN" i="1" dirty="0" err="1">
                <a:solidFill>
                  <a:schemeClr val="tx1"/>
                </a:solidFill>
              </a:rPr>
              <a:t>enginnering</a:t>
            </a:r>
            <a:r>
              <a:rPr lang="en-IN" i="1" dirty="0">
                <a:solidFill>
                  <a:schemeClr val="tx1"/>
                </a:solidFill>
              </a:rPr>
              <a:t>', 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'college']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build="p" animBg="1"/>
      <p:bldP spid="13" grpId="0" animBg="1"/>
      <p:bldP spid="14" grpId="0" animBg="1"/>
      <p:bldP spid="15" grpId="0" animBg="1"/>
      <p:bldP spid="15" grpId="1" animBg="1"/>
      <p:bldP spid="21" grpId="0" build="p" animBg="1"/>
      <p:bldP spid="28" grpId="0" animBg="1"/>
      <p:bldP spid="29" grpId="0" animBg="1"/>
      <p:bldP spid="30" grpId="0" animBg="1"/>
      <p:bldP spid="30" grpId="1" animBg="1"/>
      <p:bldP spid="31" grpId="0" build="p" animBg="1"/>
      <p:bldP spid="32" grpId="0" animBg="1"/>
      <p:bldP spid="33" grpId="0" animBg="1"/>
      <p:bldP spid="34" grpId="0" animBg="1"/>
      <p:bldP spid="34" grpId="1" animBg="1"/>
      <p:bldP spid="17" grpId="0" animBg="1"/>
      <p:bldP spid="17" grpId="1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is </a:t>
            </a:r>
            <a:r>
              <a:rPr lang="en-US" dirty="0">
                <a:solidFill>
                  <a:srgbClr val="C00000"/>
                </a:solidFill>
              </a:rPr>
              <a:t>a unordered collection of unique objects</a:t>
            </a:r>
            <a:r>
              <a:rPr lang="en-US" dirty="0"/>
              <a:t>.</a:t>
            </a:r>
          </a:p>
          <a:p>
            <a:r>
              <a:rPr lang="en-US" dirty="0"/>
              <a:t>Set will be represented by </a:t>
            </a:r>
            <a:r>
              <a:rPr lang="en-US" dirty="0">
                <a:solidFill>
                  <a:srgbClr val="C00000"/>
                </a:solidFill>
              </a:rPr>
              <a:t>curly brackets </a:t>
            </a:r>
            <a:r>
              <a:rPr lang="en-US" dirty="0"/>
              <a:t>{ }.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Set has many in-built methods such as add(), clear(), copy(), pop(), remove() etc.. which are similar to methods we have previously seen.</a:t>
            </a:r>
          </a:p>
          <a:p>
            <a:r>
              <a:rPr lang="en-US" dirty="0"/>
              <a:t>Only difference between Set and List is that Set will have only unique elements and List can have duplicate elements.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2209549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my_set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{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my_set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2209549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88036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setdemo.py</a:t>
            </a:r>
          </a:p>
        </p:txBody>
      </p:sp>
      <p:sp>
        <p:nvSpPr>
          <p:cNvPr id="8" name="Line Callout 1 7"/>
          <p:cNvSpPr/>
          <p:nvPr/>
        </p:nvSpPr>
        <p:spPr>
          <a:xfrm>
            <a:off x="6035771" y="2267742"/>
            <a:ext cx="5808295" cy="428493"/>
          </a:xfrm>
          <a:prstGeom prst="borderCallout1">
            <a:avLst>
              <a:gd name="adj1" fmla="val 53885"/>
              <a:gd name="adj2" fmla="val -612"/>
              <a:gd name="adj3" fmla="val 88341"/>
              <a:gd name="adj4" fmla="val -5859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{1, 2, 3, 5, 9}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8" grpId="0" animBg="1"/>
      <p:bldP spid="8" grpId="1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Tuple</a:t>
            </a:r>
            <a:r>
              <a:rPr lang="en-US" dirty="0"/>
              <a:t> is a </a:t>
            </a:r>
            <a:r>
              <a:rPr lang="en-US" dirty="0">
                <a:solidFill>
                  <a:srgbClr val="C00000"/>
                </a:solidFill>
              </a:rPr>
              <a:t>immutable ordered sequence of objects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duplicate</a:t>
            </a:r>
            <a:r>
              <a:rPr lang="en-US" dirty="0"/>
              <a:t> values are allowed inside list.</a:t>
            </a:r>
          </a:p>
          <a:p>
            <a:r>
              <a:rPr lang="en-US" dirty="0" err="1"/>
              <a:t>Tuple</a:t>
            </a:r>
            <a:r>
              <a:rPr lang="en-US" dirty="0"/>
              <a:t> will be represented by </a:t>
            </a:r>
            <a:r>
              <a:rPr lang="en-US" dirty="0">
                <a:solidFill>
                  <a:srgbClr val="C00000"/>
                </a:solidFill>
              </a:rPr>
              <a:t>round brackets </a:t>
            </a:r>
            <a:r>
              <a:rPr lang="en-US" dirty="0"/>
              <a:t>( ).</a:t>
            </a:r>
          </a:p>
          <a:p>
            <a:r>
              <a:rPr lang="en-US" dirty="0" err="1"/>
              <a:t>Tuple</a:t>
            </a:r>
            <a:r>
              <a:rPr lang="en-US" dirty="0"/>
              <a:t> is similar to List but List is mutable whereas </a:t>
            </a:r>
            <a:r>
              <a:rPr lang="en-US" dirty="0" err="1"/>
              <a:t>Tuple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immutable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2614991"/>
            <a:ext cx="847227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my_tuple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'of'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'engineering'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'of'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my_tuple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my_tuple.index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'engineering'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my_tuple.count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'of'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my_tuple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[-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2614991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228580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tupledemo.py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6251433" y="3042841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59298"/>
              <a:gd name="adj4" fmla="val -2020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3 </a:t>
            </a:r>
            <a:r>
              <a:rPr lang="en-IN" dirty="0">
                <a:solidFill>
                  <a:schemeClr val="tx1"/>
                </a:solidFill>
              </a:rPr>
              <a:t>(index of ‘engineering’)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Line Callout 1 7"/>
          <p:cNvSpPr/>
          <p:nvPr/>
        </p:nvSpPr>
        <p:spPr>
          <a:xfrm>
            <a:off x="6251432" y="2517908"/>
            <a:ext cx="5808295" cy="428493"/>
          </a:xfrm>
          <a:prstGeom prst="borderCallout1">
            <a:avLst>
              <a:gd name="adj1" fmla="val 53885"/>
              <a:gd name="adj2" fmla="val -612"/>
              <a:gd name="adj3" fmla="val 122565"/>
              <a:gd name="adj4" fmla="val -5859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('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'institute', 'of', 'engineering', 'of',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Line Callout 1 8"/>
          <p:cNvSpPr/>
          <p:nvPr/>
        </p:nvSpPr>
        <p:spPr>
          <a:xfrm>
            <a:off x="6251433" y="3559307"/>
            <a:ext cx="5220900" cy="434723"/>
          </a:xfrm>
          <a:prstGeom prst="borderCallout1">
            <a:avLst>
              <a:gd name="adj1" fmla="val 53885"/>
              <a:gd name="adj2" fmla="val -612"/>
              <a:gd name="adj3" fmla="val -4757"/>
              <a:gd name="adj4" fmla="val -3883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Line Callout 1 13"/>
          <p:cNvSpPr/>
          <p:nvPr/>
        </p:nvSpPr>
        <p:spPr>
          <a:xfrm>
            <a:off x="6251433" y="4076892"/>
            <a:ext cx="5220900" cy="434723"/>
          </a:xfrm>
          <a:prstGeom prst="borderCallout1">
            <a:avLst>
              <a:gd name="adj1" fmla="val 53885"/>
              <a:gd name="adj2" fmla="val -612"/>
              <a:gd name="adj3" fmla="val -70241"/>
              <a:gd name="adj4" fmla="val -5651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 animBg="1"/>
      <p:bldP spid="5" grpId="0" animBg="1"/>
      <p:bldP spid="6" grpId="0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4" grpId="0" animBg="1"/>
      <p:bldP spid="14" grpId="1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Dictionary was </a:t>
            </a:r>
            <a:r>
              <a:rPr lang="en-US" dirty="0">
                <a:solidFill>
                  <a:srgbClr val="C00000"/>
                </a:solidFill>
              </a:rPr>
              <a:t>unordered</a:t>
            </a:r>
            <a:r>
              <a:rPr lang="en-US" dirty="0"/>
              <a:t> collection of </a:t>
            </a:r>
            <a:r>
              <a:rPr lang="en-US" dirty="0">
                <a:solidFill>
                  <a:srgbClr val="C00000"/>
                </a:solidFill>
              </a:rPr>
              <a:t>key-value pair before Python 3.7 but after 3.7 it is ordered.</a:t>
            </a:r>
            <a:endParaRPr lang="en-US" dirty="0"/>
          </a:p>
          <a:p>
            <a:r>
              <a:rPr lang="en-US" dirty="0"/>
              <a:t>Dictionary will be represented by </a:t>
            </a:r>
            <a:r>
              <a:rPr lang="en-US" dirty="0">
                <a:solidFill>
                  <a:srgbClr val="C00000"/>
                </a:solidFill>
              </a:rPr>
              <a:t>curly brackets </a:t>
            </a:r>
            <a:r>
              <a:rPr lang="en-US" dirty="0"/>
              <a:t>{ }. Dictionary is </a:t>
            </a:r>
            <a:r>
              <a:rPr lang="en-US" dirty="0">
                <a:solidFill>
                  <a:srgbClr val="C00000"/>
                </a:solidFill>
              </a:rPr>
              <a:t>mutable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4728462"/>
            <a:ext cx="847227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{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'college'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'city'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rajkot"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'type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"engineering"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'college'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print(my_dict.get(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'city'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4728462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439927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dictdemo.py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406044" y="5190818"/>
            <a:ext cx="5523624" cy="1020201"/>
          </a:xfrm>
          <a:prstGeom prst="borderCallout1">
            <a:avLst>
              <a:gd name="adj1" fmla="val 53885"/>
              <a:gd name="adj2" fmla="val -612"/>
              <a:gd name="adj3" fmla="val 5546"/>
              <a:gd name="adj4" fmla="val -2532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values can be accessed using key inside square brackets as well as using get() method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endParaRPr lang="en-IN" i="1" dirty="0">
              <a:solidFill>
                <a:schemeClr val="tx1"/>
              </a:solidFill>
            </a:endParaRPr>
          </a:p>
          <a:p>
            <a:pPr algn="ctr"/>
            <a:r>
              <a:rPr lang="en-IN" i="1" dirty="0">
                <a:solidFill>
                  <a:schemeClr val="tx1"/>
                </a:solidFill>
              </a:rPr>
              <a:t>           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522641" y="2533680"/>
            <a:ext cx="1023849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{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'key1'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'value1'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'key2'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'value2'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}</a:t>
            </a:r>
          </a:p>
        </p:txBody>
      </p:sp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220449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21" name="Line Callout 1 20"/>
          <p:cNvSpPr/>
          <p:nvPr/>
        </p:nvSpPr>
        <p:spPr>
          <a:xfrm>
            <a:off x="946187" y="3237430"/>
            <a:ext cx="2754544" cy="626533"/>
          </a:xfrm>
          <a:prstGeom prst="borderCallout1">
            <a:avLst>
              <a:gd name="adj1" fmla="val 2941"/>
              <a:gd name="adj2" fmla="val 50044"/>
              <a:gd name="adj3" fmla="val -69174"/>
              <a:gd name="adj4" fmla="val 6142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Key value is </a:t>
            </a:r>
            <a:r>
              <a:rPr lang="en-IN" dirty="0" err="1">
                <a:solidFill>
                  <a:schemeClr val="tx1"/>
                </a:solidFill>
              </a:rPr>
              <a:t>seperated</a:t>
            </a:r>
            <a:r>
              <a:rPr lang="en-IN" dirty="0">
                <a:solidFill>
                  <a:schemeClr val="tx1"/>
                </a:solidFill>
              </a:rPr>
              <a:t> by </a:t>
            </a:r>
            <a:r>
              <a:rPr lang="en-IN" b="1" dirty="0">
                <a:solidFill>
                  <a:srgbClr val="FF0000"/>
                </a:solidFill>
              </a:rPr>
              <a:t>: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2" name="Line Callout 1 21"/>
          <p:cNvSpPr/>
          <p:nvPr/>
        </p:nvSpPr>
        <p:spPr>
          <a:xfrm>
            <a:off x="4077575" y="3237430"/>
            <a:ext cx="3306635" cy="626533"/>
          </a:xfrm>
          <a:prstGeom prst="borderCallout1">
            <a:avLst>
              <a:gd name="adj1" fmla="val 2941"/>
              <a:gd name="adj2" fmla="val 50044"/>
              <a:gd name="adj3" fmla="val -60913"/>
              <a:gd name="adj4" fmla="val -1185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Key value pairs is separated by </a:t>
            </a:r>
            <a:r>
              <a:rPr lang="en-IN" b="1" dirty="0">
                <a:solidFill>
                  <a:srgbClr val="FF0000"/>
                </a:solidFill>
              </a:rPr>
              <a:t>,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 animBg="1"/>
      <p:bldP spid="5" grpId="0" animBg="1"/>
      <p:bldP spid="6" grpId="0" animBg="1"/>
      <p:bldP spid="7" grpId="0" animBg="1"/>
      <p:bldP spid="7" grpId="1" animBg="1"/>
      <p:bldP spid="19" grpId="0" uiExpand="1" build="p" animBg="1"/>
      <p:bldP spid="20" grpId="0" animBg="1"/>
      <p:bldP spid="21" grpId="0" animBg="1"/>
      <p:bldP spid="21" grpId="1" animBg="1"/>
      <p:bldP spid="22" grpId="0" animBg="1"/>
      <p:bldP spid="22" grpId="1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keys() method will return list of </a:t>
            </a:r>
            <a:r>
              <a:rPr lang="en-US" dirty="0">
                <a:solidFill>
                  <a:srgbClr val="C00000"/>
                </a:solidFill>
              </a:rPr>
              <a:t>all the keys </a:t>
            </a:r>
            <a:r>
              <a:rPr lang="en-US" dirty="0"/>
              <a:t>associated with the Dictionary.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values() method will return list of </a:t>
            </a:r>
            <a:r>
              <a:rPr lang="en-US" dirty="0">
                <a:solidFill>
                  <a:srgbClr val="C00000"/>
                </a:solidFill>
              </a:rPr>
              <a:t>all the values </a:t>
            </a:r>
            <a:r>
              <a:rPr lang="en-US" dirty="0"/>
              <a:t>associated with the Dictionary.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sz="700" dirty="0"/>
          </a:p>
          <a:p>
            <a:r>
              <a:rPr lang="en-US" dirty="0"/>
              <a:t>items() method will return </a:t>
            </a:r>
            <a:r>
              <a:rPr lang="en-US" dirty="0">
                <a:solidFill>
                  <a:srgbClr val="C00000"/>
                </a:solidFill>
              </a:rPr>
              <a:t>list of </a:t>
            </a:r>
            <a:r>
              <a:rPr lang="en-US" dirty="0" err="1">
                <a:solidFill>
                  <a:srgbClr val="C00000"/>
                </a:solidFill>
              </a:rPr>
              <a:t>tuples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</a:t>
            </a:r>
            <a:r>
              <a:rPr lang="en-US" dirty="0">
                <a:solidFill>
                  <a:srgbClr val="C00000"/>
                </a:solidFill>
              </a:rPr>
              <a:t>each key value pair </a:t>
            </a:r>
            <a:r>
              <a:rPr lang="en-US" dirty="0"/>
              <a:t>associated with the Dictionary.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641324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{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'college'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'city'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rajkot"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'type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"engineering"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my_dict.keys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641324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312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keydemo.py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436257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{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'college'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'city'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rajkot"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'type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"engineering"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my_dict.values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436257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2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1070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valuedemo.py</a:t>
            </a:r>
          </a:p>
        </p:txBody>
      </p:sp>
      <p:sp>
        <p:nvSpPr>
          <p:cNvPr id="30" name="Line Callout 1 29"/>
          <p:cNvSpPr/>
          <p:nvPr/>
        </p:nvSpPr>
        <p:spPr>
          <a:xfrm>
            <a:off x="5980499" y="3737107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33499"/>
              <a:gd name="adj4" fmla="val -42903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', 'engineering']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39568" y="4993805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{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'college'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'city'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rajkot"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'type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"engineering"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my_dict.items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39575" y="4993805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3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39575" y="466462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itemsdemo.py</a:t>
            </a:r>
          </a:p>
        </p:txBody>
      </p:sp>
      <p:sp>
        <p:nvSpPr>
          <p:cNvPr id="34" name="Line Callout 1 33"/>
          <p:cNvSpPr/>
          <p:nvPr/>
        </p:nvSpPr>
        <p:spPr>
          <a:xfrm>
            <a:off x="5997432" y="5294655"/>
            <a:ext cx="4914983" cy="709330"/>
          </a:xfrm>
          <a:prstGeom prst="borderCallout1">
            <a:avLst>
              <a:gd name="adj1" fmla="val 53885"/>
              <a:gd name="adj2" fmla="val -612"/>
              <a:gd name="adj3" fmla="val 18739"/>
              <a:gd name="adj4" fmla="val -4811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[('college', 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'), ('city',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'), ('type', 'engineering')]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6" name="Line Callout 1 15"/>
          <p:cNvSpPr/>
          <p:nvPr/>
        </p:nvSpPr>
        <p:spPr>
          <a:xfrm>
            <a:off x="5980499" y="2114701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-15712"/>
              <a:gd name="adj4" fmla="val -4720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['college', 'city', 'type']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uiExpand="1" build="p" animBg="1"/>
      <p:bldP spid="13" grpId="0" animBg="1"/>
      <p:bldP spid="14" grpId="0" animBg="1"/>
      <p:bldP spid="21" grpId="0" build="p" animBg="1"/>
      <p:bldP spid="28" grpId="0" animBg="1"/>
      <p:bldP spid="29" grpId="0" animBg="1"/>
      <p:bldP spid="30" grpId="0" animBg="1"/>
      <p:bldP spid="30" grpId="1" animBg="1"/>
      <p:bldP spid="31" grpId="0" build="p" animBg="1"/>
      <p:bldP spid="32" grpId="0" animBg="1"/>
      <p:bldP spid="33" grpId="0" animBg="1"/>
      <p:bldP spid="34" grpId="0" animBg="1"/>
      <p:bldP spid="34" grpId="1" animBg="1"/>
      <p:bldP spid="16" grpId="0" animBg="1"/>
      <p:bldP spid="16" grpId="1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81C05-4355-BD48-B6E5-6584D541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List vs. Tuple vs. Set vs. Dictionary</a:t>
            </a:r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7CA0CF7-2347-074D-ADAE-8BED1D18B0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033749"/>
              </p:ext>
            </p:extLst>
          </p:nvPr>
        </p:nvGraphicFramePr>
        <p:xfrm>
          <a:off x="266658" y="979973"/>
          <a:ext cx="11413357" cy="41300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565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43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7029">
                  <a:extLst>
                    <a:ext uri="{9D8B030D-6E8A-4147-A177-3AD203B41FA5}">
                      <a16:colId xmlns:a16="http://schemas.microsoft.com/office/drawing/2014/main" val="791242199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List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Tuple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Sets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Dictionaries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Ordered Data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Ordered Data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Unordered Data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Ordered Data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Mutable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immutable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mutable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mutable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Square braces.[]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Parenthesis ()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Curly brackets {}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Curly brackets {key : value}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Duplicate elements allowed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Duplicate elements allowed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 Duplicate elements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 Duplicate key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append()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Element cannot be added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add()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update()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8848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We can create a list using the list() function.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We can create a tuple using the tuple() function.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We can create a set using the set()function.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We can create a dictionary using the 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dict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() function.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7269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my_list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[5,6,7,8]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my_tuple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= (5,6,7,8)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my_sets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= {3,4,5,6}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my_dictionaries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= {"name" : "XYZ", "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rollno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." : "101"}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552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61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87903-D47C-B749-A7BE-4A2268DFF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Comprehension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FCF50-7584-A14C-B2F1-0E0B509DF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comprehensions offer a way to </a:t>
            </a:r>
            <a:r>
              <a:rPr lang="en-US" dirty="0">
                <a:solidFill>
                  <a:srgbClr val="C00000"/>
                </a:solidFill>
              </a:rPr>
              <a:t>create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lists</a:t>
            </a:r>
            <a:r>
              <a:rPr lang="en-US" dirty="0"/>
              <a:t> based on </a:t>
            </a:r>
            <a:r>
              <a:rPr lang="en-US" dirty="0">
                <a:solidFill>
                  <a:srgbClr val="C00000"/>
                </a:solidFill>
              </a:rPr>
              <a:t>existing </a:t>
            </a:r>
            <a:r>
              <a:rPr lang="en-US" dirty="0" err="1">
                <a:solidFill>
                  <a:srgbClr val="C00000"/>
                </a:solidFill>
              </a:rPr>
              <a:t>iterable</a:t>
            </a:r>
            <a:r>
              <a:rPr lang="en-US" dirty="0"/>
              <a:t>. When using list comprehensions, lists can be </a:t>
            </a:r>
            <a:r>
              <a:rPr lang="en-US" dirty="0">
                <a:solidFill>
                  <a:srgbClr val="C00000"/>
                </a:solidFill>
              </a:rPr>
              <a:t>built</a:t>
            </a:r>
            <a:r>
              <a:rPr lang="en-US" dirty="0"/>
              <a:t> by using any </a:t>
            </a:r>
            <a:r>
              <a:rPr lang="en-US" dirty="0" err="1">
                <a:solidFill>
                  <a:srgbClr val="C00000"/>
                </a:solidFill>
              </a:rPr>
              <a:t>iterable</a:t>
            </a:r>
            <a:r>
              <a:rPr lang="en-US" dirty="0"/>
              <a:t>, including </a:t>
            </a:r>
            <a:r>
              <a:rPr lang="en-US" dirty="0">
                <a:solidFill>
                  <a:srgbClr val="C00000"/>
                </a:solidFill>
              </a:rPr>
              <a:t>strings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list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tuples</a:t>
            </a:r>
            <a:r>
              <a:rPr lang="en-US" dirty="0"/>
              <a:t>.</a:t>
            </a:r>
            <a:endParaRPr lang="en-IN" dirty="0"/>
          </a:p>
          <a:p>
            <a:r>
              <a:rPr lang="en-US" dirty="0"/>
              <a:t>For example, if we want to create a list of characters from the string, we can use for loop like below example,</a:t>
            </a:r>
            <a:endParaRPr lang="en-IN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2181BE-ED75-C34E-9799-2E45E5B93E34}"/>
              </a:ext>
            </a:extLst>
          </p:cNvPr>
          <p:cNvSpPr/>
          <p:nvPr/>
        </p:nvSpPr>
        <p:spPr>
          <a:xfrm>
            <a:off x="966879" y="3013501"/>
            <a:ext cx="2980653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mystr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BA212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'darshan'</a:t>
            </a:r>
            <a:endParaRPr lang="en-IN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mylist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[]</a:t>
            </a:r>
            <a:endParaRPr lang="en-IN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c </a:t>
            </a:r>
            <a:r>
              <a:rPr lang="en-US" sz="1600" b="1" dirty="0">
                <a:solidFill>
                  <a:srgbClr val="AA22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mystr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:</a:t>
            </a:r>
            <a:endParaRPr lang="en-IN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mylist</a:t>
            </a:r>
            <a:r>
              <a:rPr lang="en-US" sz="1600" dirty="0" err="1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append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(c)</a:t>
            </a:r>
            <a:endParaRPr lang="en-IN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mylist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</a:t>
            </a:r>
            <a:endParaRPr lang="en-IN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46F95E-42B4-2043-9507-D41CADC01B4C}"/>
              </a:ext>
            </a:extLst>
          </p:cNvPr>
          <p:cNvSpPr/>
          <p:nvPr/>
        </p:nvSpPr>
        <p:spPr>
          <a:xfrm>
            <a:off x="466886" y="3013501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8B08C7D-DD38-0E4B-8283-41F68EEE15C6}"/>
              </a:ext>
            </a:extLst>
          </p:cNvPr>
          <p:cNvSpPr/>
          <p:nvPr/>
        </p:nvSpPr>
        <p:spPr>
          <a:xfrm>
            <a:off x="466886" y="268431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ForLoop.py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C0E1D2-AF07-A844-AC8D-82D457F47448}"/>
              </a:ext>
            </a:extLst>
          </p:cNvPr>
          <p:cNvSpPr/>
          <p:nvPr/>
        </p:nvSpPr>
        <p:spPr>
          <a:xfrm>
            <a:off x="466886" y="4806816"/>
            <a:ext cx="410692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['d', 'a', 'r', 's', 'h', 'a', 'n']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E7496F0F-88D7-F04D-9BE8-F8E170CA079C}"/>
              </a:ext>
            </a:extLst>
          </p:cNvPr>
          <p:cNvSpPr/>
          <p:nvPr/>
        </p:nvSpPr>
        <p:spPr>
          <a:xfrm>
            <a:off x="466886" y="450519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22F795-2948-AE4B-AC36-AC4520601224}"/>
              </a:ext>
            </a:extLst>
          </p:cNvPr>
          <p:cNvSpPr/>
          <p:nvPr/>
        </p:nvSpPr>
        <p:spPr>
          <a:xfrm>
            <a:off x="5096107" y="2550271"/>
            <a:ext cx="6289288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[ expression for item in 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iterable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]</a:t>
            </a:r>
          </a:p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OR</a:t>
            </a:r>
          </a:p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[ expression for item in 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iterable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if condition ]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C3AA2CF3-FE0A-394A-BCCC-7040519F1EFA}"/>
              </a:ext>
            </a:extLst>
          </p:cNvPr>
          <p:cNvSpPr/>
          <p:nvPr/>
        </p:nvSpPr>
        <p:spPr>
          <a:xfrm>
            <a:off x="5096107" y="223758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5B3260-559D-1940-B76B-E4510377D6F8}"/>
              </a:ext>
            </a:extLst>
          </p:cNvPr>
          <p:cNvSpPr/>
          <p:nvPr/>
        </p:nvSpPr>
        <p:spPr>
          <a:xfrm>
            <a:off x="5573798" y="4023141"/>
            <a:ext cx="4106926" cy="6416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atinLnBrk="1"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[c 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c </a:t>
            </a:r>
            <a:r>
              <a:rPr lang="en-US" sz="1600" b="1" dirty="0">
                <a:solidFill>
                  <a:srgbClr val="AA22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BA212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'darshan'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</a:t>
            </a:r>
            <a:endParaRPr lang="en-IN" sz="1600" dirty="0">
              <a:latin typeface="LM Roman 1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IN" sz="1600" dirty="0">
              <a:latin typeface="LM Roman 12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2BEDAC-D54A-BA48-A24F-EF875CB014C5}"/>
              </a:ext>
            </a:extLst>
          </p:cNvPr>
          <p:cNvSpPr/>
          <p:nvPr/>
        </p:nvSpPr>
        <p:spPr>
          <a:xfrm>
            <a:off x="5073805" y="4023141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AE35BFE9-3C3E-B44B-B12D-6E25A1881ECD}"/>
              </a:ext>
            </a:extLst>
          </p:cNvPr>
          <p:cNvSpPr/>
          <p:nvPr/>
        </p:nvSpPr>
        <p:spPr>
          <a:xfrm>
            <a:off x="5073805" y="369395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</p:spTree>
    <p:extLst>
      <p:ext uri="{BB962C8B-B14F-4D97-AF65-F5344CB8AC3E}">
        <p14:creationId xmlns:p14="http://schemas.microsoft.com/office/powerpoint/2010/main" val="2243450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uiExpand="1" build="p" animBg="1"/>
      <p:bldP spid="9" grpId="0" animBg="1"/>
      <p:bldP spid="13" grpId="0" build="p" animBg="1"/>
      <p:bldP spid="15" grpId="0" animBg="1"/>
      <p:bldP spid="16" grpId="0" build="p" animBg="1"/>
      <p:bldP spid="17" grpId="0" animBg="1"/>
      <p:bldP spid="1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8609B-5896-FD41-8633-E181C241E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Comprehension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C8663-615F-3144-8FEE-FA89CB42F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Similarly, we can use list comprehensions in many cases where we want to create a list out of </a:t>
            </a:r>
            <a:r>
              <a:rPr lang="en-US" dirty="0">
                <a:solidFill>
                  <a:srgbClr val="C00000"/>
                </a:solidFill>
              </a:rPr>
              <a:t>other </a:t>
            </a:r>
            <a:r>
              <a:rPr lang="en-US" dirty="0" err="1">
                <a:solidFill>
                  <a:srgbClr val="C00000"/>
                </a:solidFill>
              </a:rPr>
              <a:t>iterable</a:t>
            </a:r>
            <a:r>
              <a:rPr lang="en-US" dirty="0"/>
              <a:t>, let’s see another example of the use of List Comprehension.</a:t>
            </a:r>
            <a:endParaRPr lang="en-IN" dirty="0"/>
          </a:p>
          <a:p>
            <a:pPr lvl="0"/>
            <a:r>
              <a:rPr lang="en-US" dirty="0"/>
              <a:t>Example (Using for loop):</a:t>
            </a:r>
            <a:endParaRPr lang="en-IN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B3FDC6-1B2A-404C-8606-020D1C217545}"/>
              </a:ext>
            </a:extLst>
          </p:cNvPr>
          <p:cNvSpPr/>
          <p:nvPr/>
        </p:nvSpPr>
        <p:spPr>
          <a:xfrm>
            <a:off x="966879" y="2600906"/>
            <a:ext cx="4040019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i="1" dirty="0">
                <a:solidFill>
                  <a:srgbClr val="4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#list of square from 1 to 10</a:t>
            </a:r>
            <a:r>
              <a:rPr lang="en-US" altLang="en-US" sz="1100" dirty="0"/>
              <a:t> 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[]</a:t>
            </a:r>
            <a:endParaRPr lang="en-US" altLang="en-US" sz="11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b="1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for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>
                <a:solidFill>
                  <a:srgbClr val="AA22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range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11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):</a:t>
            </a:r>
            <a:endParaRPr lang="en-US" altLang="en-US" sz="11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altLang="en-US" sz="1600" dirty="0" err="1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append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**2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altLang="en-US" sz="11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8387EF-4C81-384D-86F8-5E74D6E6CEA8}"/>
              </a:ext>
            </a:extLst>
          </p:cNvPr>
          <p:cNvSpPr/>
          <p:nvPr/>
        </p:nvSpPr>
        <p:spPr>
          <a:xfrm>
            <a:off x="466886" y="2600906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3BB5533-03B9-0F47-8D36-94B9FB9D97DC}"/>
              </a:ext>
            </a:extLst>
          </p:cNvPr>
          <p:cNvSpPr/>
          <p:nvPr/>
        </p:nvSpPr>
        <p:spPr>
          <a:xfrm>
            <a:off x="466886" y="227172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ForLoop1.py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0DBC3B-B0F1-EC40-B96D-4FEDE1ED2454}"/>
              </a:ext>
            </a:extLst>
          </p:cNvPr>
          <p:cNvSpPr/>
          <p:nvPr/>
        </p:nvSpPr>
        <p:spPr>
          <a:xfrm>
            <a:off x="466886" y="4555155"/>
            <a:ext cx="4841094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[1, 4, 9, 16, 25, 36, 49, 64, 81, 100]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1E66B573-50DE-5C42-B785-B70BFBED77CF}"/>
              </a:ext>
            </a:extLst>
          </p:cNvPr>
          <p:cNvSpPr/>
          <p:nvPr/>
        </p:nvSpPr>
        <p:spPr>
          <a:xfrm>
            <a:off x="466886" y="425352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C5B5C6-3403-1D41-A754-B9503370094E}"/>
              </a:ext>
            </a:extLst>
          </p:cNvPr>
          <p:cNvSpPr/>
          <p:nvPr/>
        </p:nvSpPr>
        <p:spPr>
          <a:xfrm>
            <a:off x="6730393" y="2600906"/>
            <a:ext cx="4710758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i="1" dirty="0">
                <a:solidFill>
                  <a:srgbClr val="4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list of square from 1 to 10</a:t>
            </a:r>
            <a:r>
              <a:rPr lang="en-US" altLang="en-US" sz="1100" dirty="0"/>
              <a:t> 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[ 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**2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for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>
                <a:solidFill>
                  <a:srgbClr val="AA22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range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11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 ]</a:t>
            </a:r>
            <a:endParaRPr lang="en-US" altLang="en-US" sz="11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17CA24-15D2-8943-942B-F3B19F563B43}"/>
              </a:ext>
            </a:extLst>
          </p:cNvPr>
          <p:cNvSpPr/>
          <p:nvPr/>
        </p:nvSpPr>
        <p:spPr>
          <a:xfrm>
            <a:off x="6230400" y="2600906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45DCA462-BE19-FC4C-B320-1EE219AB42F6}"/>
              </a:ext>
            </a:extLst>
          </p:cNvPr>
          <p:cNvSpPr/>
          <p:nvPr/>
        </p:nvSpPr>
        <p:spPr>
          <a:xfrm>
            <a:off x="6230400" y="227172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</p:spTree>
    <p:extLst>
      <p:ext uri="{BB962C8B-B14F-4D97-AF65-F5344CB8AC3E}">
        <p14:creationId xmlns:p14="http://schemas.microsoft.com/office/powerpoint/2010/main" val="130941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15" grpId="0" uiExpand="1" build="p" animBg="1"/>
      <p:bldP spid="16" grpId="0" animBg="1"/>
      <p:bldP spid="17" grpId="0" build="p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5367</TotalTime>
  <Words>4007</Words>
  <Application>Microsoft Office PowerPoint</Application>
  <PresentationFormat>Widescreen</PresentationFormat>
  <Paragraphs>1044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3" baseType="lpstr">
      <vt:lpstr>Wingdings 3</vt:lpstr>
      <vt:lpstr>Roboto Condensed Light</vt:lpstr>
      <vt:lpstr>Menlo</vt:lpstr>
      <vt:lpstr>Wingdings 2</vt:lpstr>
      <vt:lpstr>Courier New</vt:lpstr>
      <vt:lpstr>Times New Roman</vt:lpstr>
      <vt:lpstr>Segoe UI Black</vt:lpstr>
      <vt:lpstr>Wingdings</vt:lpstr>
      <vt:lpstr>Calibri</vt:lpstr>
      <vt:lpstr>Consolas</vt:lpstr>
      <vt:lpstr>LM Roman 12</vt:lpstr>
      <vt:lpstr>Roboto Condensed</vt:lpstr>
      <vt:lpstr>Arial</vt:lpstr>
      <vt:lpstr>Office Theme</vt:lpstr>
      <vt:lpstr>Unit-01  Introduction to Python, Object and Data Structure </vt:lpstr>
      <vt:lpstr>PowerPoint Presentation</vt:lpstr>
      <vt:lpstr>Syllabus</vt:lpstr>
      <vt:lpstr>Python - Introduction</vt:lpstr>
      <vt:lpstr>Introduction to Python</vt:lpstr>
      <vt:lpstr>Python - Features</vt:lpstr>
      <vt:lpstr>Features of Python</vt:lpstr>
      <vt:lpstr>Features of Python (cont..)</vt:lpstr>
      <vt:lpstr>Python - Installation</vt:lpstr>
      <vt:lpstr>Step – 1 Search Python on Google</vt:lpstr>
      <vt:lpstr>Step-2 Open python.org</vt:lpstr>
      <vt:lpstr>Step-3 Download the suitable installer</vt:lpstr>
      <vt:lpstr>Step-4 Run .exe and Select Customize installation </vt:lpstr>
      <vt:lpstr>Step-5 Select all Optional Features</vt:lpstr>
      <vt:lpstr>Step-6 Select Advanced Options</vt:lpstr>
      <vt:lpstr>Step-7 Installation Started</vt:lpstr>
      <vt:lpstr>Step-8 Installation Completed</vt:lpstr>
      <vt:lpstr>Verify Successful Installation</vt:lpstr>
      <vt:lpstr>Installing Python for Linux</vt:lpstr>
      <vt:lpstr>Anaconda for Python</vt:lpstr>
      <vt:lpstr>Anaconda Installation</vt:lpstr>
      <vt:lpstr>Step – 1 Search anaconda python</vt:lpstr>
      <vt:lpstr>Step – 2 Download the Installer</vt:lpstr>
      <vt:lpstr>Step – 3 Follow the steps on wizard</vt:lpstr>
      <vt:lpstr>Step – 4 Verify the installation</vt:lpstr>
      <vt:lpstr>Hello World using Python</vt:lpstr>
      <vt:lpstr>Indentation</vt:lpstr>
      <vt:lpstr>Indentation in Python</vt:lpstr>
      <vt:lpstr>Input &amp; Output Function</vt:lpstr>
      <vt:lpstr>print() Function</vt:lpstr>
      <vt:lpstr>input() Function</vt:lpstr>
      <vt:lpstr>Example</vt:lpstr>
      <vt:lpstr>Program 1</vt:lpstr>
      <vt:lpstr>Program 2</vt:lpstr>
      <vt:lpstr>Program 3</vt:lpstr>
      <vt:lpstr>Datatypes</vt:lpstr>
      <vt:lpstr>PowerPoint Presentation</vt:lpstr>
      <vt:lpstr>Variable</vt:lpstr>
      <vt:lpstr>Variable in Python</vt:lpstr>
      <vt:lpstr>Example of Python Variable</vt:lpstr>
      <vt:lpstr>Comments</vt:lpstr>
      <vt:lpstr>Comments</vt:lpstr>
      <vt:lpstr>Tokens</vt:lpstr>
      <vt:lpstr>Tokens</vt:lpstr>
      <vt:lpstr>Tokens</vt:lpstr>
      <vt:lpstr>String</vt:lpstr>
      <vt:lpstr>String in Python</vt:lpstr>
      <vt:lpstr>String Slicing </vt:lpstr>
      <vt:lpstr>String Methods</vt:lpstr>
      <vt:lpstr>String Methods (cont.)</vt:lpstr>
      <vt:lpstr>String Methods (cont.)</vt:lpstr>
      <vt:lpstr>String Methods (cont.)</vt:lpstr>
      <vt:lpstr>String Methods (cont.)</vt:lpstr>
      <vt:lpstr>String Methods (cont.)</vt:lpstr>
      <vt:lpstr>String Formatting</vt:lpstr>
      <vt:lpstr>String Formatting (cont.)</vt:lpstr>
      <vt:lpstr>Data Structures in Python</vt:lpstr>
      <vt:lpstr>Data Structures in Python</vt:lpstr>
      <vt:lpstr>List </vt:lpstr>
      <vt:lpstr>List Methods</vt:lpstr>
      <vt:lpstr>List Methods (cont.)</vt:lpstr>
      <vt:lpstr>List Methods (cont.)</vt:lpstr>
      <vt:lpstr>Set</vt:lpstr>
      <vt:lpstr>Tuple</vt:lpstr>
      <vt:lpstr>Dictionary </vt:lpstr>
      <vt:lpstr>Dictionary Methods</vt:lpstr>
      <vt:lpstr>List vs. Tuple vs. Set vs. Dictionary</vt:lpstr>
      <vt:lpstr>List Comprehension</vt:lpstr>
      <vt:lpstr>List Comprehension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687</cp:revision>
  <dcterms:created xsi:type="dcterms:W3CDTF">2020-05-01T05:09:15Z</dcterms:created>
  <dcterms:modified xsi:type="dcterms:W3CDTF">2024-12-11T18:08:02Z</dcterms:modified>
</cp:coreProperties>
</file>