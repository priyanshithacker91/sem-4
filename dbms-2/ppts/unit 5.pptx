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8"/>
  </p:notesMasterIdLst>
  <p:sldIdLst>
    <p:sldId id="309" r:id="rId2"/>
    <p:sldId id="292" r:id="rId3"/>
    <p:sldId id="310" r:id="rId4"/>
    <p:sldId id="768" r:id="rId5"/>
    <p:sldId id="799" r:id="rId6"/>
    <p:sldId id="800" r:id="rId7"/>
    <p:sldId id="798" r:id="rId8"/>
    <p:sldId id="769" r:id="rId9"/>
    <p:sldId id="770" r:id="rId10"/>
    <p:sldId id="771" r:id="rId11"/>
    <p:sldId id="772" r:id="rId12"/>
    <p:sldId id="801" r:id="rId13"/>
    <p:sldId id="802" r:id="rId14"/>
    <p:sldId id="717" r:id="rId15"/>
    <p:sldId id="761" r:id="rId16"/>
    <p:sldId id="762" r:id="rId17"/>
    <p:sldId id="803" r:id="rId18"/>
    <p:sldId id="763" r:id="rId19"/>
    <p:sldId id="764" r:id="rId20"/>
    <p:sldId id="765" r:id="rId21"/>
    <p:sldId id="804" r:id="rId22"/>
    <p:sldId id="805" r:id="rId23"/>
    <p:sldId id="595" r:id="rId24"/>
    <p:sldId id="766" r:id="rId25"/>
    <p:sldId id="767" r:id="rId26"/>
    <p:sldId id="741" r:id="rId27"/>
    <p:sldId id="796" r:id="rId28"/>
    <p:sldId id="797" r:id="rId29"/>
    <p:sldId id="646" r:id="rId30"/>
    <p:sldId id="774" r:id="rId31"/>
    <p:sldId id="835" r:id="rId32"/>
    <p:sldId id="654" r:id="rId33"/>
    <p:sldId id="775" r:id="rId34"/>
    <p:sldId id="776" r:id="rId35"/>
    <p:sldId id="651" r:id="rId36"/>
    <p:sldId id="788" r:id="rId37"/>
    <p:sldId id="789" r:id="rId38"/>
    <p:sldId id="752" r:id="rId39"/>
    <p:sldId id="786" r:id="rId40"/>
    <p:sldId id="787" r:id="rId41"/>
    <p:sldId id="808" r:id="rId42"/>
    <p:sldId id="809" r:id="rId43"/>
    <p:sldId id="814" r:id="rId44"/>
    <p:sldId id="815" r:id="rId45"/>
    <p:sldId id="816" r:id="rId46"/>
    <p:sldId id="817" r:id="rId47"/>
    <p:sldId id="819" r:id="rId48"/>
    <p:sldId id="820" r:id="rId49"/>
    <p:sldId id="821" r:id="rId50"/>
    <p:sldId id="823" r:id="rId51"/>
    <p:sldId id="822" r:id="rId52"/>
    <p:sldId id="824" r:id="rId53"/>
    <p:sldId id="825" r:id="rId54"/>
    <p:sldId id="826" r:id="rId55"/>
    <p:sldId id="827" r:id="rId56"/>
    <p:sldId id="828" r:id="rId57"/>
    <p:sldId id="829" r:id="rId58"/>
    <p:sldId id="830" r:id="rId59"/>
    <p:sldId id="831" r:id="rId60"/>
    <p:sldId id="790" r:id="rId61"/>
    <p:sldId id="791" r:id="rId62"/>
    <p:sldId id="793" r:id="rId63"/>
    <p:sldId id="794" r:id="rId64"/>
    <p:sldId id="795" r:id="rId65"/>
    <p:sldId id="832" r:id="rId66"/>
    <p:sldId id="387" r:id="rId67"/>
  </p:sldIdLst>
  <p:sldSz cx="12192000" cy="6858000"/>
  <p:notesSz cx="6858000" cy="9144000"/>
  <p:embeddedFontLst>
    <p:embeddedFont>
      <p:font typeface="Roboto Condensed" panose="02000000000000000000" pitchFamily="2" charset="0"/>
      <p:regular r:id="rId69"/>
      <p:bold r:id="rId70"/>
      <p:italic r:id="rId71"/>
      <p:boldItalic r:id="rId72"/>
    </p:embeddedFont>
    <p:embeddedFont>
      <p:font typeface="Roboto Condensed Light" panose="02000000000000000000" pitchFamily="2" charset="0"/>
      <p:regular r:id="rId73"/>
      <p:italic r:id="rId74"/>
    </p:embeddedFont>
    <p:embeddedFont>
      <p:font typeface="Wingdings 2" panose="05020102010507070707" pitchFamily="18" charset="2"/>
      <p:regular r:id="rId75"/>
    </p:embeddedFont>
    <p:embeddedFont>
      <p:font typeface="Wingdings 3" panose="05040102010807070707" pitchFamily="18" charset="2"/>
      <p:regular r:id="rId7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RP5FfD/nozFC6WLi4LAtCg==" hashData="iGn1wPesz1u0uRiyUmxhCFLiCe9iLHtN5iE8zePtzQfe3lNrGCj4x/28TQZ8IpJZVokJXEjuCO5T3BXCTri5hw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1B92"/>
    <a:srgbClr val="673BB7"/>
    <a:srgbClr val="607D8B"/>
    <a:srgbClr val="ED524F"/>
    <a:srgbClr val="B71B1C"/>
    <a:srgbClr val="F54337"/>
    <a:srgbClr val="D81A60"/>
    <a:srgbClr val="890E4F"/>
    <a:srgbClr val="EA1E63"/>
    <a:srgbClr val="C62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737" autoAdjust="0"/>
    <p:restoredTop sz="94660"/>
  </p:normalViewPr>
  <p:slideViewPr>
    <p:cSldViewPr snapToGrid="0">
      <p:cViewPr varScale="1">
        <p:scale>
          <a:sx n="69" d="100"/>
          <a:sy n="69" d="100"/>
        </p:scale>
        <p:origin x="50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6.fntdata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1.fntdata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4.fntdata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2.fntdata"/><Relationship Id="rId75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5.fntdata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8.fntdata"/><Relationship Id="rId7" Type="http://schemas.openxmlformats.org/officeDocument/2006/relationships/slide" Target="slides/slide6.xml"/><Relationship Id="rId71" Type="http://schemas.openxmlformats.org/officeDocument/2006/relationships/font" Target="fonts/font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imish Vadodariya" userId="d2e325c0593a319e" providerId="LiveId" clId="{B8FEFFE4-5A32-4D5D-8BBB-85E3A21C2667}"/>
    <pc:docChg chg="custSel modSld modMainMaster">
      <pc:chgData name="Naimish Vadodariya" userId="d2e325c0593a319e" providerId="LiveId" clId="{B8FEFFE4-5A32-4D5D-8BBB-85E3A21C2667}" dt="2022-04-25T03:59:30.740" v="242" actId="478"/>
      <pc:docMkLst>
        <pc:docMk/>
      </pc:docMkLst>
      <pc:sldChg chg="modSp mod">
        <pc:chgData name="Naimish Vadodariya" userId="d2e325c0593a319e" providerId="LiveId" clId="{B8FEFFE4-5A32-4D5D-8BBB-85E3A21C2667}" dt="2022-04-25T03:47:19.824" v="72" actId="14826"/>
        <pc:sldMkLst>
          <pc:docMk/>
          <pc:sldMk cId="1600834761" sldId="309"/>
        </pc:sldMkLst>
        <pc:spChg chg="mod">
          <ac:chgData name="Naimish Vadodariya" userId="d2e325c0593a319e" providerId="LiveId" clId="{B8FEFFE4-5A32-4D5D-8BBB-85E3A21C2667}" dt="2022-04-25T03:45:41.260" v="61" actId="20577"/>
          <ac:spMkLst>
            <pc:docMk/>
            <pc:sldMk cId="1600834761" sldId="309"/>
            <ac:spMk id="10" creationId="{4F27F027-AAC9-4C88-B3AF-3C4A20BDDDA6}"/>
          </ac:spMkLst>
        </pc:spChg>
        <pc:spChg chg="mod">
          <ac:chgData name="Naimish Vadodariya" userId="d2e325c0593a319e" providerId="LiveId" clId="{B8FEFFE4-5A32-4D5D-8BBB-85E3A21C2667}" dt="2022-04-25T03:45:48.557" v="71" actId="20577"/>
          <ac:spMkLst>
            <pc:docMk/>
            <pc:sldMk cId="1600834761" sldId="309"/>
            <ac:spMk id="11" creationId="{59B646FF-BD32-4C5A-94AF-AC4347EADA2E}"/>
          </ac:spMkLst>
        </pc:spChg>
        <pc:spChg chg="mod">
          <ac:chgData name="Naimish Vadodariya" userId="d2e325c0593a319e" providerId="LiveId" clId="{B8FEFFE4-5A32-4D5D-8BBB-85E3A21C2667}" dt="2022-04-25T03:45:12.102" v="24" actId="20577"/>
          <ac:spMkLst>
            <pc:docMk/>
            <pc:sldMk cId="1600834761" sldId="309"/>
            <ac:spMk id="13" creationId="{89F5B5F8-350F-4941-B9DE-36BF8B014803}"/>
          </ac:spMkLst>
        </pc:spChg>
        <pc:spChg chg="mod">
          <ac:chgData name="Naimish Vadodariya" userId="d2e325c0593a319e" providerId="LiveId" clId="{B8FEFFE4-5A32-4D5D-8BBB-85E3A21C2667}" dt="2022-04-25T03:45:31.613" v="42" actId="20577"/>
          <ac:spMkLst>
            <pc:docMk/>
            <pc:sldMk cId="1600834761" sldId="309"/>
            <ac:spMk id="14" creationId="{E2AD8B6E-51EA-4A15-8752-4F221E5E02C5}"/>
          </ac:spMkLst>
        </pc:spChg>
        <pc:picChg chg="mod">
          <ac:chgData name="Naimish Vadodariya" userId="d2e325c0593a319e" providerId="LiveId" clId="{B8FEFFE4-5A32-4D5D-8BBB-85E3A21C2667}" dt="2022-04-25T03:47:19.824" v="72" actId="14826"/>
          <ac:picMkLst>
            <pc:docMk/>
            <pc:sldMk cId="1600834761" sldId="309"/>
            <ac:picMk id="2" creationId="{00000000-0000-0000-0000-000000000000}"/>
          </ac:picMkLst>
        </pc:picChg>
      </pc:sldChg>
      <pc:sldChg chg="modSp mod">
        <pc:chgData name="Naimish Vadodariya" userId="d2e325c0593a319e" providerId="LiveId" clId="{B8FEFFE4-5A32-4D5D-8BBB-85E3A21C2667}" dt="2022-04-25T03:58:42.662" v="213" actId="20577"/>
        <pc:sldMkLst>
          <pc:docMk/>
          <pc:sldMk cId="1693413271" sldId="387"/>
        </pc:sldMkLst>
        <pc:spChg chg="mod">
          <ac:chgData name="Naimish Vadodariya" userId="d2e325c0593a319e" providerId="LiveId" clId="{B8FEFFE4-5A32-4D5D-8BBB-85E3A21C2667}" dt="2022-04-25T03:57:29.055" v="148" actId="20577"/>
          <ac:spMkLst>
            <pc:docMk/>
            <pc:sldMk cId="1693413271" sldId="387"/>
            <ac:spMk id="27" creationId="{E2AD8B6E-51EA-4A15-8752-4F221E5E02C5}"/>
          </ac:spMkLst>
        </pc:spChg>
        <pc:spChg chg="mod">
          <ac:chgData name="Naimish Vadodariya" userId="d2e325c0593a319e" providerId="LiveId" clId="{B8FEFFE4-5A32-4D5D-8BBB-85E3A21C2667}" dt="2022-04-25T03:58:38.850" v="203" actId="20577"/>
          <ac:spMkLst>
            <pc:docMk/>
            <pc:sldMk cId="1693413271" sldId="387"/>
            <ac:spMk id="28" creationId="{4F27F027-AAC9-4C88-B3AF-3C4A20BDDDA6}"/>
          </ac:spMkLst>
        </pc:spChg>
        <pc:spChg chg="mod">
          <ac:chgData name="Naimish Vadodariya" userId="d2e325c0593a319e" providerId="LiveId" clId="{B8FEFFE4-5A32-4D5D-8BBB-85E3A21C2667}" dt="2022-04-25T03:58:42.662" v="213" actId="20577"/>
          <ac:spMkLst>
            <pc:docMk/>
            <pc:sldMk cId="1693413271" sldId="387"/>
            <ac:spMk id="29" creationId="{59B646FF-BD32-4C5A-94AF-AC4347EADA2E}"/>
          </ac:spMkLst>
        </pc:spChg>
        <pc:spChg chg="mod">
          <ac:chgData name="Naimish Vadodariya" userId="d2e325c0593a319e" providerId="LiveId" clId="{B8FEFFE4-5A32-4D5D-8BBB-85E3A21C2667}" dt="2022-04-25T03:57:58.304" v="183" actId="20577"/>
          <ac:spMkLst>
            <pc:docMk/>
            <pc:sldMk cId="1693413271" sldId="387"/>
            <ac:spMk id="31" creationId="{89F5B5F8-350F-4941-B9DE-36BF8B014803}"/>
          </ac:spMkLst>
        </pc:spChg>
        <pc:picChg chg="mod">
          <ac:chgData name="Naimish Vadodariya" userId="d2e325c0593a319e" providerId="LiveId" clId="{B8FEFFE4-5A32-4D5D-8BBB-85E3A21C2667}" dt="2022-04-25T03:58:32.029" v="184" actId="14826"/>
          <ac:picMkLst>
            <pc:docMk/>
            <pc:sldMk cId="1693413271" sldId="387"/>
            <ac:picMk id="32" creationId="{00000000-0000-0000-0000-000000000000}"/>
          </ac:picMkLst>
        </pc:picChg>
      </pc:sldChg>
      <pc:sldMasterChg chg="modSldLayout">
        <pc:chgData name="Naimish Vadodariya" userId="d2e325c0593a319e" providerId="LiveId" clId="{B8FEFFE4-5A32-4D5D-8BBB-85E3A21C2667}" dt="2022-04-25T03:59:30.740" v="242" actId="478"/>
        <pc:sldMasterMkLst>
          <pc:docMk/>
          <pc:sldMasterMk cId="791954662" sldId="2147483648"/>
        </pc:sldMasterMkLst>
        <pc:sldLayoutChg chg="modSp mod">
          <pc:chgData name="Naimish Vadodariya" userId="d2e325c0593a319e" providerId="LiveId" clId="{B8FEFFE4-5A32-4D5D-8BBB-85E3A21C2667}" dt="2022-04-25T03:48:34.302" v="132" actId="20577"/>
          <pc:sldLayoutMkLst>
            <pc:docMk/>
            <pc:sldMasterMk cId="791954662" sldId="2147483648"/>
            <pc:sldLayoutMk cId="3466633316" sldId="2147483670"/>
          </pc:sldLayoutMkLst>
          <pc:spChg chg="mod">
            <ac:chgData name="Naimish Vadodariya" userId="d2e325c0593a319e" providerId="LiveId" clId="{B8FEFFE4-5A32-4D5D-8BBB-85E3A21C2667}" dt="2022-04-25T03:48:22.631" v="122" actId="20577"/>
            <ac:spMkLst>
              <pc:docMk/>
              <pc:sldMasterMk cId="791954662" sldId="2147483648"/>
              <pc:sldLayoutMk cId="3466633316" sldId="2147483670"/>
              <ac:spMk id="19" creationId="{CA463A36-7025-4394-9467-8A3EC3425B00}"/>
            </ac:spMkLst>
          </pc:spChg>
          <pc:spChg chg="mod">
            <ac:chgData name="Naimish Vadodariya" userId="d2e325c0593a319e" providerId="LiveId" clId="{B8FEFFE4-5A32-4D5D-8BBB-85E3A21C2667}" dt="2022-04-25T03:48:34.302" v="132" actId="20577"/>
            <ac:spMkLst>
              <pc:docMk/>
              <pc:sldMasterMk cId="791954662" sldId="2147483648"/>
              <pc:sldLayoutMk cId="3466633316" sldId="2147483670"/>
              <ac:spMk id="22" creationId="{BF2BE79E-EA17-4AB9-8CB5-714A52A6B2F5}"/>
            </ac:spMkLst>
          </pc:spChg>
        </pc:sldLayoutChg>
        <pc:sldLayoutChg chg="delSp">
          <pc:chgData name="Naimish Vadodariya" userId="d2e325c0593a319e" providerId="LiveId" clId="{B8FEFFE4-5A32-4D5D-8BBB-85E3A21C2667}" dt="2022-04-25T03:59:30.740" v="242" actId="478"/>
          <pc:sldLayoutMkLst>
            <pc:docMk/>
            <pc:sldMasterMk cId="791954662" sldId="2147483648"/>
            <pc:sldLayoutMk cId="2731625911" sldId="2147483679"/>
          </pc:sldLayoutMkLst>
          <pc:picChg chg="del">
            <ac:chgData name="Naimish Vadodariya" userId="d2e325c0593a319e" providerId="LiveId" clId="{B8FEFFE4-5A32-4D5D-8BBB-85E3A21C2667}" dt="2022-04-25T03:59:30.740" v="242" actId="478"/>
            <ac:picMkLst>
              <pc:docMk/>
              <pc:sldMasterMk cId="791954662" sldId="2147483648"/>
              <pc:sldLayoutMk cId="2731625911" sldId="2147483679"/>
              <ac:picMk id="35" creationId="{00000000-0000-0000-0000-000000000000}"/>
            </ac:picMkLst>
          </pc:picChg>
        </pc:sldLayoutChg>
        <pc:sldLayoutChg chg="modSp mod">
          <pc:chgData name="Naimish Vadodariya" userId="d2e325c0593a319e" providerId="LiveId" clId="{B8FEFFE4-5A32-4D5D-8BBB-85E3A21C2667}" dt="2022-04-25T03:59:06.730" v="241" actId="20577"/>
          <pc:sldLayoutMkLst>
            <pc:docMk/>
            <pc:sldMasterMk cId="791954662" sldId="2147483648"/>
            <pc:sldLayoutMk cId="4202761244" sldId="2147483687"/>
          </pc:sldLayoutMkLst>
          <pc:spChg chg="mod">
            <ac:chgData name="Naimish Vadodariya" userId="d2e325c0593a319e" providerId="LiveId" clId="{B8FEFFE4-5A32-4D5D-8BBB-85E3A21C2667}" dt="2022-04-25T03:58:58.746" v="233" actId="20577"/>
            <ac:spMkLst>
              <pc:docMk/>
              <pc:sldMasterMk cId="791954662" sldId="2147483648"/>
              <pc:sldLayoutMk cId="4202761244" sldId="2147483687"/>
              <ac:spMk id="19" creationId="{CA463A36-7025-4394-9467-8A3EC3425B00}"/>
            </ac:spMkLst>
          </pc:spChg>
          <pc:spChg chg="mod">
            <ac:chgData name="Naimish Vadodariya" userId="d2e325c0593a319e" providerId="LiveId" clId="{B8FEFFE4-5A32-4D5D-8BBB-85E3A21C2667}" dt="2022-04-25T03:59:06.730" v="241" actId="20577"/>
            <ac:spMkLst>
              <pc:docMk/>
              <pc:sldMasterMk cId="791954662" sldId="2147483648"/>
              <pc:sldLayoutMk cId="4202761244" sldId="2147483687"/>
              <ac:spMk id="22" creationId="{BF2BE79E-EA17-4AB9-8CB5-714A52A6B2F5}"/>
            </ac:spMkLst>
          </pc:spChg>
        </pc:sldLayoutChg>
        <pc:sldLayoutChg chg="modSp mod">
          <pc:chgData name="Naimish Vadodariya" userId="d2e325c0593a319e" providerId="LiveId" clId="{B8FEFFE4-5A32-4D5D-8BBB-85E3A21C2667}" dt="2022-04-25T03:47:49.659" v="102" actId="20577"/>
          <pc:sldLayoutMkLst>
            <pc:docMk/>
            <pc:sldMasterMk cId="791954662" sldId="2147483648"/>
            <pc:sldLayoutMk cId="346862853" sldId="2147483688"/>
          </pc:sldLayoutMkLst>
          <pc:spChg chg="mod">
            <ac:chgData name="Naimish Vadodariya" userId="d2e325c0593a319e" providerId="LiveId" clId="{B8FEFFE4-5A32-4D5D-8BBB-85E3A21C2667}" dt="2022-04-25T03:47:39.065" v="94" actId="20577"/>
            <ac:spMkLst>
              <pc:docMk/>
              <pc:sldMasterMk cId="791954662" sldId="2147483648"/>
              <pc:sldLayoutMk cId="346862853" sldId="2147483688"/>
              <ac:spMk id="19" creationId="{CA463A36-7025-4394-9467-8A3EC3425B00}"/>
            </ac:spMkLst>
          </pc:spChg>
          <pc:spChg chg="mod">
            <ac:chgData name="Naimish Vadodariya" userId="d2e325c0593a319e" providerId="LiveId" clId="{B8FEFFE4-5A32-4D5D-8BBB-85E3A21C2667}" dt="2022-04-25T03:47:49.659" v="102" actId="20577"/>
            <ac:spMkLst>
              <pc:docMk/>
              <pc:sldMasterMk cId="791954662" sldId="2147483648"/>
              <pc:sldLayoutMk cId="346862853" sldId="2147483688"/>
              <ac:spMk id="22" creationId="{BF2BE79E-EA17-4AB9-8CB5-714A52A6B2F5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9.jpe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14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Firoz A. Sherasiya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64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#2305CS101 (DBMS)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Query Processing &amp; Query Optimization and Transaction Management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13118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953140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Firoz A. Sherasiya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4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#2301CS401 (DBMS-II)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</a:t>
            </a:r>
            <a:r>
              <a:rPr lang="en-GB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Advanced MongoDB Concepts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Firoz A. Sherasiya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64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#2305CS101 (DBMS)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4 – Query Processing &amp; Query Optimization and Transaction Management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218558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4" descr="https://cdn5.vectorstock.com/i/1000x1000/21/59/dbms-database-management-system-computer-data-vector-8212159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4" t="9689" r="5315" b="18089"/>
          <a:stretch/>
        </p:blipFill>
        <p:spPr bwMode="auto">
          <a:xfrm>
            <a:off x="8407803" y="2089594"/>
            <a:ext cx="2880000" cy="2678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8" name="Hexagon 37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Rectangle 40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808333" y="87380"/>
            <a:ext cx="2592372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861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  <p:sldLayoutId id="214748369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3F305CB-DBE2-45D5-8D0B-92106F27C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89" y="1122364"/>
            <a:ext cx="9367025" cy="3456518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Unit-5</a:t>
            </a:r>
            <a:br>
              <a:rPr lang="en-US" dirty="0"/>
            </a:br>
            <a:r>
              <a:rPr lang="en-US" dirty="0"/>
              <a:t>Advanced </a:t>
            </a:r>
            <a:br>
              <a:rPr lang="en-US" dirty="0"/>
            </a:br>
            <a:r>
              <a:rPr lang="en-US" dirty="0"/>
              <a:t>MongoDB Concepts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F27F027-AAC9-4C88-B3AF-3C4A20BDDD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firoz.sherasiya@darshan.ac.in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9B646FF-BD32-4C5A-94AF-AC4347EADA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9879879861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15CF252-06A8-43C0-BB69-DA7109EA6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3780000" cy="290081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9F5B5F8-350F-4941-B9DE-36BF8B0148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Firoz A. Sherasiya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2AD8B6E-51EA-4A15-8752-4F221E5E02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Database Management System-II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(DBMS-II)</a:t>
            </a:r>
          </a:p>
          <a:p>
            <a:r>
              <a:rPr lang="en-US" dirty="0"/>
              <a:t>#2301CS401</a:t>
            </a:r>
          </a:p>
        </p:txBody>
      </p:sp>
      <p:pic>
        <p:nvPicPr>
          <p:cNvPr id="6" name="Picture Placeholder 1">
            <a:extLst>
              <a:ext uri="{FF2B5EF4-FFF2-40B4-BE49-F238E27FC236}">
                <a16:creationId xmlns:a16="http://schemas.microsoft.com/office/drawing/2014/main" id="{B932B675-90F9-BBC4-8B7D-9AE150F8943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0638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00834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731706"/>
            <a:ext cx="742954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Regex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Aggregation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Indexes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Cursor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Schema Validation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Embedded Documents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Create user &amp; add role in MongoDB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Backup and Recovery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Time Series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BASE Properties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The Cap Theorem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Replication and Sharding</a:t>
            </a: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Regex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437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Regex                                 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like]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863444"/>
            <a:ext cx="5940000" cy="1297865"/>
          </a:xfr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In SQL </a:t>
            </a:r>
          </a:p>
          <a:p>
            <a:pPr lvl="1"/>
            <a:r>
              <a:rPr lang="en-US" dirty="0"/>
              <a:t>Which clause is used for Pattern Matching?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LIKE</a:t>
            </a:r>
            <a:r>
              <a:rPr lang="en-US" dirty="0"/>
              <a:t> clause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959CEB-5A56-50A8-4391-092837A993F4}"/>
              </a:ext>
            </a:extLst>
          </p:cNvPr>
          <p:cNvSpPr txBox="1">
            <a:spLocks/>
          </p:cNvSpPr>
          <p:nvPr/>
        </p:nvSpPr>
        <p:spPr>
          <a:xfrm>
            <a:off x="6192974" y="863444"/>
            <a:ext cx="5940000" cy="1297866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MongoDB </a:t>
            </a:r>
          </a:p>
          <a:p>
            <a:pPr lvl="1"/>
            <a:r>
              <a:rPr lang="en-US" dirty="0"/>
              <a:t>Which clause is used for Pattern Matching?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Regex</a:t>
            </a:r>
            <a:r>
              <a:rPr lang="en-US" dirty="0"/>
              <a:t> (</a:t>
            </a:r>
            <a:r>
              <a:rPr lang="en-IN" dirty="0"/>
              <a:t>Regular expression</a:t>
            </a:r>
            <a:r>
              <a:rPr lang="en-US" dirty="0"/>
              <a:t>) clause</a:t>
            </a:r>
          </a:p>
        </p:txBody>
      </p:sp>
    </p:spTree>
    <p:extLst>
      <p:ext uri="{BB962C8B-B14F-4D97-AF65-F5344CB8AC3E}">
        <p14:creationId xmlns:p14="http://schemas.microsoft.com/office/powerpoint/2010/main" val="2268542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A5F0F-A049-66A3-9A14-D7DE7445A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F79BE-7ACB-4E1F-05B9-AD6A4949C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Regex                                 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like]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3D0D3-AB61-BE75-802C-41270C8D0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863444"/>
            <a:ext cx="5940000" cy="5040000"/>
          </a:xfr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In SQL (Student)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Display the detail student whose </a:t>
            </a:r>
            <a:r>
              <a:rPr lang="en-US" dirty="0" err="1"/>
              <a:t>Fname</a:t>
            </a:r>
            <a:r>
              <a:rPr lang="en-US" dirty="0"/>
              <a:t> contains ‘Raj’.</a:t>
            </a:r>
          </a:p>
          <a:p>
            <a:pPr marL="0" indent="0">
              <a:buNone/>
            </a:pPr>
            <a:r>
              <a:rPr lang="en-US" dirty="0"/>
              <a:t>	SELECT * FROM student </a:t>
            </a:r>
          </a:p>
          <a:p>
            <a:pPr marL="0" indent="0">
              <a:buNone/>
            </a:pPr>
            <a:r>
              <a:rPr lang="en-US" dirty="0"/>
              <a:t>	WHERE </a:t>
            </a:r>
            <a:r>
              <a:rPr lang="en-US" dirty="0" err="1"/>
              <a:t>Fname</a:t>
            </a:r>
            <a:r>
              <a:rPr lang="en-US" dirty="0"/>
              <a:t> LIKE ‘%Raj%’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186B7CC-A570-762A-2B11-969ACD0899F4}"/>
              </a:ext>
            </a:extLst>
          </p:cNvPr>
          <p:cNvSpPr txBox="1">
            <a:spLocks/>
          </p:cNvSpPr>
          <p:nvPr/>
        </p:nvSpPr>
        <p:spPr>
          <a:xfrm>
            <a:off x="6192974" y="863442"/>
            <a:ext cx="5940000" cy="5040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MongoDB (Student)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1800" dirty="0"/>
              <a:t>{</a:t>
            </a:r>
            <a:r>
              <a:rPr lang="en-US" sz="1800" dirty="0" err="1"/>
              <a:t>Rno</a:t>
            </a:r>
            <a:r>
              <a:rPr lang="en-US" sz="1800" dirty="0"/>
              <a:t>: 101, FName: Raj, </a:t>
            </a:r>
            <a:r>
              <a:rPr lang="en-US" sz="1800" dirty="0" err="1"/>
              <a:t>Lname</a:t>
            </a:r>
            <a:r>
              <a:rPr lang="en-US" sz="1800" dirty="0"/>
              <a:t>: Patel}</a:t>
            </a:r>
          </a:p>
          <a:p>
            <a:pPr marL="0" indent="0">
              <a:buNone/>
            </a:pPr>
            <a:r>
              <a:rPr lang="en-US" sz="1800" dirty="0"/>
              <a:t>	{</a:t>
            </a:r>
            <a:r>
              <a:rPr lang="en-US" sz="1800" dirty="0" err="1"/>
              <a:t>Rno</a:t>
            </a:r>
            <a:r>
              <a:rPr lang="en-US" sz="1800" dirty="0"/>
              <a:t>: 102, FName: Rajesh, </a:t>
            </a:r>
            <a:r>
              <a:rPr lang="en-US" sz="1800" dirty="0" err="1"/>
              <a:t>Lname</a:t>
            </a:r>
            <a:r>
              <a:rPr lang="en-US" sz="1800" dirty="0"/>
              <a:t>: Shah}</a:t>
            </a:r>
          </a:p>
          <a:p>
            <a:pPr marL="0" indent="0">
              <a:buNone/>
            </a:pPr>
            <a:r>
              <a:rPr lang="en-US" sz="1800" dirty="0"/>
              <a:t>	{</a:t>
            </a:r>
            <a:r>
              <a:rPr lang="en-US" sz="1800" dirty="0" err="1"/>
              <a:t>Rno</a:t>
            </a:r>
            <a:r>
              <a:rPr lang="en-US" sz="1800" dirty="0"/>
              <a:t>: 103, FName: Meet, </a:t>
            </a:r>
            <a:r>
              <a:rPr lang="en-US" sz="1800" dirty="0" err="1"/>
              <a:t>Lname</a:t>
            </a:r>
            <a:r>
              <a:rPr lang="en-US" sz="1800" dirty="0"/>
              <a:t>: Dave} </a:t>
            </a:r>
          </a:p>
          <a:p>
            <a:pPr marL="0" indent="0">
              <a:buNone/>
            </a:pPr>
            <a:r>
              <a:rPr lang="en-US" sz="1800" dirty="0"/>
              <a:t>	{</a:t>
            </a:r>
            <a:r>
              <a:rPr lang="en-US" sz="1800" dirty="0" err="1"/>
              <a:t>Rno</a:t>
            </a:r>
            <a:r>
              <a:rPr lang="en-US" sz="1800" dirty="0"/>
              <a:t>: 104, FName: Mayur, </a:t>
            </a:r>
            <a:r>
              <a:rPr lang="en-US" sz="1800" dirty="0" err="1"/>
              <a:t>Lname</a:t>
            </a:r>
            <a:r>
              <a:rPr lang="en-US" sz="1800" dirty="0"/>
              <a:t>: Solanki}</a:t>
            </a:r>
          </a:p>
          <a:p>
            <a:pPr marL="0" indent="0">
              <a:buNone/>
            </a:pPr>
            <a:r>
              <a:rPr lang="en-US" sz="1800" dirty="0"/>
              <a:t>	{</a:t>
            </a:r>
            <a:r>
              <a:rPr lang="en-US" sz="1800" dirty="0" err="1"/>
              <a:t>Rno</a:t>
            </a:r>
            <a:r>
              <a:rPr lang="en-US" sz="1800" dirty="0"/>
              <a:t>: 105, FName: Hansraj, </a:t>
            </a:r>
            <a:r>
              <a:rPr lang="en-US" sz="1800" dirty="0" err="1"/>
              <a:t>Lname</a:t>
            </a:r>
            <a:r>
              <a:rPr lang="en-US" sz="1800" dirty="0"/>
              <a:t>: Dave}</a:t>
            </a:r>
          </a:p>
          <a:p>
            <a:endParaRPr lang="en-US" dirty="0"/>
          </a:p>
          <a:p>
            <a:r>
              <a:rPr lang="en-US" dirty="0"/>
              <a:t>Display the detail student whose </a:t>
            </a:r>
            <a:r>
              <a:rPr lang="en-US" dirty="0" err="1"/>
              <a:t>Fname</a:t>
            </a:r>
            <a:r>
              <a:rPr lang="en-US" dirty="0"/>
              <a:t> contains ‘Raj’.</a:t>
            </a:r>
          </a:p>
          <a:p>
            <a:pPr marL="536575" indent="0">
              <a:buNone/>
            </a:pPr>
            <a:r>
              <a:rPr lang="en-US" dirty="0" err="1"/>
              <a:t>db.student.find</a:t>
            </a:r>
            <a:r>
              <a:rPr lang="en-US" dirty="0"/>
              <a:t>({FName:{$regex: "Raj"}})</a:t>
            </a:r>
          </a:p>
          <a:p>
            <a:pPr marL="536575" indent="0">
              <a:buNone/>
            </a:pPr>
            <a:r>
              <a:rPr lang="en-US" b="1" dirty="0"/>
              <a:t>OR</a:t>
            </a:r>
          </a:p>
          <a:p>
            <a:pPr marL="536575" indent="0">
              <a:buNone/>
            </a:pPr>
            <a:r>
              <a:rPr lang="en-US" dirty="0" err="1"/>
              <a:t>db.student.find</a:t>
            </a:r>
            <a:r>
              <a:rPr lang="en-US" dirty="0"/>
              <a:t>({FName:/Raj/})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33A36F6-3216-B5BB-978C-297511E873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380805"/>
              </p:ext>
            </p:extLst>
          </p:nvPr>
        </p:nvGraphicFramePr>
        <p:xfrm>
          <a:off x="420914" y="1326956"/>
          <a:ext cx="3048000" cy="22250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16162">
                  <a:extLst>
                    <a:ext uri="{9D8B030D-6E8A-4147-A177-3AD203B41FA5}">
                      <a16:colId xmlns:a16="http://schemas.microsoft.com/office/drawing/2014/main" val="825813101"/>
                    </a:ext>
                  </a:extLst>
                </a:gridCol>
                <a:gridCol w="1233295">
                  <a:extLst>
                    <a:ext uri="{9D8B030D-6E8A-4147-A177-3AD203B41FA5}">
                      <a16:colId xmlns:a16="http://schemas.microsoft.com/office/drawing/2014/main" val="2863464899"/>
                    </a:ext>
                  </a:extLst>
                </a:gridCol>
                <a:gridCol w="898543">
                  <a:extLst>
                    <a:ext uri="{9D8B030D-6E8A-4147-A177-3AD203B41FA5}">
                      <a16:colId xmlns:a16="http://schemas.microsoft.com/office/drawing/2014/main" val="37441655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LName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051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Patel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480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Rajesh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244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Dave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080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Mayur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Solanki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984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Hansraj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Dave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8573866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31DA926-5178-E90A-A64B-9EDED6CE6274}"/>
              </a:ext>
            </a:extLst>
          </p:cNvPr>
          <p:cNvSpPr/>
          <p:nvPr/>
        </p:nvSpPr>
        <p:spPr>
          <a:xfrm>
            <a:off x="3649211" y="5333093"/>
            <a:ext cx="743177" cy="3338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689C34-1804-50DB-C0BD-A399F360B49B}"/>
              </a:ext>
            </a:extLst>
          </p:cNvPr>
          <p:cNvCxnSpPr>
            <a:cxnSpLocks/>
          </p:cNvCxnSpPr>
          <p:nvPr/>
        </p:nvCxnSpPr>
        <p:spPr>
          <a:xfrm>
            <a:off x="6096000" y="863442"/>
            <a:ext cx="24824" cy="504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38EF260A-3024-44EC-7A27-89B1C5DB6C04}"/>
              </a:ext>
            </a:extLst>
          </p:cNvPr>
          <p:cNvSpPr/>
          <p:nvPr/>
        </p:nvSpPr>
        <p:spPr>
          <a:xfrm>
            <a:off x="8875839" y="4547052"/>
            <a:ext cx="896811" cy="3338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FA45C0-B1DB-D0ED-AB7E-94B3DB7588C1}"/>
              </a:ext>
            </a:extLst>
          </p:cNvPr>
          <p:cNvSpPr/>
          <p:nvPr/>
        </p:nvSpPr>
        <p:spPr>
          <a:xfrm>
            <a:off x="9772650" y="4547051"/>
            <a:ext cx="1709738" cy="3338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60F7B0-EB70-A246-3EA2-DBA6110DAE33}"/>
              </a:ext>
            </a:extLst>
          </p:cNvPr>
          <p:cNvSpPr/>
          <p:nvPr/>
        </p:nvSpPr>
        <p:spPr>
          <a:xfrm>
            <a:off x="8866313" y="5449647"/>
            <a:ext cx="896811" cy="3338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189684-739F-A768-28F1-BBFF2E746B62}"/>
              </a:ext>
            </a:extLst>
          </p:cNvPr>
          <p:cNvSpPr/>
          <p:nvPr/>
        </p:nvSpPr>
        <p:spPr>
          <a:xfrm>
            <a:off x="9772650" y="5450554"/>
            <a:ext cx="590551" cy="3338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157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8C3D6-CFD0-5C9D-D809-1E1A9CD29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7A801-62E9-8B37-23C0-04A2CD118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Regex                                 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like]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E75820-AF30-2F75-45F3-0B17E6E4CE43}"/>
              </a:ext>
            </a:extLst>
          </p:cNvPr>
          <p:cNvSpPr txBox="1">
            <a:spLocks/>
          </p:cNvSpPr>
          <p:nvPr/>
        </p:nvSpPr>
        <p:spPr>
          <a:xfrm>
            <a:off x="156000" y="909000"/>
            <a:ext cx="11844000" cy="5040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MongoDB (Student)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1800" dirty="0"/>
              <a:t>{</a:t>
            </a:r>
            <a:r>
              <a:rPr lang="en-US" sz="1800" dirty="0" err="1"/>
              <a:t>Rno</a:t>
            </a:r>
            <a:r>
              <a:rPr lang="en-US" sz="1800" dirty="0"/>
              <a:t>: 101, FName: Raj, </a:t>
            </a:r>
            <a:r>
              <a:rPr lang="en-US" sz="1800" dirty="0" err="1"/>
              <a:t>Lname</a:t>
            </a:r>
            <a:r>
              <a:rPr lang="en-US" sz="1800" dirty="0"/>
              <a:t>: Patel}</a:t>
            </a:r>
          </a:p>
          <a:p>
            <a:pPr marL="0" indent="0">
              <a:buNone/>
            </a:pPr>
            <a:r>
              <a:rPr lang="en-US" sz="1800" dirty="0"/>
              <a:t>	{</a:t>
            </a:r>
            <a:r>
              <a:rPr lang="en-US" sz="1800" dirty="0" err="1"/>
              <a:t>Rno</a:t>
            </a:r>
            <a:r>
              <a:rPr lang="en-US" sz="1800" dirty="0"/>
              <a:t>: 102, FName: Rajesh, </a:t>
            </a:r>
            <a:r>
              <a:rPr lang="en-US" sz="1800" dirty="0" err="1"/>
              <a:t>Lname</a:t>
            </a:r>
            <a:r>
              <a:rPr lang="en-US" sz="1800" dirty="0"/>
              <a:t>: Shah}</a:t>
            </a:r>
          </a:p>
          <a:p>
            <a:pPr marL="0" indent="0">
              <a:buNone/>
            </a:pPr>
            <a:r>
              <a:rPr lang="en-US" sz="1800" dirty="0"/>
              <a:t>	{</a:t>
            </a:r>
            <a:r>
              <a:rPr lang="en-US" sz="1800" dirty="0" err="1"/>
              <a:t>Rno</a:t>
            </a:r>
            <a:r>
              <a:rPr lang="en-US" sz="1800" dirty="0"/>
              <a:t>: 103, FName: Meet, </a:t>
            </a:r>
            <a:r>
              <a:rPr lang="en-US" sz="1800" dirty="0" err="1"/>
              <a:t>Lname</a:t>
            </a:r>
            <a:r>
              <a:rPr lang="en-US" sz="1800" dirty="0"/>
              <a:t>: Dave} </a:t>
            </a:r>
          </a:p>
          <a:p>
            <a:pPr marL="0" indent="0">
              <a:buNone/>
            </a:pPr>
            <a:r>
              <a:rPr lang="en-US" sz="1800" dirty="0"/>
              <a:t>	{</a:t>
            </a:r>
            <a:r>
              <a:rPr lang="en-US" sz="1800" dirty="0" err="1"/>
              <a:t>Rno</a:t>
            </a:r>
            <a:r>
              <a:rPr lang="en-US" sz="1800" dirty="0"/>
              <a:t>: 104, FName: Mayur, </a:t>
            </a:r>
            <a:r>
              <a:rPr lang="en-US" sz="1800" dirty="0" err="1"/>
              <a:t>Lname</a:t>
            </a:r>
            <a:r>
              <a:rPr lang="en-US" sz="1800" dirty="0"/>
              <a:t>: Solanki}</a:t>
            </a:r>
          </a:p>
          <a:p>
            <a:pPr marL="0" indent="0">
              <a:buNone/>
            </a:pPr>
            <a:r>
              <a:rPr lang="en-US" sz="1800" dirty="0"/>
              <a:t>	{</a:t>
            </a:r>
            <a:r>
              <a:rPr lang="en-US" sz="1800" dirty="0" err="1"/>
              <a:t>Rno</a:t>
            </a:r>
            <a:r>
              <a:rPr lang="en-US" sz="1800" dirty="0"/>
              <a:t>: 105, FName: Hansraj, </a:t>
            </a:r>
            <a:r>
              <a:rPr lang="en-US" sz="1800" dirty="0" err="1"/>
              <a:t>Lname</a:t>
            </a:r>
            <a:r>
              <a:rPr lang="en-US" sz="1800" dirty="0"/>
              <a:t>: Dave}</a:t>
            </a:r>
          </a:p>
          <a:p>
            <a:endParaRPr lang="en-US" dirty="0"/>
          </a:p>
          <a:p>
            <a:r>
              <a:rPr lang="en-US" dirty="0"/>
              <a:t>Display the detail student whose </a:t>
            </a:r>
            <a:r>
              <a:rPr lang="en-US" dirty="0" err="1"/>
              <a:t>Fname</a:t>
            </a:r>
            <a:r>
              <a:rPr lang="en-US" dirty="0"/>
              <a:t> contains ‘Raj’. (</a:t>
            </a:r>
            <a:r>
              <a:rPr lang="en-US" dirty="0">
                <a:solidFill>
                  <a:schemeClr val="accent6"/>
                </a:solidFill>
              </a:rPr>
              <a:t>Case insensitive</a:t>
            </a:r>
            <a:r>
              <a:rPr lang="en-US" dirty="0"/>
              <a:t>)</a:t>
            </a:r>
          </a:p>
          <a:p>
            <a:pPr marL="536575" indent="0">
              <a:buNone/>
            </a:pPr>
            <a:r>
              <a:rPr lang="en-US" dirty="0" err="1"/>
              <a:t>db.student.find</a:t>
            </a:r>
            <a:r>
              <a:rPr lang="en-US" dirty="0"/>
              <a:t>({FName:{$regex: "Raj“, </a:t>
            </a:r>
            <a:r>
              <a:rPr lang="en-US" dirty="0">
                <a:solidFill>
                  <a:schemeClr val="accent6"/>
                </a:solidFill>
              </a:rPr>
              <a:t>$options:"</a:t>
            </a:r>
            <a:r>
              <a:rPr lang="en-US" dirty="0" err="1">
                <a:solidFill>
                  <a:schemeClr val="accent6"/>
                </a:solidFill>
              </a:rPr>
              <a:t>i</a:t>
            </a:r>
            <a:r>
              <a:rPr lang="en-US" dirty="0">
                <a:solidFill>
                  <a:schemeClr val="accent6"/>
                </a:solidFill>
              </a:rPr>
              <a:t>"</a:t>
            </a:r>
            <a:r>
              <a:rPr lang="en-US" dirty="0"/>
              <a:t>}})</a:t>
            </a:r>
          </a:p>
          <a:p>
            <a:pPr marL="536575" indent="0">
              <a:buNone/>
            </a:pPr>
            <a:r>
              <a:rPr lang="en-US" b="1" dirty="0"/>
              <a:t>OR</a:t>
            </a:r>
          </a:p>
          <a:p>
            <a:pPr marL="536575" indent="0">
              <a:buNone/>
            </a:pPr>
            <a:r>
              <a:rPr lang="en-US" dirty="0" err="1"/>
              <a:t>db.student.find</a:t>
            </a:r>
            <a:r>
              <a:rPr lang="en-US" dirty="0"/>
              <a:t>({FName:/Raj/</a:t>
            </a:r>
            <a:r>
              <a:rPr lang="en-US" dirty="0" err="1">
                <a:solidFill>
                  <a:schemeClr val="accent6"/>
                </a:solidFill>
              </a:rPr>
              <a:t>i</a:t>
            </a:r>
            <a:r>
              <a:rPr lang="en-US" dirty="0"/>
              <a:t>})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60434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14B2E-3D1C-D6C4-3224-577D6A1DF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9CBD2-337E-D86F-8A89-B45C1178D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Regex                                 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like]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2EAF0-BAD7-5D7A-6BEB-490CD818E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 err="1"/>
              <a:t>MongoDB</a:t>
            </a:r>
            <a:r>
              <a:rPr lang="en-US" dirty="0"/>
              <a:t> provides the functionality to search a pattern in a string during a query by writing a regular expression. </a:t>
            </a:r>
          </a:p>
          <a:p>
            <a:r>
              <a:rPr lang="en-US" dirty="0"/>
              <a:t>A regular expression is a </a:t>
            </a:r>
            <a:r>
              <a:rPr lang="en-US" dirty="0">
                <a:solidFill>
                  <a:schemeClr val="accent6"/>
                </a:solidFill>
              </a:rPr>
              <a:t>generalized way to match patterns with sequences of characters</a:t>
            </a:r>
            <a:r>
              <a:rPr lang="en-US" dirty="0"/>
              <a:t>. </a:t>
            </a:r>
          </a:p>
          <a:p>
            <a:r>
              <a:rPr lang="en-US" dirty="0"/>
              <a:t>In </a:t>
            </a:r>
            <a:r>
              <a:rPr lang="en-US" dirty="0" err="1"/>
              <a:t>MongoDB</a:t>
            </a:r>
            <a:r>
              <a:rPr lang="en-US" dirty="0"/>
              <a:t>, we can do pattern matching in two different ways:</a:t>
            </a:r>
          </a:p>
          <a:p>
            <a:pPr lvl="1"/>
            <a:r>
              <a:rPr lang="en-US" dirty="0"/>
              <a:t>With $regex operator</a:t>
            </a:r>
          </a:p>
          <a:p>
            <a:pPr lvl="1"/>
            <a:r>
              <a:rPr lang="en-US" dirty="0"/>
              <a:t>Without $regex operator</a:t>
            </a:r>
          </a:p>
        </p:txBody>
      </p:sp>
    </p:spTree>
    <p:extLst>
      <p:ext uri="{BB962C8B-B14F-4D97-AF65-F5344CB8AC3E}">
        <p14:creationId xmlns:p14="http://schemas.microsoft.com/office/powerpoint/2010/main" val="2876412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$regex                                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like]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This operator is used to search for the given string in the specified collection.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In </a:t>
            </a:r>
            <a:r>
              <a:rPr lang="en-US" dirty="0" err="1"/>
              <a:t>MongoDB</a:t>
            </a:r>
            <a:r>
              <a:rPr lang="en-US" dirty="0"/>
              <a:t>, the following &lt;options&gt; are available for use with regular expression:</a:t>
            </a:r>
          </a:p>
          <a:p>
            <a:pPr lvl="2"/>
            <a:r>
              <a:rPr lang="en-US" dirty="0"/>
              <a:t>i: To match both lower case and upper case pattern in the string.</a:t>
            </a:r>
          </a:p>
          <a:p>
            <a:pPr lvl="2"/>
            <a:r>
              <a:rPr lang="en-US" dirty="0"/>
              <a:t>m: To include ^ and $ in the pattern in the match i.e. to specifically search for ^ and $ inside the string. Without this option, these anchors match at the beginning or end of the string.</a:t>
            </a:r>
          </a:p>
          <a:p>
            <a:pPr lvl="2"/>
            <a:r>
              <a:rPr lang="en-US" dirty="0"/>
              <a:t>x: To ignore all white space characters in the $regex pattern.</a:t>
            </a:r>
          </a:p>
          <a:p>
            <a:pPr lvl="2"/>
            <a:r>
              <a:rPr lang="en-US" dirty="0"/>
              <a:t>s: To allow the dot character “.” to match all characters including newline characters.</a:t>
            </a: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C81A396-36A6-1596-E90C-3AB542D60C3A}"/>
              </a:ext>
            </a:extLst>
          </p:cNvPr>
          <p:cNvSpPr/>
          <p:nvPr/>
        </p:nvSpPr>
        <p:spPr>
          <a:xfrm>
            <a:off x="521013" y="1654892"/>
            <a:ext cx="7589520" cy="432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db.collectionName.find</a:t>
            </a:r>
            <a:r>
              <a:rPr lang="en-US" dirty="0">
                <a:solidFill>
                  <a:schemeClr val="tx1"/>
                </a:solidFill>
              </a:rPr>
              <a:t>({</a:t>
            </a:r>
            <a:r>
              <a:rPr lang="en-US" dirty="0" err="1">
                <a:solidFill>
                  <a:schemeClr val="tx1"/>
                </a:solidFill>
              </a:rPr>
              <a:t>field_name</a:t>
            </a:r>
            <a:r>
              <a:rPr lang="en-US" dirty="0">
                <a:solidFill>
                  <a:schemeClr val="tx1"/>
                </a:solidFill>
              </a:rPr>
              <a:t>: { $regex: /pattern/, $options: '&lt;options&gt;' } })</a:t>
            </a: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94F70BFB-6932-9277-7321-D82B9ED7BA35}"/>
              </a:ext>
            </a:extLst>
          </p:cNvPr>
          <p:cNvSpPr/>
          <p:nvPr/>
        </p:nvSpPr>
        <p:spPr>
          <a:xfrm>
            <a:off x="521013" y="1289132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Syntax</a:t>
            </a:r>
          </a:p>
        </p:txBody>
      </p:sp>
    </p:spTree>
    <p:extLst>
      <p:ext uri="{BB962C8B-B14F-4D97-AF65-F5344CB8AC3E}">
        <p14:creationId xmlns:p14="http://schemas.microsoft.com/office/powerpoint/2010/main" val="370259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Regex                                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like]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7663522" cy="5590565"/>
          </a:xfrm>
        </p:spPr>
        <p:txBody>
          <a:bodyPr/>
          <a:lstStyle/>
          <a:p>
            <a:r>
              <a:rPr lang="en-US" dirty="0"/>
              <a:t>Displaying details of employee who are having the word developer in their position field.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Displaying details of employee who are a software engineer with case insensitive by using </a:t>
            </a:r>
            <a:r>
              <a:rPr lang="en-US" dirty="0" err="1"/>
              <a:t>i</a:t>
            </a:r>
            <a:r>
              <a:rPr lang="en-US" dirty="0"/>
              <a:t> &lt;options&gt;.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Displaying details of the employee whose name starts with ‘B’.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4D235-19A7-5163-963D-7629F8FF4E6C}"/>
              </a:ext>
            </a:extLst>
          </p:cNvPr>
          <p:cNvSpPr txBox="1"/>
          <p:nvPr/>
        </p:nvSpPr>
        <p:spPr>
          <a:xfrm>
            <a:off x="7950815" y="1433148"/>
            <a:ext cx="3980986" cy="45243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  <a:p>
            <a:r>
              <a:rPr lang="en-US" dirty="0"/>
              <a:t>	name: "Tony",</a:t>
            </a:r>
          </a:p>
          <a:p>
            <a:r>
              <a:rPr lang="en-US" dirty="0"/>
              <a:t>	position: "Backend developer"</a:t>
            </a:r>
          </a:p>
          <a:p>
            <a:r>
              <a:rPr lang="en-US" dirty="0"/>
              <a:t>}  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name: "Bruce",</a:t>
            </a:r>
          </a:p>
          <a:p>
            <a:r>
              <a:rPr lang="en-US" dirty="0"/>
              <a:t>	position: "frontend developer"</a:t>
            </a:r>
          </a:p>
          <a:p>
            <a:r>
              <a:rPr lang="en-US" dirty="0"/>
              <a:t>}  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name: "Nick",</a:t>
            </a:r>
          </a:p>
          <a:p>
            <a:r>
              <a:rPr lang="en-US" dirty="0"/>
              <a:t>	position: "HR Manager“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name: “Jimmy",</a:t>
            </a:r>
          </a:p>
          <a:p>
            <a:r>
              <a:rPr lang="en-US" dirty="0"/>
              <a:t>	position: “backend developer"</a:t>
            </a:r>
          </a:p>
          <a:p>
            <a:r>
              <a:rPr lang="en-US" dirty="0"/>
              <a:t>}  </a:t>
            </a: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0C81A396-36A6-1596-E90C-3AB542D60C3A}"/>
              </a:ext>
            </a:extLst>
          </p:cNvPr>
          <p:cNvSpPr/>
          <p:nvPr/>
        </p:nvSpPr>
        <p:spPr>
          <a:xfrm>
            <a:off x="521013" y="1967054"/>
            <a:ext cx="4754880" cy="54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db.emp.find</a:t>
            </a:r>
            <a:r>
              <a:rPr lang="en-US" dirty="0">
                <a:solidFill>
                  <a:schemeClr val="tx1"/>
                </a:solidFill>
              </a:rPr>
              <a:t>({position : {$regex : "developer"}})</a:t>
            </a:r>
          </a:p>
        </p:txBody>
      </p:sp>
      <p:sp>
        <p:nvSpPr>
          <p:cNvPr id="6" name="Rounded Rectangle 18">
            <a:extLst>
              <a:ext uri="{FF2B5EF4-FFF2-40B4-BE49-F238E27FC236}">
                <a16:creationId xmlns:a16="http://schemas.microsoft.com/office/drawing/2014/main" id="{94F70BFB-6932-9277-7321-D82B9ED7BA35}"/>
              </a:ext>
            </a:extLst>
          </p:cNvPr>
          <p:cNvSpPr/>
          <p:nvPr/>
        </p:nvSpPr>
        <p:spPr>
          <a:xfrm>
            <a:off x="521013" y="1601294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0F71ABC8-80EC-67A6-7D42-ADBDE7259F28}"/>
              </a:ext>
            </a:extLst>
          </p:cNvPr>
          <p:cNvSpPr/>
          <p:nvPr/>
        </p:nvSpPr>
        <p:spPr>
          <a:xfrm>
            <a:off x="7950813" y="1067388"/>
            <a:ext cx="1005840" cy="365760"/>
          </a:xfrm>
          <a:prstGeom prst="roundRect">
            <a:avLst>
              <a:gd name="adj" fmla="val 11459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emp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1FB5FC73-ECB3-C47C-6D6A-31162BF2CD38}"/>
              </a:ext>
            </a:extLst>
          </p:cNvPr>
          <p:cNvSpPr/>
          <p:nvPr/>
        </p:nvSpPr>
        <p:spPr>
          <a:xfrm>
            <a:off x="521013" y="3641425"/>
            <a:ext cx="5943600" cy="539496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db.emp.find</a:t>
            </a:r>
            <a:r>
              <a:rPr lang="en-US" dirty="0">
                <a:solidFill>
                  <a:schemeClr val="tx1"/>
                </a:solidFill>
              </a:rPr>
              <a:t>({position:{$regex:"software",$options:"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"}})</a:t>
            </a:r>
          </a:p>
        </p:txBody>
      </p:sp>
      <p:sp>
        <p:nvSpPr>
          <p:cNvPr id="9" name="Rounded Rectangle 18">
            <a:extLst>
              <a:ext uri="{FF2B5EF4-FFF2-40B4-BE49-F238E27FC236}">
                <a16:creationId xmlns:a16="http://schemas.microsoft.com/office/drawing/2014/main" id="{23124F91-7F0A-6D9C-FDA1-20217E0B98D5}"/>
              </a:ext>
            </a:extLst>
          </p:cNvPr>
          <p:cNvSpPr/>
          <p:nvPr/>
        </p:nvSpPr>
        <p:spPr>
          <a:xfrm>
            <a:off x="521013" y="3275665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D0934A74-6843-8972-7BB3-1A01AED45683}"/>
              </a:ext>
            </a:extLst>
          </p:cNvPr>
          <p:cNvSpPr/>
          <p:nvPr/>
        </p:nvSpPr>
        <p:spPr>
          <a:xfrm>
            <a:off x="521013" y="5382357"/>
            <a:ext cx="4754880" cy="539496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db.emp.find</a:t>
            </a:r>
            <a:r>
              <a:rPr lang="en-US" dirty="0">
                <a:solidFill>
                  <a:schemeClr val="tx1"/>
                </a:solidFill>
              </a:rPr>
              <a:t>({name:{$regex:"^B"}})</a:t>
            </a:r>
          </a:p>
        </p:txBody>
      </p:sp>
      <p:sp>
        <p:nvSpPr>
          <p:cNvPr id="11" name="Rounded Rectangle 18">
            <a:extLst>
              <a:ext uri="{FF2B5EF4-FFF2-40B4-BE49-F238E27FC236}">
                <a16:creationId xmlns:a16="http://schemas.microsoft.com/office/drawing/2014/main" id="{2FC9CA03-C3BD-3B0E-B995-9826EAB242B7}"/>
              </a:ext>
            </a:extLst>
          </p:cNvPr>
          <p:cNvSpPr/>
          <p:nvPr/>
        </p:nvSpPr>
        <p:spPr>
          <a:xfrm>
            <a:off x="521013" y="5016597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748935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Regex                                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like]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7663522" cy="5590565"/>
          </a:xfrm>
        </p:spPr>
        <p:txBody>
          <a:bodyPr/>
          <a:lstStyle/>
          <a:p>
            <a:r>
              <a:rPr lang="en-US" dirty="0"/>
              <a:t>Displaying details of the employee whose name ends with ‘e’.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Displaying details of the employee whose name starts with ‘B’ and ends with ‘e’.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Displaying details of the employee whose name have ‘r’ is second character.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4D235-19A7-5163-963D-7629F8FF4E6C}"/>
              </a:ext>
            </a:extLst>
          </p:cNvPr>
          <p:cNvSpPr txBox="1"/>
          <p:nvPr/>
        </p:nvSpPr>
        <p:spPr>
          <a:xfrm>
            <a:off x="7950815" y="1433148"/>
            <a:ext cx="3980986" cy="45243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  <a:p>
            <a:r>
              <a:rPr lang="en-US" dirty="0"/>
              <a:t>	name: "Tony",</a:t>
            </a:r>
          </a:p>
          <a:p>
            <a:r>
              <a:rPr lang="en-US" dirty="0"/>
              <a:t>	position: "Backend developer"</a:t>
            </a:r>
          </a:p>
          <a:p>
            <a:r>
              <a:rPr lang="en-US" dirty="0"/>
              <a:t>}  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name: "Bruce",</a:t>
            </a:r>
          </a:p>
          <a:p>
            <a:r>
              <a:rPr lang="en-US" dirty="0"/>
              <a:t>	position: "frontend developer"</a:t>
            </a:r>
          </a:p>
          <a:p>
            <a:r>
              <a:rPr lang="en-US" dirty="0"/>
              <a:t>}  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name: "Nick",</a:t>
            </a:r>
          </a:p>
          <a:p>
            <a:r>
              <a:rPr lang="en-US" dirty="0"/>
              <a:t>	position: "HR Manager“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name: “Jimmy",</a:t>
            </a:r>
          </a:p>
          <a:p>
            <a:r>
              <a:rPr lang="en-US" dirty="0"/>
              <a:t>	position: “backend developer"</a:t>
            </a:r>
          </a:p>
          <a:p>
            <a:r>
              <a:rPr lang="en-US" dirty="0"/>
              <a:t>}  </a:t>
            </a: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0C81A396-36A6-1596-E90C-3AB542D60C3A}"/>
              </a:ext>
            </a:extLst>
          </p:cNvPr>
          <p:cNvSpPr/>
          <p:nvPr/>
        </p:nvSpPr>
        <p:spPr>
          <a:xfrm>
            <a:off x="521013" y="1967054"/>
            <a:ext cx="4754880" cy="54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db.emp.find</a:t>
            </a:r>
            <a:r>
              <a:rPr lang="en-US" dirty="0">
                <a:solidFill>
                  <a:schemeClr val="tx1"/>
                </a:solidFill>
              </a:rPr>
              <a:t>({name : {$regex : “e$"}})</a:t>
            </a:r>
          </a:p>
        </p:txBody>
      </p:sp>
      <p:sp>
        <p:nvSpPr>
          <p:cNvPr id="6" name="Rounded Rectangle 18">
            <a:extLst>
              <a:ext uri="{FF2B5EF4-FFF2-40B4-BE49-F238E27FC236}">
                <a16:creationId xmlns:a16="http://schemas.microsoft.com/office/drawing/2014/main" id="{94F70BFB-6932-9277-7321-D82B9ED7BA35}"/>
              </a:ext>
            </a:extLst>
          </p:cNvPr>
          <p:cNvSpPr/>
          <p:nvPr/>
        </p:nvSpPr>
        <p:spPr>
          <a:xfrm>
            <a:off x="521013" y="1601294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0F71ABC8-80EC-67A6-7D42-ADBDE7259F28}"/>
              </a:ext>
            </a:extLst>
          </p:cNvPr>
          <p:cNvSpPr/>
          <p:nvPr/>
        </p:nvSpPr>
        <p:spPr>
          <a:xfrm>
            <a:off x="7950813" y="1067388"/>
            <a:ext cx="1005840" cy="365760"/>
          </a:xfrm>
          <a:prstGeom prst="roundRect">
            <a:avLst>
              <a:gd name="adj" fmla="val 11459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emp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1FB5FC73-ECB3-C47C-6D6A-31162BF2CD38}"/>
              </a:ext>
            </a:extLst>
          </p:cNvPr>
          <p:cNvSpPr/>
          <p:nvPr/>
        </p:nvSpPr>
        <p:spPr>
          <a:xfrm>
            <a:off x="521013" y="3641425"/>
            <a:ext cx="7132320" cy="539496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db.emp.find</a:t>
            </a:r>
            <a:r>
              <a:rPr lang="en-US" dirty="0">
                <a:solidFill>
                  <a:schemeClr val="tx1"/>
                </a:solidFill>
              </a:rPr>
              <a:t>({$and:[    {name:{$regex: "^B" }}, {name:{$regex: “e$"}}]})</a:t>
            </a:r>
          </a:p>
        </p:txBody>
      </p:sp>
      <p:sp>
        <p:nvSpPr>
          <p:cNvPr id="9" name="Rounded Rectangle 18">
            <a:extLst>
              <a:ext uri="{FF2B5EF4-FFF2-40B4-BE49-F238E27FC236}">
                <a16:creationId xmlns:a16="http://schemas.microsoft.com/office/drawing/2014/main" id="{23124F91-7F0A-6D9C-FDA1-20217E0B98D5}"/>
              </a:ext>
            </a:extLst>
          </p:cNvPr>
          <p:cNvSpPr/>
          <p:nvPr/>
        </p:nvSpPr>
        <p:spPr>
          <a:xfrm>
            <a:off x="521013" y="3275665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D0934A74-6843-8972-7BB3-1A01AED45683}"/>
              </a:ext>
            </a:extLst>
          </p:cNvPr>
          <p:cNvSpPr/>
          <p:nvPr/>
        </p:nvSpPr>
        <p:spPr>
          <a:xfrm>
            <a:off x="521013" y="5382357"/>
            <a:ext cx="4754880" cy="539496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db.emp.find</a:t>
            </a:r>
            <a:r>
              <a:rPr lang="en-US" dirty="0">
                <a:solidFill>
                  <a:schemeClr val="tx1"/>
                </a:solidFill>
              </a:rPr>
              <a:t>({ name: { $regex: "^.r" } })</a:t>
            </a:r>
          </a:p>
        </p:txBody>
      </p:sp>
      <p:sp>
        <p:nvSpPr>
          <p:cNvPr id="11" name="Rounded Rectangle 18">
            <a:extLst>
              <a:ext uri="{FF2B5EF4-FFF2-40B4-BE49-F238E27FC236}">
                <a16:creationId xmlns:a16="http://schemas.microsoft.com/office/drawing/2014/main" id="{2FC9CA03-C3BD-3B0E-B995-9826EAB242B7}"/>
              </a:ext>
            </a:extLst>
          </p:cNvPr>
          <p:cNvSpPr/>
          <p:nvPr/>
        </p:nvSpPr>
        <p:spPr>
          <a:xfrm>
            <a:off x="521013" y="5016597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891754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Regex                                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like]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7663522" cy="5590565"/>
          </a:xfrm>
        </p:spPr>
        <p:txBody>
          <a:bodyPr/>
          <a:lstStyle/>
          <a:p>
            <a:r>
              <a:rPr lang="en-US" dirty="0"/>
              <a:t>Displaying details of the employee whose name consist of c character at any place.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Displaying details of the employee whose name does not starts with B.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4D235-19A7-5163-963D-7629F8FF4E6C}"/>
              </a:ext>
            </a:extLst>
          </p:cNvPr>
          <p:cNvSpPr txBox="1"/>
          <p:nvPr/>
        </p:nvSpPr>
        <p:spPr>
          <a:xfrm>
            <a:off x="7950815" y="1433148"/>
            <a:ext cx="3980986" cy="45243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  <a:p>
            <a:r>
              <a:rPr lang="en-US" dirty="0"/>
              <a:t>	name: "Tony",</a:t>
            </a:r>
          </a:p>
          <a:p>
            <a:r>
              <a:rPr lang="en-US" dirty="0"/>
              <a:t>	position: "Backend developer"</a:t>
            </a:r>
          </a:p>
          <a:p>
            <a:r>
              <a:rPr lang="en-US" dirty="0"/>
              <a:t>}  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name: "Bruce",</a:t>
            </a:r>
          </a:p>
          <a:p>
            <a:r>
              <a:rPr lang="en-US" dirty="0"/>
              <a:t>	position: "frontend developer"</a:t>
            </a:r>
          </a:p>
          <a:p>
            <a:r>
              <a:rPr lang="en-US" dirty="0"/>
              <a:t>}  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name: "Nick",</a:t>
            </a:r>
          </a:p>
          <a:p>
            <a:r>
              <a:rPr lang="en-US" dirty="0"/>
              <a:t>	position: "HR Manager“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name: “Jimmy",</a:t>
            </a:r>
          </a:p>
          <a:p>
            <a:r>
              <a:rPr lang="en-US" dirty="0"/>
              <a:t>	position: “backend developer"</a:t>
            </a:r>
          </a:p>
          <a:p>
            <a:r>
              <a:rPr lang="en-US" dirty="0"/>
              <a:t>}  </a:t>
            </a: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0C81A396-36A6-1596-E90C-3AB542D60C3A}"/>
              </a:ext>
            </a:extLst>
          </p:cNvPr>
          <p:cNvSpPr/>
          <p:nvPr/>
        </p:nvSpPr>
        <p:spPr>
          <a:xfrm>
            <a:off x="521013" y="1967054"/>
            <a:ext cx="4754880" cy="54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db.emp.find</a:t>
            </a:r>
            <a:r>
              <a:rPr lang="en-US" dirty="0">
                <a:solidFill>
                  <a:schemeClr val="tx1"/>
                </a:solidFill>
              </a:rPr>
              <a:t>({name : {$regex : “c"}})</a:t>
            </a:r>
          </a:p>
        </p:txBody>
      </p:sp>
      <p:sp>
        <p:nvSpPr>
          <p:cNvPr id="6" name="Rounded Rectangle 18">
            <a:extLst>
              <a:ext uri="{FF2B5EF4-FFF2-40B4-BE49-F238E27FC236}">
                <a16:creationId xmlns:a16="http://schemas.microsoft.com/office/drawing/2014/main" id="{94F70BFB-6932-9277-7321-D82B9ED7BA35}"/>
              </a:ext>
            </a:extLst>
          </p:cNvPr>
          <p:cNvSpPr/>
          <p:nvPr/>
        </p:nvSpPr>
        <p:spPr>
          <a:xfrm>
            <a:off x="521013" y="1601294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0F71ABC8-80EC-67A6-7D42-ADBDE7259F28}"/>
              </a:ext>
            </a:extLst>
          </p:cNvPr>
          <p:cNvSpPr/>
          <p:nvPr/>
        </p:nvSpPr>
        <p:spPr>
          <a:xfrm>
            <a:off x="7950813" y="1067388"/>
            <a:ext cx="1005840" cy="365760"/>
          </a:xfrm>
          <a:prstGeom prst="roundRect">
            <a:avLst>
              <a:gd name="adj" fmla="val 11459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emp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1FB5FC73-ECB3-C47C-6D6A-31162BF2CD38}"/>
              </a:ext>
            </a:extLst>
          </p:cNvPr>
          <p:cNvSpPr/>
          <p:nvPr/>
        </p:nvSpPr>
        <p:spPr>
          <a:xfrm>
            <a:off x="521013" y="3641425"/>
            <a:ext cx="7132320" cy="539496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db.emp.find</a:t>
            </a:r>
            <a:r>
              <a:rPr lang="en-US" dirty="0">
                <a:solidFill>
                  <a:schemeClr val="tx1"/>
                </a:solidFill>
              </a:rPr>
              <a:t>({name: {$not: {$regex:"^B"}}})</a:t>
            </a:r>
          </a:p>
        </p:txBody>
      </p:sp>
      <p:sp>
        <p:nvSpPr>
          <p:cNvPr id="9" name="Rounded Rectangle 18">
            <a:extLst>
              <a:ext uri="{FF2B5EF4-FFF2-40B4-BE49-F238E27FC236}">
                <a16:creationId xmlns:a16="http://schemas.microsoft.com/office/drawing/2014/main" id="{23124F91-7F0A-6D9C-FDA1-20217E0B98D5}"/>
              </a:ext>
            </a:extLst>
          </p:cNvPr>
          <p:cNvSpPr/>
          <p:nvPr/>
        </p:nvSpPr>
        <p:spPr>
          <a:xfrm>
            <a:off x="521013" y="3275665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15753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7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7B69E-DE1F-9C56-891F-ADC25C90A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E5871-2F3F-52A5-8AB9-7A6C50E93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en-US" sz="3200" dirty="0"/>
              <a:t>(Write query in MongoDB)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1A98138-2431-569F-686D-B48BEC54E721}"/>
              </a:ext>
            </a:extLst>
          </p:cNvPr>
          <p:cNvSpPr/>
          <p:nvPr/>
        </p:nvSpPr>
        <p:spPr>
          <a:xfrm>
            <a:off x="9905998" y="7823"/>
            <a:ext cx="2078183" cy="703378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 b="1" dirty="0">
                <a:solidFill>
                  <a:schemeClr val="accent6"/>
                </a:solidFill>
              </a:rPr>
              <a:t>MongoDB</a:t>
            </a:r>
            <a:endParaRPr lang="en-IN" sz="3400" b="1" dirty="0">
              <a:solidFill>
                <a:schemeClr val="accent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9E9D8C-C9C2-E1A3-9CD9-0F2199F10810}"/>
              </a:ext>
            </a:extLst>
          </p:cNvPr>
          <p:cNvSpPr txBox="1"/>
          <p:nvPr/>
        </p:nvSpPr>
        <p:spPr>
          <a:xfrm>
            <a:off x="199720" y="1416997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en-US" sz="2000" dirty="0"/>
              <a:t>Find all products with name starting with "A“ from product collection.</a:t>
            </a:r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05303DE6-EDB9-C5CC-B455-7AC50D276530}"/>
              </a:ext>
            </a:extLst>
          </p:cNvPr>
          <p:cNvGraphicFramePr>
            <a:graphicFrameLocks/>
          </p:cNvGraphicFramePr>
          <p:nvPr/>
        </p:nvGraphicFramePr>
        <p:xfrm>
          <a:off x="199721" y="952177"/>
          <a:ext cx="1296000" cy="457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Exercise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E0A8372-B856-1CDE-DD73-DDA05DDAF131}"/>
              </a:ext>
            </a:extLst>
          </p:cNvPr>
          <p:cNvSpPr txBox="1"/>
          <p:nvPr/>
        </p:nvSpPr>
        <p:spPr>
          <a:xfrm>
            <a:off x="199720" y="1824727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db.product.find</a:t>
            </a:r>
            <a:r>
              <a:rPr lang="en-US" sz="2000" dirty="0"/>
              <a:t>( {name: /A/} 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82A00A-0309-828B-59C3-9DF5E746B2C1}"/>
              </a:ext>
            </a:extLst>
          </p:cNvPr>
          <p:cNvSpPr txBox="1"/>
          <p:nvPr/>
        </p:nvSpPr>
        <p:spPr>
          <a:xfrm>
            <a:off x="199720" y="2344097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2"/>
            </a:pPr>
            <a:r>
              <a:rPr lang="en-US" sz="2000" dirty="0"/>
              <a:t>Find all products containing "Galaxy" in their name from product collection.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3724D8-163B-4FD1-7A75-7AD27000D4DC}"/>
              </a:ext>
            </a:extLst>
          </p:cNvPr>
          <p:cNvSpPr txBox="1"/>
          <p:nvPr/>
        </p:nvSpPr>
        <p:spPr>
          <a:xfrm>
            <a:off x="199720" y="2751827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db.product.find</a:t>
            </a:r>
            <a:r>
              <a:rPr lang="en-US" sz="2000" dirty="0"/>
              <a:t>( {name: /Galaxy/} 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C4B7A8-334E-F33F-043C-D679887EF38D}"/>
              </a:ext>
            </a:extLst>
          </p:cNvPr>
          <p:cNvSpPr txBox="1"/>
          <p:nvPr/>
        </p:nvSpPr>
        <p:spPr>
          <a:xfrm>
            <a:off x="199720" y="3298334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3"/>
            </a:pPr>
            <a:r>
              <a:rPr lang="en-US" sz="2000" dirty="0"/>
              <a:t>Find all products whose name contain "Mac" (case-insensitive).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DDEFFA-EEDE-AA9E-D23B-E1530CDA5B45}"/>
              </a:ext>
            </a:extLst>
          </p:cNvPr>
          <p:cNvSpPr txBox="1"/>
          <p:nvPr/>
        </p:nvSpPr>
        <p:spPr>
          <a:xfrm>
            <a:off x="199720" y="3706064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db.product.find</a:t>
            </a:r>
            <a:r>
              <a:rPr lang="en-US" sz="2000" dirty="0"/>
              <a:t>( {name: /Mac/</a:t>
            </a:r>
            <a:r>
              <a:rPr lang="en-US" sz="2000" dirty="0" err="1"/>
              <a:t>i</a:t>
            </a:r>
            <a:r>
              <a:rPr lang="en-US" sz="2000" dirty="0"/>
              <a:t>} 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E67A0C-E8C9-D9A6-6278-086EBB2972C2}"/>
              </a:ext>
            </a:extLst>
          </p:cNvPr>
          <p:cNvSpPr txBox="1"/>
          <p:nvPr/>
        </p:nvSpPr>
        <p:spPr>
          <a:xfrm>
            <a:off x="199720" y="4250834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4"/>
            </a:pPr>
            <a:r>
              <a:rPr lang="en-US" sz="2000" dirty="0"/>
              <a:t>Find products with name having "Pro" at the end.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E04EC7-8345-69C2-32ED-4BDBCE66D134}"/>
              </a:ext>
            </a:extLst>
          </p:cNvPr>
          <p:cNvSpPr txBox="1"/>
          <p:nvPr/>
        </p:nvSpPr>
        <p:spPr>
          <a:xfrm>
            <a:off x="199720" y="4672419"/>
            <a:ext cx="9360000" cy="39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db.product.find</a:t>
            </a:r>
            <a:r>
              <a:rPr lang="en-US" sz="2000" dirty="0"/>
              <a:t>( {name: /Pro$/</a:t>
            </a:r>
            <a:r>
              <a:rPr lang="en-US" sz="2000" dirty="0" err="1"/>
              <a:t>i</a:t>
            </a:r>
            <a:r>
              <a:rPr lang="en-US" sz="2000" dirty="0"/>
              <a:t>} 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C38FBD-38F1-E435-73D8-F4B0FB55C348}"/>
              </a:ext>
            </a:extLst>
          </p:cNvPr>
          <p:cNvSpPr txBox="1"/>
          <p:nvPr/>
        </p:nvSpPr>
        <p:spPr>
          <a:xfrm>
            <a:off x="199720" y="5203334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5"/>
            </a:pPr>
            <a:r>
              <a:rPr lang="en-US" sz="2000" dirty="0"/>
              <a:t>Find all products with price ending in 99.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3EB5D0-9BE2-1868-6AEB-72D8932C670F}"/>
              </a:ext>
            </a:extLst>
          </p:cNvPr>
          <p:cNvSpPr txBox="1"/>
          <p:nvPr/>
        </p:nvSpPr>
        <p:spPr>
          <a:xfrm>
            <a:off x="199720" y="5611064"/>
            <a:ext cx="9360000" cy="39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db.product.find</a:t>
            </a:r>
            <a:r>
              <a:rPr lang="en-US" sz="2000" dirty="0"/>
              <a:t>( {price:/99$/} )</a:t>
            </a:r>
          </a:p>
        </p:txBody>
      </p:sp>
    </p:spTree>
    <p:extLst>
      <p:ext uri="{BB962C8B-B14F-4D97-AF65-F5344CB8AC3E}">
        <p14:creationId xmlns:p14="http://schemas.microsoft.com/office/powerpoint/2010/main" val="1941675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7" grpId="0" animBg="1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7B9BA-85AA-7E83-C7C7-2D1B10CA7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02C89-FEF7-A1BE-3F42-739B1601F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en-US" sz="3200" dirty="0"/>
              <a:t>(Write query in MongoDB)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4F49934-443C-3C3D-5EEB-924034805303}"/>
              </a:ext>
            </a:extLst>
          </p:cNvPr>
          <p:cNvSpPr/>
          <p:nvPr/>
        </p:nvSpPr>
        <p:spPr>
          <a:xfrm>
            <a:off x="9905998" y="7823"/>
            <a:ext cx="2078183" cy="703378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 b="1" dirty="0">
                <a:solidFill>
                  <a:schemeClr val="accent6"/>
                </a:solidFill>
              </a:rPr>
              <a:t>MongoDB</a:t>
            </a:r>
            <a:endParaRPr lang="en-IN" sz="3400" b="1" dirty="0">
              <a:solidFill>
                <a:schemeClr val="accent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E5F4A5-C80E-0941-1FAB-5907F98E90E2}"/>
              </a:ext>
            </a:extLst>
          </p:cNvPr>
          <p:cNvSpPr txBox="1"/>
          <p:nvPr/>
        </p:nvSpPr>
        <p:spPr>
          <a:xfrm>
            <a:off x="199720" y="1416997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6"/>
            </a:pPr>
            <a:r>
              <a:rPr lang="en-US" sz="2000" dirty="0"/>
              <a:t>Find products where the name contains "1000".</a:t>
            </a:r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471F1F3A-E4E6-2FC7-C6D5-F2A0F141282D}"/>
              </a:ext>
            </a:extLst>
          </p:cNvPr>
          <p:cNvGraphicFramePr>
            <a:graphicFrameLocks/>
          </p:cNvGraphicFramePr>
          <p:nvPr/>
        </p:nvGraphicFramePr>
        <p:xfrm>
          <a:off x="199721" y="952177"/>
          <a:ext cx="1296000" cy="457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Exercise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CEF1603-CEDC-A2BF-D33A-654B6F97DC0A}"/>
              </a:ext>
            </a:extLst>
          </p:cNvPr>
          <p:cNvSpPr txBox="1"/>
          <p:nvPr/>
        </p:nvSpPr>
        <p:spPr>
          <a:xfrm>
            <a:off x="199720" y="1824727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db.product.find</a:t>
            </a:r>
            <a:r>
              <a:rPr lang="en-US" sz="2000" dirty="0"/>
              <a:t>( {name:/1000/} 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762FBB-29D9-8346-6549-A5B903ECFDE7}"/>
              </a:ext>
            </a:extLst>
          </p:cNvPr>
          <p:cNvSpPr txBox="1"/>
          <p:nvPr/>
        </p:nvSpPr>
        <p:spPr>
          <a:xfrm>
            <a:off x="199720" y="2344097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7"/>
            </a:pPr>
            <a:r>
              <a:rPr lang="en-US" sz="2000" dirty="0"/>
              <a:t>Find products where the category is exactly "Laptops".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4A8897-036C-86E4-2537-5CEC8B185263}"/>
              </a:ext>
            </a:extLst>
          </p:cNvPr>
          <p:cNvSpPr txBox="1"/>
          <p:nvPr/>
        </p:nvSpPr>
        <p:spPr>
          <a:xfrm>
            <a:off x="199720" y="2751827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db.product.find</a:t>
            </a:r>
            <a:r>
              <a:rPr lang="en-US" sz="2000" dirty="0"/>
              <a:t>( {category:/^Laptops $/} 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5F76F8-FD81-F5E6-4D29-2FAF14227B2F}"/>
              </a:ext>
            </a:extLst>
          </p:cNvPr>
          <p:cNvSpPr txBox="1"/>
          <p:nvPr/>
        </p:nvSpPr>
        <p:spPr>
          <a:xfrm>
            <a:off x="199720" y="3298334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8"/>
            </a:pPr>
            <a:r>
              <a:rPr lang="en-US" sz="2000" dirty="0"/>
              <a:t>Find all products with a name that starts with "S" and ends with "5".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7F9C27-78A3-F589-75C5-AA5C9B8107CA}"/>
              </a:ext>
            </a:extLst>
          </p:cNvPr>
          <p:cNvSpPr txBox="1"/>
          <p:nvPr/>
        </p:nvSpPr>
        <p:spPr>
          <a:xfrm>
            <a:off x="199720" y="3706064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db.product.find</a:t>
            </a:r>
            <a:r>
              <a:rPr lang="en-US" sz="2000" dirty="0"/>
              <a:t>( {name:/^S.*5$/} 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E229D-C030-6FE9-993C-535A0163628C}"/>
              </a:ext>
            </a:extLst>
          </p:cNvPr>
          <p:cNvSpPr txBox="1"/>
          <p:nvPr/>
        </p:nvSpPr>
        <p:spPr>
          <a:xfrm>
            <a:off x="199720" y="4250834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9"/>
            </a:pPr>
            <a:r>
              <a:rPr lang="en-US" sz="2000" dirty="0"/>
              <a:t>Find all products where name end with a digit.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5E45E2-8C45-BFA1-BA75-0CE371173CD4}"/>
              </a:ext>
            </a:extLst>
          </p:cNvPr>
          <p:cNvSpPr txBox="1"/>
          <p:nvPr/>
        </p:nvSpPr>
        <p:spPr>
          <a:xfrm>
            <a:off x="199720" y="4672419"/>
            <a:ext cx="9360000" cy="39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db.product.find</a:t>
            </a:r>
            <a:r>
              <a:rPr lang="en-US" sz="2000" dirty="0"/>
              <a:t>( {name:/\d/} 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259C3B-1764-0DD0-1E75-3DD0911D418C}"/>
              </a:ext>
            </a:extLst>
          </p:cNvPr>
          <p:cNvSpPr txBox="1"/>
          <p:nvPr/>
        </p:nvSpPr>
        <p:spPr>
          <a:xfrm>
            <a:off x="199720" y="5203334"/>
            <a:ext cx="9360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10"/>
            </a:pPr>
            <a:r>
              <a:rPr lang="en-US" sz="2000" dirty="0"/>
              <a:t>Find products whose name have a space in them.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2D69ED-C10E-71EF-94C4-066AD55CFA16}"/>
              </a:ext>
            </a:extLst>
          </p:cNvPr>
          <p:cNvSpPr txBox="1"/>
          <p:nvPr/>
        </p:nvSpPr>
        <p:spPr>
          <a:xfrm>
            <a:off x="199720" y="5611064"/>
            <a:ext cx="9360000" cy="39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db.product.find</a:t>
            </a:r>
            <a:r>
              <a:rPr lang="en-US" sz="2000" dirty="0"/>
              <a:t>( {name:/\s/} )</a:t>
            </a:r>
          </a:p>
        </p:txBody>
      </p:sp>
    </p:spTree>
    <p:extLst>
      <p:ext uri="{BB962C8B-B14F-4D97-AF65-F5344CB8AC3E}">
        <p14:creationId xmlns:p14="http://schemas.microsoft.com/office/powerpoint/2010/main" val="4152285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7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Aggregation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407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Aggregation          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aggregate]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Aggregation operations </a:t>
            </a:r>
            <a:r>
              <a:rPr lang="en-US" dirty="0">
                <a:solidFill>
                  <a:schemeClr val="accent6"/>
                </a:solidFill>
              </a:rPr>
              <a:t>group values from multiple documents</a:t>
            </a:r>
            <a:r>
              <a:rPr lang="en-US" dirty="0"/>
              <a:t> together, and can </a:t>
            </a:r>
            <a:r>
              <a:rPr lang="en-US" dirty="0">
                <a:solidFill>
                  <a:schemeClr val="accent6"/>
                </a:solidFill>
              </a:rPr>
              <a:t>perform a variety of operations on the grouped data </a:t>
            </a:r>
            <a:r>
              <a:rPr lang="en-US" dirty="0"/>
              <a:t>to </a:t>
            </a:r>
            <a:r>
              <a:rPr lang="en-US" dirty="0">
                <a:solidFill>
                  <a:schemeClr val="accent6"/>
                </a:solidFill>
              </a:rPr>
              <a:t>return a single result</a:t>
            </a:r>
            <a:r>
              <a:rPr lang="en-US" dirty="0"/>
              <a:t>. </a:t>
            </a:r>
          </a:p>
          <a:p>
            <a:r>
              <a:rPr lang="en-US" dirty="0"/>
              <a:t>In SQL count(*) and with group by is an equivalent of MongoDB aggregation.</a:t>
            </a:r>
          </a:p>
          <a:p>
            <a:r>
              <a:rPr lang="en-US" dirty="0"/>
              <a:t>For the aggregation in MongoDB, you should use aggregate() method.</a:t>
            </a:r>
          </a:p>
          <a:p>
            <a:r>
              <a:rPr lang="en-US" dirty="0"/>
              <a:t>One of the most common use cases of aggregation is to calculate aggregate values for groups of documents.</a:t>
            </a:r>
          </a:p>
          <a:p>
            <a:r>
              <a:rPr lang="en-US" dirty="0"/>
              <a:t>Aggregation is a way of </a:t>
            </a:r>
            <a:r>
              <a:rPr lang="en-US" dirty="0">
                <a:solidFill>
                  <a:schemeClr val="accent6"/>
                </a:solidFill>
              </a:rPr>
              <a:t>processing a large number of documents in a collection </a:t>
            </a:r>
            <a:r>
              <a:rPr lang="en-US" dirty="0"/>
              <a:t>by means of </a:t>
            </a:r>
            <a:r>
              <a:rPr lang="en-US" dirty="0">
                <a:solidFill>
                  <a:schemeClr val="accent6"/>
                </a:solidFill>
              </a:rPr>
              <a:t>passing them through different stages</a:t>
            </a:r>
            <a:r>
              <a:rPr lang="en-US" dirty="0"/>
              <a:t>. </a:t>
            </a:r>
          </a:p>
          <a:p>
            <a:r>
              <a:rPr lang="en-US" dirty="0"/>
              <a:t>The stages make up what is known as a </a:t>
            </a:r>
            <a:r>
              <a:rPr lang="en-US" dirty="0">
                <a:solidFill>
                  <a:schemeClr val="accent6"/>
                </a:solidFill>
              </a:rPr>
              <a:t>pipeline</a:t>
            </a:r>
            <a:r>
              <a:rPr lang="en-US" dirty="0"/>
              <a:t>. </a:t>
            </a:r>
          </a:p>
          <a:p>
            <a:r>
              <a:rPr lang="en-US" dirty="0"/>
              <a:t>The stages in a pipeline can </a:t>
            </a:r>
            <a:r>
              <a:rPr lang="en-US" dirty="0">
                <a:solidFill>
                  <a:schemeClr val="accent6"/>
                </a:solidFill>
              </a:rPr>
              <a:t>filter, sort, group, reshape and modify </a:t>
            </a:r>
            <a:r>
              <a:rPr lang="en-US" dirty="0"/>
              <a:t>documents that pass through the pipeline.</a:t>
            </a:r>
          </a:p>
        </p:txBody>
      </p:sp>
    </p:spTree>
    <p:extLst>
      <p:ext uri="{BB962C8B-B14F-4D97-AF65-F5344CB8AC3E}">
        <p14:creationId xmlns:p14="http://schemas.microsoft.com/office/powerpoint/2010/main" val="1491636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Group by in SQL vs Aggregate in MongoDB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0C81A396-36A6-1596-E90C-3AB542D60C3A}"/>
              </a:ext>
            </a:extLst>
          </p:cNvPr>
          <p:cNvSpPr/>
          <p:nvPr/>
        </p:nvSpPr>
        <p:spPr>
          <a:xfrm>
            <a:off x="353372" y="4463416"/>
            <a:ext cx="5040000" cy="1872000"/>
          </a:xfrm>
          <a:prstGeom prst="roundRect">
            <a:avLst>
              <a:gd name="adj" fmla="val 15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</a:pPr>
            <a:r>
              <a:rPr lang="en-US" dirty="0">
                <a:solidFill>
                  <a:schemeClr val="tx1"/>
                </a:solidFill>
              </a:rPr>
              <a:t>SELECT Dept, COUNT(Name)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chemeClr val="tx1"/>
                </a:solidFill>
              </a:rPr>
              <a:t>FROM Student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chemeClr val="tx1"/>
                </a:solidFill>
              </a:rPr>
              <a:t>WHERE Dept IN (‘CE’, ‘IT’)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chemeClr val="tx1"/>
                </a:solidFill>
              </a:rPr>
              <a:t>GROUP BY Dept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chemeClr val="tx1"/>
                </a:solidFill>
              </a:rPr>
              <a:t>HAVING COUNT(Name)&gt;1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chemeClr val="tx1"/>
                </a:solidFill>
              </a:rPr>
              <a:t>ORDER BY Dept</a:t>
            </a:r>
          </a:p>
        </p:txBody>
      </p:sp>
      <p:sp>
        <p:nvSpPr>
          <p:cNvPr id="6" name="Rounded Rectangle 18">
            <a:extLst>
              <a:ext uri="{FF2B5EF4-FFF2-40B4-BE49-F238E27FC236}">
                <a16:creationId xmlns:a16="http://schemas.microsoft.com/office/drawing/2014/main" id="{94F70BFB-6932-9277-7321-D82B9ED7BA35}"/>
              </a:ext>
            </a:extLst>
          </p:cNvPr>
          <p:cNvSpPr/>
          <p:nvPr/>
        </p:nvSpPr>
        <p:spPr>
          <a:xfrm>
            <a:off x="353372" y="3599416"/>
            <a:ext cx="5040000" cy="864000"/>
          </a:xfrm>
          <a:prstGeom prst="roundRect">
            <a:avLst>
              <a:gd name="adj" fmla="val 3281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Display the department-wise count of students in the CE and IT departments, where the count is greater than one, and sort the results by department.</a:t>
            </a:r>
          </a:p>
        </p:txBody>
      </p:sp>
      <p:sp>
        <p:nvSpPr>
          <p:cNvPr id="9" name="Rounded Rectangle 17">
            <a:extLst>
              <a:ext uri="{FF2B5EF4-FFF2-40B4-BE49-F238E27FC236}">
                <a16:creationId xmlns:a16="http://schemas.microsoft.com/office/drawing/2014/main" id="{FDE39ED3-D7F5-A87D-28A4-E4EB9450F8A5}"/>
              </a:ext>
            </a:extLst>
          </p:cNvPr>
          <p:cNvSpPr/>
          <p:nvPr/>
        </p:nvSpPr>
        <p:spPr>
          <a:xfrm>
            <a:off x="7880509" y="4259887"/>
            <a:ext cx="4104000" cy="1746833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[</a:t>
            </a:r>
          </a:p>
          <a:p>
            <a:pPr lvl="3"/>
            <a:r>
              <a:rPr lang="en-US" dirty="0">
                <a:solidFill>
                  <a:schemeClr val="tx1"/>
                </a:solidFill>
              </a:rPr>
              <a:t>        { $match : { … } },</a:t>
            </a:r>
          </a:p>
          <a:p>
            <a:pPr lvl="3"/>
            <a:r>
              <a:rPr lang="en-US" dirty="0">
                <a:solidFill>
                  <a:schemeClr val="tx1"/>
                </a:solidFill>
              </a:rPr>
              <a:t>        { $group : { … } },</a:t>
            </a:r>
          </a:p>
          <a:p>
            <a:pPr marL="1816100" lvl="3"/>
            <a:r>
              <a:rPr lang="en-US" dirty="0">
                <a:solidFill>
                  <a:schemeClr val="tx1"/>
                </a:solidFill>
              </a:rPr>
              <a:t>{ $match : { … } },</a:t>
            </a:r>
          </a:p>
          <a:p>
            <a:pPr lvl="3"/>
            <a:r>
              <a:rPr lang="en-US" dirty="0">
                <a:solidFill>
                  <a:schemeClr val="tx1"/>
                </a:solidFill>
              </a:rPr>
              <a:t>        { $sort : { … } }</a:t>
            </a:r>
          </a:p>
          <a:p>
            <a:r>
              <a:rPr lang="en-US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10" name="Rounded Rectangle 18">
            <a:extLst>
              <a:ext uri="{FF2B5EF4-FFF2-40B4-BE49-F238E27FC236}">
                <a16:creationId xmlns:a16="http://schemas.microsoft.com/office/drawing/2014/main" id="{9CB94D69-8867-457F-F8E5-39EB62E4DBA6}"/>
              </a:ext>
            </a:extLst>
          </p:cNvPr>
          <p:cNvSpPr/>
          <p:nvPr/>
        </p:nvSpPr>
        <p:spPr>
          <a:xfrm>
            <a:off x="7880509" y="3894128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pipeline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171D28-314C-5B3A-8456-9075BDDC5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58257"/>
              </p:ext>
            </p:extLst>
          </p:nvPr>
        </p:nvGraphicFramePr>
        <p:xfrm>
          <a:off x="353372" y="1171177"/>
          <a:ext cx="387425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9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8150">
                  <a:extLst>
                    <a:ext uri="{9D8B030D-6E8A-4147-A177-3AD203B41FA5}">
                      <a16:colId xmlns:a16="http://schemas.microsoft.com/office/drawing/2014/main" val="3455522372"/>
                    </a:ext>
                  </a:extLst>
                </a:gridCol>
                <a:gridCol w="638493">
                  <a:extLst>
                    <a:ext uri="{9D8B030D-6E8A-4147-A177-3AD203B41FA5}">
                      <a16:colId xmlns:a16="http://schemas.microsoft.com/office/drawing/2014/main" val="3468181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Rajkot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513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Rajkot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194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Rajkot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613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267107"/>
                  </a:ext>
                </a:extLst>
              </a:tr>
            </a:tbl>
          </a:graphicData>
        </a:graphic>
      </p:graphicFrame>
      <p:sp>
        <p:nvSpPr>
          <p:cNvPr id="7" name="Rounded Rectangle 18">
            <a:extLst>
              <a:ext uri="{FF2B5EF4-FFF2-40B4-BE49-F238E27FC236}">
                <a16:creationId xmlns:a16="http://schemas.microsoft.com/office/drawing/2014/main" id="{45628593-E3CA-4E92-C95F-7609CB012AA9}"/>
              </a:ext>
            </a:extLst>
          </p:cNvPr>
          <p:cNvSpPr/>
          <p:nvPr/>
        </p:nvSpPr>
        <p:spPr>
          <a:xfrm>
            <a:off x="353372" y="805417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Student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EEB71DA-828C-8720-C686-EE40C3DB62EA}"/>
              </a:ext>
            </a:extLst>
          </p:cNvPr>
          <p:cNvSpPr/>
          <p:nvPr/>
        </p:nvSpPr>
        <p:spPr>
          <a:xfrm>
            <a:off x="353372" y="5129725"/>
            <a:ext cx="2446978" cy="252000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970560A-5C90-B038-74EA-6EB689AB05FD}"/>
              </a:ext>
            </a:extLst>
          </p:cNvPr>
          <p:cNvSpPr/>
          <p:nvPr/>
        </p:nvSpPr>
        <p:spPr>
          <a:xfrm>
            <a:off x="353372" y="5439306"/>
            <a:ext cx="2446978" cy="252000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EE89594-B66F-A9A2-77B9-CBF9B16291D1}"/>
              </a:ext>
            </a:extLst>
          </p:cNvPr>
          <p:cNvSpPr/>
          <p:nvPr/>
        </p:nvSpPr>
        <p:spPr>
          <a:xfrm>
            <a:off x="353372" y="5748887"/>
            <a:ext cx="2446978" cy="252000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05C0D3E-F61E-50EA-7F80-718D284D0AD4}"/>
              </a:ext>
            </a:extLst>
          </p:cNvPr>
          <p:cNvSpPr/>
          <p:nvPr/>
        </p:nvSpPr>
        <p:spPr>
          <a:xfrm>
            <a:off x="353372" y="6058468"/>
            <a:ext cx="2446978" cy="252000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5C40B8-BEF6-D574-F2AD-27FA1A0816E0}"/>
              </a:ext>
            </a:extLst>
          </p:cNvPr>
          <p:cNvSpPr/>
          <p:nvPr/>
        </p:nvSpPr>
        <p:spPr>
          <a:xfrm>
            <a:off x="2895276" y="5142392"/>
            <a:ext cx="1152000" cy="25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WHERE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AB0C48-416B-1024-0555-6D14A2018525}"/>
              </a:ext>
            </a:extLst>
          </p:cNvPr>
          <p:cNvSpPr/>
          <p:nvPr/>
        </p:nvSpPr>
        <p:spPr>
          <a:xfrm>
            <a:off x="2895276" y="5442372"/>
            <a:ext cx="1152000" cy="25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BY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647B4A-C888-88FC-C6A3-61A5593C081E}"/>
              </a:ext>
            </a:extLst>
          </p:cNvPr>
          <p:cNvSpPr/>
          <p:nvPr/>
        </p:nvSpPr>
        <p:spPr>
          <a:xfrm>
            <a:off x="2895276" y="5754721"/>
            <a:ext cx="1152000" cy="25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HAVING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EEFB18-4C25-4F7C-5A79-4F494BE5226B}"/>
              </a:ext>
            </a:extLst>
          </p:cNvPr>
          <p:cNvSpPr/>
          <p:nvPr/>
        </p:nvSpPr>
        <p:spPr>
          <a:xfrm>
            <a:off x="2895276" y="6058468"/>
            <a:ext cx="1152000" cy="25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ORDER BY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B8DED8-BB32-1D17-816D-E6464DEDDF2B}"/>
              </a:ext>
            </a:extLst>
          </p:cNvPr>
          <p:cNvSpPr/>
          <p:nvPr/>
        </p:nvSpPr>
        <p:spPr>
          <a:xfrm>
            <a:off x="4146446" y="5132345"/>
            <a:ext cx="1152000" cy="25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CONDITION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59C696-ED49-1011-F422-4BB62AE0A74F}"/>
              </a:ext>
            </a:extLst>
          </p:cNvPr>
          <p:cNvSpPr/>
          <p:nvPr/>
        </p:nvSpPr>
        <p:spPr>
          <a:xfrm>
            <a:off x="4146446" y="5432325"/>
            <a:ext cx="1152000" cy="25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GROUP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A8CB5D-6D7D-0665-40D7-437416A7F82C}"/>
              </a:ext>
            </a:extLst>
          </p:cNvPr>
          <p:cNvSpPr/>
          <p:nvPr/>
        </p:nvSpPr>
        <p:spPr>
          <a:xfrm>
            <a:off x="4146446" y="5744674"/>
            <a:ext cx="1152000" cy="25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CONDITION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BFCA75A-46A0-CAEE-4CF2-88A0DFD06286}"/>
              </a:ext>
            </a:extLst>
          </p:cNvPr>
          <p:cNvSpPr/>
          <p:nvPr/>
        </p:nvSpPr>
        <p:spPr>
          <a:xfrm>
            <a:off x="4146446" y="6048421"/>
            <a:ext cx="1152000" cy="25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SORT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2C140C37-13C8-026C-2A0D-CE62C530F39C}"/>
              </a:ext>
            </a:extLst>
          </p:cNvPr>
          <p:cNvSpPr/>
          <p:nvPr/>
        </p:nvSpPr>
        <p:spPr>
          <a:xfrm>
            <a:off x="5298446" y="1582411"/>
            <a:ext cx="4572000" cy="432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db.collectionname.aggregate</a:t>
            </a:r>
            <a:r>
              <a:rPr lang="en-US" dirty="0">
                <a:solidFill>
                  <a:schemeClr val="tx1"/>
                </a:solidFill>
              </a:rPr>
              <a:t>(pipeline, options)</a:t>
            </a:r>
          </a:p>
        </p:txBody>
      </p:sp>
      <p:sp>
        <p:nvSpPr>
          <p:cNvPr id="12" name="Rounded Rectangle 18">
            <a:extLst>
              <a:ext uri="{FF2B5EF4-FFF2-40B4-BE49-F238E27FC236}">
                <a16:creationId xmlns:a16="http://schemas.microsoft.com/office/drawing/2014/main" id="{8C9AE814-4ED5-4B72-CC8B-0C73B952F70E}"/>
              </a:ext>
            </a:extLst>
          </p:cNvPr>
          <p:cNvSpPr/>
          <p:nvPr/>
        </p:nvSpPr>
        <p:spPr>
          <a:xfrm>
            <a:off x="5298446" y="1216651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Syntax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61DC6C2-5A36-00ED-B908-C509C5E65A56}"/>
              </a:ext>
            </a:extLst>
          </p:cNvPr>
          <p:cNvCxnSpPr>
            <a:cxnSpLocks/>
            <a:endCxn id="10" idx="0"/>
          </p:cNvCxnSpPr>
          <p:nvPr/>
        </p:nvCxnSpPr>
        <p:spPr>
          <a:xfrm rot="5400000">
            <a:off x="7429714" y="2879928"/>
            <a:ext cx="1967915" cy="60484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379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6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3.33333E-6 L 0.35794 -0.08357 " pathEditMode="relative" rAng="0" ptsTypes="AA">
                                      <p:cBhvr>
                                        <p:cTn id="8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891" y="-4190"/>
                                    </p:animMotion>
                                  </p:childTnLst>
                                </p:cTn>
                              </p:par>
                              <p:par>
                                <p:cTn id="88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3.33333E-6 L 0.35833 -0.08357 " pathEditMode="relative" rAng="0" ptsTypes="AA">
                                      <p:cBhvr>
                                        <p:cTn id="8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917" y="-4190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0.00231 L 0.35833 -0.08658 " pathEditMode="relative" rAng="0" ptsTypes="AA">
                                      <p:cBhvr>
                                        <p:cTn id="91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917" y="-4444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0.00417 L 0.35833 -0.08866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917" y="-4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  <p:bldP spid="7" grpId="0" animBg="1"/>
      <p:bldP spid="11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8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43E46-9EBD-1F27-9A4A-C35D18B12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C3D42-4101-2E66-4EDE-9BB43D64F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does the MongoDB Aggregation pipeline work?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51F79-3FA6-5D06-C449-ED9E859B9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 err="1"/>
              <a:t>collectionName</a:t>
            </a:r>
            <a:r>
              <a:rPr lang="en-US" dirty="0"/>
              <a:t> – is the name of a collection,</a:t>
            </a:r>
          </a:p>
          <a:p>
            <a:r>
              <a:rPr lang="en-US" dirty="0"/>
              <a:t>pipeline – is an array that contains the aggregation stages</a:t>
            </a:r>
          </a:p>
          <a:p>
            <a:r>
              <a:rPr lang="en-US" dirty="0"/>
              <a:t>options – optional parameters for the aggregation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$match stage – filters those documents we need to work with, those that fit our needs</a:t>
            </a:r>
          </a:p>
          <a:p>
            <a:r>
              <a:rPr lang="en-US" dirty="0"/>
              <a:t>$group stage – does the aggregation job</a:t>
            </a:r>
          </a:p>
          <a:p>
            <a:r>
              <a:rPr lang="en-US" dirty="0"/>
              <a:t>$sort  stage – sorts the resulting documents the way we require (ascending or descending)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BE4A8FBA-8F95-D3BF-92A3-B10425EFAAF7}"/>
              </a:ext>
            </a:extLst>
          </p:cNvPr>
          <p:cNvSpPr/>
          <p:nvPr/>
        </p:nvSpPr>
        <p:spPr>
          <a:xfrm>
            <a:off x="521013" y="1253448"/>
            <a:ext cx="4572000" cy="432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db.collectionname.aggregate</a:t>
            </a:r>
            <a:r>
              <a:rPr lang="en-US" dirty="0">
                <a:solidFill>
                  <a:schemeClr val="tx1"/>
                </a:solidFill>
              </a:rPr>
              <a:t>(pipeline, options)</a:t>
            </a:r>
          </a:p>
        </p:txBody>
      </p:sp>
      <p:sp>
        <p:nvSpPr>
          <p:cNvPr id="6" name="Rounded Rectangle 18">
            <a:extLst>
              <a:ext uri="{FF2B5EF4-FFF2-40B4-BE49-F238E27FC236}">
                <a16:creationId xmlns:a16="http://schemas.microsoft.com/office/drawing/2014/main" id="{F610E8B8-6DC0-7067-A85A-D30AF0BDE6E9}"/>
              </a:ext>
            </a:extLst>
          </p:cNvPr>
          <p:cNvSpPr/>
          <p:nvPr/>
        </p:nvSpPr>
        <p:spPr>
          <a:xfrm>
            <a:off x="521013" y="887688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Syntax</a:t>
            </a:r>
          </a:p>
        </p:txBody>
      </p:sp>
      <p:sp>
        <p:nvSpPr>
          <p:cNvPr id="9" name="Rounded Rectangle 17">
            <a:extLst>
              <a:ext uri="{FF2B5EF4-FFF2-40B4-BE49-F238E27FC236}">
                <a16:creationId xmlns:a16="http://schemas.microsoft.com/office/drawing/2014/main" id="{B52F62CB-FBD4-C68D-84BD-4E39EA65E23E}"/>
              </a:ext>
            </a:extLst>
          </p:cNvPr>
          <p:cNvSpPr/>
          <p:nvPr/>
        </p:nvSpPr>
        <p:spPr>
          <a:xfrm>
            <a:off x="7880509" y="1253448"/>
            <a:ext cx="4104000" cy="1512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[</a:t>
            </a:r>
          </a:p>
          <a:p>
            <a:r>
              <a:rPr lang="en-US" dirty="0">
                <a:solidFill>
                  <a:schemeClr val="tx1"/>
                </a:solidFill>
              </a:rPr>
              <a:t>        { $match : { … } },</a:t>
            </a:r>
          </a:p>
          <a:p>
            <a:r>
              <a:rPr lang="en-US" dirty="0">
                <a:solidFill>
                  <a:schemeClr val="tx1"/>
                </a:solidFill>
              </a:rPr>
              <a:t>        { $group : { … } },</a:t>
            </a:r>
          </a:p>
          <a:p>
            <a:r>
              <a:rPr lang="en-US" dirty="0">
                <a:solidFill>
                  <a:schemeClr val="tx1"/>
                </a:solidFill>
              </a:rPr>
              <a:t>        { $sort : { … } }</a:t>
            </a:r>
          </a:p>
          <a:p>
            <a:r>
              <a:rPr lang="en-US" dirty="0">
                <a:solidFill>
                  <a:schemeClr val="tx1"/>
                </a:solidFill>
              </a:rPr>
              <a:t>       ]</a:t>
            </a:r>
          </a:p>
        </p:txBody>
      </p:sp>
      <p:sp>
        <p:nvSpPr>
          <p:cNvPr id="10" name="Rounded Rectangle 18">
            <a:extLst>
              <a:ext uri="{FF2B5EF4-FFF2-40B4-BE49-F238E27FC236}">
                <a16:creationId xmlns:a16="http://schemas.microsoft.com/office/drawing/2014/main" id="{832D8969-F580-D3B1-DAF9-600DEE9985B6}"/>
              </a:ext>
            </a:extLst>
          </p:cNvPr>
          <p:cNvSpPr/>
          <p:nvPr/>
        </p:nvSpPr>
        <p:spPr>
          <a:xfrm>
            <a:off x="7880509" y="887688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pipeline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019124E2-1E2D-0C91-B7F2-E123EA0567E6}"/>
              </a:ext>
            </a:extLst>
          </p:cNvPr>
          <p:cNvCxnSpPr>
            <a:cxnSpLocks/>
          </p:cNvCxnSpPr>
          <p:nvPr/>
        </p:nvCxnSpPr>
        <p:spPr>
          <a:xfrm flipV="1">
            <a:off x="3752850" y="1070568"/>
            <a:ext cx="4127659" cy="245455"/>
          </a:xfrm>
          <a:prstGeom prst="bentConnector3">
            <a:avLst>
              <a:gd name="adj1" fmla="val -306"/>
            </a:avLst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52A1CF9A-799E-2E5E-ECF8-5C5093DD6A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99" t="16046" r="-1" b="45833"/>
          <a:stretch/>
        </p:blipFill>
        <p:spPr>
          <a:xfrm>
            <a:off x="521013" y="3585961"/>
            <a:ext cx="6186055" cy="81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963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Aggregation example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aggregate]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865365" cy="5590565"/>
          </a:xfrm>
        </p:spPr>
        <p:txBody>
          <a:bodyPr/>
          <a:lstStyle/>
          <a:p>
            <a:r>
              <a:rPr lang="en-US" dirty="0"/>
              <a:t>Count number of employee in emp collection.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Count department wise number of employees in a emp collection.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Display distinct values from the Dept field.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4D235-19A7-5163-963D-7629F8FF4E6C}"/>
              </a:ext>
            </a:extLst>
          </p:cNvPr>
          <p:cNvSpPr txBox="1"/>
          <p:nvPr/>
        </p:nvSpPr>
        <p:spPr>
          <a:xfrm>
            <a:off x="7281746" y="1433148"/>
            <a:ext cx="4779075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{_id : 1,  FirstName : "Neha", Dept : “CE”, </a:t>
            </a:r>
          </a:p>
          <a:p>
            <a:r>
              <a:rPr lang="en-US" dirty="0"/>
              <a:t>Salary: 10000}, </a:t>
            </a:r>
          </a:p>
          <a:p>
            <a:r>
              <a:rPr lang="en-US" dirty="0"/>
              <a:t>{_id : 2,  FirstName : "Milan", Dept : “IT”, </a:t>
            </a:r>
          </a:p>
          <a:p>
            <a:r>
              <a:rPr lang="en-US" dirty="0"/>
              <a:t>Salary: 15000 },</a:t>
            </a:r>
          </a:p>
          <a:p>
            <a:r>
              <a:rPr lang="en-US" dirty="0"/>
              <a:t>{_id : 3,  FirstName : "Sohan", Dept : “CE”, </a:t>
            </a:r>
          </a:p>
          <a:p>
            <a:r>
              <a:rPr lang="en-US" dirty="0"/>
              <a:t>Salary: 12000 },</a:t>
            </a:r>
          </a:p>
          <a:p>
            <a:r>
              <a:rPr lang="en-US" dirty="0"/>
              <a:t>{_id : 4,  FirstName : "Nehal", Dept : “CE”, </a:t>
            </a:r>
          </a:p>
          <a:p>
            <a:r>
              <a:rPr lang="en-US" dirty="0"/>
              <a:t>Salary: 14000}, </a:t>
            </a:r>
          </a:p>
          <a:p>
            <a:r>
              <a:rPr lang="en-US" dirty="0"/>
              <a:t>{_id : 5,  FirstName : "Mitesh", Dept : “IT”, </a:t>
            </a:r>
          </a:p>
          <a:p>
            <a:r>
              <a:rPr lang="en-US" dirty="0"/>
              <a:t>Salary: 17000},</a:t>
            </a:r>
          </a:p>
          <a:p>
            <a:r>
              <a:rPr lang="en-US" dirty="0"/>
              <a:t>{_id : 6,  FirstName : “Ashok", Dept : “EC”, </a:t>
            </a:r>
          </a:p>
          <a:p>
            <a:r>
              <a:rPr lang="en-US" dirty="0"/>
              <a:t>Salary: 19000}</a:t>
            </a: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0C81A396-36A6-1596-E90C-3AB542D60C3A}"/>
              </a:ext>
            </a:extLst>
          </p:cNvPr>
          <p:cNvSpPr/>
          <p:nvPr/>
        </p:nvSpPr>
        <p:spPr>
          <a:xfrm>
            <a:off x="521013" y="1654819"/>
            <a:ext cx="4754880" cy="54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db.emp.find</a:t>
            </a:r>
            <a:r>
              <a:rPr lang="en-US" dirty="0">
                <a:solidFill>
                  <a:schemeClr val="tx1"/>
                </a:solidFill>
              </a:rPr>
              <a:t>().count()</a:t>
            </a:r>
          </a:p>
        </p:txBody>
      </p:sp>
      <p:sp>
        <p:nvSpPr>
          <p:cNvPr id="6" name="Rounded Rectangle 18">
            <a:extLst>
              <a:ext uri="{FF2B5EF4-FFF2-40B4-BE49-F238E27FC236}">
                <a16:creationId xmlns:a16="http://schemas.microsoft.com/office/drawing/2014/main" id="{94F70BFB-6932-9277-7321-D82B9ED7BA35}"/>
              </a:ext>
            </a:extLst>
          </p:cNvPr>
          <p:cNvSpPr/>
          <p:nvPr/>
        </p:nvSpPr>
        <p:spPr>
          <a:xfrm>
            <a:off x="521013" y="1289059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0F71ABC8-80EC-67A6-7D42-ADBDE7259F28}"/>
              </a:ext>
            </a:extLst>
          </p:cNvPr>
          <p:cNvSpPr/>
          <p:nvPr/>
        </p:nvSpPr>
        <p:spPr>
          <a:xfrm>
            <a:off x="7281745" y="1067388"/>
            <a:ext cx="1005840" cy="365760"/>
          </a:xfrm>
          <a:prstGeom prst="roundRect">
            <a:avLst>
              <a:gd name="adj" fmla="val 11459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emp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1FB5FC73-ECB3-C47C-6D6A-31162BF2CD38}"/>
              </a:ext>
            </a:extLst>
          </p:cNvPr>
          <p:cNvSpPr/>
          <p:nvPr/>
        </p:nvSpPr>
        <p:spPr>
          <a:xfrm>
            <a:off x="521013" y="3429549"/>
            <a:ext cx="4754880" cy="792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db.emp.aggregate</a:t>
            </a:r>
            <a:r>
              <a:rPr lang="en-US" dirty="0">
                <a:solidFill>
                  <a:schemeClr val="tx1"/>
                </a:solidFill>
              </a:rPr>
              <a:t>([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{$group:{_id:"$Dept", qty:{$sum:1}}} ])</a:t>
            </a:r>
          </a:p>
        </p:txBody>
      </p:sp>
      <p:sp>
        <p:nvSpPr>
          <p:cNvPr id="9" name="Rounded Rectangle 18">
            <a:extLst>
              <a:ext uri="{FF2B5EF4-FFF2-40B4-BE49-F238E27FC236}">
                <a16:creationId xmlns:a16="http://schemas.microsoft.com/office/drawing/2014/main" id="{23124F91-7F0A-6D9C-FDA1-20217E0B98D5}"/>
              </a:ext>
            </a:extLst>
          </p:cNvPr>
          <p:cNvSpPr/>
          <p:nvPr/>
        </p:nvSpPr>
        <p:spPr>
          <a:xfrm>
            <a:off x="521013" y="3063789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D0934A74-6843-8972-7BB3-1A01AED45683}"/>
              </a:ext>
            </a:extLst>
          </p:cNvPr>
          <p:cNvSpPr/>
          <p:nvPr/>
        </p:nvSpPr>
        <p:spPr>
          <a:xfrm>
            <a:off x="521013" y="5237396"/>
            <a:ext cx="4754880" cy="792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db.emp.aggregate</a:t>
            </a:r>
            <a:r>
              <a:rPr lang="en-US" dirty="0">
                <a:solidFill>
                  <a:schemeClr val="tx1"/>
                </a:solidFill>
              </a:rPr>
              <a:t>([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{"$group":{_id:"$Dept"}} ])</a:t>
            </a:r>
          </a:p>
        </p:txBody>
      </p:sp>
      <p:sp>
        <p:nvSpPr>
          <p:cNvPr id="11" name="Rounded Rectangle 18">
            <a:extLst>
              <a:ext uri="{FF2B5EF4-FFF2-40B4-BE49-F238E27FC236}">
                <a16:creationId xmlns:a16="http://schemas.microsoft.com/office/drawing/2014/main" id="{2FC9CA03-C3BD-3B0E-B995-9826EAB242B7}"/>
              </a:ext>
            </a:extLst>
          </p:cNvPr>
          <p:cNvSpPr/>
          <p:nvPr/>
        </p:nvSpPr>
        <p:spPr>
          <a:xfrm>
            <a:off x="521013" y="4871636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160683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Aggregation example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aggregate]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865365" cy="5590565"/>
          </a:xfrm>
        </p:spPr>
        <p:txBody>
          <a:bodyPr/>
          <a:lstStyle/>
          <a:p>
            <a:r>
              <a:rPr lang="en-US" dirty="0"/>
              <a:t>Count number of employees in CE department from emp collection.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Count department wise number of employees in a emp collection and display departments having more than one employee.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4D235-19A7-5163-963D-7629F8FF4E6C}"/>
              </a:ext>
            </a:extLst>
          </p:cNvPr>
          <p:cNvSpPr txBox="1"/>
          <p:nvPr/>
        </p:nvSpPr>
        <p:spPr>
          <a:xfrm>
            <a:off x="7281746" y="1433148"/>
            <a:ext cx="4779075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{_id : 1,  FirstName : "Neha", Dept : “CE”, </a:t>
            </a:r>
          </a:p>
          <a:p>
            <a:r>
              <a:rPr lang="en-US" dirty="0"/>
              <a:t>Salary: 10000}, </a:t>
            </a:r>
          </a:p>
          <a:p>
            <a:r>
              <a:rPr lang="en-US" dirty="0"/>
              <a:t>{_id : 2,  FirstName : "Milan", Dept : “IT”, </a:t>
            </a:r>
          </a:p>
          <a:p>
            <a:r>
              <a:rPr lang="en-US" dirty="0"/>
              <a:t>Salary: 15000 },</a:t>
            </a:r>
          </a:p>
          <a:p>
            <a:r>
              <a:rPr lang="en-US" dirty="0"/>
              <a:t>{_id : 3,  FirstName : "Sohan", Dept : “CE”, </a:t>
            </a:r>
          </a:p>
          <a:p>
            <a:r>
              <a:rPr lang="en-US" dirty="0"/>
              <a:t>Salary: 12000 },</a:t>
            </a:r>
          </a:p>
          <a:p>
            <a:r>
              <a:rPr lang="en-US" dirty="0"/>
              <a:t>{_id : 4,  FirstName : "Nehal", Dept : “CE”, </a:t>
            </a:r>
          </a:p>
          <a:p>
            <a:r>
              <a:rPr lang="en-US" dirty="0"/>
              <a:t>Salary: 14000}, </a:t>
            </a:r>
          </a:p>
          <a:p>
            <a:r>
              <a:rPr lang="en-US" dirty="0"/>
              <a:t>{_id : 5,  FirstName : "Mitesh", Dept : “IT”, </a:t>
            </a:r>
          </a:p>
          <a:p>
            <a:r>
              <a:rPr lang="en-US" dirty="0"/>
              <a:t>Salary: 17000},</a:t>
            </a:r>
          </a:p>
          <a:p>
            <a:r>
              <a:rPr lang="en-US" dirty="0"/>
              <a:t>{_id : 6,  FirstName : “Ashok", Dept : “EC”, </a:t>
            </a:r>
          </a:p>
          <a:p>
            <a:r>
              <a:rPr lang="en-US" dirty="0"/>
              <a:t>Salary: 19000}</a:t>
            </a: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0C81A396-36A6-1596-E90C-3AB542D60C3A}"/>
              </a:ext>
            </a:extLst>
          </p:cNvPr>
          <p:cNvSpPr/>
          <p:nvPr/>
        </p:nvSpPr>
        <p:spPr>
          <a:xfrm>
            <a:off x="521013" y="2015043"/>
            <a:ext cx="4754880" cy="1008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500"/>
              </a:lnSpc>
            </a:pPr>
            <a:r>
              <a:rPr lang="en-US" dirty="0" err="1">
                <a:solidFill>
                  <a:schemeClr val="tx1"/>
                </a:solidFill>
              </a:rPr>
              <a:t>db.emp.aggregate</a:t>
            </a:r>
            <a:r>
              <a:rPr lang="en-US" dirty="0">
                <a:solidFill>
                  <a:schemeClr val="tx1"/>
                </a:solidFill>
              </a:rPr>
              <a:t>([</a:t>
            </a:r>
          </a:p>
          <a:p>
            <a:pPr lvl="1">
              <a:lnSpc>
                <a:spcPts val="2500"/>
              </a:lnSpc>
            </a:pPr>
            <a:r>
              <a:rPr lang="en-US" dirty="0">
                <a:solidFill>
                  <a:schemeClr val="tx1"/>
                </a:solidFill>
              </a:rPr>
              <a:t>{$match: { Dept: "CE" } },</a:t>
            </a:r>
          </a:p>
          <a:p>
            <a:pPr lvl="1">
              <a:lnSpc>
                <a:spcPts val="2500"/>
              </a:lnSpc>
            </a:pPr>
            <a:r>
              <a:rPr lang="en-US" dirty="0">
                <a:solidFill>
                  <a:schemeClr val="tx1"/>
                </a:solidFill>
              </a:rPr>
              <a:t>{$group:{_id:"$Dept", count: {$sum: 1}}} ])</a:t>
            </a:r>
          </a:p>
        </p:txBody>
      </p:sp>
      <p:sp>
        <p:nvSpPr>
          <p:cNvPr id="6" name="Rounded Rectangle 18">
            <a:extLst>
              <a:ext uri="{FF2B5EF4-FFF2-40B4-BE49-F238E27FC236}">
                <a16:creationId xmlns:a16="http://schemas.microsoft.com/office/drawing/2014/main" id="{94F70BFB-6932-9277-7321-D82B9ED7BA35}"/>
              </a:ext>
            </a:extLst>
          </p:cNvPr>
          <p:cNvSpPr/>
          <p:nvPr/>
        </p:nvSpPr>
        <p:spPr>
          <a:xfrm>
            <a:off x="521013" y="1649283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0F71ABC8-80EC-67A6-7D42-ADBDE7259F28}"/>
              </a:ext>
            </a:extLst>
          </p:cNvPr>
          <p:cNvSpPr/>
          <p:nvPr/>
        </p:nvSpPr>
        <p:spPr>
          <a:xfrm>
            <a:off x="7281745" y="1067388"/>
            <a:ext cx="1005840" cy="365760"/>
          </a:xfrm>
          <a:prstGeom prst="roundRect">
            <a:avLst>
              <a:gd name="adj" fmla="val 11459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emp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ounded Rectangle 17">
            <a:extLst>
              <a:ext uri="{FF2B5EF4-FFF2-40B4-BE49-F238E27FC236}">
                <a16:creationId xmlns:a16="http://schemas.microsoft.com/office/drawing/2014/main" id="{481EEFAB-AD30-D1DD-E8C6-ACDE923EF046}"/>
              </a:ext>
            </a:extLst>
          </p:cNvPr>
          <p:cNvSpPr/>
          <p:nvPr/>
        </p:nvSpPr>
        <p:spPr>
          <a:xfrm>
            <a:off x="521013" y="4450859"/>
            <a:ext cx="4754880" cy="1008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500"/>
              </a:lnSpc>
            </a:pPr>
            <a:r>
              <a:rPr lang="en-US" dirty="0" err="1">
                <a:solidFill>
                  <a:schemeClr val="tx1"/>
                </a:solidFill>
              </a:rPr>
              <a:t>db.emp.aggregate</a:t>
            </a:r>
            <a:r>
              <a:rPr lang="en-US" dirty="0">
                <a:solidFill>
                  <a:schemeClr val="tx1"/>
                </a:solidFill>
              </a:rPr>
              <a:t>([</a:t>
            </a:r>
          </a:p>
          <a:p>
            <a:pPr>
              <a:lnSpc>
                <a:spcPts val="2500"/>
              </a:lnSpc>
            </a:pPr>
            <a:r>
              <a:rPr lang="en-US" dirty="0">
                <a:solidFill>
                  <a:schemeClr val="tx1"/>
                </a:solidFill>
              </a:rPr>
              <a:t>{"$group":{_id:"$Dept", qty:{$sum:1}}},</a:t>
            </a:r>
          </a:p>
          <a:p>
            <a:pPr>
              <a:lnSpc>
                <a:spcPts val="2500"/>
              </a:lnSpc>
            </a:pPr>
            <a:r>
              <a:rPr lang="en-US" dirty="0">
                <a:solidFill>
                  <a:schemeClr val="tx1"/>
                </a:solidFill>
              </a:rPr>
              <a:t>{$match: { </a:t>
            </a:r>
            <a:r>
              <a:rPr lang="en-US" dirty="0" err="1">
                <a:solidFill>
                  <a:schemeClr val="tx1"/>
                </a:solidFill>
              </a:rPr>
              <a:t>qty</a:t>
            </a:r>
            <a:r>
              <a:rPr lang="en-US" dirty="0">
                <a:solidFill>
                  <a:schemeClr val="tx1"/>
                </a:solidFill>
              </a:rPr>
              <a:t>: {$</a:t>
            </a:r>
            <a:r>
              <a:rPr lang="en-US" dirty="0" err="1">
                <a:solidFill>
                  <a:schemeClr val="tx1"/>
                </a:solidFill>
              </a:rPr>
              <a:t>gt</a:t>
            </a:r>
            <a:r>
              <a:rPr lang="en-US" dirty="0">
                <a:solidFill>
                  <a:schemeClr val="tx1"/>
                </a:solidFill>
              </a:rPr>
              <a:t>: 1} } }])</a:t>
            </a:r>
          </a:p>
        </p:txBody>
      </p:sp>
      <p:sp>
        <p:nvSpPr>
          <p:cNvPr id="13" name="Rounded Rectangle 18">
            <a:extLst>
              <a:ext uri="{FF2B5EF4-FFF2-40B4-BE49-F238E27FC236}">
                <a16:creationId xmlns:a16="http://schemas.microsoft.com/office/drawing/2014/main" id="{129B02C5-6233-3C15-AE45-79C0D4A6D71F}"/>
              </a:ext>
            </a:extLst>
          </p:cNvPr>
          <p:cNvSpPr/>
          <p:nvPr/>
        </p:nvSpPr>
        <p:spPr>
          <a:xfrm>
            <a:off x="521013" y="4085099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62766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12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Aggregation example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aggregate]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865365" cy="5590565"/>
          </a:xfrm>
        </p:spPr>
        <p:txBody>
          <a:bodyPr/>
          <a:lstStyle/>
          <a:p>
            <a:r>
              <a:rPr lang="en-US" dirty="0"/>
              <a:t>Count department wise number of employees in a emp collection and sort the output on number of employee in ascending order.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4D235-19A7-5163-963D-7629F8FF4E6C}"/>
              </a:ext>
            </a:extLst>
          </p:cNvPr>
          <p:cNvSpPr txBox="1"/>
          <p:nvPr/>
        </p:nvSpPr>
        <p:spPr>
          <a:xfrm>
            <a:off x="7281746" y="1433148"/>
            <a:ext cx="4779075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{_id : 1,  FirstName : "Neha", Dept : “CE”, </a:t>
            </a:r>
          </a:p>
          <a:p>
            <a:r>
              <a:rPr lang="en-US" dirty="0"/>
              <a:t>Salary: 10000}, </a:t>
            </a:r>
          </a:p>
          <a:p>
            <a:r>
              <a:rPr lang="en-US" dirty="0"/>
              <a:t>{_id : 2,  FirstName : "Milan", Dept : “IT”, </a:t>
            </a:r>
          </a:p>
          <a:p>
            <a:r>
              <a:rPr lang="en-US" dirty="0"/>
              <a:t>Salary: 15000 },</a:t>
            </a:r>
          </a:p>
          <a:p>
            <a:r>
              <a:rPr lang="en-US" dirty="0"/>
              <a:t>{_id : 3,  FirstName : "Sohan", Dept : “CE”, </a:t>
            </a:r>
          </a:p>
          <a:p>
            <a:r>
              <a:rPr lang="en-US" dirty="0"/>
              <a:t>Salary: 12000 },</a:t>
            </a:r>
          </a:p>
          <a:p>
            <a:r>
              <a:rPr lang="en-US" dirty="0"/>
              <a:t>{_id : 4,  FirstName : "Nehal", Dept : “CE”, </a:t>
            </a:r>
          </a:p>
          <a:p>
            <a:r>
              <a:rPr lang="en-US" dirty="0"/>
              <a:t>Salary: 14000}, </a:t>
            </a:r>
          </a:p>
          <a:p>
            <a:r>
              <a:rPr lang="en-US" dirty="0"/>
              <a:t>{_id : 5,  FirstName : "Mitesh", Dept : “IT”, </a:t>
            </a:r>
          </a:p>
          <a:p>
            <a:r>
              <a:rPr lang="en-US" dirty="0"/>
              <a:t>Salary: 17000},</a:t>
            </a:r>
          </a:p>
          <a:p>
            <a:r>
              <a:rPr lang="en-US" dirty="0"/>
              <a:t>{_id : 6,  FirstName : “Ashok", Dept : “EC”, </a:t>
            </a:r>
          </a:p>
          <a:p>
            <a:r>
              <a:rPr lang="en-US"/>
              <a:t>Salary: 19000}</a:t>
            </a:r>
            <a:endParaRPr lang="en-US" dirty="0"/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0F71ABC8-80EC-67A6-7D42-ADBDE7259F28}"/>
              </a:ext>
            </a:extLst>
          </p:cNvPr>
          <p:cNvSpPr/>
          <p:nvPr/>
        </p:nvSpPr>
        <p:spPr>
          <a:xfrm>
            <a:off x="7281745" y="1067388"/>
            <a:ext cx="1005840" cy="365760"/>
          </a:xfrm>
          <a:prstGeom prst="roundRect">
            <a:avLst>
              <a:gd name="adj" fmla="val 11459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emp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ounded Rectangle 17">
            <a:extLst>
              <a:ext uri="{FF2B5EF4-FFF2-40B4-BE49-F238E27FC236}">
                <a16:creationId xmlns:a16="http://schemas.microsoft.com/office/drawing/2014/main" id="{481EEFAB-AD30-D1DD-E8C6-ACDE923EF046}"/>
              </a:ext>
            </a:extLst>
          </p:cNvPr>
          <p:cNvSpPr/>
          <p:nvPr/>
        </p:nvSpPr>
        <p:spPr>
          <a:xfrm>
            <a:off x="521013" y="2343280"/>
            <a:ext cx="4754880" cy="1008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500"/>
              </a:lnSpc>
            </a:pPr>
            <a:r>
              <a:rPr lang="en-US" dirty="0" err="1">
                <a:solidFill>
                  <a:schemeClr val="tx1"/>
                </a:solidFill>
              </a:rPr>
              <a:t>db.emp.aggregate</a:t>
            </a:r>
            <a:r>
              <a:rPr lang="en-US" dirty="0">
                <a:solidFill>
                  <a:schemeClr val="tx1"/>
                </a:solidFill>
              </a:rPr>
              <a:t>([</a:t>
            </a:r>
          </a:p>
          <a:p>
            <a:pPr>
              <a:lnSpc>
                <a:spcPts val="2500"/>
              </a:lnSpc>
            </a:pPr>
            <a:r>
              <a:rPr lang="en-US" dirty="0">
                <a:solidFill>
                  <a:schemeClr val="tx1"/>
                </a:solidFill>
              </a:rPr>
              <a:t>{"$group":{_id:"$Dept", qty:{$sum:1}}},</a:t>
            </a:r>
          </a:p>
          <a:p>
            <a:pPr>
              <a:lnSpc>
                <a:spcPts val="2500"/>
              </a:lnSpc>
            </a:pPr>
            <a:r>
              <a:rPr lang="en-US" dirty="0">
                <a:solidFill>
                  <a:schemeClr val="tx1"/>
                </a:solidFill>
              </a:rPr>
              <a:t>{$sort: { qty : 1}} ])</a:t>
            </a:r>
          </a:p>
        </p:txBody>
      </p:sp>
      <p:sp>
        <p:nvSpPr>
          <p:cNvPr id="13" name="Rounded Rectangle 18">
            <a:extLst>
              <a:ext uri="{FF2B5EF4-FFF2-40B4-BE49-F238E27FC236}">
                <a16:creationId xmlns:a16="http://schemas.microsoft.com/office/drawing/2014/main" id="{129B02C5-6233-3C15-AE45-79C0D4A6D71F}"/>
              </a:ext>
            </a:extLst>
          </p:cNvPr>
          <p:cNvSpPr/>
          <p:nvPr/>
        </p:nvSpPr>
        <p:spPr>
          <a:xfrm>
            <a:off x="521013" y="1977520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632247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2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7B69E-DE1F-9C56-891F-ADC25C90A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E5871-2F3F-52A5-8AB9-7A6C50E93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en-US" sz="3200" dirty="0"/>
              <a:t>(Aggregate | $group)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1A98138-2431-569F-686D-B48BEC54E721}"/>
              </a:ext>
            </a:extLst>
          </p:cNvPr>
          <p:cNvSpPr/>
          <p:nvPr/>
        </p:nvSpPr>
        <p:spPr>
          <a:xfrm>
            <a:off x="9905998" y="7823"/>
            <a:ext cx="2078183" cy="703378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 b="1" dirty="0">
                <a:solidFill>
                  <a:schemeClr val="accent6"/>
                </a:solidFill>
              </a:rPr>
              <a:t>MongoDB</a:t>
            </a:r>
            <a:endParaRPr lang="en-IN" sz="3400" b="1" dirty="0">
              <a:solidFill>
                <a:schemeClr val="accent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9E9D8C-C9C2-E1A3-9CD9-0F2199F10810}"/>
              </a:ext>
            </a:extLst>
          </p:cNvPr>
          <p:cNvSpPr txBox="1"/>
          <p:nvPr/>
        </p:nvSpPr>
        <p:spPr>
          <a:xfrm>
            <a:off x="158155" y="1278450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en-US" sz="2000" dirty="0"/>
              <a:t>Display Gender wise employee’s count. </a:t>
            </a:r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05303DE6-EDB9-C5CC-B455-7AC50D2765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8845488"/>
              </p:ext>
            </p:extLst>
          </p:nvPr>
        </p:nvGraphicFramePr>
        <p:xfrm>
          <a:off x="158156" y="813630"/>
          <a:ext cx="1296000" cy="457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Exercise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E0A8372-B856-1CDE-DD73-DDA05DDAF131}"/>
              </a:ext>
            </a:extLst>
          </p:cNvPr>
          <p:cNvSpPr txBox="1"/>
          <p:nvPr/>
        </p:nvSpPr>
        <p:spPr>
          <a:xfrm>
            <a:off x="158155" y="1686180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db.Employee.aggregate</a:t>
            </a:r>
            <a:r>
              <a:rPr lang="en-US" sz="2000" dirty="0"/>
              <a:t>([{$group:{_id:"$Gender", </a:t>
            </a:r>
            <a:r>
              <a:rPr lang="en-US" sz="2000" dirty="0" err="1"/>
              <a:t>EmployeeCount</a:t>
            </a:r>
            <a:r>
              <a:rPr lang="en-US" sz="2000" dirty="0"/>
              <a:t>:{$sum:1}}}])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82A00A-0309-828B-59C3-9DF5E746B2C1}"/>
              </a:ext>
            </a:extLst>
          </p:cNvPr>
          <p:cNvSpPr txBox="1"/>
          <p:nvPr/>
        </p:nvSpPr>
        <p:spPr>
          <a:xfrm>
            <a:off x="158155" y="2205550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2"/>
            </a:pPr>
            <a:r>
              <a:rPr lang="en-US" sz="2000" dirty="0"/>
              <a:t>Display Gender wise employee’s total salary.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3724D8-163B-4FD1-7A75-7AD27000D4DC}"/>
              </a:ext>
            </a:extLst>
          </p:cNvPr>
          <p:cNvSpPr txBox="1"/>
          <p:nvPr/>
        </p:nvSpPr>
        <p:spPr>
          <a:xfrm>
            <a:off x="158155" y="2613280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db.Employee.aggregate</a:t>
            </a:r>
            <a:r>
              <a:rPr lang="en-US" sz="2000" dirty="0"/>
              <a:t>([{$group:{_id:"$Gender", </a:t>
            </a:r>
            <a:r>
              <a:rPr lang="en-US" sz="2000" dirty="0" err="1"/>
              <a:t>TotalSalary</a:t>
            </a:r>
            <a:r>
              <a:rPr lang="en-US" sz="2000" dirty="0"/>
              <a:t>:{$sum:’$Salary’}}}])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C4B7A8-334E-F33F-043C-D679887EF38D}"/>
              </a:ext>
            </a:extLst>
          </p:cNvPr>
          <p:cNvSpPr txBox="1"/>
          <p:nvPr/>
        </p:nvSpPr>
        <p:spPr>
          <a:xfrm>
            <a:off x="158155" y="3159787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3"/>
            </a:pPr>
            <a:r>
              <a:rPr lang="en-US" sz="2000" dirty="0"/>
              <a:t>Display Department wise employee’s Maximum and Minimum salary.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DDEFFA-EEDE-AA9E-D23B-E1530CDA5B45}"/>
              </a:ext>
            </a:extLst>
          </p:cNvPr>
          <p:cNvSpPr txBox="1"/>
          <p:nvPr/>
        </p:nvSpPr>
        <p:spPr>
          <a:xfrm>
            <a:off x="158155" y="3572280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db.Employee.aggregate</a:t>
            </a:r>
            <a:r>
              <a:rPr lang="en-US" sz="2000" dirty="0"/>
              <a:t>([{$group:{_id:"$Department", </a:t>
            </a:r>
            <a:r>
              <a:rPr lang="en-US" sz="2000" dirty="0" err="1"/>
              <a:t>MaxSalary</a:t>
            </a:r>
            <a:r>
              <a:rPr lang="en-US" sz="2000" dirty="0"/>
              <a:t>:{$max:'$Salary’}, </a:t>
            </a:r>
            <a:r>
              <a:rPr lang="en-US" sz="2000" dirty="0" err="1"/>
              <a:t>MinSalary</a:t>
            </a:r>
            <a:r>
              <a:rPr lang="en-US" sz="2000" dirty="0"/>
              <a:t>:{$min:'$Salary'}}}])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E67A0C-E8C9-D9A6-6278-086EBB2972C2}"/>
              </a:ext>
            </a:extLst>
          </p:cNvPr>
          <p:cNvSpPr txBox="1"/>
          <p:nvPr/>
        </p:nvSpPr>
        <p:spPr>
          <a:xfrm>
            <a:off x="158155" y="4112287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4"/>
            </a:pPr>
            <a:r>
              <a:rPr lang="en-US" sz="2000" dirty="0"/>
              <a:t>Display Gender wise City wise employee’s count.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E04EC7-8345-69C2-32ED-4BDBCE66D134}"/>
              </a:ext>
            </a:extLst>
          </p:cNvPr>
          <p:cNvSpPr txBox="1"/>
          <p:nvPr/>
        </p:nvSpPr>
        <p:spPr>
          <a:xfrm>
            <a:off x="158155" y="4520017"/>
            <a:ext cx="11664000" cy="39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db.Employee.aggregate</a:t>
            </a:r>
            <a:r>
              <a:rPr lang="en-US" sz="2000" dirty="0"/>
              <a:t>([{$group:{_id:{Gender: ‘$Gender’, City: ‘$City'}, </a:t>
            </a:r>
            <a:r>
              <a:rPr lang="en-US" sz="2000" dirty="0" err="1"/>
              <a:t>EmployeeCount</a:t>
            </a:r>
            <a:r>
              <a:rPr lang="en-US" sz="2000" dirty="0"/>
              <a:t>:{$sum:1}}}])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C38FBD-38F1-E435-73D8-F4B0FB55C348}"/>
              </a:ext>
            </a:extLst>
          </p:cNvPr>
          <p:cNvSpPr txBox="1"/>
          <p:nvPr/>
        </p:nvSpPr>
        <p:spPr>
          <a:xfrm>
            <a:off x="158155" y="5064787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5"/>
            </a:pPr>
            <a:r>
              <a:rPr lang="en-US" sz="2000" dirty="0"/>
              <a:t>Display unique Department names.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3EB5D0-9BE2-1868-6AEB-72D8932C670F}"/>
              </a:ext>
            </a:extLst>
          </p:cNvPr>
          <p:cNvSpPr txBox="1"/>
          <p:nvPr/>
        </p:nvSpPr>
        <p:spPr>
          <a:xfrm>
            <a:off x="158155" y="5472517"/>
            <a:ext cx="11664000" cy="39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db.Employee.aggregate</a:t>
            </a:r>
            <a:r>
              <a:rPr lang="en-US" sz="2000" dirty="0"/>
              <a:t>([{$group:{_id:{Department: "$Department”}}}])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32C742-5EEC-D0BB-14ED-54B6A8432048}"/>
              </a:ext>
            </a:extLst>
          </p:cNvPr>
          <p:cNvSpPr txBox="1"/>
          <p:nvPr/>
        </p:nvSpPr>
        <p:spPr>
          <a:xfrm>
            <a:off x="3438494" y="795053"/>
            <a:ext cx="56520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{_id,  Name, Gender, Age, City, Department, Salary, Incentive}</a:t>
            </a: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61A827E3-B1A6-1262-E100-91C1B5FF654C}"/>
              </a:ext>
            </a:extLst>
          </p:cNvPr>
          <p:cNvSpPr/>
          <p:nvPr/>
        </p:nvSpPr>
        <p:spPr>
          <a:xfrm>
            <a:off x="2310734" y="792173"/>
            <a:ext cx="1116000" cy="365760"/>
          </a:xfrm>
          <a:prstGeom prst="roundRect">
            <a:avLst>
              <a:gd name="adj" fmla="val 11459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Employee</a:t>
            </a:r>
          </a:p>
        </p:txBody>
      </p:sp>
    </p:spTree>
    <p:extLst>
      <p:ext uri="{BB962C8B-B14F-4D97-AF65-F5344CB8AC3E}">
        <p14:creationId xmlns:p14="http://schemas.microsoft.com/office/powerpoint/2010/main" val="3774927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7" grpId="0" animBg="1"/>
      <p:bldP spid="1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EFCF0-16F1-E917-C8E5-60B57B9D6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3DB7B-041D-1769-C807-B4A031F1E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en-US" sz="3200" dirty="0"/>
              <a:t>(Aggregate | $group and $match)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DD14650-45AF-ED38-7056-EBD2AFCD0992}"/>
              </a:ext>
            </a:extLst>
          </p:cNvPr>
          <p:cNvSpPr/>
          <p:nvPr/>
        </p:nvSpPr>
        <p:spPr>
          <a:xfrm>
            <a:off x="9905998" y="7823"/>
            <a:ext cx="2078183" cy="703378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00" b="1" dirty="0">
                <a:solidFill>
                  <a:schemeClr val="accent6"/>
                </a:solidFill>
              </a:rPr>
              <a:t>MongoDB</a:t>
            </a:r>
            <a:endParaRPr lang="en-IN" sz="3400" b="1" dirty="0">
              <a:solidFill>
                <a:schemeClr val="accent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64D152-CCEF-2DB5-0B7B-25BEDEBB5E41}"/>
              </a:ext>
            </a:extLst>
          </p:cNvPr>
          <p:cNvSpPr txBox="1"/>
          <p:nvPr/>
        </p:nvSpPr>
        <p:spPr>
          <a:xfrm>
            <a:off x="158155" y="1278450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en-US" sz="2000" dirty="0"/>
              <a:t>Display Male employee’s count. </a:t>
            </a:r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2479010B-A104-9D9B-DC5C-71376E23DFB9}"/>
              </a:ext>
            </a:extLst>
          </p:cNvPr>
          <p:cNvGraphicFramePr>
            <a:graphicFrameLocks/>
          </p:cNvGraphicFramePr>
          <p:nvPr/>
        </p:nvGraphicFramePr>
        <p:xfrm>
          <a:off x="158156" y="813630"/>
          <a:ext cx="1296000" cy="4572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Exercise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5B25C8B-54DE-2C90-AD31-3FE5A43FE74B}"/>
              </a:ext>
            </a:extLst>
          </p:cNvPr>
          <p:cNvSpPr txBox="1"/>
          <p:nvPr/>
        </p:nvSpPr>
        <p:spPr>
          <a:xfrm>
            <a:off x="158155" y="1686180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db.Employee.aggregate</a:t>
            </a:r>
            <a:r>
              <a:rPr lang="en-US" sz="2000" dirty="0"/>
              <a:t>([{$match: {Gender: ‘Male’}}, {$group:{_id:"$Gender", </a:t>
            </a:r>
            <a:r>
              <a:rPr lang="en-US" sz="2000" dirty="0" err="1"/>
              <a:t>EmployeeCount</a:t>
            </a:r>
            <a:r>
              <a:rPr lang="en-US" sz="2000" dirty="0"/>
              <a:t>:{$sum:1}}}])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2A7F48-9DEA-169C-3AF6-70F2A77E8CBB}"/>
              </a:ext>
            </a:extLst>
          </p:cNvPr>
          <p:cNvSpPr txBox="1"/>
          <p:nvPr/>
        </p:nvSpPr>
        <p:spPr>
          <a:xfrm>
            <a:off x="158155" y="2205550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2"/>
            </a:pPr>
            <a:r>
              <a:rPr lang="en-US" sz="2000" dirty="0"/>
              <a:t>Display Gender wise employee’s count, consider the employees whose salary is more than 10000.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7D242E-555D-34C0-3A93-E98811968B61}"/>
              </a:ext>
            </a:extLst>
          </p:cNvPr>
          <p:cNvSpPr txBox="1"/>
          <p:nvPr/>
        </p:nvSpPr>
        <p:spPr>
          <a:xfrm>
            <a:off x="158155" y="2613280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db.Employee.aggregate</a:t>
            </a:r>
            <a:r>
              <a:rPr lang="en-US" sz="2000" dirty="0"/>
              <a:t>([{$match:{Salary:{$gt:10000}}},{$group:{_id:"$Gender",</a:t>
            </a:r>
            <a:r>
              <a:rPr lang="en-US" sz="2000" dirty="0" err="1"/>
              <a:t>EmployeeCount</a:t>
            </a:r>
            <a:r>
              <a:rPr lang="en-US" sz="2000" dirty="0"/>
              <a:t>:{$sum:1}}}])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EA9C82-6B1B-4CB8-983B-A76DFF810C4F}"/>
              </a:ext>
            </a:extLst>
          </p:cNvPr>
          <p:cNvSpPr txBox="1"/>
          <p:nvPr/>
        </p:nvSpPr>
        <p:spPr>
          <a:xfrm>
            <a:off x="158155" y="3159787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3"/>
            </a:pPr>
            <a:r>
              <a:rPr lang="en-US" sz="2000" dirty="0"/>
              <a:t>Display Department wise employee’s count of IT and AI department using IN operator.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008104-3E05-B2D2-C791-31F4253AA408}"/>
              </a:ext>
            </a:extLst>
          </p:cNvPr>
          <p:cNvSpPr txBox="1"/>
          <p:nvPr/>
        </p:nvSpPr>
        <p:spPr>
          <a:xfrm>
            <a:off x="158155" y="3572280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db.Employee.aggregate</a:t>
            </a:r>
            <a:r>
              <a:rPr lang="en-US" sz="2000" dirty="0"/>
              <a:t>([{$match:{Dept:{$</a:t>
            </a:r>
            <a:r>
              <a:rPr lang="en-US" sz="2000" dirty="0" err="1"/>
              <a:t>in:’IT’,’AI</a:t>
            </a:r>
            <a:r>
              <a:rPr lang="en-US" sz="2000" dirty="0"/>
              <a:t>']}}},{$group:{_id:"$Department",</a:t>
            </a:r>
            <a:r>
              <a:rPr lang="en-US" sz="2000" dirty="0" err="1"/>
              <a:t>EmployeeCount</a:t>
            </a:r>
            <a:r>
              <a:rPr lang="en-US" sz="2000" dirty="0"/>
              <a:t>:{$sum:1}}}])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760A68-6742-645E-4334-83D1BC528F64}"/>
              </a:ext>
            </a:extLst>
          </p:cNvPr>
          <p:cNvSpPr txBox="1"/>
          <p:nvPr/>
        </p:nvSpPr>
        <p:spPr>
          <a:xfrm>
            <a:off x="158155" y="4112287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4"/>
            </a:pPr>
            <a:r>
              <a:rPr lang="en-US" sz="2000" dirty="0"/>
              <a:t>Display City wise employee’s count and display city having more than 5 employee.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267603-FF77-1FC5-3ED4-ECC01AABB13E}"/>
              </a:ext>
            </a:extLst>
          </p:cNvPr>
          <p:cNvSpPr txBox="1"/>
          <p:nvPr/>
        </p:nvSpPr>
        <p:spPr>
          <a:xfrm>
            <a:off x="158155" y="4520017"/>
            <a:ext cx="11664000" cy="39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db.Employee.aggregate</a:t>
            </a:r>
            <a:r>
              <a:rPr lang="en-US" sz="2000" dirty="0"/>
              <a:t>([{$group:{_id:{City: ‘$City'}, </a:t>
            </a:r>
            <a:r>
              <a:rPr lang="en-US" sz="2000" dirty="0" err="1"/>
              <a:t>ECount</a:t>
            </a:r>
            <a:r>
              <a:rPr lang="en-US" sz="2000" dirty="0"/>
              <a:t>:{$sum:1}}}, {$match: {</a:t>
            </a:r>
            <a:r>
              <a:rPr lang="en-US" sz="2000" dirty="0" err="1"/>
              <a:t>Ecount</a:t>
            </a:r>
            <a:r>
              <a:rPr lang="en-US" sz="2000" dirty="0"/>
              <a:t>: {$</a:t>
            </a:r>
            <a:r>
              <a:rPr lang="en-US" sz="2000" dirty="0" err="1"/>
              <a:t>gt</a:t>
            </a:r>
            <a:r>
              <a:rPr lang="en-US" sz="2000" dirty="0"/>
              <a:t>: 5}}}])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12C6B2-EE51-9EE1-0895-9DBC9E9570C0}"/>
              </a:ext>
            </a:extLst>
          </p:cNvPr>
          <p:cNvSpPr txBox="1"/>
          <p:nvPr/>
        </p:nvSpPr>
        <p:spPr>
          <a:xfrm>
            <a:off x="158155" y="5064787"/>
            <a:ext cx="11664000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 startAt="5"/>
            </a:pPr>
            <a:r>
              <a:rPr lang="en-US" sz="2000" dirty="0"/>
              <a:t>Display City wise employee’s count and sort the output on </a:t>
            </a:r>
            <a:r>
              <a:rPr lang="en-US" sz="2000" dirty="0" err="1"/>
              <a:t>EmployeeCount</a:t>
            </a:r>
            <a:r>
              <a:rPr lang="en-US" sz="2000" dirty="0"/>
              <a:t> in ascending order.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7A5580-4E6E-B073-7763-6F12B2D0D3B8}"/>
              </a:ext>
            </a:extLst>
          </p:cNvPr>
          <p:cNvSpPr txBox="1"/>
          <p:nvPr/>
        </p:nvSpPr>
        <p:spPr>
          <a:xfrm>
            <a:off x="158155" y="5472517"/>
            <a:ext cx="11664000" cy="39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360363" algn="just">
              <a:spcBef>
                <a:spcPts val="600"/>
              </a:spcBef>
            </a:pPr>
            <a:r>
              <a:rPr lang="en-US" sz="2000" dirty="0" err="1"/>
              <a:t>db.Employee.aggregate</a:t>
            </a:r>
            <a:r>
              <a:rPr lang="en-US" sz="2000" dirty="0"/>
              <a:t> ([{$group:{_id:{City: ‘$City'}, </a:t>
            </a:r>
            <a:r>
              <a:rPr lang="en-US" sz="2000" dirty="0" err="1"/>
              <a:t>ECount</a:t>
            </a:r>
            <a:r>
              <a:rPr lang="en-US" sz="2000" dirty="0"/>
              <a:t>:{$sum:1}}}, {$sort: {</a:t>
            </a:r>
            <a:r>
              <a:rPr lang="en-US" sz="2000" dirty="0" err="1"/>
              <a:t>Ecount</a:t>
            </a:r>
            <a:r>
              <a:rPr lang="en-US" sz="2000" dirty="0"/>
              <a:t>: 1}}])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2B54AB-B05E-79DD-4D63-9138CC18B23D}"/>
              </a:ext>
            </a:extLst>
          </p:cNvPr>
          <p:cNvSpPr txBox="1"/>
          <p:nvPr/>
        </p:nvSpPr>
        <p:spPr>
          <a:xfrm>
            <a:off x="3438494" y="795053"/>
            <a:ext cx="56520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{_id,  Name, Gender, Age, City, Department, Salary, Incentive}</a:t>
            </a: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12421E75-9E42-6013-03A3-8B967B623346}"/>
              </a:ext>
            </a:extLst>
          </p:cNvPr>
          <p:cNvSpPr/>
          <p:nvPr/>
        </p:nvSpPr>
        <p:spPr>
          <a:xfrm>
            <a:off x="2310734" y="792173"/>
            <a:ext cx="1116000" cy="365760"/>
          </a:xfrm>
          <a:prstGeom prst="roundRect">
            <a:avLst>
              <a:gd name="adj" fmla="val 11459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Employee</a:t>
            </a:r>
          </a:p>
        </p:txBody>
      </p:sp>
    </p:spTree>
    <p:extLst>
      <p:ext uri="{BB962C8B-B14F-4D97-AF65-F5344CB8AC3E}">
        <p14:creationId xmlns:p14="http://schemas.microsoft.com/office/powerpoint/2010/main" val="415588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7" grpId="0" animBg="1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Indexes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39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Indexes                           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index]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Indexes support the efficient resolution of queries. </a:t>
            </a:r>
          </a:p>
          <a:p>
            <a:r>
              <a:rPr lang="en-US" dirty="0"/>
              <a:t>Without indexes, </a:t>
            </a:r>
            <a:r>
              <a:rPr lang="en-US" dirty="0" err="1"/>
              <a:t>MongoDB</a:t>
            </a:r>
            <a:r>
              <a:rPr lang="en-US" dirty="0"/>
              <a:t> must scan every document of a collection to select those documents that match the query statement. </a:t>
            </a:r>
          </a:p>
          <a:p>
            <a:r>
              <a:rPr lang="en-US" dirty="0"/>
              <a:t>This scan is highly inefficient and require </a:t>
            </a:r>
            <a:r>
              <a:rPr lang="en-US" dirty="0" err="1"/>
              <a:t>MongoDB</a:t>
            </a:r>
            <a:r>
              <a:rPr lang="en-US" dirty="0"/>
              <a:t> to process a large volume of data.</a:t>
            </a:r>
          </a:p>
          <a:p>
            <a:r>
              <a:rPr lang="en-US" dirty="0"/>
              <a:t>Indexes are </a:t>
            </a:r>
            <a:r>
              <a:rPr lang="en-US" dirty="0">
                <a:solidFill>
                  <a:schemeClr val="accent6"/>
                </a:solidFill>
              </a:rPr>
              <a:t>special data structures, that store a small portion of the data set in an easy-to-traverse form</a:t>
            </a:r>
            <a:r>
              <a:rPr lang="en-US" dirty="0"/>
              <a:t>. </a:t>
            </a:r>
          </a:p>
          <a:p>
            <a:r>
              <a:rPr lang="en-US" dirty="0"/>
              <a:t>The index </a:t>
            </a:r>
            <a:r>
              <a:rPr lang="en-US" dirty="0">
                <a:solidFill>
                  <a:schemeClr val="accent6"/>
                </a:solidFill>
              </a:rPr>
              <a:t>stores the value of a specific field or set of fields, ordered by the value of the field as specified in the index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Here key is the name of the field on which you want to create index and 1 is for ascending order. </a:t>
            </a:r>
          </a:p>
          <a:p>
            <a:pPr lvl="1"/>
            <a:r>
              <a:rPr lang="en-US" dirty="0"/>
              <a:t>To create index in descending order you need to use -1. </a:t>
            </a: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C81A396-36A6-1596-E90C-3AB542D60C3A}"/>
              </a:ext>
            </a:extLst>
          </p:cNvPr>
          <p:cNvSpPr/>
          <p:nvPr/>
        </p:nvSpPr>
        <p:spPr>
          <a:xfrm>
            <a:off x="521013" y="4464996"/>
            <a:ext cx="4572000" cy="432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db.collectionName.createIndex</a:t>
            </a:r>
            <a:r>
              <a:rPr lang="en-US" dirty="0">
                <a:solidFill>
                  <a:schemeClr val="tx1"/>
                </a:solidFill>
              </a:rPr>
              <a:t>({KEY:1})</a:t>
            </a: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94F70BFB-6932-9277-7321-D82B9ED7BA35}"/>
              </a:ext>
            </a:extLst>
          </p:cNvPr>
          <p:cNvSpPr/>
          <p:nvPr/>
        </p:nvSpPr>
        <p:spPr>
          <a:xfrm>
            <a:off x="521013" y="4099236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Syntax</a:t>
            </a:r>
          </a:p>
        </p:txBody>
      </p:sp>
    </p:spTree>
    <p:extLst>
      <p:ext uri="{BB962C8B-B14F-4D97-AF65-F5344CB8AC3E}">
        <p14:creationId xmlns:p14="http://schemas.microsoft.com/office/powerpoint/2010/main" val="1855068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Indexes                           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index]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865365" cy="5590565"/>
          </a:xfrm>
        </p:spPr>
        <p:txBody>
          <a:bodyPr/>
          <a:lstStyle/>
          <a:p>
            <a:r>
              <a:rPr lang="en-US" dirty="0"/>
              <a:t>Create an index on “</a:t>
            </a:r>
            <a:r>
              <a:rPr lang="en-US" dirty="0" err="1"/>
              <a:t>FirstName</a:t>
            </a:r>
            <a:r>
              <a:rPr lang="en-US" dirty="0"/>
              <a:t>” on </a:t>
            </a:r>
            <a:r>
              <a:rPr lang="en-US" dirty="0" err="1"/>
              <a:t>emp</a:t>
            </a:r>
            <a:r>
              <a:rPr lang="en-US" dirty="0"/>
              <a:t> collection.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Retrieves all the indexes in the collection emp.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Drop an index created on “</a:t>
            </a:r>
            <a:r>
              <a:rPr lang="en-US" dirty="0" err="1"/>
              <a:t>FirstName</a:t>
            </a:r>
            <a:r>
              <a:rPr lang="en-US" dirty="0"/>
              <a:t>” from </a:t>
            </a:r>
            <a:r>
              <a:rPr lang="en-US" dirty="0" err="1"/>
              <a:t>emp</a:t>
            </a:r>
            <a:r>
              <a:rPr lang="en-US" dirty="0"/>
              <a:t> collection.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4D235-19A7-5163-963D-7629F8FF4E6C}"/>
              </a:ext>
            </a:extLst>
          </p:cNvPr>
          <p:cNvSpPr txBox="1"/>
          <p:nvPr/>
        </p:nvSpPr>
        <p:spPr>
          <a:xfrm>
            <a:off x="7281746" y="1433148"/>
            <a:ext cx="4779075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{_id : 1,  FirstName : "Neha", Dept : “CE”, </a:t>
            </a:r>
          </a:p>
          <a:p>
            <a:r>
              <a:rPr lang="en-US" dirty="0" err="1"/>
              <a:t>Joiningdate</a:t>
            </a:r>
            <a:r>
              <a:rPr lang="en-US" dirty="0"/>
              <a:t>: 2023-07-10T05:31:14.168Z}, </a:t>
            </a:r>
          </a:p>
          <a:p>
            <a:r>
              <a:rPr lang="en-US" dirty="0"/>
              <a:t>{_id : 2,  FirstName : "Milan", Dept : “IT”, </a:t>
            </a:r>
          </a:p>
          <a:p>
            <a:r>
              <a:rPr lang="en-US" dirty="0" err="1"/>
              <a:t>Joiningdate</a:t>
            </a:r>
            <a:r>
              <a:rPr lang="en-US" dirty="0"/>
              <a:t>: 2023-07-10T05:31:14.168Z },</a:t>
            </a:r>
          </a:p>
          <a:p>
            <a:r>
              <a:rPr lang="en-US" dirty="0"/>
              <a:t>{_id : 3,  FirstName : "Sohan", Dept : “CE”, </a:t>
            </a:r>
          </a:p>
          <a:p>
            <a:r>
              <a:rPr lang="en-US" dirty="0" err="1"/>
              <a:t>Joiningdate</a:t>
            </a:r>
            <a:r>
              <a:rPr lang="en-US" dirty="0"/>
              <a:t>: 2023-07-10T05:31:14.168Z },</a:t>
            </a:r>
          </a:p>
          <a:p>
            <a:r>
              <a:rPr lang="en-US" dirty="0"/>
              <a:t>{_id : 4,  FirstName : "Nehal", Dept : “CE”, </a:t>
            </a:r>
          </a:p>
          <a:p>
            <a:r>
              <a:rPr lang="en-US" dirty="0" err="1"/>
              <a:t>Joiningdate</a:t>
            </a:r>
            <a:r>
              <a:rPr lang="en-US" dirty="0"/>
              <a:t>: 2023-07-10T05:31:14.168Z}, </a:t>
            </a:r>
          </a:p>
          <a:p>
            <a:r>
              <a:rPr lang="en-US" dirty="0"/>
              <a:t>{_id : 5,  FirstName : "Mitesh", Dept : “IT”, </a:t>
            </a:r>
          </a:p>
          <a:p>
            <a:r>
              <a:rPr lang="en-US" dirty="0" err="1"/>
              <a:t>Joiningdate</a:t>
            </a:r>
            <a:r>
              <a:rPr lang="en-US" dirty="0"/>
              <a:t>: 2023-07-10T05:31:14.168Z },</a:t>
            </a:r>
          </a:p>
          <a:p>
            <a:r>
              <a:rPr lang="en-US" dirty="0"/>
              <a:t>{_id : 6,  FirstName : “Ashok", Dept : “EC”, </a:t>
            </a:r>
          </a:p>
          <a:p>
            <a:r>
              <a:rPr lang="en-US" dirty="0" err="1"/>
              <a:t>Joiningdate</a:t>
            </a:r>
            <a:r>
              <a:rPr lang="en-US" dirty="0"/>
              <a:t>: 2023-07-10T05:31:14.168Z }</a:t>
            </a: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0C81A396-36A6-1596-E90C-3AB542D60C3A}"/>
              </a:ext>
            </a:extLst>
          </p:cNvPr>
          <p:cNvSpPr/>
          <p:nvPr/>
        </p:nvSpPr>
        <p:spPr>
          <a:xfrm>
            <a:off x="521013" y="1654819"/>
            <a:ext cx="4754880" cy="54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db.emp.createIndex</a:t>
            </a:r>
            <a:r>
              <a:rPr lang="en-US" dirty="0">
                <a:solidFill>
                  <a:schemeClr val="tx1"/>
                </a:solidFill>
              </a:rPr>
              <a:t>({</a:t>
            </a:r>
            <a:r>
              <a:rPr lang="en-US" dirty="0" err="1">
                <a:solidFill>
                  <a:schemeClr val="tx1"/>
                </a:solidFill>
              </a:rPr>
              <a:t>FirstName</a:t>
            </a:r>
            <a:r>
              <a:rPr lang="en-US" dirty="0">
                <a:solidFill>
                  <a:schemeClr val="tx1"/>
                </a:solidFill>
              </a:rPr>
              <a:t>: 1})</a:t>
            </a:r>
          </a:p>
        </p:txBody>
      </p:sp>
      <p:sp>
        <p:nvSpPr>
          <p:cNvPr id="6" name="Rounded Rectangle 18">
            <a:extLst>
              <a:ext uri="{FF2B5EF4-FFF2-40B4-BE49-F238E27FC236}">
                <a16:creationId xmlns:a16="http://schemas.microsoft.com/office/drawing/2014/main" id="{94F70BFB-6932-9277-7321-D82B9ED7BA35}"/>
              </a:ext>
            </a:extLst>
          </p:cNvPr>
          <p:cNvSpPr/>
          <p:nvPr/>
        </p:nvSpPr>
        <p:spPr>
          <a:xfrm>
            <a:off x="521013" y="1289059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0F71ABC8-80EC-67A6-7D42-ADBDE7259F28}"/>
              </a:ext>
            </a:extLst>
          </p:cNvPr>
          <p:cNvSpPr/>
          <p:nvPr/>
        </p:nvSpPr>
        <p:spPr>
          <a:xfrm>
            <a:off x="7281745" y="1067388"/>
            <a:ext cx="1005840" cy="365760"/>
          </a:xfrm>
          <a:prstGeom prst="roundRect">
            <a:avLst>
              <a:gd name="adj" fmla="val 11459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emp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1FB5FC73-ECB3-C47C-6D6A-31162BF2CD38}"/>
              </a:ext>
            </a:extLst>
          </p:cNvPr>
          <p:cNvSpPr/>
          <p:nvPr/>
        </p:nvSpPr>
        <p:spPr>
          <a:xfrm>
            <a:off x="521013" y="3028110"/>
            <a:ext cx="4754880" cy="539496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db.emp.getIndexes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9" name="Rounded Rectangle 18">
            <a:extLst>
              <a:ext uri="{FF2B5EF4-FFF2-40B4-BE49-F238E27FC236}">
                <a16:creationId xmlns:a16="http://schemas.microsoft.com/office/drawing/2014/main" id="{23124F91-7F0A-6D9C-FDA1-20217E0B98D5}"/>
              </a:ext>
            </a:extLst>
          </p:cNvPr>
          <p:cNvSpPr/>
          <p:nvPr/>
        </p:nvSpPr>
        <p:spPr>
          <a:xfrm>
            <a:off x="521013" y="2662350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D0934A74-6843-8972-7BB3-1A01AED45683}"/>
              </a:ext>
            </a:extLst>
          </p:cNvPr>
          <p:cNvSpPr/>
          <p:nvPr/>
        </p:nvSpPr>
        <p:spPr>
          <a:xfrm>
            <a:off x="521013" y="4713286"/>
            <a:ext cx="4754880" cy="539496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db.emp.dropIndex</a:t>
            </a:r>
            <a:r>
              <a:rPr lang="en-US" dirty="0">
                <a:solidFill>
                  <a:schemeClr val="tx1"/>
                </a:solidFill>
              </a:rPr>
              <a:t>({</a:t>
            </a:r>
            <a:r>
              <a:rPr lang="en-US" dirty="0" err="1">
                <a:solidFill>
                  <a:schemeClr val="tx1"/>
                </a:solidFill>
              </a:rPr>
              <a:t>FirstName</a:t>
            </a:r>
            <a:r>
              <a:rPr lang="en-US" dirty="0">
                <a:solidFill>
                  <a:schemeClr val="tx1"/>
                </a:solidFill>
              </a:rPr>
              <a:t>: 1})</a:t>
            </a:r>
          </a:p>
        </p:txBody>
      </p:sp>
      <p:sp>
        <p:nvSpPr>
          <p:cNvPr id="11" name="Rounded Rectangle 18">
            <a:extLst>
              <a:ext uri="{FF2B5EF4-FFF2-40B4-BE49-F238E27FC236}">
                <a16:creationId xmlns:a16="http://schemas.microsoft.com/office/drawing/2014/main" id="{2FC9CA03-C3BD-3B0E-B995-9826EAB242B7}"/>
              </a:ext>
            </a:extLst>
          </p:cNvPr>
          <p:cNvSpPr/>
          <p:nvPr/>
        </p:nvSpPr>
        <p:spPr>
          <a:xfrm>
            <a:off x="521013" y="4347526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948097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Cursor</a:t>
            </a:r>
            <a:endParaRPr lang="en-US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7141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Cursor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In MongoDB, when the find() method is used to find the documents present in the given collection, then this method returned a pointer which will points to the documents of the collection, now this pointer is known as cursor. </a:t>
            </a:r>
          </a:p>
          <a:p>
            <a:r>
              <a:rPr lang="en-US" dirty="0"/>
              <a:t>Or in other words we can say that a cursor is a pointer, and using this pointer we can access the document. </a:t>
            </a:r>
          </a:p>
          <a:p>
            <a:r>
              <a:rPr lang="en-US" dirty="0"/>
              <a:t>By default, cursor iterate automatically, but you can iterate a cursor manually.</a:t>
            </a:r>
          </a:p>
          <a:p>
            <a:r>
              <a:rPr lang="en-US" dirty="0"/>
              <a:t>The following example gets the cursor object and assign it to a variable.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display the content of a cursor.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65228B91-C0E8-AD02-44C4-3128242B0239}"/>
              </a:ext>
            </a:extLst>
          </p:cNvPr>
          <p:cNvSpPr/>
          <p:nvPr/>
        </p:nvSpPr>
        <p:spPr>
          <a:xfrm>
            <a:off x="521013" y="4035496"/>
            <a:ext cx="4572000" cy="396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var </a:t>
            </a:r>
            <a:r>
              <a:rPr lang="en-US" dirty="0" err="1">
                <a:solidFill>
                  <a:schemeClr val="tx1"/>
                </a:solidFill>
              </a:rPr>
              <a:t>cursor_name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chemeClr val="tx1"/>
                </a:solidFill>
              </a:rPr>
              <a:t>db.collection_name.find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63EAA5A0-1BCE-C12C-99DE-F9A294284D70}"/>
              </a:ext>
            </a:extLst>
          </p:cNvPr>
          <p:cNvSpPr/>
          <p:nvPr/>
        </p:nvSpPr>
        <p:spPr>
          <a:xfrm>
            <a:off x="521013" y="3669736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Syntax</a:t>
            </a:r>
          </a:p>
        </p:txBody>
      </p:sp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93E9515C-7E6E-9C22-A0B7-85F64E150069}"/>
              </a:ext>
            </a:extLst>
          </p:cNvPr>
          <p:cNvSpPr/>
          <p:nvPr/>
        </p:nvSpPr>
        <p:spPr>
          <a:xfrm>
            <a:off x="6396684" y="4035496"/>
            <a:ext cx="4754880" cy="396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var emp = </a:t>
            </a:r>
            <a:r>
              <a:rPr lang="en-US" dirty="0" err="1">
                <a:solidFill>
                  <a:schemeClr val="tx1"/>
                </a:solidFill>
              </a:rPr>
              <a:t>db.employees.find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7" name="Rounded Rectangle 18">
            <a:extLst>
              <a:ext uri="{FF2B5EF4-FFF2-40B4-BE49-F238E27FC236}">
                <a16:creationId xmlns:a16="http://schemas.microsoft.com/office/drawing/2014/main" id="{8D5879CB-23EA-5141-CD93-E67CC7E046F9}"/>
              </a:ext>
            </a:extLst>
          </p:cNvPr>
          <p:cNvSpPr/>
          <p:nvPr/>
        </p:nvSpPr>
        <p:spPr>
          <a:xfrm>
            <a:off x="6396684" y="3669736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B313F7A7-D8CA-4616-B047-90033FC9E803}"/>
              </a:ext>
            </a:extLst>
          </p:cNvPr>
          <p:cNvSpPr/>
          <p:nvPr/>
        </p:nvSpPr>
        <p:spPr>
          <a:xfrm>
            <a:off x="521013" y="5440364"/>
            <a:ext cx="4572000" cy="396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 err="1">
                <a:solidFill>
                  <a:schemeClr val="tx1"/>
                </a:solidFill>
              </a:rPr>
              <a:t>cursor_name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ounded Rectangle 18">
            <a:extLst>
              <a:ext uri="{FF2B5EF4-FFF2-40B4-BE49-F238E27FC236}">
                <a16:creationId xmlns:a16="http://schemas.microsoft.com/office/drawing/2014/main" id="{04E98CAB-E91D-59ED-265D-8103BA8582EF}"/>
              </a:ext>
            </a:extLst>
          </p:cNvPr>
          <p:cNvSpPr/>
          <p:nvPr/>
        </p:nvSpPr>
        <p:spPr>
          <a:xfrm>
            <a:off x="521013" y="5074604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Syntax</a:t>
            </a:r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0C330137-9889-D8EC-7A47-EE47E96F554F}"/>
              </a:ext>
            </a:extLst>
          </p:cNvPr>
          <p:cNvSpPr/>
          <p:nvPr/>
        </p:nvSpPr>
        <p:spPr>
          <a:xfrm>
            <a:off x="6396684" y="5440364"/>
            <a:ext cx="4754880" cy="396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emp</a:t>
            </a:r>
          </a:p>
        </p:txBody>
      </p:sp>
      <p:sp>
        <p:nvSpPr>
          <p:cNvPr id="11" name="Rounded Rectangle 18">
            <a:extLst>
              <a:ext uri="{FF2B5EF4-FFF2-40B4-BE49-F238E27FC236}">
                <a16:creationId xmlns:a16="http://schemas.microsoft.com/office/drawing/2014/main" id="{C15EB4F2-A8C1-BA37-86C2-8EFE38644E06}"/>
              </a:ext>
            </a:extLst>
          </p:cNvPr>
          <p:cNvSpPr/>
          <p:nvPr/>
        </p:nvSpPr>
        <p:spPr>
          <a:xfrm>
            <a:off x="6396684" y="5074604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818353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Cursor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 err="1"/>
              <a:t>cursor.next</a:t>
            </a:r>
            <a:r>
              <a:rPr lang="en-US" dirty="0"/>
              <a:t>()	 returns the next document from the result set.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cursor.forEach</a:t>
            </a:r>
            <a:r>
              <a:rPr lang="en-US" dirty="0"/>
              <a:t>() iterates the cursor to apply a JavaScript function to each document from the cursor.</a:t>
            </a:r>
          </a:p>
          <a:p>
            <a:endParaRPr lang="en-US" dirty="0"/>
          </a:p>
        </p:txBody>
      </p:sp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93E9515C-7E6E-9C22-A0B7-85F64E150069}"/>
              </a:ext>
            </a:extLst>
          </p:cNvPr>
          <p:cNvSpPr/>
          <p:nvPr/>
        </p:nvSpPr>
        <p:spPr>
          <a:xfrm>
            <a:off x="480793" y="1749496"/>
            <a:ext cx="4754880" cy="396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 err="1">
                <a:solidFill>
                  <a:schemeClr val="tx1"/>
                </a:solidFill>
              </a:rPr>
              <a:t>emp.next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7" name="Rounded Rectangle 18">
            <a:extLst>
              <a:ext uri="{FF2B5EF4-FFF2-40B4-BE49-F238E27FC236}">
                <a16:creationId xmlns:a16="http://schemas.microsoft.com/office/drawing/2014/main" id="{8D5879CB-23EA-5141-CD93-E67CC7E046F9}"/>
              </a:ext>
            </a:extLst>
          </p:cNvPr>
          <p:cNvSpPr/>
          <p:nvPr/>
        </p:nvSpPr>
        <p:spPr>
          <a:xfrm>
            <a:off x="480793" y="1383736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0C330137-9889-D8EC-7A47-EE47E96F554F}"/>
              </a:ext>
            </a:extLst>
          </p:cNvPr>
          <p:cNvSpPr/>
          <p:nvPr/>
        </p:nvSpPr>
        <p:spPr>
          <a:xfrm>
            <a:off x="480793" y="3397308"/>
            <a:ext cx="4754880" cy="396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emp.(</a:t>
            </a:r>
            <a:r>
              <a:rPr lang="en-US" dirty="0" err="1">
                <a:solidFill>
                  <a:schemeClr val="tx1"/>
                </a:solidFill>
              </a:rPr>
              <a:t>forEach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printjson</a:t>
            </a:r>
            <a:r>
              <a:rPr lang="en-US" dirty="0">
                <a:solidFill>
                  <a:schemeClr val="tx1"/>
                </a:solidFill>
              </a:rPr>
              <a:t>))</a:t>
            </a:r>
          </a:p>
        </p:txBody>
      </p:sp>
      <p:sp>
        <p:nvSpPr>
          <p:cNvPr id="11" name="Rounded Rectangle 18">
            <a:extLst>
              <a:ext uri="{FF2B5EF4-FFF2-40B4-BE49-F238E27FC236}">
                <a16:creationId xmlns:a16="http://schemas.microsoft.com/office/drawing/2014/main" id="{C15EB4F2-A8C1-BA37-86C2-8EFE38644E06}"/>
              </a:ext>
            </a:extLst>
          </p:cNvPr>
          <p:cNvSpPr/>
          <p:nvPr/>
        </p:nvSpPr>
        <p:spPr>
          <a:xfrm>
            <a:off x="480793" y="3031548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606711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Schema Validation</a:t>
            </a:r>
            <a:endParaRPr lang="en-US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0128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Schema Validation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validation]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8444784" cy="5723094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C81A396-36A6-1596-E90C-3AB542D60C3A}"/>
              </a:ext>
            </a:extLst>
          </p:cNvPr>
          <p:cNvSpPr/>
          <p:nvPr/>
        </p:nvSpPr>
        <p:spPr>
          <a:xfrm>
            <a:off x="8314631" y="1354643"/>
            <a:ext cx="3808094" cy="2413793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db.createCollection</a:t>
            </a:r>
            <a:r>
              <a:rPr lang="en-US" dirty="0">
                <a:solidFill>
                  <a:schemeClr val="tx1"/>
                </a:solidFill>
              </a:rPr>
              <a:t>(</a:t>
            </a:r>
          </a:p>
          <a:p>
            <a:r>
              <a:rPr lang="en-US" dirty="0">
                <a:solidFill>
                  <a:schemeClr val="tx1"/>
                </a:solidFill>
              </a:rPr>
              <a:t>    "</a:t>
            </a:r>
            <a:r>
              <a:rPr lang="en-US" dirty="0" err="1">
                <a:solidFill>
                  <a:schemeClr val="tx1"/>
                </a:solidFill>
              </a:rPr>
              <a:t>collection_name</a:t>
            </a:r>
            <a:r>
              <a:rPr lang="en-US" dirty="0">
                <a:solidFill>
                  <a:schemeClr val="tx1"/>
                </a:solidFill>
              </a:rPr>
              <a:t>", {</a:t>
            </a:r>
          </a:p>
          <a:p>
            <a:r>
              <a:rPr lang="en-US" dirty="0">
                <a:solidFill>
                  <a:schemeClr val="tx1"/>
                </a:solidFill>
              </a:rPr>
              <a:t>      validator: {</a:t>
            </a:r>
          </a:p>
          <a:p>
            <a:r>
              <a:rPr lang="en-US" dirty="0">
                <a:solidFill>
                  <a:schemeClr val="tx1"/>
                </a:solidFill>
              </a:rPr>
              <a:t>       	$</a:t>
            </a:r>
            <a:r>
              <a:rPr lang="en-US" dirty="0" err="1">
                <a:solidFill>
                  <a:schemeClr val="tx1"/>
                </a:solidFill>
              </a:rPr>
              <a:t>jsonSchema</a:t>
            </a:r>
            <a:r>
              <a:rPr lang="en-US" dirty="0">
                <a:solidFill>
                  <a:schemeClr val="tx1"/>
                </a:solidFill>
              </a:rPr>
              <a:t>: </a:t>
            </a: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bsonType</a:t>
            </a:r>
            <a:r>
              <a:rPr lang="en-US" dirty="0">
                <a:solidFill>
                  <a:schemeClr val="tx1"/>
                </a:solidFill>
              </a:rPr>
              <a:t>: datatype,</a:t>
            </a:r>
          </a:p>
          <a:p>
            <a:r>
              <a:rPr lang="en-US" dirty="0">
                <a:solidFill>
                  <a:schemeClr val="tx1"/>
                </a:solidFill>
              </a:rPr>
              <a:t>	required: [mandatory fields],</a:t>
            </a:r>
          </a:p>
          <a:p>
            <a:r>
              <a:rPr lang="en-US" dirty="0">
                <a:solidFill>
                  <a:schemeClr val="tx1"/>
                </a:solidFill>
              </a:rPr>
              <a:t>	properties: {Validation rules} </a:t>
            </a:r>
          </a:p>
          <a:p>
            <a:r>
              <a:rPr lang="en-US" dirty="0">
                <a:solidFill>
                  <a:schemeClr val="tx1"/>
                </a:solidFill>
              </a:rPr>
              <a:t>}})</a:t>
            </a: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94F70BFB-6932-9277-7321-D82B9ED7BA35}"/>
              </a:ext>
            </a:extLst>
          </p:cNvPr>
          <p:cNvSpPr/>
          <p:nvPr/>
        </p:nvSpPr>
        <p:spPr>
          <a:xfrm>
            <a:off x="8314631" y="988884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Syntax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AC86EE-E0E3-EF25-ED87-F50A41CDEDFB}"/>
              </a:ext>
            </a:extLst>
          </p:cNvPr>
          <p:cNvSpPr txBox="1"/>
          <p:nvPr/>
        </p:nvSpPr>
        <p:spPr>
          <a:xfrm>
            <a:off x="131180" y="988884"/>
            <a:ext cx="8126129" cy="5491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US" sz="2400" dirty="0"/>
              <a:t>Components of the Validator</a:t>
            </a:r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$</a:t>
            </a:r>
            <a:r>
              <a:rPr lang="en-US" sz="2400" dirty="0" err="1"/>
              <a:t>jsonSchema</a:t>
            </a:r>
            <a:endParaRPr lang="en-US" sz="2400" dirty="0"/>
          </a:p>
          <a:p>
            <a:pPr marL="1257300" lvl="2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Defines the validation rules using a JSON schema.</a:t>
            </a:r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 dirty="0" err="1"/>
              <a:t>bsonType</a:t>
            </a:r>
            <a:endParaRPr lang="en-US" sz="2400" dirty="0"/>
          </a:p>
          <a:p>
            <a:pPr marL="1257300" lvl="2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Specifies the data type of the field. Common types: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</a:pPr>
            <a:r>
              <a:rPr lang="en-US" sz="2400" dirty="0"/>
              <a:t>		string, int, double, bool, date, array, object</a:t>
            </a:r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required</a:t>
            </a:r>
          </a:p>
          <a:p>
            <a:pPr marL="1257300" lvl="2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Defines mandatory fields.</a:t>
            </a:r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properties</a:t>
            </a:r>
          </a:p>
          <a:p>
            <a:pPr marL="1257300" lvl="2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Lists validation rules for each field.</a:t>
            </a:r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minimum / maximum</a:t>
            </a:r>
          </a:p>
          <a:p>
            <a:pPr marL="1257300" lvl="2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Sets constraints on numeric values.</a:t>
            </a:r>
          </a:p>
        </p:txBody>
      </p:sp>
    </p:spTree>
    <p:extLst>
      <p:ext uri="{BB962C8B-B14F-4D97-AF65-F5344CB8AC3E}">
        <p14:creationId xmlns:p14="http://schemas.microsoft.com/office/powerpoint/2010/main" val="2657469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1D065-5D59-CDE4-A735-48F6DE152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620FA-02A8-3255-497A-3176E0FAC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Schema Validation                                         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[RDBMS: validation]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AB67C-B44D-48BA-21EF-6FEE6FDA5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8444784" cy="5723094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F6E2B92-4956-41B6-32BC-A89FE13D3E94}"/>
              </a:ext>
            </a:extLst>
          </p:cNvPr>
          <p:cNvSpPr/>
          <p:nvPr/>
        </p:nvSpPr>
        <p:spPr>
          <a:xfrm>
            <a:off x="8314631" y="1354642"/>
            <a:ext cx="3808094" cy="3456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600"/>
              </a:lnSpc>
            </a:pPr>
            <a:r>
              <a:rPr lang="en-US" dirty="0" err="1">
                <a:solidFill>
                  <a:schemeClr val="tx1"/>
                </a:solidFill>
              </a:rPr>
              <a:t>db.createCollection</a:t>
            </a:r>
            <a:r>
              <a:rPr lang="en-US" dirty="0">
                <a:solidFill>
                  <a:schemeClr val="tx1"/>
                </a:solidFill>
              </a:rPr>
              <a:t>("emp", {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validator: {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$</a:t>
            </a:r>
            <a:r>
              <a:rPr lang="en-US" dirty="0" err="1">
                <a:solidFill>
                  <a:schemeClr val="tx1"/>
                </a:solidFill>
              </a:rPr>
              <a:t>jsonSchema</a:t>
            </a:r>
            <a:r>
              <a:rPr lang="en-US" dirty="0">
                <a:solidFill>
                  <a:schemeClr val="tx1"/>
                </a:solidFill>
              </a:rPr>
              <a:t>: {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  </a:t>
            </a:r>
            <a:r>
              <a:rPr lang="en-US" dirty="0" err="1">
                <a:solidFill>
                  <a:schemeClr val="tx1"/>
                </a:solidFill>
              </a:rPr>
              <a:t>bsonType</a:t>
            </a:r>
            <a:r>
              <a:rPr lang="en-US" dirty="0">
                <a:solidFill>
                  <a:schemeClr val="tx1"/>
                </a:solidFill>
              </a:rPr>
              <a:t>: "object",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  required: [ "</a:t>
            </a:r>
            <a:r>
              <a:rPr lang="en-US" dirty="0" err="1">
                <a:solidFill>
                  <a:schemeClr val="tx1"/>
                </a:solidFill>
              </a:rPr>
              <a:t>eid</a:t>
            </a:r>
            <a:r>
              <a:rPr lang="en-US" dirty="0">
                <a:solidFill>
                  <a:schemeClr val="tx1"/>
                </a:solidFill>
              </a:rPr>
              <a:t>", "</a:t>
            </a:r>
            <a:r>
              <a:rPr lang="en-US" dirty="0" err="1">
                <a:solidFill>
                  <a:schemeClr val="tx1"/>
                </a:solidFill>
              </a:rPr>
              <a:t>ename</a:t>
            </a:r>
            <a:r>
              <a:rPr lang="en-US" dirty="0">
                <a:solidFill>
                  <a:schemeClr val="tx1"/>
                </a:solidFill>
              </a:rPr>
              <a:t>" ],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  properties: {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    </a:t>
            </a:r>
            <a:r>
              <a:rPr lang="en-US" dirty="0" err="1">
                <a:solidFill>
                  <a:schemeClr val="tx1"/>
                </a:solidFill>
              </a:rPr>
              <a:t>eid</a:t>
            </a:r>
            <a:r>
              <a:rPr lang="en-US" dirty="0">
                <a:solidFill>
                  <a:schemeClr val="tx1"/>
                </a:solidFill>
              </a:rPr>
              <a:t>: {</a:t>
            </a:r>
            <a:r>
              <a:rPr lang="en-US" dirty="0" err="1">
                <a:solidFill>
                  <a:schemeClr val="tx1"/>
                </a:solidFill>
              </a:rPr>
              <a:t>bsonType</a:t>
            </a:r>
            <a:r>
              <a:rPr lang="en-US" dirty="0">
                <a:solidFill>
                  <a:schemeClr val="tx1"/>
                </a:solidFill>
              </a:rPr>
              <a:t>: "int"},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    </a:t>
            </a:r>
            <a:r>
              <a:rPr lang="en-US" dirty="0" err="1">
                <a:solidFill>
                  <a:schemeClr val="tx1"/>
                </a:solidFill>
              </a:rPr>
              <a:t>ename</a:t>
            </a:r>
            <a:r>
              <a:rPr lang="en-US" dirty="0">
                <a:solidFill>
                  <a:schemeClr val="tx1"/>
                </a:solidFill>
              </a:rPr>
              <a:t>: {</a:t>
            </a:r>
            <a:r>
              <a:rPr lang="en-US" dirty="0" err="1">
                <a:solidFill>
                  <a:schemeClr val="tx1"/>
                </a:solidFill>
              </a:rPr>
              <a:t>bsonType</a:t>
            </a:r>
            <a:r>
              <a:rPr lang="en-US" dirty="0">
                <a:solidFill>
                  <a:schemeClr val="tx1"/>
                </a:solidFill>
              </a:rPr>
              <a:t>: "string"},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    city: {</a:t>
            </a:r>
            <a:r>
              <a:rPr lang="en-US" dirty="0" err="1">
                <a:solidFill>
                  <a:schemeClr val="tx1"/>
                </a:solidFill>
              </a:rPr>
              <a:t>bsonType</a:t>
            </a:r>
            <a:r>
              <a:rPr lang="en-US" dirty="0">
                <a:solidFill>
                  <a:schemeClr val="tx1"/>
                </a:solidFill>
              </a:rPr>
              <a:t>: "string"}</a:t>
            </a:r>
          </a:p>
          <a:p>
            <a:pPr>
              <a:lnSpc>
                <a:spcPts val="2600"/>
              </a:lnSpc>
            </a:pPr>
            <a:r>
              <a:rPr lang="en-US" dirty="0">
                <a:solidFill>
                  <a:schemeClr val="tx1"/>
                </a:solidFill>
              </a:rPr>
              <a:t>      }}}})</a:t>
            </a: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060EDCA7-B9EE-755C-B098-0939F04A9B34}"/>
              </a:ext>
            </a:extLst>
          </p:cNvPr>
          <p:cNvSpPr/>
          <p:nvPr/>
        </p:nvSpPr>
        <p:spPr>
          <a:xfrm>
            <a:off x="8314631" y="988884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E3CB35-3CA5-EDD2-2CC9-EADB4A5FFFCD}"/>
              </a:ext>
            </a:extLst>
          </p:cNvPr>
          <p:cNvSpPr txBox="1"/>
          <p:nvPr/>
        </p:nvSpPr>
        <p:spPr>
          <a:xfrm>
            <a:off x="131180" y="988884"/>
            <a:ext cx="8126129" cy="5491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US" sz="2400" dirty="0"/>
              <a:t>Components of the Validator</a:t>
            </a:r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$</a:t>
            </a:r>
            <a:r>
              <a:rPr lang="en-US" sz="2400" dirty="0" err="1"/>
              <a:t>jsonSchema</a:t>
            </a:r>
            <a:endParaRPr lang="en-US" sz="2400" dirty="0"/>
          </a:p>
          <a:p>
            <a:pPr marL="1257300" lvl="2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Defines the validation rules using a JSON schema.</a:t>
            </a:r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 dirty="0" err="1"/>
              <a:t>bsonType</a:t>
            </a:r>
            <a:endParaRPr lang="en-US" sz="2400" dirty="0"/>
          </a:p>
          <a:p>
            <a:pPr marL="1257300" lvl="2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Specifies the data type of the field. Common types: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</a:pPr>
            <a:r>
              <a:rPr lang="en-US" sz="2400" dirty="0"/>
              <a:t>		string, int, double, bool, date, array, object</a:t>
            </a:r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required</a:t>
            </a:r>
          </a:p>
          <a:p>
            <a:pPr marL="1257300" lvl="2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Defines mandatory fields.</a:t>
            </a:r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properties</a:t>
            </a:r>
          </a:p>
          <a:p>
            <a:pPr marL="1257300" lvl="2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Lists validation rules for each field.</a:t>
            </a:r>
          </a:p>
          <a:p>
            <a:pPr marL="800100" lvl="1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minimum / maximum</a:t>
            </a:r>
          </a:p>
          <a:p>
            <a:pPr marL="1257300" lvl="2" indent="-34290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Sets constraints on numeric values.</a:t>
            </a:r>
          </a:p>
        </p:txBody>
      </p:sp>
    </p:spTree>
    <p:extLst>
      <p:ext uri="{BB962C8B-B14F-4D97-AF65-F5344CB8AC3E}">
        <p14:creationId xmlns:p14="http://schemas.microsoft.com/office/powerpoint/2010/main" val="886739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Embedded or Nested Document</a:t>
            </a:r>
            <a:endParaRPr lang="en-US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639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Embedded or Nested Document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Embedded document or nested documents are those types of documents which contain a document inside another document. </a:t>
            </a:r>
          </a:p>
          <a:p>
            <a:r>
              <a:rPr lang="en-US" dirty="0"/>
              <a:t>Or in other words, when a collection has a document, this document contains another document, another document contains another sub-document, and so on, then such types of documents are known as embedded/nested documents. </a:t>
            </a:r>
          </a:p>
          <a:p>
            <a:r>
              <a:rPr lang="en-US" dirty="0"/>
              <a:t> Notes – </a:t>
            </a:r>
          </a:p>
          <a:p>
            <a:pPr lvl="1"/>
            <a:r>
              <a:rPr lang="en-US" dirty="0"/>
              <a:t>In MongoDB, you can only nest document up to 100 levels.</a:t>
            </a:r>
          </a:p>
          <a:p>
            <a:pPr lvl="1"/>
            <a:r>
              <a:rPr lang="en-US" dirty="0"/>
              <a:t>The overall document size must not exceed 16 MB.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609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Creating Embedded or Nested Document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In MongoDB, we can easily embed a document inside another document. </a:t>
            </a:r>
          </a:p>
          <a:p>
            <a:r>
              <a:rPr lang="en-US" dirty="0"/>
              <a:t>As we know that in the mongo shell, documents are represented using curly braces ( {} ) and inside these curly braces we have field-value pairs. </a:t>
            </a:r>
          </a:p>
          <a:p>
            <a:r>
              <a:rPr lang="en-US" dirty="0"/>
              <a:t>Now inside these fields, we can embed another document using curly braces {} and this document may contain field-value pairs or another sub-document.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Query on Embedded/Nested Documents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63F2B97D-3901-5806-0A6D-C06ADB81CF7F}"/>
              </a:ext>
            </a:extLst>
          </p:cNvPr>
          <p:cNvSpPr/>
          <p:nvPr/>
        </p:nvSpPr>
        <p:spPr>
          <a:xfrm>
            <a:off x="521013" y="3328915"/>
            <a:ext cx="4572000" cy="162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{</a:t>
            </a: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....</a:t>
            </a: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field: {field1: value1, field2: value2}</a:t>
            </a: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....</a:t>
            </a: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6495F0AB-2361-B501-0BC7-B412470A49F4}"/>
              </a:ext>
            </a:extLst>
          </p:cNvPr>
          <p:cNvSpPr/>
          <p:nvPr/>
        </p:nvSpPr>
        <p:spPr>
          <a:xfrm>
            <a:off x="521013" y="2963155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Syntax</a:t>
            </a:r>
          </a:p>
        </p:txBody>
      </p:sp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599A3441-5861-3807-7186-BF43F589A8AA}"/>
              </a:ext>
            </a:extLst>
          </p:cNvPr>
          <p:cNvSpPr/>
          <p:nvPr/>
        </p:nvSpPr>
        <p:spPr>
          <a:xfrm>
            <a:off x="6396684" y="3328915"/>
            <a:ext cx="4754880" cy="162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 err="1">
                <a:solidFill>
                  <a:schemeClr val="tx1"/>
                </a:solidFill>
              </a:rPr>
              <a:t>db.student.insertOne</a:t>
            </a:r>
            <a:r>
              <a:rPr lang="en-US" dirty="0">
                <a:solidFill>
                  <a:schemeClr val="tx1"/>
                </a:solidFill>
              </a:rPr>
              <a:t>({</a:t>
            </a: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Name: {</a:t>
            </a:r>
            <a:r>
              <a:rPr lang="en-US" dirty="0" err="1">
                <a:solidFill>
                  <a:schemeClr val="tx1"/>
                </a:solidFill>
              </a:rPr>
              <a:t>Fname</a:t>
            </a:r>
            <a:r>
              <a:rPr lang="en-US" dirty="0">
                <a:solidFill>
                  <a:schemeClr val="tx1"/>
                </a:solidFill>
              </a:rPr>
              <a:t>:'Raj’, </a:t>
            </a:r>
            <a:r>
              <a:rPr lang="en-US" dirty="0" err="1">
                <a:solidFill>
                  <a:schemeClr val="tx1"/>
                </a:solidFill>
              </a:rPr>
              <a:t>Lname</a:t>
            </a:r>
            <a:r>
              <a:rPr lang="en-US" dirty="0">
                <a:solidFill>
                  <a:schemeClr val="tx1"/>
                </a:solidFill>
              </a:rPr>
              <a:t>:'Mehta’}, </a:t>
            </a:r>
          </a:p>
          <a:p>
            <a:pPr>
              <a:lnSpc>
                <a:spcPts val="2400"/>
              </a:lnSpc>
            </a:pPr>
            <a:r>
              <a:rPr lang="en-US" dirty="0" err="1">
                <a:solidFill>
                  <a:schemeClr val="tx1"/>
                </a:solidFill>
              </a:rPr>
              <a:t>City:'Rajkot</a:t>
            </a:r>
            <a:r>
              <a:rPr lang="en-US" dirty="0">
                <a:solidFill>
                  <a:schemeClr val="tx1"/>
                </a:solidFill>
              </a:rPr>
              <a:t>'})</a:t>
            </a:r>
          </a:p>
        </p:txBody>
      </p:sp>
      <p:sp>
        <p:nvSpPr>
          <p:cNvPr id="7" name="Rounded Rectangle 18">
            <a:extLst>
              <a:ext uri="{FF2B5EF4-FFF2-40B4-BE49-F238E27FC236}">
                <a16:creationId xmlns:a16="http://schemas.microsoft.com/office/drawing/2014/main" id="{FCF498E4-625F-6470-A0EC-179FF8318D36}"/>
              </a:ext>
            </a:extLst>
          </p:cNvPr>
          <p:cNvSpPr/>
          <p:nvPr/>
        </p:nvSpPr>
        <p:spPr>
          <a:xfrm>
            <a:off x="6396684" y="2963155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FB1A51CD-AE15-2116-DC77-57509C187BA1}"/>
              </a:ext>
            </a:extLst>
          </p:cNvPr>
          <p:cNvSpPr/>
          <p:nvPr/>
        </p:nvSpPr>
        <p:spPr>
          <a:xfrm>
            <a:off x="497501" y="6013862"/>
            <a:ext cx="4754880" cy="432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 err="1">
                <a:solidFill>
                  <a:schemeClr val="tx1"/>
                </a:solidFill>
              </a:rPr>
              <a:t>db.student.find</a:t>
            </a:r>
            <a:r>
              <a:rPr lang="en-US" dirty="0">
                <a:solidFill>
                  <a:schemeClr val="tx1"/>
                </a:solidFill>
              </a:rPr>
              <a:t>({"</a:t>
            </a:r>
            <a:r>
              <a:rPr lang="en-US" dirty="0" err="1">
                <a:solidFill>
                  <a:schemeClr val="tx1"/>
                </a:solidFill>
              </a:rPr>
              <a:t>Name.Fname</a:t>
            </a:r>
            <a:r>
              <a:rPr lang="en-US" dirty="0">
                <a:solidFill>
                  <a:schemeClr val="tx1"/>
                </a:solidFill>
              </a:rPr>
              <a:t>": ‘Raj'})</a:t>
            </a:r>
          </a:p>
        </p:txBody>
      </p:sp>
      <p:sp>
        <p:nvSpPr>
          <p:cNvPr id="9" name="Rounded Rectangle 18">
            <a:extLst>
              <a:ext uri="{FF2B5EF4-FFF2-40B4-BE49-F238E27FC236}">
                <a16:creationId xmlns:a16="http://schemas.microsoft.com/office/drawing/2014/main" id="{5D654679-5D9C-271D-06C7-282686437330}"/>
              </a:ext>
            </a:extLst>
          </p:cNvPr>
          <p:cNvSpPr/>
          <p:nvPr/>
        </p:nvSpPr>
        <p:spPr>
          <a:xfrm>
            <a:off x="497501" y="5648102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96298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Create user &amp; add role in MongoDB</a:t>
            </a:r>
            <a:endParaRPr lang="en-US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7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257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user &amp; add role in MongoDB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In MongoDB, we are allowed to create new users for the database. </a:t>
            </a:r>
          </a:p>
          <a:p>
            <a:r>
              <a:rPr lang="en-US" dirty="0"/>
              <a:t>Every MongoDB user only accesses the data that is required for their role. </a:t>
            </a:r>
          </a:p>
          <a:p>
            <a:r>
              <a:rPr lang="en-US" dirty="0"/>
              <a:t>A role in MongoDB grants privileges to perform some set of operations on a given resource. </a:t>
            </a:r>
          </a:p>
          <a:p>
            <a:r>
              <a:rPr lang="en-US" dirty="0"/>
              <a:t>In MongoDB, users are created using </a:t>
            </a:r>
            <a:r>
              <a:rPr lang="en-US" dirty="0" err="1"/>
              <a:t>createUser</a:t>
            </a:r>
            <a:r>
              <a:rPr lang="en-US" dirty="0"/>
              <a:t>() method. </a:t>
            </a:r>
          </a:p>
          <a:p>
            <a:r>
              <a:rPr lang="en-US" dirty="0"/>
              <a:t>This method creates a new user for the database, if the specified user is already present in the database then this method will return an error.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88077CA8-AEE1-2570-E714-756A3ACF2456}"/>
              </a:ext>
            </a:extLst>
          </p:cNvPr>
          <p:cNvSpPr/>
          <p:nvPr/>
        </p:nvSpPr>
        <p:spPr>
          <a:xfrm>
            <a:off x="521013" y="3841541"/>
            <a:ext cx="4572000" cy="216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 err="1">
                <a:solidFill>
                  <a:schemeClr val="tx1"/>
                </a:solidFill>
              </a:rPr>
              <a:t>db.createUser</a:t>
            </a:r>
            <a:r>
              <a:rPr lang="en-US" dirty="0">
                <a:solidFill>
                  <a:schemeClr val="tx1"/>
                </a:solidFill>
              </a:rPr>
              <a:t>(</a:t>
            </a: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{	user: “username",</a:t>
            </a: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pwd</a:t>
            </a:r>
            <a:r>
              <a:rPr lang="en-US" dirty="0">
                <a:solidFill>
                  <a:schemeClr val="tx1"/>
                </a:solidFill>
              </a:rPr>
              <a:t>: “password",</a:t>
            </a:r>
          </a:p>
          <a:p>
            <a:pPr>
              <a:lnSpc>
                <a:spcPts val="2400"/>
              </a:lnSpc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	roles:[</a:t>
            </a:r>
          </a:p>
          <a:p>
            <a:pPr lvl="2"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	{role: “roles" , </a:t>
            </a:r>
          </a:p>
          <a:p>
            <a:pPr lvl="2"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db</a:t>
            </a:r>
            <a:r>
              <a:rPr lang="en-US" dirty="0">
                <a:solidFill>
                  <a:schemeClr val="tx1"/>
                </a:solidFill>
              </a:rPr>
              <a:t>:“database"}]})</a:t>
            </a: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0E55286B-BA57-CC50-A285-C967714AF28A}"/>
              </a:ext>
            </a:extLst>
          </p:cNvPr>
          <p:cNvSpPr/>
          <p:nvPr/>
        </p:nvSpPr>
        <p:spPr>
          <a:xfrm>
            <a:off x="521013" y="3475781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Syntax</a:t>
            </a:r>
          </a:p>
        </p:txBody>
      </p:sp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BA500F4D-E530-1163-C396-1C5FF16BF5CD}"/>
              </a:ext>
            </a:extLst>
          </p:cNvPr>
          <p:cNvSpPr/>
          <p:nvPr/>
        </p:nvSpPr>
        <p:spPr>
          <a:xfrm>
            <a:off x="6188866" y="3841541"/>
            <a:ext cx="4754880" cy="216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 err="1">
                <a:solidFill>
                  <a:schemeClr val="tx1"/>
                </a:solidFill>
              </a:rPr>
              <a:t>db.createUser</a:t>
            </a:r>
            <a:r>
              <a:rPr lang="en-US" dirty="0">
                <a:solidFill>
                  <a:schemeClr val="tx1"/>
                </a:solidFill>
              </a:rPr>
              <a:t>(</a:t>
            </a: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{	user: "firoz",</a:t>
            </a: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pwd</a:t>
            </a:r>
            <a:r>
              <a:rPr lang="en-US" dirty="0">
                <a:solidFill>
                  <a:schemeClr val="tx1"/>
                </a:solidFill>
              </a:rPr>
              <a:t>: "baba",</a:t>
            </a:r>
          </a:p>
          <a:p>
            <a:pPr>
              <a:lnSpc>
                <a:spcPts val="2400"/>
              </a:lnSpc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	roles:[</a:t>
            </a:r>
          </a:p>
          <a:p>
            <a:pPr lvl="2"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	{role: "read" , </a:t>
            </a:r>
          </a:p>
          <a:p>
            <a:pPr lvl="2"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db</a:t>
            </a:r>
            <a:r>
              <a:rPr lang="en-US" dirty="0">
                <a:solidFill>
                  <a:schemeClr val="tx1"/>
                </a:solidFill>
              </a:rPr>
              <a:t>:"test"}]})</a:t>
            </a:r>
          </a:p>
        </p:txBody>
      </p:sp>
      <p:sp>
        <p:nvSpPr>
          <p:cNvPr id="7" name="Rounded Rectangle 18">
            <a:extLst>
              <a:ext uri="{FF2B5EF4-FFF2-40B4-BE49-F238E27FC236}">
                <a16:creationId xmlns:a16="http://schemas.microsoft.com/office/drawing/2014/main" id="{884909F6-F096-181E-A56D-44678C4CD2DD}"/>
              </a:ext>
            </a:extLst>
          </p:cNvPr>
          <p:cNvSpPr/>
          <p:nvPr/>
        </p:nvSpPr>
        <p:spPr>
          <a:xfrm>
            <a:off x="6188866" y="3475781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40693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the user &amp; drop/delete user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To list all users, use </a:t>
            </a:r>
            <a:r>
              <a:rPr lang="en-US" dirty="0" err="1"/>
              <a:t>mongosh</a:t>
            </a:r>
            <a:r>
              <a:rPr lang="en-US" dirty="0"/>
              <a:t> to query the </a:t>
            </a:r>
            <a:r>
              <a:rPr lang="en-US" dirty="0" err="1"/>
              <a:t>system.users</a:t>
            </a:r>
            <a:r>
              <a:rPr lang="en-US" dirty="0"/>
              <a:t> collection.</a:t>
            </a:r>
          </a:p>
          <a:p>
            <a:endParaRPr lang="en-US" dirty="0">
              <a:solidFill>
                <a:schemeClr val="accent6"/>
              </a:solidFill>
            </a:endParaRPr>
          </a:p>
          <a:p>
            <a:endParaRPr lang="en-US" dirty="0">
              <a:solidFill>
                <a:schemeClr val="accent6"/>
              </a:solidFill>
            </a:endParaRPr>
          </a:p>
          <a:p>
            <a:endParaRPr lang="en-US" dirty="0">
              <a:solidFill>
                <a:schemeClr val="accent6"/>
              </a:solidFill>
            </a:endParaRPr>
          </a:p>
          <a:p>
            <a:r>
              <a:rPr lang="en-US" dirty="0"/>
              <a:t>To remove a user from a MongoDB database use </a:t>
            </a:r>
            <a:r>
              <a:rPr lang="en-US" dirty="0" err="1"/>
              <a:t>dropUser</a:t>
            </a:r>
            <a:r>
              <a:rPr lang="en-US" dirty="0"/>
              <a:t> method.</a:t>
            </a: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88077CA8-AEE1-2570-E714-756A3ACF2456}"/>
              </a:ext>
            </a:extLst>
          </p:cNvPr>
          <p:cNvSpPr/>
          <p:nvPr/>
        </p:nvSpPr>
        <p:spPr>
          <a:xfrm>
            <a:off x="521013" y="1735643"/>
            <a:ext cx="2556000" cy="72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use admin</a:t>
            </a:r>
          </a:p>
          <a:p>
            <a:pPr>
              <a:lnSpc>
                <a:spcPts val="2400"/>
              </a:lnSpc>
            </a:pPr>
            <a:r>
              <a:rPr lang="en-US" dirty="0" err="1">
                <a:solidFill>
                  <a:schemeClr val="tx1"/>
                </a:solidFill>
              </a:rPr>
              <a:t>db.system.users.find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0E55286B-BA57-CC50-A285-C967714AF28A}"/>
              </a:ext>
            </a:extLst>
          </p:cNvPr>
          <p:cNvSpPr/>
          <p:nvPr/>
        </p:nvSpPr>
        <p:spPr>
          <a:xfrm>
            <a:off x="521013" y="1369883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Syntax</a:t>
            </a:r>
          </a:p>
        </p:txBody>
      </p:sp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BA500F4D-E530-1163-C396-1C5FF16BF5CD}"/>
              </a:ext>
            </a:extLst>
          </p:cNvPr>
          <p:cNvSpPr/>
          <p:nvPr/>
        </p:nvSpPr>
        <p:spPr>
          <a:xfrm>
            <a:off x="521013" y="3551946"/>
            <a:ext cx="4754880" cy="72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 err="1">
                <a:solidFill>
                  <a:schemeClr val="tx1"/>
                </a:solidFill>
              </a:rPr>
              <a:t>db.dropUser</a:t>
            </a:r>
            <a:r>
              <a:rPr lang="en-US" dirty="0">
                <a:solidFill>
                  <a:schemeClr val="tx1"/>
                </a:solidFill>
              </a:rPr>
              <a:t>(“username”)</a:t>
            </a:r>
          </a:p>
        </p:txBody>
      </p:sp>
      <p:sp>
        <p:nvSpPr>
          <p:cNvPr id="7" name="Rounded Rectangle 18">
            <a:extLst>
              <a:ext uri="{FF2B5EF4-FFF2-40B4-BE49-F238E27FC236}">
                <a16:creationId xmlns:a16="http://schemas.microsoft.com/office/drawing/2014/main" id="{884909F6-F096-181E-A56D-44678C4CD2DD}"/>
              </a:ext>
            </a:extLst>
          </p:cNvPr>
          <p:cNvSpPr/>
          <p:nvPr/>
        </p:nvSpPr>
        <p:spPr>
          <a:xfrm>
            <a:off x="521013" y="3186186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B7F0C637-5095-5ED2-4B82-B6DBB3CF42A6}"/>
              </a:ext>
            </a:extLst>
          </p:cNvPr>
          <p:cNvSpPr/>
          <p:nvPr/>
        </p:nvSpPr>
        <p:spPr>
          <a:xfrm>
            <a:off x="4040068" y="1735643"/>
            <a:ext cx="4572000" cy="72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show users</a:t>
            </a:r>
          </a:p>
        </p:txBody>
      </p:sp>
      <p:sp>
        <p:nvSpPr>
          <p:cNvPr id="9" name="Rounded Rectangle 18">
            <a:extLst>
              <a:ext uri="{FF2B5EF4-FFF2-40B4-BE49-F238E27FC236}">
                <a16:creationId xmlns:a16="http://schemas.microsoft.com/office/drawing/2014/main" id="{C7DF7A3A-F651-F2F6-6FEC-AB0384E0337B}"/>
              </a:ext>
            </a:extLst>
          </p:cNvPr>
          <p:cNvSpPr/>
          <p:nvPr/>
        </p:nvSpPr>
        <p:spPr>
          <a:xfrm>
            <a:off x="4040068" y="1369883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Syntax</a:t>
            </a:r>
          </a:p>
        </p:txBody>
      </p:sp>
    </p:spTree>
    <p:extLst>
      <p:ext uri="{BB962C8B-B14F-4D97-AF65-F5344CB8AC3E}">
        <p14:creationId xmlns:p14="http://schemas.microsoft.com/office/powerpoint/2010/main" val="1581156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Backup and Recovery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8 </a:t>
            </a:r>
          </a:p>
        </p:txBody>
      </p:sp>
    </p:spTree>
    <p:extLst>
      <p:ext uri="{BB962C8B-B14F-4D97-AF65-F5344CB8AC3E}">
        <p14:creationId xmlns:p14="http://schemas.microsoft.com/office/powerpoint/2010/main" val="24694009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Backup and Recovery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Download MongoDB Command Line Database Tools. The </a:t>
            </a:r>
            <a:r>
              <a:rPr lang="en-US" dirty="0" err="1"/>
              <a:t>mongodump</a:t>
            </a:r>
            <a:r>
              <a:rPr lang="en-US" dirty="0"/>
              <a:t> tool is part of the MongoDB Database Tools package.</a:t>
            </a:r>
          </a:p>
          <a:p>
            <a:r>
              <a:rPr lang="en-US" dirty="0"/>
              <a:t>In MongoDB, </a:t>
            </a:r>
            <a:r>
              <a:rPr lang="en-US" dirty="0" err="1"/>
              <a:t>mongodump</a:t>
            </a:r>
            <a:r>
              <a:rPr lang="en-US" dirty="0"/>
              <a:t> tool is used to take the data backup. </a:t>
            </a:r>
          </a:p>
          <a:p>
            <a:r>
              <a:rPr lang="en-US" dirty="0"/>
              <a:t>It simply dumps all the data stored into a dump directory of MongoDB. </a:t>
            </a:r>
          </a:p>
          <a:p>
            <a:r>
              <a:rPr lang="en-US" dirty="0"/>
              <a:t>Backed-up data is in BSON format also known as BSON data dumps. </a:t>
            </a:r>
          </a:p>
          <a:p>
            <a:r>
              <a:rPr lang="en-US" dirty="0"/>
              <a:t>By default, the backup is stored in </a:t>
            </a:r>
            <a:r>
              <a:rPr lang="en-US" dirty="0" err="1"/>
              <a:t>mongodb’s</a:t>
            </a:r>
            <a:r>
              <a:rPr lang="en-US" dirty="0"/>
              <a:t> bin\dump folder to specify a different output directory we can use the –out option. </a:t>
            </a:r>
          </a:p>
          <a:p>
            <a:r>
              <a:rPr lang="en-US" dirty="0" err="1"/>
              <a:t>Mongodump</a:t>
            </a:r>
            <a:r>
              <a:rPr lang="en-US" dirty="0"/>
              <a:t> is used in two ways with or without argument.</a:t>
            </a:r>
          </a:p>
          <a:p>
            <a:r>
              <a:rPr lang="en-US" dirty="0"/>
              <a:t>Without argument syntax is </a:t>
            </a:r>
            <a:r>
              <a:rPr lang="en-US" dirty="0" err="1">
                <a:solidFill>
                  <a:schemeClr val="accent6"/>
                </a:solidFill>
              </a:rPr>
              <a:t>mongodump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/>
              <a:t>With argument syntax is </a:t>
            </a:r>
            <a:r>
              <a:rPr lang="en-US" dirty="0" err="1">
                <a:solidFill>
                  <a:schemeClr val="accent6"/>
                </a:solidFill>
              </a:rPr>
              <a:t>mongodump</a:t>
            </a:r>
            <a:r>
              <a:rPr lang="en-US" dirty="0">
                <a:solidFill>
                  <a:schemeClr val="accent6"/>
                </a:solidFill>
              </a:rPr>
              <a:t> -d </a:t>
            </a:r>
            <a:r>
              <a:rPr lang="en-US" dirty="0" err="1">
                <a:solidFill>
                  <a:schemeClr val="accent6"/>
                </a:solidFill>
              </a:rPr>
              <a:t>databaseName</a:t>
            </a:r>
            <a:r>
              <a:rPr lang="en-US" dirty="0">
                <a:solidFill>
                  <a:schemeClr val="accent6"/>
                </a:solidFill>
              </a:rPr>
              <a:t> -c </a:t>
            </a:r>
            <a:r>
              <a:rPr lang="en-US" dirty="0" err="1">
                <a:solidFill>
                  <a:schemeClr val="accent6"/>
                </a:solidFill>
              </a:rPr>
              <a:t>collectionName</a:t>
            </a:r>
            <a:r>
              <a:rPr lang="en-US" dirty="0">
                <a:solidFill>
                  <a:schemeClr val="accent6"/>
                </a:solidFill>
              </a:rPr>
              <a:t> --out c:\backup</a:t>
            </a:r>
          </a:p>
        </p:txBody>
      </p:sp>
    </p:spTree>
    <p:extLst>
      <p:ext uri="{BB962C8B-B14F-4D97-AF65-F5344CB8AC3E}">
        <p14:creationId xmlns:p14="http://schemas.microsoft.com/office/powerpoint/2010/main" val="68119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Backup and Recovery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In MongoDB, </a:t>
            </a:r>
            <a:r>
              <a:rPr lang="en-US" dirty="0" err="1"/>
              <a:t>mongorestore</a:t>
            </a:r>
            <a:r>
              <a:rPr lang="en-US" dirty="0"/>
              <a:t> utility is used to restore the backup data. </a:t>
            </a:r>
          </a:p>
          <a:p>
            <a:r>
              <a:rPr lang="en-US" dirty="0"/>
              <a:t>It restores the binary backup created by </a:t>
            </a:r>
            <a:r>
              <a:rPr lang="en-US" dirty="0" err="1"/>
              <a:t>mongodump</a:t>
            </a:r>
            <a:r>
              <a:rPr lang="en-US" dirty="0"/>
              <a:t> utility(i.e., BSON data dumps). </a:t>
            </a:r>
          </a:p>
          <a:p>
            <a:r>
              <a:rPr lang="en-US" dirty="0"/>
              <a:t>It can restore either an entire database backup or a subset of the backup. </a:t>
            </a:r>
          </a:p>
          <a:p>
            <a:r>
              <a:rPr lang="en-US" dirty="0"/>
              <a:t>It also restores the indexes which are created for any collection inside that database. </a:t>
            </a:r>
          </a:p>
          <a:p>
            <a:r>
              <a:rPr lang="en-US" dirty="0"/>
              <a:t>By default, </a:t>
            </a:r>
            <a:r>
              <a:rPr lang="en-US" dirty="0" err="1"/>
              <a:t>mongorestore</a:t>
            </a:r>
            <a:r>
              <a:rPr lang="en-US" dirty="0"/>
              <a:t> looks for a database backup in </a:t>
            </a:r>
            <a:r>
              <a:rPr lang="en-US" dirty="0" err="1"/>
              <a:t>mongodb’s</a:t>
            </a:r>
            <a:r>
              <a:rPr lang="en-US" dirty="0"/>
              <a:t> bin\dump folder which is also the default folder for </a:t>
            </a:r>
            <a:r>
              <a:rPr lang="en-US" dirty="0" err="1"/>
              <a:t>mongodump</a:t>
            </a:r>
            <a:r>
              <a:rPr lang="en-US" dirty="0"/>
              <a:t> command for dumping the backup.</a:t>
            </a:r>
          </a:p>
          <a:p>
            <a:r>
              <a:rPr lang="en-US" dirty="0"/>
              <a:t>To restore all the database syntax is </a:t>
            </a:r>
            <a:r>
              <a:rPr lang="en-US" dirty="0" err="1">
                <a:solidFill>
                  <a:schemeClr val="accent6"/>
                </a:solidFill>
              </a:rPr>
              <a:t>mongorestore</a:t>
            </a:r>
            <a:r>
              <a:rPr lang="en-US" dirty="0">
                <a:solidFill>
                  <a:schemeClr val="accent6"/>
                </a:solidFill>
              </a:rPr>
              <a:t> dump</a:t>
            </a:r>
          </a:p>
          <a:p>
            <a:r>
              <a:rPr lang="en-US" dirty="0"/>
              <a:t>To restore a specific collection syntax is </a:t>
            </a:r>
            <a:r>
              <a:rPr lang="en-US" dirty="0" err="1">
                <a:solidFill>
                  <a:schemeClr val="accent6"/>
                </a:solidFill>
              </a:rPr>
              <a:t>mongorestore</a:t>
            </a:r>
            <a:r>
              <a:rPr lang="en-US" dirty="0">
                <a:solidFill>
                  <a:schemeClr val="accent6"/>
                </a:solidFill>
              </a:rPr>
              <a:t>  -d </a:t>
            </a:r>
            <a:r>
              <a:rPr lang="en-US" dirty="0" err="1">
                <a:solidFill>
                  <a:schemeClr val="accent6"/>
                </a:solidFill>
              </a:rPr>
              <a:t>databaseName</a:t>
            </a:r>
            <a:r>
              <a:rPr lang="en-US" dirty="0">
                <a:solidFill>
                  <a:schemeClr val="accent6"/>
                </a:solidFill>
              </a:rPr>
              <a:t> -c </a:t>
            </a:r>
            <a:r>
              <a:rPr lang="en-US" dirty="0" err="1">
                <a:solidFill>
                  <a:schemeClr val="accent6"/>
                </a:solidFill>
              </a:rPr>
              <a:t>collectionName</a:t>
            </a:r>
            <a:r>
              <a:rPr lang="en-US" dirty="0">
                <a:solidFill>
                  <a:schemeClr val="accent6"/>
                </a:solidFill>
              </a:rPr>
              <a:t> directory\</a:t>
            </a:r>
            <a:r>
              <a:rPr lang="en-US" dirty="0" err="1">
                <a:solidFill>
                  <a:schemeClr val="accent6"/>
                </a:solidFill>
              </a:rPr>
              <a:t>collectionName.bson</a:t>
            </a:r>
            <a:endParaRPr lang="en-US" dirty="0">
              <a:solidFill>
                <a:schemeClr val="accent6"/>
              </a:solidFill>
            </a:endParaRPr>
          </a:p>
          <a:p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996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Time series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- 9</a:t>
            </a:r>
          </a:p>
        </p:txBody>
      </p:sp>
    </p:spTree>
    <p:extLst>
      <p:ext uri="{BB962C8B-B14F-4D97-AF65-F5344CB8AC3E}">
        <p14:creationId xmlns:p14="http://schemas.microsoft.com/office/powerpoint/2010/main" val="41789280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Time series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Time series data are </a:t>
            </a:r>
            <a:r>
              <a:rPr lang="en-US" dirty="0">
                <a:solidFill>
                  <a:schemeClr val="accent6"/>
                </a:solidFill>
              </a:rPr>
              <a:t>measurements taken at time intervals </a:t>
            </a:r>
            <a:r>
              <a:rPr lang="en-US" dirty="0"/>
              <a:t>from one or more sources.</a:t>
            </a:r>
          </a:p>
          <a:p>
            <a:r>
              <a:rPr lang="en-US" dirty="0"/>
              <a:t>Time series data is </a:t>
            </a:r>
            <a:r>
              <a:rPr lang="en-US" dirty="0">
                <a:solidFill>
                  <a:schemeClr val="accent6"/>
                </a:solidFill>
              </a:rPr>
              <a:t>any data that is collected over time</a:t>
            </a:r>
            <a:r>
              <a:rPr lang="en-US" dirty="0"/>
              <a:t> and is uniquely identified by one or more unchanging parameters. The unchanging parameters that identify your time series data is generally your data source's metadata.</a:t>
            </a:r>
          </a:p>
          <a:p>
            <a:r>
              <a:rPr lang="en-US" dirty="0"/>
              <a:t>Time series data is generated everywhere from social media to stock tickers to IoT devices. </a:t>
            </a:r>
          </a:p>
          <a:p>
            <a:r>
              <a:rPr lang="en-US" dirty="0"/>
              <a:t>Analyzing time series data enables organizations to detect, prevent, and predict events ahead of their competition. But where should the ever-increasing volume of time series data be stored? And how can it be analyzed?</a:t>
            </a:r>
          </a:p>
          <a:p>
            <a:r>
              <a:rPr lang="en-US" dirty="0"/>
              <a:t>Time series data is generally composed of these components:</a:t>
            </a:r>
          </a:p>
          <a:p>
            <a:pPr lvl="1"/>
            <a:r>
              <a:rPr lang="en-US" dirty="0"/>
              <a:t>Time when the data point was recorded.</a:t>
            </a:r>
          </a:p>
          <a:p>
            <a:pPr lvl="1"/>
            <a:r>
              <a:rPr lang="en-US" dirty="0"/>
              <a:t>Metadata (sometimes referred to as source), which is a label or tag that uniquely identifies a series and rarely changes.</a:t>
            </a:r>
          </a:p>
          <a:p>
            <a:pPr lvl="1"/>
            <a:r>
              <a:rPr lang="en-US" dirty="0"/>
              <a:t>Measurements (sometimes referred to as metrics or values), which are the data points tracked at increments in time. Generally these are key-value pairs that change over time.</a:t>
            </a:r>
          </a:p>
        </p:txBody>
      </p:sp>
    </p:spTree>
    <p:extLst>
      <p:ext uri="{BB962C8B-B14F-4D97-AF65-F5344CB8AC3E}">
        <p14:creationId xmlns:p14="http://schemas.microsoft.com/office/powerpoint/2010/main" val="2151968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BASE Theorem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- 10</a:t>
            </a:r>
          </a:p>
        </p:txBody>
      </p:sp>
    </p:spTree>
    <p:extLst>
      <p:ext uri="{BB962C8B-B14F-4D97-AF65-F5344CB8AC3E}">
        <p14:creationId xmlns:p14="http://schemas.microsoft.com/office/powerpoint/2010/main" val="17587210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BASE Theorem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BASE stands for </a:t>
            </a:r>
            <a:r>
              <a:rPr lang="en-US" b="1" dirty="0">
                <a:solidFill>
                  <a:schemeClr val="accent6"/>
                </a:solidFill>
              </a:rPr>
              <a:t>B</a:t>
            </a:r>
            <a:r>
              <a:rPr lang="en-US" dirty="0"/>
              <a:t>asically </a:t>
            </a:r>
            <a:r>
              <a:rPr lang="en-US" b="1" dirty="0">
                <a:solidFill>
                  <a:schemeClr val="accent6"/>
                </a:solidFill>
              </a:rPr>
              <a:t>A</a:t>
            </a:r>
            <a:r>
              <a:rPr lang="en-US" dirty="0"/>
              <a:t>vailable, </a:t>
            </a:r>
            <a:r>
              <a:rPr lang="en-US" b="1" dirty="0">
                <a:solidFill>
                  <a:schemeClr val="accent6"/>
                </a:solidFill>
              </a:rPr>
              <a:t>S</a:t>
            </a:r>
            <a:r>
              <a:rPr lang="en-US" dirty="0"/>
              <a:t>oft State, and </a:t>
            </a:r>
            <a:r>
              <a:rPr lang="en-US" b="1" dirty="0">
                <a:solidFill>
                  <a:schemeClr val="accent6"/>
                </a:solidFill>
              </a:rPr>
              <a:t>E</a:t>
            </a:r>
            <a:r>
              <a:rPr lang="en-US" dirty="0"/>
              <a:t>ventual Consistency.</a:t>
            </a:r>
          </a:p>
          <a:p>
            <a:r>
              <a:rPr lang="en-US" dirty="0"/>
              <a:t>Basically Available</a:t>
            </a:r>
          </a:p>
          <a:p>
            <a:pPr lvl="1"/>
            <a:r>
              <a:rPr lang="en-US" dirty="0"/>
              <a:t>This property refers to the fact that the database system should always be available to respond to user requests even in the event of failure.</a:t>
            </a:r>
          </a:p>
          <a:p>
            <a:pPr lvl="1"/>
            <a:r>
              <a:rPr lang="en-US" dirty="0"/>
              <a:t>Rather than enforcing immediate consistency, BASE-modelled NoSQL databases will ensure availability of data by spreading and replicating it across the nodes of the database cluster.</a:t>
            </a:r>
          </a:p>
          <a:p>
            <a:r>
              <a:rPr lang="en-US" dirty="0"/>
              <a:t>Soft State</a:t>
            </a:r>
          </a:p>
          <a:p>
            <a:pPr lvl="1"/>
            <a:r>
              <a:rPr lang="en-US" dirty="0"/>
              <a:t>This property refers to the fact that the state of the database can change over time, even without any explicit user intervention. </a:t>
            </a:r>
          </a:p>
          <a:p>
            <a:pPr lvl="1"/>
            <a:r>
              <a:rPr lang="en-US" dirty="0"/>
              <a:t>This can happen due to the effects of background processes, updates to data, and other factors. </a:t>
            </a:r>
          </a:p>
          <a:p>
            <a:pPr lvl="1"/>
            <a:r>
              <a:rPr lang="en-US" dirty="0"/>
              <a:t>The database should be designed to handle this change gracefully, and ensure that it does not lead to data corruption or loss.</a:t>
            </a:r>
          </a:p>
          <a:p>
            <a:r>
              <a:rPr lang="en-US" dirty="0"/>
              <a:t>Eventual Consistency</a:t>
            </a:r>
          </a:p>
          <a:p>
            <a:pPr lvl="1"/>
            <a:r>
              <a:rPr lang="en-US" dirty="0"/>
              <a:t>The fact that BASE does not obligates immediate consistency but it does not mean that it never achieves it.</a:t>
            </a:r>
          </a:p>
          <a:p>
            <a:pPr lvl="1"/>
            <a:r>
              <a:rPr lang="en-US" dirty="0"/>
              <a:t>The system will eventually become consistent once it stops receiving input.</a:t>
            </a:r>
          </a:p>
        </p:txBody>
      </p:sp>
    </p:spTree>
    <p:extLst>
      <p:ext uri="{BB962C8B-B14F-4D97-AF65-F5344CB8AC3E}">
        <p14:creationId xmlns:p14="http://schemas.microsoft.com/office/powerpoint/2010/main" val="2709525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BASE Theorem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Where BASE Databases can be used?</a:t>
            </a:r>
          </a:p>
          <a:p>
            <a:pPr lvl="1"/>
            <a:r>
              <a:rPr lang="en-US" dirty="0"/>
              <a:t>BASE databases are used in modern, highly-available, and scalable systems that handle large amounts of data. </a:t>
            </a:r>
          </a:p>
          <a:p>
            <a:pPr lvl="1"/>
            <a:r>
              <a:rPr lang="en-US" dirty="0"/>
              <a:t>Examples of such systems include online shopping websites, social media platforms, and cloud-based services.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818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CAP Theorem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- 11</a:t>
            </a:r>
          </a:p>
        </p:txBody>
      </p:sp>
    </p:spTree>
    <p:extLst>
      <p:ext uri="{BB962C8B-B14F-4D97-AF65-F5344CB8AC3E}">
        <p14:creationId xmlns:p14="http://schemas.microsoft.com/office/powerpoint/2010/main" val="29273216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CAP Theorem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186493" cy="5590565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CAP</a:t>
            </a:r>
            <a:r>
              <a:rPr lang="en-US" dirty="0"/>
              <a:t> stands for </a:t>
            </a:r>
            <a:r>
              <a:rPr lang="en-US" dirty="0">
                <a:solidFill>
                  <a:schemeClr val="tx2"/>
                </a:solidFill>
              </a:rPr>
              <a:t>C</a:t>
            </a:r>
            <a:r>
              <a:rPr lang="en-US" dirty="0"/>
              <a:t>onsistency, </a:t>
            </a:r>
            <a:r>
              <a:rPr lang="en-US" dirty="0">
                <a:solidFill>
                  <a:schemeClr val="tx2"/>
                </a:solidFill>
              </a:rPr>
              <a:t>A</a:t>
            </a:r>
            <a:r>
              <a:rPr lang="en-US" dirty="0"/>
              <a:t>vailability and </a:t>
            </a:r>
            <a:r>
              <a:rPr lang="en-US" dirty="0">
                <a:solidFill>
                  <a:schemeClr val="tx2"/>
                </a:solidFill>
              </a:rPr>
              <a:t>P</a:t>
            </a:r>
            <a:r>
              <a:rPr lang="en-US" dirty="0"/>
              <a:t>artition Tolerance.</a:t>
            </a:r>
          </a:p>
          <a:p>
            <a:r>
              <a:rPr lang="en-US" dirty="0">
                <a:solidFill>
                  <a:schemeClr val="tx2"/>
                </a:solidFill>
              </a:rPr>
              <a:t>Consistency</a:t>
            </a:r>
            <a:r>
              <a:rPr lang="en-US" dirty="0"/>
              <a:t> means, when we consider a single time frame, every client should read the same data. </a:t>
            </a:r>
          </a:p>
          <a:p>
            <a:r>
              <a:rPr lang="en-US" dirty="0"/>
              <a:t>To achieve this, when a certain client update data, the updates should be instantly forwarded to all the nodes. </a:t>
            </a:r>
          </a:p>
          <a:p>
            <a:r>
              <a:rPr lang="en-US" dirty="0"/>
              <a:t>Other than that, partially corrupted transactions won’t save. </a:t>
            </a:r>
          </a:p>
          <a:p>
            <a:r>
              <a:rPr lang="en-US" dirty="0"/>
              <a:t>This means, if a client couldn’t complete a transaction successfully, it won’t be saved and will be rolled-back.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87745F-C677-D197-40B4-8C072B687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607" y="711201"/>
            <a:ext cx="5469754" cy="51354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1B6012-ABE1-D1FD-EB1A-4E7CCA9C11B8}"/>
              </a:ext>
            </a:extLst>
          </p:cNvPr>
          <p:cNvSpPr txBox="1"/>
          <p:nvPr/>
        </p:nvSpPr>
        <p:spPr>
          <a:xfrm>
            <a:off x="6430609" y="3611880"/>
            <a:ext cx="2311610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{_id : 1,  Name : "Neha", </a:t>
            </a:r>
          </a:p>
          <a:p>
            <a:r>
              <a:rPr lang="en-US" dirty="0"/>
              <a:t>Dept : “CE”, </a:t>
            </a:r>
          </a:p>
          <a:p>
            <a:r>
              <a:rPr lang="en-US" dirty="0"/>
              <a:t>Salary: 25000}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49FD8299-C0AB-6826-DD32-3C0FA2CF6343}"/>
              </a:ext>
            </a:extLst>
          </p:cNvPr>
          <p:cNvSpPr/>
          <p:nvPr/>
        </p:nvSpPr>
        <p:spPr>
          <a:xfrm>
            <a:off x="6430607" y="3246120"/>
            <a:ext cx="1005840" cy="365760"/>
          </a:xfrm>
          <a:prstGeom prst="roundRect">
            <a:avLst>
              <a:gd name="adj" fmla="val 11459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emp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EA7CF9-783C-8C97-2ED1-CDD1094E0924}"/>
              </a:ext>
            </a:extLst>
          </p:cNvPr>
          <p:cNvSpPr txBox="1"/>
          <p:nvPr/>
        </p:nvSpPr>
        <p:spPr>
          <a:xfrm>
            <a:off x="7267759" y="5802238"/>
            <a:ext cx="3400242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{_id : 1,  Name : "Neha", Dept : “CE”, </a:t>
            </a:r>
          </a:p>
          <a:p>
            <a:r>
              <a:rPr lang="en-US" dirty="0"/>
              <a:t>Salary: 25000}</a:t>
            </a: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75FF93DA-830E-F919-0226-74D5F9015874}"/>
              </a:ext>
            </a:extLst>
          </p:cNvPr>
          <p:cNvSpPr/>
          <p:nvPr/>
        </p:nvSpPr>
        <p:spPr>
          <a:xfrm>
            <a:off x="7267757" y="5436478"/>
            <a:ext cx="1005840" cy="365760"/>
          </a:xfrm>
          <a:prstGeom prst="roundRect">
            <a:avLst>
              <a:gd name="adj" fmla="val 11459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emp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798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CAP Theorem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172638" cy="5590565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CAP</a:t>
            </a:r>
            <a:r>
              <a:rPr lang="en-US" dirty="0"/>
              <a:t> stands for </a:t>
            </a:r>
            <a:r>
              <a:rPr lang="en-US" dirty="0">
                <a:solidFill>
                  <a:schemeClr val="tx2"/>
                </a:solidFill>
              </a:rPr>
              <a:t>C</a:t>
            </a:r>
            <a:r>
              <a:rPr lang="en-US" dirty="0"/>
              <a:t>onsistency, </a:t>
            </a:r>
            <a:r>
              <a:rPr lang="en-US" dirty="0">
                <a:solidFill>
                  <a:schemeClr val="tx2"/>
                </a:solidFill>
              </a:rPr>
              <a:t>A</a:t>
            </a:r>
            <a:r>
              <a:rPr lang="en-US" dirty="0"/>
              <a:t>vailability and </a:t>
            </a:r>
            <a:r>
              <a:rPr lang="en-US" dirty="0">
                <a:solidFill>
                  <a:schemeClr val="tx2"/>
                </a:solidFill>
              </a:rPr>
              <a:t>P</a:t>
            </a:r>
            <a:r>
              <a:rPr lang="en-US" dirty="0"/>
              <a:t>artition Tolerance.</a:t>
            </a:r>
          </a:p>
          <a:p>
            <a:r>
              <a:rPr lang="en-US" dirty="0">
                <a:solidFill>
                  <a:schemeClr val="tx2"/>
                </a:solidFill>
              </a:rPr>
              <a:t>Availability</a:t>
            </a:r>
            <a:r>
              <a:rPr lang="en-US" dirty="0"/>
              <a:t> means the system must remain operational all the time. </a:t>
            </a:r>
          </a:p>
          <a:p>
            <a:r>
              <a:rPr lang="en-US" dirty="0"/>
              <a:t>Even if some nodes are down, the rest of the nodes must respond to the requests in a reasonable amount of time.</a:t>
            </a:r>
          </a:p>
          <a:p>
            <a:r>
              <a:rPr lang="en-US" dirty="0">
                <a:solidFill>
                  <a:schemeClr val="tx2"/>
                </a:solidFill>
              </a:rPr>
              <a:t>Partition tolerance </a:t>
            </a:r>
            <a:r>
              <a:rPr lang="en-US" dirty="0"/>
              <a:t>means, when a part of the network gets compromised and some nodes become unreachable, the whole system must continue its work properly and should take necessary measurements to recover as quickly as possible.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FE6A95-ED7D-A787-DA2A-2899E3FF8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607" y="711201"/>
            <a:ext cx="5469754" cy="51354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0AB2E3-9D58-90C1-5C73-2F0CCF9C0E08}"/>
              </a:ext>
            </a:extLst>
          </p:cNvPr>
          <p:cNvSpPr txBox="1"/>
          <p:nvPr/>
        </p:nvSpPr>
        <p:spPr>
          <a:xfrm>
            <a:off x="6430609" y="3611880"/>
            <a:ext cx="2311610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{_id : 1,  Name : "Neha", </a:t>
            </a:r>
          </a:p>
          <a:p>
            <a:r>
              <a:rPr lang="en-US" dirty="0"/>
              <a:t>Dept : “CE”, </a:t>
            </a:r>
          </a:p>
          <a:p>
            <a:r>
              <a:rPr lang="en-US" dirty="0"/>
              <a:t>Salary: 25000}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64016F5B-5180-C6F2-7273-244707928D72}"/>
              </a:ext>
            </a:extLst>
          </p:cNvPr>
          <p:cNvSpPr/>
          <p:nvPr/>
        </p:nvSpPr>
        <p:spPr>
          <a:xfrm>
            <a:off x="6430607" y="3246120"/>
            <a:ext cx="1005840" cy="365760"/>
          </a:xfrm>
          <a:prstGeom prst="roundRect">
            <a:avLst>
              <a:gd name="adj" fmla="val 11459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emp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735AF6-8028-6757-7409-2123EEA9D18D}"/>
              </a:ext>
            </a:extLst>
          </p:cNvPr>
          <p:cNvSpPr txBox="1"/>
          <p:nvPr/>
        </p:nvSpPr>
        <p:spPr>
          <a:xfrm>
            <a:off x="7267759" y="5802238"/>
            <a:ext cx="3400242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{_id : 1,  Name : "Neha", Dept : “CE”, </a:t>
            </a:r>
          </a:p>
          <a:p>
            <a:r>
              <a:rPr lang="en-US" dirty="0"/>
              <a:t>Salary: 25000}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60111983-571B-3E51-2B73-B9673B22988E}"/>
              </a:ext>
            </a:extLst>
          </p:cNvPr>
          <p:cNvSpPr/>
          <p:nvPr/>
        </p:nvSpPr>
        <p:spPr>
          <a:xfrm>
            <a:off x="7267757" y="5436478"/>
            <a:ext cx="1005840" cy="365760"/>
          </a:xfrm>
          <a:prstGeom prst="roundRect">
            <a:avLst>
              <a:gd name="adj" fmla="val 11459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emp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39E768E3-1E73-DFFF-3978-E9FCB702E0F5}"/>
              </a:ext>
            </a:extLst>
          </p:cNvPr>
          <p:cNvSpPr/>
          <p:nvPr/>
        </p:nvSpPr>
        <p:spPr>
          <a:xfrm>
            <a:off x="6448945" y="1399309"/>
            <a:ext cx="1260763" cy="2029691"/>
          </a:xfrm>
          <a:prstGeom prst="mathMultiply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9FBE08E-B371-7BCC-D188-E711286DAD8E}"/>
              </a:ext>
            </a:extLst>
          </p:cNvPr>
          <p:cNvSpPr/>
          <p:nvPr/>
        </p:nvSpPr>
        <p:spPr>
          <a:xfrm>
            <a:off x="10529455" y="1597761"/>
            <a:ext cx="1531365" cy="3602526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6E97F4A0-83A1-A7BF-19C0-D8BA0247BCE1}"/>
              </a:ext>
            </a:extLst>
          </p:cNvPr>
          <p:cNvSpPr/>
          <p:nvPr/>
        </p:nvSpPr>
        <p:spPr>
          <a:xfrm>
            <a:off x="10715798" y="2286848"/>
            <a:ext cx="1260763" cy="2029691"/>
          </a:xfrm>
          <a:prstGeom prst="mathMultiply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68BB3A-65EA-50E3-DD34-51C2ED5F656E}"/>
              </a:ext>
            </a:extLst>
          </p:cNvPr>
          <p:cNvSpPr txBox="1"/>
          <p:nvPr/>
        </p:nvSpPr>
        <p:spPr>
          <a:xfrm>
            <a:off x="443344" y="5583686"/>
            <a:ext cx="6663953" cy="101566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solidFill>
                  <a:schemeClr val="accent6"/>
                </a:solidFill>
              </a:rPr>
              <a:t>The CAP theorem states that a distributed system can provide only two of three desired properties: consistency, availability, and partition tolerance. </a:t>
            </a:r>
          </a:p>
        </p:txBody>
      </p:sp>
    </p:spTree>
    <p:extLst>
      <p:ext uri="{BB962C8B-B14F-4D97-AF65-F5344CB8AC3E}">
        <p14:creationId xmlns:p14="http://schemas.microsoft.com/office/powerpoint/2010/main" val="2366053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CAP Theorem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370152" cy="5590565"/>
          </a:xfrm>
        </p:spPr>
        <p:txBody>
          <a:bodyPr/>
          <a:lstStyle/>
          <a:p>
            <a:pPr algn="just"/>
            <a:r>
              <a:rPr lang="en-IN" sz="2400" dirty="0"/>
              <a:t>The CAP theorem states that a </a:t>
            </a:r>
            <a:r>
              <a:rPr lang="en-IN" sz="2400" b="1" dirty="0">
                <a:solidFill>
                  <a:schemeClr val="accent6"/>
                </a:solidFill>
              </a:rPr>
              <a:t>distributed system can provide only two of three desired properties</a:t>
            </a:r>
            <a:r>
              <a:rPr lang="en-IN" sz="2400" dirty="0"/>
              <a:t>: consistency, availability, and partition tolerance.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F8FDA2-A91A-0AF4-813D-6C05BF8910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6752" y="863444"/>
            <a:ext cx="5538268" cy="50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646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CAP Theorem | CP with MongoDB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5559487" cy="5590565"/>
          </a:xfrm>
        </p:spPr>
        <p:txBody>
          <a:bodyPr/>
          <a:lstStyle/>
          <a:p>
            <a:pPr algn="just"/>
            <a:r>
              <a:rPr lang="en-US" sz="2400" dirty="0"/>
              <a:t>MongoDB is a NoSQL database that stores data in one or more Primary nodes in the form of JSON files. </a:t>
            </a:r>
          </a:p>
          <a:p>
            <a:pPr algn="just"/>
            <a:r>
              <a:rPr lang="en-US" sz="2400" dirty="0"/>
              <a:t>Each Primary node has multiple replica sets that update themselves asynchronously using the operation log file of their respective primary node. </a:t>
            </a:r>
          </a:p>
          <a:p>
            <a:pPr algn="just"/>
            <a:r>
              <a:rPr lang="en-US" sz="2400" dirty="0"/>
              <a:t>The replica set nodes in the system send a heartbeat (ping) to every other node to keep track if other replicas or primary nodes are alive or dead. </a:t>
            </a:r>
          </a:p>
          <a:p>
            <a:pPr algn="just"/>
            <a:r>
              <a:rPr lang="en-US" sz="2400" dirty="0"/>
              <a:t>If no heartbeat is received within 10 seconds, then that node is marked as inaccessible.</a:t>
            </a:r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96BD3B-37F7-04D1-B25E-8A87B0B3D6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6" t="12532" r="46675" b="52005"/>
          <a:stretch/>
        </p:blipFill>
        <p:spPr>
          <a:xfrm>
            <a:off x="5690667" y="863444"/>
            <a:ext cx="6370153" cy="232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60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CAP Theorem | CP with MongoDB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5559487" cy="5590565"/>
          </a:xfrm>
        </p:spPr>
        <p:txBody>
          <a:bodyPr/>
          <a:lstStyle/>
          <a:p>
            <a:pPr algn="just"/>
            <a:r>
              <a:rPr lang="en-US" sz="2400" dirty="0"/>
              <a:t>If a Primary node becomes inaccessible, then one of the secondary nodes needs to become the primary node. </a:t>
            </a:r>
          </a:p>
          <a:p>
            <a:pPr algn="just"/>
            <a:r>
              <a:rPr lang="en-US" sz="2400" dirty="0"/>
              <a:t>Till a new primary is elected from amongst the secondary nodes, the system remains unavailable to the user to make any new write query. </a:t>
            </a:r>
          </a:p>
          <a:p>
            <a:pPr algn="just"/>
            <a:r>
              <a:rPr lang="en-US" sz="2400" dirty="0"/>
              <a:t>Therefore, the MongoDB system behaves as a Consistent system and compromises on Availability during a partition.</a:t>
            </a:r>
            <a:endParaRPr lang="en-IN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9AE3E4-E96F-B489-2806-3FE83EB9637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1" t="10912" r="51372" b="23510"/>
          <a:stretch/>
        </p:blipFill>
        <p:spPr>
          <a:xfrm>
            <a:off x="6186493" y="972070"/>
            <a:ext cx="5874327" cy="430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241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CAP Theorem | CP with MongoDB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5559487" cy="5590565"/>
          </a:xfrm>
        </p:spPr>
        <p:txBody>
          <a:bodyPr/>
          <a:lstStyle/>
          <a:p>
            <a:pPr algn="just"/>
            <a:r>
              <a:rPr lang="en-US" sz="2400" dirty="0" err="1"/>
              <a:t>Mongodb</a:t>
            </a:r>
            <a:r>
              <a:rPr lang="en-US" sz="2400" dirty="0"/>
              <a:t> never allows write to secondary. </a:t>
            </a:r>
          </a:p>
          <a:p>
            <a:pPr algn="just"/>
            <a:r>
              <a:rPr lang="en-US" sz="2400" dirty="0"/>
              <a:t>It allows optional reads from secondary but not writes. </a:t>
            </a:r>
          </a:p>
          <a:p>
            <a:pPr algn="just"/>
            <a:r>
              <a:rPr lang="en-US" sz="2400" dirty="0"/>
              <a:t>So if your primary goes down, you can't write till a secondary becomes primary again. </a:t>
            </a:r>
          </a:p>
          <a:p>
            <a:pPr algn="just"/>
            <a:r>
              <a:rPr lang="en-US" sz="2400" dirty="0"/>
              <a:t>That is how, you sacrifice High Availability in CAP theorem. By keeping your reads only from primary you can have strong consistency.</a:t>
            </a:r>
          </a:p>
          <a:p>
            <a:pPr algn="just"/>
            <a:r>
              <a:rPr lang="en-US" sz="2400" dirty="0"/>
              <a:t>In </a:t>
            </a:r>
            <a:r>
              <a:rPr lang="en-US" sz="2400" dirty="0" err="1"/>
              <a:t>mongoDB</a:t>
            </a:r>
            <a:r>
              <a:rPr lang="en-US" sz="2400" dirty="0"/>
              <a:t> due to replica system continuing to operate even if a network partition or failure interrupts communication between some members.</a:t>
            </a:r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96BD3B-37F7-04D1-B25E-8A87B0B3D6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6" t="12532" r="46675" b="52005"/>
          <a:stretch/>
        </p:blipFill>
        <p:spPr>
          <a:xfrm>
            <a:off x="5690667" y="863444"/>
            <a:ext cx="6370153" cy="232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66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Backup and recovery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- 12</a:t>
            </a:r>
          </a:p>
        </p:txBody>
      </p:sp>
    </p:spTree>
    <p:extLst>
      <p:ext uri="{BB962C8B-B14F-4D97-AF65-F5344CB8AC3E}">
        <p14:creationId xmlns:p14="http://schemas.microsoft.com/office/powerpoint/2010/main" val="35056396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Backup and recovery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Download MongoDB Command Line Database Tools. The </a:t>
            </a:r>
            <a:r>
              <a:rPr lang="en-US" dirty="0" err="1"/>
              <a:t>mongodump</a:t>
            </a:r>
            <a:r>
              <a:rPr lang="en-US" dirty="0"/>
              <a:t> tool is part of the MongoDB Database Tools package.</a:t>
            </a:r>
          </a:p>
          <a:p>
            <a:r>
              <a:rPr lang="en-US" dirty="0"/>
              <a:t>In MongoDB, </a:t>
            </a:r>
            <a:r>
              <a:rPr lang="en-US" dirty="0" err="1"/>
              <a:t>mongodump</a:t>
            </a:r>
            <a:r>
              <a:rPr lang="en-US" dirty="0"/>
              <a:t> tool is used to take the data backup. </a:t>
            </a:r>
          </a:p>
          <a:p>
            <a:r>
              <a:rPr lang="en-US" dirty="0"/>
              <a:t>It simply dumps all the data stored into a dump directory of MongoDB. </a:t>
            </a:r>
          </a:p>
          <a:p>
            <a:r>
              <a:rPr lang="en-US" dirty="0"/>
              <a:t>Backed-up data is in BSON format also known as BSON data dumps. </a:t>
            </a:r>
          </a:p>
          <a:p>
            <a:r>
              <a:rPr lang="en-US" dirty="0"/>
              <a:t>By default, the backup is stored in </a:t>
            </a:r>
            <a:r>
              <a:rPr lang="en-US" dirty="0" err="1"/>
              <a:t>mongodb’s</a:t>
            </a:r>
            <a:r>
              <a:rPr lang="en-US" dirty="0"/>
              <a:t> bin\dump folder to specify a different output directory we can use the –out option. </a:t>
            </a:r>
          </a:p>
          <a:p>
            <a:r>
              <a:rPr lang="en-US" dirty="0" err="1"/>
              <a:t>Mongodump</a:t>
            </a:r>
            <a:r>
              <a:rPr lang="en-US" dirty="0"/>
              <a:t> is used in two ways with or without argument.</a:t>
            </a:r>
          </a:p>
          <a:p>
            <a:r>
              <a:rPr lang="en-US" dirty="0"/>
              <a:t>Without argument syntax is </a:t>
            </a:r>
            <a:r>
              <a:rPr lang="en-US" dirty="0" err="1">
                <a:solidFill>
                  <a:schemeClr val="accent6"/>
                </a:solidFill>
              </a:rPr>
              <a:t>mongodump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/>
              <a:t>With argument syntax is </a:t>
            </a:r>
            <a:r>
              <a:rPr lang="en-US" dirty="0" err="1">
                <a:solidFill>
                  <a:schemeClr val="accent6"/>
                </a:solidFill>
              </a:rPr>
              <a:t>mongodump</a:t>
            </a:r>
            <a:r>
              <a:rPr lang="en-US" dirty="0">
                <a:solidFill>
                  <a:schemeClr val="accent6"/>
                </a:solidFill>
              </a:rPr>
              <a:t> --</a:t>
            </a:r>
            <a:r>
              <a:rPr lang="en-US" dirty="0" err="1">
                <a:solidFill>
                  <a:schemeClr val="accent6"/>
                </a:solidFill>
              </a:rPr>
              <a:t>db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databaseName</a:t>
            </a:r>
            <a:r>
              <a:rPr lang="en-US" dirty="0">
                <a:solidFill>
                  <a:schemeClr val="accent6"/>
                </a:solidFill>
              </a:rPr>
              <a:t> --collection </a:t>
            </a:r>
            <a:r>
              <a:rPr lang="en-US" dirty="0" err="1">
                <a:solidFill>
                  <a:schemeClr val="accent6"/>
                </a:solidFill>
              </a:rPr>
              <a:t>collectionName</a:t>
            </a:r>
            <a:r>
              <a:rPr lang="en-US" dirty="0">
                <a:solidFill>
                  <a:schemeClr val="accent6"/>
                </a:solidFill>
              </a:rPr>
              <a:t> --out c:\backup</a:t>
            </a:r>
          </a:p>
        </p:txBody>
      </p:sp>
    </p:spTree>
    <p:extLst>
      <p:ext uri="{BB962C8B-B14F-4D97-AF65-F5344CB8AC3E}">
        <p14:creationId xmlns:p14="http://schemas.microsoft.com/office/powerpoint/2010/main" val="977468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Backup and recovery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In MongoDB, </a:t>
            </a:r>
            <a:r>
              <a:rPr lang="en-US" dirty="0" err="1"/>
              <a:t>mongorestore</a:t>
            </a:r>
            <a:r>
              <a:rPr lang="en-US" dirty="0"/>
              <a:t> utility is used to restore the backup data. </a:t>
            </a:r>
          </a:p>
          <a:p>
            <a:r>
              <a:rPr lang="en-US" dirty="0"/>
              <a:t>It restores the binary backup created by </a:t>
            </a:r>
            <a:r>
              <a:rPr lang="en-US" dirty="0" err="1"/>
              <a:t>mongodump</a:t>
            </a:r>
            <a:r>
              <a:rPr lang="en-US" dirty="0"/>
              <a:t> utility(i.e., BSON data dumps). </a:t>
            </a:r>
          </a:p>
          <a:p>
            <a:r>
              <a:rPr lang="en-US" dirty="0"/>
              <a:t>It can restore either an entire database backup or a subset of the backup. </a:t>
            </a:r>
          </a:p>
          <a:p>
            <a:r>
              <a:rPr lang="en-US" dirty="0"/>
              <a:t>It also restores the indexes which are created for any collection inside that database. </a:t>
            </a:r>
          </a:p>
          <a:p>
            <a:r>
              <a:rPr lang="en-US" dirty="0"/>
              <a:t>By default, </a:t>
            </a:r>
            <a:r>
              <a:rPr lang="en-US" dirty="0" err="1"/>
              <a:t>mongorestore</a:t>
            </a:r>
            <a:r>
              <a:rPr lang="en-US" dirty="0"/>
              <a:t> looks for a database backup in </a:t>
            </a:r>
            <a:r>
              <a:rPr lang="en-US" dirty="0" err="1"/>
              <a:t>mongodb’s</a:t>
            </a:r>
            <a:r>
              <a:rPr lang="en-US" dirty="0"/>
              <a:t> bin\dump folder which is also the default folder for </a:t>
            </a:r>
            <a:r>
              <a:rPr lang="en-US" dirty="0" err="1"/>
              <a:t>mongodump</a:t>
            </a:r>
            <a:r>
              <a:rPr lang="en-US" dirty="0"/>
              <a:t> command for dumping the backup.</a:t>
            </a:r>
          </a:p>
          <a:p>
            <a:r>
              <a:rPr lang="en-US" dirty="0"/>
              <a:t>To restore all the database syntax is </a:t>
            </a:r>
            <a:r>
              <a:rPr lang="en-US" dirty="0" err="1">
                <a:solidFill>
                  <a:schemeClr val="accent6"/>
                </a:solidFill>
              </a:rPr>
              <a:t>mongorestore</a:t>
            </a:r>
            <a:r>
              <a:rPr lang="en-US" dirty="0">
                <a:solidFill>
                  <a:schemeClr val="accent6"/>
                </a:solidFill>
              </a:rPr>
              <a:t> dump</a:t>
            </a:r>
          </a:p>
          <a:p>
            <a:r>
              <a:rPr lang="en-US" dirty="0"/>
              <a:t>To restore a specific collection syntax is </a:t>
            </a:r>
            <a:r>
              <a:rPr lang="en-US" dirty="0" err="1">
                <a:solidFill>
                  <a:schemeClr val="accent6"/>
                </a:solidFill>
              </a:rPr>
              <a:t>mongorestore</a:t>
            </a:r>
            <a:r>
              <a:rPr lang="en-US" dirty="0">
                <a:solidFill>
                  <a:schemeClr val="accent6"/>
                </a:solidFill>
              </a:rPr>
              <a:t>  --</a:t>
            </a:r>
            <a:r>
              <a:rPr lang="en-US" dirty="0" err="1">
                <a:solidFill>
                  <a:schemeClr val="accent6"/>
                </a:solidFill>
              </a:rPr>
              <a:t>db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databaseName</a:t>
            </a:r>
            <a:r>
              <a:rPr lang="en-US" dirty="0">
                <a:solidFill>
                  <a:schemeClr val="accent6"/>
                </a:solidFill>
              </a:rPr>
              <a:t> --collection </a:t>
            </a:r>
            <a:r>
              <a:rPr lang="en-US" dirty="0" err="1">
                <a:solidFill>
                  <a:schemeClr val="accent6"/>
                </a:solidFill>
              </a:rPr>
              <a:t>collectionName</a:t>
            </a:r>
            <a:r>
              <a:rPr lang="en-US" dirty="0">
                <a:solidFill>
                  <a:schemeClr val="accent6"/>
                </a:solidFill>
              </a:rPr>
              <a:t> directory\</a:t>
            </a:r>
            <a:r>
              <a:rPr lang="en-US" dirty="0" err="1">
                <a:solidFill>
                  <a:schemeClr val="accent6"/>
                </a:solidFill>
              </a:rPr>
              <a:t>collectionName.bson</a:t>
            </a:r>
            <a:endParaRPr lang="en-US" dirty="0">
              <a:solidFill>
                <a:schemeClr val="accent6"/>
              </a:solidFill>
            </a:endParaRPr>
          </a:p>
          <a:p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118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Create User &amp; add Role in MongoDB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- 11</a:t>
            </a:r>
          </a:p>
        </p:txBody>
      </p:sp>
    </p:spTree>
    <p:extLst>
      <p:ext uri="{BB962C8B-B14F-4D97-AF65-F5344CB8AC3E}">
        <p14:creationId xmlns:p14="http://schemas.microsoft.com/office/powerpoint/2010/main" val="3446258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user &amp; add role in MongoDB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In MongoDB, we are allowed to create new users for the database. </a:t>
            </a:r>
          </a:p>
          <a:p>
            <a:r>
              <a:rPr lang="en-US" dirty="0"/>
              <a:t>Every MongoDB user only accesses the data that is required for their role. </a:t>
            </a:r>
          </a:p>
          <a:p>
            <a:r>
              <a:rPr lang="en-US" dirty="0"/>
              <a:t>A role in MongoDB grants privileges to perform some set of operations on a given resource. </a:t>
            </a:r>
          </a:p>
          <a:p>
            <a:r>
              <a:rPr lang="en-US" dirty="0"/>
              <a:t>In MongoDB, users are created using </a:t>
            </a:r>
            <a:r>
              <a:rPr lang="en-US" dirty="0" err="1"/>
              <a:t>createUser</a:t>
            </a:r>
            <a:r>
              <a:rPr lang="en-US" dirty="0"/>
              <a:t>() method. </a:t>
            </a:r>
          </a:p>
          <a:p>
            <a:r>
              <a:rPr lang="en-US" dirty="0"/>
              <a:t>This method creates a new user for the database, if the specified user is already present in the database then this method will return an error.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88077CA8-AEE1-2570-E714-756A3ACF2456}"/>
              </a:ext>
            </a:extLst>
          </p:cNvPr>
          <p:cNvSpPr/>
          <p:nvPr/>
        </p:nvSpPr>
        <p:spPr>
          <a:xfrm>
            <a:off x="521013" y="3841541"/>
            <a:ext cx="4572000" cy="216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 err="1">
                <a:solidFill>
                  <a:schemeClr val="tx1"/>
                </a:solidFill>
              </a:rPr>
              <a:t>db.createUser</a:t>
            </a:r>
            <a:r>
              <a:rPr lang="en-US" dirty="0">
                <a:solidFill>
                  <a:schemeClr val="tx1"/>
                </a:solidFill>
              </a:rPr>
              <a:t>(</a:t>
            </a: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{	user: “username",</a:t>
            </a: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pwd</a:t>
            </a:r>
            <a:r>
              <a:rPr lang="en-US" dirty="0">
                <a:solidFill>
                  <a:schemeClr val="tx1"/>
                </a:solidFill>
              </a:rPr>
              <a:t>: “password",</a:t>
            </a:r>
          </a:p>
          <a:p>
            <a:pPr>
              <a:lnSpc>
                <a:spcPts val="2400"/>
              </a:lnSpc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	roles:[</a:t>
            </a:r>
          </a:p>
          <a:p>
            <a:pPr lvl="2"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	{role: “roles" , </a:t>
            </a:r>
          </a:p>
          <a:p>
            <a:pPr lvl="2"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db</a:t>
            </a:r>
            <a:r>
              <a:rPr lang="en-US" dirty="0">
                <a:solidFill>
                  <a:schemeClr val="tx1"/>
                </a:solidFill>
              </a:rPr>
              <a:t>:“database"}]})</a:t>
            </a: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0E55286B-BA57-CC50-A285-C967714AF28A}"/>
              </a:ext>
            </a:extLst>
          </p:cNvPr>
          <p:cNvSpPr/>
          <p:nvPr/>
        </p:nvSpPr>
        <p:spPr>
          <a:xfrm>
            <a:off x="521013" y="3475781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Syntax</a:t>
            </a:r>
          </a:p>
        </p:txBody>
      </p:sp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BA500F4D-E530-1163-C396-1C5FF16BF5CD}"/>
              </a:ext>
            </a:extLst>
          </p:cNvPr>
          <p:cNvSpPr/>
          <p:nvPr/>
        </p:nvSpPr>
        <p:spPr>
          <a:xfrm>
            <a:off x="6188866" y="3841541"/>
            <a:ext cx="4754880" cy="216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 err="1">
                <a:solidFill>
                  <a:schemeClr val="tx1"/>
                </a:solidFill>
              </a:rPr>
              <a:t>db.createUser</a:t>
            </a:r>
            <a:r>
              <a:rPr lang="en-US" dirty="0">
                <a:solidFill>
                  <a:schemeClr val="tx1"/>
                </a:solidFill>
              </a:rPr>
              <a:t>(</a:t>
            </a: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{	user: "firoz",</a:t>
            </a: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pwd</a:t>
            </a:r>
            <a:r>
              <a:rPr lang="en-US" dirty="0">
                <a:solidFill>
                  <a:schemeClr val="tx1"/>
                </a:solidFill>
              </a:rPr>
              <a:t>: "baba",</a:t>
            </a:r>
          </a:p>
          <a:p>
            <a:pPr>
              <a:lnSpc>
                <a:spcPts val="2400"/>
              </a:lnSpc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	roles:[</a:t>
            </a:r>
          </a:p>
          <a:p>
            <a:pPr lvl="2"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	{role: "read" , </a:t>
            </a:r>
          </a:p>
          <a:p>
            <a:pPr lvl="2"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db</a:t>
            </a:r>
            <a:r>
              <a:rPr lang="en-US" dirty="0">
                <a:solidFill>
                  <a:schemeClr val="tx1"/>
                </a:solidFill>
              </a:rPr>
              <a:t>:"test"}]})</a:t>
            </a:r>
          </a:p>
        </p:txBody>
      </p:sp>
      <p:sp>
        <p:nvSpPr>
          <p:cNvPr id="7" name="Rounded Rectangle 18">
            <a:extLst>
              <a:ext uri="{FF2B5EF4-FFF2-40B4-BE49-F238E27FC236}">
                <a16:creationId xmlns:a16="http://schemas.microsoft.com/office/drawing/2014/main" id="{884909F6-F096-181E-A56D-44678C4CD2DD}"/>
              </a:ext>
            </a:extLst>
          </p:cNvPr>
          <p:cNvSpPr/>
          <p:nvPr/>
        </p:nvSpPr>
        <p:spPr>
          <a:xfrm>
            <a:off x="6188866" y="3475781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4165824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the user &amp; drop/delete user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To list all users, use </a:t>
            </a:r>
            <a:r>
              <a:rPr lang="en-US" dirty="0" err="1"/>
              <a:t>mongosh</a:t>
            </a:r>
            <a:r>
              <a:rPr lang="en-US" dirty="0"/>
              <a:t> to query the </a:t>
            </a:r>
            <a:r>
              <a:rPr lang="en-US" dirty="0" err="1"/>
              <a:t>system.users</a:t>
            </a:r>
            <a:r>
              <a:rPr lang="en-US" dirty="0"/>
              <a:t> collection.</a:t>
            </a:r>
          </a:p>
          <a:p>
            <a:endParaRPr lang="en-US" dirty="0">
              <a:solidFill>
                <a:schemeClr val="accent6"/>
              </a:solidFill>
            </a:endParaRPr>
          </a:p>
          <a:p>
            <a:endParaRPr lang="en-US" dirty="0">
              <a:solidFill>
                <a:schemeClr val="accent6"/>
              </a:solidFill>
            </a:endParaRPr>
          </a:p>
          <a:p>
            <a:endParaRPr lang="en-US" dirty="0">
              <a:solidFill>
                <a:schemeClr val="accent6"/>
              </a:solidFill>
            </a:endParaRPr>
          </a:p>
          <a:p>
            <a:r>
              <a:rPr lang="en-US" dirty="0"/>
              <a:t>To remove a user from a MongoDB database use </a:t>
            </a:r>
            <a:r>
              <a:rPr lang="en-US" dirty="0" err="1"/>
              <a:t>dropUser</a:t>
            </a:r>
            <a:r>
              <a:rPr lang="en-US" dirty="0"/>
              <a:t> method.</a:t>
            </a: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88077CA8-AEE1-2570-E714-756A3ACF2456}"/>
              </a:ext>
            </a:extLst>
          </p:cNvPr>
          <p:cNvSpPr/>
          <p:nvPr/>
        </p:nvSpPr>
        <p:spPr>
          <a:xfrm>
            <a:off x="521013" y="1735643"/>
            <a:ext cx="2556000" cy="72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use admin</a:t>
            </a:r>
          </a:p>
          <a:p>
            <a:pPr>
              <a:lnSpc>
                <a:spcPts val="2400"/>
              </a:lnSpc>
            </a:pPr>
            <a:r>
              <a:rPr lang="en-US" dirty="0" err="1">
                <a:solidFill>
                  <a:schemeClr val="tx1"/>
                </a:solidFill>
              </a:rPr>
              <a:t>db.system.users.find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0E55286B-BA57-CC50-A285-C967714AF28A}"/>
              </a:ext>
            </a:extLst>
          </p:cNvPr>
          <p:cNvSpPr/>
          <p:nvPr/>
        </p:nvSpPr>
        <p:spPr>
          <a:xfrm>
            <a:off x="521013" y="1369883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Syntax</a:t>
            </a:r>
          </a:p>
        </p:txBody>
      </p:sp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BA500F4D-E530-1163-C396-1C5FF16BF5CD}"/>
              </a:ext>
            </a:extLst>
          </p:cNvPr>
          <p:cNvSpPr/>
          <p:nvPr/>
        </p:nvSpPr>
        <p:spPr>
          <a:xfrm>
            <a:off x="521013" y="3551946"/>
            <a:ext cx="4754880" cy="72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 err="1">
                <a:solidFill>
                  <a:schemeClr val="tx1"/>
                </a:solidFill>
              </a:rPr>
              <a:t>db.dropUser</a:t>
            </a:r>
            <a:r>
              <a:rPr lang="en-US" dirty="0">
                <a:solidFill>
                  <a:schemeClr val="tx1"/>
                </a:solidFill>
              </a:rPr>
              <a:t>(“username”)</a:t>
            </a:r>
          </a:p>
        </p:txBody>
      </p:sp>
      <p:sp>
        <p:nvSpPr>
          <p:cNvPr id="7" name="Rounded Rectangle 18">
            <a:extLst>
              <a:ext uri="{FF2B5EF4-FFF2-40B4-BE49-F238E27FC236}">
                <a16:creationId xmlns:a16="http://schemas.microsoft.com/office/drawing/2014/main" id="{884909F6-F096-181E-A56D-44678C4CD2DD}"/>
              </a:ext>
            </a:extLst>
          </p:cNvPr>
          <p:cNvSpPr/>
          <p:nvPr/>
        </p:nvSpPr>
        <p:spPr>
          <a:xfrm>
            <a:off x="521013" y="3186186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B7F0C637-5095-5ED2-4B82-B6DBB3CF42A6}"/>
              </a:ext>
            </a:extLst>
          </p:cNvPr>
          <p:cNvSpPr/>
          <p:nvPr/>
        </p:nvSpPr>
        <p:spPr>
          <a:xfrm>
            <a:off x="4040068" y="1735643"/>
            <a:ext cx="4572000" cy="720000"/>
          </a:xfrm>
          <a:prstGeom prst="roundRect">
            <a:avLst>
              <a:gd name="adj" fmla="val 559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dirty="0">
                <a:solidFill>
                  <a:schemeClr val="tx1"/>
                </a:solidFill>
              </a:rPr>
              <a:t>show users</a:t>
            </a:r>
          </a:p>
        </p:txBody>
      </p:sp>
      <p:sp>
        <p:nvSpPr>
          <p:cNvPr id="9" name="Rounded Rectangle 18">
            <a:extLst>
              <a:ext uri="{FF2B5EF4-FFF2-40B4-BE49-F238E27FC236}">
                <a16:creationId xmlns:a16="http://schemas.microsoft.com/office/drawing/2014/main" id="{C7DF7A3A-F651-F2F6-6FEC-AB0384E0337B}"/>
              </a:ext>
            </a:extLst>
          </p:cNvPr>
          <p:cNvSpPr/>
          <p:nvPr/>
        </p:nvSpPr>
        <p:spPr>
          <a:xfrm>
            <a:off x="4040068" y="1369883"/>
            <a:ext cx="100584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Syntax</a:t>
            </a:r>
          </a:p>
        </p:txBody>
      </p:sp>
    </p:spTree>
    <p:extLst>
      <p:ext uri="{BB962C8B-B14F-4D97-AF65-F5344CB8AC3E}">
        <p14:creationId xmlns:p14="http://schemas.microsoft.com/office/powerpoint/2010/main" val="19745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Replication and Sharding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- 12</a:t>
            </a:r>
          </a:p>
        </p:txBody>
      </p:sp>
    </p:spTree>
    <p:extLst>
      <p:ext uri="{BB962C8B-B14F-4D97-AF65-F5344CB8AC3E}">
        <p14:creationId xmlns:p14="http://schemas.microsoft.com/office/powerpoint/2010/main" val="34755145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Replication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6131075" cy="5590565"/>
          </a:xfrm>
        </p:spPr>
        <p:txBody>
          <a:bodyPr/>
          <a:lstStyle/>
          <a:p>
            <a:r>
              <a:rPr lang="en-US" dirty="0"/>
              <a:t>Replication is the process of synchronizing data across multiple servers. </a:t>
            </a:r>
          </a:p>
          <a:p>
            <a:r>
              <a:rPr lang="en-US" dirty="0"/>
              <a:t>Replication provides redundancy and increases data availability with multiple copies of data on different database servers. </a:t>
            </a:r>
          </a:p>
          <a:p>
            <a:r>
              <a:rPr lang="en-US" dirty="0"/>
              <a:t>Replication protects a database from the loss of a single server.</a:t>
            </a:r>
          </a:p>
          <a:p>
            <a:r>
              <a:rPr lang="en-US" dirty="0"/>
              <a:t>Why Replication?</a:t>
            </a:r>
          </a:p>
          <a:p>
            <a:pPr lvl="1"/>
            <a:r>
              <a:rPr lang="en-US" dirty="0"/>
              <a:t>To keep your data safe</a:t>
            </a:r>
          </a:p>
          <a:p>
            <a:pPr lvl="1"/>
            <a:r>
              <a:rPr lang="en-US" dirty="0"/>
              <a:t>High (24*7) availability of data</a:t>
            </a:r>
          </a:p>
          <a:p>
            <a:pPr lvl="1"/>
            <a:r>
              <a:rPr lang="en-US" dirty="0"/>
              <a:t>Disaster recovery</a:t>
            </a:r>
          </a:p>
          <a:p>
            <a:pPr lvl="1"/>
            <a:r>
              <a:rPr lang="en-US" dirty="0"/>
              <a:t>No downtime for maintenance (like backups, index rebuilds, compaction)</a:t>
            </a:r>
          </a:p>
          <a:p>
            <a:pPr lvl="1"/>
            <a:r>
              <a:rPr lang="en-US" dirty="0"/>
              <a:t>Read scaling (extra copies to read from)</a:t>
            </a:r>
          </a:p>
          <a:p>
            <a:pPr lvl="1"/>
            <a:r>
              <a:rPr lang="en-US" dirty="0"/>
              <a:t>Replica set is transparent to the application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F926F8-F977-BF97-D676-B548993B3C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9" r="3210" b="1126"/>
          <a:stretch/>
        </p:blipFill>
        <p:spPr>
          <a:xfrm>
            <a:off x="6262255" y="711201"/>
            <a:ext cx="5929746" cy="509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542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Replication Works in MongoDB?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/>
              <a:t>MongoDB achieves replication by the use of replica set. </a:t>
            </a:r>
          </a:p>
          <a:p>
            <a:r>
              <a:rPr lang="en-US" dirty="0"/>
              <a:t>A replica set is a group of </a:t>
            </a:r>
            <a:r>
              <a:rPr lang="en-US" dirty="0" err="1"/>
              <a:t>mongod</a:t>
            </a:r>
            <a:r>
              <a:rPr lang="en-US" dirty="0"/>
              <a:t> instances that host the same data set. </a:t>
            </a:r>
          </a:p>
          <a:p>
            <a:r>
              <a:rPr lang="en-US" dirty="0"/>
              <a:t>In a replica, one node is primary node that receives all write operations. </a:t>
            </a:r>
          </a:p>
          <a:p>
            <a:r>
              <a:rPr lang="en-US" dirty="0"/>
              <a:t>All other instances, such as secondaries, apply operations from the primary so that they have the same data set. </a:t>
            </a:r>
          </a:p>
          <a:p>
            <a:r>
              <a:rPr lang="en-US" dirty="0"/>
              <a:t>Replica set can have only one primary node.</a:t>
            </a:r>
          </a:p>
          <a:p>
            <a:r>
              <a:rPr lang="en-US" dirty="0"/>
              <a:t>Replica set is a group of two or more nodes (generally minimum 3 nodes are required).</a:t>
            </a:r>
          </a:p>
          <a:p>
            <a:r>
              <a:rPr lang="en-US" dirty="0"/>
              <a:t>In a replica set, one node is primary node and remaining nodes are secondary.</a:t>
            </a:r>
          </a:p>
          <a:p>
            <a:r>
              <a:rPr lang="en-US" dirty="0"/>
              <a:t>All data replicates from primary to secondary node.</a:t>
            </a:r>
          </a:p>
          <a:p>
            <a:r>
              <a:rPr lang="en-US" dirty="0"/>
              <a:t>At the time of automatic failover or maintenance, election establishes for primary and a new primary node is elected.</a:t>
            </a:r>
          </a:p>
          <a:p>
            <a:r>
              <a:rPr lang="en-US" dirty="0"/>
              <a:t>After the recovery of failed node, it again join the replica set and works as a secondary node.</a:t>
            </a:r>
          </a:p>
        </p:txBody>
      </p:sp>
    </p:spTree>
    <p:extLst>
      <p:ext uri="{BB962C8B-B14F-4D97-AF65-F5344CB8AC3E}">
        <p14:creationId xmlns:p14="http://schemas.microsoft.com/office/powerpoint/2010/main" val="2711578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Sharding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5175111" cy="5590565"/>
          </a:xfrm>
        </p:spPr>
        <p:txBody>
          <a:bodyPr/>
          <a:lstStyle/>
          <a:p>
            <a:r>
              <a:rPr lang="en-US" dirty="0" err="1"/>
              <a:t>Sharding</a:t>
            </a:r>
            <a:r>
              <a:rPr lang="en-US" dirty="0"/>
              <a:t> is the process of storing data records across multiple machines and it is MongoDB's approach to meeting the demands of data growth. </a:t>
            </a:r>
          </a:p>
          <a:p>
            <a:r>
              <a:rPr lang="en-US" dirty="0"/>
              <a:t>As the size of the data increases, a single machine may not be sufficient to store the data nor provide an acceptable read and write throughput. </a:t>
            </a:r>
          </a:p>
          <a:p>
            <a:r>
              <a:rPr lang="en-US" dirty="0" err="1"/>
              <a:t>Sharding</a:t>
            </a:r>
            <a:r>
              <a:rPr lang="en-US" dirty="0"/>
              <a:t> solves the problem with horizontal scaling. </a:t>
            </a:r>
          </a:p>
          <a:p>
            <a:r>
              <a:rPr lang="en-US" dirty="0"/>
              <a:t>With </a:t>
            </a:r>
            <a:r>
              <a:rPr lang="en-US" dirty="0" err="1"/>
              <a:t>sharding</a:t>
            </a:r>
            <a:r>
              <a:rPr lang="en-US" dirty="0"/>
              <a:t>, you add more machines to support data growth and the demands of read and write operations.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ADA460-4CAA-6507-F094-1E5C91579B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2" r="2275"/>
          <a:stretch/>
        </p:blipFill>
        <p:spPr>
          <a:xfrm>
            <a:off x="5306291" y="711201"/>
            <a:ext cx="6885709" cy="487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894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</a:t>
            </a:r>
            <a:r>
              <a:rPr lang="en-US" dirty="0" err="1"/>
              <a:t>Sharding</a:t>
            </a:r>
            <a:r>
              <a:rPr lang="en-US" dirty="0"/>
              <a:t>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08420" cy="5590565"/>
          </a:xfrm>
        </p:spPr>
        <p:txBody>
          <a:bodyPr/>
          <a:lstStyle/>
          <a:p>
            <a:r>
              <a:rPr lang="en-US" dirty="0" err="1"/>
              <a:t>Sharding</a:t>
            </a:r>
            <a:r>
              <a:rPr lang="en-US" dirty="0"/>
              <a:t> adds more server to a data field automatically adjust data loads across various servers.</a:t>
            </a:r>
          </a:p>
          <a:p>
            <a:r>
              <a:rPr lang="en-US" dirty="0"/>
              <a:t>The number of operations each shard manage got reduced.</a:t>
            </a:r>
          </a:p>
          <a:p>
            <a:r>
              <a:rPr lang="en-US" dirty="0"/>
              <a:t>It also increases the write capacity by splitting the write load over multiple instances.</a:t>
            </a:r>
          </a:p>
          <a:p>
            <a:r>
              <a:rPr lang="en-US" dirty="0"/>
              <a:t>It gives high availability due to the deployment of replica servers for shard and config.</a:t>
            </a:r>
          </a:p>
          <a:p>
            <a:r>
              <a:rPr lang="en-US" dirty="0"/>
              <a:t>Total capacity will get increased by adding multiple shards.</a:t>
            </a:r>
          </a:p>
        </p:txBody>
      </p:sp>
    </p:spTree>
    <p:extLst>
      <p:ext uri="{BB962C8B-B14F-4D97-AF65-F5344CB8AC3E}">
        <p14:creationId xmlns:p14="http://schemas.microsoft.com/office/powerpoint/2010/main" val="275399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Sharding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5175111" cy="5590565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Shards</a:t>
            </a:r>
            <a:r>
              <a:rPr lang="en-US" dirty="0"/>
              <a:t> − Shards are used to store data. They provide high availability and data consistency. </a:t>
            </a:r>
          </a:p>
          <a:p>
            <a:r>
              <a:rPr lang="en-US" dirty="0"/>
              <a:t>In production environment, each shard is a separate replica set.</a:t>
            </a:r>
          </a:p>
          <a:p>
            <a:r>
              <a:rPr lang="en-US" dirty="0">
                <a:solidFill>
                  <a:schemeClr val="tx2"/>
                </a:solidFill>
              </a:rPr>
              <a:t>Config Servers </a:t>
            </a:r>
            <a:r>
              <a:rPr lang="en-US" dirty="0"/>
              <a:t>− Config servers store the cluster's metadata. This data contains a mapping of the cluster's data set to the shards. </a:t>
            </a:r>
          </a:p>
          <a:p>
            <a:r>
              <a:rPr lang="en-US" dirty="0"/>
              <a:t>The query router uses this metadata to target operations to specific shards. </a:t>
            </a:r>
          </a:p>
          <a:p>
            <a:r>
              <a:rPr lang="en-US" dirty="0"/>
              <a:t>In production environment, sharded clusters have exactly 3 config servers.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ADA460-4CAA-6507-F094-1E5C91579B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2" r="2275"/>
          <a:stretch/>
        </p:blipFill>
        <p:spPr>
          <a:xfrm>
            <a:off x="5306291" y="711201"/>
            <a:ext cx="6885709" cy="487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00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88D3-652E-7279-9A13-71A03E2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Sharding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E1A-EA73-DA4E-4992-A9F97F09B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5175111" cy="5590565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Query Routers </a:t>
            </a:r>
            <a:r>
              <a:rPr lang="en-US" dirty="0"/>
              <a:t>− Query routers are basically mongo instances, interface with client applications and direct operations to the appropriate shard. </a:t>
            </a:r>
          </a:p>
          <a:p>
            <a:r>
              <a:rPr lang="en-US" dirty="0"/>
              <a:t>The query router processes and targets the operations to shards and then returns results to the clients. </a:t>
            </a:r>
          </a:p>
          <a:p>
            <a:r>
              <a:rPr lang="en-US" dirty="0"/>
              <a:t>A sharded cluster can contain more than one query router to divide the client request load. A client sends requests to one query router. Generally, a sharded cluster have many query routers.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ADA460-4CAA-6507-F094-1E5C91579B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2" r="2275"/>
          <a:stretch/>
        </p:blipFill>
        <p:spPr>
          <a:xfrm>
            <a:off x="5306291" y="711201"/>
            <a:ext cx="6885709" cy="487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916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E2AD8B6E-51EA-4A15-8752-4F221E5E02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81756" y="20384"/>
            <a:ext cx="4646358" cy="734653"/>
          </a:xfrm>
        </p:spPr>
        <p:txBody>
          <a:bodyPr/>
          <a:lstStyle/>
          <a:p>
            <a:r>
              <a:rPr lang="en-US" b="1" dirty="0"/>
              <a:t>Database Management System-II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(DBMS-II)</a:t>
            </a:r>
          </a:p>
          <a:p>
            <a:r>
              <a:rPr lang="en-US" dirty="0"/>
              <a:t>#2301CS401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F27F027-AAC9-4C88-B3AF-3C4A20BDDD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80943" y="6175935"/>
            <a:ext cx="3735998" cy="290081"/>
          </a:xfrm>
        </p:spPr>
        <p:txBody>
          <a:bodyPr/>
          <a:lstStyle/>
          <a:p>
            <a:r>
              <a:rPr lang="en-US" dirty="0"/>
              <a:t>firoz.sherasiya@darshan.ac.in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59B646FF-BD32-4C5A-94AF-AC4347EADA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83874" y="6460218"/>
            <a:ext cx="3735998" cy="290081"/>
          </a:xfrm>
        </p:spPr>
        <p:txBody>
          <a:bodyPr/>
          <a:lstStyle/>
          <a:p>
            <a:r>
              <a:rPr lang="en-US" dirty="0"/>
              <a:t>9879879861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15CF252-06A8-43C0-BB69-DA7109EA6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3780000" cy="290081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89F5B5F8-350F-4941-B9DE-36BF8B0148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7677" y="5273332"/>
            <a:ext cx="5581039" cy="290081"/>
          </a:xfrm>
        </p:spPr>
        <p:txBody>
          <a:bodyPr/>
          <a:lstStyle/>
          <a:p>
            <a:r>
              <a:rPr lang="en-US" dirty="0"/>
              <a:t>Prof. Firoz A. Sherasiya</a:t>
            </a:r>
          </a:p>
        </p:txBody>
      </p:sp>
      <p:pic>
        <p:nvPicPr>
          <p:cNvPr id="4" name="Picture Placeholder 1">
            <a:extLst>
              <a:ext uri="{FF2B5EF4-FFF2-40B4-BE49-F238E27FC236}">
                <a16:creationId xmlns:a16="http://schemas.microsoft.com/office/drawing/2014/main" id="{5FCE9AB1-0037-7AD2-01C7-2F156E82A01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572" y="5214549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93413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11731</TotalTime>
  <Words>6228</Words>
  <Application>Microsoft Office PowerPoint</Application>
  <PresentationFormat>Widescreen</PresentationFormat>
  <Paragraphs>816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4" baseType="lpstr">
      <vt:lpstr>Wingdings</vt:lpstr>
      <vt:lpstr>Wingdings 2</vt:lpstr>
      <vt:lpstr>Arial</vt:lpstr>
      <vt:lpstr>Roboto Condensed</vt:lpstr>
      <vt:lpstr>Roboto Condensed Light</vt:lpstr>
      <vt:lpstr>Calibri</vt:lpstr>
      <vt:lpstr>Wingdings 3</vt:lpstr>
      <vt:lpstr>Office Theme</vt:lpstr>
      <vt:lpstr>Unit-5 Advanced  MongoDB Concepts</vt:lpstr>
      <vt:lpstr>PowerPoint Presentation</vt:lpstr>
      <vt:lpstr>Regex</vt:lpstr>
      <vt:lpstr>Regex                                                                                   [RDBMS: like]</vt:lpstr>
      <vt:lpstr>Regex                                                                                   [RDBMS: like]</vt:lpstr>
      <vt:lpstr>Regex                                                                                   [RDBMS: like]</vt:lpstr>
      <vt:lpstr>Regex                                                                                   [RDBMS: like]</vt:lpstr>
      <vt:lpstr>$regex                                                                                  [RDBMS: like]</vt:lpstr>
      <vt:lpstr>Regex                                                                                  [RDBMS: like]</vt:lpstr>
      <vt:lpstr>Regex                                                                                  [RDBMS: like]</vt:lpstr>
      <vt:lpstr>Regex                                                                                  [RDBMS: like]</vt:lpstr>
      <vt:lpstr>Exercise (Write query in MongoDB)</vt:lpstr>
      <vt:lpstr>Exercise (Write query in MongoDB)</vt:lpstr>
      <vt:lpstr>Aggregation</vt:lpstr>
      <vt:lpstr>Aggregation                                                            [RDBMS: aggregate]</vt:lpstr>
      <vt:lpstr>Group by in SQL vs Aggregate in MongoDB</vt:lpstr>
      <vt:lpstr>How does the MongoDB Aggregation pipeline work?</vt:lpstr>
      <vt:lpstr>Aggregation example                                             [RDBMS: aggregate]</vt:lpstr>
      <vt:lpstr>Aggregation example                                             [RDBMS: aggregate]</vt:lpstr>
      <vt:lpstr>Aggregation example                                             [RDBMS: aggregate]</vt:lpstr>
      <vt:lpstr>Exercise (Aggregate | $group)</vt:lpstr>
      <vt:lpstr>Exercise (Aggregate | $group and $match)</vt:lpstr>
      <vt:lpstr>Indexes</vt:lpstr>
      <vt:lpstr>Indexes                                                                             [RDBMS: index]</vt:lpstr>
      <vt:lpstr>Indexes                                                                             [RDBMS: index]</vt:lpstr>
      <vt:lpstr>Cursor</vt:lpstr>
      <vt:lpstr>Cursor</vt:lpstr>
      <vt:lpstr>Cursor</vt:lpstr>
      <vt:lpstr>Schema Validation</vt:lpstr>
      <vt:lpstr>Schema Validation                                                  [RDBMS: validation]</vt:lpstr>
      <vt:lpstr>Schema Validation                                                  [RDBMS: validation]</vt:lpstr>
      <vt:lpstr>Embedded or Nested Document</vt:lpstr>
      <vt:lpstr>Embedded or Nested Document</vt:lpstr>
      <vt:lpstr>Creating Embedded or Nested Document</vt:lpstr>
      <vt:lpstr>Create user &amp; add role in MongoDB</vt:lpstr>
      <vt:lpstr>Create user &amp; add role in MongoDB</vt:lpstr>
      <vt:lpstr>List the user &amp; drop/delete user</vt:lpstr>
      <vt:lpstr>Backup and Recovery</vt:lpstr>
      <vt:lpstr>Backup and Recovery</vt:lpstr>
      <vt:lpstr>Backup and Recovery</vt:lpstr>
      <vt:lpstr>Time series</vt:lpstr>
      <vt:lpstr>Time series</vt:lpstr>
      <vt:lpstr>BASE Theorem</vt:lpstr>
      <vt:lpstr>BASE Theorem</vt:lpstr>
      <vt:lpstr>BASE Theorem</vt:lpstr>
      <vt:lpstr>CAP Theorem</vt:lpstr>
      <vt:lpstr>CAP Theorem</vt:lpstr>
      <vt:lpstr>CAP Theorem</vt:lpstr>
      <vt:lpstr>CAP Theorem</vt:lpstr>
      <vt:lpstr>CAP Theorem | CP with MongoDB</vt:lpstr>
      <vt:lpstr>CAP Theorem | CP with MongoDB</vt:lpstr>
      <vt:lpstr>CAP Theorem | CP with MongoDB</vt:lpstr>
      <vt:lpstr>Backup and recovery</vt:lpstr>
      <vt:lpstr>Backup and recovery</vt:lpstr>
      <vt:lpstr>Backup and recovery</vt:lpstr>
      <vt:lpstr>Create User &amp; add Role in MongoDB</vt:lpstr>
      <vt:lpstr>Create user &amp; add role in MongoDB</vt:lpstr>
      <vt:lpstr>List the user &amp; drop/delete user</vt:lpstr>
      <vt:lpstr>Replication and Sharding</vt:lpstr>
      <vt:lpstr>Replication</vt:lpstr>
      <vt:lpstr>How Replication Works in MongoDB?</vt:lpstr>
      <vt:lpstr>Sharding</vt:lpstr>
      <vt:lpstr>Why Sharding?</vt:lpstr>
      <vt:lpstr>Sharding</vt:lpstr>
      <vt:lpstr>Sharding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firoz sherasiya</cp:lastModifiedBy>
  <cp:revision>1949</cp:revision>
  <dcterms:created xsi:type="dcterms:W3CDTF">2020-05-01T05:09:15Z</dcterms:created>
  <dcterms:modified xsi:type="dcterms:W3CDTF">2025-02-17T02:56:09Z</dcterms:modified>
</cp:coreProperties>
</file>