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3"/>
  </p:notesMasterIdLst>
  <p:sldIdLst>
    <p:sldId id="256" r:id="rId2"/>
    <p:sldId id="257" r:id="rId3"/>
    <p:sldId id="449" r:id="rId4"/>
    <p:sldId id="450" r:id="rId5"/>
    <p:sldId id="451" r:id="rId6"/>
    <p:sldId id="459" r:id="rId7"/>
    <p:sldId id="460" r:id="rId8"/>
    <p:sldId id="452" r:id="rId9"/>
    <p:sldId id="461" r:id="rId10"/>
    <p:sldId id="453" r:id="rId11"/>
    <p:sldId id="454" r:id="rId12"/>
    <p:sldId id="462" r:id="rId13"/>
    <p:sldId id="463" r:id="rId14"/>
    <p:sldId id="464" r:id="rId15"/>
    <p:sldId id="455" r:id="rId16"/>
    <p:sldId id="465" r:id="rId17"/>
    <p:sldId id="466" r:id="rId18"/>
    <p:sldId id="467" r:id="rId19"/>
    <p:sldId id="482" r:id="rId20"/>
    <p:sldId id="488" r:id="rId21"/>
    <p:sldId id="489" r:id="rId22"/>
    <p:sldId id="456" r:id="rId23"/>
    <p:sldId id="496" r:id="rId24"/>
    <p:sldId id="492" r:id="rId25"/>
    <p:sldId id="493" r:id="rId26"/>
    <p:sldId id="494" r:id="rId27"/>
    <p:sldId id="495" r:id="rId28"/>
    <p:sldId id="457" r:id="rId29"/>
    <p:sldId id="497" r:id="rId30"/>
    <p:sldId id="458" r:id="rId31"/>
    <p:sldId id="305" r:id="rId32"/>
  </p:sldIdLst>
  <p:sldSz cx="12192000" cy="6858000"/>
  <p:notesSz cx="6858000" cy="9144000"/>
  <p:embeddedFontLst>
    <p:embeddedFont>
      <p:font typeface="Wingdings 2" panose="05020102010507070707" pitchFamily="18" charset="2"/>
      <p:regular r:id="rId34"/>
    </p:embeddedFont>
    <p:embeddedFont>
      <p:font typeface="Segoe UI Black" panose="020B0A02040204020203" pitchFamily="34" charset="0"/>
      <p:bold r:id="rId35"/>
      <p:boldItalic r:id="rId36"/>
    </p:embeddedFont>
    <p:embeddedFont>
      <p:font typeface="Roboto Condensed Light" panose="02000000000000000000" pitchFamily="2" charset="0"/>
      <p:regular r:id="rId37"/>
      <p:italic r:id="rId38"/>
    </p:embeddedFont>
    <p:embeddedFont>
      <p:font typeface="Calibri" panose="020F0502020204030204" pitchFamily="34" charset="0"/>
      <p:regular r:id="rId39"/>
      <p:bold r:id="rId40"/>
      <p:italic r:id="rId41"/>
      <p:boldItalic r:id="rId42"/>
    </p:embeddedFont>
    <p:embeddedFont>
      <p:font typeface="Consolas" panose="020B0609020204030204" pitchFamily="49" charset="0"/>
      <p:regular r:id="rId43"/>
      <p:bold r:id="rId44"/>
      <p:italic r:id="rId45"/>
      <p:boldItalic r:id="rId46"/>
    </p:embeddedFont>
    <p:embeddedFont>
      <p:font typeface="Roboto Condensed" panose="02000000000000000000" pitchFamily="2" charset="0"/>
      <p:regular r:id="rId47"/>
      <p:bold r:id="rId48"/>
      <p:italic r:id="rId49"/>
      <p:boldItalic r:id="rId50"/>
    </p:embeddedFont>
    <p:embeddedFont>
      <p:font typeface="Wingdings 3" panose="05040102010807070707" pitchFamily="18" charset="2"/>
      <p:regular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b093rXbDV6aJhS0aGMa2rQ==" hashData="8uaaaxayfaOPAQtJ1ev4EWjp7Y2XV6pPQa9xawtzHshKjSnyjSXXp4p4D69BYyCB3kDLm/mJ6cuz9okba1wNkg=="/>
  <p:extLst>
    <p:ext uri="{521415D9-36F7-43E2-AB2F-B90AF26B5E84}">
      <p14:sectionLst xmlns:p14="http://schemas.microsoft.com/office/powerpoint/2010/main">
        <p14:section name="Default Section" id="{00A24A71-64EE-476D-89F0-12470AEC4BD5}">
          <p14:sldIdLst>
            <p14:sldId id="256"/>
            <p14:sldId id="257"/>
            <p14:sldId id="449"/>
            <p14:sldId id="450"/>
            <p14:sldId id="451"/>
            <p14:sldId id="459"/>
            <p14:sldId id="460"/>
            <p14:sldId id="452"/>
            <p14:sldId id="461"/>
            <p14:sldId id="453"/>
            <p14:sldId id="454"/>
            <p14:sldId id="462"/>
            <p14:sldId id="463"/>
            <p14:sldId id="464"/>
            <p14:sldId id="455"/>
            <p14:sldId id="465"/>
            <p14:sldId id="466"/>
            <p14:sldId id="467"/>
            <p14:sldId id="482"/>
            <p14:sldId id="488"/>
            <p14:sldId id="489"/>
            <p14:sldId id="456"/>
            <p14:sldId id="496"/>
            <p14:sldId id="492"/>
            <p14:sldId id="493"/>
            <p14:sldId id="494"/>
            <p14:sldId id="495"/>
            <p14:sldId id="457"/>
            <p14:sldId id="497"/>
            <p14:sldId id="458"/>
          </p14:sldIdLst>
        </p14:section>
        <p14:section name="References" id="{8C6BA42B-E9D7-4C7A-AFDB-DAAB8DC0B8B1}">
          <p14:sldIdLst>
            <p14:sldId id="305"/>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524F"/>
    <a:srgbClr val="301B92"/>
    <a:srgbClr val="673BB7"/>
    <a:srgbClr val="607D8B"/>
    <a:srgbClr val="B71B1C"/>
    <a:srgbClr val="F54337"/>
    <a:srgbClr val="D81A60"/>
    <a:srgbClr val="890E4F"/>
    <a:srgbClr val="EA1E63"/>
    <a:srgbClr val="C628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72" autoAdjust="0"/>
    <p:restoredTop sz="96404" autoAdjust="0"/>
  </p:normalViewPr>
  <p:slideViewPr>
    <p:cSldViewPr snapToGrid="0">
      <p:cViewPr varScale="1">
        <p:scale>
          <a:sx n="79" d="100"/>
          <a:sy n="79" d="100"/>
        </p:scale>
        <p:origin x="960"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font" Target="fonts/font17.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font" Target="fonts/font1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8.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pPr/>
              <a:t>3/15/2025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pPr/>
              <a:t>‹#›</a:t>
            </a:fld>
            <a:endParaRPr lang="en-US" dirty="0"/>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1.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4.jpeg"/><Relationship Id="rId5" Type="http://schemas.openxmlformats.org/officeDocument/2006/relationships/image" Target="../media/image5.png"/><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1.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5.jpeg"/><Relationship Id="rId4" Type="http://schemas.openxmlformats.org/officeDocument/2006/relationships/image" Target="../media/image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Arjun V. Bala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2301CS411</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05 –Consuming API in Angular</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721798" y="86119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Arjun V.</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653367" y="6604000"/>
            <a:ext cx="48852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2301CS411</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05 –Consuming API in Angular</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60475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Arjun V. Bala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2301CS411</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05 –Consuming API in Angular</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07092" y="863445"/>
            <a:ext cx="11953729" cy="5586782"/>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4318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hq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dirty="0"/>
          </a:p>
        </p:txBody>
      </p:sp>
      <p:pic>
        <p:nvPicPr>
          <p:cNvPr id="10" name="Picture 9">
            <a:extLst>
              <a:ext uri="{FF2B5EF4-FFF2-40B4-BE49-F238E27FC236}">
                <a16:creationId xmlns:a16="http://schemas.microsoft.com/office/drawing/2014/main" id="{E75253BA-841C-4898-BAAF-3A16D7F9433E}"/>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8925557" y="5664170"/>
            <a:ext cx="2976891" cy="904935"/>
          </a:xfrm>
          <a:prstGeom prst="rect">
            <a:avLst/>
          </a:prstGeom>
        </p:spPr>
      </p:pic>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Arjun</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V. 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594100" y="6604000"/>
            <a:ext cx="5003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2301CS411</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05 –Consuming API in Angular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1939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Arjun V. Bala</a:t>
            </a: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84034" y="6604000"/>
            <a:ext cx="522393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2301CS411</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05 –Consuming API in Angular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599230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Arjun V. Bala</a:t>
            </a: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75567" y="6604000"/>
            <a:ext cx="52408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2301CS411</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05 –Consuming API in Angular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51030"/>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dirty="0"/>
          </a:p>
        </p:txBody>
      </p:sp>
    </p:spTree>
    <p:extLst>
      <p:ext uri="{BB962C8B-B14F-4D97-AF65-F5344CB8AC3E}">
        <p14:creationId xmlns:p14="http://schemas.microsoft.com/office/powerpoint/2010/main" val="4003312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endParaRPr lang="en-US" dirty="0"/>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endParaRPr lang="en-US" dirty="0"/>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p:nvPr>
        </p:nvSpPr>
        <p:spPr>
          <a:xfrm>
            <a:off x="1828969" y="5563895"/>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endParaRPr lang="en-US" dirty="0"/>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endParaRPr lang="en-US" dirty="0"/>
          </a:p>
        </p:txBody>
      </p:sp>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6"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0" name="Hexagon 29">
            <a:extLst>
              <a:ext uri="{FF2B5EF4-FFF2-40B4-BE49-F238E27FC236}">
                <a16:creationId xmlns:a16="http://schemas.microsoft.com/office/drawing/2014/main" id="{43663646-67F9-47C4-84E3-B4EEDA5FB900}"/>
              </a:ext>
            </a:extLst>
          </p:cNvPr>
          <p:cNvSpPr/>
          <p:nvPr userDrawn="1"/>
        </p:nvSpPr>
        <p:spPr>
          <a:xfrm rot="5400000">
            <a:off x="4309292" y="1717040"/>
            <a:ext cx="3461658" cy="2984188"/>
          </a:xfrm>
          <a:prstGeom prst="hexagon">
            <a:avLst/>
          </a:prstGeom>
          <a:solidFill>
            <a:schemeClr val="bg1">
              <a:lumMod val="95000"/>
            </a:schemeClr>
          </a:solidFill>
          <a:ln w="57150">
            <a:solidFill>
              <a:schemeClr val="accent5">
                <a:lumMod val="60000"/>
                <a:lumOff val="40000"/>
              </a:schemeClr>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1" name="TextBox 30">
            <a:extLst>
              <a:ext uri="{FF2B5EF4-FFF2-40B4-BE49-F238E27FC236}">
                <a16:creationId xmlns:a16="http://schemas.microsoft.com/office/drawing/2014/main" id="{760958F6-32DB-4A2F-BFC3-1FBEA359C54B}"/>
              </a:ext>
            </a:extLst>
          </p:cNvPr>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34" name="Rectangle 33">
            <a:extLst>
              <a:ext uri="{FF2B5EF4-FFF2-40B4-BE49-F238E27FC236}">
                <a16:creationId xmlns:a16="http://schemas.microsoft.com/office/drawing/2014/main" id="{66C323F2-F0D8-4EB7-83AE-DFAA81BC49DE}"/>
              </a:ext>
            </a:extLst>
          </p:cNvPr>
          <p:cNvSpPr/>
          <p:nvPr userDrawn="1"/>
        </p:nvSpPr>
        <p:spPr>
          <a:xfrm rot="10800000">
            <a:off x="7678346" y="2221532"/>
            <a:ext cx="4513654" cy="1951692"/>
          </a:xfrm>
          <a:prstGeom prst="rect">
            <a:avLst/>
          </a:prstGeom>
          <a:gradFill flip="none" rotWithShape="1">
            <a:gsLst>
              <a:gs pos="0">
                <a:schemeClr val="accent5">
                  <a:lumMod val="60000"/>
                  <a:lumOff val="40000"/>
                  <a:shade val="30000"/>
                  <a:satMod val="115000"/>
                </a:schemeClr>
              </a:gs>
              <a:gs pos="50000">
                <a:schemeClr val="accent5">
                  <a:lumMod val="60000"/>
                  <a:lumOff val="40000"/>
                  <a:shade val="67500"/>
                  <a:satMod val="115000"/>
                </a:schemeClr>
              </a:gs>
              <a:gs pos="100000">
                <a:schemeClr val="accent5">
                  <a:lumMod val="60000"/>
                  <a:lumOff val="40000"/>
                  <a:shade val="100000"/>
                  <a:satMod val="115000"/>
                </a:schemeClr>
              </a:gs>
            </a:gsLst>
            <a:lin ang="10800000" scaled="1"/>
            <a:tileRect/>
          </a:gra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212D27AE-1148-4B42-8B61-FEBB2397EFD9}"/>
              </a:ext>
            </a:extLst>
          </p:cNvPr>
          <p:cNvSpPr/>
          <p:nvPr userDrawn="1"/>
        </p:nvSpPr>
        <p:spPr>
          <a:xfrm>
            <a:off x="0" y="2221532"/>
            <a:ext cx="4402106" cy="1951692"/>
          </a:xfrm>
          <a:prstGeom prst="rect">
            <a:avLst/>
          </a:prstGeom>
          <a:gradFill flip="none" rotWithShape="1">
            <a:gsLst>
              <a:gs pos="0">
                <a:schemeClr val="accent5">
                  <a:lumMod val="60000"/>
                  <a:lumOff val="40000"/>
                  <a:shade val="30000"/>
                  <a:satMod val="115000"/>
                </a:schemeClr>
              </a:gs>
              <a:gs pos="50000">
                <a:schemeClr val="accent5">
                  <a:lumMod val="60000"/>
                  <a:lumOff val="40000"/>
                  <a:shade val="67500"/>
                  <a:satMod val="115000"/>
                </a:schemeClr>
              </a:gs>
              <a:gs pos="100000">
                <a:schemeClr val="accent5">
                  <a:lumMod val="60000"/>
                  <a:lumOff val="40000"/>
                  <a:shade val="100000"/>
                  <a:satMod val="115000"/>
                </a:schemeClr>
              </a:gs>
            </a:gsLst>
            <a:lin ang="10800000" scaled="1"/>
            <a:tileRect/>
          </a:gra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2" name="Freeform 17">
            <a:extLst>
              <a:ext uri="{FF2B5EF4-FFF2-40B4-BE49-F238E27FC236}">
                <a16:creationId xmlns:a16="http://schemas.microsoft.com/office/drawing/2014/main" id="{1FCFCBE3-069D-31AE-F5AF-89A3BE0E70CE}"/>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flip="none" rotWithShape="1">
            <a:gsLst>
              <a:gs pos="0">
                <a:schemeClr val="accent5">
                  <a:lumMod val="60000"/>
                  <a:lumOff val="40000"/>
                  <a:shade val="30000"/>
                  <a:satMod val="115000"/>
                </a:schemeClr>
              </a:gs>
              <a:gs pos="50000">
                <a:schemeClr val="accent5">
                  <a:lumMod val="60000"/>
                  <a:lumOff val="40000"/>
                  <a:shade val="67500"/>
                  <a:satMod val="115000"/>
                </a:schemeClr>
              </a:gs>
              <a:gs pos="100000">
                <a:schemeClr val="accent5">
                  <a:lumMod val="60000"/>
                  <a:lumOff val="40000"/>
                  <a:shade val="100000"/>
                  <a:satMod val="115000"/>
                </a:schemeClr>
              </a:gs>
            </a:gsLst>
            <a:path path="circle">
              <a:fillToRect l="50000" t="50000" r="50000" b="50000"/>
            </a:path>
            <a:tileRect/>
          </a:gradFill>
          <a:ln>
            <a:noFill/>
          </a:ln>
        </p:spPr>
        <p:txBody>
          <a:bodyPr vert="horz" wrap="square" lIns="91440" tIns="45720" rIns="91440" bIns="45720" numCol="1" anchor="t" anchorCtr="0" compatLnSpc="1">
            <a:prstTxWarp prst="textNoShape">
              <a:avLst/>
            </a:prstTxWarp>
          </a:bodyPr>
          <a:lstStyle/>
          <a:p>
            <a:endParaRPr lang="en-US" dirty="0"/>
          </a:p>
        </p:txBody>
      </p:sp>
      <p:pic>
        <p:nvPicPr>
          <p:cNvPr id="4" name="Picture 3">
            <a:extLst>
              <a:ext uri="{FF2B5EF4-FFF2-40B4-BE49-F238E27FC236}">
                <a16:creationId xmlns:a16="http://schemas.microsoft.com/office/drawing/2014/main" id="{681847E5-1295-42E9-C2BC-1ADBF93E33FC}"/>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635895" y="573370"/>
            <a:ext cx="2976891" cy="904935"/>
          </a:xfrm>
          <a:prstGeom prst="rect">
            <a:avLst/>
          </a:prstGeom>
        </p:spPr>
      </p:pic>
    </p:spTree>
    <p:extLst>
      <p:ext uri="{BB962C8B-B14F-4D97-AF65-F5344CB8AC3E}">
        <p14:creationId xmlns:p14="http://schemas.microsoft.com/office/powerpoint/2010/main" val="39279100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Tree>
    <p:extLst>
      <p:ext uri="{BB962C8B-B14F-4D97-AF65-F5344CB8AC3E}">
        <p14:creationId xmlns:p14="http://schemas.microsoft.com/office/powerpoint/2010/main" val="27088808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Tree>
    <p:extLst>
      <p:ext uri="{BB962C8B-B14F-4D97-AF65-F5344CB8AC3E}">
        <p14:creationId xmlns:p14="http://schemas.microsoft.com/office/powerpoint/2010/main" val="7645704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Tree>
    <p:extLst>
      <p:ext uri="{BB962C8B-B14F-4D97-AF65-F5344CB8AC3E}">
        <p14:creationId xmlns:p14="http://schemas.microsoft.com/office/powerpoint/2010/main" val="7850339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hq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Tree>
    <p:extLst>
      <p:ext uri="{BB962C8B-B14F-4D97-AF65-F5344CB8AC3E}">
        <p14:creationId xmlns:p14="http://schemas.microsoft.com/office/powerpoint/2010/main" val="2731625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Tree>
    <p:extLst>
      <p:ext uri="{BB962C8B-B14F-4D97-AF65-F5344CB8AC3E}">
        <p14:creationId xmlns:p14="http://schemas.microsoft.com/office/powerpoint/2010/main" val="37518816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Tree>
    <p:extLst>
      <p:ext uri="{BB962C8B-B14F-4D97-AF65-F5344CB8AC3E}">
        <p14:creationId xmlns:p14="http://schemas.microsoft.com/office/powerpoint/2010/main" val="18065262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Tree>
    <p:extLst>
      <p:ext uri="{BB962C8B-B14F-4D97-AF65-F5344CB8AC3E}">
        <p14:creationId xmlns:p14="http://schemas.microsoft.com/office/powerpoint/2010/main" val="40122809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Tree>
    <p:extLst>
      <p:ext uri="{BB962C8B-B14F-4D97-AF65-F5344CB8AC3E}">
        <p14:creationId xmlns:p14="http://schemas.microsoft.com/office/powerpoint/2010/main" val="25328075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Tree>
    <p:extLst>
      <p:ext uri="{BB962C8B-B14F-4D97-AF65-F5344CB8AC3E}">
        <p14:creationId xmlns:p14="http://schemas.microsoft.com/office/powerpoint/2010/main" val="37651319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pPr/>
              <a:t>3/15/2025</a:t>
            </a:fld>
            <a:endParaRPr lang="en-US" dirty="0"/>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pPr/>
              <a:t>‹#›</a:t>
            </a:fld>
            <a:endParaRPr lang="en-US" dirty="0"/>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92" r:id="rId11"/>
    <p:sldLayoutId id="2147483674" r:id="rId12"/>
    <p:sldLayoutId id="2147483676" r:id="rId13"/>
    <p:sldLayoutId id="2147483677" r:id="rId14"/>
    <p:sldLayoutId id="2147483678" r:id="rId15"/>
    <p:sldLayoutId id="2147483679" r:id="rId16"/>
    <p:sldLayoutId id="2147483681" r:id="rId17"/>
    <p:sldLayoutId id="2147483683" r:id="rId18"/>
    <p:sldLayoutId id="2147483682" r:id="rId19"/>
    <p:sldLayoutId id="2147483684" r:id="rId20"/>
    <p:sldLayoutId id="2147483685" r:id="rId21"/>
    <p:sldLayoutId id="2147483686"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C137D2E-F7D0-465C-8541-F4CFBBD6738F}"/>
              </a:ext>
            </a:extLst>
          </p:cNvPr>
          <p:cNvSpPr>
            <a:spLocks noGrp="1"/>
          </p:cNvSpPr>
          <p:nvPr>
            <p:ph type="body" sz="quarter" idx="11"/>
          </p:nvPr>
        </p:nvSpPr>
        <p:spPr/>
        <p:txBody>
          <a:bodyPr/>
          <a:lstStyle/>
          <a:p>
            <a:r>
              <a:rPr lang="en-IN" dirty="0"/>
              <a:t>arjun.bala@darshan.ac.in</a:t>
            </a:r>
            <a:endParaRPr lang="en-US" dirty="0"/>
          </a:p>
        </p:txBody>
      </p:sp>
      <p:sp>
        <p:nvSpPr>
          <p:cNvPr id="11" name="Text Placeholder 10">
            <a:extLst>
              <a:ext uri="{FF2B5EF4-FFF2-40B4-BE49-F238E27FC236}">
                <a16:creationId xmlns:a16="http://schemas.microsoft.com/office/drawing/2014/main" id="{527C5C63-5136-498D-B5D5-B1F6385ED37C}"/>
              </a:ext>
            </a:extLst>
          </p:cNvPr>
          <p:cNvSpPr>
            <a:spLocks noGrp="1"/>
          </p:cNvSpPr>
          <p:nvPr>
            <p:ph type="body" sz="quarter" idx="12"/>
          </p:nvPr>
        </p:nvSpPr>
        <p:spPr/>
        <p:txBody>
          <a:bodyPr/>
          <a:lstStyle/>
          <a:p>
            <a:r>
              <a:rPr lang="en-IN" dirty="0"/>
              <a:t>9624822202</a:t>
            </a:r>
            <a:endParaRPr lang="en-US" dirty="0"/>
          </a:p>
        </p:txBody>
      </p:sp>
      <p:sp>
        <p:nvSpPr>
          <p:cNvPr id="12" name="Text Placeholder 11">
            <a:extLst>
              <a:ext uri="{FF2B5EF4-FFF2-40B4-BE49-F238E27FC236}">
                <a16:creationId xmlns:a16="http://schemas.microsoft.com/office/drawing/2014/main" id="{C4FACC96-BA70-4FDA-AB13-3B133AD498A5}"/>
              </a:ext>
            </a:extLst>
          </p:cNvPr>
          <p:cNvSpPr>
            <a:spLocks noGrp="1"/>
          </p:cNvSpPr>
          <p:nvPr>
            <p:ph type="body" sz="quarter" idx="13"/>
          </p:nvPr>
        </p:nvSpPr>
        <p:spPr/>
        <p:txBody>
          <a:bodyPr/>
          <a:lstStyle/>
          <a:p>
            <a:r>
              <a:rPr lang="en-IN" dirty="0"/>
              <a:t>Computer Engineering Department</a:t>
            </a:r>
            <a:endParaRPr lang="en-US" dirty="0"/>
          </a:p>
        </p:txBody>
      </p:sp>
      <p:sp>
        <p:nvSpPr>
          <p:cNvPr id="13" name="Text Placeholder 12">
            <a:extLst>
              <a:ext uri="{FF2B5EF4-FFF2-40B4-BE49-F238E27FC236}">
                <a16:creationId xmlns:a16="http://schemas.microsoft.com/office/drawing/2014/main" id="{03A79D48-3C85-46E3-9CAE-59240F299A25}"/>
              </a:ext>
            </a:extLst>
          </p:cNvPr>
          <p:cNvSpPr>
            <a:spLocks noGrp="1"/>
          </p:cNvSpPr>
          <p:nvPr>
            <p:ph type="body" sz="quarter" idx="14"/>
          </p:nvPr>
        </p:nvSpPr>
        <p:spPr/>
        <p:txBody>
          <a:bodyPr/>
          <a:lstStyle/>
          <a:p>
            <a:r>
              <a:rPr lang="en-IN" dirty="0"/>
              <a:t>Prof. Arjun V. Bala</a:t>
            </a:r>
            <a:endParaRPr lang="en-US" dirty="0"/>
          </a:p>
        </p:txBody>
      </p:sp>
      <p:sp>
        <p:nvSpPr>
          <p:cNvPr id="14" name="Text Placeholder 13">
            <a:extLst>
              <a:ext uri="{FF2B5EF4-FFF2-40B4-BE49-F238E27FC236}">
                <a16:creationId xmlns:a16="http://schemas.microsoft.com/office/drawing/2014/main" id="{062CA4D6-180D-44EB-978C-EAE6FB447DCE}"/>
              </a:ext>
            </a:extLst>
          </p:cNvPr>
          <p:cNvSpPr>
            <a:spLocks noGrp="1"/>
          </p:cNvSpPr>
          <p:nvPr>
            <p:ph type="body" sz="quarter" idx="16"/>
          </p:nvPr>
        </p:nvSpPr>
        <p:spPr/>
        <p:txBody>
          <a:bodyPr/>
          <a:lstStyle/>
          <a:p>
            <a:r>
              <a:rPr lang="en-IN" dirty="0"/>
              <a:t>Angular (Ng) </a:t>
            </a:r>
          </a:p>
          <a:p>
            <a:r>
              <a:rPr lang="en-IN" dirty="0"/>
              <a:t>(</a:t>
            </a:r>
            <a:r>
              <a:rPr lang="en-US" dirty="0"/>
              <a:t>2301CS411</a:t>
            </a:r>
            <a:r>
              <a:rPr lang="en-IN" dirty="0"/>
              <a:t>)</a:t>
            </a:r>
            <a:endParaRPr lang="en-US" dirty="0"/>
          </a:p>
        </p:txBody>
      </p:sp>
      <p:pic>
        <p:nvPicPr>
          <p:cNvPr id="16" name="Picture Placeholder 15" descr="09CEAVB_19042019_063947AM.jpg"/>
          <p:cNvPicPr>
            <a:picLocks noGrp="1" noChangeAspect="1"/>
          </p:cNvPicPr>
          <p:nvPr>
            <p:ph type="pic" sz="quarter" idx="10"/>
          </p:nvPr>
        </p:nvPicPr>
        <p:blipFill>
          <a:blip r:embed="rId2" cstate="print"/>
          <a:srcRect/>
          <a:stretch>
            <a:fillRect/>
          </a:stretch>
        </p:blipFill>
        <p:spPr/>
      </p:pic>
      <p:sp>
        <p:nvSpPr>
          <p:cNvPr id="15" name="Title 1">
            <a:extLst>
              <a:ext uri="{FF2B5EF4-FFF2-40B4-BE49-F238E27FC236}">
                <a16:creationId xmlns:a16="http://schemas.microsoft.com/office/drawing/2014/main" id="{0E0A5353-D4D5-43D7-A039-6CFC6871D64F}"/>
              </a:ext>
            </a:extLst>
          </p:cNvPr>
          <p:cNvSpPr>
            <a:spLocks noGrp="1"/>
          </p:cNvSpPr>
          <p:nvPr>
            <p:ph type="ctrTitle"/>
          </p:nvPr>
        </p:nvSpPr>
        <p:spPr>
          <a:xfrm>
            <a:off x="559490" y="1122364"/>
            <a:ext cx="7035300" cy="2578780"/>
          </a:xfrm>
        </p:spPr>
        <p:txBody>
          <a:bodyPr/>
          <a:lstStyle/>
          <a:p>
            <a:r>
              <a:rPr lang="en-US" sz="4800" b="0" dirty="0">
                <a:latin typeface="Roboto Condensed Light" panose="02000000000000000000" pitchFamily="2" charset="0"/>
                <a:ea typeface="Roboto Condensed Light" panose="02000000000000000000" pitchFamily="2" charset="0"/>
              </a:rPr>
              <a:t>Unit-05</a:t>
            </a:r>
            <a:r>
              <a:rPr lang="en-US" dirty="0"/>
              <a:t> </a:t>
            </a:r>
            <a:br>
              <a:rPr lang="en-US" dirty="0"/>
            </a:br>
            <a:r>
              <a:rPr lang="en-US" dirty="0"/>
              <a:t>Consuming API in Angular</a:t>
            </a:r>
          </a:p>
        </p:txBody>
      </p:sp>
      <p:pic>
        <p:nvPicPr>
          <p:cNvPr id="2056" name="Picture 8" descr="professional-web-design-social-ink-professional-web-design-png-1000_813 -  Norderberg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8716" y="1888402"/>
            <a:ext cx="3763634" cy="3059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9232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24654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712385"/>
            <a:ext cx="4909938" cy="3816429"/>
          </a:xfrm>
          <a:prstGeom prst="rect">
            <a:avLst/>
          </a:prstGeom>
          <a:noFill/>
        </p:spPr>
        <p:txBody>
          <a:bodyPr wrap="square" rtlCol="0">
            <a:spAutoFit/>
          </a:bodyPr>
          <a:lstStyle/>
          <a:p>
            <a:r>
              <a:rPr lang="en-IN" sz="2400" b="1" dirty="0"/>
              <a:t>Outline</a:t>
            </a:r>
            <a:endParaRPr lang="en-US" b="1" dirty="0"/>
          </a:p>
          <a:p>
            <a:endParaRPr lang="en-US" b="1" dirty="0"/>
          </a:p>
          <a:p>
            <a:pPr indent="446088">
              <a:buFont typeface="Wingdings" pitchFamily="2" charset="2"/>
              <a:buChar char="ü"/>
            </a:pPr>
            <a:r>
              <a:rPr lang="en-US" sz="2000" dirty="0"/>
              <a:t>Services</a:t>
            </a:r>
          </a:p>
          <a:p>
            <a:pPr indent="446088">
              <a:buFont typeface="Wingdings" pitchFamily="2" charset="2"/>
              <a:buChar char="ü"/>
            </a:pPr>
            <a:r>
              <a:rPr lang="en-US" sz="2000" dirty="0"/>
              <a:t>Consuming API</a:t>
            </a:r>
          </a:p>
          <a:p>
            <a:pPr lvl="1" indent="446088">
              <a:buFont typeface="Wingdings" pitchFamily="2" charset="2"/>
              <a:buChar char="ü"/>
            </a:pPr>
            <a:r>
              <a:rPr lang="en-US" sz="2000" dirty="0" err="1"/>
              <a:t>GetAll</a:t>
            </a:r>
            <a:endParaRPr lang="en-US" sz="2000" dirty="0"/>
          </a:p>
          <a:p>
            <a:pPr lvl="1" indent="446088">
              <a:buFont typeface="Wingdings" pitchFamily="2" charset="2"/>
              <a:buChar char="ü"/>
            </a:pPr>
            <a:r>
              <a:rPr lang="en-US" sz="2000" dirty="0" err="1"/>
              <a:t>GetByID</a:t>
            </a:r>
            <a:endParaRPr lang="en-US" sz="2000" dirty="0"/>
          </a:p>
          <a:p>
            <a:pPr lvl="1" indent="446088">
              <a:buFont typeface="Wingdings" pitchFamily="2" charset="2"/>
              <a:buChar char="ü"/>
            </a:pPr>
            <a:r>
              <a:rPr lang="en-US" sz="2000" dirty="0"/>
              <a:t>Delete</a:t>
            </a:r>
          </a:p>
          <a:p>
            <a:pPr lvl="1" indent="446088">
              <a:buFont typeface="Wingdings" pitchFamily="2" charset="2"/>
              <a:buChar char="ü"/>
            </a:pPr>
            <a:r>
              <a:rPr lang="en-US" sz="2000" dirty="0"/>
              <a:t>Insert</a:t>
            </a:r>
          </a:p>
          <a:p>
            <a:pPr lvl="1" indent="446088">
              <a:buFont typeface="Wingdings" pitchFamily="2" charset="2"/>
              <a:buChar char="ü"/>
            </a:pPr>
            <a:r>
              <a:rPr lang="en-US" sz="2000" dirty="0"/>
              <a:t>Update</a:t>
            </a:r>
          </a:p>
          <a:p>
            <a:pPr indent="446088">
              <a:buFont typeface="Wingdings" pitchFamily="2" charset="2"/>
              <a:buChar char="ü"/>
            </a:pPr>
            <a:r>
              <a:rPr lang="en-US" sz="2000" dirty="0"/>
              <a:t>Authentication and Route protection</a:t>
            </a:r>
          </a:p>
          <a:p>
            <a:pPr indent="446088">
              <a:buFont typeface="Wingdings" pitchFamily="2" charset="2"/>
              <a:buChar char="ü"/>
            </a:pPr>
            <a:r>
              <a:rPr lang="en-US" sz="2000" dirty="0"/>
              <a:t>Testing</a:t>
            </a:r>
          </a:p>
          <a:p>
            <a:pPr indent="446088">
              <a:buFont typeface="Wingdings" pitchFamily="2" charset="2"/>
              <a:buChar char="ü"/>
            </a:pPr>
            <a:r>
              <a:rPr lang="en-US" sz="2000" dirty="0"/>
              <a:t>Deploying Angular Application</a:t>
            </a:r>
          </a:p>
        </p:txBody>
      </p:sp>
    </p:spTree>
    <p:extLst>
      <p:ext uri="{BB962C8B-B14F-4D97-AF65-F5344CB8AC3E}">
        <p14:creationId xmlns:p14="http://schemas.microsoft.com/office/powerpoint/2010/main" val="1821513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Services</a:t>
            </a:r>
          </a:p>
        </p:txBody>
      </p:sp>
      <p:sp>
        <p:nvSpPr>
          <p:cNvPr id="3" name="Content Placeholder 2"/>
          <p:cNvSpPr>
            <a:spLocks noGrp="1"/>
          </p:cNvSpPr>
          <p:nvPr>
            <p:ph idx="1"/>
          </p:nvPr>
        </p:nvSpPr>
        <p:spPr/>
        <p:txBody>
          <a:bodyPr/>
          <a:lstStyle/>
          <a:p>
            <a:r>
              <a:rPr lang="en-US" i="1" dirty="0"/>
              <a:t>Service</a:t>
            </a:r>
            <a:r>
              <a:rPr lang="en-US" dirty="0"/>
              <a:t> is a broad category encompassing any value, function, or feature that an application needs. </a:t>
            </a:r>
          </a:p>
          <a:p>
            <a:r>
              <a:rPr lang="en-US" dirty="0"/>
              <a:t>A service is typically a class with a narrow, well-defined purpose. It should do something specific and do it well.</a:t>
            </a:r>
          </a:p>
          <a:p>
            <a:r>
              <a:rPr lang="en-US" dirty="0"/>
              <a:t>Angular distinguishes components from services to increase modularity and reusability. </a:t>
            </a:r>
          </a:p>
          <a:p>
            <a:r>
              <a:rPr lang="en-US" dirty="0"/>
              <a:t>By separating a component's view-related functionality from other kinds of processing, you can make your component classes lean and efficient.</a:t>
            </a:r>
          </a:p>
          <a:p>
            <a:r>
              <a:rPr lang="en-US" dirty="0"/>
              <a:t>To generate service using </a:t>
            </a:r>
            <a:r>
              <a:rPr lang="en-US" dirty="0" err="1"/>
              <a:t>AngularCLI</a:t>
            </a:r>
            <a:r>
              <a:rPr lang="en-US" dirty="0"/>
              <a:t> we can fire following command.</a:t>
            </a:r>
          </a:p>
          <a:p>
            <a:endParaRPr lang="en-US" dirty="0"/>
          </a:p>
          <a:p>
            <a:r>
              <a:rPr lang="en-US" dirty="0"/>
              <a:t>we will put a prefix </a:t>
            </a:r>
            <a:r>
              <a:rPr lang="en-US" b="1" dirty="0" err="1">
                <a:latin typeface="Consolas" panose="020B0609020204030204" pitchFamily="49" charset="0"/>
              </a:rPr>
              <a:t>api</a:t>
            </a:r>
            <a:r>
              <a:rPr lang="en-US" b="1" dirty="0">
                <a:latin typeface="Consolas" panose="020B0609020204030204" pitchFamily="49" charset="0"/>
              </a:rPr>
              <a:t>-</a:t>
            </a:r>
            <a:r>
              <a:rPr lang="en-US" dirty="0"/>
              <a:t> to a service name, for example </a:t>
            </a:r>
          </a:p>
          <a:p>
            <a:endParaRPr lang="en-US" dirty="0">
              <a:latin typeface="Consolas" panose="020B0609020204030204" pitchFamily="49" charset="0"/>
            </a:endParaRPr>
          </a:p>
          <a:p>
            <a:r>
              <a:rPr lang="en-US" dirty="0">
                <a:latin typeface="Consolas" panose="020B0609020204030204" pitchFamily="49" charset="0"/>
              </a:rPr>
              <a:t>Above command will generate 2 files,</a:t>
            </a:r>
          </a:p>
          <a:p>
            <a:pPr lvl="1"/>
            <a:r>
              <a:rPr lang="en-US" dirty="0" err="1">
                <a:latin typeface="Consolas" panose="020B0609020204030204" pitchFamily="49" charset="0"/>
              </a:rPr>
              <a:t>api-student.service.ts</a:t>
            </a:r>
            <a:endParaRPr lang="en-US" dirty="0">
              <a:latin typeface="Consolas" panose="020B0609020204030204" pitchFamily="49" charset="0"/>
            </a:endParaRPr>
          </a:p>
          <a:p>
            <a:pPr lvl="1"/>
            <a:r>
              <a:rPr lang="en-US" dirty="0" err="1">
                <a:latin typeface="Consolas" panose="020B0609020204030204" pitchFamily="49" charset="0"/>
              </a:rPr>
              <a:t>api-student.service.spec.ts</a:t>
            </a:r>
            <a:r>
              <a:rPr lang="en-US" dirty="0">
                <a:latin typeface="Consolas" panose="020B0609020204030204" pitchFamily="49" charset="0"/>
              </a:rPr>
              <a:t> (for testing)</a:t>
            </a:r>
          </a:p>
        </p:txBody>
      </p:sp>
      <p:sp>
        <p:nvSpPr>
          <p:cNvPr id="4" name="Rectangle 3">
            <a:extLst>
              <a:ext uri="{FF2B5EF4-FFF2-40B4-BE49-F238E27FC236}">
                <a16:creationId xmlns:a16="http://schemas.microsoft.com/office/drawing/2014/main" id="{D456EBDA-49A4-A843-A786-6989C63A54AA}"/>
              </a:ext>
            </a:extLst>
          </p:cNvPr>
          <p:cNvSpPr/>
          <p:nvPr/>
        </p:nvSpPr>
        <p:spPr>
          <a:xfrm>
            <a:off x="613428" y="4125185"/>
            <a:ext cx="8420621" cy="338554"/>
          </a:xfrm>
          <a:prstGeom prst="rect">
            <a:avLst/>
          </a:prstGeom>
          <a:solidFill>
            <a:schemeClr val="tx1"/>
          </a:solidFill>
          <a:ln>
            <a:noFill/>
          </a:ln>
        </p:spPr>
        <p:txBody>
          <a:bodyPr wrap="square">
            <a:spAutoFit/>
          </a:bodyPr>
          <a:lstStyle/>
          <a:p>
            <a:r>
              <a:rPr lang="en-US" sz="1600" dirty="0">
                <a:solidFill>
                  <a:schemeClr val="bg1"/>
                </a:solidFill>
                <a:latin typeface="Consolas" panose="020B0609020204030204" pitchFamily="49" charset="0"/>
              </a:rPr>
              <a:t>ng generate service &lt;service-name&gt;</a:t>
            </a:r>
          </a:p>
        </p:txBody>
      </p:sp>
      <p:sp>
        <p:nvSpPr>
          <p:cNvPr id="5" name="Rectangle 4">
            <a:extLst>
              <a:ext uri="{FF2B5EF4-FFF2-40B4-BE49-F238E27FC236}">
                <a16:creationId xmlns:a16="http://schemas.microsoft.com/office/drawing/2014/main" id="{D456EBDA-49A4-A843-A786-6989C63A54AA}"/>
              </a:ext>
            </a:extLst>
          </p:cNvPr>
          <p:cNvSpPr/>
          <p:nvPr/>
        </p:nvSpPr>
        <p:spPr>
          <a:xfrm>
            <a:off x="613427" y="4976921"/>
            <a:ext cx="8420621" cy="338554"/>
          </a:xfrm>
          <a:prstGeom prst="rect">
            <a:avLst/>
          </a:prstGeom>
          <a:solidFill>
            <a:schemeClr val="tx1"/>
          </a:solidFill>
          <a:ln>
            <a:noFill/>
          </a:ln>
        </p:spPr>
        <p:txBody>
          <a:bodyPr wrap="square">
            <a:spAutoFit/>
          </a:bodyPr>
          <a:lstStyle/>
          <a:p>
            <a:r>
              <a:rPr lang="en-US" sz="1600" dirty="0">
                <a:solidFill>
                  <a:schemeClr val="bg1"/>
                </a:solidFill>
                <a:latin typeface="Consolas" panose="020B0609020204030204" pitchFamily="49" charset="0"/>
              </a:rPr>
              <a:t>ng generate service </a:t>
            </a:r>
            <a:r>
              <a:rPr lang="en-US" sz="1600" b="1" dirty="0" err="1">
                <a:solidFill>
                  <a:schemeClr val="bg1"/>
                </a:solidFill>
                <a:latin typeface="Consolas" panose="020B0609020204030204" pitchFamily="49" charset="0"/>
              </a:rPr>
              <a:t>api</a:t>
            </a:r>
            <a:r>
              <a:rPr lang="en-US" sz="1600" b="1" dirty="0">
                <a:solidFill>
                  <a:schemeClr val="bg1"/>
                </a:solidFill>
                <a:latin typeface="Consolas" panose="020B0609020204030204" pitchFamily="49" charset="0"/>
              </a:rPr>
              <a:t>-</a:t>
            </a:r>
            <a:r>
              <a:rPr lang="en-US" sz="1600" dirty="0">
                <a:solidFill>
                  <a:schemeClr val="bg1"/>
                </a:solidFill>
                <a:latin typeface="Consolas" panose="020B0609020204030204" pitchFamily="49" charset="0"/>
              </a:rPr>
              <a:t>students</a:t>
            </a:r>
          </a:p>
        </p:txBody>
      </p:sp>
    </p:spTree>
    <p:extLst>
      <p:ext uri="{BB962C8B-B14F-4D97-AF65-F5344CB8AC3E}">
        <p14:creationId xmlns:p14="http://schemas.microsoft.com/office/powerpoint/2010/main" val="379244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bg/>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0" end="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C643B-7276-4DF3-F1CF-FD12C1E289FF}"/>
              </a:ext>
            </a:extLst>
          </p:cNvPr>
          <p:cNvSpPr>
            <a:spLocks noGrp="1"/>
          </p:cNvSpPr>
          <p:nvPr>
            <p:ph type="title"/>
          </p:nvPr>
        </p:nvSpPr>
        <p:spPr/>
        <p:txBody>
          <a:bodyPr/>
          <a:lstStyle/>
          <a:p>
            <a:r>
              <a:rPr lang="en-IN" dirty="0"/>
              <a:t>Consuming API</a:t>
            </a:r>
          </a:p>
        </p:txBody>
      </p:sp>
      <p:sp>
        <p:nvSpPr>
          <p:cNvPr id="3" name="Content Placeholder 2">
            <a:extLst>
              <a:ext uri="{FF2B5EF4-FFF2-40B4-BE49-F238E27FC236}">
                <a16:creationId xmlns:a16="http://schemas.microsoft.com/office/drawing/2014/main" id="{B66CD363-BCA0-271A-F083-C1E353E1EE5F}"/>
              </a:ext>
            </a:extLst>
          </p:cNvPr>
          <p:cNvSpPr>
            <a:spLocks noGrp="1"/>
          </p:cNvSpPr>
          <p:nvPr>
            <p:ph idx="1"/>
          </p:nvPr>
        </p:nvSpPr>
        <p:spPr/>
        <p:txBody>
          <a:bodyPr/>
          <a:lstStyle/>
          <a:p>
            <a:r>
              <a:rPr lang="en-IN" dirty="0"/>
              <a:t>We are going to cover CRUD (Create, Read, Update and Delete) Operations.</a:t>
            </a:r>
          </a:p>
          <a:p>
            <a:r>
              <a:rPr lang="en-IN" dirty="0"/>
              <a:t>In this topic we are going to use </a:t>
            </a:r>
            <a:r>
              <a:rPr lang="en-IN" dirty="0" err="1"/>
              <a:t>mockapi</a:t>
            </a:r>
            <a:r>
              <a:rPr lang="en-IN" dirty="0"/>
              <a:t> which has following fields</a:t>
            </a:r>
          </a:p>
          <a:p>
            <a:pPr lvl="1"/>
            <a:r>
              <a:rPr lang="en-IN" dirty="0"/>
              <a:t>id</a:t>
            </a:r>
          </a:p>
          <a:p>
            <a:pPr lvl="1"/>
            <a:r>
              <a:rPr lang="en-IN" dirty="0" err="1"/>
              <a:t>StudentName</a:t>
            </a:r>
            <a:endParaRPr lang="en-IN" dirty="0"/>
          </a:p>
          <a:p>
            <a:pPr lvl="1"/>
            <a:r>
              <a:rPr lang="en-IN" dirty="0" err="1"/>
              <a:t>StudentMobile</a:t>
            </a:r>
            <a:endParaRPr lang="en-IN" dirty="0"/>
          </a:p>
          <a:p>
            <a:pPr lvl="1"/>
            <a:r>
              <a:rPr lang="en-IN" dirty="0" err="1"/>
              <a:t>StudentEmail</a:t>
            </a:r>
            <a:endParaRPr lang="en-IN" dirty="0"/>
          </a:p>
          <a:p>
            <a:pPr lvl="1"/>
            <a:r>
              <a:rPr lang="en-IN" dirty="0" err="1"/>
              <a:t>createdAt</a:t>
            </a:r>
            <a:endParaRPr lang="en-IN" dirty="0"/>
          </a:p>
          <a:p>
            <a:r>
              <a:rPr lang="en-IN" dirty="0"/>
              <a:t>Some assumptions</a:t>
            </a:r>
          </a:p>
          <a:p>
            <a:pPr lvl="1"/>
            <a:r>
              <a:rPr lang="en-IN" dirty="0"/>
              <a:t>API will return data as application/</a:t>
            </a:r>
            <a:r>
              <a:rPr lang="en-IN" dirty="0" err="1"/>
              <a:t>json</a:t>
            </a:r>
            <a:endParaRPr lang="en-IN" dirty="0"/>
          </a:p>
          <a:p>
            <a:pPr lvl="1"/>
            <a:r>
              <a:rPr lang="en-IN" dirty="0"/>
              <a:t>API will receive data as application/</a:t>
            </a:r>
            <a:r>
              <a:rPr lang="en-IN" dirty="0" err="1"/>
              <a:t>json</a:t>
            </a:r>
            <a:endParaRPr lang="en-IN" dirty="0"/>
          </a:p>
          <a:p>
            <a:pPr lvl="1"/>
            <a:r>
              <a:rPr lang="en-IN" dirty="0"/>
              <a:t>API follows REST architectural style</a:t>
            </a:r>
          </a:p>
        </p:txBody>
      </p:sp>
    </p:spTree>
    <p:extLst>
      <p:ext uri="{BB962C8B-B14F-4D97-AF65-F5344CB8AC3E}">
        <p14:creationId xmlns:p14="http://schemas.microsoft.com/office/powerpoint/2010/main" val="3012495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028B9-453A-35D2-88B8-D06DE525FCA5}"/>
              </a:ext>
            </a:extLst>
          </p:cNvPr>
          <p:cNvSpPr>
            <a:spLocks noGrp="1"/>
          </p:cNvSpPr>
          <p:nvPr>
            <p:ph type="title"/>
          </p:nvPr>
        </p:nvSpPr>
        <p:spPr/>
        <p:txBody>
          <a:bodyPr/>
          <a:lstStyle/>
          <a:p>
            <a:r>
              <a:rPr lang="en-IN" dirty="0"/>
              <a:t>Steps to consume </a:t>
            </a:r>
            <a:r>
              <a:rPr lang="en-IN" dirty="0" err="1"/>
              <a:t>GetAll</a:t>
            </a:r>
            <a:r>
              <a:rPr lang="en-IN" dirty="0"/>
              <a:t> API</a:t>
            </a:r>
          </a:p>
        </p:txBody>
      </p:sp>
      <p:sp>
        <p:nvSpPr>
          <p:cNvPr id="4" name="Content Placeholder 2">
            <a:extLst>
              <a:ext uri="{FF2B5EF4-FFF2-40B4-BE49-F238E27FC236}">
                <a16:creationId xmlns:a16="http://schemas.microsoft.com/office/drawing/2014/main" id="{5E1DA0BD-8672-29CC-9638-E2B9B9A9523B}"/>
              </a:ext>
            </a:extLst>
          </p:cNvPr>
          <p:cNvSpPr>
            <a:spLocks noGrp="1"/>
          </p:cNvSpPr>
          <p:nvPr>
            <p:ph idx="1"/>
          </p:nvPr>
        </p:nvSpPr>
        <p:spPr>
          <a:xfrm>
            <a:off x="131180" y="863444"/>
            <a:ext cx="11929641" cy="5590565"/>
          </a:xfrm>
        </p:spPr>
        <p:txBody>
          <a:bodyPr/>
          <a:lstStyle/>
          <a:p>
            <a:r>
              <a:rPr lang="en-GB" dirty="0"/>
              <a:t>Step 01 : Create a component to display all student</a:t>
            </a:r>
          </a:p>
          <a:p>
            <a:r>
              <a:rPr lang="en-GB" dirty="0"/>
              <a:t>Step 02: Render new component in app.component.html</a:t>
            </a:r>
          </a:p>
          <a:p>
            <a:r>
              <a:rPr lang="en-GB" dirty="0"/>
              <a:t>Step 03: import in </a:t>
            </a:r>
            <a:r>
              <a:rPr lang="en-GB" dirty="0" err="1"/>
              <a:t>app.config.ts</a:t>
            </a:r>
            <a:endParaRPr lang="en-GB" dirty="0"/>
          </a:p>
          <a:p>
            <a:r>
              <a:rPr lang="en-GB" dirty="0"/>
              <a:t>Step 04: add </a:t>
            </a:r>
            <a:r>
              <a:rPr lang="en-GB" dirty="0" err="1"/>
              <a:t>provideHttpClient</a:t>
            </a:r>
            <a:r>
              <a:rPr lang="en-GB" dirty="0"/>
              <a:t> in providers array in </a:t>
            </a:r>
            <a:r>
              <a:rPr lang="en-GB" dirty="0" err="1"/>
              <a:t>app.config.ts</a:t>
            </a:r>
            <a:endParaRPr lang="en-GB" dirty="0"/>
          </a:p>
          <a:p>
            <a:r>
              <a:rPr lang="en-GB" dirty="0"/>
              <a:t>Step 05: create a service</a:t>
            </a:r>
          </a:p>
          <a:p>
            <a:r>
              <a:rPr lang="en-GB" dirty="0"/>
              <a:t>Step 06: inject </a:t>
            </a:r>
            <a:r>
              <a:rPr lang="en-GB" dirty="0" err="1"/>
              <a:t>HttpClient</a:t>
            </a:r>
            <a:r>
              <a:rPr lang="en-GB" dirty="0"/>
              <a:t> in </a:t>
            </a:r>
            <a:r>
              <a:rPr lang="en-GB" dirty="0" err="1"/>
              <a:t>api-student.service.ts</a:t>
            </a:r>
            <a:endParaRPr lang="en-GB" dirty="0"/>
          </a:p>
          <a:p>
            <a:r>
              <a:rPr lang="en-GB" dirty="0"/>
              <a:t>Step 07: create </a:t>
            </a:r>
            <a:r>
              <a:rPr lang="en-GB" dirty="0" err="1"/>
              <a:t>getAll</a:t>
            </a:r>
            <a:r>
              <a:rPr lang="en-GB" dirty="0"/>
              <a:t> method in </a:t>
            </a:r>
            <a:r>
              <a:rPr lang="en-GB" dirty="0" err="1"/>
              <a:t>api-student.service.ts</a:t>
            </a:r>
            <a:endParaRPr lang="en-GB" dirty="0"/>
          </a:p>
          <a:p>
            <a:endParaRPr lang="en-GB" dirty="0"/>
          </a:p>
          <a:p>
            <a:endParaRPr lang="en-GB" dirty="0"/>
          </a:p>
          <a:p>
            <a:pPr marL="0" indent="0">
              <a:buNone/>
            </a:pPr>
            <a:endParaRPr lang="en-GB" dirty="0"/>
          </a:p>
          <a:p>
            <a:r>
              <a:rPr lang="en-GB" dirty="0"/>
              <a:t>Step 08: create a class</a:t>
            </a:r>
          </a:p>
          <a:p>
            <a:endParaRPr lang="en-IN" dirty="0"/>
          </a:p>
        </p:txBody>
      </p:sp>
      <p:sp>
        <p:nvSpPr>
          <p:cNvPr id="5" name="Rectangle 4">
            <a:extLst>
              <a:ext uri="{FF2B5EF4-FFF2-40B4-BE49-F238E27FC236}">
                <a16:creationId xmlns:a16="http://schemas.microsoft.com/office/drawing/2014/main" id="{52ECD8A6-0E66-4FCB-1FE7-ED46E3A9C371}"/>
              </a:ext>
            </a:extLst>
          </p:cNvPr>
          <p:cNvSpPr/>
          <p:nvPr/>
        </p:nvSpPr>
        <p:spPr>
          <a:xfrm>
            <a:off x="8157172" y="884914"/>
            <a:ext cx="3895470" cy="338554"/>
          </a:xfrm>
          <a:prstGeom prst="rect">
            <a:avLst/>
          </a:prstGeom>
          <a:solidFill>
            <a:schemeClr val="tx1"/>
          </a:solidFill>
          <a:ln>
            <a:noFill/>
          </a:ln>
        </p:spPr>
        <p:txBody>
          <a:bodyPr wrap="square">
            <a:spAutoFit/>
          </a:bodyPr>
          <a:lstStyle/>
          <a:p>
            <a:r>
              <a:rPr lang="en-US" sz="1600" dirty="0">
                <a:solidFill>
                  <a:schemeClr val="bg1"/>
                </a:solidFill>
                <a:latin typeface="Consolas" panose="020B0609020204030204" pitchFamily="49" charset="0"/>
              </a:rPr>
              <a:t>ng generate component </a:t>
            </a:r>
            <a:r>
              <a:rPr lang="en-US" sz="1600" dirty="0" err="1">
                <a:solidFill>
                  <a:schemeClr val="bg1"/>
                </a:solidFill>
                <a:latin typeface="Consolas" panose="020B0609020204030204" pitchFamily="49" charset="0"/>
              </a:rPr>
              <a:t>allstudents</a:t>
            </a:r>
            <a:endParaRPr lang="en-US" sz="1600" dirty="0">
              <a:solidFill>
                <a:schemeClr val="bg1"/>
              </a:solidFill>
              <a:latin typeface="Consolas" panose="020B0609020204030204" pitchFamily="49" charset="0"/>
            </a:endParaRPr>
          </a:p>
        </p:txBody>
      </p:sp>
      <p:sp>
        <p:nvSpPr>
          <p:cNvPr id="6" name="Rectangle 5">
            <a:extLst>
              <a:ext uri="{FF2B5EF4-FFF2-40B4-BE49-F238E27FC236}">
                <a16:creationId xmlns:a16="http://schemas.microsoft.com/office/drawing/2014/main" id="{603E2695-46BA-3A3D-56A7-835DD1968B46}"/>
              </a:ext>
            </a:extLst>
          </p:cNvPr>
          <p:cNvSpPr/>
          <p:nvPr/>
        </p:nvSpPr>
        <p:spPr>
          <a:xfrm>
            <a:off x="7854423" y="1327082"/>
            <a:ext cx="4206398" cy="338554"/>
          </a:xfrm>
          <a:prstGeom prst="rect">
            <a:avLst/>
          </a:prstGeom>
          <a:solidFill>
            <a:schemeClr val="tx1"/>
          </a:solidFill>
          <a:ln>
            <a:noFill/>
          </a:ln>
        </p:spPr>
        <p:txBody>
          <a:bodyPr wrap="square">
            <a:spAutoFit/>
          </a:bodyPr>
          <a:lstStyle/>
          <a:p>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&lt;app-</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allstudents</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&gt;&lt;/app-</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allstudents</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&gt;</a:t>
            </a:r>
          </a:p>
        </p:txBody>
      </p:sp>
      <p:sp>
        <p:nvSpPr>
          <p:cNvPr id="15" name="Rectangle 14">
            <a:extLst>
              <a:ext uri="{FF2B5EF4-FFF2-40B4-BE49-F238E27FC236}">
                <a16:creationId xmlns:a16="http://schemas.microsoft.com/office/drawing/2014/main" id="{E240553D-43F6-3FEB-D5E1-9D3942FD8C39}"/>
              </a:ext>
            </a:extLst>
          </p:cNvPr>
          <p:cNvSpPr/>
          <p:nvPr/>
        </p:nvSpPr>
        <p:spPr>
          <a:xfrm>
            <a:off x="8397574" y="2716313"/>
            <a:ext cx="3663245" cy="338554"/>
          </a:xfrm>
          <a:prstGeom prst="rect">
            <a:avLst/>
          </a:prstGeom>
          <a:solidFill>
            <a:schemeClr val="tx1"/>
          </a:solidFill>
          <a:ln>
            <a:noFill/>
          </a:ln>
        </p:spPr>
        <p:txBody>
          <a:bodyPr wrap="square">
            <a:spAutoFit/>
          </a:bodyPr>
          <a:lstStyle/>
          <a:p>
            <a:r>
              <a:rPr lang="en-US" sz="1600" dirty="0">
                <a:solidFill>
                  <a:schemeClr val="bg1"/>
                </a:solidFill>
                <a:latin typeface="Consolas" panose="020B0609020204030204" pitchFamily="49" charset="0"/>
              </a:rPr>
              <a:t>ng generate service </a:t>
            </a:r>
            <a:r>
              <a:rPr lang="en-US" sz="1600" dirty="0" err="1">
                <a:solidFill>
                  <a:schemeClr val="bg1"/>
                </a:solidFill>
                <a:latin typeface="Consolas" panose="020B0609020204030204" pitchFamily="49" charset="0"/>
              </a:rPr>
              <a:t>api</a:t>
            </a:r>
            <a:r>
              <a:rPr lang="en-US" sz="1600" dirty="0">
                <a:solidFill>
                  <a:schemeClr val="bg1"/>
                </a:solidFill>
                <a:latin typeface="Consolas" panose="020B0609020204030204" pitchFamily="49" charset="0"/>
              </a:rPr>
              <a:t>-student</a:t>
            </a:r>
          </a:p>
        </p:txBody>
      </p:sp>
      <p:sp>
        <p:nvSpPr>
          <p:cNvPr id="16" name="Rectangle 15">
            <a:extLst>
              <a:ext uri="{FF2B5EF4-FFF2-40B4-BE49-F238E27FC236}">
                <a16:creationId xmlns:a16="http://schemas.microsoft.com/office/drawing/2014/main" id="{4F02B70E-3554-02C1-D25A-F372C5B4182E}"/>
              </a:ext>
            </a:extLst>
          </p:cNvPr>
          <p:cNvSpPr/>
          <p:nvPr/>
        </p:nvSpPr>
        <p:spPr>
          <a:xfrm>
            <a:off x="4742510" y="1814193"/>
            <a:ext cx="7310132" cy="338554"/>
          </a:xfrm>
          <a:prstGeom prst="rect">
            <a:avLst/>
          </a:prstGeom>
          <a:solidFill>
            <a:schemeClr val="tx1"/>
          </a:solidFill>
          <a:ln>
            <a:noFill/>
          </a:ln>
        </p:spPr>
        <p:txBody>
          <a:bodyPr wrap="square">
            <a:spAutoFit/>
          </a:bodyPr>
          <a:lstStyle/>
          <a:p>
            <a:pPr>
              <a:spcAft>
                <a:spcPts val="800"/>
              </a:spcAft>
            </a:pPr>
            <a:r>
              <a:rPr lang="en-IN" sz="1600" kern="0" dirty="0">
                <a:solidFill>
                  <a:srgbClr val="C586C0"/>
                </a:solidFill>
                <a:latin typeface="Consolas" panose="020B0609020204030204" pitchFamily="49" charset="0"/>
                <a:ea typeface="Times New Roman" panose="02020603050405020304" pitchFamily="18" charset="0"/>
                <a:cs typeface="Times New Roman" panose="02020603050405020304" pitchFamily="18" charset="0"/>
              </a:rPr>
              <a:t>import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 </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provideHttpClient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 </a:t>
            </a:r>
            <a:r>
              <a:rPr lang="en-IN" sz="1600" kern="0" dirty="0">
                <a:solidFill>
                  <a:srgbClr val="C586C0"/>
                </a:solidFill>
                <a:latin typeface="Consolas" panose="020B0609020204030204" pitchFamily="49" charset="0"/>
                <a:ea typeface="Times New Roman" panose="02020603050405020304" pitchFamily="18" charset="0"/>
                <a:cs typeface="Times New Roman" panose="02020603050405020304" pitchFamily="18" charset="0"/>
              </a:rPr>
              <a:t>from</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'@angular/common/http'</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
        <p:nvSpPr>
          <p:cNvPr id="18" name="Rectangle 17">
            <a:extLst>
              <a:ext uri="{FF2B5EF4-FFF2-40B4-BE49-F238E27FC236}">
                <a16:creationId xmlns:a16="http://schemas.microsoft.com/office/drawing/2014/main" id="{7E6D2697-4EB6-E814-5117-479BD7884883}"/>
              </a:ext>
            </a:extLst>
          </p:cNvPr>
          <p:cNvSpPr/>
          <p:nvPr/>
        </p:nvSpPr>
        <p:spPr>
          <a:xfrm>
            <a:off x="8397576" y="2249031"/>
            <a:ext cx="3663244" cy="338554"/>
          </a:xfrm>
          <a:prstGeom prst="rect">
            <a:avLst/>
          </a:prstGeom>
          <a:solidFill>
            <a:schemeClr val="tx1"/>
          </a:solidFill>
          <a:ln>
            <a:noFill/>
          </a:ln>
        </p:spPr>
        <p:txBody>
          <a:bodyPr wrap="square">
            <a:spAutoFit/>
          </a:bodyPr>
          <a:lstStyle/>
          <a:p>
            <a:pPr>
              <a:spcAft>
                <a:spcPts val="800"/>
              </a:spcAft>
            </a:pPr>
            <a:r>
              <a:rPr lang="en-IN" sz="1600" kern="0" dirty="0">
                <a:solidFill>
                  <a:srgbClr val="C8C8C8"/>
                </a:solidFill>
                <a:latin typeface="Consolas" panose="020B0609020204030204" pitchFamily="49" charset="0"/>
                <a:ea typeface="Times New Roman" panose="02020603050405020304" pitchFamily="18" charset="0"/>
                <a:cs typeface="Times New Roman" panose="02020603050405020304" pitchFamily="18" charset="0"/>
              </a:rPr>
              <a:t>providers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provideHttpClient</a:t>
            </a:r>
            <a:r>
              <a:rPr lang="en-IN" sz="1600" kern="0" dirty="0">
                <a:solidFill>
                  <a:srgbClr val="DCDCAA"/>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
        <p:nvSpPr>
          <p:cNvPr id="19" name="Rectangle 18">
            <a:extLst>
              <a:ext uri="{FF2B5EF4-FFF2-40B4-BE49-F238E27FC236}">
                <a16:creationId xmlns:a16="http://schemas.microsoft.com/office/drawing/2014/main" id="{8928C8B3-5C5D-29DA-DFEC-2A5ABF39A318}"/>
              </a:ext>
            </a:extLst>
          </p:cNvPr>
          <p:cNvSpPr/>
          <p:nvPr/>
        </p:nvSpPr>
        <p:spPr>
          <a:xfrm>
            <a:off x="6934954" y="3189004"/>
            <a:ext cx="5117686" cy="338554"/>
          </a:xfrm>
          <a:prstGeom prst="rect">
            <a:avLst/>
          </a:prstGeom>
          <a:solidFill>
            <a:schemeClr val="tx1"/>
          </a:solidFill>
          <a:ln>
            <a:noFill/>
          </a:ln>
        </p:spPr>
        <p:txBody>
          <a:bodyPr wrap="square">
            <a:spAutoFit/>
          </a:bodyPr>
          <a:lstStyle/>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constructor</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private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_http</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HttpClient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 }</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
        <p:nvSpPr>
          <p:cNvPr id="20" name="Rectangle 19">
            <a:extLst>
              <a:ext uri="{FF2B5EF4-FFF2-40B4-BE49-F238E27FC236}">
                <a16:creationId xmlns:a16="http://schemas.microsoft.com/office/drawing/2014/main" id="{E6CBCA09-D32B-9A12-EDAC-4296EECE4F60}"/>
              </a:ext>
            </a:extLst>
          </p:cNvPr>
          <p:cNvSpPr/>
          <p:nvPr/>
        </p:nvSpPr>
        <p:spPr>
          <a:xfrm>
            <a:off x="7290517" y="3672360"/>
            <a:ext cx="4762123" cy="1384995"/>
          </a:xfrm>
          <a:prstGeom prst="rect">
            <a:avLst/>
          </a:prstGeom>
          <a:solidFill>
            <a:schemeClr val="tx1"/>
          </a:solidFill>
          <a:ln>
            <a:noFill/>
          </a:ln>
        </p:spPr>
        <p:txBody>
          <a:bodyPr wrap="square">
            <a:spAutoFit/>
          </a:bodyPr>
          <a:lstStyle/>
          <a:p>
            <a:pPr>
              <a:spcAft>
                <a:spcPts val="800"/>
              </a:spcAft>
            </a:pP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apiUrl</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 </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'your </a:t>
            </a:r>
            <a:r>
              <a:rPr lang="en-IN" sz="1600" kern="0" dirty="0" err="1">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api</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CE9178"/>
                </a:solidFill>
                <a:latin typeface="Consolas" panose="020B0609020204030204" pitchFamily="49" charset="0"/>
                <a:ea typeface="Times New Roman" panose="02020603050405020304" pitchFamily="18" charset="0"/>
                <a:cs typeface="Times New Roman" panose="02020603050405020304" pitchFamily="18" charset="0"/>
              </a:rPr>
              <a:t>url</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 here'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getAll</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C586C0"/>
                </a:solidFill>
                <a:latin typeface="Consolas" panose="020B0609020204030204" pitchFamily="49" charset="0"/>
                <a:ea typeface="Times New Roman" panose="02020603050405020304" pitchFamily="18" charset="0"/>
                <a:cs typeface="Times New Roman" panose="02020603050405020304" pitchFamily="18" charset="0"/>
              </a:rPr>
              <a:t>return</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http</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get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apiUrl</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
        <p:nvSpPr>
          <p:cNvPr id="21" name="Rectangle 20">
            <a:extLst>
              <a:ext uri="{FF2B5EF4-FFF2-40B4-BE49-F238E27FC236}">
                <a16:creationId xmlns:a16="http://schemas.microsoft.com/office/drawing/2014/main" id="{0FC8737E-51A9-534F-0B48-722F58F9414B}"/>
              </a:ext>
            </a:extLst>
          </p:cNvPr>
          <p:cNvSpPr/>
          <p:nvPr/>
        </p:nvSpPr>
        <p:spPr>
          <a:xfrm>
            <a:off x="8954752" y="5417128"/>
            <a:ext cx="3097888" cy="338554"/>
          </a:xfrm>
          <a:prstGeom prst="rect">
            <a:avLst/>
          </a:prstGeom>
          <a:solidFill>
            <a:schemeClr val="tx1"/>
          </a:solidFill>
          <a:ln>
            <a:noFill/>
          </a:ln>
        </p:spPr>
        <p:txBody>
          <a:bodyPr wrap="square">
            <a:spAutoFit/>
          </a:bodyPr>
          <a:lstStyle/>
          <a:p>
            <a:r>
              <a:rPr lang="en-US" sz="1600" dirty="0">
                <a:solidFill>
                  <a:schemeClr val="bg1"/>
                </a:solidFill>
                <a:latin typeface="Consolas" panose="020B0609020204030204" pitchFamily="49" charset="0"/>
              </a:rPr>
              <a:t>ng generate class student</a:t>
            </a:r>
          </a:p>
        </p:txBody>
      </p:sp>
    </p:spTree>
    <p:extLst>
      <p:ext uri="{BB962C8B-B14F-4D97-AF65-F5344CB8AC3E}">
        <p14:creationId xmlns:p14="http://schemas.microsoft.com/office/powerpoint/2010/main" val="2551693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bg/>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1">
                                            <p:bg/>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uiExpand="1" build="p" animBg="1"/>
      <p:bldP spid="6" grpId="0" animBg="1"/>
      <p:bldP spid="15" grpId="0" uiExpand="1" build="p"/>
      <p:bldP spid="16" grpId="0" animBg="1"/>
      <p:bldP spid="18" grpId="0" animBg="1"/>
      <p:bldP spid="19" grpId="0" animBg="1"/>
      <p:bldP spid="20" grpId="0" animBg="1"/>
      <p:bldP spid="21" grpId="0" uiExpand="1"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BCD0C-6ACF-E891-969F-DF642B936252}"/>
              </a:ext>
            </a:extLst>
          </p:cNvPr>
          <p:cNvSpPr>
            <a:spLocks noGrp="1"/>
          </p:cNvSpPr>
          <p:nvPr>
            <p:ph type="title"/>
          </p:nvPr>
        </p:nvSpPr>
        <p:spPr/>
        <p:txBody>
          <a:bodyPr/>
          <a:lstStyle/>
          <a:p>
            <a:r>
              <a:rPr lang="en-IN" dirty="0"/>
              <a:t>Steps to consume </a:t>
            </a:r>
            <a:r>
              <a:rPr lang="en-IN" dirty="0" err="1"/>
              <a:t>GetAll</a:t>
            </a:r>
            <a:r>
              <a:rPr lang="en-IN" dirty="0"/>
              <a:t> API (Cont. 2/3)</a:t>
            </a:r>
          </a:p>
        </p:txBody>
      </p:sp>
      <p:sp>
        <p:nvSpPr>
          <p:cNvPr id="3" name="Content Placeholder 2">
            <a:extLst>
              <a:ext uri="{FF2B5EF4-FFF2-40B4-BE49-F238E27FC236}">
                <a16:creationId xmlns:a16="http://schemas.microsoft.com/office/drawing/2014/main" id="{3E40DEA6-CD49-0D02-402B-5C6CA5C879B6}"/>
              </a:ext>
            </a:extLst>
          </p:cNvPr>
          <p:cNvSpPr>
            <a:spLocks noGrp="1"/>
          </p:cNvSpPr>
          <p:nvPr>
            <p:ph idx="1"/>
          </p:nvPr>
        </p:nvSpPr>
        <p:spPr/>
        <p:txBody>
          <a:bodyPr/>
          <a:lstStyle/>
          <a:p>
            <a:r>
              <a:rPr lang="en-GB" dirty="0"/>
              <a:t>Step 09: define properties of a class in </a:t>
            </a:r>
            <a:r>
              <a:rPr lang="en-GB" dirty="0" err="1"/>
              <a:t>student.ts</a:t>
            </a:r>
            <a:endParaRPr lang="en-GB" dirty="0"/>
          </a:p>
          <a:p>
            <a:endParaRPr lang="en-GB" dirty="0"/>
          </a:p>
          <a:p>
            <a:endParaRPr lang="en-GB" dirty="0"/>
          </a:p>
          <a:p>
            <a:pPr marL="0" indent="0">
              <a:buNone/>
            </a:pPr>
            <a:endParaRPr lang="en-GB" dirty="0"/>
          </a:p>
          <a:p>
            <a:pPr marL="0" indent="0">
              <a:buNone/>
            </a:pPr>
            <a:endParaRPr lang="en-IN" dirty="0"/>
          </a:p>
          <a:p>
            <a:r>
              <a:rPr lang="en-GB" dirty="0"/>
              <a:t>Step 10: Inject </a:t>
            </a:r>
            <a:r>
              <a:rPr lang="en-GB" dirty="0" err="1"/>
              <a:t>ApiStudentService</a:t>
            </a:r>
            <a:r>
              <a:rPr lang="en-GB" dirty="0"/>
              <a:t> in </a:t>
            </a:r>
            <a:r>
              <a:rPr lang="en-GB" dirty="0" err="1"/>
              <a:t>allstudent.component.ts</a:t>
            </a:r>
            <a:endParaRPr lang="en-GB" dirty="0"/>
          </a:p>
          <a:p>
            <a:endParaRPr lang="en-GB" dirty="0"/>
          </a:p>
          <a:p>
            <a:r>
              <a:rPr lang="en-GB" dirty="0"/>
              <a:t>Step 11: Call and subscribe to </a:t>
            </a:r>
            <a:r>
              <a:rPr lang="en-GB" dirty="0" err="1"/>
              <a:t>getAll</a:t>
            </a:r>
            <a:r>
              <a:rPr lang="en-GB" dirty="0"/>
              <a:t> response in </a:t>
            </a:r>
            <a:r>
              <a:rPr lang="en-GB" dirty="0" err="1"/>
              <a:t>allstudent.component.ts</a:t>
            </a:r>
            <a:endParaRPr lang="en-GB" dirty="0"/>
          </a:p>
          <a:p>
            <a:endParaRPr lang="en-GB" dirty="0"/>
          </a:p>
          <a:p>
            <a:endParaRPr lang="en-GB" dirty="0"/>
          </a:p>
          <a:p>
            <a:r>
              <a:rPr lang="en-GB" dirty="0"/>
              <a:t>Step 12: create array of student class in </a:t>
            </a:r>
            <a:r>
              <a:rPr lang="en-GB" dirty="0" err="1"/>
              <a:t>allstudent.component.ts</a:t>
            </a:r>
            <a:endParaRPr lang="en-IN" dirty="0"/>
          </a:p>
        </p:txBody>
      </p:sp>
      <p:sp>
        <p:nvSpPr>
          <p:cNvPr id="4" name="Rectangle 3">
            <a:extLst>
              <a:ext uri="{FF2B5EF4-FFF2-40B4-BE49-F238E27FC236}">
                <a16:creationId xmlns:a16="http://schemas.microsoft.com/office/drawing/2014/main" id="{2D7EAE2E-8B11-91EF-6DAE-EDADE00AD57B}"/>
              </a:ext>
            </a:extLst>
          </p:cNvPr>
          <p:cNvSpPr/>
          <p:nvPr/>
        </p:nvSpPr>
        <p:spPr>
          <a:xfrm>
            <a:off x="479834" y="1212838"/>
            <a:ext cx="4762123" cy="1966885"/>
          </a:xfrm>
          <a:prstGeom prst="rect">
            <a:avLst/>
          </a:prstGeom>
          <a:solidFill>
            <a:schemeClr val="tx1"/>
          </a:solidFill>
          <a:ln>
            <a:noFill/>
          </a:ln>
        </p:spPr>
        <p:txBody>
          <a:bodyPr wrap="square">
            <a:spAutoFit/>
          </a:bodyPr>
          <a:lstStyle/>
          <a:p>
            <a:pPr>
              <a:lnSpc>
                <a:spcPts val="1425"/>
              </a:lnSpc>
              <a:spcAft>
                <a:spcPts val="800"/>
              </a:spcAft>
            </a:pPr>
            <a:r>
              <a:rPr lang="en-IN" sz="1600" kern="0" dirty="0">
                <a:solidFill>
                  <a:srgbClr val="C586C0"/>
                </a:solidFill>
                <a:latin typeface="Consolas" panose="020B0609020204030204" pitchFamily="49" charset="0"/>
                <a:ea typeface="Times New Roman" panose="02020603050405020304" pitchFamily="18" charset="0"/>
                <a:cs typeface="Times New Roman" panose="02020603050405020304" pitchFamily="18" charset="0"/>
              </a:rPr>
              <a:t>export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class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4EC9B0"/>
                </a:solidFill>
                <a:latin typeface="Consolas" panose="020B0609020204030204" pitchFamily="49" charset="0"/>
                <a:ea typeface="Times New Roman" panose="02020603050405020304" pitchFamily="18" charset="0"/>
                <a:cs typeface="Times New Roman" panose="02020603050405020304" pitchFamily="18" charset="0"/>
              </a:rPr>
              <a:t>Student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createdAt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4EC9B0"/>
                </a:solidFill>
                <a:latin typeface="Consolas" panose="020B0609020204030204" pitchFamily="49" charset="0"/>
                <a:ea typeface="Times New Roman" panose="02020603050405020304" pitchFamily="18" charset="0"/>
                <a:cs typeface="Times New Roman" panose="02020603050405020304" pitchFamily="18" charset="0"/>
              </a:rPr>
              <a:t>String</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 </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StudentName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4EC9B0"/>
                </a:solidFill>
                <a:latin typeface="Consolas" panose="020B0609020204030204" pitchFamily="49" charset="0"/>
                <a:ea typeface="Times New Roman" panose="02020603050405020304" pitchFamily="18" charset="0"/>
                <a:cs typeface="Times New Roman" panose="02020603050405020304" pitchFamily="18" charset="0"/>
              </a:rPr>
              <a:t>String</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 </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StudentMobile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4EC9B0"/>
                </a:solidFill>
                <a:latin typeface="Consolas" panose="020B0609020204030204" pitchFamily="49" charset="0"/>
                <a:ea typeface="Times New Roman" panose="02020603050405020304" pitchFamily="18" charset="0"/>
                <a:cs typeface="Times New Roman" panose="02020603050405020304" pitchFamily="18" charset="0"/>
              </a:rPr>
              <a:t>String</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 </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StudentEmail</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4EC9B0"/>
                </a:solidFill>
                <a:latin typeface="Consolas" panose="020B0609020204030204" pitchFamily="49" charset="0"/>
                <a:ea typeface="Times New Roman" panose="02020603050405020304" pitchFamily="18" charset="0"/>
                <a:cs typeface="Times New Roman" panose="02020603050405020304" pitchFamily="18" charset="0"/>
              </a:rPr>
              <a:t>String</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 </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id</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4EC9B0"/>
                </a:solidFill>
                <a:latin typeface="Consolas" panose="020B0609020204030204" pitchFamily="49" charset="0"/>
                <a:ea typeface="Times New Roman" panose="02020603050405020304" pitchFamily="18" charset="0"/>
                <a:cs typeface="Times New Roman" panose="02020603050405020304" pitchFamily="18" charset="0"/>
              </a:rPr>
              <a:t>Number</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 </a:t>
            </a:r>
            <a:r>
              <a:rPr lang="en-IN" sz="1600" kern="0" dirty="0">
                <a:solidFill>
                  <a:srgbClr val="B5CEA8"/>
                </a:solidFill>
                <a:latin typeface="Consolas" panose="020B0609020204030204" pitchFamily="49" charset="0"/>
                <a:ea typeface="Times New Roman" panose="02020603050405020304" pitchFamily="18" charset="0"/>
                <a:cs typeface="Times New Roman" panose="02020603050405020304" pitchFamily="18" charset="0"/>
              </a:rPr>
              <a:t>0</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
        <p:nvSpPr>
          <p:cNvPr id="5" name="Rectangle 4">
            <a:extLst>
              <a:ext uri="{FF2B5EF4-FFF2-40B4-BE49-F238E27FC236}">
                <a16:creationId xmlns:a16="http://schemas.microsoft.com/office/drawing/2014/main" id="{7FD6AAE8-4847-01F3-57B3-61AA8E5DB9F5}"/>
              </a:ext>
            </a:extLst>
          </p:cNvPr>
          <p:cNvSpPr/>
          <p:nvPr/>
        </p:nvSpPr>
        <p:spPr>
          <a:xfrm>
            <a:off x="479834" y="3518335"/>
            <a:ext cx="8149723" cy="338554"/>
          </a:xfrm>
          <a:prstGeom prst="rect">
            <a:avLst/>
          </a:prstGeom>
          <a:solidFill>
            <a:schemeClr val="tx1"/>
          </a:solidFill>
          <a:ln>
            <a:noFill/>
          </a:ln>
        </p:spPr>
        <p:txBody>
          <a:bodyPr wrap="square">
            <a:spAutoFit/>
          </a:bodyPr>
          <a:lstStyle/>
          <a:p>
            <a:pPr>
              <a:spcAft>
                <a:spcPts val="800"/>
              </a:spcAft>
            </a:pP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constructor</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private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api</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ApiStudentService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
        <p:nvSpPr>
          <p:cNvPr id="6" name="Rectangle 5">
            <a:extLst>
              <a:ext uri="{FF2B5EF4-FFF2-40B4-BE49-F238E27FC236}">
                <a16:creationId xmlns:a16="http://schemas.microsoft.com/office/drawing/2014/main" id="{49822179-7537-F995-46A7-C710F0623239}"/>
              </a:ext>
            </a:extLst>
          </p:cNvPr>
          <p:cNvSpPr/>
          <p:nvPr/>
        </p:nvSpPr>
        <p:spPr>
          <a:xfrm>
            <a:off x="479834" y="4454785"/>
            <a:ext cx="3874884" cy="838371"/>
          </a:xfrm>
          <a:prstGeom prst="rect">
            <a:avLst/>
          </a:prstGeom>
          <a:solidFill>
            <a:schemeClr val="tx1"/>
          </a:solidFill>
          <a:ln>
            <a:noFill/>
          </a:ln>
        </p:spPr>
        <p:txBody>
          <a:bodyPr wrap="square">
            <a:spAutoFit/>
          </a:bodyPr>
          <a:lstStyle/>
          <a:p>
            <a:pPr>
              <a:lnSpc>
                <a:spcPts val="1425"/>
              </a:lnSpc>
              <a:spcAft>
                <a:spcPts val="800"/>
              </a:spcAft>
            </a:pP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api</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getAll</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CDCAA"/>
                </a:solidFill>
                <a:latin typeface="Consolas" panose="020B0609020204030204" pitchFamily="49" charset="0"/>
                <a:ea typeface="Times New Roman" panose="02020603050405020304" pitchFamily="18" charset="0"/>
                <a:cs typeface="Times New Roman" panose="02020603050405020304" pitchFamily="18" charset="0"/>
              </a:rPr>
              <a:t>subscribe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res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=&gt;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console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CDCAA"/>
                </a:solidFill>
                <a:latin typeface="Consolas" panose="020B0609020204030204" pitchFamily="49" charset="0"/>
                <a:ea typeface="Times New Roman" panose="02020603050405020304" pitchFamily="18" charset="0"/>
                <a:cs typeface="Times New Roman" panose="02020603050405020304" pitchFamily="18" charset="0"/>
              </a:rPr>
              <a:t>log</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res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
        <p:nvSpPr>
          <p:cNvPr id="7" name="Rectangle 6">
            <a:extLst>
              <a:ext uri="{FF2B5EF4-FFF2-40B4-BE49-F238E27FC236}">
                <a16:creationId xmlns:a16="http://schemas.microsoft.com/office/drawing/2014/main" id="{F20B5358-0A56-0D37-44F8-EFA5595ADA6F}"/>
              </a:ext>
            </a:extLst>
          </p:cNvPr>
          <p:cNvSpPr/>
          <p:nvPr/>
        </p:nvSpPr>
        <p:spPr>
          <a:xfrm>
            <a:off x="479834" y="5776843"/>
            <a:ext cx="8149723" cy="338554"/>
          </a:xfrm>
          <a:prstGeom prst="rect">
            <a:avLst/>
          </a:prstGeom>
          <a:solidFill>
            <a:schemeClr val="tx1"/>
          </a:solidFill>
          <a:ln>
            <a:noFill/>
          </a:ln>
        </p:spPr>
        <p:txBody>
          <a:bodyPr wrap="square">
            <a:spAutoFit/>
          </a:bodyPr>
          <a:lstStyle/>
          <a:p>
            <a:pPr>
              <a:spcAft>
                <a:spcPts val="800"/>
              </a:spcAft>
            </a:pP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data</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Student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 []</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Tree>
    <p:extLst>
      <p:ext uri="{BB962C8B-B14F-4D97-AF65-F5344CB8AC3E}">
        <p14:creationId xmlns:p14="http://schemas.microsoft.com/office/powerpoint/2010/main" val="425106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P spid="6"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50A57-23A2-479A-8642-D3E1F3C21823}"/>
              </a:ext>
            </a:extLst>
          </p:cNvPr>
          <p:cNvSpPr>
            <a:spLocks noGrp="1"/>
          </p:cNvSpPr>
          <p:nvPr>
            <p:ph type="title"/>
          </p:nvPr>
        </p:nvSpPr>
        <p:spPr/>
        <p:txBody>
          <a:bodyPr/>
          <a:lstStyle/>
          <a:p>
            <a:r>
              <a:rPr lang="en-IN" dirty="0"/>
              <a:t>Steps to consume </a:t>
            </a:r>
            <a:r>
              <a:rPr lang="en-IN" dirty="0" err="1"/>
              <a:t>GetAll</a:t>
            </a:r>
            <a:r>
              <a:rPr lang="en-IN" dirty="0"/>
              <a:t> API (Cont. 3/3)</a:t>
            </a:r>
          </a:p>
        </p:txBody>
      </p:sp>
      <p:sp>
        <p:nvSpPr>
          <p:cNvPr id="3" name="Content Placeholder 2">
            <a:extLst>
              <a:ext uri="{FF2B5EF4-FFF2-40B4-BE49-F238E27FC236}">
                <a16:creationId xmlns:a16="http://schemas.microsoft.com/office/drawing/2014/main" id="{1E092040-F928-DA15-5D6D-A0AAF1EFE882}"/>
              </a:ext>
            </a:extLst>
          </p:cNvPr>
          <p:cNvSpPr>
            <a:spLocks noGrp="1"/>
          </p:cNvSpPr>
          <p:nvPr>
            <p:ph idx="1"/>
          </p:nvPr>
        </p:nvSpPr>
        <p:spPr/>
        <p:txBody>
          <a:bodyPr/>
          <a:lstStyle/>
          <a:p>
            <a:r>
              <a:rPr lang="en-GB" dirty="0"/>
              <a:t>Step 13: Update </a:t>
            </a:r>
            <a:r>
              <a:rPr lang="en-GB" dirty="0" err="1"/>
              <a:t>api</a:t>
            </a:r>
            <a:r>
              <a:rPr lang="en-GB" dirty="0"/>
              <a:t> call code in </a:t>
            </a:r>
            <a:r>
              <a:rPr lang="en-GB" dirty="0" err="1"/>
              <a:t>allstudent.component.ts</a:t>
            </a:r>
            <a:endParaRPr lang="en-GB" dirty="0"/>
          </a:p>
          <a:p>
            <a:endParaRPr lang="en-GB" dirty="0"/>
          </a:p>
          <a:p>
            <a:endParaRPr lang="en-GB" dirty="0"/>
          </a:p>
          <a:p>
            <a:r>
              <a:rPr lang="en-GB" dirty="0"/>
              <a:t>Step 14: Display data in allstudent.component.html</a:t>
            </a:r>
            <a:endParaRPr lang="en-IN" dirty="0"/>
          </a:p>
        </p:txBody>
      </p:sp>
      <p:sp>
        <p:nvSpPr>
          <p:cNvPr id="4" name="Rectangle 3">
            <a:extLst>
              <a:ext uri="{FF2B5EF4-FFF2-40B4-BE49-F238E27FC236}">
                <a16:creationId xmlns:a16="http://schemas.microsoft.com/office/drawing/2014/main" id="{BE7BFBD8-3608-62BF-833F-25CED3C08403}"/>
              </a:ext>
            </a:extLst>
          </p:cNvPr>
          <p:cNvSpPr/>
          <p:nvPr/>
        </p:nvSpPr>
        <p:spPr>
          <a:xfrm>
            <a:off x="479834" y="1212838"/>
            <a:ext cx="4762123" cy="1036181"/>
          </a:xfrm>
          <a:prstGeom prst="rect">
            <a:avLst/>
          </a:prstGeom>
          <a:solidFill>
            <a:schemeClr val="tx1"/>
          </a:solidFill>
          <a:ln>
            <a:noFill/>
          </a:ln>
        </p:spPr>
        <p:txBody>
          <a:bodyPr wrap="square">
            <a:spAutoFit/>
          </a:bodyPr>
          <a:lstStyle/>
          <a:p>
            <a:pPr>
              <a:spcAft>
                <a:spcPts val="800"/>
              </a:spcAft>
            </a:pP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api</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getAll</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CDCAA"/>
                </a:solidFill>
                <a:latin typeface="Consolas" panose="020B0609020204030204" pitchFamily="49" charset="0"/>
                <a:ea typeface="Times New Roman" panose="02020603050405020304" pitchFamily="18" charset="0"/>
                <a:cs typeface="Times New Roman" panose="02020603050405020304" pitchFamily="18" charset="0"/>
              </a:rPr>
              <a:t>subscribe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res</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any</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=&gt;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data</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 </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res</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endParaRPr lang="en-IN" sz="2000" kern="100" dirty="0">
              <a:latin typeface="Calibri" panose="020F0502020204030204" pitchFamily="34" charset="0"/>
              <a:ea typeface="Calibri" panose="020F0502020204030204" pitchFamily="34" charset="0"/>
              <a:cs typeface="Shruti" panose="020B0502040204020203" pitchFamily="34" charset="0"/>
            </a:endParaRPr>
          </a:p>
        </p:txBody>
      </p:sp>
      <p:sp>
        <p:nvSpPr>
          <p:cNvPr id="5" name="Rectangle 4">
            <a:extLst>
              <a:ext uri="{FF2B5EF4-FFF2-40B4-BE49-F238E27FC236}">
                <a16:creationId xmlns:a16="http://schemas.microsoft.com/office/drawing/2014/main" id="{83652D53-2F2B-CCD3-FC4D-1A4CB9FE6FDC}"/>
              </a:ext>
            </a:extLst>
          </p:cNvPr>
          <p:cNvSpPr/>
          <p:nvPr/>
        </p:nvSpPr>
        <p:spPr>
          <a:xfrm>
            <a:off x="479834" y="2583960"/>
            <a:ext cx="4762123" cy="1733808"/>
          </a:xfrm>
          <a:prstGeom prst="rect">
            <a:avLst/>
          </a:prstGeom>
          <a:solidFill>
            <a:schemeClr val="tx1"/>
          </a:solidFill>
          <a:ln>
            <a:noFill/>
          </a:ln>
        </p:spPr>
        <p:txBody>
          <a:bodyPr wrap="square">
            <a:spAutoFit/>
          </a:bodyPr>
          <a:lstStyle/>
          <a:p>
            <a:pPr>
              <a:spcAft>
                <a:spcPts val="800"/>
              </a:spcAft>
            </a:pP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table</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tr</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ngFor</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let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stu</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of</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data</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td</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stu</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StudentName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td</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tr</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table</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Tree>
    <p:extLst>
      <p:ext uri="{BB962C8B-B14F-4D97-AF65-F5344CB8AC3E}">
        <p14:creationId xmlns:p14="http://schemas.microsoft.com/office/powerpoint/2010/main" val="1621460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AFD65-6D15-B9E2-ED88-AD5332F454DF}"/>
              </a:ext>
            </a:extLst>
          </p:cNvPr>
          <p:cNvSpPr>
            <a:spLocks noGrp="1"/>
          </p:cNvSpPr>
          <p:nvPr>
            <p:ph type="title"/>
          </p:nvPr>
        </p:nvSpPr>
        <p:spPr/>
        <p:txBody>
          <a:bodyPr/>
          <a:lstStyle/>
          <a:p>
            <a:r>
              <a:rPr lang="en-IN" dirty="0"/>
              <a:t>Steps to consume </a:t>
            </a:r>
            <a:r>
              <a:rPr lang="en-IN" dirty="0" err="1"/>
              <a:t>GetByID</a:t>
            </a:r>
            <a:r>
              <a:rPr lang="en-IN" dirty="0"/>
              <a:t> API</a:t>
            </a:r>
          </a:p>
        </p:txBody>
      </p:sp>
      <p:sp>
        <p:nvSpPr>
          <p:cNvPr id="3" name="Content Placeholder 2">
            <a:extLst>
              <a:ext uri="{FF2B5EF4-FFF2-40B4-BE49-F238E27FC236}">
                <a16:creationId xmlns:a16="http://schemas.microsoft.com/office/drawing/2014/main" id="{568981F9-9359-F7BE-DB40-D6E3ABA509BA}"/>
              </a:ext>
            </a:extLst>
          </p:cNvPr>
          <p:cNvSpPr>
            <a:spLocks noGrp="1"/>
          </p:cNvSpPr>
          <p:nvPr>
            <p:ph idx="1"/>
          </p:nvPr>
        </p:nvSpPr>
        <p:spPr/>
        <p:txBody>
          <a:bodyPr/>
          <a:lstStyle/>
          <a:p>
            <a:r>
              <a:rPr lang="en-GB" dirty="0"/>
              <a:t>Step 01 : create a new method in </a:t>
            </a:r>
            <a:r>
              <a:rPr lang="en-GB" dirty="0" err="1"/>
              <a:t>api-student.service.ts</a:t>
            </a:r>
            <a:endParaRPr lang="en-GB" dirty="0"/>
          </a:p>
          <a:p>
            <a:endParaRPr lang="en-GB" dirty="0"/>
          </a:p>
          <a:p>
            <a:pPr marL="0" indent="0">
              <a:buNone/>
            </a:pPr>
            <a:endParaRPr lang="en-IN" dirty="0"/>
          </a:p>
          <a:p>
            <a:r>
              <a:rPr lang="en-GB" dirty="0"/>
              <a:t>Step 02: create new component</a:t>
            </a:r>
          </a:p>
          <a:p>
            <a:endParaRPr lang="en-GB" dirty="0"/>
          </a:p>
          <a:p>
            <a:r>
              <a:rPr lang="en-GB" dirty="0"/>
              <a:t>Step 03: create new route in </a:t>
            </a:r>
            <a:r>
              <a:rPr lang="en-GB" dirty="0" err="1"/>
              <a:t>app.routes.ts</a:t>
            </a:r>
            <a:endParaRPr lang="en-GB" dirty="0"/>
          </a:p>
          <a:p>
            <a:endParaRPr lang="en-GB" dirty="0"/>
          </a:p>
          <a:p>
            <a:r>
              <a:rPr lang="en-GB" dirty="0"/>
              <a:t>Step 04: Inject </a:t>
            </a:r>
            <a:r>
              <a:rPr lang="en-GB" dirty="0" err="1"/>
              <a:t>ActivatedRoute</a:t>
            </a:r>
            <a:r>
              <a:rPr lang="en-GB" dirty="0"/>
              <a:t> in detail-student.com...</a:t>
            </a:r>
            <a:r>
              <a:rPr lang="en-GB" dirty="0" err="1"/>
              <a:t>ts</a:t>
            </a:r>
            <a:endParaRPr lang="en-GB" dirty="0"/>
          </a:p>
          <a:p>
            <a:endParaRPr lang="en-GB" dirty="0"/>
          </a:p>
          <a:p>
            <a:r>
              <a:rPr lang="en-GB" dirty="0"/>
              <a:t>Step 05: get the id from the </a:t>
            </a:r>
            <a:r>
              <a:rPr lang="en-GB" dirty="0" err="1"/>
              <a:t>url</a:t>
            </a:r>
            <a:r>
              <a:rPr lang="en-GB" dirty="0"/>
              <a:t> in </a:t>
            </a:r>
            <a:r>
              <a:rPr lang="en-GB" dirty="0" err="1"/>
              <a:t>ngOnInit</a:t>
            </a:r>
            <a:r>
              <a:rPr lang="en-GB" dirty="0"/>
              <a:t> in detail-student.com….</a:t>
            </a:r>
            <a:r>
              <a:rPr lang="en-GB" dirty="0" err="1"/>
              <a:t>ts</a:t>
            </a:r>
            <a:endParaRPr lang="en-GB" dirty="0"/>
          </a:p>
          <a:p>
            <a:endParaRPr lang="en-GB" dirty="0"/>
          </a:p>
          <a:p>
            <a:r>
              <a:rPr lang="en-GB" dirty="0"/>
              <a:t>Step 06: Create a data object of Student class</a:t>
            </a:r>
          </a:p>
        </p:txBody>
      </p:sp>
      <p:sp>
        <p:nvSpPr>
          <p:cNvPr id="4" name="Rectangle 3">
            <a:extLst>
              <a:ext uri="{FF2B5EF4-FFF2-40B4-BE49-F238E27FC236}">
                <a16:creationId xmlns:a16="http://schemas.microsoft.com/office/drawing/2014/main" id="{0D6126DD-1EB9-F973-B074-F5D56272CB03}"/>
              </a:ext>
            </a:extLst>
          </p:cNvPr>
          <p:cNvSpPr/>
          <p:nvPr/>
        </p:nvSpPr>
        <p:spPr>
          <a:xfrm>
            <a:off x="479834" y="1258103"/>
            <a:ext cx="5459239" cy="1036181"/>
          </a:xfrm>
          <a:prstGeom prst="rect">
            <a:avLst/>
          </a:prstGeom>
          <a:solidFill>
            <a:schemeClr val="tx1"/>
          </a:solidFill>
          <a:ln>
            <a:noFill/>
          </a:ln>
        </p:spPr>
        <p:txBody>
          <a:bodyPr wrap="square">
            <a:spAutoFit/>
          </a:bodyPr>
          <a:lstStyle/>
          <a:p>
            <a:pPr>
              <a:spcAft>
                <a:spcPts val="800"/>
              </a:spcAft>
            </a:pP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getById</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id</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number</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C586C0"/>
                </a:solidFill>
                <a:latin typeface="Consolas" panose="020B0609020204030204" pitchFamily="49" charset="0"/>
                <a:ea typeface="Times New Roman" panose="02020603050405020304" pitchFamily="18" charset="0"/>
                <a:cs typeface="Times New Roman" panose="02020603050405020304" pitchFamily="18" charset="0"/>
              </a:rPr>
              <a:t>return</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http</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get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apiUrl</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id</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
        <p:nvSpPr>
          <p:cNvPr id="5" name="Rectangle 4">
            <a:extLst>
              <a:ext uri="{FF2B5EF4-FFF2-40B4-BE49-F238E27FC236}">
                <a16:creationId xmlns:a16="http://schemas.microsoft.com/office/drawing/2014/main" id="{44470EC4-8223-89A5-89C9-495B32CE7FE3}"/>
              </a:ext>
            </a:extLst>
          </p:cNvPr>
          <p:cNvSpPr/>
          <p:nvPr/>
        </p:nvSpPr>
        <p:spPr>
          <a:xfrm>
            <a:off x="479834" y="2640434"/>
            <a:ext cx="4345665" cy="338554"/>
          </a:xfrm>
          <a:prstGeom prst="rect">
            <a:avLst/>
          </a:prstGeom>
          <a:solidFill>
            <a:schemeClr val="tx1"/>
          </a:solidFill>
          <a:ln>
            <a:noFill/>
          </a:ln>
        </p:spPr>
        <p:txBody>
          <a:bodyPr wrap="square">
            <a:spAutoFit/>
          </a:bodyPr>
          <a:lstStyle/>
          <a:p>
            <a:r>
              <a:rPr lang="en-US" sz="1600" dirty="0">
                <a:solidFill>
                  <a:schemeClr val="bg1"/>
                </a:solidFill>
                <a:latin typeface="Consolas" panose="020B0609020204030204" pitchFamily="49" charset="0"/>
              </a:rPr>
              <a:t>ng generate component detail-student</a:t>
            </a:r>
          </a:p>
        </p:txBody>
      </p:sp>
      <p:sp>
        <p:nvSpPr>
          <p:cNvPr id="6" name="Rectangle 5">
            <a:extLst>
              <a:ext uri="{FF2B5EF4-FFF2-40B4-BE49-F238E27FC236}">
                <a16:creationId xmlns:a16="http://schemas.microsoft.com/office/drawing/2014/main" id="{E7A33E7E-24C6-3002-9252-7F718472013C}"/>
              </a:ext>
            </a:extLst>
          </p:cNvPr>
          <p:cNvSpPr/>
          <p:nvPr/>
        </p:nvSpPr>
        <p:spPr>
          <a:xfrm>
            <a:off x="479834" y="3530536"/>
            <a:ext cx="6328372" cy="338554"/>
          </a:xfrm>
          <a:prstGeom prst="rect">
            <a:avLst/>
          </a:prstGeom>
          <a:solidFill>
            <a:schemeClr val="tx1"/>
          </a:solidFill>
          <a:ln>
            <a:noFill/>
          </a:ln>
        </p:spPr>
        <p:txBody>
          <a:bodyPr wrap="square">
            <a:spAutoFit/>
          </a:bodyPr>
          <a:lstStyle/>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path:</a:t>
            </a:r>
            <a:r>
              <a:rPr lang="en-IN" sz="1600" kern="0" dirty="0" err="1">
                <a:solidFill>
                  <a:srgbClr val="CE9178"/>
                </a:solidFill>
                <a:latin typeface="Consolas" panose="020B0609020204030204" pitchFamily="49" charset="0"/>
                <a:ea typeface="Times New Roman" panose="02020603050405020304" pitchFamily="18" charset="0"/>
                <a:cs typeface="Times New Roman" panose="02020603050405020304" pitchFamily="18" charset="0"/>
              </a:rPr>
              <a:t>'students</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/:id'</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component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DetailStudentComponent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
        <p:nvSpPr>
          <p:cNvPr id="9" name="Rectangle 8">
            <a:extLst>
              <a:ext uri="{FF2B5EF4-FFF2-40B4-BE49-F238E27FC236}">
                <a16:creationId xmlns:a16="http://schemas.microsoft.com/office/drawing/2014/main" id="{9727A243-D05B-35B2-D359-DA58C99606FC}"/>
              </a:ext>
            </a:extLst>
          </p:cNvPr>
          <p:cNvSpPr/>
          <p:nvPr/>
        </p:nvSpPr>
        <p:spPr>
          <a:xfrm>
            <a:off x="479834" y="4440237"/>
            <a:ext cx="4553893" cy="338554"/>
          </a:xfrm>
          <a:prstGeom prst="rect">
            <a:avLst/>
          </a:prstGeom>
          <a:solidFill>
            <a:schemeClr val="tx1"/>
          </a:solidFill>
          <a:ln>
            <a:noFill/>
          </a:ln>
        </p:spPr>
        <p:txBody>
          <a:bodyPr wrap="square">
            <a:spAutoFit/>
          </a:bodyPr>
          <a:lstStyle/>
          <a:p>
            <a:pPr>
              <a:spcAft>
                <a:spcPts val="800"/>
              </a:spcAft>
            </a:pP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private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activatedRoute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ActivatedRoute</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
        <p:nvSpPr>
          <p:cNvPr id="12" name="Rectangle 11">
            <a:extLst>
              <a:ext uri="{FF2B5EF4-FFF2-40B4-BE49-F238E27FC236}">
                <a16:creationId xmlns:a16="http://schemas.microsoft.com/office/drawing/2014/main" id="{1F7523EE-F838-B9ED-D6A3-6DAAFF3388D3}"/>
              </a:ext>
            </a:extLst>
          </p:cNvPr>
          <p:cNvSpPr/>
          <p:nvPr/>
        </p:nvSpPr>
        <p:spPr>
          <a:xfrm>
            <a:off x="479834" y="5414252"/>
            <a:ext cx="6328372" cy="338554"/>
          </a:xfrm>
          <a:prstGeom prst="rect">
            <a:avLst/>
          </a:prstGeom>
          <a:solidFill>
            <a:schemeClr val="tx1"/>
          </a:solidFill>
          <a:ln>
            <a:noFill/>
          </a:ln>
        </p:spPr>
        <p:txBody>
          <a:bodyPr wrap="square">
            <a:spAutoFit/>
          </a:bodyPr>
          <a:lstStyle/>
          <a:p>
            <a:pPr>
              <a:spcAft>
                <a:spcPts val="800"/>
              </a:spcAft>
            </a:pP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id</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activatedRoute</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snapshot</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params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'id'</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
        <p:nvSpPr>
          <p:cNvPr id="13" name="Rectangle 12">
            <a:extLst>
              <a:ext uri="{FF2B5EF4-FFF2-40B4-BE49-F238E27FC236}">
                <a16:creationId xmlns:a16="http://schemas.microsoft.com/office/drawing/2014/main" id="{8FE4530F-F69F-9734-FB55-91495FC97D06}"/>
              </a:ext>
            </a:extLst>
          </p:cNvPr>
          <p:cNvSpPr/>
          <p:nvPr/>
        </p:nvSpPr>
        <p:spPr>
          <a:xfrm>
            <a:off x="479834" y="6268233"/>
            <a:ext cx="6328372" cy="338554"/>
          </a:xfrm>
          <a:prstGeom prst="rect">
            <a:avLst/>
          </a:prstGeom>
          <a:solidFill>
            <a:schemeClr val="tx1"/>
          </a:solidFill>
          <a:ln>
            <a:noFill/>
          </a:ln>
        </p:spPr>
        <p:txBody>
          <a:bodyPr wrap="square">
            <a:spAutoFit/>
          </a:bodyPr>
          <a:lstStyle/>
          <a:p>
            <a:pPr>
              <a:spcAft>
                <a:spcPts val="800"/>
              </a:spcAft>
            </a:pP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data</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Student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new</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4EC9B0"/>
                </a:solidFill>
                <a:latin typeface="Consolas" panose="020B0609020204030204" pitchFamily="49" charset="0"/>
                <a:ea typeface="Times New Roman" panose="02020603050405020304" pitchFamily="18" charset="0"/>
                <a:cs typeface="Times New Roman" panose="02020603050405020304" pitchFamily="18" charset="0"/>
              </a:rPr>
              <a:t>Student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Tree>
    <p:extLst>
      <p:ext uri="{BB962C8B-B14F-4D97-AF65-F5344CB8AC3E}">
        <p14:creationId xmlns:p14="http://schemas.microsoft.com/office/powerpoint/2010/main" val="1240536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bg/>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uiExpand="1" build="p" animBg="1"/>
      <p:bldP spid="6" grpId="0" animBg="1"/>
      <p:bldP spid="9" grpId="0" animBg="1"/>
      <p:bldP spid="12" grpId="0" animBg="1"/>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06F7B-2C0D-3E4E-F16B-F394B01D8DC3}"/>
              </a:ext>
            </a:extLst>
          </p:cNvPr>
          <p:cNvSpPr>
            <a:spLocks noGrp="1"/>
          </p:cNvSpPr>
          <p:nvPr>
            <p:ph type="title"/>
          </p:nvPr>
        </p:nvSpPr>
        <p:spPr/>
        <p:txBody>
          <a:bodyPr/>
          <a:lstStyle/>
          <a:p>
            <a:r>
              <a:rPr lang="en-IN" dirty="0"/>
              <a:t>Steps to consume </a:t>
            </a:r>
            <a:r>
              <a:rPr lang="en-IN" dirty="0" err="1"/>
              <a:t>GetByID</a:t>
            </a:r>
            <a:r>
              <a:rPr lang="en-IN" dirty="0"/>
              <a:t> API (Cont.)</a:t>
            </a:r>
          </a:p>
        </p:txBody>
      </p:sp>
      <p:sp>
        <p:nvSpPr>
          <p:cNvPr id="3" name="Content Placeholder 2">
            <a:extLst>
              <a:ext uri="{FF2B5EF4-FFF2-40B4-BE49-F238E27FC236}">
                <a16:creationId xmlns:a16="http://schemas.microsoft.com/office/drawing/2014/main" id="{6A8F1BBC-73D6-C38E-37CE-C1150F4C4F3E}"/>
              </a:ext>
            </a:extLst>
          </p:cNvPr>
          <p:cNvSpPr>
            <a:spLocks noGrp="1"/>
          </p:cNvSpPr>
          <p:nvPr>
            <p:ph idx="1"/>
          </p:nvPr>
        </p:nvSpPr>
        <p:spPr/>
        <p:txBody>
          <a:bodyPr/>
          <a:lstStyle/>
          <a:p>
            <a:r>
              <a:rPr lang="en-GB" dirty="0"/>
              <a:t>Step 07: Call </a:t>
            </a:r>
            <a:r>
              <a:rPr lang="en-GB" dirty="0" err="1"/>
              <a:t>api</a:t>
            </a:r>
            <a:r>
              <a:rPr lang="en-GB" dirty="0"/>
              <a:t> using provided id in </a:t>
            </a:r>
            <a:r>
              <a:rPr lang="en-GB" dirty="0" err="1"/>
              <a:t>ngOnInit</a:t>
            </a:r>
            <a:r>
              <a:rPr lang="en-GB" dirty="0"/>
              <a:t> method</a:t>
            </a:r>
          </a:p>
          <a:p>
            <a:endParaRPr lang="en-GB" dirty="0"/>
          </a:p>
          <a:p>
            <a:pPr marL="0" indent="0">
              <a:buNone/>
            </a:pPr>
            <a:endParaRPr lang="en-GB" dirty="0"/>
          </a:p>
          <a:p>
            <a:r>
              <a:rPr lang="en-GB" dirty="0"/>
              <a:t>Step 08: Display data in detail-</a:t>
            </a:r>
            <a:r>
              <a:rPr lang="en-GB" dirty="0" err="1"/>
              <a:t>student.comp</a:t>
            </a:r>
            <a:r>
              <a:rPr lang="en-GB" dirty="0"/>
              <a:t>……html</a:t>
            </a:r>
          </a:p>
          <a:p>
            <a:endParaRPr lang="en-GB" dirty="0"/>
          </a:p>
          <a:p>
            <a:pPr marL="0" indent="0">
              <a:buNone/>
            </a:pPr>
            <a:endParaRPr lang="en-GB" dirty="0"/>
          </a:p>
          <a:p>
            <a:r>
              <a:rPr lang="en-GB" dirty="0"/>
              <a:t>Step 09: Inject Router in </a:t>
            </a:r>
            <a:r>
              <a:rPr lang="en-GB" dirty="0" err="1"/>
              <a:t>allstudents.comp</a:t>
            </a:r>
            <a:r>
              <a:rPr lang="en-GB" dirty="0"/>
              <a:t>…..</a:t>
            </a:r>
            <a:r>
              <a:rPr lang="en-GB" dirty="0" err="1"/>
              <a:t>ts</a:t>
            </a:r>
            <a:endParaRPr lang="en-GB" dirty="0"/>
          </a:p>
          <a:p>
            <a:pPr lvl="1"/>
            <a:endParaRPr lang="en-GB" dirty="0"/>
          </a:p>
          <a:p>
            <a:r>
              <a:rPr lang="en-GB" dirty="0"/>
              <a:t>Step 10: create a </a:t>
            </a:r>
            <a:r>
              <a:rPr lang="en-GB" dirty="0" err="1"/>
              <a:t>goToDetail</a:t>
            </a:r>
            <a:r>
              <a:rPr lang="en-GB" dirty="0"/>
              <a:t> method in </a:t>
            </a:r>
            <a:r>
              <a:rPr lang="en-GB" dirty="0" err="1"/>
              <a:t>allstudent.comp</a:t>
            </a:r>
            <a:r>
              <a:rPr lang="en-GB" dirty="0"/>
              <a:t>….</a:t>
            </a:r>
            <a:r>
              <a:rPr lang="en-GB" dirty="0" err="1"/>
              <a:t>ts</a:t>
            </a:r>
            <a:endParaRPr lang="en-GB" dirty="0"/>
          </a:p>
          <a:p>
            <a:endParaRPr lang="en-GB" dirty="0"/>
          </a:p>
          <a:p>
            <a:endParaRPr lang="en-GB" dirty="0"/>
          </a:p>
          <a:p>
            <a:r>
              <a:rPr lang="en-GB" dirty="0"/>
              <a:t>Step 11: call </a:t>
            </a:r>
            <a:r>
              <a:rPr lang="en-GB" dirty="0" err="1"/>
              <a:t>goToDetail</a:t>
            </a:r>
            <a:r>
              <a:rPr lang="en-GB" dirty="0"/>
              <a:t> method in allstudent.comp….html</a:t>
            </a:r>
            <a:endParaRPr lang="en-IN" dirty="0"/>
          </a:p>
        </p:txBody>
      </p:sp>
      <p:sp>
        <p:nvSpPr>
          <p:cNvPr id="4" name="Rectangle 3">
            <a:extLst>
              <a:ext uri="{FF2B5EF4-FFF2-40B4-BE49-F238E27FC236}">
                <a16:creationId xmlns:a16="http://schemas.microsoft.com/office/drawing/2014/main" id="{1C430249-DBF1-ECEE-C834-A5857D3E7E52}"/>
              </a:ext>
            </a:extLst>
          </p:cNvPr>
          <p:cNvSpPr/>
          <p:nvPr/>
        </p:nvSpPr>
        <p:spPr>
          <a:xfrm>
            <a:off x="489070" y="1211921"/>
            <a:ext cx="5920966" cy="1036181"/>
          </a:xfrm>
          <a:prstGeom prst="rect">
            <a:avLst/>
          </a:prstGeom>
          <a:solidFill>
            <a:schemeClr val="tx1"/>
          </a:solidFill>
          <a:ln>
            <a:noFill/>
          </a:ln>
        </p:spPr>
        <p:txBody>
          <a:bodyPr wrap="square">
            <a:spAutoFit/>
          </a:bodyPr>
          <a:lstStyle/>
          <a:p>
            <a:pPr>
              <a:spcAft>
                <a:spcPts val="800"/>
              </a:spcAft>
            </a:pP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api</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getById</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id</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CDCAA"/>
                </a:solidFill>
                <a:latin typeface="Consolas" panose="020B0609020204030204" pitchFamily="49" charset="0"/>
                <a:ea typeface="Times New Roman" panose="02020603050405020304" pitchFamily="18" charset="0"/>
                <a:cs typeface="Times New Roman" panose="02020603050405020304" pitchFamily="18" charset="0"/>
              </a:rPr>
              <a:t>subscribe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res</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any</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=&gt;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data</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 </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res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
        <p:nvSpPr>
          <p:cNvPr id="5" name="Rectangle 4">
            <a:extLst>
              <a:ext uri="{FF2B5EF4-FFF2-40B4-BE49-F238E27FC236}">
                <a16:creationId xmlns:a16="http://schemas.microsoft.com/office/drawing/2014/main" id="{C021E9C3-0A40-E238-D337-E271AABC5E43}"/>
              </a:ext>
            </a:extLst>
          </p:cNvPr>
          <p:cNvSpPr/>
          <p:nvPr/>
        </p:nvSpPr>
        <p:spPr>
          <a:xfrm>
            <a:off x="489070" y="2596579"/>
            <a:ext cx="5920966" cy="1036181"/>
          </a:xfrm>
          <a:prstGeom prst="rect">
            <a:avLst/>
          </a:prstGeom>
          <a:solidFill>
            <a:schemeClr val="tx1"/>
          </a:solidFill>
          <a:ln>
            <a:noFill/>
          </a:ln>
        </p:spPr>
        <p:txBody>
          <a:bodyPr wrap="square">
            <a:spAutoFit/>
          </a:bodyPr>
          <a:lstStyle/>
          <a:p>
            <a:pPr>
              <a:spcAft>
                <a:spcPts val="800"/>
              </a:spcAft>
            </a:pP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h1</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data</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StudentName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h1</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p</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Email : {{ </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data</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StudentEmail</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p</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p</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Mobile : {{ </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data</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StudentMobile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p</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
        <p:nvSpPr>
          <p:cNvPr id="6" name="Rectangle 5">
            <a:extLst>
              <a:ext uri="{FF2B5EF4-FFF2-40B4-BE49-F238E27FC236}">
                <a16:creationId xmlns:a16="http://schemas.microsoft.com/office/drawing/2014/main" id="{F00E19BD-9F2B-384C-427C-792A1AE13330}"/>
              </a:ext>
            </a:extLst>
          </p:cNvPr>
          <p:cNvSpPr/>
          <p:nvPr/>
        </p:nvSpPr>
        <p:spPr>
          <a:xfrm>
            <a:off x="544947" y="3981237"/>
            <a:ext cx="3084946" cy="338554"/>
          </a:xfrm>
          <a:prstGeom prst="rect">
            <a:avLst/>
          </a:prstGeom>
          <a:solidFill>
            <a:schemeClr val="tx1"/>
          </a:solidFill>
          <a:ln>
            <a:noFill/>
          </a:ln>
        </p:spPr>
        <p:txBody>
          <a:bodyPr wrap="square">
            <a:spAutoFit/>
          </a:bodyPr>
          <a:lstStyle/>
          <a:p>
            <a:pPr>
              <a:spcAft>
                <a:spcPts val="800"/>
              </a:spcAft>
            </a:pP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private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_router</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4EC9B0"/>
                </a:solidFill>
                <a:latin typeface="Consolas" panose="020B0609020204030204" pitchFamily="49" charset="0"/>
                <a:ea typeface="Times New Roman" panose="02020603050405020304" pitchFamily="18" charset="0"/>
                <a:cs typeface="Times New Roman" panose="02020603050405020304" pitchFamily="18" charset="0"/>
              </a:rPr>
              <a:t>Router</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
        <p:nvSpPr>
          <p:cNvPr id="7" name="Rectangle 6">
            <a:extLst>
              <a:ext uri="{FF2B5EF4-FFF2-40B4-BE49-F238E27FC236}">
                <a16:creationId xmlns:a16="http://schemas.microsoft.com/office/drawing/2014/main" id="{1D99ADED-8ECC-BCD5-F373-D108337B3504}"/>
              </a:ext>
            </a:extLst>
          </p:cNvPr>
          <p:cNvSpPr/>
          <p:nvPr/>
        </p:nvSpPr>
        <p:spPr>
          <a:xfrm>
            <a:off x="489070" y="4769406"/>
            <a:ext cx="5920966" cy="1036181"/>
          </a:xfrm>
          <a:prstGeom prst="rect">
            <a:avLst/>
          </a:prstGeom>
          <a:solidFill>
            <a:schemeClr val="tx1"/>
          </a:solidFill>
          <a:ln>
            <a:noFill/>
          </a:ln>
        </p:spPr>
        <p:txBody>
          <a:bodyPr wrap="square">
            <a:spAutoFit/>
          </a:bodyPr>
          <a:lstStyle/>
          <a:p>
            <a:pPr>
              <a:spcAft>
                <a:spcPts val="800"/>
              </a:spcAft>
            </a:pP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goToDetail</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id</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Number</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router</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navigate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CE9178"/>
                </a:solidFill>
                <a:latin typeface="Consolas" panose="020B0609020204030204" pitchFamily="49" charset="0"/>
                <a:ea typeface="Times New Roman" panose="02020603050405020304" pitchFamily="18" charset="0"/>
                <a:cs typeface="Times New Roman" panose="02020603050405020304" pitchFamily="18" charset="0"/>
              </a:rPr>
              <a:t>students'</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id</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
        <p:nvSpPr>
          <p:cNvPr id="8" name="Rectangle 7">
            <a:extLst>
              <a:ext uri="{FF2B5EF4-FFF2-40B4-BE49-F238E27FC236}">
                <a16:creationId xmlns:a16="http://schemas.microsoft.com/office/drawing/2014/main" id="{5766C404-F310-D6F2-198C-A4D6478FD952}"/>
              </a:ext>
            </a:extLst>
          </p:cNvPr>
          <p:cNvSpPr/>
          <p:nvPr/>
        </p:nvSpPr>
        <p:spPr>
          <a:xfrm>
            <a:off x="489070" y="6159888"/>
            <a:ext cx="7121694" cy="338554"/>
          </a:xfrm>
          <a:prstGeom prst="rect">
            <a:avLst/>
          </a:prstGeom>
          <a:solidFill>
            <a:schemeClr val="tx1"/>
          </a:solidFill>
          <a:ln>
            <a:noFill/>
          </a:ln>
        </p:spPr>
        <p:txBody>
          <a:bodyPr wrap="square">
            <a:spAutoFit/>
          </a:bodyPr>
          <a:lstStyle/>
          <a:p>
            <a:pPr>
              <a:spcAft>
                <a:spcPts val="800"/>
              </a:spcAft>
            </a:pP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button</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(click)</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goToDetail</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stu</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id</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Detail</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button</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Tree>
    <p:extLst>
      <p:ext uri="{BB962C8B-B14F-4D97-AF65-F5344CB8AC3E}">
        <p14:creationId xmlns:p14="http://schemas.microsoft.com/office/powerpoint/2010/main" val="3290327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P spid="6" grpId="0" animBg="1"/>
      <p:bldP spid="7"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FC7A2-B9A7-3C4E-CC54-88FF21982C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CD6FB1-1C83-8A8E-88BD-0FDF1893222E}"/>
              </a:ext>
            </a:extLst>
          </p:cNvPr>
          <p:cNvSpPr>
            <a:spLocks noGrp="1"/>
          </p:cNvSpPr>
          <p:nvPr>
            <p:ph type="title"/>
          </p:nvPr>
        </p:nvSpPr>
        <p:spPr/>
        <p:txBody>
          <a:bodyPr/>
          <a:lstStyle/>
          <a:p>
            <a:r>
              <a:rPr lang="en-IN" dirty="0"/>
              <a:t>Steps to consume delete API</a:t>
            </a:r>
          </a:p>
        </p:txBody>
      </p:sp>
      <p:sp>
        <p:nvSpPr>
          <p:cNvPr id="3" name="Content Placeholder 2">
            <a:extLst>
              <a:ext uri="{FF2B5EF4-FFF2-40B4-BE49-F238E27FC236}">
                <a16:creationId xmlns:a16="http://schemas.microsoft.com/office/drawing/2014/main" id="{5E3B2BD6-CB6F-DD4D-83B0-AE68EF09EBD2}"/>
              </a:ext>
            </a:extLst>
          </p:cNvPr>
          <p:cNvSpPr>
            <a:spLocks noGrp="1"/>
          </p:cNvSpPr>
          <p:nvPr>
            <p:ph idx="1"/>
          </p:nvPr>
        </p:nvSpPr>
        <p:spPr/>
        <p:txBody>
          <a:bodyPr/>
          <a:lstStyle/>
          <a:p>
            <a:r>
              <a:rPr lang="en-IN" dirty="0"/>
              <a:t>In order to consume the delete API you just need to create a button either on the </a:t>
            </a:r>
            <a:r>
              <a:rPr lang="en-IN" dirty="0" err="1"/>
              <a:t>getAll</a:t>
            </a:r>
            <a:r>
              <a:rPr lang="en-IN" dirty="0"/>
              <a:t> component or in the detail component and call delete method from the service.</a:t>
            </a:r>
          </a:p>
          <a:p>
            <a:r>
              <a:rPr lang="en-GB" dirty="0"/>
              <a:t>Step 01 : create a new method in </a:t>
            </a:r>
            <a:r>
              <a:rPr lang="en-GB" dirty="0" err="1"/>
              <a:t>api-student.service.ts</a:t>
            </a:r>
            <a:endParaRPr lang="en-GB" dirty="0"/>
          </a:p>
          <a:p>
            <a:endParaRPr lang="en-GB" dirty="0"/>
          </a:p>
          <a:p>
            <a:endParaRPr lang="en-GB" dirty="0"/>
          </a:p>
          <a:p>
            <a:endParaRPr lang="en-GB" dirty="0"/>
          </a:p>
          <a:p>
            <a:r>
              <a:rPr lang="en-GB" dirty="0"/>
              <a:t>Step 02: create a delete method in </a:t>
            </a:r>
            <a:r>
              <a:rPr lang="en-GB" dirty="0" err="1"/>
              <a:t>allstudent.comp</a:t>
            </a:r>
            <a:r>
              <a:rPr lang="en-GB" dirty="0"/>
              <a:t>….</a:t>
            </a:r>
            <a:r>
              <a:rPr lang="en-GB" dirty="0" err="1"/>
              <a:t>ts</a:t>
            </a:r>
            <a:endParaRPr lang="en-GB" dirty="0"/>
          </a:p>
          <a:p>
            <a:endParaRPr lang="en-GB" dirty="0"/>
          </a:p>
          <a:p>
            <a:endParaRPr lang="en-GB" dirty="0"/>
          </a:p>
          <a:p>
            <a:endParaRPr lang="en-GB" dirty="0"/>
          </a:p>
          <a:p>
            <a:r>
              <a:rPr lang="en-GB" dirty="0"/>
              <a:t>Step 03: call delete method in allstudent.comp….html</a:t>
            </a:r>
          </a:p>
          <a:p>
            <a:endParaRPr lang="en-GB" dirty="0"/>
          </a:p>
          <a:p>
            <a:endParaRPr lang="en-GB" dirty="0"/>
          </a:p>
        </p:txBody>
      </p:sp>
      <p:sp>
        <p:nvSpPr>
          <p:cNvPr id="4" name="Rectangle 3">
            <a:extLst>
              <a:ext uri="{FF2B5EF4-FFF2-40B4-BE49-F238E27FC236}">
                <a16:creationId xmlns:a16="http://schemas.microsoft.com/office/drawing/2014/main" id="{CAEC6DD3-0935-C583-E3A9-4560B44B128A}"/>
              </a:ext>
            </a:extLst>
          </p:cNvPr>
          <p:cNvSpPr/>
          <p:nvPr/>
        </p:nvSpPr>
        <p:spPr>
          <a:xfrm>
            <a:off x="507543" y="2061667"/>
            <a:ext cx="6216530" cy="1036181"/>
          </a:xfrm>
          <a:prstGeom prst="rect">
            <a:avLst/>
          </a:prstGeom>
          <a:solidFill>
            <a:schemeClr val="tx1"/>
          </a:solidFill>
          <a:ln>
            <a:noFill/>
          </a:ln>
        </p:spPr>
        <p:txBody>
          <a:bodyPr wrap="square">
            <a:spAutoFit/>
          </a:bodyPr>
          <a:lstStyle/>
          <a:p>
            <a:pPr>
              <a:spcAft>
                <a:spcPts val="800"/>
              </a:spcAft>
            </a:pPr>
            <a:r>
              <a:rPr lang="en-IN" sz="1600" kern="0" dirty="0">
                <a:solidFill>
                  <a:srgbClr val="DCDCAA"/>
                </a:solidFill>
                <a:latin typeface="Consolas" panose="020B0609020204030204" pitchFamily="49" charset="0"/>
                <a:ea typeface="Times New Roman" panose="02020603050405020304" pitchFamily="18" charset="0"/>
                <a:cs typeface="Times New Roman" panose="02020603050405020304" pitchFamily="18" charset="0"/>
              </a:rPr>
              <a:t>delete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id</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number</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C586C0"/>
                </a:solidFill>
                <a:latin typeface="Consolas" panose="020B0609020204030204" pitchFamily="49" charset="0"/>
                <a:ea typeface="Times New Roman" panose="02020603050405020304" pitchFamily="18" charset="0"/>
                <a:cs typeface="Times New Roman" panose="02020603050405020304" pitchFamily="18" charset="0"/>
              </a:rPr>
              <a:t>return</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http</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delete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apiUrl</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id</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
        <p:nvSpPr>
          <p:cNvPr id="5" name="Rectangle 4">
            <a:extLst>
              <a:ext uri="{FF2B5EF4-FFF2-40B4-BE49-F238E27FC236}">
                <a16:creationId xmlns:a16="http://schemas.microsoft.com/office/drawing/2014/main" id="{666133A8-7D3A-5005-1458-E5288A983799}"/>
              </a:ext>
            </a:extLst>
          </p:cNvPr>
          <p:cNvSpPr/>
          <p:nvPr/>
        </p:nvSpPr>
        <p:spPr>
          <a:xfrm>
            <a:off x="507543" y="3891951"/>
            <a:ext cx="5920966" cy="1036181"/>
          </a:xfrm>
          <a:prstGeom prst="rect">
            <a:avLst/>
          </a:prstGeom>
          <a:solidFill>
            <a:schemeClr val="tx1"/>
          </a:solidFill>
          <a:ln>
            <a:noFill/>
          </a:ln>
        </p:spPr>
        <p:txBody>
          <a:bodyPr wrap="square">
            <a:spAutoFit/>
          </a:bodyPr>
          <a:lstStyle/>
          <a:p>
            <a:pPr lvl="0">
              <a:spcAft>
                <a:spcPts val="800"/>
              </a:spcAft>
            </a:pP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api</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delete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id</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CDCAA"/>
                </a:solidFill>
                <a:latin typeface="Consolas" panose="020B0609020204030204" pitchFamily="49" charset="0"/>
                <a:ea typeface="Times New Roman" panose="02020603050405020304" pitchFamily="18" charset="0"/>
                <a:cs typeface="Times New Roman" panose="02020603050405020304" pitchFamily="18" charset="0"/>
              </a:rPr>
              <a:t>subscribe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res</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any</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=&gt;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solidFill>
                <a:srgbClr val="212121"/>
              </a:solidFill>
              <a:latin typeface="Calibri" panose="020F0502020204030204" pitchFamily="34" charset="0"/>
              <a:ea typeface="Calibri" panose="020F0502020204030204" pitchFamily="34" charset="0"/>
              <a:cs typeface="Shruti" panose="020B0502040204020203" pitchFamily="34" charset="0"/>
            </a:endParaRPr>
          </a:p>
          <a:p>
            <a:pPr lvl="0">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569CD6"/>
                </a:solidFill>
                <a:latin typeface="Consolas" panose="020B0609020204030204" pitchFamily="49" charset="0"/>
                <a:ea typeface="Times New Roman" panose="02020603050405020304" pitchFamily="18" charset="0"/>
                <a:cs typeface="Times New Roman" panose="02020603050405020304" pitchFamily="18" charset="0"/>
              </a:rPr>
              <a:t>ngOnInit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solidFill>
                <a:srgbClr val="212121"/>
              </a:solidFill>
              <a:latin typeface="Calibri" panose="020F0502020204030204" pitchFamily="34" charset="0"/>
              <a:ea typeface="Calibri" panose="020F0502020204030204" pitchFamily="34" charset="0"/>
              <a:cs typeface="Shruti" panose="020B0502040204020203" pitchFamily="34" charset="0"/>
            </a:endParaRPr>
          </a:p>
          <a:p>
            <a:pPr lvl="0">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solidFill>
                <a:srgbClr val="212121"/>
              </a:solidFill>
              <a:latin typeface="Calibri" panose="020F0502020204030204" pitchFamily="34" charset="0"/>
              <a:ea typeface="Calibri" panose="020F0502020204030204" pitchFamily="34" charset="0"/>
              <a:cs typeface="Shruti" panose="020B0502040204020203" pitchFamily="34" charset="0"/>
            </a:endParaRPr>
          </a:p>
        </p:txBody>
      </p:sp>
      <p:sp>
        <p:nvSpPr>
          <p:cNvPr id="6" name="Rectangle 5">
            <a:extLst>
              <a:ext uri="{FF2B5EF4-FFF2-40B4-BE49-F238E27FC236}">
                <a16:creationId xmlns:a16="http://schemas.microsoft.com/office/drawing/2014/main" id="{69F652B0-4791-C24E-C973-ACE6C7A27FAF}"/>
              </a:ext>
            </a:extLst>
          </p:cNvPr>
          <p:cNvSpPr/>
          <p:nvPr/>
        </p:nvSpPr>
        <p:spPr>
          <a:xfrm>
            <a:off x="507543" y="5722235"/>
            <a:ext cx="7121694" cy="338554"/>
          </a:xfrm>
          <a:prstGeom prst="rect">
            <a:avLst/>
          </a:prstGeom>
          <a:solidFill>
            <a:schemeClr val="tx1"/>
          </a:solidFill>
          <a:ln>
            <a:noFill/>
          </a:ln>
        </p:spPr>
        <p:txBody>
          <a:bodyPr wrap="square">
            <a:spAutoFit/>
          </a:bodyPr>
          <a:lstStyle/>
          <a:p>
            <a:pPr>
              <a:spcAft>
                <a:spcPts val="800"/>
              </a:spcAft>
            </a:pP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button</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(click)</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CDCAA"/>
                </a:solidFill>
                <a:latin typeface="Consolas" panose="020B0609020204030204" pitchFamily="49" charset="0"/>
                <a:ea typeface="Times New Roman" panose="02020603050405020304" pitchFamily="18" charset="0"/>
                <a:cs typeface="Times New Roman" panose="02020603050405020304" pitchFamily="18" charset="0"/>
              </a:rPr>
              <a:t>delete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stu</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id</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Delete</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button</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Tree>
    <p:extLst>
      <p:ext uri="{BB962C8B-B14F-4D97-AF65-F5344CB8AC3E}">
        <p14:creationId xmlns:p14="http://schemas.microsoft.com/office/powerpoint/2010/main" val="2318028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F790B-21DC-594B-A5C5-F98CE9171C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D48594-808C-F29E-E30D-78FD253CB4F5}"/>
              </a:ext>
            </a:extLst>
          </p:cNvPr>
          <p:cNvSpPr>
            <a:spLocks noGrp="1"/>
          </p:cNvSpPr>
          <p:nvPr>
            <p:ph type="title"/>
          </p:nvPr>
        </p:nvSpPr>
        <p:spPr/>
        <p:txBody>
          <a:bodyPr/>
          <a:lstStyle/>
          <a:p>
            <a:r>
              <a:rPr lang="en-IN" dirty="0"/>
              <a:t>Steps to consume insert API</a:t>
            </a:r>
          </a:p>
        </p:txBody>
      </p:sp>
      <p:sp>
        <p:nvSpPr>
          <p:cNvPr id="3" name="Content Placeholder 2">
            <a:extLst>
              <a:ext uri="{FF2B5EF4-FFF2-40B4-BE49-F238E27FC236}">
                <a16:creationId xmlns:a16="http://schemas.microsoft.com/office/drawing/2014/main" id="{0034F2E5-C800-D0F9-C678-FEFA5F115139}"/>
              </a:ext>
            </a:extLst>
          </p:cNvPr>
          <p:cNvSpPr>
            <a:spLocks noGrp="1"/>
          </p:cNvSpPr>
          <p:nvPr>
            <p:ph idx="1"/>
          </p:nvPr>
        </p:nvSpPr>
        <p:spPr/>
        <p:txBody>
          <a:bodyPr/>
          <a:lstStyle/>
          <a:p>
            <a:r>
              <a:rPr lang="en-GB" dirty="0"/>
              <a:t>Step 01: Create new component using</a:t>
            </a:r>
          </a:p>
          <a:p>
            <a:r>
              <a:rPr lang="en-GB" dirty="0"/>
              <a:t>Step 02: add route in </a:t>
            </a:r>
            <a:r>
              <a:rPr lang="en-GB" dirty="0" err="1"/>
              <a:t>app.routes.ts</a:t>
            </a:r>
            <a:endParaRPr lang="en-GB" dirty="0"/>
          </a:p>
          <a:p>
            <a:r>
              <a:rPr lang="en-GB" dirty="0"/>
              <a:t>Step 03: Create a form in add-student component</a:t>
            </a:r>
          </a:p>
          <a:p>
            <a:pPr lvl="1"/>
            <a:r>
              <a:rPr lang="en-GB" dirty="0"/>
              <a:t>Step 03.1 : Import </a:t>
            </a:r>
            <a:r>
              <a:rPr lang="en-GB" dirty="0" err="1"/>
              <a:t>ReactiveFormsModule</a:t>
            </a:r>
            <a:r>
              <a:rPr lang="en-GB" dirty="0"/>
              <a:t> in add-</a:t>
            </a:r>
            <a:r>
              <a:rPr lang="en-GB" dirty="0" err="1"/>
              <a:t>student.component.ts</a:t>
            </a:r>
            <a:endParaRPr lang="en-GB" dirty="0"/>
          </a:p>
          <a:p>
            <a:pPr lvl="1"/>
            <a:r>
              <a:rPr lang="en-GB" dirty="0"/>
              <a:t>Step 03.2 : Create </a:t>
            </a:r>
            <a:r>
              <a:rPr lang="en-GB" dirty="0" err="1"/>
              <a:t>FormGroup</a:t>
            </a:r>
            <a:r>
              <a:rPr lang="en-GB" dirty="0"/>
              <a:t> in add-</a:t>
            </a:r>
            <a:r>
              <a:rPr lang="en-GB" dirty="0" err="1"/>
              <a:t>student.component.ts</a:t>
            </a:r>
            <a:endParaRPr lang="en-GB" dirty="0"/>
          </a:p>
          <a:p>
            <a:pPr lvl="1"/>
            <a:endParaRPr lang="en-GB" dirty="0"/>
          </a:p>
          <a:p>
            <a:pPr lvl="1"/>
            <a:endParaRPr lang="en-GB" dirty="0"/>
          </a:p>
          <a:p>
            <a:pPr marL="2743200" lvl="6" indent="0">
              <a:buNone/>
            </a:pPr>
            <a:endParaRPr lang="en-GB" dirty="0"/>
          </a:p>
          <a:p>
            <a:pPr marL="2743200" lvl="6" indent="0">
              <a:buNone/>
            </a:pPr>
            <a:endParaRPr lang="en-GB" sz="500" dirty="0"/>
          </a:p>
          <a:p>
            <a:pPr lvl="1"/>
            <a:endParaRPr lang="en-GB" dirty="0"/>
          </a:p>
        </p:txBody>
      </p:sp>
      <p:sp>
        <p:nvSpPr>
          <p:cNvPr id="4" name="Rectangle 3">
            <a:extLst>
              <a:ext uri="{FF2B5EF4-FFF2-40B4-BE49-F238E27FC236}">
                <a16:creationId xmlns:a16="http://schemas.microsoft.com/office/drawing/2014/main" id="{01954483-383E-593A-5C7E-8E892C5E126E}"/>
              </a:ext>
            </a:extLst>
          </p:cNvPr>
          <p:cNvSpPr/>
          <p:nvPr/>
        </p:nvSpPr>
        <p:spPr>
          <a:xfrm>
            <a:off x="8157172" y="884914"/>
            <a:ext cx="3895470" cy="338554"/>
          </a:xfrm>
          <a:prstGeom prst="rect">
            <a:avLst/>
          </a:prstGeom>
          <a:solidFill>
            <a:schemeClr val="tx1"/>
          </a:solidFill>
          <a:ln>
            <a:noFill/>
          </a:ln>
        </p:spPr>
        <p:txBody>
          <a:bodyPr wrap="square">
            <a:spAutoFit/>
          </a:bodyPr>
          <a:lstStyle/>
          <a:p>
            <a:r>
              <a:rPr lang="en-US" sz="1600" dirty="0">
                <a:solidFill>
                  <a:schemeClr val="bg1"/>
                </a:solidFill>
                <a:latin typeface="Consolas" panose="020B0609020204030204" pitchFamily="49" charset="0"/>
              </a:rPr>
              <a:t>ng generate component add-student</a:t>
            </a:r>
          </a:p>
        </p:txBody>
      </p:sp>
      <p:sp>
        <p:nvSpPr>
          <p:cNvPr id="5" name="Rectangle 4">
            <a:extLst>
              <a:ext uri="{FF2B5EF4-FFF2-40B4-BE49-F238E27FC236}">
                <a16:creationId xmlns:a16="http://schemas.microsoft.com/office/drawing/2014/main" id="{93C2675E-B991-3276-39E0-1A60EE7BC17C}"/>
              </a:ext>
            </a:extLst>
          </p:cNvPr>
          <p:cNvSpPr/>
          <p:nvPr/>
        </p:nvSpPr>
        <p:spPr>
          <a:xfrm>
            <a:off x="5459240" y="1375711"/>
            <a:ext cx="6601580" cy="338554"/>
          </a:xfrm>
          <a:prstGeom prst="rect">
            <a:avLst/>
          </a:prstGeom>
          <a:solidFill>
            <a:schemeClr val="tx1"/>
          </a:solidFill>
          <a:ln>
            <a:noFill/>
          </a:ln>
        </p:spPr>
        <p:txBody>
          <a:bodyPr wrap="square">
            <a:spAutoFit/>
          </a:bodyPr>
          <a:lstStyle/>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path:</a:t>
            </a:r>
            <a:r>
              <a:rPr lang="en-IN" sz="1600" kern="0" dirty="0" err="1">
                <a:solidFill>
                  <a:srgbClr val="CE9178"/>
                </a:solidFill>
                <a:latin typeface="Consolas" panose="020B0609020204030204" pitchFamily="49" charset="0"/>
                <a:ea typeface="Times New Roman" panose="02020603050405020304" pitchFamily="18" charset="0"/>
                <a:cs typeface="Times New Roman" panose="02020603050405020304" pitchFamily="18" charset="0"/>
              </a:rPr>
              <a:t>'students</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/add'</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component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AddStudentComponent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
        <p:nvSpPr>
          <p:cNvPr id="6" name="Rectangle 5">
            <a:extLst>
              <a:ext uri="{FF2B5EF4-FFF2-40B4-BE49-F238E27FC236}">
                <a16:creationId xmlns:a16="http://schemas.microsoft.com/office/drawing/2014/main" id="{8B1587E2-F3C2-7EF3-F8C2-AC568A2D9A71}"/>
              </a:ext>
            </a:extLst>
          </p:cNvPr>
          <p:cNvSpPr/>
          <p:nvPr/>
        </p:nvSpPr>
        <p:spPr>
          <a:xfrm>
            <a:off x="8428776" y="2154309"/>
            <a:ext cx="3632044" cy="338554"/>
          </a:xfrm>
          <a:prstGeom prst="rect">
            <a:avLst/>
          </a:prstGeom>
          <a:solidFill>
            <a:schemeClr val="tx1"/>
          </a:solidFill>
          <a:ln>
            <a:noFill/>
          </a:ln>
        </p:spPr>
        <p:txBody>
          <a:bodyPr wrap="square">
            <a:spAutoFit/>
          </a:bodyPr>
          <a:lstStyle/>
          <a:p>
            <a:pPr>
              <a:spcAft>
                <a:spcPts val="800"/>
              </a:spcAft>
            </a:pP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imports: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ReactiveFormsModule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p:txBody>
      </p:sp>
      <p:sp>
        <p:nvSpPr>
          <p:cNvPr id="7" name="Rectangle 6">
            <a:extLst>
              <a:ext uri="{FF2B5EF4-FFF2-40B4-BE49-F238E27FC236}">
                <a16:creationId xmlns:a16="http://schemas.microsoft.com/office/drawing/2014/main" id="{5520F892-5944-B0D9-7BE9-034F99ED7656}"/>
              </a:ext>
            </a:extLst>
          </p:cNvPr>
          <p:cNvSpPr/>
          <p:nvPr/>
        </p:nvSpPr>
        <p:spPr>
          <a:xfrm>
            <a:off x="1059255" y="2825528"/>
            <a:ext cx="5036745" cy="1409297"/>
          </a:xfrm>
          <a:prstGeom prst="rect">
            <a:avLst/>
          </a:prstGeom>
          <a:solidFill>
            <a:schemeClr val="tx1"/>
          </a:solidFill>
          <a:ln>
            <a:noFill/>
          </a:ln>
        </p:spPr>
        <p:txBody>
          <a:bodyPr wrap="square">
            <a:spAutoFit/>
          </a:bodyPr>
          <a:lstStyle/>
          <a:p>
            <a:pPr>
              <a:lnSpc>
                <a:spcPts val="1425"/>
              </a:lnSpc>
              <a:spcAft>
                <a:spcPts val="800"/>
              </a:spcAft>
            </a:pP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studentForm</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new</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FormGroup</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StudentName</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new</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FormControl</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StudentMobile</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new</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FormControl</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StudentEmail</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new</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FormControl</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endParaRPr lang="en-IN" sz="2000" kern="100" dirty="0">
              <a:latin typeface="Calibri" panose="020F0502020204030204" pitchFamily="34" charset="0"/>
              <a:ea typeface="Calibri" panose="020F0502020204030204" pitchFamily="34" charset="0"/>
              <a:cs typeface="Shruti" panose="020B0502040204020203" pitchFamily="34" charset="0"/>
            </a:endParaRPr>
          </a:p>
        </p:txBody>
      </p:sp>
    </p:spTree>
    <p:extLst>
      <p:ext uri="{BB962C8B-B14F-4D97-AF65-F5344CB8AC3E}">
        <p14:creationId xmlns:p14="http://schemas.microsoft.com/office/powerpoint/2010/main" val="1407401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animBg="1"/>
      <p:bldP spid="5" grpId="0" animBg="1"/>
      <p:bldP spid="6"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32E2F-5EC5-E56F-8B2F-21D22552DDDA}"/>
              </a:ext>
            </a:extLst>
          </p:cNvPr>
          <p:cNvSpPr>
            <a:spLocks noGrp="1"/>
          </p:cNvSpPr>
          <p:nvPr>
            <p:ph type="title"/>
          </p:nvPr>
        </p:nvSpPr>
        <p:spPr/>
        <p:txBody>
          <a:bodyPr/>
          <a:lstStyle/>
          <a:p>
            <a:r>
              <a:rPr lang="en-IN" dirty="0"/>
              <a:t>Consuming insert API (Cont. 2/4)</a:t>
            </a:r>
          </a:p>
        </p:txBody>
      </p:sp>
      <p:sp>
        <p:nvSpPr>
          <p:cNvPr id="3" name="Content Placeholder 2">
            <a:extLst>
              <a:ext uri="{FF2B5EF4-FFF2-40B4-BE49-F238E27FC236}">
                <a16:creationId xmlns:a16="http://schemas.microsoft.com/office/drawing/2014/main" id="{AC2222F0-BC95-4503-CF2A-F020B65742D4}"/>
              </a:ext>
            </a:extLst>
          </p:cNvPr>
          <p:cNvSpPr>
            <a:spLocks noGrp="1"/>
          </p:cNvSpPr>
          <p:nvPr>
            <p:ph idx="1"/>
          </p:nvPr>
        </p:nvSpPr>
        <p:spPr/>
        <p:txBody>
          <a:bodyPr/>
          <a:lstStyle/>
          <a:p>
            <a:pPr lvl="1"/>
            <a:r>
              <a:rPr lang="en-GB" dirty="0"/>
              <a:t>Step 03.3 : Bind form group with html in add-student.component.html</a:t>
            </a:r>
            <a:endParaRPr lang="en-IN" dirty="0"/>
          </a:p>
          <a:p>
            <a:endParaRPr lang="en-IN" dirty="0"/>
          </a:p>
        </p:txBody>
      </p:sp>
      <p:sp>
        <p:nvSpPr>
          <p:cNvPr id="4" name="Rectangle 3">
            <a:extLst>
              <a:ext uri="{FF2B5EF4-FFF2-40B4-BE49-F238E27FC236}">
                <a16:creationId xmlns:a16="http://schemas.microsoft.com/office/drawing/2014/main" id="{CA15FCCF-4D5D-0563-DC06-59BFE29793A6}"/>
              </a:ext>
            </a:extLst>
          </p:cNvPr>
          <p:cNvSpPr/>
          <p:nvPr/>
        </p:nvSpPr>
        <p:spPr>
          <a:xfrm>
            <a:off x="1059255" y="1223064"/>
            <a:ext cx="9976919" cy="4948727"/>
          </a:xfrm>
          <a:prstGeom prst="rect">
            <a:avLst/>
          </a:prstGeom>
          <a:solidFill>
            <a:schemeClr val="tx1"/>
          </a:solidFill>
          <a:ln>
            <a:noFill/>
          </a:ln>
        </p:spPr>
        <p:txBody>
          <a:bodyPr wrap="square">
            <a:spAutoFit/>
          </a:bodyPr>
          <a:lstStyle/>
          <a:p>
            <a:pPr>
              <a:lnSpc>
                <a:spcPts val="1425"/>
              </a:lnSpc>
            </a:pP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form</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formGroup</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studentForm</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ngSubmit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saveData</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table</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tr</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td</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Enter Name</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td</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td</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input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type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"text"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formControlName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CE9178"/>
                </a:solidFill>
                <a:latin typeface="Consolas" panose="020B0609020204030204" pitchFamily="49" charset="0"/>
                <a:ea typeface="Times New Roman" panose="02020603050405020304" pitchFamily="18" charset="0"/>
                <a:cs typeface="Times New Roman" panose="02020603050405020304" pitchFamily="18" charset="0"/>
              </a:rPr>
              <a:t>StudentName</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td</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tr</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tr</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td</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Enter Mobile</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td</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td</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input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type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"text"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formControlName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CE9178"/>
                </a:solidFill>
                <a:latin typeface="Consolas" panose="020B0609020204030204" pitchFamily="49" charset="0"/>
                <a:ea typeface="Times New Roman" panose="02020603050405020304" pitchFamily="18" charset="0"/>
                <a:cs typeface="Times New Roman" panose="02020603050405020304" pitchFamily="18" charset="0"/>
              </a:rPr>
              <a:t>StudentMobile</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td</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tr</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tr</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td</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Enter Email</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td</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td</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input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type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"text"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formControlName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CE9178"/>
                </a:solidFill>
                <a:latin typeface="Consolas" panose="020B0609020204030204" pitchFamily="49" charset="0"/>
                <a:ea typeface="Times New Roman" panose="02020603050405020304" pitchFamily="18" charset="0"/>
                <a:cs typeface="Times New Roman" panose="02020603050405020304" pitchFamily="18" charset="0"/>
              </a:rPr>
              <a:t>StudentEmail</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td</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tr</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tr</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td</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colspan</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"2"</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input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type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"submit"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td</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tr</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table</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pP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form</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2000" kern="100" dirty="0">
              <a:latin typeface="Calibri" panose="020F0502020204030204" pitchFamily="34" charset="0"/>
              <a:ea typeface="Calibri" panose="020F0502020204030204" pitchFamily="34" charset="0"/>
              <a:cs typeface="Shruti" panose="020B0502040204020203" pitchFamily="34" charset="0"/>
            </a:endParaRPr>
          </a:p>
        </p:txBody>
      </p:sp>
    </p:spTree>
    <p:extLst>
      <p:ext uri="{BB962C8B-B14F-4D97-AF65-F5344CB8AC3E}">
        <p14:creationId xmlns:p14="http://schemas.microsoft.com/office/powerpoint/2010/main" val="3438684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A74FB-B3C3-9397-93F6-FF21AD5908A2}"/>
              </a:ext>
            </a:extLst>
          </p:cNvPr>
          <p:cNvSpPr>
            <a:spLocks noGrp="1"/>
          </p:cNvSpPr>
          <p:nvPr>
            <p:ph type="title"/>
          </p:nvPr>
        </p:nvSpPr>
        <p:spPr/>
        <p:txBody>
          <a:bodyPr/>
          <a:lstStyle/>
          <a:p>
            <a:r>
              <a:rPr lang="en-IN" dirty="0"/>
              <a:t>Steps to consume insert API (Cont. 3/4)</a:t>
            </a:r>
          </a:p>
        </p:txBody>
      </p:sp>
      <p:sp>
        <p:nvSpPr>
          <p:cNvPr id="3" name="Content Placeholder 2">
            <a:extLst>
              <a:ext uri="{FF2B5EF4-FFF2-40B4-BE49-F238E27FC236}">
                <a16:creationId xmlns:a16="http://schemas.microsoft.com/office/drawing/2014/main" id="{447C5BC9-4200-95AF-C00E-AA191BECF276}"/>
              </a:ext>
            </a:extLst>
          </p:cNvPr>
          <p:cNvSpPr>
            <a:spLocks noGrp="1"/>
          </p:cNvSpPr>
          <p:nvPr>
            <p:ph idx="1"/>
          </p:nvPr>
        </p:nvSpPr>
        <p:spPr/>
        <p:txBody>
          <a:bodyPr/>
          <a:lstStyle/>
          <a:p>
            <a:pPr lvl="1"/>
            <a:r>
              <a:rPr lang="en-GB" dirty="0"/>
              <a:t>Step 03.4: Receive Form Data in add-</a:t>
            </a:r>
            <a:r>
              <a:rPr lang="en-GB" dirty="0" err="1"/>
              <a:t>student.component.ts</a:t>
            </a:r>
            <a:r>
              <a:rPr lang="en-GB" dirty="0"/>
              <a:t> file in </a:t>
            </a:r>
            <a:r>
              <a:rPr lang="en-GB" dirty="0" err="1"/>
              <a:t>saveData</a:t>
            </a:r>
            <a:r>
              <a:rPr lang="en-GB" dirty="0"/>
              <a:t> method</a:t>
            </a:r>
          </a:p>
          <a:p>
            <a:pPr lvl="1"/>
            <a:endParaRPr lang="en-GB" dirty="0"/>
          </a:p>
          <a:p>
            <a:pPr lvl="1"/>
            <a:endParaRPr lang="en-GB" dirty="0"/>
          </a:p>
          <a:p>
            <a:pPr lvl="1"/>
            <a:endParaRPr lang="en-GB" dirty="0"/>
          </a:p>
          <a:p>
            <a:r>
              <a:rPr lang="en-GB" dirty="0"/>
              <a:t>Step 04: create new method in </a:t>
            </a:r>
            <a:r>
              <a:rPr lang="en-GB" dirty="0" err="1"/>
              <a:t>api-student.service.ts</a:t>
            </a:r>
            <a:endParaRPr lang="en-GB" dirty="0"/>
          </a:p>
          <a:p>
            <a:endParaRPr lang="en-GB" dirty="0"/>
          </a:p>
          <a:p>
            <a:pPr marL="0" indent="0">
              <a:buNone/>
            </a:pPr>
            <a:endParaRPr lang="en-GB" dirty="0"/>
          </a:p>
          <a:p>
            <a:r>
              <a:rPr lang="en-GB" dirty="0"/>
              <a:t>Step 05: Update </a:t>
            </a:r>
            <a:r>
              <a:rPr lang="en-GB" dirty="0" err="1"/>
              <a:t>saveData</a:t>
            </a:r>
            <a:r>
              <a:rPr lang="en-GB" dirty="0"/>
              <a:t> method in add-</a:t>
            </a:r>
            <a:r>
              <a:rPr lang="en-GB" dirty="0" err="1"/>
              <a:t>student.component.ts</a:t>
            </a:r>
            <a:endParaRPr lang="en-IN" dirty="0"/>
          </a:p>
        </p:txBody>
      </p:sp>
      <p:sp>
        <p:nvSpPr>
          <p:cNvPr id="4" name="Rectangle 3">
            <a:extLst>
              <a:ext uri="{FF2B5EF4-FFF2-40B4-BE49-F238E27FC236}">
                <a16:creationId xmlns:a16="http://schemas.microsoft.com/office/drawing/2014/main" id="{30C2D857-D60C-2605-46DB-6B317FD56276}"/>
              </a:ext>
            </a:extLst>
          </p:cNvPr>
          <p:cNvSpPr/>
          <p:nvPr/>
        </p:nvSpPr>
        <p:spPr>
          <a:xfrm>
            <a:off x="1041148" y="1232118"/>
            <a:ext cx="5948127" cy="1036181"/>
          </a:xfrm>
          <a:prstGeom prst="rect">
            <a:avLst/>
          </a:prstGeom>
          <a:solidFill>
            <a:schemeClr val="tx1"/>
          </a:solidFill>
          <a:ln>
            <a:noFill/>
          </a:ln>
        </p:spPr>
        <p:txBody>
          <a:bodyPr wrap="square">
            <a:spAutoFit/>
          </a:bodyPr>
          <a:lstStyle/>
          <a:p>
            <a:pPr>
              <a:spcAft>
                <a:spcPts val="800"/>
              </a:spcAft>
            </a:pPr>
            <a:r>
              <a:rPr lang="en-IN" sz="1600" kern="0" dirty="0">
                <a:solidFill>
                  <a:srgbClr val="DCDCAA"/>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saveData</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console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CDCAA"/>
                </a:solidFill>
                <a:latin typeface="Consolas" panose="020B0609020204030204" pitchFamily="49" charset="0"/>
                <a:ea typeface="Times New Roman" panose="02020603050405020304" pitchFamily="18" charset="0"/>
                <a:cs typeface="Times New Roman" panose="02020603050405020304" pitchFamily="18" charset="0"/>
              </a:rPr>
              <a:t>log</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studentForm</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4FC1FF"/>
                </a:solidFill>
                <a:latin typeface="Consolas" panose="020B0609020204030204" pitchFamily="49" charset="0"/>
                <a:ea typeface="Times New Roman" panose="02020603050405020304" pitchFamily="18" charset="0"/>
                <a:cs typeface="Times New Roman" panose="02020603050405020304" pitchFamily="18" charset="0"/>
              </a:rPr>
              <a:t>value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endParaRPr lang="en-IN" sz="2000" kern="100" dirty="0">
              <a:latin typeface="Calibri" panose="020F0502020204030204" pitchFamily="34" charset="0"/>
              <a:ea typeface="Calibri" panose="020F0502020204030204" pitchFamily="34" charset="0"/>
              <a:cs typeface="Shruti" panose="020B0502040204020203" pitchFamily="34" charset="0"/>
            </a:endParaRPr>
          </a:p>
        </p:txBody>
      </p:sp>
      <p:sp>
        <p:nvSpPr>
          <p:cNvPr id="5" name="Rectangle 4">
            <a:extLst>
              <a:ext uri="{FF2B5EF4-FFF2-40B4-BE49-F238E27FC236}">
                <a16:creationId xmlns:a16="http://schemas.microsoft.com/office/drawing/2014/main" id="{E06841F1-9A45-28A4-CBF9-89FF056605C1}"/>
              </a:ext>
            </a:extLst>
          </p:cNvPr>
          <p:cNvSpPr/>
          <p:nvPr/>
        </p:nvSpPr>
        <p:spPr>
          <a:xfrm>
            <a:off x="506993" y="2617301"/>
            <a:ext cx="5948127" cy="1036181"/>
          </a:xfrm>
          <a:prstGeom prst="rect">
            <a:avLst/>
          </a:prstGeom>
          <a:solidFill>
            <a:schemeClr val="tx1"/>
          </a:solidFill>
          <a:ln>
            <a:noFill/>
          </a:ln>
        </p:spPr>
        <p:txBody>
          <a:bodyPr wrap="square">
            <a:spAutoFit/>
          </a:bodyPr>
          <a:lstStyle/>
          <a:p>
            <a:pPr>
              <a:spcAft>
                <a:spcPts val="800"/>
              </a:spcAft>
            </a:pPr>
            <a:r>
              <a:rPr lang="en-IN" sz="1600" kern="0" dirty="0">
                <a:solidFill>
                  <a:srgbClr val="DCDCAA"/>
                </a:solidFill>
                <a:latin typeface="Consolas" panose="020B0609020204030204" pitchFamily="49" charset="0"/>
                <a:ea typeface="Times New Roman" panose="02020603050405020304" pitchFamily="18" charset="0"/>
                <a:cs typeface="Times New Roman" panose="02020603050405020304" pitchFamily="18" charset="0"/>
              </a:rPr>
              <a:t> insert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data</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any</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C586C0"/>
                </a:solidFill>
                <a:latin typeface="Consolas" panose="020B0609020204030204" pitchFamily="49" charset="0"/>
                <a:ea typeface="Times New Roman" panose="02020603050405020304" pitchFamily="18" charset="0"/>
                <a:cs typeface="Times New Roman" panose="02020603050405020304" pitchFamily="18" charset="0"/>
              </a:rPr>
              <a:t>return</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http</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post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apiUrl</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data</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endParaRPr lang="en-IN" sz="2000" kern="100" dirty="0">
              <a:latin typeface="Calibri" panose="020F0502020204030204" pitchFamily="34" charset="0"/>
              <a:ea typeface="Calibri" panose="020F0502020204030204" pitchFamily="34" charset="0"/>
              <a:cs typeface="Shruti" panose="020B0502040204020203" pitchFamily="34" charset="0"/>
            </a:endParaRPr>
          </a:p>
        </p:txBody>
      </p:sp>
      <p:sp>
        <p:nvSpPr>
          <p:cNvPr id="6" name="Rectangle 5">
            <a:extLst>
              <a:ext uri="{FF2B5EF4-FFF2-40B4-BE49-F238E27FC236}">
                <a16:creationId xmlns:a16="http://schemas.microsoft.com/office/drawing/2014/main" id="{C91A29B1-A668-C21B-0BC2-5CAD95CB143B}"/>
              </a:ext>
            </a:extLst>
          </p:cNvPr>
          <p:cNvSpPr/>
          <p:nvPr/>
        </p:nvSpPr>
        <p:spPr>
          <a:xfrm>
            <a:off x="506993" y="4022156"/>
            <a:ext cx="7921783" cy="2082621"/>
          </a:xfrm>
          <a:prstGeom prst="rect">
            <a:avLst/>
          </a:prstGeom>
          <a:solidFill>
            <a:schemeClr val="tx1"/>
          </a:solidFill>
          <a:ln>
            <a:noFill/>
          </a:ln>
        </p:spPr>
        <p:txBody>
          <a:bodyPr wrap="square">
            <a:spAutoFit/>
          </a:bodyPr>
          <a:lstStyle/>
          <a:p>
            <a:pPr>
              <a:spcAft>
                <a:spcPts val="800"/>
              </a:spcAft>
            </a:pPr>
            <a:r>
              <a:rPr lang="en-IN" sz="1600" kern="0" dirty="0">
                <a:solidFill>
                  <a:srgbClr val="DCDCAA"/>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saveData</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6A9955"/>
                </a:solidFill>
                <a:latin typeface="Consolas" panose="020B0609020204030204" pitchFamily="49" charset="0"/>
                <a:ea typeface="Times New Roman" panose="02020603050405020304" pitchFamily="18" charset="0"/>
                <a:cs typeface="Times New Roman" panose="02020603050405020304" pitchFamily="18" charset="0"/>
              </a:rPr>
              <a:t>// console.log(</a:t>
            </a:r>
            <a:r>
              <a:rPr lang="en-IN" sz="1600" kern="0" dirty="0" err="1">
                <a:solidFill>
                  <a:srgbClr val="6A9955"/>
                </a:solidFill>
                <a:latin typeface="Consolas" panose="020B0609020204030204" pitchFamily="49" charset="0"/>
                <a:ea typeface="Times New Roman" panose="02020603050405020304" pitchFamily="18" charset="0"/>
                <a:cs typeface="Times New Roman" panose="02020603050405020304" pitchFamily="18" charset="0"/>
              </a:rPr>
              <a:t>this.studentForm.value</a:t>
            </a:r>
            <a:r>
              <a:rPr lang="en-IN" sz="1600" kern="0" dirty="0">
                <a:solidFill>
                  <a:srgbClr val="6A9955"/>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api</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insert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studentForm</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4FC1FF"/>
                </a:solidFill>
                <a:latin typeface="Consolas" panose="020B0609020204030204" pitchFamily="49" charset="0"/>
                <a:ea typeface="Times New Roman" panose="02020603050405020304" pitchFamily="18" charset="0"/>
                <a:cs typeface="Times New Roman" panose="02020603050405020304" pitchFamily="18" charset="0"/>
              </a:rPr>
              <a:t>value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CDCAA"/>
                </a:solidFill>
                <a:latin typeface="Consolas" panose="020B0609020204030204" pitchFamily="49" charset="0"/>
                <a:ea typeface="Times New Roman" panose="02020603050405020304" pitchFamily="18" charset="0"/>
                <a:cs typeface="Times New Roman" panose="02020603050405020304" pitchFamily="18" charset="0"/>
              </a:rPr>
              <a:t>subscribe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res</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=&gt;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console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CDCAA"/>
                </a:solidFill>
                <a:latin typeface="Consolas" panose="020B0609020204030204" pitchFamily="49" charset="0"/>
                <a:ea typeface="Times New Roman" panose="02020603050405020304" pitchFamily="18" charset="0"/>
                <a:cs typeface="Times New Roman" panose="02020603050405020304" pitchFamily="18" charset="0"/>
              </a:rPr>
              <a:t>log</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res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endParaRPr lang="en-IN" sz="2000" kern="100" dirty="0">
              <a:latin typeface="Calibri" panose="020F0502020204030204" pitchFamily="34" charset="0"/>
              <a:ea typeface="Calibri" panose="020F0502020204030204" pitchFamily="34" charset="0"/>
              <a:cs typeface="Shruti" panose="020B0502040204020203" pitchFamily="34" charset="0"/>
            </a:endParaRPr>
          </a:p>
        </p:txBody>
      </p:sp>
    </p:spTree>
    <p:extLst>
      <p:ext uri="{BB962C8B-B14F-4D97-AF65-F5344CB8AC3E}">
        <p14:creationId xmlns:p14="http://schemas.microsoft.com/office/powerpoint/2010/main" val="3537182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556E1-C0DB-BFBE-951B-FE6A1BD76548}"/>
              </a:ext>
            </a:extLst>
          </p:cNvPr>
          <p:cNvSpPr>
            <a:spLocks noGrp="1"/>
          </p:cNvSpPr>
          <p:nvPr>
            <p:ph type="title"/>
          </p:nvPr>
        </p:nvSpPr>
        <p:spPr/>
        <p:txBody>
          <a:bodyPr/>
          <a:lstStyle/>
          <a:p>
            <a:r>
              <a:rPr lang="en-IN" dirty="0"/>
              <a:t>Steps to consume insert API (Cont. 4/4)</a:t>
            </a:r>
          </a:p>
        </p:txBody>
      </p:sp>
      <p:sp>
        <p:nvSpPr>
          <p:cNvPr id="3" name="Content Placeholder 2">
            <a:extLst>
              <a:ext uri="{FF2B5EF4-FFF2-40B4-BE49-F238E27FC236}">
                <a16:creationId xmlns:a16="http://schemas.microsoft.com/office/drawing/2014/main" id="{8D4A90E2-95FD-91FC-CC99-BAF7EE655578}"/>
              </a:ext>
            </a:extLst>
          </p:cNvPr>
          <p:cNvSpPr>
            <a:spLocks noGrp="1"/>
          </p:cNvSpPr>
          <p:nvPr>
            <p:ph idx="1"/>
          </p:nvPr>
        </p:nvSpPr>
        <p:spPr/>
        <p:txBody>
          <a:bodyPr/>
          <a:lstStyle/>
          <a:p>
            <a:r>
              <a:rPr lang="en-GB" dirty="0"/>
              <a:t>Step 06: Link to Add page from allstudents.component.html</a:t>
            </a:r>
          </a:p>
          <a:p>
            <a:endParaRPr lang="en-GB" dirty="0"/>
          </a:p>
          <a:p>
            <a:r>
              <a:rPr lang="en-GB" dirty="0"/>
              <a:t>Step 07: Navigate back to all students when data in added in add-</a:t>
            </a:r>
            <a:r>
              <a:rPr lang="en-GB" dirty="0" err="1"/>
              <a:t>student.component.ts</a:t>
            </a:r>
            <a:endParaRPr lang="en-GB" dirty="0"/>
          </a:p>
          <a:p>
            <a:pPr lvl="1"/>
            <a:r>
              <a:rPr lang="en-IN" dirty="0"/>
              <a:t>Step 07.1: Inject Router</a:t>
            </a:r>
          </a:p>
          <a:p>
            <a:pPr lvl="1"/>
            <a:r>
              <a:rPr lang="en-GB" dirty="0"/>
              <a:t>Step 07.2: use navigate method to navigate</a:t>
            </a:r>
            <a:endParaRPr lang="en-IN" dirty="0"/>
          </a:p>
        </p:txBody>
      </p:sp>
      <p:sp>
        <p:nvSpPr>
          <p:cNvPr id="4" name="Rectangle 3">
            <a:extLst>
              <a:ext uri="{FF2B5EF4-FFF2-40B4-BE49-F238E27FC236}">
                <a16:creationId xmlns:a16="http://schemas.microsoft.com/office/drawing/2014/main" id="{F7B676F6-412C-29DE-405D-1D4E4AFADD53}"/>
              </a:ext>
            </a:extLst>
          </p:cNvPr>
          <p:cNvSpPr/>
          <p:nvPr/>
        </p:nvSpPr>
        <p:spPr>
          <a:xfrm>
            <a:off x="534154" y="1285177"/>
            <a:ext cx="4409038" cy="338554"/>
          </a:xfrm>
          <a:prstGeom prst="rect">
            <a:avLst/>
          </a:prstGeom>
          <a:solidFill>
            <a:schemeClr val="tx1"/>
          </a:solidFill>
          <a:ln>
            <a:noFill/>
          </a:ln>
        </p:spPr>
        <p:txBody>
          <a:bodyPr wrap="square">
            <a:spAutoFit/>
          </a:bodyPr>
          <a:lstStyle/>
          <a:p>
            <a:pPr>
              <a:spcAft>
                <a:spcPts val="800"/>
              </a:spcAft>
            </a:pP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a</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routerLink</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"add"</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Add Student</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a</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
        <p:nvSpPr>
          <p:cNvPr id="5" name="Rectangle 4">
            <a:extLst>
              <a:ext uri="{FF2B5EF4-FFF2-40B4-BE49-F238E27FC236}">
                <a16:creationId xmlns:a16="http://schemas.microsoft.com/office/drawing/2014/main" id="{1642AD90-AA70-DB68-2E68-AA4DB8B30B21}"/>
              </a:ext>
            </a:extLst>
          </p:cNvPr>
          <p:cNvSpPr/>
          <p:nvPr/>
        </p:nvSpPr>
        <p:spPr>
          <a:xfrm>
            <a:off x="3766240" y="2163364"/>
            <a:ext cx="3114393" cy="338554"/>
          </a:xfrm>
          <a:prstGeom prst="rect">
            <a:avLst/>
          </a:prstGeom>
          <a:solidFill>
            <a:schemeClr val="tx1"/>
          </a:solidFill>
          <a:ln>
            <a:noFill/>
          </a:ln>
        </p:spPr>
        <p:txBody>
          <a:bodyPr wrap="square">
            <a:spAutoFit/>
          </a:bodyPr>
          <a:lstStyle/>
          <a:p>
            <a:pPr>
              <a:spcAft>
                <a:spcPts val="800"/>
              </a:spcAft>
            </a:pP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_router</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 </a:t>
            </a:r>
            <a:r>
              <a:rPr lang="en-IN" sz="1600" kern="0" dirty="0">
                <a:solidFill>
                  <a:srgbClr val="DCDCAA"/>
                </a:solidFill>
                <a:latin typeface="Consolas" panose="020B0609020204030204" pitchFamily="49" charset="0"/>
                <a:ea typeface="Times New Roman" panose="02020603050405020304" pitchFamily="18" charset="0"/>
                <a:cs typeface="Times New Roman" panose="02020603050405020304" pitchFamily="18" charset="0"/>
              </a:rPr>
              <a:t>inject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4EC9B0"/>
                </a:solidFill>
                <a:latin typeface="Consolas" panose="020B0609020204030204" pitchFamily="49" charset="0"/>
                <a:ea typeface="Times New Roman" panose="02020603050405020304" pitchFamily="18" charset="0"/>
                <a:cs typeface="Times New Roman" panose="02020603050405020304" pitchFamily="18" charset="0"/>
              </a:rPr>
              <a:t>Router</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
        <p:nvSpPr>
          <p:cNvPr id="6" name="Rectangle 5">
            <a:extLst>
              <a:ext uri="{FF2B5EF4-FFF2-40B4-BE49-F238E27FC236}">
                <a16:creationId xmlns:a16="http://schemas.microsoft.com/office/drawing/2014/main" id="{E1E419F6-C8BA-5A29-6B37-512989D93164}"/>
              </a:ext>
            </a:extLst>
          </p:cNvPr>
          <p:cNvSpPr/>
          <p:nvPr/>
        </p:nvSpPr>
        <p:spPr>
          <a:xfrm>
            <a:off x="1032094" y="2834585"/>
            <a:ext cx="8392563" cy="1384995"/>
          </a:xfrm>
          <a:prstGeom prst="rect">
            <a:avLst/>
          </a:prstGeom>
          <a:solidFill>
            <a:schemeClr val="tx1"/>
          </a:solidFill>
          <a:ln>
            <a:noFill/>
          </a:ln>
        </p:spPr>
        <p:txBody>
          <a:bodyPr wrap="square">
            <a:spAutoFit/>
          </a:bodyPr>
          <a:lstStyle/>
          <a:p>
            <a:pPr>
              <a:spcAft>
                <a:spcPts val="800"/>
              </a:spcAft>
            </a:pP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        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api</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insert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studentForm</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4FC1FF"/>
                </a:solidFill>
                <a:latin typeface="Consolas" panose="020B0609020204030204" pitchFamily="49" charset="0"/>
                <a:ea typeface="Times New Roman" panose="02020603050405020304" pitchFamily="18" charset="0"/>
                <a:cs typeface="Times New Roman" panose="02020603050405020304" pitchFamily="18" charset="0"/>
              </a:rPr>
              <a:t>value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CDCAA"/>
                </a:solidFill>
                <a:latin typeface="Consolas" panose="020B0609020204030204" pitchFamily="49" charset="0"/>
                <a:ea typeface="Times New Roman" panose="02020603050405020304" pitchFamily="18" charset="0"/>
                <a:cs typeface="Times New Roman" panose="02020603050405020304" pitchFamily="18" charset="0"/>
              </a:rPr>
              <a:t>subscribe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res</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=&gt;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console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CDCAA"/>
                </a:solidFill>
                <a:latin typeface="Consolas" panose="020B0609020204030204" pitchFamily="49" charset="0"/>
                <a:ea typeface="Times New Roman" panose="02020603050405020304" pitchFamily="18" charset="0"/>
                <a:cs typeface="Times New Roman" panose="02020603050405020304" pitchFamily="18" charset="0"/>
              </a:rPr>
              <a:t>log</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res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router</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navigate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'students'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buNone/>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endParaRPr lang="en-IN" sz="2000" kern="100" dirty="0">
              <a:latin typeface="Calibri" panose="020F0502020204030204" pitchFamily="34" charset="0"/>
              <a:ea typeface="Calibri" panose="020F0502020204030204" pitchFamily="34" charset="0"/>
              <a:cs typeface="Shruti" panose="020B0502040204020203" pitchFamily="34" charset="0"/>
            </a:endParaRPr>
          </a:p>
        </p:txBody>
      </p:sp>
    </p:spTree>
    <p:extLst>
      <p:ext uri="{BB962C8B-B14F-4D97-AF65-F5344CB8AC3E}">
        <p14:creationId xmlns:p14="http://schemas.microsoft.com/office/powerpoint/2010/main" val="3315184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BC56B-EFBA-BEA9-1228-FEB8275A91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478659-5AA2-89F2-18C6-48A2050BFBCE}"/>
              </a:ext>
            </a:extLst>
          </p:cNvPr>
          <p:cNvSpPr>
            <a:spLocks noGrp="1"/>
          </p:cNvSpPr>
          <p:nvPr>
            <p:ph type="title"/>
          </p:nvPr>
        </p:nvSpPr>
        <p:spPr/>
        <p:txBody>
          <a:bodyPr/>
          <a:lstStyle/>
          <a:p>
            <a:r>
              <a:rPr lang="en-IN" dirty="0"/>
              <a:t>Steps to consume update API</a:t>
            </a:r>
          </a:p>
        </p:txBody>
      </p:sp>
      <p:sp>
        <p:nvSpPr>
          <p:cNvPr id="3" name="Content Placeholder 2">
            <a:extLst>
              <a:ext uri="{FF2B5EF4-FFF2-40B4-BE49-F238E27FC236}">
                <a16:creationId xmlns:a16="http://schemas.microsoft.com/office/drawing/2014/main" id="{6CCB5B16-92E5-C031-5BAA-B2D2EDDE9801}"/>
              </a:ext>
            </a:extLst>
          </p:cNvPr>
          <p:cNvSpPr>
            <a:spLocks noGrp="1"/>
          </p:cNvSpPr>
          <p:nvPr>
            <p:ph idx="1"/>
          </p:nvPr>
        </p:nvSpPr>
        <p:spPr/>
        <p:txBody>
          <a:bodyPr/>
          <a:lstStyle/>
          <a:p>
            <a:r>
              <a:rPr lang="en-GB" dirty="0"/>
              <a:t>Step 01: Add New route</a:t>
            </a:r>
          </a:p>
          <a:p>
            <a:r>
              <a:rPr lang="en-GB" dirty="0"/>
              <a:t>Step 02: Navigate to edit from </a:t>
            </a:r>
            <a:r>
              <a:rPr lang="en-GB" dirty="0" err="1"/>
              <a:t>allstudent</a:t>
            </a:r>
            <a:endParaRPr lang="en-GB" dirty="0"/>
          </a:p>
          <a:p>
            <a:pPr lvl="1"/>
            <a:r>
              <a:rPr lang="en-GB" dirty="0"/>
              <a:t>Step 02.01: in allstudents.component.html</a:t>
            </a:r>
          </a:p>
          <a:p>
            <a:pPr lvl="1"/>
            <a:endParaRPr lang="en-GB" dirty="0"/>
          </a:p>
          <a:p>
            <a:pPr lvl="1"/>
            <a:endParaRPr lang="en-GB" dirty="0"/>
          </a:p>
          <a:p>
            <a:pPr lvl="1"/>
            <a:endParaRPr lang="en-GB" dirty="0"/>
          </a:p>
          <a:p>
            <a:pPr lvl="1"/>
            <a:r>
              <a:rPr lang="en-GB" dirty="0"/>
              <a:t>Step 02.02: in </a:t>
            </a:r>
            <a:r>
              <a:rPr lang="en-GB" dirty="0" err="1"/>
              <a:t>allstudents.component.ts</a:t>
            </a:r>
            <a:endParaRPr lang="en-GB" dirty="0"/>
          </a:p>
          <a:p>
            <a:pPr lvl="1"/>
            <a:endParaRPr lang="en-GB" dirty="0"/>
          </a:p>
          <a:p>
            <a:pPr lvl="1"/>
            <a:endParaRPr lang="en-GB" dirty="0"/>
          </a:p>
          <a:p>
            <a:pPr lvl="1"/>
            <a:endParaRPr lang="en-GB" dirty="0"/>
          </a:p>
          <a:p>
            <a:r>
              <a:rPr lang="en-GB" dirty="0"/>
              <a:t>Step 03: create a variable called </a:t>
            </a:r>
            <a:r>
              <a:rPr lang="en-GB" dirty="0" err="1"/>
              <a:t>idToEdit</a:t>
            </a:r>
            <a:r>
              <a:rPr lang="en-GB" dirty="0"/>
              <a:t> in add-</a:t>
            </a:r>
            <a:r>
              <a:rPr lang="en-GB" dirty="0" err="1"/>
              <a:t>student.component.ts</a:t>
            </a:r>
            <a:r>
              <a:rPr lang="en-GB" dirty="0"/>
              <a:t> and collect the id from </a:t>
            </a:r>
            <a:r>
              <a:rPr lang="en-GB" dirty="0" err="1"/>
              <a:t>url</a:t>
            </a:r>
            <a:endParaRPr lang="en-IN" dirty="0"/>
          </a:p>
        </p:txBody>
      </p:sp>
      <p:sp>
        <p:nvSpPr>
          <p:cNvPr id="4" name="Rectangle 3">
            <a:extLst>
              <a:ext uri="{FF2B5EF4-FFF2-40B4-BE49-F238E27FC236}">
                <a16:creationId xmlns:a16="http://schemas.microsoft.com/office/drawing/2014/main" id="{BA69620E-BB96-0758-1EF9-4A466EB50138}"/>
              </a:ext>
            </a:extLst>
          </p:cNvPr>
          <p:cNvSpPr/>
          <p:nvPr/>
        </p:nvSpPr>
        <p:spPr>
          <a:xfrm>
            <a:off x="3829616" y="908709"/>
            <a:ext cx="6563764" cy="338554"/>
          </a:xfrm>
          <a:prstGeom prst="rect">
            <a:avLst/>
          </a:prstGeom>
          <a:solidFill>
            <a:schemeClr val="tx1"/>
          </a:solidFill>
          <a:ln>
            <a:noFill/>
          </a:ln>
        </p:spPr>
        <p:txBody>
          <a:bodyPr wrap="square">
            <a:spAutoFit/>
          </a:bodyPr>
          <a:lstStyle/>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path:</a:t>
            </a:r>
            <a:r>
              <a:rPr lang="en-IN" sz="1600" kern="0" dirty="0" err="1">
                <a:solidFill>
                  <a:srgbClr val="CE9178"/>
                </a:solidFill>
                <a:latin typeface="Consolas" panose="020B0609020204030204" pitchFamily="49" charset="0"/>
                <a:ea typeface="Times New Roman" panose="02020603050405020304" pitchFamily="18" charset="0"/>
                <a:cs typeface="Times New Roman" panose="02020603050405020304" pitchFamily="18" charset="0"/>
              </a:rPr>
              <a:t>'students</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/edit/:id'</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component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AddStudentComponent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
        <p:nvSpPr>
          <p:cNvPr id="5" name="Rectangle 4">
            <a:extLst>
              <a:ext uri="{FF2B5EF4-FFF2-40B4-BE49-F238E27FC236}">
                <a16:creationId xmlns:a16="http://schemas.microsoft.com/office/drawing/2014/main" id="{7DE490A9-70A0-A6FC-2C66-B32539C14071}"/>
              </a:ext>
            </a:extLst>
          </p:cNvPr>
          <p:cNvSpPr/>
          <p:nvPr/>
        </p:nvSpPr>
        <p:spPr>
          <a:xfrm>
            <a:off x="1041148" y="2040392"/>
            <a:ext cx="8510258" cy="1036181"/>
          </a:xfrm>
          <a:prstGeom prst="rect">
            <a:avLst/>
          </a:prstGeom>
          <a:solidFill>
            <a:schemeClr val="tx1"/>
          </a:solidFill>
          <a:ln>
            <a:noFill/>
          </a:ln>
        </p:spPr>
        <p:txBody>
          <a:bodyPr wrap="square">
            <a:spAutoFit/>
          </a:bodyPr>
          <a:lstStyle/>
          <a:p>
            <a:pPr>
              <a:spcAft>
                <a:spcPts val="800"/>
              </a:spcAft>
            </a:pP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td</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p>
          <a:p>
            <a:pPr>
              <a:spcAft>
                <a:spcPts val="800"/>
              </a:spcAft>
            </a:pP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	&lt;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button</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(click)</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navigateToEdit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stu</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id</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Edit</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button</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p>
          <a:p>
            <a:pPr>
              <a:spcAft>
                <a:spcPts val="800"/>
              </a:spcAft>
            </a:pP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&lt;/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td</a:t>
            </a:r>
            <a:r>
              <a:rPr lang="en-IN" sz="1600" kern="0" dirty="0">
                <a:solidFill>
                  <a:srgbClr val="808080"/>
                </a:solidFill>
                <a:latin typeface="Consolas" panose="020B0609020204030204" pitchFamily="49" charset="0"/>
                <a:ea typeface="Times New Roman" panose="02020603050405020304" pitchFamily="18" charset="0"/>
                <a:cs typeface="Times New Roman" panose="02020603050405020304" pitchFamily="18" charset="0"/>
              </a:rPr>
              <a:t>&gt;</a:t>
            </a:r>
            <a:endParaRPr lang="en-IN" sz="1400" kern="100" dirty="0">
              <a:latin typeface="Calibri" panose="020F0502020204030204" pitchFamily="34" charset="0"/>
              <a:ea typeface="Calibri" panose="020F0502020204030204" pitchFamily="34" charset="0"/>
              <a:cs typeface="Shruti" panose="020B0502040204020203" pitchFamily="34" charset="0"/>
            </a:endParaRPr>
          </a:p>
        </p:txBody>
      </p:sp>
      <p:sp>
        <p:nvSpPr>
          <p:cNvPr id="6" name="Rectangle 5">
            <a:extLst>
              <a:ext uri="{FF2B5EF4-FFF2-40B4-BE49-F238E27FC236}">
                <a16:creationId xmlns:a16="http://schemas.microsoft.com/office/drawing/2014/main" id="{DAA5B1D2-7F79-A819-3EBD-34C76E0765B2}"/>
              </a:ext>
            </a:extLst>
          </p:cNvPr>
          <p:cNvSpPr/>
          <p:nvPr/>
        </p:nvSpPr>
        <p:spPr>
          <a:xfrm>
            <a:off x="1041148" y="3369964"/>
            <a:ext cx="6563764" cy="1036181"/>
          </a:xfrm>
          <a:prstGeom prst="rect">
            <a:avLst/>
          </a:prstGeom>
          <a:solidFill>
            <a:schemeClr val="tx1"/>
          </a:solidFill>
          <a:ln>
            <a:noFill/>
          </a:ln>
        </p:spPr>
        <p:txBody>
          <a:bodyPr wrap="square">
            <a:spAutoFit/>
          </a:bodyPr>
          <a:lstStyle/>
          <a:p>
            <a:pPr>
              <a:spcAft>
                <a:spcPts val="800"/>
              </a:spcAft>
            </a:pP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navigateToEdit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id</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Number</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6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router</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navigate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'students/</a:t>
            </a:r>
            <a:r>
              <a:rPr lang="en-IN" sz="1600" kern="0" dirty="0" err="1">
                <a:solidFill>
                  <a:srgbClr val="CE9178"/>
                </a:solidFill>
                <a:latin typeface="Consolas" panose="020B0609020204030204" pitchFamily="49" charset="0"/>
                <a:ea typeface="Times New Roman" panose="02020603050405020304" pitchFamily="18" charset="0"/>
                <a:cs typeface="Times New Roman" panose="02020603050405020304" pitchFamily="18" charset="0"/>
              </a:rPr>
              <a:t>edit'</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id</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6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600" kern="100" dirty="0">
              <a:latin typeface="Calibri" panose="020F0502020204030204" pitchFamily="34" charset="0"/>
              <a:ea typeface="Calibri" panose="020F0502020204030204" pitchFamily="34" charset="0"/>
              <a:cs typeface="Shruti" panose="020B0502040204020203" pitchFamily="34" charset="0"/>
            </a:endParaRPr>
          </a:p>
        </p:txBody>
      </p:sp>
      <p:sp>
        <p:nvSpPr>
          <p:cNvPr id="7" name="Rectangle 6">
            <a:extLst>
              <a:ext uri="{FF2B5EF4-FFF2-40B4-BE49-F238E27FC236}">
                <a16:creationId xmlns:a16="http://schemas.microsoft.com/office/drawing/2014/main" id="{54FBD134-D1F6-8963-7AD1-214F1ECAF99C}"/>
              </a:ext>
            </a:extLst>
          </p:cNvPr>
          <p:cNvSpPr/>
          <p:nvPr/>
        </p:nvSpPr>
        <p:spPr>
          <a:xfrm>
            <a:off x="1041147" y="4848615"/>
            <a:ext cx="9162107" cy="1749197"/>
          </a:xfrm>
          <a:prstGeom prst="rect">
            <a:avLst/>
          </a:prstGeom>
          <a:solidFill>
            <a:schemeClr val="tx1"/>
          </a:solidFill>
          <a:ln>
            <a:noFill/>
          </a:ln>
        </p:spPr>
        <p:txBody>
          <a:bodyPr wrap="square">
            <a:spAutoFit/>
          </a:bodyPr>
          <a:lstStyle/>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idToEdit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 -</a:t>
            </a:r>
            <a:r>
              <a:rPr lang="en-IN" sz="1600" kern="0" dirty="0">
                <a:solidFill>
                  <a:srgbClr val="B5CEA8"/>
                </a:solidFill>
                <a:latin typeface="Consolas" panose="020B0609020204030204" pitchFamily="49" charset="0"/>
                <a:ea typeface="Times New Roman" panose="02020603050405020304" pitchFamily="18" charset="0"/>
                <a:cs typeface="Times New Roman" panose="02020603050405020304" pitchFamily="18" charset="0"/>
              </a:rPr>
              <a:t>1</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ngOnInit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C586C0"/>
                </a:solidFill>
                <a:latin typeface="Consolas" panose="020B0609020204030204" pitchFamily="49" charset="0"/>
                <a:ea typeface="Times New Roman" panose="02020603050405020304" pitchFamily="18" charset="0"/>
                <a:cs typeface="Times New Roman" panose="02020603050405020304" pitchFamily="18" charset="0"/>
              </a:rPr>
              <a:t>if</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activatedRoute</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snapshot</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params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'id'</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idToEdit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activatedRoute</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snapshot</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params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'id'</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buNone/>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endParaRPr lang="en-IN" sz="1600" kern="100" dirty="0">
              <a:latin typeface="Calibri" panose="020F0502020204030204" pitchFamily="34" charset="0"/>
              <a:ea typeface="Calibri" panose="020F0502020204030204" pitchFamily="34" charset="0"/>
              <a:cs typeface="Shruti" panose="020B0502040204020203" pitchFamily="34" charset="0"/>
            </a:endParaRPr>
          </a:p>
        </p:txBody>
      </p:sp>
    </p:spTree>
    <p:extLst>
      <p:ext uri="{BB962C8B-B14F-4D97-AF65-F5344CB8AC3E}">
        <p14:creationId xmlns:p14="http://schemas.microsoft.com/office/powerpoint/2010/main" val="1338457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P spid="6"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A3D36-D661-25A2-BC05-E6A619A71735}"/>
              </a:ext>
            </a:extLst>
          </p:cNvPr>
          <p:cNvSpPr>
            <a:spLocks noGrp="1"/>
          </p:cNvSpPr>
          <p:nvPr>
            <p:ph type="title"/>
          </p:nvPr>
        </p:nvSpPr>
        <p:spPr/>
        <p:txBody>
          <a:bodyPr/>
          <a:lstStyle/>
          <a:p>
            <a:r>
              <a:rPr lang="en-IN" dirty="0"/>
              <a:t>Steps to consume update API (Cont. 2/3)</a:t>
            </a:r>
          </a:p>
        </p:txBody>
      </p:sp>
      <p:sp>
        <p:nvSpPr>
          <p:cNvPr id="3" name="Content Placeholder 2">
            <a:extLst>
              <a:ext uri="{FF2B5EF4-FFF2-40B4-BE49-F238E27FC236}">
                <a16:creationId xmlns:a16="http://schemas.microsoft.com/office/drawing/2014/main" id="{FFFAD8D5-C1A8-ABFB-BD51-EC83DB8E23FA}"/>
              </a:ext>
            </a:extLst>
          </p:cNvPr>
          <p:cNvSpPr>
            <a:spLocks noGrp="1"/>
          </p:cNvSpPr>
          <p:nvPr>
            <p:ph idx="1"/>
          </p:nvPr>
        </p:nvSpPr>
        <p:spPr/>
        <p:txBody>
          <a:bodyPr/>
          <a:lstStyle/>
          <a:p>
            <a:r>
              <a:rPr lang="en-GB" dirty="0"/>
              <a:t>Step 04: get details using the id and patch the form</a:t>
            </a:r>
          </a:p>
          <a:p>
            <a:endParaRPr lang="en-GB" dirty="0"/>
          </a:p>
          <a:p>
            <a:endParaRPr lang="en-GB" dirty="0"/>
          </a:p>
          <a:p>
            <a:endParaRPr lang="en-GB" dirty="0"/>
          </a:p>
          <a:p>
            <a:endParaRPr lang="en-GB" dirty="0"/>
          </a:p>
          <a:p>
            <a:endParaRPr lang="en-GB" dirty="0"/>
          </a:p>
          <a:p>
            <a:endParaRPr lang="en-GB" dirty="0"/>
          </a:p>
          <a:p>
            <a:r>
              <a:rPr lang="en-GB" dirty="0"/>
              <a:t>Step 05: Create a update function in service</a:t>
            </a:r>
            <a:endParaRPr lang="en-IN" dirty="0"/>
          </a:p>
        </p:txBody>
      </p:sp>
      <p:sp>
        <p:nvSpPr>
          <p:cNvPr id="4" name="Rectangle 3">
            <a:extLst>
              <a:ext uri="{FF2B5EF4-FFF2-40B4-BE49-F238E27FC236}">
                <a16:creationId xmlns:a16="http://schemas.microsoft.com/office/drawing/2014/main" id="{B0F90940-D0F8-1521-D321-C13BBCFBDFED}"/>
              </a:ext>
            </a:extLst>
          </p:cNvPr>
          <p:cNvSpPr/>
          <p:nvPr/>
        </p:nvSpPr>
        <p:spPr>
          <a:xfrm>
            <a:off x="506993" y="1281550"/>
            <a:ext cx="9162107" cy="2780248"/>
          </a:xfrm>
          <a:prstGeom prst="rect">
            <a:avLst/>
          </a:prstGeom>
          <a:solidFill>
            <a:schemeClr val="tx1"/>
          </a:solidFill>
          <a:ln>
            <a:noFill/>
          </a:ln>
        </p:spPr>
        <p:txBody>
          <a:bodyPr wrap="square">
            <a:spAutoFit/>
          </a:bodyPr>
          <a:lstStyle/>
          <a:p>
            <a:pPr>
              <a:spcAft>
                <a:spcPts val="800"/>
              </a:spcAft>
            </a:pPr>
            <a:r>
              <a:rPr lang="en-IN" sz="1600" kern="0" dirty="0">
                <a:solidFill>
                  <a:srgbClr val="DCDCAA"/>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ngOnInit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C586C0"/>
                </a:solidFill>
                <a:latin typeface="Consolas" panose="020B0609020204030204" pitchFamily="49" charset="0"/>
                <a:ea typeface="Times New Roman" panose="02020603050405020304" pitchFamily="18" charset="0"/>
                <a:cs typeface="Times New Roman" panose="02020603050405020304" pitchFamily="18" charset="0"/>
              </a:rPr>
              <a:t>if</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activatedRoute</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snapshot</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params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'id'</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idToEdit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activatedRoute</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snapshot</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params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'id'</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api</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getById</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idToEdit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CDCAA"/>
                </a:solidFill>
                <a:latin typeface="Consolas" panose="020B0609020204030204" pitchFamily="49" charset="0"/>
                <a:ea typeface="Times New Roman" panose="02020603050405020304" pitchFamily="18" charset="0"/>
                <a:cs typeface="Times New Roman" panose="02020603050405020304" pitchFamily="18" charset="0"/>
              </a:rPr>
              <a:t>subscribe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res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=&gt;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studentForm</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patchValue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res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buNone/>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endParaRPr lang="en-IN" sz="1600" kern="100" dirty="0">
              <a:latin typeface="Calibri" panose="020F0502020204030204" pitchFamily="34" charset="0"/>
              <a:ea typeface="Calibri" panose="020F0502020204030204" pitchFamily="34" charset="0"/>
              <a:cs typeface="Shruti" panose="020B0502040204020203" pitchFamily="34" charset="0"/>
            </a:endParaRPr>
          </a:p>
        </p:txBody>
      </p:sp>
      <p:sp>
        <p:nvSpPr>
          <p:cNvPr id="5" name="Rectangle 4">
            <a:extLst>
              <a:ext uri="{FF2B5EF4-FFF2-40B4-BE49-F238E27FC236}">
                <a16:creationId xmlns:a16="http://schemas.microsoft.com/office/drawing/2014/main" id="{38629F30-C446-F920-77D9-2BE4AE3437AB}"/>
              </a:ext>
            </a:extLst>
          </p:cNvPr>
          <p:cNvSpPr/>
          <p:nvPr/>
        </p:nvSpPr>
        <p:spPr>
          <a:xfrm>
            <a:off x="506993" y="4479904"/>
            <a:ext cx="9162107" cy="1036181"/>
          </a:xfrm>
          <a:prstGeom prst="rect">
            <a:avLst/>
          </a:prstGeom>
          <a:solidFill>
            <a:schemeClr val="tx1"/>
          </a:solidFill>
          <a:ln>
            <a:noFill/>
          </a:ln>
        </p:spPr>
        <p:txBody>
          <a:bodyPr wrap="square">
            <a:spAutoFit/>
          </a:bodyPr>
          <a:lstStyle/>
          <a:p>
            <a:pPr>
              <a:spcAft>
                <a:spcPts val="800"/>
              </a:spcAft>
            </a:pPr>
            <a:r>
              <a:rPr lang="en-IN" sz="1600" kern="0" dirty="0">
                <a:solidFill>
                  <a:srgbClr val="DCDCAA"/>
                </a:solidFill>
                <a:latin typeface="Consolas" panose="020B0609020204030204" pitchFamily="49" charset="0"/>
                <a:ea typeface="Times New Roman" panose="02020603050405020304" pitchFamily="18" charset="0"/>
                <a:cs typeface="Times New Roman" panose="02020603050405020304" pitchFamily="18" charset="0"/>
              </a:rPr>
              <a:t>update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id</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any</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data</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4EC9B0"/>
                </a:solidFill>
                <a:latin typeface="Consolas" panose="020B0609020204030204" pitchFamily="49" charset="0"/>
                <a:ea typeface="Times New Roman" panose="02020603050405020304" pitchFamily="18" charset="0"/>
                <a:cs typeface="Times New Roman" panose="02020603050405020304" pitchFamily="18" charset="0"/>
              </a:rPr>
              <a:t>any</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C586C0"/>
                </a:solidFill>
                <a:latin typeface="Consolas" panose="020B0609020204030204" pitchFamily="49" charset="0"/>
                <a:ea typeface="Times New Roman" panose="02020603050405020304" pitchFamily="18" charset="0"/>
                <a:cs typeface="Times New Roman" panose="02020603050405020304" pitchFamily="18" charset="0"/>
              </a:rPr>
              <a:t>return</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http</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put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apiUrl</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id</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data</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buNone/>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1600" kern="100" dirty="0">
              <a:latin typeface="Calibri" panose="020F0502020204030204" pitchFamily="34" charset="0"/>
              <a:ea typeface="Calibri" panose="020F0502020204030204" pitchFamily="34" charset="0"/>
              <a:cs typeface="Shruti" panose="020B0502040204020203" pitchFamily="34" charset="0"/>
            </a:endParaRPr>
          </a:p>
        </p:txBody>
      </p:sp>
    </p:spTree>
    <p:extLst>
      <p:ext uri="{BB962C8B-B14F-4D97-AF65-F5344CB8AC3E}">
        <p14:creationId xmlns:p14="http://schemas.microsoft.com/office/powerpoint/2010/main" val="1867331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8A594-39E4-2E9B-9F55-E1F02C214A8F}"/>
              </a:ext>
            </a:extLst>
          </p:cNvPr>
          <p:cNvSpPr>
            <a:spLocks noGrp="1"/>
          </p:cNvSpPr>
          <p:nvPr>
            <p:ph type="title"/>
          </p:nvPr>
        </p:nvSpPr>
        <p:spPr/>
        <p:txBody>
          <a:bodyPr/>
          <a:lstStyle/>
          <a:p>
            <a:r>
              <a:rPr lang="en-IN" dirty="0"/>
              <a:t>Steps to consume update API (Cont. 3/3)</a:t>
            </a:r>
          </a:p>
        </p:txBody>
      </p:sp>
      <p:sp>
        <p:nvSpPr>
          <p:cNvPr id="3" name="Content Placeholder 2">
            <a:extLst>
              <a:ext uri="{FF2B5EF4-FFF2-40B4-BE49-F238E27FC236}">
                <a16:creationId xmlns:a16="http://schemas.microsoft.com/office/drawing/2014/main" id="{198F1AC5-B45B-E9CB-9663-6AD958E7D5FA}"/>
              </a:ext>
            </a:extLst>
          </p:cNvPr>
          <p:cNvSpPr>
            <a:spLocks noGrp="1"/>
          </p:cNvSpPr>
          <p:nvPr>
            <p:ph idx="1"/>
          </p:nvPr>
        </p:nvSpPr>
        <p:spPr/>
        <p:txBody>
          <a:bodyPr/>
          <a:lstStyle/>
          <a:p>
            <a:r>
              <a:rPr lang="en-GB" dirty="0"/>
              <a:t>Step 06: update save button code</a:t>
            </a:r>
            <a:endParaRPr lang="en-IN" dirty="0"/>
          </a:p>
        </p:txBody>
      </p:sp>
      <p:sp>
        <p:nvSpPr>
          <p:cNvPr id="4" name="Rectangle 3">
            <a:extLst>
              <a:ext uri="{FF2B5EF4-FFF2-40B4-BE49-F238E27FC236}">
                <a16:creationId xmlns:a16="http://schemas.microsoft.com/office/drawing/2014/main" id="{9446CBA2-EB20-97EA-ED2E-71FFF4A53156}"/>
              </a:ext>
            </a:extLst>
          </p:cNvPr>
          <p:cNvSpPr/>
          <p:nvPr/>
        </p:nvSpPr>
        <p:spPr>
          <a:xfrm>
            <a:off x="506993" y="1281550"/>
            <a:ext cx="10502021" cy="3441968"/>
          </a:xfrm>
          <a:prstGeom prst="rect">
            <a:avLst/>
          </a:prstGeom>
          <a:solidFill>
            <a:schemeClr val="tx1"/>
          </a:solidFill>
          <a:ln>
            <a:noFill/>
          </a:ln>
        </p:spPr>
        <p:txBody>
          <a:bodyPr wrap="square">
            <a:spAutoFit/>
          </a:bodyPr>
          <a:lstStyle/>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saveData</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C586C0"/>
                </a:solidFill>
                <a:latin typeface="Consolas" panose="020B0609020204030204" pitchFamily="49" charset="0"/>
                <a:ea typeface="Times New Roman" panose="02020603050405020304" pitchFamily="18" charset="0"/>
                <a:cs typeface="Times New Roman" panose="02020603050405020304" pitchFamily="18" charset="0"/>
              </a:rPr>
              <a:t>if</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idToEdit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&gt;</a:t>
            </a:r>
            <a:r>
              <a:rPr lang="en-IN" sz="1600" kern="0" dirty="0">
                <a:solidFill>
                  <a:srgbClr val="B5CEA8"/>
                </a:solidFill>
                <a:latin typeface="Consolas" panose="020B0609020204030204" pitchFamily="49" charset="0"/>
                <a:ea typeface="Times New Roman" panose="02020603050405020304" pitchFamily="18" charset="0"/>
                <a:cs typeface="Times New Roman" panose="02020603050405020304" pitchFamily="18" charset="0"/>
              </a:rPr>
              <a:t>0</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api</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update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idToEdit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err="1">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studentForm</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4FC1FF"/>
                </a:solidFill>
                <a:latin typeface="Consolas" panose="020B0609020204030204" pitchFamily="49" charset="0"/>
                <a:ea typeface="Times New Roman" panose="02020603050405020304" pitchFamily="18" charset="0"/>
                <a:cs typeface="Times New Roman" panose="02020603050405020304" pitchFamily="18" charset="0"/>
              </a:rPr>
              <a:t>value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CDCAA"/>
                </a:solidFill>
                <a:latin typeface="Consolas" panose="020B0609020204030204" pitchFamily="49" charset="0"/>
                <a:ea typeface="Times New Roman" panose="02020603050405020304" pitchFamily="18" charset="0"/>
                <a:cs typeface="Times New Roman" panose="02020603050405020304" pitchFamily="18" charset="0"/>
              </a:rPr>
              <a:t>subscribe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res</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=&gt;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router</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navigate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'students'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C586C0"/>
                </a:solidFill>
                <a:latin typeface="Consolas" panose="020B0609020204030204" pitchFamily="49" charset="0"/>
                <a:ea typeface="Times New Roman" panose="02020603050405020304" pitchFamily="18" charset="0"/>
                <a:cs typeface="Times New Roman" panose="02020603050405020304" pitchFamily="18" charset="0"/>
              </a:rPr>
              <a:t>else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api</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insert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studentForm</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4FC1FF"/>
                </a:solidFill>
                <a:latin typeface="Consolas" panose="020B0609020204030204" pitchFamily="49" charset="0"/>
                <a:ea typeface="Times New Roman" panose="02020603050405020304" pitchFamily="18" charset="0"/>
                <a:cs typeface="Times New Roman" panose="02020603050405020304" pitchFamily="18" charset="0"/>
              </a:rPr>
              <a:t>value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DCDCAA"/>
                </a:solidFill>
                <a:latin typeface="Consolas" panose="020B0609020204030204" pitchFamily="49" charset="0"/>
                <a:ea typeface="Times New Roman" panose="02020603050405020304" pitchFamily="18" charset="0"/>
                <a:cs typeface="Times New Roman" panose="02020603050405020304" pitchFamily="18" charset="0"/>
              </a:rPr>
              <a:t>subscribe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res</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=&gt;</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r>
              <a:rPr lang="en-IN" sz="1600" kern="0" dirty="0">
                <a:solidFill>
                  <a:srgbClr val="569CD6"/>
                </a:solidFill>
                <a:latin typeface="Consolas" panose="020B0609020204030204" pitchFamily="49" charset="0"/>
                <a:ea typeface="Times New Roman" panose="02020603050405020304" pitchFamily="18" charset="0"/>
                <a:cs typeface="Times New Roman" panose="02020603050405020304" pitchFamily="18" charset="0"/>
              </a:rPr>
              <a:t>this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9CDCFE"/>
                </a:solidFill>
                <a:latin typeface="Consolas" panose="020B0609020204030204" pitchFamily="49" charset="0"/>
                <a:ea typeface="Times New Roman" panose="02020603050405020304" pitchFamily="18" charset="0"/>
                <a:cs typeface="Times New Roman" panose="02020603050405020304" pitchFamily="18" charset="0"/>
              </a:rPr>
              <a:t>_</a:t>
            </a:r>
            <a:r>
              <a:rPr lang="en-IN" sz="1600" kern="0" dirty="0" err="1">
                <a:solidFill>
                  <a:srgbClr val="9CDCFE"/>
                </a:solidFill>
                <a:latin typeface="Consolas" panose="020B0609020204030204" pitchFamily="49" charset="0"/>
                <a:ea typeface="Times New Roman" panose="02020603050405020304" pitchFamily="18" charset="0"/>
                <a:cs typeface="Times New Roman" panose="02020603050405020304" pitchFamily="18" charset="0"/>
              </a:rPr>
              <a:t>router</a:t>
            </a:r>
            <a:r>
              <a:rPr lang="en-IN" sz="1600"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err="1">
                <a:solidFill>
                  <a:srgbClr val="DCDCAA"/>
                </a:solidFill>
                <a:latin typeface="Consolas" panose="020B0609020204030204" pitchFamily="49" charset="0"/>
                <a:ea typeface="Times New Roman" panose="02020603050405020304" pitchFamily="18" charset="0"/>
                <a:cs typeface="Times New Roman" panose="02020603050405020304" pitchFamily="18" charset="0"/>
              </a:rPr>
              <a:t>navigate</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en-IN" sz="1600" kern="0" dirty="0">
                <a:solidFill>
                  <a:srgbClr val="CE9178"/>
                </a:solidFill>
                <a:latin typeface="Consolas" panose="020B0609020204030204" pitchFamily="49" charset="0"/>
                <a:ea typeface="Times New Roman" panose="02020603050405020304" pitchFamily="18" charset="0"/>
                <a:cs typeface="Times New Roman" panose="02020603050405020304" pitchFamily="18" charset="0"/>
              </a:rPr>
              <a:t>'students'</a:t>
            </a: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lnSpc>
                <a:spcPts val="1425"/>
              </a:lnSpc>
              <a:spcAft>
                <a:spcPts val="800"/>
              </a:spcAft>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endParaRPr lang="en-IN" sz="2000" kern="100" dirty="0">
              <a:latin typeface="Calibri" panose="020F0502020204030204" pitchFamily="34" charset="0"/>
              <a:ea typeface="Calibri" panose="020F0502020204030204" pitchFamily="34" charset="0"/>
              <a:cs typeface="Shruti" panose="020B0502040204020203" pitchFamily="34" charset="0"/>
            </a:endParaRPr>
          </a:p>
          <a:p>
            <a:pPr>
              <a:buNone/>
            </a:pPr>
            <a:r>
              <a:rPr lang="en-IN" sz="1600" kern="0" dirty="0">
                <a:solidFill>
                  <a:srgbClr val="D4D4D4"/>
                </a:solidFill>
                <a:latin typeface="Consolas" panose="020B0609020204030204" pitchFamily="49" charset="0"/>
                <a:ea typeface="Times New Roman" panose="02020603050405020304" pitchFamily="18" charset="0"/>
                <a:cs typeface="Times New Roman" panose="02020603050405020304" pitchFamily="18" charset="0"/>
              </a:rPr>
              <a:t>    }</a:t>
            </a:r>
            <a:endParaRPr lang="en-IN" sz="1600" kern="100" dirty="0">
              <a:latin typeface="Calibri" panose="020F0502020204030204" pitchFamily="34" charset="0"/>
              <a:ea typeface="Calibri" panose="020F0502020204030204" pitchFamily="34" charset="0"/>
              <a:cs typeface="Shruti" panose="020B0502040204020203" pitchFamily="34" charset="0"/>
            </a:endParaRPr>
          </a:p>
        </p:txBody>
      </p:sp>
    </p:spTree>
    <p:extLst>
      <p:ext uri="{BB962C8B-B14F-4D97-AF65-F5344CB8AC3E}">
        <p14:creationId xmlns:p14="http://schemas.microsoft.com/office/powerpoint/2010/main" val="1560804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Authentication and Authorization</a:t>
            </a:r>
          </a:p>
        </p:txBody>
      </p:sp>
      <p:sp>
        <p:nvSpPr>
          <p:cNvPr id="3" name="Content Placeholder 2"/>
          <p:cNvSpPr>
            <a:spLocks noGrp="1"/>
          </p:cNvSpPr>
          <p:nvPr>
            <p:ph idx="1"/>
          </p:nvPr>
        </p:nvSpPr>
        <p:spPr/>
        <p:txBody>
          <a:bodyPr/>
          <a:lstStyle/>
          <a:p>
            <a:r>
              <a:rPr lang="en-GB" dirty="0"/>
              <a:t>While often used interchangeably, authentication and authorization represent fundamentally different functions.</a:t>
            </a:r>
          </a:p>
          <a:p>
            <a:r>
              <a:rPr lang="en-GB" dirty="0"/>
              <a:t>In simple terms, authentication is the process of verifying who a user is, while authorization is the process of verifying what they have access to.</a:t>
            </a:r>
          </a:p>
          <a:p>
            <a:r>
              <a:rPr lang="en-GB" dirty="0"/>
              <a:t>Comparing these processes to a real-world example, 	</a:t>
            </a:r>
          </a:p>
          <a:p>
            <a:pPr lvl="1"/>
            <a:r>
              <a:rPr lang="en-GB" dirty="0"/>
              <a:t>when you go through security in an airport, you show your ID to </a:t>
            </a:r>
            <a:r>
              <a:rPr lang="en-GB" b="1" dirty="0"/>
              <a:t>authenticate</a:t>
            </a:r>
            <a:r>
              <a:rPr lang="en-GB" dirty="0"/>
              <a:t> your identity. </a:t>
            </a:r>
          </a:p>
          <a:p>
            <a:pPr lvl="1"/>
            <a:r>
              <a:rPr lang="en-GB" dirty="0"/>
              <a:t>when you arrive at the gate, you present your boarding pass to the flight attendant, so they can </a:t>
            </a:r>
            <a:r>
              <a:rPr lang="en-GB" b="1" dirty="0"/>
              <a:t>authorize</a:t>
            </a:r>
            <a:r>
              <a:rPr lang="en-GB" dirty="0"/>
              <a:t> you to board your flight and allow access to the plane.</a:t>
            </a:r>
          </a:p>
          <a:p>
            <a:r>
              <a:rPr lang="en-GB" dirty="0"/>
              <a:t>In short, access to a resource is protected by both authentication and authorization. </a:t>
            </a:r>
          </a:p>
          <a:p>
            <a:pPr lvl="1"/>
            <a:r>
              <a:rPr lang="en-GB" dirty="0"/>
              <a:t>If you can't prove your identity, you won't be allowed into a resource. </a:t>
            </a:r>
          </a:p>
          <a:p>
            <a:pPr lvl="1"/>
            <a:r>
              <a:rPr lang="en-GB" dirty="0"/>
              <a:t>Even if you can prove your identity, if you are not authorized for that resource, you will still be denied access.</a:t>
            </a:r>
            <a:endParaRPr lang="en-US" dirty="0"/>
          </a:p>
        </p:txBody>
      </p:sp>
    </p:spTree>
    <p:extLst>
      <p:ext uri="{BB962C8B-B14F-4D97-AF65-F5344CB8AC3E}">
        <p14:creationId xmlns:p14="http://schemas.microsoft.com/office/powerpoint/2010/main" val="2592424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5A295-769A-246F-ABA9-61BE4994429A}"/>
              </a:ext>
            </a:extLst>
          </p:cNvPr>
          <p:cNvSpPr>
            <a:spLocks noGrp="1"/>
          </p:cNvSpPr>
          <p:nvPr>
            <p:ph type="title"/>
          </p:nvPr>
        </p:nvSpPr>
        <p:spPr/>
        <p:txBody>
          <a:bodyPr/>
          <a:lstStyle/>
          <a:p>
            <a:r>
              <a:rPr lang="en-IN" dirty="0"/>
              <a:t>Difference between Authentication and Authorization</a:t>
            </a:r>
          </a:p>
        </p:txBody>
      </p:sp>
      <p:graphicFrame>
        <p:nvGraphicFramePr>
          <p:cNvPr id="4" name="Table 3">
            <a:extLst>
              <a:ext uri="{FF2B5EF4-FFF2-40B4-BE49-F238E27FC236}">
                <a16:creationId xmlns:a16="http://schemas.microsoft.com/office/drawing/2014/main" id="{8CABDCC7-4068-F7E5-C93C-0C2AB5625907}"/>
              </a:ext>
            </a:extLst>
          </p:cNvPr>
          <p:cNvGraphicFramePr>
            <a:graphicFrameLocks noGrp="1"/>
          </p:cNvGraphicFramePr>
          <p:nvPr/>
        </p:nvGraphicFramePr>
        <p:xfrm>
          <a:off x="339001" y="1118018"/>
          <a:ext cx="10135858" cy="4302760"/>
        </p:xfrm>
        <a:graphic>
          <a:graphicData uri="http://schemas.openxmlformats.org/drawingml/2006/table">
            <a:tbl>
              <a:tblPr firstRow="1" bandRow="1">
                <a:tableStyleId>{5C22544A-7EE6-4342-B048-85BDC9FD1C3A}</a:tableStyleId>
              </a:tblPr>
              <a:tblGrid>
                <a:gridCol w="5067929">
                  <a:extLst>
                    <a:ext uri="{9D8B030D-6E8A-4147-A177-3AD203B41FA5}">
                      <a16:colId xmlns:a16="http://schemas.microsoft.com/office/drawing/2014/main" val="4156886070"/>
                    </a:ext>
                  </a:extLst>
                </a:gridCol>
                <a:gridCol w="5067929">
                  <a:extLst>
                    <a:ext uri="{9D8B030D-6E8A-4147-A177-3AD203B41FA5}">
                      <a16:colId xmlns:a16="http://schemas.microsoft.com/office/drawing/2014/main" val="2437113814"/>
                    </a:ext>
                  </a:extLst>
                </a:gridCol>
              </a:tblGrid>
              <a:tr h="370840">
                <a:tc>
                  <a:txBody>
                    <a:bodyPr/>
                    <a:lstStyle/>
                    <a:p>
                      <a:r>
                        <a:rPr lang="en-IN" dirty="0">
                          <a:latin typeface="+mj-lt"/>
                        </a:rPr>
                        <a:t>Authentication</a:t>
                      </a:r>
                    </a:p>
                  </a:txBody>
                  <a:tcPr/>
                </a:tc>
                <a:tc>
                  <a:txBody>
                    <a:bodyPr/>
                    <a:lstStyle/>
                    <a:p>
                      <a:r>
                        <a:rPr lang="en-IN" dirty="0">
                          <a:latin typeface="+mj-lt"/>
                        </a:rPr>
                        <a:t>Authorization</a:t>
                      </a:r>
                    </a:p>
                  </a:txBody>
                  <a:tcPr/>
                </a:tc>
                <a:extLst>
                  <a:ext uri="{0D108BD9-81ED-4DB2-BD59-A6C34878D82A}">
                    <a16:rowId xmlns:a16="http://schemas.microsoft.com/office/drawing/2014/main" val="43481560"/>
                  </a:ext>
                </a:extLst>
              </a:tr>
              <a:tr h="370840">
                <a:tc>
                  <a:txBody>
                    <a:bodyPr/>
                    <a:lstStyle/>
                    <a:p>
                      <a:pPr fontAlgn="t"/>
                      <a:r>
                        <a:rPr lang="en-GB" dirty="0">
                          <a:effectLst/>
                          <a:latin typeface="+mj-lt"/>
                        </a:rPr>
                        <a:t>Determines whether users are who they claim to be</a:t>
                      </a:r>
                    </a:p>
                  </a:txBody>
                  <a:tcPr marL="76200" marR="76200" marT="76200" marB="76200"/>
                </a:tc>
                <a:tc>
                  <a:txBody>
                    <a:bodyPr/>
                    <a:lstStyle/>
                    <a:p>
                      <a:pPr fontAlgn="t"/>
                      <a:r>
                        <a:rPr lang="en-GB">
                          <a:effectLst/>
                          <a:latin typeface="+mj-lt"/>
                        </a:rPr>
                        <a:t>Determines what users can and cannot access</a:t>
                      </a:r>
                    </a:p>
                  </a:txBody>
                  <a:tcPr marL="76200" marR="76200" marT="76200" marB="76200"/>
                </a:tc>
                <a:extLst>
                  <a:ext uri="{0D108BD9-81ED-4DB2-BD59-A6C34878D82A}">
                    <a16:rowId xmlns:a16="http://schemas.microsoft.com/office/drawing/2014/main" val="3420781637"/>
                  </a:ext>
                </a:extLst>
              </a:tr>
              <a:tr h="370840">
                <a:tc>
                  <a:txBody>
                    <a:bodyPr/>
                    <a:lstStyle/>
                    <a:p>
                      <a:pPr fontAlgn="t"/>
                      <a:r>
                        <a:rPr lang="en-GB">
                          <a:effectLst/>
                          <a:latin typeface="+mj-lt"/>
                        </a:rPr>
                        <a:t>Challenges the user to validate credentials (for example, through passwords, answers to security questions, or facial recognition)</a:t>
                      </a:r>
                    </a:p>
                  </a:txBody>
                  <a:tcPr marL="76200" marR="76200" marT="76200" marB="76200"/>
                </a:tc>
                <a:tc>
                  <a:txBody>
                    <a:bodyPr/>
                    <a:lstStyle/>
                    <a:p>
                      <a:pPr fontAlgn="t"/>
                      <a:r>
                        <a:rPr lang="en-GB">
                          <a:effectLst/>
                          <a:latin typeface="+mj-lt"/>
                        </a:rPr>
                        <a:t>Verifies whether access is allowed through policies and rules</a:t>
                      </a:r>
                    </a:p>
                  </a:txBody>
                  <a:tcPr marL="76200" marR="76200" marT="76200" marB="76200"/>
                </a:tc>
                <a:extLst>
                  <a:ext uri="{0D108BD9-81ED-4DB2-BD59-A6C34878D82A}">
                    <a16:rowId xmlns:a16="http://schemas.microsoft.com/office/drawing/2014/main" val="1234088511"/>
                  </a:ext>
                </a:extLst>
              </a:tr>
              <a:tr h="370840">
                <a:tc>
                  <a:txBody>
                    <a:bodyPr/>
                    <a:lstStyle/>
                    <a:p>
                      <a:pPr fontAlgn="t"/>
                      <a:r>
                        <a:rPr lang="en-IN">
                          <a:effectLst/>
                          <a:latin typeface="+mj-lt"/>
                        </a:rPr>
                        <a:t>Usually done before authorization</a:t>
                      </a:r>
                    </a:p>
                  </a:txBody>
                  <a:tcPr marL="76200" marR="76200" marT="76200" marB="76200"/>
                </a:tc>
                <a:tc>
                  <a:txBody>
                    <a:bodyPr/>
                    <a:lstStyle/>
                    <a:p>
                      <a:pPr fontAlgn="t"/>
                      <a:r>
                        <a:rPr lang="en-GB">
                          <a:effectLst/>
                          <a:latin typeface="+mj-lt"/>
                        </a:rPr>
                        <a:t>Usually done after successful authentication</a:t>
                      </a:r>
                    </a:p>
                  </a:txBody>
                  <a:tcPr marL="76200" marR="76200" marT="76200" marB="76200"/>
                </a:tc>
                <a:extLst>
                  <a:ext uri="{0D108BD9-81ED-4DB2-BD59-A6C34878D82A}">
                    <a16:rowId xmlns:a16="http://schemas.microsoft.com/office/drawing/2014/main" val="3479639797"/>
                  </a:ext>
                </a:extLst>
              </a:tr>
              <a:tr h="370840">
                <a:tc>
                  <a:txBody>
                    <a:bodyPr/>
                    <a:lstStyle/>
                    <a:p>
                      <a:pPr fontAlgn="t"/>
                      <a:r>
                        <a:rPr lang="en-GB">
                          <a:effectLst/>
                          <a:latin typeface="+mj-lt"/>
                        </a:rPr>
                        <a:t>Generally, transmits info through an ID Token</a:t>
                      </a:r>
                    </a:p>
                  </a:txBody>
                  <a:tcPr marL="76200" marR="76200" marT="76200" marB="76200"/>
                </a:tc>
                <a:tc>
                  <a:txBody>
                    <a:bodyPr/>
                    <a:lstStyle/>
                    <a:p>
                      <a:pPr fontAlgn="t"/>
                      <a:r>
                        <a:rPr lang="en-GB">
                          <a:effectLst/>
                          <a:latin typeface="+mj-lt"/>
                        </a:rPr>
                        <a:t>Generally, transmits info through an </a:t>
                      </a:r>
                      <a:r>
                        <a:rPr lang="en-GB" i="0">
                          <a:effectLst/>
                          <a:latin typeface="+mj-lt"/>
                        </a:rPr>
                        <a:t>Access Token</a:t>
                      </a:r>
                      <a:endParaRPr lang="en-GB">
                        <a:effectLst/>
                        <a:latin typeface="+mj-lt"/>
                      </a:endParaRPr>
                    </a:p>
                  </a:txBody>
                  <a:tcPr marL="76200" marR="76200" marT="76200" marB="76200"/>
                </a:tc>
                <a:extLst>
                  <a:ext uri="{0D108BD9-81ED-4DB2-BD59-A6C34878D82A}">
                    <a16:rowId xmlns:a16="http://schemas.microsoft.com/office/drawing/2014/main" val="80598802"/>
                  </a:ext>
                </a:extLst>
              </a:tr>
              <a:tr h="370840">
                <a:tc>
                  <a:txBody>
                    <a:bodyPr/>
                    <a:lstStyle/>
                    <a:p>
                      <a:pPr fontAlgn="t"/>
                      <a:r>
                        <a:rPr lang="en-GB">
                          <a:effectLst/>
                          <a:latin typeface="+mj-lt"/>
                        </a:rPr>
                        <a:t>Generally governed by the </a:t>
                      </a:r>
                      <a:r>
                        <a:rPr lang="en-GB" i="0">
                          <a:effectLst/>
                          <a:latin typeface="+mj-lt"/>
                        </a:rPr>
                        <a:t>OpenID Connect (OIDC) protocol</a:t>
                      </a:r>
                      <a:endParaRPr lang="en-GB">
                        <a:effectLst/>
                        <a:latin typeface="+mj-lt"/>
                      </a:endParaRPr>
                    </a:p>
                  </a:txBody>
                  <a:tcPr marL="76200" marR="76200" marT="76200" marB="76200"/>
                </a:tc>
                <a:tc>
                  <a:txBody>
                    <a:bodyPr/>
                    <a:lstStyle/>
                    <a:p>
                      <a:pPr fontAlgn="t"/>
                      <a:r>
                        <a:rPr lang="en-GB">
                          <a:effectLst/>
                          <a:latin typeface="+mj-lt"/>
                        </a:rPr>
                        <a:t>Generally governed by the OAuth 2.0 framework</a:t>
                      </a:r>
                    </a:p>
                  </a:txBody>
                  <a:tcPr marL="76200" marR="76200" marT="76200" marB="76200"/>
                </a:tc>
                <a:extLst>
                  <a:ext uri="{0D108BD9-81ED-4DB2-BD59-A6C34878D82A}">
                    <a16:rowId xmlns:a16="http://schemas.microsoft.com/office/drawing/2014/main" val="3107849350"/>
                  </a:ext>
                </a:extLst>
              </a:tr>
              <a:tr h="370840">
                <a:tc>
                  <a:txBody>
                    <a:bodyPr/>
                    <a:lstStyle/>
                    <a:p>
                      <a:pPr fontAlgn="t"/>
                      <a:r>
                        <a:rPr lang="en-GB">
                          <a:effectLst/>
                          <a:latin typeface="+mj-lt"/>
                        </a:rPr>
                        <a:t>Example: Employees in a company are required to authenticate through the network before accessing their company email</a:t>
                      </a:r>
                    </a:p>
                  </a:txBody>
                  <a:tcPr marL="76200" marR="76200" marT="76200" marB="76200"/>
                </a:tc>
                <a:tc>
                  <a:txBody>
                    <a:bodyPr/>
                    <a:lstStyle/>
                    <a:p>
                      <a:pPr fontAlgn="t"/>
                      <a:r>
                        <a:rPr lang="en-GB" dirty="0">
                          <a:effectLst/>
                          <a:latin typeface="+mj-lt"/>
                        </a:rPr>
                        <a:t>Example: After an employee successfully authenticates, the system determines what information the employees are allowed to access</a:t>
                      </a:r>
                    </a:p>
                  </a:txBody>
                  <a:tcPr marL="76200" marR="76200" marT="76200" marB="76200"/>
                </a:tc>
                <a:extLst>
                  <a:ext uri="{0D108BD9-81ED-4DB2-BD59-A6C34878D82A}">
                    <a16:rowId xmlns:a16="http://schemas.microsoft.com/office/drawing/2014/main" val="2364780800"/>
                  </a:ext>
                </a:extLst>
              </a:tr>
            </a:tbl>
          </a:graphicData>
        </a:graphic>
      </p:graphicFrame>
    </p:spTree>
    <p:extLst>
      <p:ext uri="{BB962C8B-B14F-4D97-AF65-F5344CB8AC3E}">
        <p14:creationId xmlns:p14="http://schemas.microsoft.com/office/powerpoint/2010/main" val="18604756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86FB7-76F6-2D46-E27A-334183FB49CF}"/>
              </a:ext>
            </a:extLst>
          </p:cNvPr>
          <p:cNvSpPr>
            <a:spLocks noGrp="1"/>
          </p:cNvSpPr>
          <p:nvPr>
            <p:ph type="title"/>
          </p:nvPr>
        </p:nvSpPr>
        <p:spPr/>
        <p:txBody>
          <a:bodyPr/>
          <a:lstStyle/>
          <a:p>
            <a:r>
              <a:rPr lang="en-IN" dirty="0"/>
              <a:t>JSON Web Tokens (JWT)</a:t>
            </a:r>
          </a:p>
        </p:txBody>
      </p:sp>
      <p:sp>
        <p:nvSpPr>
          <p:cNvPr id="3" name="Content Placeholder 2">
            <a:extLst>
              <a:ext uri="{FF2B5EF4-FFF2-40B4-BE49-F238E27FC236}">
                <a16:creationId xmlns:a16="http://schemas.microsoft.com/office/drawing/2014/main" id="{B72A185D-D269-6C0C-BB81-153B76366883}"/>
              </a:ext>
            </a:extLst>
          </p:cNvPr>
          <p:cNvSpPr>
            <a:spLocks noGrp="1"/>
          </p:cNvSpPr>
          <p:nvPr>
            <p:ph idx="1"/>
          </p:nvPr>
        </p:nvSpPr>
        <p:spPr/>
        <p:txBody>
          <a:bodyPr/>
          <a:lstStyle/>
          <a:p>
            <a:r>
              <a:rPr lang="en-GB" dirty="0"/>
              <a:t>JSON Web Token (JWT) is an open standard (RFC 7519) that defines a compact and self-contained way for securely transmitting information between parties as a JSON object. </a:t>
            </a:r>
          </a:p>
          <a:p>
            <a:r>
              <a:rPr lang="en-GB" dirty="0"/>
              <a:t>This information can be verified and trusted because it is digitally signed. </a:t>
            </a:r>
          </a:p>
          <a:p>
            <a:r>
              <a:rPr lang="en-GB" dirty="0"/>
              <a:t>JWTs can be signed using a secret (with the HMAC algorithm) or a public/private key pair using RSA or ECDSA.</a:t>
            </a:r>
          </a:p>
          <a:p>
            <a:r>
              <a:rPr lang="en-GB" dirty="0"/>
              <a:t>Here are some scenarios where JSON Web Tokens are useful:</a:t>
            </a:r>
          </a:p>
          <a:p>
            <a:pPr lvl="1"/>
            <a:r>
              <a:rPr lang="en-GB" b="1" dirty="0"/>
              <a:t>Authorization</a:t>
            </a:r>
            <a:r>
              <a:rPr lang="en-GB" dirty="0"/>
              <a:t>: This is the most common scenario for using JWT. Once the user is logged in, each subsequent request will include the JWT, allowing the user to access routes, services, and resources that are permitted with that token. Single Sign On is a feature that widely uses JWT nowadays, because of its small overhead and its ability to be easily used across different domains.</a:t>
            </a:r>
          </a:p>
          <a:p>
            <a:pPr lvl="1"/>
            <a:r>
              <a:rPr lang="en-GB" b="1" dirty="0"/>
              <a:t>Information Exchange</a:t>
            </a:r>
            <a:r>
              <a:rPr lang="en-GB" dirty="0"/>
              <a:t>: JSON Web Tokens are a good way of securely transmitting information between parties. Because JWTs can be signed—for example, using public/private key pairs—you can be sure the senders are who they say they are. Additionally, as the signature is calculated using the header and the payload, you can also verify that the content hasn't been tampered with.</a:t>
            </a:r>
          </a:p>
        </p:txBody>
      </p:sp>
    </p:spTree>
    <p:extLst>
      <p:ext uri="{BB962C8B-B14F-4D97-AF65-F5344CB8AC3E}">
        <p14:creationId xmlns:p14="http://schemas.microsoft.com/office/powerpoint/2010/main" val="2162381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5E366-ECF8-0527-691E-ABEEB31FFE7F}"/>
              </a:ext>
            </a:extLst>
          </p:cNvPr>
          <p:cNvSpPr>
            <a:spLocks noGrp="1"/>
          </p:cNvSpPr>
          <p:nvPr>
            <p:ph type="title"/>
          </p:nvPr>
        </p:nvSpPr>
        <p:spPr/>
        <p:txBody>
          <a:bodyPr/>
          <a:lstStyle/>
          <a:p>
            <a:r>
              <a:rPr lang="en-IN" dirty="0"/>
              <a:t>JSON Web Tokens (JWT) (Cont.)</a:t>
            </a:r>
          </a:p>
        </p:txBody>
      </p:sp>
      <p:sp>
        <p:nvSpPr>
          <p:cNvPr id="3" name="Content Placeholder 2">
            <a:extLst>
              <a:ext uri="{FF2B5EF4-FFF2-40B4-BE49-F238E27FC236}">
                <a16:creationId xmlns:a16="http://schemas.microsoft.com/office/drawing/2014/main" id="{4A2DC1C8-3053-017B-0748-7B0AE0A80B88}"/>
              </a:ext>
            </a:extLst>
          </p:cNvPr>
          <p:cNvSpPr>
            <a:spLocks noGrp="1"/>
          </p:cNvSpPr>
          <p:nvPr>
            <p:ph idx="1"/>
          </p:nvPr>
        </p:nvSpPr>
        <p:spPr/>
        <p:txBody>
          <a:bodyPr/>
          <a:lstStyle/>
          <a:p>
            <a:r>
              <a:rPr lang="en-GB" dirty="0"/>
              <a:t>In its compact form, JSON Web Tokens consist of three parts separated by dots (.), which are:</a:t>
            </a:r>
          </a:p>
          <a:p>
            <a:pPr lvl="1"/>
            <a:r>
              <a:rPr lang="en-GB" dirty="0"/>
              <a:t>Header</a:t>
            </a:r>
          </a:p>
          <a:p>
            <a:pPr lvl="1"/>
            <a:r>
              <a:rPr lang="en-GB" dirty="0"/>
              <a:t>Payload</a:t>
            </a:r>
          </a:p>
          <a:p>
            <a:pPr lvl="1"/>
            <a:r>
              <a:rPr lang="en-GB" dirty="0"/>
              <a:t>Signature</a:t>
            </a:r>
          </a:p>
          <a:p>
            <a:r>
              <a:rPr lang="en-GB" dirty="0"/>
              <a:t>Therefore, a JWT typically looks like the following.</a:t>
            </a:r>
          </a:p>
          <a:p>
            <a:endParaRPr lang="en-GB" dirty="0"/>
          </a:p>
          <a:p>
            <a:pPr lvl="1"/>
            <a:r>
              <a:rPr lang="en-GB" dirty="0"/>
              <a:t>Here,</a:t>
            </a:r>
          </a:p>
          <a:p>
            <a:pPr lvl="2"/>
            <a:r>
              <a:rPr lang="en-GB" dirty="0"/>
              <a:t>First part is header</a:t>
            </a:r>
          </a:p>
          <a:p>
            <a:pPr lvl="2"/>
            <a:r>
              <a:rPr lang="en-GB" dirty="0"/>
              <a:t>Second part is payload</a:t>
            </a:r>
          </a:p>
          <a:p>
            <a:pPr lvl="2"/>
            <a:r>
              <a:rPr lang="en-GB" dirty="0"/>
              <a:t>Third part is signature</a:t>
            </a:r>
          </a:p>
          <a:p>
            <a:r>
              <a:rPr lang="en-GB" dirty="0"/>
              <a:t>In this method generally we pass token in Authorization header like</a:t>
            </a:r>
          </a:p>
        </p:txBody>
      </p:sp>
      <p:sp>
        <p:nvSpPr>
          <p:cNvPr id="5" name="Rectangle 4">
            <a:extLst>
              <a:ext uri="{FF2B5EF4-FFF2-40B4-BE49-F238E27FC236}">
                <a16:creationId xmlns:a16="http://schemas.microsoft.com/office/drawing/2014/main" id="{8890E161-FB8C-DFDD-7F72-C191BC632B9D}"/>
              </a:ext>
            </a:extLst>
          </p:cNvPr>
          <p:cNvSpPr/>
          <p:nvPr/>
        </p:nvSpPr>
        <p:spPr>
          <a:xfrm>
            <a:off x="546883" y="2754959"/>
            <a:ext cx="9305648" cy="369332"/>
          </a:xfrm>
          <a:prstGeom prst="rect">
            <a:avLst/>
          </a:prstGeom>
          <a:solidFill>
            <a:schemeClr val="bg1">
              <a:lumMod val="95000"/>
            </a:schemeClr>
          </a:solidFill>
          <a:ln>
            <a:noFill/>
          </a:ln>
        </p:spPr>
        <p:txBody>
          <a:bodyPr wrap="square">
            <a:spAutoFit/>
          </a:bodyPr>
          <a:lstStyle/>
          <a:p>
            <a:pPr lvl="1"/>
            <a:r>
              <a:rPr lang="en-GB" dirty="0" err="1"/>
              <a:t>xxxxxxxxxx.yyyyyyyy.zzzzzzzzzzzzzzzzz</a:t>
            </a:r>
            <a:endParaRPr lang="en-GB" dirty="0"/>
          </a:p>
        </p:txBody>
      </p:sp>
      <p:sp>
        <p:nvSpPr>
          <p:cNvPr id="7" name="Rectangle 6">
            <a:extLst>
              <a:ext uri="{FF2B5EF4-FFF2-40B4-BE49-F238E27FC236}">
                <a16:creationId xmlns:a16="http://schemas.microsoft.com/office/drawing/2014/main" id="{7E7DCDE8-179F-1C31-5309-3A025DC516FB}"/>
              </a:ext>
            </a:extLst>
          </p:cNvPr>
          <p:cNvSpPr/>
          <p:nvPr/>
        </p:nvSpPr>
        <p:spPr>
          <a:xfrm>
            <a:off x="1046876" y="4884349"/>
            <a:ext cx="9305648" cy="1569660"/>
          </a:xfrm>
          <a:prstGeom prst="rect">
            <a:avLst/>
          </a:prstGeom>
          <a:solidFill>
            <a:schemeClr val="bg1">
              <a:lumMod val="95000"/>
            </a:schemeClr>
          </a:solidFill>
          <a:ln>
            <a:noFill/>
          </a:ln>
        </p:spPr>
        <p:txBody>
          <a:bodyPr wrap="square">
            <a:spAutoFit/>
          </a:bodyPr>
          <a:lstStyle/>
          <a:p>
            <a:r>
              <a:rPr lang="en-IN" sz="1600" dirty="0">
                <a:solidFill>
                  <a:srgbClr val="000000"/>
                </a:solidFill>
                <a:latin typeface="Consolas" panose="020B0609020204030204" pitchFamily="49" charset="0"/>
              </a:rPr>
              <a:t>    </a:t>
            </a:r>
            <a:r>
              <a:rPr lang="en-IN" sz="1600" dirty="0">
                <a:solidFill>
                  <a:srgbClr val="795E26"/>
                </a:solidFill>
                <a:latin typeface="Consolas" panose="020B0609020204030204" pitchFamily="49" charset="0"/>
              </a:rPr>
              <a:t>fetch</a:t>
            </a:r>
            <a:r>
              <a:rPr lang="en-IN" sz="1600" dirty="0">
                <a:solidFill>
                  <a:srgbClr val="000000"/>
                </a:solidFill>
                <a:latin typeface="Consolas" panose="020B0609020204030204" pitchFamily="49" charset="0"/>
              </a:rPr>
              <a:t>(</a:t>
            </a:r>
            <a:r>
              <a:rPr lang="en-IN" sz="1600" dirty="0">
                <a:solidFill>
                  <a:srgbClr val="A31515"/>
                </a:solidFill>
                <a:latin typeface="Consolas" panose="020B0609020204030204" pitchFamily="49" charset="0"/>
              </a:rPr>
              <a:t>'</a:t>
            </a:r>
            <a:r>
              <a:rPr lang="en-IN" sz="1600" dirty="0" err="1">
                <a:solidFill>
                  <a:srgbClr val="A31515"/>
                </a:solidFill>
                <a:latin typeface="Consolas" panose="020B0609020204030204" pitchFamily="49" charset="0"/>
              </a:rPr>
              <a:t>apiUrl_here</a:t>
            </a:r>
            <a:r>
              <a:rPr lang="en-IN" sz="1600" dirty="0">
                <a:solidFill>
                  <a:srgbClr val="A31515"/>
                </a:solidFill>
                <a:latin typeface="Consolas" panose="020B0609020204030204" pitchFamily="49" charset="0"/>
              </a:rPr>
              <a:t>'</a:t>
            </a:r>
            <a:r>
              <a:rPr lang="en-IN" sz="1600" dirty="0">
                <a:solidFill>
                  <a:srgbClr val="000000"/>
                </a:solidFill>
                <a:latin typeface="Consolas" panose="020B0609020204030204" pitchFamily="49" charset="0"/>
              </a:rPr>
              <a:t>,{</a:t>
            </a:r>
          </a:p>
          <a:p>
            <a:r>
              <a:rPr lang="en-IN" sz="1600" dirty="0">
                <a:solidFill>
                  <a:srgbClr val="000000"/>
                </a:solidFill>
                <a:latin typeface="Consolas" panose="020B0609020204030204" pitchFamily="49" charset="0"/>
              </a:rPr>
              <a:t>      </a:t>
            </a:r>
            <a:r>
              <a:rPr lang="en-IN" sz="1600" dirty="0">
                <a:solidFill>
                  <a:srgbClr val="001080"/>
                </a:solidFill>
                <a:latin typeface="Consolas" panose="020B0609020204030204" pitchFamily="49" charset="0"/>
              </a:rPr>
              <a:t>method:</a:t>
            </a:r>
            <a:r>
              <a:rPr lang="en-IN" sz="1600" dirty="0">
                <a:solidFill>
                  <a:srgbClr val="A31515"/>
                </a:solidFill>
                <a:latin typeface="Consolas" panose="020B0609020204030204" pitchFamily="49" charset="0"/>
              </a:rPr>
              <a:t>'…'</a:t>
            </a:r>
            <a:r>
              <a:rPr lang="en-IN" sz="1600" dirty="0">
                <a:solidFill>
                  <a:srgbClr val="000000"/>
                </a:solidFill>
                <a:latin typeface="Consolas" panose="020B0609020204030204" pitchFamily="49" charset="0"/>
              </a:rPr>
              <a:t>,</a:t>
            </a:r>
          </a:p>
          <a:p>
            <a:r>
              <a:rPr lang="en-IN" sz="1600" dirty="0">
                <a:solidFill>
                  <a:srgbClr val="000000"/>
                </a:solidFill>
                <a:latin typeface="Consolas" panose="020B0609020204030204" pitchFamily="49" charset="0"/>
              </a:rPr>
              <a:t>      </a:t>
            </a:r>
            <a:r>
              <a:rPr lang="en-IN" sz="1600" dirty="0">
                <a:solidFill>
                  <a:srgbClr val="001080"/>
                </a:solidFill>
                <a:latin typeface="Consolas" panose="020B0609020204030204" pitchFamily="49" charset="0"/>
              </a:rPr>
              <a:t>headers:</a:t>
            </a:r>
            <a:r>
              <a:rPr lang="en-IN" sz="1600" dirty="0">
                <a:solidFill>
                  <a:srgbClr val="000000"/>
                </a:solidFill>
                <a:latin typeface="Consolas" panose="020B0609020204030204" pitchFamily="49" charset="0"/>
              </a:rPr>
              <a:t>{</a:t>
            </a:r>
          </a:p>
          <a:p>
            <a:r>
              <a:rPr lang="en-IN" sz="1600" dirty="0">
                <a:solidFill>
                  <a:srgbClr val="000000"/>
                </a:solidFill>
                <a:latin typeface="Consolas" panose="020B0609020204030204" pitchFamily="49" charset="0"/>
              </a:rPr>
              <a:t>        </a:t>
            </a:r>
            <a:r>
              <a:rPr lang="en-IN" sz="1600" dirty="0">
                <a:solidFill>
                  <a:srgbClr val="A31515"/>
                </a:solidFill>
                <a:latin typeface="Consolas" panose="020B0609020204030204" pitchFamily="49" charset="0"/>
              </a:rPr>
              <a:t>'Authorization'</a:t>
            </a:r>
            <a:r>
              <a:rPr lang="en-IN" sz="1600" dirty="0">
                <a:solidFill>
                  <a:srgbClr val="001080"/>
                </a:solidFill>
                <a:latin typeface="Consolas" panose="020B0609020204030204" pitchFamily="49" charset="0"/>
              </a:rPr>
              <a:t>:</a:t>
            </a:r>
            <a:r>
              <a:rPr lang="en-IN" sz="1600" dirty="0">
                <a:solidFill>
                  <a:srgbClr val="000000"/>
                </a:solidFill>
                <a:latin typeface="Consolas" panose="020B0609020204030204" pitchFamily="49" charset="0"/>
              </a:rPr>
              <a:t> </a:t>
            </a:r>
            <a:r>
              <a:rPr lang="en-IN" sz="1600" dirty="0">
                <a:solidFill>
                  <a:srgbClr val="A31515"/>
                </a:solidFill>
                <a:latin typeface="Consolas" panose="020B0609020204030204" pitchFamily="49" charset="0"/>
              </a:rPr>
              <a:t>'Bearer '</a:t>
            </a:r>
            <a:r>
              <a:rPr lang="en-IN" sz="1600" dirty="0">
                <a:solidFill>
                  <a:srgbClr val="000000"/>
                </a:solidFill>
                <a:latin typeface="Consolas" panose="020B0609020204030204" pitchFamily="49" charset="0"/>
              </a:rPr>
              <a:t>+</a:t>
            </a:r>
            <a:r>
              <a:rPr lang="en-IN" sz="1600" dirty="0">
                <a:solidFill>
                  <a:srgbClr val="001080"/>
                </a:solidFill>
                <a:latin typeface="Consolas" panose="020B0609020204030204" pitchFamily="49" charset="0"/>
              </a:rPr>
              <a:t>token</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p>
          <a:p>
            <a:r>
              <a:rPr lang="en-IN" sz="1600" dirty="0">
                <a:solidFill>
                  <a:srgbClr val="000000"/>
                </a:solidFill>
                <a:latin typeface="Consolas" panose="020B0609020204030204" pitchFamily="49" charset="0"/>
              </a:rPr>
              <a:t>    })</a:t>
            </a:r>
          </a:p>
        </p:txBody>
      </p:sp>
      <p:sp>
        <p:nvSpPr>
          <p:cNvPr id="8" name="Rectangle 7">
            <a:extLst>
              <a:ext uri="{FF2B5EF4-FFF2-40B4-BE49-F238E27FC236}">
                <a16:creationId xmlns:a16="http://schemas.microsoft.com/office/drawing/2014/main" id="{62DD4D9F-5F50-0A2C-4D5C-8D1F83664422}"/>
              </a:ext>
            </a:extLst>
          </p:cNvPr>
          <p:cNvSpPr/>
          <p:nvPr/>
        </p:nvSpPr>
        <p:spPr>
          <a:xfrm>
            <a:off x="546883" y="4884349"/>
            <a:ext cx="499993" cy="1569660"/>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p:txBody>
      </p:sp>
    </p:spTree>
    <p:extLst>
      <p:ext uri="{BB962C8B-B14F-4D97-AF65-F5344CB8AC3E}">
        <p14:creationId xmlns:p14="http://schemas.microsoft.com/office/powerpoint/2010/main" val="935211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C7E2F-AA85-5850-98D1-B82CF32B853B}"/>
              </a:ext>
            </a:extLst>
          </p:cNvPr>
          <p:cNvSpPr>
            <a:spLocks noGrp="1"/>
          </p:cNvSpPr>
          <p:nvPr>
            <p:ph type="title"/>
          </p:nvPr>
        </p:nvSpPr>
        <p:spPr/>
        <p:txBody>
          <a:bodyPr/>
          <a:lstStyle/>
          <a:p>
            <a:r>
              <a:rPr lang="en-IN" dirty="0"/>
              <a:t>Route Protection</a:t>
            </a:r>
          </a:p>
        </p:txBody>
      </p:sp>
      <p:sp>
        <p:nvSpPr>
          <p:cNvPr id="3" name="Content Placeholder 2">
            <a:extLst>
              <a:ext uri="{FF2B5EF4-FFF2-40B4-BE49-F238E27FC236}">
                <a16:creationId xmlns:a16="http://schemas.microsoft.com/office/drawing/2014/main" id="{2C7D6FE9-0727-BB2D-B3ED-3523A27E5EB1}"/>
              </a:ext>
            </a:extLst>
          </p:cNvPr>
          <p:cNvSpPr>
            <a:spLocks noGrp="1"/>
          </p:cNvSpPr>
          <p:nvPr>
            <p:ph idx="1"/>
          </p:nvPr>
        </p:nvSpPr>
        <p:spPr/>
        <p:txBody>
          <a:bodyPr/>
          <a:lstStyle/>
          <a:p>
            <a:r>
              <a:rPr lang="en-GB" dirty="0"/>
              <a:t>In Angular, "guards" are interfaces that determine whether a route can be activated or deactivated. They control access to routes and can be used for various purposes, such as:</a:t>
            </a:r>
          </a:p>
          <a:p>
            <a:pPr lvl="1"/>
            <a:r>
              <a:rPr lang="en-GB" dirty="0"/>
              <a:t>Authentication: Ensuring a user is logged in before accessing a protected route.</a:t>
            </a:r>
          </a:p>
          <a:p>
            <a:pPr lvl="1"/>
            <a:r>
              <a:rPr lang="en-GB" dirty="0"/>
              <a:t>Authorization: Checking if a user has the necessary permissions to access a route.</a:t>
            </a:r>
          </a:p>
          <a:p>
            <a:pPr lvl="1"/>
            <a:r>
              <a:rPr lang="en-GB" dirty="0"/>
              <a:t>Data retrieval: Fetching data before a route is activated.</a:t>
            </a:r>
          </a:p>
          <a:p>
            <a:pPr lvl="1"/>
            <a:r>
              <a:rPr lang="en-GB" dirty="0"/>
              <a:t>Preventing route changes: Preventing users from navigating away from a route with unsaved changes.</a:t>
            </a:r>
          </a:p>
          <a:p>
            <a:r>
              <a:rPr lang="en-IN" dirty="0"/>
              <a:t>Types of Guards:</a:t>
            </a:r>
            <a:endParaRPr lang="en-GB" dirty="0"/>
          </a:p>
          <a:p>
            <a:pPr lvl="1"/>
            <a:r>
              <a:rPr lang="en-GB" dirty="0" err="1"/>
              <a:t>CanActivate</a:t>
            </a:r>
            <a:r>
              <a:rPr lang="en-GB" dirty="0"/>
              <a:t>: Determines if a route can be activated.</a:t>
            </a:r>
          </a:p>
          <a:p>
            <a:pPr lvl="1"/>
            <a:r>
              <a:rPr lang="en-GB" dirty="0" err="1"/>
              <a:t>CanActivateChild</a:t>
            </a:r>
            <a:r>
              <a:rPr lang="en-GB" dirty="0"/>
              <a:t>: Determines if the children of a route can be activated.</a:t>
            </a:r>
          </a:p>
          <a:p>
            <a:pPr lvl="1"/>
            <a:r>
              <a:rPr lang="en-GB" dirty="0" err="1"/>
              <a:t>CanDeactivate</a:t>
            </a:r>
            <a:r>
              <a:rPr lang="en-GB" dirty="0"/>
              <a:t>: Determines if a route can be deactivated.</a:t>
            </a:r>
          </a:p>
          <a:p>
            <a:pPr lvl="1"/>
            <a:r>
              <a:rPr lang="en-GB" dirty="0"/>
              <a:t>Resolve: Performs data retrieval before a route is activated.</a:t>
            </a:r>
          </a:p>
          <a:p>
            <a:pPr lvl="1"/>
            <a:r>
              <a:rPr lang="en-GB" dirty="0" err="1"/>
              <a:t>CanLoad</a:t>
            </a:r>
            <a:r>
              <a:rPr lang="en-GB" dirty="0"/>
              <a:t>: Determines if a feature module can be lazy-loaded.</a:t>
            </a:r>
            <a:endParaRPr lang="en-IN" dirty="0"/>
          </a:p>
        </p:txBody>
      </p:sp>
    </p:spTree>
    <p:extLst>
      <p:ext uri="{BB962C8B-B14F-4D97-AF65-F5344CB8AC3E}">
        <p14:creationId xmlns:p14="http://schemas.microsoft.com/office/powerpoint/2010/main" val="3085881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8DFAD-9E56-542B-2286-5A254F774190}"/>
              </a:ext>
            </a:extLst>
          </p:cNvPr>
          <p:cNvSpPr>
            <a:spLocks noGrp="1"/>
          </p:cNvSpPr>
          <p:nvPr>
            <p:ph type="title"/>
          </p:nvPr>
        </p:nvSpPr>
        <p:spPr/>
        <p:txBody>
          <a:bodyPr/>
          <a:lstStyle/>
          <a:p>
            <a:r>
              <a:rPr lang="en-IN" dirty="0"/>
              <a:t>Route Protection (Example)</a:t>
            </a:r>
          </a:p>
        </p:txBody>
      </p:sp>
      <p:sp>
        <p:nvSpPr>
          <p:cNvPr id="3" name="Content Placeholder 2">
            <a:extLst>
              <a:ext uri="{FF2B5EF4-FFF2-40B4-BE49-F238E27FC236}">
                <a16:creationId xmlns:a16="http://schemas.microsoft.com/office/drawing/2014/main" id="{80D281AD-A1D1-B788-8AF7-9DEB7F830581}"/>
              </a:ext>
            </a:extLst>
          </p:cNvPr>
          <p:cNvSpPr>
            <a:spLocks noGrp="1"/>
          </p:cNvSpPr>
          <p:nvPr>
            <p:ph idx="1"/>
          </p:nvPr>
        </p:nvSpPr>
        <p:spPr/>
        <p:txBody>
          <a:bodyPr/>
          <a:lstStyle/>
          <a:p>
            <a:r>
              <a:rPr lang="en-IN" dirty="0"/>
              <a:t>We first need to create guard using</a:t>
            </a:r>
          </a:p>
          <a:p>
            <a:r>
              <a:rPr lang="en-IN" dirty="0"/>
              <a:t>Use </a:t>
            </a:r>
            <a:r>
              <a:rPr lang="en-IN" dirty="0" err="1"/>
              <a:t>localStorage</a:t>
            </a:r>
            <a:r>
              <a:rPr lang="en-IN" dirty="0"/>
              <a:t> in </a:t>
            </a:r>
            <a:r>
              <a:rPr lang="en-IN" dirty="0" err="1"/>
              <a:t>auth.guard.ts</a:t>
            </a:r>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Use </a:t>
            </a:r>
            <a:r>
              <a:rPr lang="en-IN" dirty="0" err="1"/>
              <a:t>authGuard</a:t>
            </a:r>
            <a:r>
              <a:rPr lang="en-IN" dirty="0"/>
              <a:t> in </a:t>
            </a:r>
            <a:r>
              <a:rPr lang="en-IN" dirty="0" err="1"/>
              <a:t>app.routes.ts</a:t>
            </a:r>
            <a:endParaRPr lang="en-IN" dirty="0"/>
          </a:p>
        </p:txBody>
      </p:sp>
      <p:sp>
        <p:nvSpPr>
          <p:cNvPr id="4" name="Rectangle 3">
            <a:extLst>
              <a:ext uri="{FF2B5EF4-FFF2-40B4-BE49-F238E27FC236}">
                <a16:creationId xmlns:a16="http://schemas.microsoft.com/office/drawing/2014/main" id="{3671763E-8603-81FD-F98A-2F14AB49F56D}"/>
              </a:ext>
            </a:extLst>
          </p:cNvPr>
          <p:cNvSpPr/>
          <p:nvPr/>
        </p:nvSpPr>
        <p:spPr>
          <a:xfrm>
            <a:off x="4979407" y="912079"/>
            <a:ext cx="3895470" cy="338554"/>
          </a:xfrm>
          <a:prstGeom prst="rect">
            <a:avLst/>
          </a:prstGeom>
          <a:solidFill>
            <a:schemeClr val="tx1"/>
          </a:solidFill>
          <a:ln>
            <a:noFill/>
          </a:ln>
        </p:spPr>
        <p:txBody>
          <a:bodyPr wrap="square">
            <a:spAutoFit/>
          </a:bodyPr>
          <a:lstStyle/>
          <a:p>
            <a:r>
              <a:rPr lang="en-US" sz="1600" dirty="0">
                <a:solidFill>
                  <a:schemeClr val="bg1"/>
                </a:solidFill>
                <a:latin typeface="Consolas" panose="020B0609020204030204" pitchFamily="49" charset="0"/>
              </a:rPr>
              <a:t>ng generate guard auth</a:t>
            </a:r>
          </a:p>
        </p:txBody>
      </p:sp>
      <p:sp>
        <p:nvSpPr>
          <p:cNvPr id="5" name="Rectangle 4">
            <a:extLst>
              <a:ext uri="{FF2B5EF4-FFF2-40B4-BE49-F238E27FC236}">
                <a16:creationId xmlns:a16="http://schemas.microsoft.com/office/drawing/2014/main" id="{FBFD7061-5DC8-8625-223F-69C81A8A05B8}"/>
              </a:ext>
            </a:extLst>
          </p:cNvPr>
          <p:cNvSpPr/>
          <p:nvPr/>
        </p:nvSpPr>
        <p:spPr>
          <a:xfrm>
            <a:off x="506994" y="1752335"/>
            <a:ext cx="8367884" cy="3539430"/>
          </a:xfrm>
          <a:prstGeom prst="rect">
            <a:avLst/>
          </a:prstGeom>
          <a:solidFill>
            <a:schemeClr val="tx1"/>
          </a:solidFill>
          <a:ln>
            <a:noFill/>
          </a:ln>
        </p:spPr>
        <p:txBody>
          <a:bodyPr wrap="square">
            <a:spAutoFit/>
          </a:bodyPr>
          <a:lstStyle/>
          <a:p>
            <a:pPr>
              <a:buNone/>
            </a:pPr>
            <a:r>
              <a:rPr lang="en-IN" sz="1600" dirty="0">
                <a:solidFill>
                  <a:srgbClr val="C586C0"/>
                </a:solidFill>
                <a:latin typeface="Consolas" panose="020B0609020204030204" pitchFamily="49" charset="0"/>
              </a:rPr>
              <a:t>import</a:t>
            </a:r>
            <a:r>
              <a:rPr lang="en-IN" sz="1600" dirty="0">
                <a:solidFill>
                  <a:srgbClr val="D4D4D4"/>
                </a:solidFill>
                <a:latin typeface="Consolas" panose="020B0609020204030204" pitchFamily="49" charset="0"/>
              </a:rPr>
              <a:t> { </a:t>
            </a:r>
            <a:r>
              <a:rPr lang="en-IN" sz="1600" dirty="0">
                <a:solidFill>
                  <a:srgbClr val="9CDCFE"/>
                </a:solidFill>
                <a:latin typeface="Consolas" panose="020B0609020204030204" pitchFamily="49" charset="0"/>
              </a:rPr>
              <a:t>inject</a:t>
            </a:r>
            <a:r>
              <a:rPr lang="en-IN" sz="1600" dirty="0">
                <a:solidFill>
                  <a:srgbClr val="D4D4D4"/>
                </a:solidFill>
                <a:latin typeface="Consolas" panose="020B0609020204030204" pitchFamily="49" charset="0"/>
              </a:rPr>
              <a:t> } </a:t>
            </a:r>
            <a:r>
              <a:rPr lang="en-IN" sz="1600" dirty="0">
                <a:solidFill>
                  <a:srgbClr val="C586C0"/>
                </a:solidFill>
                <a:latin typeface="Consolas" panose="020B0609020204030204" pitchFamily="49" charset="0"/>
              </a:rPr>
              <a:t>from</a:t>
            </a:r>
            <a:r>
              <a:rPr lang="en-IN" sz="1600" dirty="0">
                <a:solidFill>
                  <a:srgbClr val="D4D4D4"/>
                </a:solidFill>
                <a:latin typeface="Consolas" panose="020B0609020204030204" pitchFamily="49" charset="0"/>
              </a:rPr>
              <a:t> </a:t>
            </a:r>
            <a:r>
              <a:rPr lang="en-IN" sz="1600" dirty="0">
                <a:solidFill>
                  <a:srgbClr val="CE9178"/>
                </a:solidFill>
                <a:latin typeface="Consolas" panose="020B0609020204030204" pitchFamily="49" charset="0"/>
              </a:rPr>
              <a:t>'@angular/core'</a:t>
            </a:r>
            <a:r>
              <a:rPr lang="en-IN" sz="1600" dirty="0">
                <a:solidFill>
                  <a:srgbClr val="D4D4D4"/>
                </a:solidFill>
                <a:latin typeface="Consolas" panose="020B0609020204030204" pitchFamily="49" charset="0"/>
              </a:rPr>
              <a:t>;</a:t>
            </a:r>
          </a:p>
          <a:p>
            <a:pPr>
              <a:buNone/>
            </a:pPr>
            <a:r>
              <a:rPr lang="en-IN" sz="1600" dirty="0">
                <a:solidFill>
                  <a:srgbClr val="C586C0"/>
                </a:solidFill>
                <a:latin typeface="Consolas" panose="020B0609020204030204" pitchFamily="49" charset="0"/>
              </a:rPr>
              <a:t>import</a:t>
            </a:r>
            <a:r>
              <a:rPr lang="en-IN" sz="1600" dirty="0">
                <a:solidFill>
                  <a:srgbClr val="D4D4D4"/>
                </a:solidFill>
                <a:latin typeface="Consolas" panose="020B0609020204030204" pitchFamily="49" charset="0"/>
              </a:rPr>
              <a:t> { </a:t>
            </a:r>
            <a:r>
              <a:rPr lang="en-IN" sz="1600" dirty="0" err="1">
                <a:solidFill>
                  <a:srgbClr val="9CDCFE"/>
                </a:solidFill>
                <a:latin typeface="Consolas" panose="020B0609020204030204" pitchFamily="49" charset="0"/>
              </a:rPr>
              <a:t>CanActivateFn</a:t>
            </a:r>
            <a:r>
              <a:rPr lang="en-IN" sz="1600" dirty="0">
                <a:solidFill>
                  <a:srgbClr val="D4D4D4"/>
                </a:solidFill>
                <a:latin typeface="Consolas" panose="020B0609020204030204" pitchFamily="49" charset="0"/>
              </a:rPr>
              <a:t>, </a:t>
            </a:r>
            <a:r>
              <a:rPr lang="en-IN" sz="1600" dirty="0">
                <a:solidFill>
                  <a:srgbClr val="9CDCFE"/>
                </a:solidFill>
                <a:latin typeface="Consolas" panose="020B0609020204030204" pitchFamily="49" charset="0"/>
              </a:rPr>
              <a:t>Router</a:t>
            </a:r>
            <a:r>
              <a:rPr lang="en-IN" sz="1600" dirty="0">
                <a:solidFill>
                  <a:srgbClr val="D4D4D4"/>
                </a:solidFill>
                <a:latin typeface="Consolas" panose="020B0609020204030204" pitchFamily="49" charset="0"/>
              </a:rPr>
              <a:t> } </a:t>
            </a:r>
            <a:r>
              <a:rPr lang="en-IN" sz="1600" dirty="0">
                <a:solidFill>
                  <a:srgbClr val="C586C0"/>
                </a:solidFill>
                <a:latin typeface="Consolas" panose="020B0609020204030204" pitchFamily="49" charset="0"/>
              </a:rPr>
              <a:t>from</a:t>
            </a:r>
            <a:r>
              <a:rPr lang="en-IN" sz="1600" dirty="0">
                <a:solidFill>
                  <a:srgbClr val="D4D4D4"/>
                </a:solidFill>
                <a:latin typeface="Consolas" panose="020B0609020204030204" pitchFamily="49" charset="0"/>
              </a:rPr>
              <a:t> </a:t>
            </a:r>
            <a:r>
              <a:rPr lang="en-IN" sz="1600" dirty="0">
                <a:solidFill>
                  <a:srgbClr val="CE9178"/>
                </a:solidFill>
                <a:latin typeface="Consolas" panose="020B0609020204030204" pitchFamily="49" charset="0"/>
              </a:rPr>
              <a:t>'@angular/router'</a:t>
            </a:r>
            <a:r>
              <a:rPr lang="en-IN" sz="1600" dirty="0">
                <a:solidFill>
                  <a:srgbClr val="D4D4D4"/>
                </a:solidFill>
                <a:latin typeface="Consolas" panose="020B0609020204030204" pitchFamily="49" charset="0"/>
              </a:rPr>
              <a:t>;</a:t>
            </a:r>
          </a:p>
          <a:p>
            <a:pPr>
              <a:buNone/>
            </a:pPr>
            <a:r>
              <a:rPr lang="en-IN" sz="1600" dirty="0">
                <a:solidFill>
                  <a:srgbClr val="D4D4D4"/>
                </a:solidFill>
                <a:latin typeface="Consolas" panose="020B0609020204030204" pitchFamily="49" charset="0"/>
              </a:rPr>
              <a:t/>
            </a:r>
            <a:br>
              <a:rPr lang="en-IN" sz="1600" dirty="0">
                <a:solidFill>
                  <a:srgbClr val="D4D4D4"/>
                </a:solidFill>
                <a:latin typeface="Consolas" panose="020B0609020204030204" pitchFamily="49" charset="0"/>
              </a:rPr>
            </a:br>
            <a:r>
              <a:rPr lang="en-IN" sz="1600" dirty="0">
                <a:solidFill>
                  <a:srgbClr val="C586C0"/>
                </a:solidFill>
                <a:latin typeface="Consolas" panose="020B0609020204030204" pitchFamily="49" charset="0"/>
              </a:rPr>
              <a:t>export</a:t>
            </a:r>
            <a:r>
              <a:rPr lang="en-IN" sz="1600" dirty="0">
                <a:solidFill>
                  <a:srgbClr val="D4D4D4"/>
                </a:solidFill>
                <a:latin typeface="Consolas" panose="020B0609020204030204" pitchFamily="49" charset="0"/>
              </a:rPr>
              <a:t> </a:t>
            </a:r>
            <a:r>
              <a:rPr lang="en-IN" sz="1600" dirty="0" err="1">
                <a:solidFill>
                  <a:srgbClr val="569CD6"/>
                </a:solidFill>
                <a:latin typeface="Consolas" panose="020B0609020204030204" pitchFamily="49" charset="0"/>
              </a:rPr>
              <a:t>const</a:t>
            </a:r>
            <a:r>
              <a:rPr lang="en-IN" sz="1600" dirty="0">
                <a:solidFill>
                  <a:srgbClr val="D4D4D4"/>
                </a:solidFill>
                <a:latin typeface="Consolas" panose="020B0609020204030204" pitchFamily="49" charset="0"/>
              </a:rPr>
              <a:t> </a:t>
            </a:r>
            <a:r>
              <a:rPr lang="en-IN" sz="1600" dirty="0" err="1">
                <a:solidFill>
                  <a:srgbClr val="DCDCAA"/>
                </a:solidFill>
                <a:latin typeface="Consolas" panose="020B0609020204030204" pitchFamily="49" charset="0"/>
              </a:rPr>
              <a:t>authGuard</a:t>
            </a:r>
            <a:r>
              <a:rPr lang="en-IN" sz="1600" dirty="0">
                <a:solidFill>
                  <a:srgbClr val="D4D4D4"/>
                </a:solidFill>
                <a:latin typeface="Consolas" panose="020B0609020204030204" pitchFamily="49" charset="0"/>
              </a:rPr>
              <a:t>: </a:t>
            </a:r>
            <a:r>
              <a:rPr lang="en-IN" sz="1600" dirty="0" err="1">
                <a:solidFill>
                  <a:srgbClr val="4EC9B0"/>
                </a:solidFill>
                <a:latin typeface="Consolas" panose="020B0609020204030204" pitchFamily="49" charset="0"/>
              </a:rPr>
              <a:t>CanActivateFn</a:t>
            </a:r>
            <a:r>
              <a:rPr lang="en-IN" sz="1600" dirty="0">
                <a:solidFill>
                  <a:srgbClr val="D4D4D4"/>
                </a:solidFill>
                <a:latin typeface="Consolas" panose="020B0609020204030204" pitchFamily="49" charset="0"/>
              </a:rPr>
              <a:t> = (</a:t>
            </a:r>
            <a:r>
              <a:rPr lang="en-IN" sz="1600" dirty="0">
                <a:solidFill>
                  <a:srgbClr val="9CDCFE"/>
                </a:solidFill>
                <a:latin typeface="Consolas" panose="020B0609020204030204" pitchFamily="49" charset="0"/>
              </a:rPr>
              <a:t>route</a:t>
            </a:r>
            <a:r>
              <a:rPr lang="en-IN" sz="1600" dirty="0">
                <a:solidFill>
                  <a:srgbClr val="D4D4D4"/>
                </a:solidFill>
                <a:latin typeface="Consolas" panose="020B0609020204030204" pitchFamily="49" charset="0"/>
              </a:rPr>
              <a:t>, </a:t>
            </a:r>
            <a:r>
              <a:rPr lang="en-IN" sz="1600" dirty="0">
                <a:solidFill>
                  <a:srgbClr val="9CDCFE"/>
                </a:solidFill>
                <a:latin typeface="Consolas" panose="020B0609020204030204" pitchFamily="49" charset="0"/>
              </a:rPr>
              <a:t>state</a:t>
            </a:r>
            <a:r>
              <a:rPr lang="en-IN" sz="1600" dirty="0">
                <a:solidFill>
                  <a:srgbClr val="D4D4D4"/>
                </a:solidFill>
                <a:latin typeface="Consolas" panose="020B0609020204030204" pitchFamily="49" charset="0"/>
              </a:rPr>
              <a:t>) </a:t>
            </a:r>
            <a:r>
              <a:rPr lang="en-IN" sz="1600" dirty="0">
                <a:solidFill>
                  <a:srgbClr val="569CD6"/>
                </a:solidFill>
                <a:latin typeface="Consolas" panose="020B0609020204030204" pitchFamily="49" charset="0"/>
              </a:rPr>
              <a:t>=&gt;</a:t>
            </a:r>
            <a:r>
              <a:rPr lang="en-IN" sz="1600" dirty="0">
                <a:solidFill>
                  <a:srgbClr val="D4D4D4"/>
                </a:solidFill>
                <a:latin typeface="Consolas" panose="020B0609020204030204" pitchFamily="49" charset="0"/>
              </a:rPr>
              <a:t> {</a:t>
            </a:r>
          </a:p>
          <a:p>
            <a:pPr>
              <a:buNone/>
            </a:pPr>
            <a:r>
              <a:rPr lang="en-IN" sz="1600" dirty="0">
                <a:solidFill>
                  <a:srgbClr val="D4D4D4"/>
                </a:solidFill>
                <a:latin typeface="Consolas" panose="020B0609020204030204" pitchFamily="49" charset="0"/>
              </a:rPr>
              <a:t>  </a:t>
            </a:r>
          </a:p>
          <a:p>
            <a:pPr>
              <a:buNone/>
            </a:pPr>
            <a:r>
              <a:rPr lang="en-IN" sz="1600" dirty="0">
                <a:solidFill>
                  <a:srgbClr val="D4D4D4"/>
                </a:solidFill>
                <a:latin typeface="Consolas" panose="020B0609020204030204" pitchFamily="49" charset="0"/>
              </a:rPr>
              <a:t>  </a:t>
            </a:r>
            <a:r>
              <a:rPr lang="en-IN" sz="1600" dirty="0" err="1">
                <a:solidFill>
                  <a:srgbClr val="569CD6"/>
                </a:solidFill>
                <a:latin typeface="Consolas" panose="020B0609020204030204" pitchFamily="49" charset="0"/>
              </a:rPr>
              <a:t>const</a:t>
            </a:r>
            <a:r>
              <a:rPr lang="en-IN" sz="1600" dirty="0">
                <a:solidFill>
                  <a:srgbClr val="D4D4D4"/>
                </a:solidFill>
                <a:latin typeface="Consolas" panose="020B0609020204030204" pitchFamily="49" charset="0"/>
              </a:rPr>
              <a:t> </a:t>
            </a:r>
            <a:r>
              <a:rPr lang="en-IN" sz="1600" dirty="0">
                <a:solidFill>
                  <a:srgbClr val="4FC1FF"/>
                </a:solidFill>
                <a:latin typeface="Consolas" panose="020B0609020204030204" pitchFamily="49" charset="0"/>
              </a:rPr>
              <a:t>router</a:t>
            </a:r>
            <a:r>
              <a:rPr lang="en-IN" sz="1600" dirty="0">
                <a:solidFill>
                  <a:srgbClr val="D4D4D4"/>
                </a:solidFill>
                <a:latin typeface="Consolas" panose="020B0609020204030204" pitchFamily="49" charset="0"/>
              </a:rPr>
              <a:t> = </a:t>
            </a:r>
            <a:r>
              <a:rPr lang="en-IN" sz="1600" dirty="0">
                <a:solidFill>
                  <a:srgbClr val="DCDCAA"/>
                </a:solidFill>
                <a:latin typeface="Consolas" panose="020B0609020204030204" pitchFamily="49" charset="0"/>
              </a:rPr>
              <a:t>inject</a:t>
            </a:r>
            <a:r>
              <a:rPr lang="en-IN" sz="1600" dirty="0">
                <a:solidFill>
                  <a:srgbClr val="D4D4D4"/>
                </a:solidFill>
                <a:latin typeface="Consolas" panose="020B0609020204030204" pitchFamily="49" charset="0"/>
              </a:rPr>
              <a:t>(</a:t>
            </a:r>
            <a:r>
              <a:rPr lang="en-IN" sz="1600" dirty="0">
                <a:solidFill>
                  <a:srgbClr val="4EC9B0"/>
                </a:solidFill>
                <a:latin typeface="Consolas" panose="020B0609020204030204" pitchFamily="49" charset="0"/>
              </a:rPr>
              <a:t>Router</a:t>
            </a:r>
            <a:r>
              <a:rPr lang="en-IN" sz="1600" dirty="0">
                <a:solidFill>
                  <a:srgbClr val="D4D4D4"/>
                </a:solidFill>
                <a:latin typeface="Consolas" panose="020B0609020204030204" pitchFamily="49" charset="0"/>
              </a:rPr>
              <a:t>)</a:t>
            </a:r>
          </a:p>
          <a:p>
            <a:pPr>
              <a:buNone/>
            </a:pPr>
            <a:r>
              <a:rPr lang="en-IN" sz="1600" dirty="0">
                <a:solidFill>
                  <a:srgbClr val="D4D4D4"/>
                </a:solidFill>
                <a:latin typeface="Consolas" panose="020B0609020204030204" pitchFamily="49" charset="0"/>
              </a:rPr>
              <a:t>  </a:t>
            </a:r>
            <a:r>
              <a:rPr lang="en-IN" sz="1600" dirty="0">
                <a:solidFill>
                  <a:srgbClr val="C586C0"/>
                </a:solidFill>
                <a:latin typeface="Consolas" panose="020B0609020204030204" pitchFamily="49" charset="0"/>
              </a:rPr>
              <a:t>if</a:t>
            </a:r>
            <a:r>
              <a:rPr lang="en-IN" sz="1600" dirty="0">
                <a:solidFill>
                  <a:srgbClr val="D4D4D4"/>
                </a:solidFill>
                <a:latin typeface="Consolas" panose="020B0609020204030204" pitchFamily="49" charset="0"/>
              </a:rPr>
              <a:t>(</a:t>
            </a:r>
            <a:r>
              <a:rPr lang="en-IN" sz="1600" dirty="0" err="1">
                <a:solidFill>
                  <a:srgbClr val="9CDCFE"/>
                </a:solidFill>
                <a:latin typeface="Consolas" panose="020B0609020204030204" pitchFamily="49" charset="0"/>
              </a:rPr>
              <a:t>localStorage</a:t>
            </a:r>
            <a:r>
              <a:rPr lang="en-IN" sz="1600" dirty="0" err="1">
                <a:solidFill>
                  <a:srgbClr val="D4D4D4"/>
                </a:solidFill>
                <a:latin typeface="Consolas" panose="020B0609020204030204" pitchFamily="49" charset="0"/>
              </a:rPr>
              <a:t>.</a:t>
            </a:r>
            <a:r>
              <a:rPr lang="en-IN" sz="1600" dirty="0" err="1">
                <a:solidFill>
                  <a:srgbClr val="DCDCAA"/>
                </a:solidFill>
                <a:latin typeface="Consolas" panose="020B0609020204030204" pitchFamily="49" charset="0"/>
              </a:rPr>
              <a:t>getItem</a:t>
            </a:r>
            <a:r>
              <a:rPr lang="en-IN" sz="1600" dirty="0">
                <a:solidFill>
                  <a:srgbClr val="D4D4D4"/>
                </a:solidFill>
                <a:latin typeface="Consolas" panose="020B0609020204030204" pitchFamily="49" charset="0"/>
              </a:rPr>
              <a:t>(</a:t>
            </a:r>
            <a:r>
              <a:rPr lang="en-IN" sz="1600" dirty="0">
                <a:solidFill>
                  <a:srgbClr val="CE9178"/>
                </a:solidFill>
                <a:latin typeface="Consolas" panose="020B0609020204030204" pitchFamily="49" charset="0"/>
              </a:rPr>
              <a:t>"token"</a:t>
            </a:r>
            <a:r>
              <a:rPr lang="en-IN" sz="1600" dirty="0">
                <a:solidFill>
                  <a:srgbClr val="D4D4D4"/>
                </a:solidFill>
                <a:latin typeface="Consolas" panose="020B0609020204030204" pitchFamily="49" charset="0"/>
              </a:rPr>
              <a:t>)){</a:t>
            </a:r>
          </a:p>
          <a:p>
            <a:pPr>
              <a:buNone/>
            </a:pPr>
            <a:r>
              <a:rPr lang="en-IN" sz="1600" dirty="0">
                <a:solidFill>
                  <a:srgbClr val="D4D4D4"/>
                </a:solidFill>
                <a:latin typeface="Consolas" panose="020B0609020204030204" pitchFamily="49" charset="0"/>
              </a:rPr>
              <a:t>    </a:t>
            </a:r>
            <a:r>
              <a:rPr lang="en-IN" sz="1600" dirty="0">
                <a:solidFill>
                  <a:srgbClr val="C586C0"/>
                </a:solidFill>
                <a:latin typeface="Consolas" panose="020B0609020204030204" pitchFamily="49" charset="0"/>
              </a:rPr>
              <a:t>return</a:t>
            </a:r>
            <a:r>
              <a:rPr lang="en-IN" sz="1600" dirty="0">
                <a:solidFill>
                  <a:srgbClr val="D4D4D4"/>
                </a:solidFill>
                <a:latin typeface="Consolas" panose="020B0609020204030204" pitchFamily="49" charset="0"/>
              </a:rPr>
              <a:t> </a:t>
            </a:r>
            <a:r>
              <a:rPr lang="en-IN" sz="1600" dirty="0">
                <a:solidFill>
                  <a:srgbClr val="569CD6"/>
                </a:solidFill>
                <a:latin typeface="Consolas" panose="020B0609020204030204" pitchFamily="49" charset="0"/>
              </a:rPr>
              <a:t>true</a:t>
            </a:r>
            <a:r>
              <a:rPr lang="en-IN" sz="1600" dirty="0">
                <a:solidFill>
                  <a:srgbClr val="D4D4D4"/>
                </a:solidFill>
                <a:latin typeface="Consolas" panose="020B0609020204030204" pitchFamily="49" charset="0"/>
              </a:rPr>
              <a:t>;</a:t>
            </a:r>
          </a:p>
          <a:p>
            <a:pPr>
              <a:buNone/>
            </a:pPr>
            <a:r>
              <a:rPr lang="en-IN" sz="1600" dirty="0">
                <a:solidFill>
                  <a:srgbClr val="D4D4D4"/>
                </a:solidFill>
                <a:latin typeface="Consolas" panose="020B0609020204030204" pitchFamily="49" charset="0"/>
              </a:rPr>
              <a:t>  }</a:t>
            </a:r>
          </a:p>
          <a:p>
            <a:pPr>
              <a:buNone/>
            </a:pPr>
            <a:r>
              <a:rPr lang="en-IN" sz="1600" dirty="0">
                <a:solidFill>
                  <a:srgbClr val="D4D4D4"/>
                </a:solidFill>
                <a:latin typeface="Consolas" panose="020B0609020204030204" pitchFamily="49" charset="0"/>
              </a:rPr>
              <a:t>  </a:t>
            </a:r>
            <a:r>
              <a:rPr lang="en-IN" sz="1600" dirty="0">
                <a:solidFill>
                  <a:srgbClr val="C586C0"/>
                </a:solidFill>
                <a:latin typeface="Consolas" panose="020B0609020204030204" pitchFamily="49" charset="0"/>
              </a:rPr>
              <a:t>else</a:t>
            </a:r>
            <a:r>
              <a:rPr lang="en-IN" sz="1600" dirty="0">
                <a:solidFill>
                  <a:srgbClr val="D4D4D4"/>
                </a:solidFill>
                <a:latin typeface="Consolas" panose="020B0609020204030204" pitchFamily="49" charset="0"/>
              </a:rPr>
              <a:t>{</a:t>
            </a:r>
          </a:p>
          <a:p>
            <a:pPr>
              <a:buNone/>
            </a:pPr>
            <a:r>
              <a:rPr lang="en-IN" sz="1600" dirty="0">
                <a:solidFill>
                  <a:srgbClr val="D4D4D4"/>
                </a:solidFill>
                <a:latin typeface="Consolas" panose="020B0609020204030204" pitchFamily="49" charset="0"/>
              </a:rPr>
              <a:t>    </a:t>
            </a:r>
            <a:r>
              <a:rPr lang="en-IN" sz="1600" dirty="0" err="1">
                <a:solidFill>
                  <a:srgbClr val="4FC1FF"/>
                </a:solidFill>
                <a:latin typeface="Consolas" panose="020B0609020204030204" pitchFamily="49" charset="0"/>
              </a:rPr>
              <a:t>router</a:t>
            </a:r>
            <a:r>
              <a:rPr lang="en-IN" sz="1600" dirty="0" err="1">
                <a:solidFill>
                  <a:srgbClr val="D4D4D4"/>
                </a:solidFill>
                <a:latin typeface="Consolas" panose="020B0609020204030204" pitchFamily="49" charset="0"/>
              </a:rPr>
              <a:t>.</a:t>
            </a:r>
            <a:r>
              <a:rPr lang="en-IN" sz="1600" dirty="0" err="1">
                <a:solidFill>
                  <a:srgbClr val="DCDCAA"/>
                </a:solidFill>
                <a:latin typeface="Consolas" panose="020B0609020204030204" pitchFamily="49" charset="0"/>
              </a:rPr>
              <a:t>navigate</a:t>
            </a:r>
            <a:r>
              <a:rPr lang="en-IN" sz="1600" dirty="0">
                <a:solidFill>
                  <a:srgbClr val="D4D4D4"/>
                </a:solidFill>
                <a:latin typeface="Consolas" panose="020B0609020204030204" pitchFamily="49" charset="0"/>
              </a:rPr>
              <a:t>([</a:t>
            </a:r>
            <a:r>
              <a:rPr lang="en-IN" sz="1600" dirty="0">
                <a:solidFill>
                  <a:srgbClr val="CE9178"/>
                </a:solidFill>
                <a:latin typeface="Consolas" panose="020B0609020204030204" pitchFamily="49" charset="0"/>
              </a:rPr>
              <a:t>'/'</a:t>
            </a:r>
            <a:r>
              <a:rPr lang="en-IN" sz="1600" dirty="0">
                <a:solidFill>
                  <a:srgbClr val="D4D4D4"/>
                </a:solidFill>
                <a:latin typeface="Consolas" panose="020B0609020204030204" pitchFamily="49" charset="0"/>
              </a:rPr>
              <a:t>]);</a:t>
            </a:r>
          </a:p>
          <a:p>
            <a:pPr>
              <a:buNone/>
            </a:pPr>
            <a:r>
              <a:rPr lang="en-IN" sz="1600" dirty="0">
                <a:solidFill>
                  <a:srgbClr val="D4D4D4"/>
                </a:solidFill>
                <a:latin typeface="Consolas" panose="020B0609020204030204" pitchFamily="49" charset="0"/>
              </a:rPr>
              <a:t>    </a:t>
            </a:r>
            <a:r>
              <a:rPr lang="en-IN" sz="1600" dirty="0">
                <a:solidFill>
                  <a:srgbClr val="C586C0"/>
                </a:solidFill>
                <a:latin typeface="Consolas" panose="020B0609020204030204" pitchFamily="49" charset="0"/>
              </a:rPr>
              <a:t>return</a:t>
            </a:r>
            <a:r>
              <a:rPr lang="en-IN" sz="1600" dirty="0">
                <a:solidFill>
                  <a:srgbClr val="D4D4D4"/>
                </a:solidFill>
                <a:latin typeface="Consolas" panose="020B0609020204030204" pitchFamily="49" charset="0"/>
              </a:rPr>
              <a:t> </a:t>
            </a:r>
            <a:r>
              <a:rPr lang="en-IN" sz="1600" dirty="0">
                <a:solidFill>
                  <a:srgbClr val="569CD6"/>
                </a:solidFill>
                <a:latin typeface="Consolas" panose="020B0609020204030204" pitchFamily="49" charset="0"/>
              </a:rPr>
              <a:t>false</a:t>
            </a:r>
            <a:r>
              <a:rPr lang="en-IN" sz="1600" dirty="0">
                <a:solidFill>
                  <a:srgbClr val="D4D4D4"/>
                </a:solidFill>
                <a:latin typeface="Consolas" panose="020B0609020204030204" pitchFamily="49" charset="0"/>
              </a:rPr>
              <a:t>;</a:t>
            </a:r>
          </a:p>
          <a:p>
            <a:pPr>
              <a:buNone/>
            </a:pPr>
            <a:r>
              <a:rPr lang="en-IN" sz="1600" dirty="0">
                <a:solidFill>
                  <a:srgbClr val="D4D4D4"/>
                </a:solidFill>
                <a:latin typeface="Consolas" panose="020B0609020204030204" pitchFamily="49" charset="0"/>
              </a:rPr>
              <a:t>  }</a:t>
            </a:r>
          </a:p>
          <a:p>
            <a:r>
              <a:rPr lang="en-IN" sz="1600" dirty="0">
                <a:solidFill>
                  <a:srgbClr val="D4D4D4"/>
                </a:solidFill>
                <a:latin typeface="Consolas" panose="020B0609020204030204" pitchFamily="49" charset="0"/>
              </a:rPr>
              <a:t>};</a:t>
            </a:r>
          </a:p>
        </p:txBody>
      </p:sp>
      <p:sp>
        <p:nvSpPr>
          <p:cNvPr id="6" name="Rectangle 5">
            <a:extLst>
              <a:ext uri="{FF2B5EF4-FFF2-40B4-BE49-F238E27FC236}">
                <a16:creationId xmlns:a16="http://schemas.microsoft.com/office/drawing/2014/main" id="{5FC094C0-4B95-DC8E-5026-541C7DBB69C0}"/>
              </a:ext>
            </a:extLst>
          </p:cNvPr>
          <p:cNvSpPr/>
          <p:nvPr/>
        </p:nvSpPr>
        <p:spPr>
          <a:xfrm>
            <a:off x="506993" y="5842102"/>
            <a:ext cx="8367884" cy="338554"/>
          </a:xfrm>
          <a:prstGeom prst="rect">
            <a:avLst/>
          </a:prstGeom>
          <a:solidFill>
            <a:schemeClr val="tx1"/>
          </a:solidFill>
          <a:ln>
            <a:noFill/>
          </a:ln>
        </p:spPr>
        <p:txBody>
          <a:bodyPr wrap="square">
            <a:spAutoFit/>
          </a:bodyPr>
          <a:lstStyle/>
          <a:p>
            <a:r>
              <a:rPr lang="en-GB" sz="1600" dirty="0">
                <a:solidFill>
                  <a:srgbClr val="D4D4D4"/>
                </a:solidFill>
                <a:latin typeface="Consolas" panose="020B0609020204030204" pitchFamily="49" charset="0"/>
              </a:rPr>
              <a:t>{</a:t>
            </a:r>
            <a:r>
              <a:rPr lang="en-GB" sz="1600" dirty="0">
                <a:solidFill>
                  <a:srgbClr val="9CDCFE"/>
                </a:solidFill>
                <a:latin typeface="Consolas" panose="020B0609020204030204" pitchFamily="49" charset="0"/>
              </a:rPr>
              <a:t>path:</a:t>
            </a:r>
            <a:r>
              <a:rPr lang="en-GB" sz="1600" dirty="0">
                <a:solidFill>
                  <a:srgbClr val="CE9178"/>
                </a:solidFill>
                <a:latin typeface="Consolas" panose="020B0609020204030204" pitchFamily="49" charset="0"/>
              </a:rPr>
              <a:t>'</a:t>
            </a:r>
            <a:r>
              <a:rPr lang="en-GB" sz="1600" dirty="0" err="1">
                <a:solidFill>
                  <a:srgbClr val="CE9178"/>
                </a:solidFill>
                <a:latin typeface="Consolas" panose="020B0609020204030204" pitchFamily="49" charset="0"/>
              </a:rPr>
              <a:t>pathHere</a:t>
            </a:r>
            <a:r>
              <a:rPr lang="en-GB" sz="1600" dirty="0">
                <a:solidFill>
                  <a:srgbClr val="CE9178"/>
                </a:solidFill>
                <a:latin typeface="Consolas" panose="020B0609020204030204" pitchFamily="49" charset="0"/>
              </a:rPr>
              <a:t>'</a:t>
            </a:r>
            <a:r>
              <a:rPr lang="en-GB" sz="1600" dirty="0">
                <a:solidFill>
                  <a:srgbClr val="D4D4D4"/>
                </a:solidFill>
                <a:latin typeface="Consolas" panose="020B0609020204030204" pitchFamily="49" charset="0"/>
              </a:rPr>
              <a:t>,</a:t>
            </a:r>
            <a:r>
              <a:rPr lang="en-GB" sz="1600" dirty="0" err="1">
                <a:solidFill>
                  <a:srgbClr val="4EC9B0"/>
                </a:solidFill>
                <a:latin typeface="Consolas" panose="020B0609020204030204" pitchFamily="49" charset="0"/>
              </a:rPr>
              <a:t>component</a:t>
            </a:r>
            <a:r>
              <a:rPr lang="en-GB" sz="1600" dirty="0" err="1">
                <a:solidFill>
                  <a:srgbClr val="9CDCFE"/>
                </a:solidFill>
                <a:latin typeface="Consolas" panose="020B0609020204030204" pitchFamily="49" charset="0"/>
              </a:rPr>
              <a:t>:</a:t>
            </a:r>
            <a:r>
              <a:rPr lang="en-GB" sz="1600" dirty="0" err="1">
                <a:solidFill>
                  <a:srgbClr val="4EC9B0"/>
                </a:solidFill>
                <a:latin typeface="Consolas" panose="020B0609020204030204" pitchFamily="49" charset="0"/>
              </a:rPr>
              <a:t>ComponentHere</a:t>
            </a:r>
            <a:r>
              <a:rPr lang="en-GB" sz="1600" dirty="0">
                <a:solidFill>
                  <a:srgbClr val="D4D4D4"/>
                </a:solidFill>
                <a:latin typeface="Consolas" panose="020B0609020204030204" pitchFamily="49" charset="0"/>
              </a:rPr>
              <a:t>, </a:t>
            </a:r>
            <a:r>
              <a:rPr lang="en-GB" sz="1600" dirty="0" err="1">
                <a:solidFill>
                  <a:srgbClr val="9CDCFE"/>
                </a:solidFill>
                <a:latin typeface="Consolas" panose="020B0609020204030204" pitchFamily="49" charset="0"/>
              </a:rPr>
              <a:t>canActivate</a:t>
            </a:r>
            <a:r>
              <a:rPr lang="en-GB" sz="1600" dirty="0">
                <a:solidFill>
                  <a:srgbClr val="9CDCFE"/>
                </a:solidFill>
                <a:latin typeface="Consolas" panose="020B0609020204030204" pitchFamily="49" charset="0"/>
              </a:rPr>
              <a:t>:</a:t>
            </a:r>
            <a:r>
              <a:rPr lang="en-GB" sz="1600" dirty="0">
                <a:solidFill>
                  <a:srgbClr val="D4D4D4"/>
                </a:solidFill>
                <a:latin typeface="Consolas" panose="020B0609020204030204" pitchFamily="49" charset="0"/>
              </a:rPr>
              <a:t>[</a:t>
            </a:r>
            <a:r>
              <a:rPr lang="en-GB" sz="1600" dirty="0" err="1">
                <a:solidFill>
                  <a:srgbClr val="DCDCAA"/>
                </a:solidFill>
                <a:latin typeface="Consolas" panose="020B0609020204030204" pitchFamily="49" charset="0"/>
              </a:rPr>
              <a:t>authGuard</a:t>
            </a:r>
            <a:r>
              <a:rPr lang="en-GB" sz="1600" dirty="0">
                <a:solidFill>
                  <a:srgbClr val="D4D4D4"/>
                </a:solidFill>
                <a:latin typeface="Consolas" panose="020B0609020204030204" pitchFamily="49" charset="0"/>
              </a:rPr>
              <a:t>]}</a:t>
            </a:r>
          </a:p>
        </p:txBody>
      </p:sp>
    </p:spTree>
    <p:extLst>
      <p:ext uri="{BB962C8B-B14F-4D97-AF65-F5344CB8AC3E}">
        <p14:creationId xmlns:p14="http://schemas.microsoft.com/office/powerpoint/2010/main" val="4280064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animBg="1"/>
      <p:bldP spid="5" grpId="0" animBg="1"/>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D40E3-739C-5A9C-604B-60618DFF72A1}"/>
              </a:ext>
            </a:extLst>
          </p:cNvPr>
          <p:cNvSpPr>
            <a:spLocks noGrp="1"/>
          </p:cNvSpPr>
          <p:nvPr>
            <p:ph type="title"/>
          </p:nvPr>
        </p:nvSpPr>
        <p:spPr/>
        <p:txBody>
          <a:bodyPr/>
          <a:lstStyle/>
          <a:p>
            <a:r>
              <a:rPr lang="en-IN" dirty="0"/>
              <a:t>Best Practices for Creating APIs</a:t>
            </a:r>
          </a:p>
        </p:txBody>
      </p:sp>
      <p:sp>
        <p:nvSpPr>
          <p:cNvPr id="3" name="Content Placeholder 2">
            <a:extLst>
              <a:ext uri="{FF2B5EF4-FFF2-40B4-BE49-F238E27FC236}">
                <a16:creationId xmlns:a16="http://schemas.microsoft.com/office/drawing/2014/main" id="{98CD868C-688C-F9ED-ABA8-5B89818F9E54}"/>
              </a:ext>
            </a:extLst>
          </p:cNvPr>
          <p:cNvSpPr>
            <a:spLocks noGrp="1"/>
          </p:cNvSpPr>
          <p:nvPr>
            <p:ph idx="1"/>
          </p:nvPr>
        </p:nvSpPr>
        <p:spPr/>
        <p:txBody>
          <a:bodyPr/>
          <a:lstStyle/>
          <a:p>
            <a:pPr marL="457200" indent="-457200">
              <a:buFont typeface="+mj-lt"/>
              <a:buAutoNum type="arabicPeriod"/>
            </a:pPr>
            <a:r>
              <a:rPr lang="en-IN" dirty="0"/>
              <a:t>RESTful Principles:</a:t>
            </a:r>
          </a:p>
          <a:p>
            <a:pPr lvl="1"/>
            <a:r>
              <a:rPr lang="en-IN" dirty="0"/>
              <a:t>Utilize HTTP methods (GET, POST, PUT, DELETE) appropriately.</a:t>
            </a:r>
          </a:p>
          <a:p>
            <a:pPr lvl="1"/>
            <a:r>
              <a:rPr lang="en-IN" dirty="0"/>
              <a:t>Employ clear and logical resource-based URLs.</a:t>
            </a:r>
          </a:p>
          <a:p>
            <a:pPr lvl="1"/>
            <a:r>
              <a:rPr lang="en-IN" dirty="0"/>
              <a:t>Use HTTP status codes to indicate success or failure.</a:t>
            </a:r>
          </a:p>
          <a:p>
            <a:pPr marL="457200" indent="-457200">
              <a:buFont typeface="+mj-lt"/>
              <a:buAutoNum type="arabicPeriod"/>
            </a:pPr>
            <a:r>
              <a:rPr lang="en-IN" dirty="0"/>
              <a:t>Consistent Naming Conventions:</a:t>
            </a:r>
          </a:p>
          <a:p>
            <a:pPr lvl="1"/>
            <a:r>
              <a:rPr lang="en-IN" dirty="0"/>
              <a:t>Use clear, descriptive, and consistent naming for endpoints, parameters, and data fields.</a:t>
            </a:r>
          </a:p>
          <a:p>
            <a:pPr lvl="1"/>
            <a:r>
              <a:rPr lang="en-IN" dirty="0"/>
              <a:t>Adopt a standard naming convention (e.g., </a:t>
            </a:r>
            <a:r>
              <a:rPr lang="en-IN" dirty="0" err="1"/>
              <a:t>snake_case</a:t>
            </a:r>
            <a:r>
              <a:rPr lang="en-IN" dirty="0"/>
              <a:t>, camelCase).</a:t>
            </a:r>
          </a:p>
          <a:p>
            <a:pPr marL="457200" indent="-457200">
              <a:buFont typeface="+mj-lt"/>
              <a:buAutoNum type="arabicPeriod"/>
            </a:pPr>
            <a:r>
              <a:rPr lang="en-IN" dirty="0"/>
              <a:t>Version Control:</a:t>
            </a:r>
          </a:p>
          <a:p>
            <a:pPr lvl="1"/>
            <a:r>
              <a:rPr lang="en-IN" dirty="0"/>
              <a:t>Implement API versioning (e.g., /v1/, /v2/) to allow for updates without breaking existing clients.</a:t>
            </a:r>
          </a:p>
          <a:p>
            <a:pPr marL="457200" indent="-457200">
              <a:buFont typeface="+mj-lt"/>
              <a:buAutoNum type="arabicPeriod"/>
            </a:pPr>
            <a:r>
              <a:rPr lang="en-IN" dirty="0"/>
              <a:t>Documentation:</a:t>
            </a:r>
          </a:p>
          <a:p>
            <a:pPr lvl="1"/>
            <a:r>
              <a:rPr lang="en-IN" dirty="0"/>
              <a:t>Provide comprehensive and up-to-date documentation using tools like Swagger/</a:t>
            </a:r>
            <a:r>
              <a:rPr lang="en-IN" dirty="0" err="1"/>
              <a:t>OpenAPI</a:t>
            </a:r>
            <a:r>
              <a:rPr lang="en-IN" dirty="0"/>
              <a:t>.</a:t>
            </a:r>
          </a:p>
          <a:p>
            <a:pPr lvl="1"/>
            <a:r>
              <a:rPr lang="en-IN" dirty="0"/>
              <a:t>Maintain a changelog.</a:t>
            </a:r>
          </a:p>
          <a:p>
            <a:pPr marL="457200" indent="-457200">
              <a:buFont typeface="+mj-lt"/>
              <a:buAutoNum type="arabicPeriod"/>
            </a:pPr>
            <a:r>
              <a:rPr lang="en-IN" dirty="0"/>
              <a:t>Error Handling:	</a:t>
            </a:r>
          </a:p>
          <a:p>
            <a:pPr lvl="1"/>
            <a:r>
              <a:rPr lang="en-IN" dirty="0"/>
              <a:t>Return meaningful and consistent error messages with appropriate HTTP status codes.</a:t>
            </a:r>
          </a:p>
          <a:p>
            <a:pPr lvl="1"/>
            <a:r>
              <a:rPr lang="en-IN" dirty="0"/>
              <a:t>Log errors for monitoring and analysis.</a:t>
            </a:r>
          </a:p>
          <a:p>
            <a:endParaRPr lang="en-IN" dirty="0"/>
          </a:p>
        </p:txBody>
      </p:sp>
    </p:spTree>
    <p:extLst>
      <p:ext uri="{BB962C8B-B14F-4D97-AF65-F5344CB8AC3E}">
        <p14:creationId xmlns:p14="http://schemas.microsoft.com/office/powerpoint/2010/main" val="1667349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7F080-0C34-191D-E72A-C16BDC393614}"/>
              </a:ext>
            </a:extLst>
          </p:cNvPr>
          <p:cNvSpPr>
            <a:spLocks noGrp="1"/>
          </p:cNvSpPr>
          <p:nvPr>
            <p:ph type="title"/>
          </p:nvPr>
        </p:nvSpPr>
        <p:spPr/>
        <p:txBody>
          <a:bodyPr/>
          <a:lstStyle/>
          <a:p>
            <a:r>
              <a:rPr lang="en-IN" dirty="0"/>
              <a:t>Best Practices for Creating APIs (Cont.)</a:t>
            </a:r>
          </a:p>
        </p:txBody>
      </p:sp>
      <p:sp>
        <p:nvSpPr>
          <p:cNvPr id="3" name="Content Placeholder 2">
            <a:extLst>
              <a:ext uri="{FF2B5EF4-FFF2-40B4-BE49-F238E27FC236}">
                <a16:creationId xmlns:a16="http://schemas.microsoft.com/office/drawing/2014/main" id="{1106F10D-A77E-37E8-4336-92C584413B53}"/>
              </a:ext>
            </a:extLst>
          </p:cNvPr>
          <p:cNvSpPr>
            <a:spLocks noGrp="1"/>
          </p:cNvSpPr>
          <p:nvPr>
            <p:ph idx="1"/>
          </p:nvPr>
        </p:nvSpPr>
        <p:spPr>
          <a:xfrm>
            <a:off x="149286" y="863444"/>
            <a:ext cx="11929641" cy="5590565"/>
          </a:xfrm>
        </p:spPr>
        <p:txBody>
          <a:bodyPr/>
          <a:lstStyle/>
          <a:p>
            <a:pPr marL="457200" indent="-457200">
              <a:buFont typeface="+mj-lt"/>
              <a:buAutoNum type="arabicPeriod" startAt="6"/>
            </a:pPr>
            <a:r>
              <a:rPr lang="en-IN" dirty="0"/>
              <a:t>Security:</a:t>
            </a:r>
          </a:p>
          <a:p>
            <a:pPr lvl="1"/>
            <a:r>
              <a:rPr lang="en-IN" dirty="0"/>
              <a:t>Implement authentication and authorization (e.g., OAuth 2.0, JWT, API keys).</a:t>
            </a:r>
          </a:p>
          <a:p>
            <a:pPr lvl="1"/>
            <a:r>
              <a:rPr lang="en-IN" dirty="0"/>
              <a:t>Use HTTPS to encrypt data in transit.</a:t>
            </a:r>
          </a:p>
          <a:p>
            <a:pPr lvl="1"/>
            <a:r>
              <a:rPr lang="en-IN" dirty="0"/>
              <a:t>Validate and sanitize all input to prevent injection attacks.</a:t>
            </a:r>
          </a:p>
          <a:p>
            <a:pPr lvl="1"/>
            <a:r>
              <a:rPr lang="en-IN" dirty="0"/>
              <a:t>Implement rate limiting to prevent abuse.</a:t>
            </a:r>
          </a:p>
          <a:p>
            <a:pPr lvl="1"/>
            <a:r>
              <a:rPr lang="en-IN" dirty="0"/>
              <a:t>Protect sensitive data. </a:t>
            </a:r>
          </a:p>
          <a:p>
            <a:pPr marL="457200" indent="-457200">
              <a:buFont typeface="+mj-lt"/>
              <a:buAutoNum type="arabicPeriod" startAt="7"/>
            </a:pPr>
            <a:r>
              <a:rPr lang="en-IN" dirty="0"/>
              <a:t>Performance:</a:t>
            </a:r>
          </a:p>
          <a:p>
            <a:pPr lvl="1"/>
            <a:r>
              <a:rPr lang="en-IN" dirty="0"/>
              <a:t>Optimize API performance by minimizing data transfer and processing time.</a:t>
            </a:r>
          </a:p>
          <a:p>
            <a:pPr lvl="1"/>
            <a:r>
              <a:rPr lang="en-IN" dirty="0"/>
              <a:t>Implement caching mechanisms.</a:t>
            </a:r>
          </a:p>
          <a:p>
            <a:pPr lvl="1"/>
            <a:r>
              <a:rPr lang="en-IN" dirty="0"/>
              <a:t>Use efficient data formats (e.g., JSON, Protocol Buffers).</a:t>
            </a:r>
          </a:p>
          <a:p>
            <a:pPr lvl="1"/>
            <a:r>
              <a:rPr lang="en-IN" dirty="0"/>
              <a:t>Use pagination for large data sets.</a:t>
            </a:r>
          </a:p>
          <a:p>
            <a:pPr marL="457200" indent="-457200">
              <a:buFont typeface="+mj-lt"/>
              <a:buAutoNum type="arabicPeriod" startAt="8"/>
            </a:pPr>
            <a:r>
              <a:rPr lang="en-IN" dirty="0"/>
              <a:t>Testing:</a:t>
            </a:r>
          </a:p>
          <a:p>
            <a:pPr lvl="1"/>
            <a:r>
              <a:rPr lang="en-IN" dirty="0"/>
              <a:t>Implement comprehensive unit, integration, and end-to-end tests.</a:t>
            </a:r>
          </a:p>
          <a:p>
            <a:pPr lvl="1"/>
            <a:r>
              <a:rPr lang="en-IN" dirty="0"/>
              <a:t>Use tools like Postman or curl for manual testing.</a:t>
            </a:r>
          </a:p>
          <a:p>
            <a:pPr lvl="1"/>
            <a:r>
              <a:rPr lang="en-IN" dirty="0"/>
              <a:t>Automate testing.</a:t>
            </a:r>
          </a:p>
        </p:txBody>
      </p:sp>
    </p:spTree>
    <p:extLst>
      <p:ext uri="{BB962C8B-B14F-4D97-AF65-F5344CB8AC3E}">
        <p14:creationId xmlns:p14="http://schemas.microsoft.com/office/powerpoint/2010/main" val="1847565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3" end="13"/>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18FD5-3DED-0079-9294-59C7C581ADD4}"/>
              </a:ext>
            </a:extLst>
          </p:cNvPr>
          <p:cNvSpPr>
            <a:spLocks noGrp="1"/>
          </p:cNvSpPr>
          <p:nvPr>
            <p:ph type="title"/>
          </p:nvPr>
        </p:nvSpPr>
        <p:spPr/>
        <p:txBody>
          <a:bodyPr/>
          <a:lstStyle/>
          <a:p>
            <a:r>
              <a:rPr lang="en-IN" dirty="0"/>
              <a:t>Best Practices for Consuming APIs</a:t>
            </a:r>
          </a:p>
        </p:txBody>
      </p:sp>
      <p:sp>
        <p:nvSpPr>
          <p:cNvPr id="3" name="Content Placeholder 2">
            <a:extLst>
              <a:ext uri="{FF2B5EF4-FFF2-40B4-BE49-F238E27FC236}">
                <a16:creationId xmlns:a16="http://schemas.microsoft.com/office/drawing/2014/main" id="{81C51041-2514-4C9F-8A0B-B0C8F375FFA0}"/>
              </a:ext>
            </a:extLst>
          </p:cNvPr>
          <p:cNvSpPr>
            <a:spLocks noGrp="1"/>
          </p:cNvSpPr>
          <p:nvPr>
            <p:ph idx="1"/>
          </p:nvPr>
        </p:nvSpPr>
        <p:spPr/>
        <p:txBody>
          <a:bodyPr/>
          <a:lstStyle/>
          <a:p>
            <a:r>
              <a:rPr lang="en-GB" dirty="0"/>
              <a:t>Understanding the API:</a:t>
            </a:r>
          </a:p>
          <a:p>
            <a:pPr lvl="1"/>
            <a:r>
              <a:rPr lang="en-GB" dirty="0"/>
              <a:t>Read the Documentation: Thoroughly understand the API's functionality, endpoints, parameters, and authentication methods.</a:t>
            </a:r>
          </a:p>
          <a:p>
            <a:pPr lvl="1"/>
            <a:r>
              <a:rPr lang="en-GB" dirty="0"/>
              <a:t>Test Endpoints: Use tools like Postman or curl to test API endpoints and understand their behaviour.</a:t>
            </a:r>
          </a:p>
          <a:p>
            <a:r>
              <a:rPr lang="en-GB" dirty="0"/>
              <a:t>Implementation:</a:t>
            </a:r>
          </a:p>
          <a:p>
            <a:pPr lvl="1"/>
            <a:r>
              <a:rPr lang="en-GB" dirty="0"/>
              <a:t>Use an HTTP Client Library: Utilize a reliable HTTP client library in your programming language.</a:t>
            </a:r>
          </a:p>
          <a:p>
            <a:pPr lvl="1"/>
            <a:r>
              <a:rPr lang="en-GB" dirty="0"/>
              <a:t>Handle Authentication: Implement the API's authentication mechanism correctly.</a:t>
            </a:r>
          </a:p>
          <a:p>
            <a:pPr lvl="1"/>
            <a:r>
              <a:rPr lang="en-GB" dirty="0"/>
              <a:t>Handle Errors Gracefully: Implement robust error handling to catch and manage API errors.</a:t>
            </a:r>
          </a:p>
          <a:p>
            <a:pPr lvl="1"/>
            <a:r>
              <a:rPr lang="en-GB" dirty="0"/>
              <a:t>Parse Data Correctly: Parse the API's response data using the appropriate format (e.g., JSON parsing).</a:t>
            </a:r>
          </a:p>
          <a:p>
            <a:pPr lvl="1"/>
            <a:r>
              <a:rPr lang="en-GB" dirty="0"/>
              <a:t>Implement Retry Logic: Implement retry logic for transient errors or network issues.</a:t>
            </a:r>
          </a:p>
          <a:p>
            <a:pPr lvl="1"/>
            <a:r>
              <a:rPr lang="en-GB" dirty="0"/>
              <a:t>Respect Rate Limits: Adhere to the API's rate limits to avoid being blocked.</a:t>
            </a:r>
          </a:p>
          <a:p>
            <a:pPr lvl="1"/>
            <a:r>
              <a:rPr lang="en-GB" dirty="0"/>
              <a:t>Secure API Keys: Never expose API keys in client-side code or public repositories.</a:t>
            </a:r>
          </a:p>
          <a:p>
            <a:pPr lvl="1"/>
            <a:r>
              <a:rPr lang="en-GB" dirty="0"/>
              <a:t>Asynchronous Requests: Where possible use asynchronous request to improve performance.</a:t>
            </a:r>
          </a:p>
          <a:p>
            <a:pPr lvl="1"/>
            <a:r>
              <a:rPr lang="en-GB" dirty="0"/>
              <a:t>Data Validation: Validate the data returned from the API to ensure it meets your applications requirements.</a:t>
            </a:r>
          </a:p>
          <a:p>
            <a:pPr lvl="1"/>
            <a:r>
              <a:rPr lang="en-GB" dirty="0"/>
              <a:t>Caching: cache API responses when appropriate to reduce unneeded API calls.</a:t>
            </a:r>
          </a:p>
          <a:p>
            <a:pPr lvl="1"/>
            <a:r>
              <a:rPr lang="en-GB" dirty="0"/>
              <a:t>Logging: Log API requests and responses for debugging and monitoring.</a:t>
            </a:r>
            <a:endParaRPr lang="en-IN" dirty="0"/>
          </a:p>
        </p:txBody>
      </p:sp>
    </p:spTree>
    <p:extLst>
      <p:ext uri="{BB962C8B-B14F-4D97-AF65-F5344CB8AC3E}">
        <p14:creationId xmlns:p14="http://schemas.microsoft.com/office/powerpoint/2010/main" val="2432017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9834F-06B3-53FE-A265-89E2C4E0FEEC}"/>
              </a:ext>
            </a:extLst>
          </p:cNvPr>
          <p:cNvSpPr>
            <a:spLocks noGrp="1"/>
          </p:cNvSpPr>
          <p:nvPr>
            <p:ph type="title"/>
          </p:nvPr>
        </p:nvSpPr>
        <p:spPr/>
        <p:txBody>
          <a:bodyPr/>
          <a:lstStyle/>
          <a:p>
            <a:r>
              <a:rPr lang="en-IN" dirty="0"/>
              <a:t>Creating API Documentation</a:t>
            </a:r>
          </a:p>
        </p:txBody>
      </p:sp>
      <p:sp>
        <p:nvSpPr>
          <p:cNvPr id="3" name="Content Placeholder 2">
            <a:extLst>
              <a:ext uri="{FF2B5EF4-FFF2-40B4-BE49-F238E27FC236}">
                <a16:creationId xmlns:a16="http://schemas.microsoft.com/office/drawing/2014/main" id="{028FA2ED-5A77-A392-26F0-88C842E1CDEB}"/>
              </a:ext>
            </a:extLst>
          </p:cNvPr>
          <p:cNvSpPr>
            <a:spLocks noGrp="1"/>
          </p:cNvSpPr>
          <p:nvPr>
            <p:ph idx="1"/>
          </p:nvPr>
        </p:nvSpPr>
        <p:spPr/>
        <p:txBody>
          <a:bodyPr/>
          <a:lstStyle/>
          <a:p>
            <a:r>
              <a:rPr lang="en-GB" dirty="0"/>
              <a:t>API documentation is a set of instructions that tells developers and other interested parties how to use your API and its services for a specific end. </a:t>
            </a:r>
          </a:p>
          <a:p>
            <a:r>
              <a:rPr lang="en-GB" dirty="0"/>
              <a:t>It usually contains code examples, tutorials, and details about the input parameters, return parameters, input format and return format. </a:t>
            </a:r>
          </a:p>
          <a:p>
            <a:r>
              <a:rPr lang="en-GB" dirty="0"/>
              <a:t>It essentially provides developers with all the information they need to build integrations with the API and make API calls with the software.</a:t>
            </a:r>
          </a:p>
          <a:p>
            <a:r>
              <a:rPr lang="en-IN" dirty="0"/>
              <a:t>We can create API manually or generate using tools like Swagger, Postman etc..</a:t>
            </a:r>
          </a:p>
          <a:p>
            <a:r>
              <a:rPr lang="en-IN" dirty="0"/>
              <a:t>To Create API manually</a:t>
            </a:r>
          </a:p>
          <a:p>
            <a:pPr lvl="1"/>
            <a:r>
              <a:rPr lang="en-IN" dirty="0"/>
              <a:t>We need to first provide high-level introduction to API which consist of base </a:t>
            </a:r>
            <a:r>
              <a:rPr lang="en-IN" dirty="0" err="1"/>
              <a:t>url</a:t>
            </a:r>
            <a:r>
              <a:rPr lang="en-IN" dirty="0"/>
              <a:t>, authentication method, rate limits and usage policies.</a:t>
            </a:r>
          </a:p>
          <a:p>
            <a:pPr lvl="1"/>
            <a:r>
              <a:rPr lang="en-IN" dirty="0"/>
              <a:t>Then we need to provide following information for each end-point</a:t>
            </a:r>
          </a:p>
          <a:p>
            <a:pPr lvl="2"/>
            <a:r>
              <a:rPr lang="en-IN" dirty="0"/>
              <a:t>HTTP Method</a:t>
            </a:r>
          </a:p>
          <a:p>
            <a:pPr lvl="2"/>
            <a:r>
              <a:rPr lang="en-IN" dirty="0"/>
              <a:t>URL</a:t>
            </a:r>
          </a:p>
          <a:p>
            <a:pPr lvl="2"/>
            <a:r>
              <a:rPr lang="en-IN" dirty="0"/>
              <a:t>Description</a:t>
            </a:r>
          </a:p>
          <a:p>
            <a:pPr lvl="2"/>
            <a:r>
              <a:rPr lang="en-IN" dirty="0"/>
              <a:t>Request parameters</a:t>
            </a:r>
          </a:p>
          <a:p>
            <a:pPr lvl="2"/>
            <a:r>
              <a:rPr lang="en-IN" dirty="0"/>
              <a:t>Example Response </a:t>
            </a:r>
          </a:p>
        </p:txBody>
      </p:sp>
    </p:spTree>
    <p:extLst>
      <p:ext uri="{BB962C8B-B14F-4D97-AF65-F5344CB8AC3E}">
        <p14:creationId xmlns:p14="http://schemas.microsoft.com/office/powerpoint/2010/main" val="3821043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AA961-8DE0-68D4-4030-2670C7C92D1C}"/>
              </a:ext>
            </a:extLst>
          </p:cNvPr>
          <p:cNvSpPr>
            <a:spLocks noGrp="1"/>
          </p:cNvSpPr>
          <p:nvPr>
            <p:ph type="title"/>
          </p:nvPr>
        </p:nvSpPr>
        <p:spPr/>
        <p:txBody>
          <a:bodyPr/>
          <a:lstStyle/>
          <a:p>
            <a:r>
              <a:rPr lang="en-IN" dirty="0"/>
              <a:t>Testing</a:t>
            </a:r>
          </a:p>
        </p:txBody>
      </p:sp>
      <p:sp>
        <p:nvSpPr>
          <p:cNvPr id="3" name="Content Placeholder 2">
            <a:extLst>
              <a:ext uri="{FF2B5EF4-FFF2-40B4-BE49-F238E27FC236}">
                <a16:creationId xmlns:a16="http://schemas.microsoft.com/office/drawing/2014/main" id="{39F742CB-1E2D-E2D8-08F0-5DC6C686F9F3}"/>
              </a:ext>
            </a:extLst>
          </p:cNvPr>
          <p:cNvSpPr>
            <a:spLocks noGrp="1"/>
          </p:cNvSpPr>
          <p:nvPr>
            <p:ph idx="1"/>
          </p:nvPr>
        </p:nvSpPr>
        <p:spPr/>
        <p:txBody>
          <a:bodyPr/>
          <a:lstStyle/>
          <a:p>
            <a:r>
              <a:rPr lang="en-IN" dirty="0"/>
              <a:t>T</a:t>
            </a:r>
            <a:r>
              <a:rPr lang="en-GB" dirty="0" err="1"/>
              <a:t>esting</a:t>
            </a:r>
            <a:r>
              <a:rPr lang="en-GB" dirty="0"/>
              <a:t> is a crucial part of Angular development, ensuring the reliability and maintainability of your applications. Angular provides a robust testing framework built on </a:t>
            </a:r>
            <a:r>
              <a:rPr lang="en-GB" b="1" dirty="0"/>
              <a:t>Jasmine</a:t>
            </a:r>
            <a:r>
              <a:rPr lang="en-GB" dirty="0"/>
              <a:t> and </a:t>
            </a:r>
            <a:r>
              <a:rPr lang="en-GB" b="1" dirty="0"/>
              <a:t>Karma</a:t>
            </a:r>
            <a:r>
              <a:rPr lang="en-GB" dirty="0"/>
              <a:t>, and the Angular CLI simplifies the process of setting up and running tests.</a:t>
            </a:r>
          </a:p>
          <a:p>
            <a:r>
              <a:rPr lang="en-GB" dirty="0"/>
              <a:t>Testing Framework:</a:t>
            </a:r>
          </a:p>
          <a:p>
            <a:pPr lvl="1"/>
            <a:r>
              <a:rPr lang="en-GB" dirty="0"/>
              <a:t>Jasmine:</a:t>
            </a:r>
          </a:p>
          <a:p>
            <a:pPr lvl="2"/>
            <a:r>
              <a:rPr lang="en-GB" dirty="0"/>
              <a:t>A behaviour-driven development (BDD) framework for testing JavaScript code.</a:t>
            </a:r>
          </a:p>
          <a:p>
            <a:pPr lvl="2"/>
            <a:r>
              <a:rPr lang="en-GB" dirty="0"/>
              <a:t>Provides syntax for writing test suites, specs (individual tests).</a:t>
            </a:r>
          </a:p>
          <a:p>
            <a:pPr lvl="2"/>
            <a:r>
              <a:rPr lang="en-GB" dirty="0"/>
              <a:t>Key concepts:</a:t>
            </a:r>
          </a:p>
          <a:p>
            <a:pPr lvl="3"/>
            <a:r>
              <a:rPr lang="en-GB" dirty="0"/>
              <a:t>describe(): Defines a test suite.</a:t>
            </a:r>
          </a:p>
          <a:p>
            <a:pPr lvl="3"/>
            <a:r>
              <a:rPr lang="en-GB" dirty="0"/>
              <a:t>it(): Defines an individual test spec.</a:t>
            </a:r>
          </a:p>
          <a:p>
            <a:pPr lvl="3"/>
            <a:r>
              <a:rPr lang="en-GB" dirty="0"/>
              <a:t>expect(): Used to make assertions about the expected </a:t>
            </a:r>
            <a:r>
              <a:rPr lang="en-GB" dirty="0" err="1"/>
              <a:t>behavior</a:t>
            </a:r>
            <a:r>
              <a:rPr lang="en-GB" dirty="0"/>
              <a:t>.</a:t>
            </a:r>
          </a:p>
          <a:p>
            <a:pPr lvl="3"/>
            <a:r>
              <a:rPr lang="en-GB" dirty="0" err="1"/>
              <a:t>beforeEach</a:t>
            </a:r>
            <a:r>
              <a:rPr lang="en-GB" dirty="0"/>
              <a:t>() and </a:t>
            </a:r>
            <a:r>
              <a:rPr lang="en-GB" dirty="0" err="1"/>
              <a:t>afterEach</a:t>
            </a:r>
            <a:r>
              <a:rPr lang="en-GB" dirty="0"/>
              <a:t>(): Setup and teardown functions that run before and after each spec.</a:t>
            </a:r>
          </a:p>
          <a:p>
            <a:pPr lvl="1"/>
            <a:r>
              <a:rPr lang="en-GB" dirty="0"/>
              <a:t>Karma:</a:t>
            </a:r>
          </a:p>
          <a:p>
            <a:pPr lvl="2"/>
            <a:r>
              <a:rPr lang="en-GB" dirty="0"/>
              <a:t>A test runner that launches browsers and executes your tests.</a:t>
            </a:r>
          </a:p>
          <a:p>
            <a:pPr lvl="2"/>
            <a:r>
              <a:rPr lang="en-GB" dirty="0"/>
              <a:t>Provides a way to run tests in multiple browsers and capture the results.</a:t>
            </a:r>
          </a:p>
          <a:p>
            <a:pPr lvl="2"/>
            <a:r>
              <a:rPr lang="en-GB" dirty="0"/>
              <a:t>Integrates well with Jasmine.</a:t>
            </a:r>
            <a:endParaRPr lang="en-IN" dirty="0"/>
          </a:p>
        </p:txBody>
      </p:sp>
    </p:spTree>
    <p:extLst>
      <p:ext uri="{BB962C8B-B14F-4D97-AF65-F5344CB8AC3E}">
        <p14:creationId xmlns:p14="http://schemas.microsoft.com/office/powerpoint/2010/main" val="3628405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8ED26-5614-1A94-B04A-A718E911C551}"/>
              </a:ext>
            </a:extLst>
          </p:cNvPr>
          <p:cNvSpPr>
            <a:spLocks noGrp="1"/>
          </p:cNvSpPr>
          <p:nvPr>
            <p:ph type="title"/>
          </p:nvPr>
        </p:nvSpPr>
        <p:spPr/>
        <p:txBody>
          <a:bodyPr/>
          <a:lstStyle/>
          <a:p>
            <a:r>
              <a:rPr lang="en-IN" dirty="0"/>
              <a:t>Testing (Example)</a:t>
            </a:r>
          </a:p>
        </p:txBody>
      </p:sp>
      <p:sp>
        <p:nvSpPr>
          <p:cNvPr id="3" name="Content Placeholder 2">
            <a:extLst>
              <a:ext uri="{FF2B5EF4-FFF2-40B4-BE49-F238E27FC236}">
                <a16:creationId xmlns:a16="http://schemas.microsoft.com/office/drawing/2014/main" id="{BB2A3FB6-90EE-55C3-CCEB-37A38EEC2E2A}"/>
              </a:ext>
            </a:extLst>
          </p:cNvPr>
          <p:cNvSpPr>
            <a:spLocks noGrp="1"/>
          </p:cNvSpPr>
          <p:nvPr>
            <p:ph idx="1"/>
          </p:nvPr>
        </p:nvSpPr>
        <p:spPr/>
        <p:txBody>
          <a:bodyPr/>
          <a:lstStyle/>
          <a:p>
            <a:r>
              <a:rPr lang="en-IN" dirty="0"/>
              <a:t>Load providers and inject service/class using </a:t>
            </a:r>
            <a:r>
              <a:rPr lang="en-IN" b="1" dirty="0" err="1"/>
              <a:t>beforeEach</a:t>
            </a:r>
            <a:endParaRPr lang="en-IN" b="1" dirty="0"/>
          </a:p>
          <a:p>
            <a:endParaRPr lang="en-IN" b="1" dirty="0"/>
          </a:p>
          <a:p>
            <a:endParaRPr lang="en-IN" b="1" dirty="0"/>
          </a:p>
          <a:p>
            <a:endParaRPr lang="en-IN" b="1" dirty="0"/>
          </a:p>
          <a:p>
            <a:pPr lvl="2"/>
            <a:endParaRPr lang="en-IN" sz="500" b="1" dirty="0"/>
          </a:p>
          <a:p>
            <a:r>
              <a:rPr lang="en-IN" dirty="0"/>
              <a:t>Specify specs using jasmine</a:t>
            </a:r>
          </a:p>
          <a:p>
            <a:endParaRPr lang="en-IN" dirty="0"/>
          </a:p>
          <a:p>
            <a:endParaRPr lang="en-IN" dirty="0"/>
          </a:p>
          <a:p>
            <a:endParaRPr lang="en-IN" dirty="0"/>
          </a:p>
          <a:p>
            <a:endParaRPr lang="en-IN" dirty="0"/>
          </a:p>
          <a:p>
            <a:endParaRPr lang="en-IN" dirty="0"/>
          </a:p>
          <a:p>
            <a:endParaRPr lang="en-IN" dirty="0"/>
          </a:p>
          <a:p>
            <a:r>
              <a:rPr lang="en-IN" dirty="0"/>
              <a:t>Run Test using </a:t>
            </a:r>
          </a:p>
        </p:txBody>
      </p:sp>
      <p:sp>
        <p:nvSpPr>
          <p:cNvPr id="4" name="Rectangle 3">
            <a:extLst>
              <a:ext uri="{FF2B5EF4-FFF2-40B4-BE49-F238E27FC236}">
                <a16:creationId xmlns:a16="http://schemas.microsoft.com/office/drawing/2014/main" id="{34A6E5D3-B67D-F32D-6715-A6DFC636A4D5}"/>
              </a:ext>
            </a:extLst>
          </p:cNvPr>
          <p:cNvSpPr/>
          <p:nvPr/>
        </p:nvSpPr>
        <p:spPr>
          <a:xfrm>
            <a:off x="506994" y="1263448"/>
            <a:ext cx="8367884" cy="1569660"/>
          </a:xfrm>
          <a:prstGeom prst="rect">
            <a:avLst/>
          </a:prstGeom>
          <a:solidFill>
            <a:schemeClr val="tx1"/>
          </a:solidFill>
          <a:ln>
            <a:noFill/>
          </a:ln>
        </p:spPr>
        <p:txBody>
          <a:bodyPr wrap="square">
            <a:spAutoFit/>
          </a:bodyPr>
          <a:lstStyle/>
          <a:p>
            <a:pPr>
              <a:buNone/>
            </a:pPr>
            <a:r>
              <a:rPr lang="en-IN" sz="1600" dirty="0" err="1">
                <a:solidFill>
                  <a:srgbClr val="DCDCAA"/>
                </a:solidFill>
                <a:latin typeface="Consolas" panose="020B0609020204030204" pitchFamily="49" charset="0"/>
              </a:rPr>
              <a:t>beforeEach</a:t>
            </a:r>
            <a:r>
              <a:rPr lang="en-IN" sz="1600" dirty="0">
                <a:solidFill>
                  <a:srgbClr val="D4D4D4"/>
                </a:solidFill>
                <a:latin typeface="Consolas" panose="020B0609020204030204" pitchFamily="49" charset="0"/>
              </a:rPr>
              <a:t>(() </a:t>
            </a:r>
            <a:r>
              <a:rPr lang="en-IN" sz="1600" dirty="0">
                <a:solidFill>
                  <a:srgbClr val="569CD6"/>
                </a:solidFill>
                <a:latin typeface="Consolas" panose="020B0609020204030204" pitchFamily="49" charset="0"/>
              </a:rPr>
              <a:t>=&gt;</a:t>
            </a:r>
            <a:r>
              <a:rPr lang="en-IN" sz="1600" dirty="0">
                <a:solidFill>
                  <a:srgbClr val="D4D4D4"/>
                </a:solidFill>
                <a:latin typeface="Consolas" panose="020B0609020204030204" pitchFamily="49" charset="0"/>
              </a:rPr>
              <a:t> {</a:t>
            </a:r>
          </a:p>
          <a:p>
            <a:pPr>
              <a:buNone/>
            </a:pPr>
            <a:r>
              <a:rPr lang="en-IN" sz="1600" dirty="0">
                <a:solidFill>
                  <a:srgbClr val="D4D4D4"/>
                </a:solidFill>
                <a:latin typeface="Consolas" panose="020B0609020204030204" pitchFamily="49" charset="0"/>
              </a:rPr>
              <a:t>    </a:t>
            </a:r>
            <a:r>
              <a:rPr lang="en-IN" sz="1600" dirty="0" err="1">
                <a:solidFill>
                  <a:srgbClr val="4EC9B0"/>
                </a:solidFill>
                <a:latin typeface="Consolas" panose="020B0609020204030204" pitchFamily="49" charset="0"/>
              </a:rPr>
              <a:t>TestBed</a:t>
            </a:r>
            <a:r>
              <a:rPr lang="en-IN" sz="1600" dirty="0" err="1">
                <a:solidFill>
                  <a:srgbClr val="D4D4D4"/>
                </a:solidFill>
                <a:latin typeface="Consolas" panose="020B0609020204030204" pitchFamily="49" charset="0"/>
              </a:rPr>
              <a:t>.</a:t>
            </a:r>
            <a:r>
              <a:rPr lang="en-IN" sz="1600" dirty="0" err="1">
                <a:solidFill>
                  <a:srgbClr val="DCDCAA"/>
                </a:solidFill>
                <a:latin typeface="Consolas" panose="020B0609020204030204" pitchFamily="49" charset="0"/>
              </a:rPr>
              <a:t>configureTestingModule</a:t>
            </a:r>
            <a:r>
              <a:rPr lang="en-IN" sz="1600" dirty="0">
                <a:solidFill>
                  <a:srgbClr val="D4D4D4"/>
                </a:solidFill>
                <a:latin typeface="Consolas" panose="020B0609020204030204" pitchFamily="49" charset="0"/>
              </a:rPr>
              <a:t>({</a:t>
            </a:r>
          </a:p>
          <a:p>
            <a:pPr>
              <a:buNone/>
            </a:pPr>
            <a:r>
              <a:rPr lang="en-IN" sz="1600" dirty="0">
                <a:solidFill>
                  <a:srgbClr val="D4D4D4"/>
                </a:solidFill>
                <a:latin typeface="Consolas" panose="020B0609020204030204" pitchFamily="49" charset="0"/>
              </a:rPr>
              <a:t>      </a:t>
            </a:r>
            <a:r>
              <a:rPr lang="en-IN" sz="1600" dirty="0">
                <a:solidFill>
                  <a:srgbClr val="9CDCFE"/>
                </a:solidFill>
                <a:latin typeface="Consolas" panose="020B0609020204030204" pitchFamily="49" charset="0"/>
              </a:rPr>
              <a:t>providers:</a:t>
            </a:r>
            <a:r>
              <a:rPr lang="en-IN" sz="1600" dirty="0">
                <a:solidFill>
                  <a:srgbClr val="D4D4D4"/>
                </a:solidFill>
                <a:latin typeface="Consolas" panose="020B0609020204030204" pitchFamily="49" charset="0"/>
              </a:rPr>
              <a:t>[</a:t>
            </a:r>
            <a:r>
              <a:rPr lang="en-IN" sz="1600" dirty="0" err="1">
                <a:solidFill>
                  <a:srgbClr val="DCDCAA"/>
                </a:solidFill>
                <a:latin typeface="Consolas" panose="020B0609020204030204" pitchFamily="49" charset="0"/>
              </a:rPr>
              <a:t>provideHttpClient</a:t>
            </a:r>
            <a:r>
              <a:rPr lang="en-IN" sz="1600" dirty="0">
                <a:solidFill>
                  <a:srgbClr val="D4D4D4"/>
                </a:solidFill>
                <a:latin typeface="Consolas" panose="020B0609020204030204" pitchFamily="49" charset="0"/>
              </a:rPr>
              <a:t>(), </a:t>
            </a:r>
            <a:r>
              <a:rPr lang="en-IN" sz="1600" dirty="0" err="1">
                <a:solidFill>
                  <a:srgbClr val="DCDCAA"/>
                </a:solidFill>
                <a:latin typeface="Consolas" panose="020B0609020204030204" pitchFamily="49" charset="0"/>
              </a:rPr>
              <a:t>provideRouter</a:t>
            </a:r>
            <a:r>
              <a:rPr lang="en-IN" sz="1600" dirty="0">
                <a:solidFill>
                  <a:srgbClr val="D4D4D4"/>
                </a:solidFill>
                <a:latin typeface="Consolas" panose="020B0609020204030204" pitchFamily="49" charset="0"/>
              </a:rPr>
              <a:t>([])]</a:t>
            </a:r>
          </a:p>
          <a:p>
            <a:pPr>
              <a:buNone/>
            </a:pPr>
            <a:r>
              <a:rPr lang="en-IN" sz="1600" dirty="0">
                <a:solidFill>
                  <a:srgbClr val="D4D4D4"/>
                </a:solidFill>
                <a:latin typeface="Consolas" panose="020B0609020204030204" pitchFamily="49" charset="0"/>
              </a:rPr>
              <a:t>    });</a:t>
            </a:r>
          </a:p>
          <a:p>
            <a:pPr>
              <a:buNone/>
            </a:pPr>
            <a:r>
              <a:rPr lang="en-IN" sz="1600" dirty="0">
                <a:solidFill>
                  <a:srgbClr val="D4D4D4"/>
                </a:solidFill>
                <a:latin typeface="Consolas" panose="020B0609020204030204" pitchFamily="49" charset="0"/>
              </a:rPr>
              <a:t>    </a:t>
            </a:r>
            <a:r>
              <a:rPr lang="en-IN" sz="1600" dirty="0">
                <a:solidFill>
                  <a:srgbClr val="9CDCFE"/>
                </a:solidFill>
                <a:latin typeface="Consolas" panose="020B0609020204030204" pitchFamily="49" charset="0"/>
              </a:rPr>
              <a:t>service</a:t>
            </a:r>
            <a:r>
              <a:rPr lang="en-IN" sz="1600" dirty="0">
                <a:solidFill>
                  <a:srgbClr val="D4D4D4"/>
                </a:solidFill>
                <a:latin typeface="Consolas" panose="020B0609020204030204" pitchFamily="49" charset="0"/>
              </a:rPr>
              <a:t> = </a:t>
            </a:r>
            <a:r>
              <a:rPr lang="en-IN" sz="1600" dirty="0" err="1">
                <a:solidFill>
                  <a:srgbClr val="4EC9B0"/>
                </a:solidFill>
                <a:latin typeface="Consolas" panose="020B0609020204030204" pitchFamily="49" charset="0"/>
              </a:rPr>
              <a:t>TestBed</a:t>
            </a:r>
            <a:r>
              <a:rPr lang="en-IN" sz="1600" dirty="0" err="1">
                <a:solidFill>
                  <a:srgbClr val="D4D4D4"/>
                </a:solidFill>
                <a:latin typeface="Consolas" panose="020B0609020204030204" pitchFamily="49" charset="0"/>
              </a:rPr>
              <a:t>.</a:t>
            </a:r>
            <a:r>
              <a:rPr lang="en-IN" sz="1600" dirty="0" err="1">
                <a:solidFill>
                  <a:srgbClr val="DCDCAA"/>
                </a:solidFill>
                <a:latin typeface="Consolas" panose="020B0609020204030204" pitchFamily="49" charset="0"/>
              </a:rPr>
              <a:t>inject</a:t>
            </a:r>
            <a:r>
              <a:rPr lang="en-IN" sz="1600" dirty="0">
                <a:solidFill>
                  <a:srgbClr val="D4D4D4"/>
                </a:solidFill>
                <a:latin typeface="Consolas" panose="020B0609020204030204" pitchFamily="49" charset="0"/>
              </a:rPr>
              <a:t>(</a:t>
            </a:r>
            <a:r>
              <a:rPr lang="en-IN" sz="1600" dirty="0" err="1">
                <a:solidFill>
                  <a:srgbClr val="4EC9B0"/>
                </a:solidFill>
                <a:latin typeface="Consolas" panose="020B0609020204030204" pitchFamily="49" charset="0"/>
              </a:rPr>
              <a:t>ApiLoginService</a:t>
            </a:r>
            <a:r>
              <a:rPr lang="en-IN" sz="1600" dirty="0">
                <a:solidFill>
                  <a:srgbClr val="D4D4D4"/>
                </a:solidFill>
                <a:latin typeface="Consolas" panose="020B0609020204030204" pitchFamily="49" charset="0"/>
              </a:rPr>
              <a:t>);</a:t>
            </a:r>
          </a:p>
          <a:p>
            <a:r>
              <a:rPr lang="en-IN" sz="1600" dirty="0">
                <a:solidFill>
                  <a:srgbClr val="D4D4D4"/>
                </a:solidFill>
                <a:latin typeface="Consolas" panose="020B0609020204030204" pitchFamily="49" charset="0"/>
              </a:rPr>
              <a:t>  });</a:t>
            </a:r>
          </a:p>
        </p:txBody>
      </p:sp>
      <p:sp>
        <p:nvSpPr>
          <p:cNvPr id="5" name="Rectangle 4">
            <a:extLst>
              <a:ext uri="{FF2B5EF4-FFF2-40B4-BE49-F238E27FC236}">
                <a16:creationId xmlns:a16="http://schemas.microsoft.com/office/drawing/2014/main" id="{A65ECCAD-633A-D091-B57D-E619D558AA6B}"/>
              </a:ext>
            </a:extLst>
          </p:cNvPr>
          <p:cNvSpPr/>
          <p:nvPr/>
        </p:nvSpPr>
        <p:spPr>
          <a:xfrm>
            <a:off x="506993" y="3233112"/>
            <a:ext cx="10004079" cy="2554545"/>
          </a:xfrm>
          <a:prstGeom prst="rect">
            <a:avLst/>
          </a:prstGeom>
          <a:solidFill>
            <a:schemeClr val="tx1"/>
          </a:solidFill>
          <a:ln>
            <a:noFill/>
          </a:ln>
        </p:spPr>
        <p:txBody>
          <a:bodyPr wrap="square">
            <a:spAutoFit/>
          </a:bodyPr>
          <a:lstStyle/>
          <a:p>
            <a:pPr>
              <a:buNone/>
            </a:pPr>
            <a:r>
              <a:rPr lang="en-IN" sz="1600" dirty="0">
                <a:solidFill>
                  <a:srgbClr val="DCDCAA"/>
                </a:solidFill>
                <a:latin typeface="Consolas" panose="020B0609020204030204" pitchFamily="49" charset="0"/>
              </a:rPr>
              <a:t>  it</a:t>
            </a:r>
            <a:r>
              <a:rPr lang="en-IN" sz="1600" dirty="0">
                <a:solidFill>
                  <a:srgbClr val="D4D4D4"/>
                </a:solidFill>
                <a:latin typeface="Consolas" panose="020B0609020204030204" pitchFamily="49" charset="0"/>
              </a:rPr>
              <a:t>(</a:t>
            </a:r>
            <a:r>
              <a:rPr lang="en-IN" sz="1600" dirty="0">
                <a:solidFill>
                  <a:srgbClr val="CE9178"/>
                </a:solidFill>
                <a:latin typeface="Consolas" panose="020B0609020204030204" pitchFamily="49" charset="0"/>
              </a:rPr>
              <a:t>'checking add method'</a:t>
            </a:r>
            <a:r>
              <a:rPr lang="en-IN" sz="1600" dirty="0">
                <a:solidFill>
                  <a:srgbClr val="D4D4D4"/>
                </a:solidFill>
                <a:latin typeface="Consolas" panose="020B0609020204030204" pitchFamily="49" charset="0"/>
              </a:rPr>
              <a:t>,()</a:t>
            </a:r>
            <a:r>
              <a:rPr lang="en-IN" sz="1600" dirty="0">
                <a:solidFill>
                  <a:srgbClr val="569CD6"/>
                </a:solidFill>
                <a:latin typeface="Consolas" panose="020B0609020204030204" pitchFamily="49" charset="0"/>
              </a:rPr>
              <a:t>=&gt;</a:t>
            </a:r>
            <a:r>
              <a:rPr lang="en-IN" sz="1600" dirty="0">
                <a:solidFill>
                  <a:srgbClr val="D4D4D4"/>
                </a:solidFill>
                <a:latin typeface="Consolas" panose="020B0609020204030204" pitchFamily="49" charset="0"/>
              </a:rPr>
              <a:t>{</a:t>
            </a:r>
          </a:p>
          <a:p>
            <a:pPr>
              <a:buNone/>
            </a:pPr>
            <a:r>
              <a:rPr lang="en-IN" sz="1600" dirty="0">
                <a:solidFill>
                  <a:srgbClr val="D4D4D4"/>
                </a:solidFill>
                <a:latin typeface="Consolas" panose="020B0609020204030204" pitchFamily="49" charset="0"/>
              </a:rPr>
              <a:t>    </a:t>
            </a:r>
            <a:r>
              <a:rPr lang="en-IN" sz="1600" dirty="0">
                <a:solidFill>
                  <a:srgbClr val="DCDCAA"/>
                </a:solidFill>
                <a:latin typeface="Consolas" panose="020B0609020204030204" pitchFamily="49" charset="0"/>
              </a:rPr>
              <a:t>expect</a:t>
            </a:r>
            <a:r>
              <a:rPr lang="en-IN" sz="1600" dirty="0">
                <a:solidFill>
                  <a:srgbClr val="D4D4D4"/>
                </a:solidFill>
                <a:latin typeface="Consolas" panose="020B0609020204030204" pitchFamily="49" charset="0"/>
              </a:rPr>
              <a:t>(</a:t>
            </a:r>
            <a:r>
              <a:rPr lang="en-IN" sz="1600" dirty="0" err="1">
                <a:solidFill>
                  <a:srgbClr val="9CDCFE"/>
                </a:solidFill>
                <a:latin typeface="Consolas" panose="020B0609020204030204" pitchFamily="49" charset="0"/>
              </a:rPr>
              <a:t>service</a:t>
            </a:r>
            <a:r>
              <a:rPr lang="en-IN" sz="1600" dirty="0" err="1">
                <a:solidFill>
                  <a:srgbClr val="D4D4D4"/>
                </a:solidFill>
                <a:latin typeface="Consolas" panose="020B0609020204030204" pitchFamily="49" charset="0"/>
              </a:rPr>
              <a:t>.</a:t>
            </a:r>
            <a:r>
              <a:rPr lang="en-IN" sz="1600" dirty="0" err="1">
                <a:solidFill>
                  <a:srgbClr val="DCDCAA"/>
                </a:solidFill>
                <a:latin typeface="Consolas" panose="020B0609020204030204" pitchFamily="49" charset="0"/>
              </a:rPr>
              <a:t>add</a:t>
            </a:r>
            <a:r>
              <a:rPr lang="en-IN" sz="1600" dirty="0">
                <a:solidFill>
                  <a:srgbClr val="D4D4D4"/>
                </a:solidFill>
                <a:latin typeface="Consolas" panose="020B0609020204030204" pitchFamily="49" charset="0"/>
              </a:rPr>
              <a:t>(</a:t>
            </a:r>
            <a:r>
              <a:rPr lang="en-IN" sz="1600" dirty="0">
                <a:solidFill>
                  <a:srgbClr val="B5CEA8"/>
                </a:solidFill>
                <a:latin typeface="Consolas" panose="020B0609020204030204" pitchFamily="49" charset="0"/>
              </a:rPr>
              <a:t>5</a:t>
            </a:r>
            <a:r>
              <a:rPr lang="en-IN" sz="1600" dirty="0">
                <a:solidFill>
                  <a:srgbClr val="D4D4D4"/>
                </a:solidFill>
                <a:latin typeface="Consolas" panose="020B0609020204030204" pitchFamily="49" charset="0"/>
              </a:rPr>
              <a:t>,</a:t>
            </a:r>
            <a:r>
              <a:rPr lang="en-IN" sz="1600" dirty="0">
                <a:solidFill>
                  <a:srgbClr val="B5CEA8"/>
                </a:solidFill>
                <a:latin typeface="Consolas" panose="020B0609020204030204" pitchFamily="49" charset="0"/>
              </a:rPr>
              <a:t>6</a:t>
            </a:r>
            <a:r>
              <a:rPr lang="en-IN" sz="1600" dirty="0">
                <a:solidFill>
                  <a:srgbClr val="D4D4D4"/>
                </a:solidFill>
                <a:latin typeface="Consolas" panose="020B0609020204030204" pitchFamily="49" charset="0"/>
              </a:rPr>
              <a:t>)).</a:t>
            </a:r>
            <a:r>
              <a:rPr lang="en-IN" sz="1600" dirty="0" err="1">
                <a:solidFill>
                  <a:srgbClr val="DCDCAA"/>
                </a:solidFill>
                <a:latin typeface="Consolas" panose="020B0609020204030204" pitchFamily="49" charset="0"/>
              </a:rPr>
              <a:t>toBe</a:t>
            </a:r>
            <a:r>
              <a:rPr lang="en-IN" sz="1600" dirty="0">
                <a:solidFill>
                  <a:srgbClr val="D4D4D4"/>
                </a:solidFill>
                <a:latin typeface="Consolas" panose="020B0609020204030204" pitchFamily="49" charset="0"/>
              </a:rPr>
              <a:t>(</a:t>
            </a:r>
            <a:r>
              <a:rPr lang="en-IN" sz="1600" dirty="0">
                <a:solidFill>
                  <a:srgbClr val="B5CEA8"/>
                </a:solidFill>
                <a:latin typeface="Consolas" panose="020B0609020204030204" pitchFamily="49" charset="0"/>
              </a:rPr>
              <a:t>11</a:t>
            </a:r>
            <a:r>
              <a:rPr lang="en-IN" sz="1600" dirty="0">
                <a:solidFill>
                  <a:srgbClr val="D4D4D4"/>
                </a:solidFill>
                <a:latin typeface="Consolas" panose="020B0609020204030204" pitchFamily="49" charset="0"/>
              </a:rPr>
              <a:t>)</a:t>
            </a:r>
          </a:p>
          <a:p>
            <a:pPr>
              <a:buNone/>
            </a:pPr>
            <a:r>
              <a:rPr lang="en-IN" sz="1600" dirty="0">
                <a:solidFill>
                  <a:srgbClr val="D4D4D4"/>
                </a:solidFill>
                <a:latin typeface="Consolas" panose="020B0609020204030204" pitchFamily="49" charset="0"/>
              </a:rPr>
              <a:t>  });</a:t>
            </a:r>
          </a:p>
          <a:p>
            <a:pPr>
              <a:buNone/>
            </a:pPr>
            <a:r>
              <a:rPr lang="en-IN" sz="1600" dirty="0">
                <a:solidFill>
                  <a:srgbClr val="D4D4D4"/>
                </a:solidFill>
                <a:latin typeface="Consolas" panose="020B0609020204030204" pitchFamily="49" charset="0"/>
              </a:rPr>
              <a:t/>
            </a:r>
            <a:br>
              <a:rPr lang="en-IN" sz="1600" dirty="0">
                <a:solidFill>
                  <a:srgbClr val="D4D4D4"/>
                </a:solidFill>
                <a:latin typeface="Consolas" panose="020B0609020204030204" pitchFamily="49" charset="0"/>
              </a:rPr>
            </a:br>
            <a:r>
              <a:rPr lang="en-IN" sz="1600" dirty="0">
                <a:solidFill>
                  <a:srgbClr val="D4D4D4"/>
                </a:solidFill>
                <a:latin typeface="Consolas" panose="020B0609020204030204" pitchFamily="49" charset="0"/>
              </a:rPr>
              <a:t>  </a:t>
            </a:r>
            <a:r>
              <a:rPr lang="en-IN" sz="1600" dirty="0">
                <a:solidFill>
                  <a:srgbClr val="DCDCAA"/>
                </a:solidFill>
                <a:latin typeface="Consolas" panose="020B0609020204030204" pitchFamily="49" charset="0"/>
              </a:rPr>
              <a:t>it</a:t>
            </a:r>
            <a:r>
              <a:rPr lang="en-IN" sz="1600" dirty="0">
                <a:solidFill>
                  <a:srgbClr val="D4D4D4"/>
                </a:solidFill>
                <a:latin typeface="Consolas" panose="020B0609020204030204" pitchFamily="49" charset="0"/>
              </a:rPr>
              <a:t>(</a:t>
            </a:r>
            <a:r>
              <a:rPr lang="en-IN" sz="1600" dirty="0">
                <a:solidFill>
                  <a:srgbClr val="CE9178"/>
                </a:solidFill>
                <a:latin typeface="Consolas" panose="020B0609020204030204" pitchFamily="49" charset="0"/>
              </a:rPr>
              <a:t>'checking </a:t>
            </a:r>
            <a:r>
              <a:rPr lang="en-IN" sz="1600" dirty="0" err="1">
                <a:solidFill>
                  <a:srgbClr val="CE9178"/>
                </a:solidFill>
                <a:latin typeface="Consolas" panose="020B0609020204030204" pitchFamily="49" charset="0"/>
              </a:rPr>
              <a:t>loginAPI</a:t>
            </a:r>
            <a:r>
              <a:rPr lang="en-IN" sz="1600" dirty="0">
                <a:solidFill>
                  <a:srgbClr val="CE9178"/>
                </a:solidFill>
                <a:latin typeface="Consolas" panose="020B0609020204030204" pitchFamily="49" charset="0"/>
              </a:rPr>
              <a:t>'</a:t>
            </a:r>
            <a:r>
              <a:rPr lang="en-IN" sz="1600" dirty="0">
                <a:solidFill>
                  <a:srgbClr val="D4D4D4"/>
                </a:solidFill>
                <a:latin typeface="Consolas" panose="020B0609020204030204" pitchFamily="49" charset="0"/>
              </a:rPr>
              <a:t>,(</a:t>
            </a:r>
            <a:r>
              <a:rPr lang="en-IN" sz="1600" dirty="0" err="1">
                <a:solidFill>
                  <a:srgbClr val="9CDCFE"/>
                </a:solidFill>
                <a:latin typeface="Consolas" panose="020B0609020204030204" pitchFamily="49" charset="0"/>
              </a:rPr>
              <a:t>done</a:t>
            </a:r>
            <a:r>
              <a:rPr lang="en-IN" sz="1600" dirty="0" err="1">
                <a:solidFill>
                  <a:srgbClr val="D4D4D4"/>
                </a:solidFill>
                <a:latin typeface="Consolas" panose="020B0609020204030204" pitchFamily="49" charset="0"/>
              </a:rPr>
              <a:t>:</a:t>
            </a:r>
            <a:r>
              <a:rPr lang="en-IN" sz="1600" dirty="0" err="1">
                <a:solidFill>
                  <a:srgbClr val="4EC9B0"/>
                </a:solidFill>
                <a:latin typeface="Consolas" panose="020B0609020204030204" pitchFamily="49" charset="0"/>
              </a:rPr>
              <a:t>DoneFn</a:t>
            </a:r>
            <a:r>
              <a:rPr lang="en-IN" sz="1600" dirty="0">
                <a:solidFill>
                  <a:srgbClr val="D4D4D4"/>
                </a:solidFill>
                <a:latin typeface="Consolas" panose="020B0609020204030204" pitchFamily="49" charset="0"/>
              </a:rPr>
              <a:t>)</a:t>
            </a:r>
            <a:r>
              <a:rPr lang="en-IN" sz="1600" dirty="0">
                <a:solidFill>
                  <a:srgbClr val="569CD6"/>
                </a:solidFill>
                <a:latin typeface="Consolas" panose="020B0609020204030204" pitchFamily="49" charset="0"/>
              </a:rPr>
              <a:t>=&gt;</a:t>
            </a:r>
            <a:r>
              <a:rPr lang="en-IN" sz="1600" dirty="0">
                <a:solidFill>
                  <a:srgbClr val="D4D4D4"/>
                </a:solidFill>
                <a:latin typeface="Consolas" panose="020B0609020204030204" pitchFamily="49" charset="0"/>
              </a:rPr>
              <a:t>{</a:t>
            </a:r>
          </a:p>
          <a:p>
            <a:pPr>
              <a:buNone/>
            </a:pPr>
            <a:r>
              <a:rPr lang="en-IN" sz="1600" dirty="0">
                <a:solidFill>
                  <a:srgbClr val="D4D4D4"/>
                </a:solidFill>
                <a:latin typeface="Consolas" panose="020B0609020204030204" pitchFamily="49" charset="0"/>
              </a:rPr>
              <a:t>    </a:t>
            </a:r>
            <a:r>
              <a:rPr lang="en-IN" sz="1600" dirty="0" err="1">
                <a:solidFill>
                  <a:srgbClr val="9CDCFE"/>
                </a:solidFill>
                <a:latin typeface="Consolas" panose="020B0609020204030204" pitchFamily="49" charset="0"/>
              </a:rPr>
              <a:t>service</a:t>
            </a:r>
            <a:r>
              <a:rPr lang="en-IN" sz="1600" dirty="0" err="1">
                <a:solidFill>
                  <a:srgbClr val="D4D4D4"/>
                </a:solidFill>
                <a:latin typeface="Consolas" panose="020B0609020204030204" pitchFamily="49" charset="0"/>
              </a:rPr>
              <a:t>.</a:t>
            </a:r>
            <a:r>
              <a:rPr lang="en-IN" sz="1600" dirty="0" err="1">
                <a:solidFill>
                  <a:srgbClr val="DCDCAA"/>
                </a:solidFill>
                <a:latin typeface="Consolas" panose="020B0609020204030204" pitchFamily="49" charset="0"/>
              </a:rPr>
              <a:t>checkLogin</a:t>
            </a:r>
            <a:r>
              <a:rPr lang="en-IN" sz="1600" dirty="0">
                <a:solidFill>
                  <a:srgbClr val="D4D4D4"/>
                </a:solidFill>
                <a:latin typeface="Consolas" panose="020B0609020204030204" pitchFamily="49" charset="0"/>
              </a:rPr>
              <a:t>({</a:t>
            </a:r>
            <a:r>
              <a:rPr lang="en-IN" sz="1600" dirty="0" err="1">
                <a:solidFill>
                  <a:srgbClr val="9CDCFE"/>
                </a:solidFill>
                <a:latin typeface="Consolas" panose="020B0609020204030204" pitchFamily="49" charset="0"/>
              </a:rPr>
              <a:t>username:</a:t>
            </a:r>
            <a:r>
              <a:rPr lang="en-IN" sz="1600" dirty="0" err="1">
                <a:solidFill>
                  <a:srgbClr val="CE9178"/>
                </a:solidFill>
                <a:latin typeface="Consolas" panose="020B0609020204030204" pitchFamily="49" charset="0"/>
              </a:rPr>
              <a:t>'arjun'</a:t>
            </a:r>
            <a:r>
              <a:rPr lang="en-IN" sz="1600" dirty="0" err="1">
                <a:solidFill>
                  <a:srgbClr val="D4D4D4"/>
                </a:solidFill>
                <a:latin typeface="Consolas" panose="020B0609020204030204" pitchFamily="49" charset="0"/>
              </a:rPr>
              <a:t>,</a:t>
            </a:r>
            <a:r>
              <a:rPr lang="en-IN" sz="1600" dirty="0" err="1">
                <a:solidFill>
                  <a:srgbClr val="9CDCFE"/>
                </a:solidFill>
                <a:latin typeface="Consolas" panose="020B0609020204030204" pitchFamily="49" charset="0"/>
              </a:rPr>
              <a:t>password:</a:t>
            </a:r>
            <a:r>
              <a:rPr lang="en-IN" sz="1600" dirty="0" err="1">
                <a:solidFill>
                  <a:srgbClr val="CE9178"/>
                </a:solidFill>
                <a:latin typeface="Consolas" panose="020B0609020204030204" pitchFamily="49" charset="0"/>
              </a:rPr>
              <a:t>'darshan</a:t>
            </a:r>
            <a:r>
              <a:rPr lang="en-IN" sz="1600" dirty="0">
                <a:solidFill>
                  <a:srgbClr val="CE9178"/>
                </a:solidFill>
                <a:latin typeface="Consolas" panose="020B0609020204030204" pitchFamily="49" charset="0"/>
              </a:rPr>
              <a:t>'</a:t>
            </a:r>
            <a:r>
              <a:rPr lang="en-IN" sz="1600" dirty="0">
                <a:solidFill>
                  <a:srgbClr val="D4D4D4"/>
                </a:solidFill>
                <a:latin typeface="Consolas" panose="020B0609020204030204" pitchFamily="49" charset="0"/>
              </a:rPr>
              <a:t>}).</a:t>
            </a:r>
            <a:r>
              <a:rPr lang="en-IN" sz="1600" dirty="0">
                <a:solidFill>
                  <a:srgbClr val="DCDCAA"/>
                </a:solidFill>
                <a:latin typeface="Consolas" panose="020B0609020204030204" pitchFamily="49" charset="0"/>
              </a:rPr>
              <a:t>subscribe</a:t>
            </a:r>
            <a:r>
              <a:rPr lang="en-IN" sz="1600" dirty="0">
                <a:solidFill>
                  <a:srgbClr val="D4D4D4"/>
                </a:solidFill>
                <a:latin typeface="Consolas" panose="020B0609020204030204" pitchFamily="49" charset="0"/>
              </a:rPr>
              <a:t>((</a:t>
            </a:r>
            <a:r>
              <a:rPr lang="en-IN" sz="1600" dirty="0" err="1">
                <a:solidFill>
                  <a:srgbClr val="9CDCFE"/>
                </a:solidFill>
                <a:latin typeface="Consolas" panose="020B0609020204030204" pitchFamily="49" charset="0"/>
              </a:rPr>
              <a:t>res</a:t>
            </a:r>
            <a:r>
              <a:rPr lang="en-IN" sz="1600" dirty="0" err="1">
                <a:solidFill>
                  <a:srgbClr val="D4D4D4"/>
                </a:solidFill>
                <a:latin typeface="Consolas" panose="020B0609020204030204" pitchFamily="49" charset="0"/>
              </a:rPr>
              <a:t>:</a:t>
            </a:r>
            <a:r>
              <a:rPr lang="en-IN" sz="1600" dirty="0" err="1">
                <a:solidFill>
                  <a:srgbClr val="4EC9B0"/>
                </a:solidFill>
                <a:latin typeface="Consolas" panose="020B0609020204030204" pitchFamily="49" charset="0"/>
              </a:rPr>
              <a:t>any</a:t>
            </a:r>
            <a:r>
              <a:rPr lang="en-IN" sz="1600" dirty="0">
                <a:solidFill>
                  <a:srgbClr val="D4D4D4"/>
                </a:solidFill>
                <a:latin typeface="Consolas" panose="020B0609020204030204" pitchFamily="49" charset="0"/>
              </a:rPr>
              <a:t>)</a:t>
            </a:r>
            <a:r>
              <a:rPr lang="en-IN" sz="1600" dirty="0">
                <a:solidFill>
                  <a:srgbClr val="569CD6"/>
                </a:solidFill>
                <a:latin typeface="Consolas" panose="020B0609020204030204" pitchFamily="49" charset="0"/>
              </a:rPr>
              <a:t>=&gt;</a:t>
            </a:r>
            <a:r>
              <a:rPr lang="en-IN" sz="1600" dirty="0">
                <a:solidFill>
                  <a:srgbClr val="D4D4D4"/>
                </a:solidFill>
                <a:latin typeface="Consolas" panose="020B0609020204030204" pitchFamily="49" charset="0"/>
              </a:rPr>
              <a:t>{</a:t>
            </a:r>
          </a:p>
          <a:p>
            <a:pPr>
              <a:buNone/>
            </a:pPr>
            <a:r>
              <a:rPr lang="en-IN" sz="1600" dirty="0">
                <a:solidFill>
                  <a:srgbClr val="D4D4D4"/>
                </a:solidFill>
                <a:latin typeface="Consolas" panose="020B0609020204030204" pitchFamily="49" charset="0"/>
              </a:rPr>
              <a:t>      </a:t>
            </a:r>
            <a:r>
              <a:rPr lang="en-IN" sz="1600" dirty="0">
                <a:solidFill>
                  <a:srgbClr val="DCDCAA"/>
                </a:solidFill>
                <a:latin typeface="Consolas" panose="020B0609020204030204" pitchFamily="49" charset="0"/>
              </a:rPr>
              <a:t>expect</a:t>
            </a:r>
            <a:r>
              <a:rPr lang="en-IN" sz="1600" dirty="0">
                <a:solidFill>
                  <a:srgbClr val="D4D4D4"/>
                </a:solidFill>
                <a:latin typeface="Consolas" panose="020B0609020204030204" pitchFamily="49" charset="0"/>
              </a:rPr>
              <a:t>(</a:t>
            </a:r>
            <a:r>
              <a:rPr lang="en-IN" sz="1600" dirty="0" err="1">
                <a:solidFill>
                  <a:srgbClr val="9CDCFE"/>
                </a:solidFill>
                <a:latin typeface="Consolas" panose="020B0609020204030204" pitchFamily="49" charset="0"/>
              </a:rPr>
              <a:t>res</a:t>
            </a:r>
            <a:r>
              <a:rPr lang="en-IN" sz="1600" dirty="0" err="1">
                <a:solidFill>
                  <a:srgbClr val="D4D4D4"/>
                </a:solidFill>
                <a:latin typeface="Consolas" panose="020B0609020204030204" pitchFamily="49" charset="0"/>
              </a:rPr>
              <a:t>.</a:t>
            </a:r>
            <a:r>
              <a:rPr lang="en-IN" sz="1600" dirty="0" err="1">
                <a:solidFill>
                  <a:srgbClr val="9CDCFE"/>
                </a:solidFill>
                <a:latin typeface="Consolas" panose="020B0609020204030204" pitchFamily="49" charset="0"/>
              </a:rPr>
              <a:t>isValid</a:t>
            </a:r>
            <a:r>
              <a:rPr lang="en-IN" sz="1600" dirty="0">
                <a:solidFill>
                  <a:srgbClr val="D4D4D4"/>
                </a:solidFill>
                <a:latin typeface="Consolas" panose="020B0609020204030204" pitchFamily="49" charset="0"/>
              </a:rPr>
              <a:t>).</a:t>
            </a:r>
            <a:r>
              <a:rPr lang="en-IN" sz="1600" dirty="0" err="1">
                <a:solidFill>
                  <a:srgbClr val="DCDCAA"/>
                </a:solidFill>
                <a:latin typeface="Consolas" panose="020B0609020204030204" pitchFamily="49" charset="0"/>
              </a:rPr>
              <a:t>toBe</a:t>
            </a:r>
            <a:r>
              <a:rPr lang="en-IN" sz="1600" dirty="0">
                <a:solidFill>
                  <a:srgbClr val="D4D4D4"/>
                </a:solidFill>
                <a:latin typeface="Consolas" panose="020B0609020204030204" pitchFamily="49" charset="0"/>
              </a:rPr>
              <a:t>(</a:t>
            </a:r>
            <a:r>
              <a:rPr lang="en-IN" sz="1600" dirty="0">
                <a:solidFill>
                  <a:srgbClr val="569CD6"/>
                </a:solidFill>
                <a:latin typeface="Consolas" panose="020B0609020204030204" pitchFamily="49" charset="0"/>
              </a:rPr>
              <a:t>true</a:t>
            </a:r>
            <a:r>
              <a:rPr lang="en-IN" sz="1600" dirty="0">
                <a:solidFill>
                  <a:srgbClr val="D4D4D4"/>
                </a:solidFill>
                <a:latin typeface="Consolas" panose="020B0609020204030204" pitchFamily="49" charset="0"/>
              </a:rPr>
              <a:t>)</a:t>
            </a:r>
          </a:p>
          <a:p>
            <a:pPr>
              <a:buNone/>
            </a:pPr>
            <a:r>
              <a:rPr lang="en-IN" sz="1600" dirty="0">
                <a:solidFill>
                  <a:srgbClr val="D4D4D4"/>
                </a:solidFill>
                <a:latin typeface="Consolas" panose="020B0609020204030204" pitchFamily="49" charset="0"/>
              </a:rPr>
              <a:t>      </a:t>
            </a:r>
            <a:r>
              <a:rPr lang="en-IN" sz="1600" dirty="0">
                <a:solidFill>
                  <a:srgbClr val="DCDCAA"/>
                </a:solidFill>
                <a:latin typeface="Consolas" panose="020B0609020204030204" pitchFamily="49" charset="0"/>
              </a:rPr>
              <a:t>done</a:t>
            </a:r>
            <a:r>
              <a:rPr lang="en-IN" sz="1600" dirty="0">
                <a:solidFill>
                  <a:srgbClr val="D4D4D4"/>
                </a:solidFill>
                <a:latin typeface="Consolas" panose="020B0609020204030204" pitchFamily="49" charset="0"/>
              </a:rPr>
              <a:t>();</a:t>
            </a:r>
          </a:p>
          <a:p>
            <a:pPr>
              <a:buNone/>
            </a:pPr>
            <a:r>
              <a:rPr lang="en-IN" sz="1600" dirty="0">
                <a:solidFill>
                  <a:srgbClr val="D4D4D4"/>
                </a:solidFill>
                <a:latin typeface="Consolas" panose="020B0609020204030204" pitchFamily="49" charset="0"/>
              </a:rPr>
              <a:t>    })</a:t>
            </a:r>
          </a:p>
          <a:p>
            <a:r>
              <a:rPr lang="en-IN" sz="1600" dirty="0">
                <a:solidFill>
                  <a:srgbClr val="D4D4D4"/>
                </a:solidFill>
                <a:latin typeface="Consolas" panose="020B0609020204030204" pitchFamily="49" charset="0"/>
              </a:rPr>
              <a:t>  })</a:t>
            </a:r>
          </a:p>
        </p:txBody>
      </p:sp>
      <p:sp>
        <p:nvSpPr>
          <p:cNvPr id="6" name="Rectangle 5">
            <a:extLst>
              <a:ext uri="{FF2B5EF4-FFF2-40B4-BE49-F238E27FC236}">
                <a16:creationId xmlns:a16="http://schemas.microsoft.com/office/drawing/2014/main" id="{5B6C53F7-66CB-8A99-2DF7-F327CE6327D0}"/>
              </a:ext>
            </a:extLst>
          </p:cNvPr>
          <p:cNvSpPr/>
          <p:nvPr/>
        </p:nvSpPr>
        <p:spPr>
          <a:xfrm>
            <a:off x="2507811" y="6063649"/>
            <a:ext cx="1195057" cy="338554"/>
          </a:xfrm>
          <a:prstGeom prst="rect">
            <a:avLst/>
          </a:prstGeom>
          <a:solidFill>
            <a:schemeClr val="tx1"/>
          </a:solidFill>
          <a:ln>
            <a:noFill/>
          </a:ln>
        </p:spPr>
        <p:txBody>
          <a:bodyPr wrap="square">
            <a:spAutoFit/>
          </a:bodyPr>
          <a:lstStyle/>
          <a:p>
            <a:r>
              <a:rPr lang="en-US" sz="1600" dirty="0">
                <a:solidFill>
                  <a:schemeClr val="bg1"/>
                </a:solidFill>
                <a:latin typeface="Consolas" panose="020B0609020204030204" pitchFamily="49" charset="0"/>
              </a:rPr>
              <a:t>ng test</a:t>
            </a:r>
          </a:p>
        </p:txBody>
      </p:sp>
    </p:spTree>
    <p:extLst>
      <p:ext uri="{BB962C8B-B14F-4D97-AF65-F5344CB8AC3E}">
        <p14:creationId xmlns:p14="http://schemas.microsoft.com/office/powerpoint/2010/main" val="3922134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P spid="6" grpId="0" uiExpand="1" build="p"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88E62-C6E4-1BBF-841F-B9E6B2BB4E3A}"/>
              </a:ext>
            </a:extLst>
          </p:cNvPr>
          <p:cNvSpPr>
            <a:spLocks noGrp="1"/>
          </p:cNvSpPr>
          <p:nvPr>
            <p:ph type="title"/>
          </p:nvPr>
        </p:nvSpPr>
        <p:spPr/>
        <p:txBody>
          <a:bodyPr/>
          <a:lstStyle/>
          <a:p>
            <a:r>
              <a:rPr lang="en-IN" dirty="0"/>
              <a:t>Deploying</a:t>
            </a:r>
          </a:p>
        </p:txBody>
      </p:sp>
      <p:sp>
        <p:nvSpPr>
          <p:cNvPr id="3" name="Content Placeholder 2">
            <a:extLst>
              <a:ext uri="{FF2B5EF4-FFF2-40B4-BE49-F238E27FC236}">
                <a16:creationId xmlns:a16="http://schemas.microsoft.com/office/drawing/2014/main" id="{C80312F5-617A-42A1-B376-A08DC4870EC2}"/>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4940981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A9EA252-4498-5320-0ECA-849A4623AFDB}"/>
              </a:ext>
            </a:extLst>
          </p:cNvPr>
          <p:cNvSpPr>
            <a:spLocks noGrp="1"/>
          </p:cNvSpPr>
          <p:nvPr>
            <p:ph type="body" sz="quarter" idx="16"/>
          </p:nvPr>
        </p:nvSpPr>
        <p:spPr/>
        <p:txBody>
          <a:bodyPr/>
          <a:lstStyle/>
          <a:p>
            <a:r>
              <a:rPr lang="en-IN" dirty="0"/>
              <a:t>Angular (Ng)</a:t>
            </a:r>
          </a:p>
          <a:p>
            <a:r>
              <a:rPr lang="en-IN" dirty="0"/>
              <a:t>2301CS411</a:t>
            </a:r>
          </a:p>
        </p:txBody>
      </p:sp>
      <p:pic>
        <p:nvPicPr>
          <p:cNvPr id="8" name="Picture Placeholder 15" descr="09CEAVB_19042019_063947AM.jpg">
            <a:extLst>
              <a:ext uri="{FF2B5EF4-FFF2-40B4-BE49-F238E27FC236}">
                <a16:creationId xmlns:a16="http://schemas.microsoft.com/office/drawing/2014/main" id="{845638CB-0994-0526-3410-549E513BA52A}"/>
              </a:ext>
            </a:extLst>
          </p:cNvPr>
          <p:cNvPicPr>
            <a:picLocks noGrp="1" noChangeAspect="1"/>
          </p:cNvPicPr>
          <p:nvPr>
            <p:ph type="pic" sz="quarter" idx="10"/>
          </p:nvPr>
        </p:nvPicPr>
        <p:blipFill>
          <a:blip r:embed="rId2" cstate="print"/>
          <a:srcRect/>
          <a:stretch>
            <a:fillRect/>
          </a:stretch>
        </p:blipFill>
        <p:spPr>
          <a:xfrm>
            <a:off x="353569" y="5211251"/>
            <a:ext cx="1353599" cy="1353599"/>
          </a:xfrm>
        </p:spPr>
      </p:pic>
      <p:sp>
        <p:nvSpPr>
          <p:cNvPr id="9" name="Text Placeholder 9">
            <a:extLst>
              <a:ext uri="{FF2B5EF4-FFF2-40B4-BE49-F238E27FC236}">
                <a16:creationId xmlns:a16="http://schemas.microsoft.com/office/drawing/2014/main" id="{A6E483B7-D394-7455-B7D1-9F82662781B4}"/>
              </a:ext>
            </a:extLst>
          </p:cNvPr>
          <p:cNvSpPr>
            <a:spLocks noGrp="1"/>
          </p:cNvSpPr>
          <p:nvPr>
            <p:ph type="body" sz="quarter" idx="11"/>
          </p:nvPr>
        </p:nvSpPr>
        <p:spPr>
          <a:xfrm>
            <a:off x="2180943" y="6175935"/>
            <a:ext cx="3735998" cy="290081"/>
          </a:xfrm>
        </p:spPr>
        <p:txBody>
          <a:bodyPr/>
          <a:lstStyle/>
          <a:p>
            <a:r>
              <a:rPr lang="en-IN" dirty="0"/>
              <a:t>arjun.bala@darshan.ac.in</a:t>
            </a:r>
            <a:endParaRPr lang="en-US" dirty="0"/>
          </a:p>
        </p:txBody>
      </p:sp>
      <p:sp>
        <p:nvSpPr>
          <p:cNvPr id="10" name="Text Placeholder 10">
            <a:extLst>
              <a:ext uri="{FF2B5EF4-FFF2-40B4-BE49-F238E27FC236}">
                <a16:creationId xmlns:a16="http://schemas.microsoft.com/office/drawing/2014/main" id="{B7202C09-4A85-C4E7-2D29-F110B89C33EF}"/>
              </a:ext>
            </a:extLst>
          </p:cNvPr>
          <p:cNvSpPr>
            <a:spLocks noGrp="1"/>
          </p:cNvSpPr>
          <p:nvPr>
            <p:ph type="body" sz="quarter" idx="12"/>
          </p:nvPr>
        </p:nvSpPr>
        <p:spPr>
          <a:xfrm>
            <a:off x="2183874" y="6460218"/>
            <a:ext cx="3735998" cy="290081"/>
          </a:xfrm>
        </p:spPr>
        <p:txBody>
          <a:bodyPr/>
          <a:lstStyle/>
          <a:p>
            <a:r>
              <a:rPr lang="en-IN" dirty="0"/>
              <a:t>9624822202</a:t>
            </a:r>
            <a:endParaRPr lang="en-US" dirty="0"/>
          </a:p>
        </p:txBody>
      </p:sp>
      <p:sp>
        <p:nvSpPr>
          <p:cNvPr id="11" name="Text Placeholder 11">
            <a:extLst>
              <a:ext uri="{FF2B5EF4-FFF2-40B4-BE49-F238E27FC236}">
                <a16:creationId xmlns:a16="http://schemas.microsoft.com/office/drawing/2014/main" id="{20FA1C3F-CBCC-A375-85F0-74B024A4B8BA}"/>
              </a:ext>
            </a:extLst>
          </p:cNvPr>
          <p:cNvSpPr>
            <a:spLocks noGrp="1"/>
          </p:cNvSpPr>
          <p:nvPr>
            <p:ph type="body" sz="quarter" idx="13"/>
          </p:nvPr>
        </p:nvSpPr>
        <p:spPr>
          <a:xfrm>
            <a:off x="1837678" y="5537768"/>
            <a:ext cx="3735998" cy="290081"/>
          </a:xfrm>
        </p:spPr>
        <p:txBody>
          <a:bodyPr/>
          <a:lstStyle/>
          <a:p>
            <a:r>
              <a:rPr lang="en-IN" dirty="0"/>
              <a:t>Computer Engineering Department</a:t>
            </a:r>
            <a:endParaRPr lang="en-US" dirty="0"/>
          </a:p>
        </p:txBody>
      </p:sp>
      <p:sp>
        <p:nvSpPr>
          <p:cNvPr id="12" name="Text Placeholder 12">
            <a:extLst>
              <a:ext uri="{FF2B5EF4-FFF2-40B4-BE49-F238E27FC236}">
                <a16:creationId xmlns:a16="http://schemas.microsoft.com/office/drawing/2014/main" id="{B9FF6827-0805-575E-71E8-A64923FC6D23}"/>
              </a:ext>
            </a:extLst>
          </p:cNvPr>
          <p:cNvSpPr>
            <a:spLocks noGrp="1"/>
          </p:cNvSpPr>
          <p:nvPr>
            <p:ph type="body" sz="quarter" idx="14"/>
          </p:nvPr>
        </p:nvSpPr>
        <p:spPr>
          <a:xfrm>
            <a:off x="1837677" y="5273332"/>
            <a:ext cx="5581039" cy="290081"/>
          </a:xfrm>
        </p:spPr>
        <p:txBody>
          <a:bodyPr/>
          <a:lstStyle/>
          <a:p>
            <a:r>
              <a:rPr lang="en-IN" dirty="0"/>
              <a:t>Prof. Arjun V. Bala</a:t>
            </a:r>
            <a:endParaRPr lang="en-US" dirty="0"/>
          </a:p>
        </p:txBody>
      </p:sp>
    </p:spTree>
    <p:extLst>
      <p:ext uri="{BB962C8B-B14F-4D97-AF65-F5344CB8AC3E}">
        <p14:creationId xmlns:p14="http://schemas.microsoft.com/office/powerpoint/2010/main" val="1563795736"/>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8383</TotalTime>
  <Words>2384</Words>
  <Application>Microsoft Office PowerPoint</Application>
  <PresentationFormat>Widescreen</PresentationFormat>
  <Paragraphs>516</Paragraphs>
  <Slides>31</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31</vt:i4>
      </vt:variant>
    </vt:vector>
  </HeadingPairs>
  <TitlesOfParts>
    <vt:vector size="43" baseType="lpstr">
      <vt:lpstr>Wingdings 2</vt:lpstr>
      <vt:lpstr>Segoe UI Black</vt:lpstr>
      <vt:lpstr>Roboto Condensed Light</vt:lpstr>
      <vt:lpstr>Times New Roman</vt:lpstr>
      <vt:lpstr>Wingdings</vt:lpstr>
      <vt:lpstr>Calibri</vt:lpstr>
      <vt:lpstr>Consolas</vt:lpstr>
      <vt:lpstr>Roboto Condensed</vt:lpstr>
      <vt:lpstr>Arial</vt:lpstr>
      <vt:lpstr>Wingdings 3</vt:lpstr>
      <vt:lpstr>Shruti</vt:lpstr>
      <vt:lpstr>Office Theme</vt:lpstr>
      <vt:lpstr>Unit-05  Consuming API in Angular</vt:lpstr>
      <vt:lpstr>PowerPoint Presentation</vt:lpstr>
      <vt:lpstr>Services</vt:lpstr>
      <vt:lpstr>Consuming API</vt:lpstr>
      <vt:lpstr>Steps to consume GetAll API</vt:lpstr>
      <vt:lpstr>Steps to consume GetAll API (Cont. 2/3)</vt:lpstr>
      <vt:lpstr>Steps to consume GetAll API (Cont. 3/3)</vt:lpstr>
      <vt:lpstr>Steps to consume GetByID API</vt:lpstr>
      <vt:lpstr>Steps to consume GetByID API (Cont.)</vt:lpstr>
      <vt:lpstr>Steps to consume delete API</vt:lpstr>
      <vt:lpstr>Steps to consume insert API</vt:lpstr>
      <vt:lpstr>Consuming insert API (Cont. 2/4)</vt:lpstr>
      <vt:lpstr>Steps to consume insert API (Cont. 3/4)</vt:lpstr>
      <vt:lpstr>Steps to consume insert API (Cont. 4/4)</vt:lpstr>
      <vt:lpstr>Steps to consume update API</vt:lpstr>
      <vt:lpstr>Steps to consume update API (Cont. 2/3)</vt:lpstr>
      <vt:lpstr>Steps to consume update API (Cont. 3/3)</vt:lpstr>
      <vt:lpstr>Authentication and Authorization</vt:lpstr>
      <vt:lpstr>Difference between Authentication and Authorization</vt:lpstr>
      <vt:lpstr>JSON Web Tokens (JWT)</vt:lpstr>
      <vt:lpstr>JSON Web Tokens (JWT) (Cont.)</vt:lpstr>
      <vt:lpstr>Route Protection</vt:lpstr>
      <vt:lpstr>Route Protection (Example)</vt:lpstr>
      <vt:lpstr>Best Practices for Creating APIs</vt:lpstr>
      <vt:lpstr>Best Practices for Creating APIs (Cont.)</vt:lpstr>
      <vt:lpstr>Best Practices for Consuming APIs</vt:lpstr>
      <vt:lpstr>Creating API Documentation</vt:lpstr>
      <vt:lpstr>Testing</vt:lpstr>
      <vt:lpstr>Testing (Example)</vt:lpstr>
      <vt:lpstr>Deploying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1022</cp:revision>
  <dcterms:created xsi:type="dcterms:W3CDTF">2020-05-01T05:09:15Z</dcterms:created>
  <dcterms:modified xsi:type="dcterms:W3CDTF">2025-03-15T08:48:56Z</dcterms:modified>
</cp:coreProperties>
</file>