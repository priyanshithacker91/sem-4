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79" r:id="rId4"/>
    <p:sldId id="258" r:id="rId5"/>
    <p:sldId id="327" r:id="rId6"/>
    <p:sldId id="328" r:id="rId7"/>
    <p:sldId id="347" r:id="rId8"/>
    <p:sldId id="348" r:id="rId9"/>
    <p:sldId id="329" r:id="rId10"/>
    <p:sldId id="332" r:id="rId11"/>
    <p:sldId id="349" r:id="rId12"/>
    <p:sldId id="350" r:id="rId13"/>
    <p:sldId id="330" r:id="rId14"/>
    <p:sldId id="331" r:id="rId15"/>
    <p:sldId id="334" r:id="rId16"/>
    <p:sldId id="335" r:id="rId17"/>
    <p:sldId id="333" r:id="rId18"/>
    <p:sldId id="336" r:id="rId19"/>
    <p:sldId id="337" r:id="rId20"/>
    <p:sldId id="338" r:id="rId21"/>
    <p:sldId id="339" r:id="rId22"/>
    <p:sldId id="340" r:id="rId23"/>
    <p:sldId id="341" r:id="rId24"/>
    <p:sldId id="342" r:id="rId25"/>
    <p:sldId id="343" r:id="rId26"/>
    <p:sldId id="344" r:id="rId27"/>
    <p:sldId id="345" r:id="rId28"/>
    <p:sldId id="346" r:id="rId29"/>
    <p:sldId id="305" r:id="rId30"/>
  </p:sldIdLst>
  <p:sldSz cx="12192000" cy="6858000"/>
  <p:notesSz cx="6858000" cy="9144000"/>
  <p:embeddedFontLst>
    <p:embeddedFont>
      <p:font typeface="Calibri" panose="020F0502020204030204" pitchFamily="34" charset="0"/>
      <p:regular r:id="rId32"/>
      <p:bold r:id="rId33"/>
      <p:italic r:id="rId34"/>
      <p:boldItalic r:id="rId35"/>
    </p:embeddedFont>
    <p:embeddedFont>
      <p:font typeface="Consolas" panose="020B0609020204030204" pitchFamily="49" charset="0"/>
      <p:regular r:id="rId36"/>
      <p:bold r:id="rId37"/>
      <p:italic r:id="rId38"/>
      <p:boldItalic r:id="rId39"/>
    </p:embeddedFont>
    <p:embeddedFont>
      <p:font typeface="Roboto Condensed" panose="02000000000000000000" pitchFamily="2" charset="0"/>
      <p:regular r:id="rId40"/>
      <p:bold r:id="rId41"/>
      <p:italic r:id="rId42"/>
      <p:boldItalic r:id="rId43"/>
    </p:embeddedFont>
    <p:embeddedFont>
      <p:font typeface="Wingdings 3" panose="05040102010807070707" pitchFamily="18" charset="2"/>
      <p:regular r:id="rId44"/>
    </p:embeddedFont>
    <p:embeddedFont>
      <p:font typeface="Segoe UI Black" panose="020B0A02040204020203" pitchFamily="34" charset="0"/>
      <p:bold r:id="rId45"/>
      <p:boldItalic r:id="rId46"/>
    </p:embeddedFont>
    <p:embeddedFont>
      <p:font typeface="Wingdings 2" panose="05020102010507070707" pitchFamily="18" charset="2"/>
      <p:regular r:id="rId47"/>
    </p:embeddedFont>
    <p:embeddedFont>
      <p:font typeface="Roboto Condensed Light" panose="02000000000000000000" pitchFamily="2" charset="0"/>
      <p:regular r:id="rId48"/>
      <p: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oUsyz71HM1RxxPAYzvAa7A==" hashData="VTDxhFIvO0CBkMiAdtmbLirM2p6WW5o0idPxV8R3YIAWS3yrRuG2pbdpJUxLd0rbRs1QtNgQJPaNtNzXURQ+3w=="/>
  <p:extLst>
    <p:ext uri="{521415D9-36F7-43E2-AB2F-B90AF26B5E84}">
      <p14:sectionLst xmlns:p14="http://schemas.microsoft.com/office/powerpoint/2010/main">
        <p14:section name="Default Section" id="{00A24A71-64EE-476D-89F0-12470AEC4BD5}">
          <p14:sldIdLst>
            <p14:sldId id="256"/>
            <p14:sldId id="257"/>
          </p14:sldIdLst>
        </p14:section>
        <p14:section name="Directives" id="{1A8522B4-D2B5-4465-B569-D30D08B28498}">
          <p14:sldIdLst>
            <p14:sldId id="279"/>
            <p14:sldId id="258"/>
            <p14:sldId id="327"/>
            <p14:sldId id="328"/>
            <p14:sldId id="347"/>
            <p14:sldId id="348"/>
            <p14:sldId id="329"/>
            <p14:sldId id="332"/>
            <p14:sldId id="349"/>
            <p14:sldId id="350"/>
          </p14:sldIdLst>
        </p14:section>
        <p14:section name="Forms" id="{8C2EFEA6-3364-4572-B98B-8F02F7F0FFC9}">
          <p14:sldIdLst>
            <p14:sldId id="330"/>
            <p14:sldId id="331"/>
            <p14:sldId id="334"/>
            <p14:sldId id="335"/>
            <p14:sldId id="333"/>
            <p14:sldId id="336"/>
            <p14:sldId id="337"/>
            <p14:sldId id="338"/>
            <p14:sldId id="339"/>
            <p14:sldId id="340"/>
            <p14:sldId id="341"/>
            <p14:sldId id="342"/>
            <p14:sldId id="343"/>
            <p14:sldId id="344"/>
            <p14:sldId id="345"/>
            <p14:sldId id="346"/>
          </p14:sldIdLst>
        </p14:section>
        <p14:section name="References" id="{8C6BA42B-E9D7-4C7A-AFDB-DAAB8DC0B8B1}">
          <p14:sldIdLst>
            <p14:sldId id="30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24F"/>
    <a:srgbClr val="301B92"/>
    <a:srgbClr val="673BB7"/>
    <a:srgbClr val="607D8B"/>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96404" autoAdjust="0"/>
  </p:normalViewPr>
  <p:slideViewPr>
    <p:cSldViewPr snapToGrid="0">
      <p:cViewPr varScale="1">
        <p:scale>
          <a:sx n="79" d="100"/>
          <a:sy n="79" d="100"/>
        </p:scale>
        <p:origin x="96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3/15/2025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dirty="0"/>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5.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 V. Bala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–Directives and Forms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 V.</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–Directives and Forms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 V. Bala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–Directives and Forms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hq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V. 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–Directives and Forms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 V. Bala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–Directives and Forms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Arjun V. Bala</a:t>
            </a: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2301CS411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(Ng)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–Directives and Forms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p:nvPr>
        </p:nvSpPr>
        <p:spPr>
          <a:xfrm>
            <a:off x="1828969" y="5563895"/>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endParaRPr lang="en-US" dirty="0"/>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6"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43663646-67F9-47C4-84E3-B4EEDA5FB900}"/>
              </a:ext>
            </a:extLst>
          </p:cNvPr>
          <p:cNvSpPr/>
          <p:nvPr userDrawn="1"/>
        </p:nvSpPr>
        <p:spPr>
          <a:xfrm rot="5400000">
            <a:off x="4309292" y="1717040"/>
            <a:ext cx="3461658" cy="2984188"/>
          </a:xfrm>
          <a:prstGeom prst="hexagon">
            <a:avLst/>
          </a:prstGeom>
          <a:solidFill>
            <a:schemeClr val="bg1">
              <a:lumMod val="95000"/>
            </a:schemeClr>
          </a:solidFill>
          <a:ln w="57150">
            <a:solidFill>
              <a:schemeClr val="accent5">
                <a:lumMod val="60000"/>
                <a:lumOff val="40000"/>
              </a:schemeClr>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a:extLst>
              <a:ext uri="{FF2B5EF4-FFF2-40B4-BE49-F238E27FC236}">
                <a16:creationId xmlns:a16="http://schemas.microsoft.com/office/drawing/2014/main" id="{760958F6-32DB-4A2F-BFC3-1FBEA359C54B}"/>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a:extLst>
              <a:ext uri="{FF2B5EF4-FFF2-40B4-BE49-F238E27FC236}">
                <a16:creationId xmlns:a16="http://schemas.microsoft.com/office/drawing/2014/main" id="{66C323F2-F0D8-4EB7-83AE-DFAA81BC49DE}"/>
              </a:ext>
            </a:extLst>
          </p:cNvPr>
          <p:cNvSpPr/>
          <p:nvPr userDrawn="1"/>
        </p:nvSpPr>
        <p:spPr>
          <a:xfrm rot="10800000">
            <a:off x="7678346" y="2221532"/>
            <a:ext cx="4513654" cy="1951692"/>
          </a:xfrm>
          <a:prstGeom prst="rect">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10800000" scaled="1"/>
            <a:tileRect/>
          </a:gra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212D27AE-1148-4B42-8B61-FEBB2397EFD9}"/>
              </a:ext>
            </a:extLst>
          </p:cNvPr>
          <p:cNvSpPr/>
          <p:nvPr userDrawn="1"/>
        </p:nvSpPr>
        <p:spPr>
          <a:xfrm>
            <a:off x="0" y="2221532"/>
            <a:ext cx="4402106" cy="1951692"/>
          </a:xfrm>
          <a:prstGeom prst="rect">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10800000" scaled="1"/>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 name="Freeform 17">
            <a:extLst>
              <a:ext uri="{FF2B5EF4-FFF2-40B4-BE49-F238E27FC236}">
                <a16:creationId xmlns:a16="http://schemas.microsoft.com/office/drawing/2014/main" id="{1FCFCBE3-069D-31AE-F5AF-89A3BE0E70CE}"/>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endParaRPr lang="en-US" dirty="0"/>
          </a:p>
        </p:txBody>
      </p:sp>
      <p:pic>
        <p:nvPicPr>
          <p:cNvPr id="4" name="Picture 3">
            <a:extLst>
              <a:ext uri="{FF2B5EF4-FFF2-40B4-BE49-F238E27FC236}">
                <a16:creationId xmlns:a16="http://schemas.microsoft.com/office/drawing/2014/main" id="{681847E5-1295-42E9-C2BC-1ADBF93E33FC}"/>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635895" y="573370"/>
            <a:ext cx="2976891" cy="904935"/>
          </a:xfrm>
          <a:prstGeom prst="rect">
            <a:avLst/>
          </a:prstGeom>
        </p:spPr>
      </p:pic>
    </p:spTree>
    <p:extLst>
      <p:ext uri="{BB962C8B-B14F-4D97-AF65-F5344CB8AC3E}">
        <p14:creationId xmlns:p14="http://schemas.microsoft.com/office/powerpoint/2010/main" val="3927910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270888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hq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3/15/2025</a:t>
            </a:fld>
            <a:endParaRPr lang="en-US" dirty="0"/>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dirty="0"/>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92"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arjun.bala@darshan.ac.in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a:t>9624822202</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Computer Engineering Department</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Arjun V. Bala</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dirty="0"/>
              <a:t>Angular (Ng) </a:t>
            </a:r>
          </a:p>
          <a:p>
            <a:r>
              <a:rPr lang="en-IN" dirty="0"/>
              <a:t>(</a:t>
            </a:r>
            <a:r>
              <a:rPr lang="en-US" dirty="0"/>
              <a:t>2301CS411</a:t>
            </a:r>
            <a:r>
              <a:rPr lang="en-IN" dirty="0"/>
              <a:t>)</a:t>
            </a:r>
            <a:endParaRPr lang="en-US" dirty="0"/>
          </a:p>
        </p:txBody>
      </p:sp>
      <p:pic>
        <p:nvPicPr>
          <p:cNvPr id="16" name="Picture Placeholder 15" descr="09CEAVB_19042019_063947AM.jpg"/>
          <p:cNvPicPr>
            <a:picLocks noGrp="1" noChangeAspect="1"/>
          </p:cNvPicPr>
          <p:nvPr>
            <p:ph type="pic" sz="quarter" idx="10"/>
          </p:nvPr>
        </p:nvPicPr>
        <p:blipFill>
          <a:blip r:embed="rId2" cstate="print"/>
          <a:srcRect/>
          <a:stretch>
            <a:fillRect/>
          </a:stretch>
        </p:blipFill>
        <p:spPr/>
      </p:pic>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35300" cy="2578780"/>
          </a:xfrm>
        </p:spPr>
        <p:txBody>
          <a:bodyPr/>
          <a:lstStyle/>
          <a:p>
            <a:r>
              <a:rPr lang="en-US" sz="4800" b="0" dirty="0">
                <a:latin typeface="Roboto Condensed Light" panose="02000000000000000000" pitchFamily="2" charset="0"/>
                <a:ea typeface="Roboto Condensed Light" panose="02000000000000000000" pitchFamily="2" charset="0"/>
              </a:rPr>
              <a:t>Unit-03</a:t>
            </a:r>
            <a:r>
              <a:rPr lang="en-US" dirty="0"/>
              <a:t> </a:t>
            </a:r>
            <a:br>
              <a:rPr lang="en-US" dirty="0"/>
            </a:br>
            <a:r>
              <a:rPr lang="en-US" dirty="0"/>
              <a:t>Directives and Forms</a:t>
            </a:r>
          </a:p>
        </p:txBody>
      </p:sp>
      <p:pic>
        <p:nvPicPr>
          <p:cNvPr id="2056" name="Picture 8" descr="professional-web-design-social-ink-professional-web-design-png-1000_813 -  Norderberg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8716" y="1888402"/>
            <a:ext cx="3763634" cy="3059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9232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4909938" cy="2585323"/>
          </a:xfrm>
          <a:prstGeom prst="rect">
            <a:avLst/>
          </a:prstGeom>
          <a:noFill/>
        </p:spPr>
        <p:txBody>
          <a:bodyPr wrap="square" rtlCol="0">
            <a:spAutoFit/>
          </a:bodyPr>
          <a:lstStyle/>
          <a:p>
            <a:r>
              <a:rPr lang="en-IN" sz="2400" b="1" dirty="0"/>
              <a:t>Outline</a:t>
            </a:r>
            <a:endParaRPr lang="en-US" b="1" dirty="0"/>
          </a:p>
          <a:p>
            <a:endParaRPr lang="en-US" b="1" dirty="0"/>
          </a:p>
          <a:p>
            <a:pPr indent="446088">
              <a:buFont typeface="Wingdings" pitchFamily="2" charset="2"/>
              <a:buChar char="ü"/>
            </a:pPr>
            <a:r>
              <a:rPr lang="en-US" sz="2000" dirty="0"/>
              <a:t>Directives</a:t>
            </a:r>
          </a:p>
          <a:p>
            <a:pPr indent="446088">
              <a:buFont typeface="Wingdings" pitchFamily="2" charset="2"/>
              <a:buChar char="ü"/>
            </a:pPr>
            <a:r>
              <a:rPr lang="en-US" sz="2000" dirty="0"/>
              <a:t>Observable</a:t>
            </a:r>
          </a:p>
          <a:p>
            <a:pPr indent="446088">
              <a:buFont typeface="Wingdings" pitchFamily="2" charset="2"/>
              <a:buChar char="ü"/>
            </a:pPr>
            <a:r>
              <a:rPr lang="en-US" sz="2000" dirty="0"/>
              <a:t>Dependency Injection</a:t>
            </a:r>
          </a:p>
          <a:p>
            <a:pPr indent="446088">
              <a:buFont typeface="Wingdings" pitchFamily="2" charset="2"/>
              <a:buChar char="ü"/>
            </a:pPr>
            <a:r>
              <a:rPr lang="en-US" sz="2000" dirty="0"/>
              <a:t>Forms</a:t>
            </a:r>
          </a:p>
          <a:p>
            <a:pPr lvl="1" indent="446088">
              <a:buFont typeface="Wingdings" pitchFamily="2" charset="2"/>
              <a:buChar char="ü"/>
            </a:pPr>
            <a:r>
              <a:rPr lang="en-US" sz="2000" dirty="0"/>
              <a:t>Template Driven Forms</a:t>
            </a:r>
          </a:p>
          <a:p>
            <a:pPr lvl="1" indent="446088">
              <a:buFont typeface="Wingdings" pitchFamily="2" charset="2"/>
              <a:buChar char="ü"/>
            </a:pPr>
            <a:r>
              <a:rPr lang="en-US" sz="2000" dirty="0"/>
              <a:t>Reactive Forms</a:t>
            </a:r>
          </a:p>
        </p:txBody>
      </p:sp>
    </p:spTree>
    <p:extLst>
      <p:ext uri="{BB962C8B-B14F-4D97-AF65-F5344CB8AC3E}">
        <p14:creationId xmlns:p14="http://schemas.microsoft.com/office/powerpoint/2010/main" val="182151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5C219-CD48-DDDE-56E7-5583DE7BB093}"/>
              </a:ext>
            </a:extLst>
          </p:cNvPr>
          <p:cNvSpPr>
            <a:spLocks noGrp="1"/>
          </p:cNvSpPr>
          <p:nvPr>
            <p:ph type="title"/>
          </p:nvPr>
        </p:nvSpPr>
        <p:spPr/>
        <p:txBody>
          <a:bodyPr/>
          <a:lstStyle/>
          <a:p>
            <a:r>
              <a:rPr lang="en-IN" dirty="0"/>
              <a:t>Directives</a:t>
            </a:r>
          </a:p>
        </p:txBody>
      </p:sp>
      <p:sp>
        <p:nvSpPr>
          <p:cNvPr id="3" name="Text Placeholder 2">
            <a:extLst>
              <a:ext uri="{FF2B5EF4-FFF2-40B4-BE49-F238E27FC236}">
                <a16:creationId xmlns:a16="http://schemas.microsoft.com/office/drawing/2014/main" id="{B1FE0302-43CE-C8D1-A18D-525E2A1BF555}"/>
              </a:ext>
            </a:extLst>
          </p:cNvPr>
          <p:cNvSpPr>
            <a:spLocks noGrp="1"/>
          </p:cNvSpPr>
          <p:nvPr>
            <p:ph type="body" idx="1"/>
          </p:nvPr>
        </p:nvSpPr>
        <p:spPr/>
        <p:txBody>
          <a:bodyPr/>
          <a:lstStyle/>
          <a:p>
            <a:r>
              <a:rPr lang="en-IN" dirty="0"/>
              <a:t>Section - 01</a:t>
            </a:r>
          </a:p>
        </p:txBody>
      </p:sp>
    </p:spTree>
    <p:extLst>
      <p:ext uri="{BB962C8B-B14F-4D97-AF65-F5344CB8AC3E}">
        <p14:creationId xmlns:p14="http://schemas.microsoft.com/office/powerpoint/2010/main" val="728528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Directives</a:t>
            </a:r>
            <a:endParaRPr lang="en-US" dirty="0"/>
          </a:p>
        </p:txBody>
      </p:sp>
      <p:sp>
        <p:nvSpPr>
          <p:cNvPr id="3" name="Content Placeholder 2"/>
          <p:cNvSpPr>
            <a:spLocks noGrp="1"/>
          </p:cNvSpPr>
          <p:nvPr>
            <p:ph idx="1"/>
          </p:nvPr>
        </p:nvSpPr>
        <p:spPr>
          <a:xfrm>
            <a:off x="131180" y="863444"/>
            <a:ext cx="11828448" cy="5590565"/>
          </a:xfrm>
        </p:spPr>
        <p:txBody>
          <a:bodyPr/>
          <a:lstStyle/>
          <a:p>
            <a:r>
              <a:rPr lang="en-GB" dirty="0"/>
              <a:t>Directives are classes that add additional behaviour to elements in your Angular applications.</a:t>
            </a:r>
          </a:p>
          <a:p>
            <a:r>
              <a:rPr lang="en-GB" dirty="0"/>
              <a:t>Directives are markers in the Document Object Model(DOM). </a:t>
            </a:r>
          </a:p>
          <a:p>
            <a:r>
              <a:rPr lang="en-GB" dirty="0"/>
              <a:t>Directives can be used with any controller or HTML tag which will tell the compiler what exact operation or behaviour is expected. </a:t>
            </a:r>
          </a:p>
          <a:p>
            <a:r>
              <a:rPr lang="en-GB" dirty="0"/>
              <a:t>There are some directives present that are predefined but if a developer wants, they can create new directives (custom-directive).</a:t>
            </a:r>
          </a:p>
          <a:p>
            <a:r>
              <a:rPr lang="en-GB" dirty="0"/>
              <a:t>Types of Directives</a:t>
            </a:r>
          </a:p>
          <a:p>
            <a:pPr lvl="1"/>
            <a:r>
              <a:rPr lang="en-GB" dirty="0"/>
              <a:t>Component Directives:</a:t>
            </a:r>
          </a:p>
          <a:p>
            <a:pPr marL="914400" lvl="2" indent="0">
              <a:buNone/>
            </a:pPr>
            <a:r>
              <a:rPr lang="en-GB" dirty="0"/>
              <a:t>Components are directives with templates. They are the building blocks of Angular applications, encapsulating both the UI (User Interface) and the behaviour of a part of the application.</a:t>
            </a:r>
          </a:p>
          <a:p>
            <a:pPr lvl="1"/>
            <a:r>
              <a:rPr lang="en-GB" dirty="0"/>
              <a:t>Attribute Directives : </a:t>
            </a:r>
          </a:p>
          <a:p>
            <a:pPr marL="914400" lvl="2" indent="0">
              <a:buNone/>
            </a:pPr>
            <a:r>
              <a:rPr lang="en-GB" dirty="0"/>
              <a:t>Change the appearance or behaviour of an element, component, or another directive.</a:t>
            </a:r>
          </a:p>
          <a:p>
            <a:pPr lvl="1"/>
            <a:r>
              <a:rPr lang="en-GB" dirty="0"/>
              <a:t>Structural Directives : </a:t>
            </a:r>
          </a:p>
          <a:p>
            <a:pPr marL="914400" lvl="2" indent="0">
              <a:buNone/>
            </a:pPr>
            <a:r>
              <a:rPr lang="en-GB" dirty="0"/>
              <a:t>Change the DOM layout by adding and removing DOM elements.</a:t>
            </a:r>
          </a:p>
          <a:p>
            <a:pPr lvl="1"/>
            <a:endParaRPr lang="en-US" dirty="0"/>
          </a:p>
        </p:txBody>
      </p:sp>
    </p:spTree>
    <p:extLst>
      <p:ext uri="{BB962C8B-B14F-4D97-AF65-F5344CB8AC3E}">
        <p14:creationId xmlns:p14="http://schemas.microsoft.com/office/powerpoint/2010/main" val="1303245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FF7E-B555-8A1E-B383-55F7A7FBC308}"/>
              </a:ext>
            </a:extLst>
          </p:cNvPr>
          <p:cNvSpPr>
            <a:spLocks noGrp="1"/>
          </p:cNvSpPr>
          <p:nvPr>
            <p:ph type="title"/>
          </p:nvPr>
        </p:nvSpPr>
        <p:spPr/>
        <p:txBody>
          <a:bodyPr/>
          <a:lstStyle/>
          <a:p>
            <a:r>
              <a:rPr lang="en-GB" dirty="0"/>
              <a:t>Attribute directives</a:t>
            </a:r>
            <a:endParaRPr lang="en-IN" dirty="0"/>
          </a:p>
        </p:txBody>
      </p:sp>
      <p:sp>
        <p:nvSpPr>
          <p:cNvPr id="3" name="Content Placeholder 2">
            <a:extLst>
              <a:ext uri="{FF2B5EF4-FFF2-40B4-BE49-F238E27FC236}">
                <a16:creationId xmlns:a16="http://schemas.microsoft.com/office/drawing/2014/main" id="{B41604A3-2DF0-AA59-0AE4-ABCCCE4F2018}"/>
              </a:ext>
            </a:extLst>
          </p:cNvPr>
          <p:cNvSpPr>
            <a:spLocks noGrp="1"/>
          </p:cNvSpPr>
          <p:nvPr>
            <p:ph idx="1"/>
          </p:nvPr>
        </p:nvSpPr>
        <p:spPr/>
        <p:txBody>
          <a:bodyPr/>
          <a:lstStyle/>
          <a:p>
            <a:r>
              <a:rPr lang="en-GB" dirty="0"/>
              <a:t>Attribute directives listen to and modify the behaviour of other HTML elements, attributes, properties, and components.</a:t>
            </a:r>
          </a:p>
          <a:p>
            <a:r>
              <a:rPr lang="en-GB" dirty="0"/>
              <a:t>Attribute directives change the appearance or </a:t>
            </a:r>
            <a:r>
              <a:rPr lang="en-GB" dirty="0" err="1"/>
              <a:t>behavior</a:t>
            </a:r>
            <a:r>
              <a:rPr lang="en-GB" dirty="0"/>
              <a:t> of DOM elements or components. It is used just like a normal HTML attribute. </a:t>
            </a:r>
          </a:p>
          <a:p>
            <a:r>
              <a:rPr lang="en-GB" dirty="0"/>
              <a:t>However, the directive should be enclosed within square brackets [ ] to bind it to the element.</a:t>
            </a:r>
          </a:p>
          <a:p>
            <a:r>
              <a:rPr lang="en-GB" dirty="0"/>
              <a:t>The most common built-in attribute directives are as follows:</a:t>
            </a:r>
          </a:p>
          <a:p>
            <a:pPr marL="0" indent="0">
              <a:buNone/>
            </a:pPr>
            <a:endParaRPr lang="en-IN" dirty="0"/>
          </a:p>
        </p:txBody>
      </p:sp>
      <p:graphicFrame>
        <p:nvGraphicFramePr>
          <p:cNvPr id="4" name="Table 3">
            <a:extLst>
              <a:ext uri="{FF2B5EF4-FFF2-40B4-BE49-F238E27FC236}">
                <a16:creationId xmlns:a16="http://schemas.microsoft.com/office/drawing/2014/main" id="{39DD4AB8-24C3-F3F4-6A49-6091C5944B66}"/>
              </a:ext>
            </a:extLst>
          </p:cNvPr>
          <p:cNvGraphicFramePr>
            <a:graphicFrameLocks noGrp="1"/>
          </p:cNvGraphicFramePr>
          <p:nvPr>
            <p:extLst>
              <p:ext uri="{D42A27DB-BD31-4B8C-83A1-F6EECF244321}">
                <p14:modId xmlns:p14="http://schemas.microsoft.com/office/powerpoint/2010/main" val="3044518837"/>
              </p:ext>
            </p:extLst>
          </p:nvPr>
        </p:nvGraphicFramePr>
        <p:xfrm>
          <a:off x="480336" y="3429000"/>
          <a:ext cx="11231328" cy="1747520"/>
        </p:xfrm>
        <a:graphic>
          <a:graphicData uri="http://schemas.openxmlformats.org/drawingml/2006/table">
            <a:tbl>
              <a:tblPr firstRow="1" bandRow="1">
                <a:tableStyleId>{5C22544A-7EE6-4342-B048-85BDC9FD1C3A}</a:tableStyleId>
              </a:tblPr>
              <a:tblGrid>
                <a:gridCol w="2023952">
                  <a:extLst>
                    <a:ext uri="{9D8B030D-6E8A-4147-A177-3AD203B41FA5}">
                      <a16:colId xmlns:a16="http://schemas.microsoft.com/office/drawing/2014/main" val="3913738122"/>
                    </a:ext>
                  </a:extLst>
                </a:gridCol>
                <a:gridCol w="4101220">
                  <a:extLst>
                    <a:ext uri="{9D8B030D-6E8A-4147-A177-3AD203B41FA5}">
                      <a16:colId xmlns:a16="http://schemas.microsoft.com/office/drawing/2014/main" val="3025962033"/>
                    </a:ext>
                  </a:extLst>
                </a:gridCol>
                <a:gridCol w="5106156">
                  <a:extLst>
                    <a:ext uri="{9D8B030D-6E8A-4147-A177-3AD203B41FA5}">
                      <a16:colId xmlns:a16="http://schemas.microsoft.com/office/drawing/2014/main" val="850041036"/>
                    </a:ext>
                  </a:extLst>
                </a:gridCol>
              </a:tblGrid>
              <a:tr h="0">
                <a:tc>
                  <a:txBody>
                    <a:bodyPr/>
                    <a:lstStyle/>
                    <a:p>
                      <a:r>
                        <a:rPr lang="en-IN" dirty="0"/>
                        <a:t>Attribute Directive</a:t>
                      </a:r>
                    </a:p>
                  </a:txBody>
                  <a:tcPr/>
                </a:tc>
                <a:tc>
                  <a:txBody>
                    <a:bodyPr/>
                    <a:lstStyle/>
                    <a:p>
                      <a:r>
                        <a:rPr lang="en-IN" dirty="0"/>
                        <a:t>Description</a:t>
                      </a:r>
                    </a:p>
                  </a:txBody>
                  <a:tcPr/>
                </a:tc>
                <a:tc>
                  <a:txBody>
                    <a:bodyPr/>
                    <a:lstStyle/>
                    <a:p>
                      <a:r>
                        <a:rPr lang="en-IN" dirty="0"/>
                        <a:t>Example</a:t>
                      </a:r>
                    </a:p>
                  </a:txBody>
                  <a:tcPr/>
                </a:tc>
                <a:extLst>
                  <a:ext uri="{0D108BD9-81ED-4DB2-BD59-A6C34878D82A}">
                    <a16:rowId xmlns:a16="http://schemas.microsoft.com/office/drawing/2014/main" val="3937465477"/>
                  </a:ext>
                </a:extLst>
              </a:tr>
              <a:tr h="370840">
                <a:tc>
                  <a:txBody>
                    <a:bodyPr/>
                    <a:lstStyle/>
                    <a:p>
                      <a:r>
                        <a:rPr lang="en-IN" dirty="0" err="1"/>
                        <a:t>NgClass</a:t>
                      </a:r>
                      <a:endParaRPr lang="en-IN" dirty="0"/>
                    </a:p>
                  </a:txBody>
                  <a:tcPr/>
                </a:tc>
                <a:tc>
                  <a:txBody>
                    <a:bodyPr/>
                    <a:lstStyle/>
                    <a:p>
                      <a:r>
                        <a:rPr lang="en-GB" dirty="0"/>
                        <a:t>Adds and removes a set of CSS classes.</a:t>
                      </a:r>
                      <a:endParaRPr lang="en-IN" dirty="0"/>
                    </a:p>
                  </a:txBody>
                  <a:tcPr/>
                </a:tc>
                <a:tc>
                  <a:txBody>
                    <a:bodyPr/>
                    <a:lstStyle/>
                    <a:p>
                      <a:r>
                        <a:rPr lang="en-IN" dirty="0"/>
                        <a:t>[</a:t>
                      </a:r>
                      <a:r>
                        <a:rPr lang="en-IN" dirty="0" err="1"/>
                        <a:t>ngStyle</a:t>
                      </a:r>
                      <a:r>
                        <a:rPr lang="en-IN" dirty="0"/>
                        <a:t>]="{'</a:t>
                      </a:r>
                      <a:r>
                        <a:rPr lang="en-IN" dirty="0" err="1"/>
                        <a:t>color</a:t>
                      </a:r>
                      <a:r>
                        <a:rPr lang="en-IN" dirty="0"/>
                        <a:t>': 'blue', 'font-size': '14px'}"</a:t>
                      </a:r>
                    </a:p>
                  </a:txBody>
                  <a:tcPr/>
                </a:tc>
                <a:extLst>
                  <a:ext uri="{0D108BD9-81ED-4DB2-BD59-A6C34878D82A}">
                    <a16:rowId xmlns:a16="http://schemas.microsoft.com/office/drawing/2014/main" val="3734768643"/>
                  </a:ext>
                </a:extLst>
              </a:tr>
              <a:tr h="370840">
                <a:tc>
                  <a:txBody>
                    <a:bodyPr/>
                    <a:lstStyle/>
                    <a:p>
                      <a:r>
                        <a:rPr lang="en-IN" dirty="0" err="1"/>
                        <a:t>NgStyle</a:t>
                      </a:r>
                      <a:endParaRPr lang="en-IN" dirty="0"/>
                    </a:p>
                  </a:txBody>
                  <a:tcPr/>
                </a:tc>
                <a:tc>
                  <a:txBody>
                    <a:bodyPr/>
                    <a:lstStyle/>
                    <a:p>
                      <a:r>
                        <a:rPr lang="en-GB"/>
                        <a:t>Adds </a:t>
                      </a:r>
                      <a:r>
                        <a:rPr lang="en-GB" dirty="0"/>
                        <a:t>and removes a set of HTML styles.</a:t>
                      </a:r>
                      <a:endParaRPr lang="en-IN" dirty="0"/>
                    </a:p>
                  </a:txBody>
                  <a:tcPr/>
                </a:tc>
                <a:tc>
                  <a:txBody>
                    <a:bodyPr/>
                    <a:lstStyle/>
                    <a:p>
                      <a:r>
                        <a:rPr lang="en-IN" dirty="0"/>
                        <a:t>[</a:t>
                      </a:r>
                      <a:r>
                        <a:rPr lang="en-IN" dirty="0" err="1"/>
                        <a:t>ngClass</a:t>
                      </a:r>
                      <a:r>
                        <a:rPr lang="en-IN" dirty="0"/>
                        <a:t>] = "dark"</a:t>
                      </a:r>
                    </a:p>
                  </a:txBody>
                  <a:tcPr/>
                </a:tc>
                <a:extLst>
                  <a:ext uri="{0D108BD9-81ED-4DB2-BD59-A6C34878D82A}">
                    <a16:rowId xmlns:a16="http://schemas.microsoft.com/office/drawing/2014/main" val="2227551373"/>
                  </a:ext>
                </a:extLst>
              </a:tr>
              <a:tr h="370840">
                <a:tc>
                  <a:txBody>
                    <a:bodyPr/>
                    <a:lstStyle/>
                    <a:p>
                      <a:r>
                        <a:rPr lang="en-IN" dirty="0" err="1"/>
                        <a:t>NgModel</a:t>
                      </a:r>
                      <a:endParaRPr lang="en-IN" dirty="0"/>
                    </a:p>
                  </a:txBody>
                  <a:tcPr/>
                </a:tc>
                <a:tc>
                  <a:txBody>
                    <a:bodyPr/>
                    <a:lstStyle/>
                    <a:p>
                      <a:r>
                        <a:rPr lang="en-GB" dirty="0"/>
                        <a:t>Adds two-way data binding to an HTML form element.</a:t>
                      </a:r>
                      <a:endParaRPr lang="en-IN" dirty="0"/>
                    </a:p>
                  </a:txBody>
                  <a:tcPr/>
                </a:tc>
                <a:tc>
                  <a:txBody>
                    <a:bodyPr/>
                    <a:lstStyle/>
                    <a:p>
                      <a:r>
                        <a:rPr lang="en-IN" dirty="0"/>
                        <a:t>[(</a:t>
                      </a:r>
                      <a:r>
                        <a:rPr lang="en-IN" dirty="0" err="1"/>
                        <a:t>ngModel</a:t>
                      </a:r>
                      <a:r>
                        <a:rPr lang="en-IN" dirty="0"/>
                        <a:t>)]="</a:t>
                      </a:r>
                      <a:r>
                        <a:rPr lang="en-IN" dirty="0" err="1"/>
                        <a:t>user.username</a:t>
                      </a:r>
                      <a:r>
                        <a:rPr lang="en-IN" dirty="0"/>
                        <a:t>"</a:t>
                      </a:r>
                    </a:p>
                  </a:txBody>
                  <a:tcPr/>
                </a:tc>
                <a:extLst>
                  <a:ext uri="{0D108BD9-81ED-4DB2-BD59-A6C34878D82A}">
                    <a16:rowId xmlns:a16="http://schemas.microsoft.com/office/drawing/2014/main" val="2975836134"/>
                  </a:ext>
                </a:extLst>
              </a:tr>
            </a:tbl>
          </a:graphicData>
        </a:graphic>
      </p:graphicFrame>
    </p:spTree>
    <p:extLst>
      <p:ext uri="{BB962C8B-B14F-4D97-AF65-F5344CB8AC3E}">
        <p14:creationId xmlns:p14="http://schemas.microsoft.com/office/powerpoint/2010/main" val="45461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CF32F-ED91-F2E9-ADC6-4717559DD470}"/>
              </a:ext>
            </a:extLst>
          </p:cNvPr>
          <p:cNvSpPr>
            <a:spLocks noGrp="1"/>
          </p:cNvSpPr>
          <p:nvPr>
            <p:ph type="title"/>
          </p:nvPr>
        </p:nvSpPr>
        <p:spPr/>
        <p:txBody>
          <a:bodyPr/>
          <a:lstStyle/>
          <a:p>
            <a:r>
              <a:rPr lang="en-GB" dirty="0"/>
              <a:t>Structural Directives</a:t>
            </a:r>
            <a:endParaRPr lang="en-IN" dirty="0"/>
          </a:p>
        </p:txBody>
      </p:sp>
      <p:sp>
        <p:nvSpPr>
          <p:cNvPr id="3" name="Content Placeholder 2">
            <a:extLst>
              <a:ext uri="{FF2B5EF4-FFF2-40B4-BE49-F238E27FC236}">
                <a16:creationId xmlns:a16="http://schemas.microsoft.com/office/drawing/2014/main" id="{65F71A0F-09CA-6EBB-A794-A93F10814AB4}"/>
              </a:ext>
            </a:extLst>
          </p:cNvPr>
          <p:cNvSpPr>
            <a:spLocks noGrp="1"/>
          </p:cNvSpPr>
          <p:nvPr>
            <p:ph idx="1"/>
          </p:nvPr>
        </p:nvSpPr>
        <p:spPr/>
        <p:txBody>
          <a:bodyPr/>
          <a:lstStyle/>
          <a:p>
            <a:r>
              <a:rPr lang="en-GB" dirty="0"/>
              <a:t>Structural directives change the structure of DOM by adding or removing elements at runtime. </a:t>
            </a:r>
          </a:p>
          <a:p>
            <a:r>
              <a:rPr lang="en-GB" dirty="0"/>
              <a:t>This type of Angular Directive is used to show or hide elements based on user authentication, render dynamic lists from APIs, or create interfaces like tabs and accordions that change based on user actions.</a:t>
            </a:r>
          </a:p>
          <a:p>
            <a:r>
              <a:rPr lang="en-GB" dirty="0"/>
              <a:t>The structural directives are applied to elements by prefixing the directive name with an asterisk (*) symbol. </a:t>
            </a:r>
          </a:p>
          <a:p>
            <a:r>
              <a:rPr lang="en-GB" dirty="0"/>
              <a:t>To use these directives in your angular application, importing </a:t>
            </a:r>
            <a:r>
              <a:rPr lang="en-GB" dirty="0" err="1"/>
              <a:t>CommonModule</a:t>
            </a:r>
            <a:r>
              <a:rPr lang="en-GB" dirty="0"/>
              <a:t> is necessary as they are part of this module.</a:t>
            </a:r>
          </a:p>
          <a:p>
            <a:r>
              <a:rPr lang="en-GB" dirty="0"/>
              <a:t>The most common built-in structural directives are as follows:</a:t>
            </a:r>
          </a:p>
          <a:p>
            <a:endParaRPr lang="en-IN" dirty="0"/>
          </a:p>
        </p:txBody>
      </p:sp>
      <p:graphicFrame>
        <p:nvGraphicFramePr>
          <p:cNvPr id="4" name="Table 3">
            <a:extLst>
              <a:ext uri="{FF2B5EF4-FFF2-40B4-BE49-F238E27FC236}">
                <a16:creationId xmlns:a16="http://schemas.microsoft.com/office/drawing/2014/main" id="{4275E274-0087-0168-8EFB-DF6EBECC459C}"/>
              </a:ext>
            </a:extLst>
          </p:cNvPr>
          <p:cNvGraphicFramePr>
            <a:graphicFrameLocks noGrp="1"/>
          </p:cNvGraphicFramePr>
          <p:nvPr>
            <p:extLst>
              <p:ext uri="{D42A27DB-BD31-4B8C-83A1-F6EECF244321}">
                <p14:modId xmlns:p14="http://schemas.microsoft.com/office/powerpoint/2010/main" val="1380810877"/>
              </p:ext>
            </p:extLst>
          </p:nvPr>
        </p:nvGraphicFramePr>
        <p:xfrm>
          <a:off x="480335" y="4361507"/>
          <a:ext cx="11117153" cy="1747520"/>
        </p:xfrm>
        <a:graphic>
          <a:graphicData uri="http://schemas.openxmlformats.org/drawingml/2006/table">
            <a:tbl>
              <a:tblPr firstRow="1" bandRow="1">
                <a:tableStyleId>{5C22544A-7EE6-4342-B048-85BDC9FD1C3A}</a:tableStyleId>
              </a:tblPr>
              <a:tblGrid>
                <a:gridCol w="1330358">
                  <a:extLst>
                    <a:ext uri="{9D8B030D-6E8A-4147-A177-3AD203B41FA5}">
                      <a16:colId xmlns:a16="http://schemas.microsoft.com/office/drawing/2014/main" val="3913738122"/>
                    </a:ext>
                  </a:extLst>
                </a:gridCol>
                <a:gridCol w="9786795">
                  <a:extLst>
                    <a:ext uri="{9D8B030D-6E8A-4147-A177-3AD203B41FA5}">
                      <a16:colId xmlns:a16="http://schemas.microsoft.com/office/drawing/2014/main" val="3025962033"/>
                    </a:ext>
                  </a:extLst>
                </a:gridCol>
              </a:tblGrid>
              <a:tr h="0">
                <a:tc>
                  <a:txBody>
                    <a:bodyPr/>
                    <a:lstStyle/>
                    <a:p>
                      <a:r>
                        <a:rPr lang="en-IN" dirty="0"/>
                        <a:t>Directive</a:t>
                      </a:r>
                    </a:p>
                  </a:txBody>
                  <a:tcPr/>
                </a:tc>
                <a:tc>
                  <a:txBody>
                    <a:bodyPr/>
                    <a:lstStyle/>
                    <a:p>
                      <a:r>
                        <a:rPr lang="en-IN" dirty="0"/>
                        <a:t>Description</a:t>
                      </a:r>
                    </a:p>
                  </a:txBody>
                  <a:tcPr/>
                </a:tc>
                <a:extLst>
                  <a:ext uri="{0D108BD9-81ED-4DB2-BD59-A6C34878D82A}">
                    <a16:rowId xmlns:a16="http://schemas.microsoft.com/office/drawing/2014/main" val="3937465477"/>
                  </a:ext>
                </a:extLst>
              </a:tr>
              <a:tr h="370840">
                <a:tc>
                  <a:txBody>
                    <a:bodyPr/>
                    <a:lstStyle/>
                    <a:p>
                      <a:r>
                        <a:rPr lang="en-IN" dirty="0" err="1"/>
                        <a:t>ngIf</a:t>
                      </a:r>
                      <a:endParaRPr lang="en-IN" dirty="0"/>
                    </a:p>
                  </a:txBody>
                  <a:tcPr/>
                </a:tc>
                <a:tc>
                  <a:txBody>
                    <a:bodyPr/>
                    <a:lstStyle/>
                    <a:p>
                      <a:r>
                        <a:rPr lang="en-GB" dirty="0"/>
                        <a:t>This directive is used to display or hide data in your application. When the given condition becomes TRUE, it will display the data, otherwise, it will not.</a:t>
                      </a:r>
                      <a:endParaRPr lang="en-IN" dirty="0"/>
                    </a:p>
                  </a:txBody>
                  <a:tcPr/>
                </a:tc>
                <a:extLst>
                  <a:ext uri="{0D108BD9-81ED-4DB2-BD59-A6C34878D82A}">
                    <a16:rowId xmlns:a16="http://schemas.microsoft.com/office/drawing/2014/main" val="3734768643"/>
                  </a:ext>
                </a:extLst>
              </a:tr>
              <a:tr h="370840">
                <a:tc>
                  <a:txBody>
                    <a:bodyPr/>
                    <a:lstStyle/>
                    <a:p>
                      <a:r>
                        <a:rPr lang="en-IN" dirty="0" err="1"/>
                        <a:t>ngFor</a:t>
                      </a:r>
                      <a:endParaRPr lang="en-IN" dirty="0"/>
                    </a:p>
                  </a:txBody>
                  <a:tcPr/>
                </a:tc>
                <a:tc>
                  <a:txBody>
                    <a:bodyPr/>
                    <a:lstStyle/>
                    <a:p>
                      <a:r>
                        <a:rPr lang="en-GB" dirty="0" err="1"/>
                        <a:t>ngFor</a:t>
                      </a:r>
                      <a:r>
                        <a:rPr lang="en-GB" dirty="0"/>
                        <a:t> is used to repeat a portion of elements from the given list of items.</a:t>
                      </a:r>
                      <a:endParaRPr lang="en-IN" dirty="0"/>
                    </a:p>
                  </a:txBody>
                  <a:tcPr/>
                </a:tc>
                <a:extLst>
                  <a:ext uri="{0D108BD9-81ED-4DB2-BD59-A6C34878D82A}">
                    <a16:rowId xmlns:a16="http://schemas.microsoft.com/office/drawing/2014/main" val="2227551373"/>
                  </a:ext>
                </a:extLst>
              </a:tr>
              <a:tr h="370840">
                <a:tc>
                  <a:txBody>
                    <a:bodyPr/>
                    <a:lstStyle/>
                    <a:p>
                      <a:r>
                        <a:rPr lang="en-IN" dirty="0" err="1"/>
                        <a:t>ngSwitch</a:t>
                      </a:r>
                      <a:endParaRPr lang="en-IN" dirty="0"/>
                    </a:p>
                  </a:txBody>
                  <a:tcPr/>
                </a:tc>
                <a:tc>
                  <a:txBody>
                    <a:bodyPr/>
                    <a:lstStyle/>
                    <a:p>
                      <a:r>
                        <a:rPr lang="en-GB" dirty="0"/>
                        <a:t>It checks multiple conditions.</a:t>
                      </a:r>
                      <a:endParaRPr lang="en-IN" dirty="0"/>
                    </a:p>
                  </a:txBody>
                  <a:tcPr/>
                </a:tc>
                <a:extLst>
                  <a:ext uri="{0D108BD9-81ED-4DB2-BD59-A6C34878D82A}">
                    <a16:rowId xmlns:a16="http://schemas.microsoft.com/office/drawing/2014/main" val="2975836134"/>
                  </a:ext>
                </a:extLst>
              </a:tr>
            </a:tbl>
          </a:graphicData>
        </a:graphic>
      </p:graphicFrame>
    </p:spTree>
    <p:extLst>
      <p:ext uri="{BB962C8B-B14F-4D97-AF65-F5344CB8AC3E}">
        <p14:creationId xmlns:p14="http://schemas.microsoft.com/office/powerpoint/2010/main" val="49839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C208-C9B7-2C25-B39F-7FA995A18027}"/>
              </a:ext>
            </a:extLst>
          </p:cNvPr>
          <p:cNvSpPr>
            <a:spLocks noGrp="1"/>
          </p:cNvSpPr>
          <p:nvPr>
            <p:ph type="title"/>
          </p:nvPr>
        </p:nvSpPr>
        <p:spPr/>
        <p:txBody>
          <a:bodyPr/>
          <a:lstStyle/>
          <a:p>
            <a:r>
              <a:rPr lang="en-GB" dirty="0"/>
              <a:t>Example (Structural Directives)</a:t>
            </a:r>
            <a:endParaRPr lang="en-IN" dirty="0"/>
          </a:p>
        </p:txBody>
      </p:sp>
      <p:sp>
        <p:nvSpPr>
          <p:cNvPr id="4" name="Rectangle 3">
            <a:extLst>
              <a:ext uri="{FF2B5EF4-FFF2-40B4-BE49-F238E27FC236}">
                <a16:creationId xmlns:a16="http://schemas.microsoft.com/office/drawing/2014/main" id="{96533EF5-F05F-9FDC-2A31-5F5150AC018F}"/>
              </a:ext>
            </a:extLst>
          </p:cNvPr>
          <p:cNvSpPr/>
          <p:nvPr/>
        </p:nvSpPr>
        <p:spPr>
          <a:xfrm>
            <a:off x="7302161" y="1373273"/>
            <a:ext cx="4648405" cy="1077218"/>
          </a:xfrm>
          <a:prstGeom prst="rect">
            <a:avLst/>
          </a:prstGeom>
          <a:solidFill>
            <a:schemeClr val="bg1">
              <a:lumMod val="95000"/>
            </a:schemeClr>
          </a:solidFill>
          <a:ln>
            <a:noFill/>
          </a:ln>
        </p:spPr>
        <p:txBody>
          <a:bodyPr wrap="square">
            <a:spAutoFit/>
          </a:bodyPr>
          <a:lstStyle/>
          <a:p>
            <a:r>
              <a:rPr lang="en-IN" sz="1600" dirty="0">
                <a:solidFill>
                  <a:srgbClr val="AF00DB"/>
                </a:solidFill>
                <a:latin typeface="Consolas" panose="020B0609020204030204" pitchFamily="49" charset="0"/>
              </a:rPr>
              <a:t>export</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class</a:t>
            </a:r>
            <a:r>
              <a:rPr lang="en-IN" sz="1600" dirty="0">
                <a:solidFill>
                  <a:srgbClr val="000000"/>
                </a:solidFill>
                <a:latin typeface="Consolas" panose="020B0609020204030204" pitchFamily="49" charset="0"/>
              </a:rPr>
              <a:t> </a:t>
            </a:r>
            <a:r>
              <a:rPr lang="en-IN" sz="1600" dirty="0">
                <a:solidFill>
                  <a:srgbClr val="267F99"/>
                </a:solidFill>
                <a:latin typeface="Consolas" panose="020B0609020204030204" pitchFamily="49" charset="0"/>
              </a:rPr>
              <a:t>SomethingComponent</a:t>
            </a:r>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semester</a:t>
            </a:r>
            <a:r>
              <a:rPr lang="en-IN" sz="1600" dirty="0">
                <a:solidFill>
                  <a:srgbClr val="000000"/>
                </a:solidFill>
                <a:latin typeface="Consolas" panose="020B0609020204030204" pitchFamily="49" charset="0"/>
              </a:rPr>
              <a:t> = </a:t>
            </a:r>
            <a:r>
              <a:rPr lang="en-IN" sz="1600" dirty="0">
                <a:solidFill>
                  <a:srgbClr val="098658"/>
                </a:solidFill>
                <a:latin typeface="Consolas" panose="020B0609020204030204" pitchFamily="49" charset="0"/>
              </a:rPr>
              <a:t>10</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err="1">
                <a:solidFill>
                  <a:srgbClr val="001080"/>
                </a:solidFill>
                <a:latin typeface="Consolas" panose="020B0609020204030204" pitchFamily="49" charset="0"/>
              </a:rPr>
              <a:t>spi</a:t>
            </a:r>
            <a:r>
              <a:rPr lang="en-IN" sz="1600" dirty="0">
                <a:solidFill>
                  <a:srgbClr val="000000"/>
                </a:solidFill>
                <a:latin typeface="Consolas" panose="020B0609020204030204" pitchFamily="49" charset="0"/>
              </a:rPr>
              <a:t> = [</a:t>
            </a:r>
            <a:r>
              <a:rPr lang="en-IN" sz="1600" dirty="0">
                <a:solidFill>
                  <a:srgbClr val="098658"/>
                </a:solidFill>
                <a:latin typeface="Consolas" panose="020B0609020204030204" pitchFamily="49" charset="0"/>
              </a:rPr>
              <a:t>2.5</a:t>
            </a:r>
            <a:r>
              <a:rPr lang="en-IN" sz="1600" dirty="0">
                <a:solidFill>
                  <a:srgbClr val="000000"/>
                </a:solidFill>
                <a:latin typeface="Consolas" panose="020B0609020204030204" pitchFamily="49" charset="0"/>
              </a:rPr>
              <a:t>,</a:t>
            </a:r>
            <a:r>
              <a:rPr lang="en-IN" sz="1600" dirty="0">
                <a:solidFill>
                  <a:srgbClr val="098658"/>
                </a:solidFill>
                <a:latin typeface="Consolas" panose="020B0609020204030204" pitchFamily="49" charset="0"/>
              </a:rPr>
              <a:t>5.8</a:t>
            </a:r>
            <a:r>
              <a:rPr lang="en-IN" sz="1600" dirty="0">
                <a:solidFill>
                  <a:srgbClr val="000000"/>
                </a:solidFill>
                <a:latin typeface="Consolas" panose="020B0609020204030204" pitchFamily="49" charset="0"/>
              </a:rPr>
              <a:t>,</a:t>
            </a:r>
            <a:r>
              <a:rPr lang="en-IN" sz="1600" dirty="0">
                <a:solidFill>
                  <a:srgbClr val="098658"/>
                </a:solidFill>
                <a:latin typeface="Consolas" panose="020B0609020204030204" pitchFamily="49" charset="0"/>
              </a:rPr>
              <a:t>4.1</a:t>
            </a:r>
            <a:r>
              <a:rPr lang="en-IN" sz="1600" dirty="0">
                <a:solidFill>
                  <a:srgbClr val="000000"/>
                </a:solidFill>
                <a:latin typeface="Consolas" panose="020B0609020204030204" pitchFamily="49" charset="0"/>
              </a:rPr>
              <a:t>,</a:t>
            </a:r>
            <a:r>
              <a:rPr lang="en-IN" sz="1600" dirty="0">
                <a:solidFill>
                  <a:srgbClr val="098658"/>
                </a:solidFill>
                <a:latin typeface="Consolas" panose="020B0609020204030204" pitchFamily="49" charset="0"/>
              </a:rPr>
              <a:t>3.6</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a:t>
            </a:r>
          </a:p>
        </p:txBody>
      </p:sp>
      <p:sp>
        <p:nvSpPr>
          <p:cNvPr id="5" name="Rectangle 4">
            <a:extLst>
              <a:ext uri="{FF2B5EF4-FFF2-40B4-BE49-F238E27FC236}">
                <a16:creationId xmlns:a16="http://schemas.microsoft.com/office/drawing/2014/main" id="{7D79F3E1-417F-D88E-C911-DFDEAC7C4BDD}"/>
              </a:ext>
            </a:extLst>
          </p:cNvPr>
          <p:cNvSpPr/>
          <p:nvPr/>
        </p:nvSpPr>
        <p:spPr>
          <a:xfrm>
            <a:off x="6802168" y="1373273"/>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6" name="Rectangle: Top Corners Rounded 5">
            <a:extLst>
              <a:ext uri="{FF2B5EF4-FFF2-40B4-BE49-F238E27FC236}">
                <a16:creationId xmlns:a16="http://schemas.microsoft.com/office/drawing/2014/main" id="{D6760226-2C80-7607-7F49-1CE1C98EE5D2}"/>
              </a:ext>
            </a:extLst>
          </p:cNvPr>
          <p:cNvSpPr/>
          <p:nvPr/>
        </p:nvSpPr>
        <p:spPr>
          <a:xfrm>
            <a:off x="6802167" y="1044089"/>
            <a:ext cx="399860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something.component.ts</a:t>
            </a:r>
            <a:endParaRPr lang="en-US" sz="1600" dirty="0">
              <a:solidFill>
                <a:schemeClr val="bg1"/>
              </a:solidFill>
            </a:endParaRPr>
          </a:p>
        </p:txBody>
      </p:sp>
      <p:sp>
        <p:nvSpPr>
          <p:cNvPr id="7" name="Rectangle 6">
            <a:extLst>
              <a:ext uri="{FF2B5EF4-FFF2-40B4-BE49-F238E27FC236}">
                <a16:creationId xmlns:a16="http://schemas.microsoft.com/office/drawing/2014/main" id="{528CC715-6BCB-9EDA-1BA9-AFA716BBB80A}"/>
              </a:ext>
            </a:extLst>
          </p:cNvPr>
          <p:cNvSpPr/>
          <p:nvPr/>
        </p:nvSpPr>
        <p:spPr>
          <a:xfrm>
            <a:off x="829274" y="1373273"/>
            <a:ext cx="5610450" cy="4278094"/>
          </a:xfrm>
          <a:prstGeom prst="rect">
            <a:avLst/>
          </a:prstGeom>
          <a:solidFill>
            <a:schemeClr val="bg1">
              <a:lumMod val="95000"/>
            </a:schemeClr>
          </a:solidFill>
          <a:ln>
            <a:noFill/>
          </a:ln>
        </p:spPr>
        <p:txBody>
          <a:bodyPr wrap="square">
            <a:spAutoFit/>
          </a:bodyPr>
          <a:lstStyle/>
          <a:p>
            <a:r>
              <a:rPr lang="en-IN" sz="1600" dirty="0">
                <a:solidFill>
                  <a:srgbClr val="800000"/>
                </a:solidFill>
                <a:latin typeface="Consolas" panose="020B0609020204030204" pitchFamily="49" charset="0"/>
              </a:rPr>
              <a:t>&lt;div</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ngSwitch</a:t>
            </a:r>
            <a:r>
              <a:rPr lang="en-IN" sz="1600" dirty="0">
                <a:solidFill>
                  <a:srgbClr val="E50000"/>
                </a:solidFill>
                <a:latin typeface="Consolas" panose="020B0609020204030204" pitchFamily="49" charset="0"/>
              </a:rPr>
              <a:t>]</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01080"/>
                </a:solidFill>
                <a:latin typeface="Consolas" panose="020B0609020204030204" pitchFamily="49" charset="0"/>
              </a:rPr>
              <a:t>semester</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&lt;span</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ngSwitchCase</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98658"/>
                </a:solidFill>
                <a:latin typeface="Consolas" panose="020B0609020204030204" pitchFamily="49" charset="0"/>
              </a:rPr>
              <a:t>1</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Semester 1</a:t>
            </a:r>
            <a:r>
              <a:rPr lang="en-IN" sz="1600" dirty="0">
                <a:solidFill>
                  <a:srgbClr val="800000"/>
                </a:solidFill>
                <a:latin typeface="Consolas" panose="020B0609020204030204" pitchFamily="49" charset="0"/>
              </a:rPr>
              <a:t>&lt;/span&gt;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&lt;span</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ngSwitchCase</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98658"/>
                </a:solidFill>
                <a:latin typeface="Consolas" panose="020B0609020204030204" pitchFamily="49" charset="0"/>
              </a:rPr>
              <a:t>2</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Semester 2</a:t>
            </a:r>
            <a:r>
              <a:rPr lang="en-IN" sz="1600" dirty="0">
                <a:solidFill>
                  <a:srgbClr val="800000"/>
                </a:solidFill>
                <a:latin typeface="Consolas" panose="020B0609020204030204" pitchFamily="49" charset="0"/>
              </a:rPr>
              <a:t>&lt;/span&gt;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&lt;span</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ngSwitchCase</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98658"/>
                </a:solidFill>
                <a:latin typeface="Consolas" panose="020B0609020204030204" pitchFamily="49" charset="0"/>
              </a:rPr>
              <a:t>3</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Semester 3</a:t>
            </a:r>
            <a:r>
              <a:rPr lang="en-IN" sz="1600" dirty="0">
                <a:solidFill>
                  <a:srgbClr val="800000"/>
                </a:solidFill>
                <a:latin typeface="Consolas" panose="020B0609020204030204" pitchFamily="49" charset="0"/>
              </a:rPr>
              <a:t>&lt;/span&gt;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&lt;span</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ngSwitchCase</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98658"/>
                </a:solidFill>
                <a:latin typeface="Consolas" panose="020B0609020204030204" pitchFamily="49" charset="0"/>
              </a:rPr>
              <a:t>4</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Semester 4</a:t>
            </a:r>
            <a:r>
              <a:rPr lang="en-IN" sz="1600" dirty="0">
                <a:solidFill>
                  <a:srgbClr val="800000"/>
                </a:solidFill>
                <a:latin typeface="Consolas" panose="020B0609020204030204" pitchFamily="49" charset="0"/>
              </a:rPr>
              <a:t>&lt;/span&gt;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&lt;span</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ngSwitchCase</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98658"/>
                </a:solidFill>
                <a:latin typeface="Consolas" panose="020B0609020204030204" pitchFamily="49" charset="0"/>
              </a:rPr>
              <a:t>5</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Semester 5</a:t>
            </a:r>
            <a:r>
              <a:rPr lang="en-IN" sz="1600" dirty="0">
                <a:solidFill>
                  <a:srgbClr val="800000"/>
                </a:solidFill>
                <a:latin typeface="Consolas" panose="020B0609020204030204" pitchFamily="49" charset="0"/>
              </a:rPr>
              <a:t>&lt;/span&gt;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&lt;span</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ngSwitchCase</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98658"/>
                </a:solidFill>
                <a:latin typeface="Consolas" panose="020B0609020204030204" pitchFamily="49" charset="0"/>
              </a:rPr>
              <a:t>6</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Semester 6</a:t>
            </a:r>
            <a:r>
              <a:rPr lang="en-IN" sz="1600" dirty="0">
                <a:solidFill>
                  <a:srgbClr val="800000"/>
                </a:solidFill>
                <a:latin typeface="Consolas" panose="020B0609020204030204" pitchFamily="49" charset="0"/>
              </a:rPr>
              <a:t>&lt;/span&gt;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&lt;span</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ngSwitchCase</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98658"/>
                </a:solidFill>
                <a:latin typeface="Consolas" panose="020B0609020204030204" pitchFamily="49" charset="0"/>
              </a:rPr>
              <a:t>7</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Semester 7</a:t>
            </a:r>
            <a:r>
              <a:rPr lang="en-IN" sz="1600" dirty="0">
                <a:solidFill>
                  <a:srgbClr val="800000"/>
                </a:solidFill>
                <a:latin typeface="Consolas" panose="020B0609020204030204" pitchFamily="49" charset="0"/>
              </a:rPr>
              <a:t>&lt;/span&gt;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&lt;span</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ngSwitchCase</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98658"/>
                </a:solidFill>
                <a:latin typeface="Consolas" panose="020B0609020204030204" pitchFamily="49" charset="0"/>
              </a:rPr>
              <a:t>8</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Semester 8</a:t>
            </a:r>
            <a:r>
              <a:rPr lang="en-IN" sz="1600" dirty="0">
                <a:solidFill>
                  <a:srgbClr val="800000"/>
                </a:solidFill>
                <a:latin typeface="Consolas" panose="020B0609020204030204" pitchFamily="49" charset="0"/>
              </a:rPr>
              <a:t>&lt;/span&gt;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&lt;span</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ngSwitchDefault</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Invalid Semester</a:t>
            </a:r>
            <a:r>
              <a:rPr lang="en-IN" sz="1600" dirty="0">
                <a:solidFill>
                  <a:srgbClr val="800000"/>
                </a:solidFill>
                <a:latin typeface="Consolas" panose="020B0609020204030204" pitchFamily="49" charset="0"/>
              </a:rPr>
              <a:t>&lt;/span&gt;</a:t>
            </a:r>
            <a:endParaRPr lang="en-IN" sz="1600" dirty="0">
              <a:solidFill>
                <a:srgbClr val="000000"/>
              </a:solidFill>
              <a:latin typeface="Consolas" panose="020B0609020204030204" pitchFamily="49" charset="0"/>
            </a:endParaRPr>
          </a:p>
          <a:p>
            <a:r>
              <a:rPr lang="en-IN" sz="1600" dirty="0">
                <a:solidFill>
                  <a:srgbClr val="800000"/>
                </a:solidFill>
                <a:latin typeface="Consolas" panose="020B0609020204030204" pitchFamily="49" charset="0"/>
              </a:rPr>
              <a:t>&lt;/div&gt;</a:t>
            </a:r>
          </a:p>
          <a:p>
            <a:endParaRPr lang="en-IN" sz="1600" dirty="0">
              <a:solidFill>
                <a:srgbClr val="000000"/>
              </a:solidFill>
              <a:latin typeface="Consolas" panose="020B0609020204030204" pitchFamily="49" charset="0"/>
            </a:endParaRPr>
          </a:p>
          <a:p>
            <a:r>
              <a:rPr lang="en-IN" sz="1600" dirty="0">
                <a:solidFill>
                  <a:srgbClr val="800000"/>
                </a:solidFill>
                <a:latin typeface="Consolas" panose="020B0609020204030204" pitchFamily="49" charset="0"/>
              </a:rPr>
              <a:t>&lt;h1</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ngIf</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01080"/>
                </a:solidFill>
                <a:latin typeface="Consolas" panose="020B0609020204030204" pitchFamily="49" charset="0"/>
              </a:rPr>
              <a:t>semester</a:t>
            </a:r>
            <a:r>
              <a:rPr lang="en-IN" sz="1600" dirty="0">
                <a:solidFill>
                  <a:srgbClr val="000000"/>
                </a:solidFill>
                <a:latin typeface="Consolas" panose="020B0609020204030204" pitchFamily="49" charset="0"/>
              </a:rPr>
              <a:t>&gt;</a:t>
            </a:r>
            <a:r>
              <a:rPr lang="en-IN" sz="1600" dirty="0">
                <a:solidFill>
                  <a:srgbClr val="098658"/>
                </a:solidFill>
                <a:latin typeface="Consolas" panose="020B0609020204030204" pitchFamily="49" charset="0"/>
              </a:rPr>
              <a:t>4</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You Are Senior</a:t>
            </a:r>
            <a:r>
              <a:rPr lang="en-IN" sz="1600" dirty="0">
                <a:solidFill>
                  <a:srgbClr val="800000"/>
                </a:solidFill>
                <a:latin typeface="Consolas" panose="020B0609020204030204" pitchFamily="49" charset="0"/>
              </a:rPr>
              <a:t>&lt;/h1&gt;</a:t>
            </a:r>
          </a:p>
          <a:p>
            <a:endParaRPr lang="en-IN" sz="1600" dirty="0">
              <a:solidFill>
                <a:srgbClr val="800000"/>
              </a:solidFill>
              <a:latin typeface="Consolas" panose="020B0609020204030204" pitchFamily="49" charset="0"/>
            </a:endParaRPr>
          </a:p>
          <a:p>
            <a:r>
              <a:rPr lang="en-IN" sz="1600" dirty="0">
                <a:solidFill>
                  <a:srgbClr val="800000"/>
                </a:solidFill>
                <a:latin typeface="Consolas" panose="020B0609020204030204" pitchFamily="49" charset="0"/>
              </a:rPr>
              <a:t>&lt;</a:t>
            </a:r>
            <a:r>
              <a:rPr lang="en-IN" sz="1600" dirty="0" err="1">
                <a:solidFill>
                  <a:srgbClr val="800000"/>
                </a:solidFill>
                <a:latin typeface="Consolas" panose="020B0609020204030204" pitchFamily="49" charset="0"/>
              </a:rPr>
              <a:t>ul</a:t>
            </a:r>
            <a:r>
              <a:rPr lang="en-IN" sz="1600" dirty="0">
                <a:solidFill>
                  <a:srgbClr val="800000"/>
                </a:solidFill>
                <a:latin typeface="Consolas" panose="020B0609020204030204" pitchFamily="49" charset="0"/>
              </a:rPr>
              <a:t>&gt;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&lt;li</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ngFor</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000FF"/>
                </a:solidFill>
                <a:latin typeface="Consolas" panose="020B0609020204030204" pitchFamily="49" charset="0"/>
              </a:rPr>
              <a:t>let</a:t>
            </a:r>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temp</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of</a:t>
            </a:r>
            <a:r>
              <a:rPr lang="en-IN" sz="1600" dirty="0">
                <a:solidFill>
                  <a:srgbClr val="000000"/>
                </a:solidFill>
                <a:latin typeface="Consolas" panose="020B0609020204030204" pitchFamily="49" charset="0"/>
              </a:rPr>
              <a:t> </a:t>
            </a:r>
            <a:r>
              <a:rPr lang="en-IN" sz="1600" dirty="0" err="1">
                <a:solidFill>
                  <a:srgbClr val="001080"/>
                </a:solidFill>
                <a:latin typeface="Consolas" panose="020B0609020204030204" pitchFamily="49" charset="0"/>
              </a:rPr>
              <a:t>spi</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temp</a:t>
            </a:r>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&lt;/li&gt;</a:t>
            </a:r>
            <a:endParaRPr lang="en-IN" sz="1600" dirty="0">
              <a:solidFill>
                <a:srgbClr val="000000"/>
              </a:solidFill>
              <a:latin typeface="Consolas" panose="020B0609020204030204" pitchFamily="49" charset="0"/>
            </a:endParaRPr>
          </a:p>
          <a:p>
            <a:r>
              <a:rPr lang="en-IN" sz="1600" dirty="0">
                <a:solidFill>
                  <a:srgbClr val="800000"/>
                </a:solidFill>
                <a:latin typeface="Consolas" panose="020B0609020204030204" pitchFamily="49" charset="0"/>
              </a:rPr>
              <a:t>&lt;/</a:t>
            </a:r>
            <a:r>
              <a:rPr lang="en-IN" sz="1600" dirty="0" err="1">
                <a:solidFill>
                  <a:srgbClr val="800000"/>
                </a:solidFill>
                <a:latin typeface="Consolas" panose="020B0609020204030204" pitchFamily="49" charset="0"/>
              </a:rPr>
              <a:t>ul</a:t>
            </a:r>
            <a:r>
              <a:rPr lang="en-IN" sz="1600" dirty="0">
                <a:solidFill>
                  <a:srgbClr val="800000"/>
                </a:solidFill>
                <a:latin typeface="Consolas" panose="020B0609020204030204" pitchFamily="49" charset="0"/>
              </a:rPr>
              <a:t>&gt;</a:t>
            </a:r>
            <a:endParaRPr lang="en-IN" sz="1600" dirty="0">
              <a:solidFill>
                <a:srgbClr val="000000"/>
              </a:solidFill>
              <a:latin typeface="Consolas" panose="020B0609020204030204" pitchFamily="49" charset="0"/>
            </a:endParaRPr>
          </a:p>
        </p:txBody>
      </p:sp>
      <p:sp>
        <p:nvSpPr>
          <p:cNvPr id="8" name="Rectangle 7">
            <a:extLst>
              <a:ext uri="{FF2B5EF4-FFF2-40B4-BE49-F238E27FC236}">
                <a16:creationId xmlns:a16="http://schemas.microsoft.com/office/drawing/2014/main" id="{0DC164FC-D273-938A-984E-C0E1D0617DD5}"/>
              </a:ext>
            </a:extLst>
          </p:cNvPr>
          <p:cNvSpPr/>
          <p:nvPr/>
        </p:nvSpPr>
        <p:spPr>
          <a:xfrm>
            <a:off x="247804" y="1373273"/>
            <a:ext cx="603473" cy="427809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a:p>
            <a:pPr algn="r"/>
            <a:r>
              <a:rPr lang="en-US" sz="1600" b="1" dirty="0">
                <a:solidFill>
                  <a:schemeClr val="tx1">
                    <a:lumMod val="75000"/>
                    <a:lumOff val="25000"/>
                  </a:schemeClr>
                </a:solidFill>
                <a:latin typeface="Consolas" panose="020B0609020204030204" pitchFamily="49" charset="0"/>
              </a:rPr>
              <a:t>12</a:t>
            </a:r>
          </a:p>
          <a:p>
            <a:pPr algn="r"/>
            <a:r>
              <a:rPr lang="en-US" sz="1600" b="1" dirty="0">
                <a:solidFill>
                  <a:schemeClr val="tx1">
                    <a:lumMod val="75000"/>
                    <a:lumOff val="25000"/>
                  </a:schemeClr>
                </a:solidFill>
                <a:latin typeface="Consolas" panose="020B0609020204030204" pitchFamily="49" charset="0"/>
              </a:rPr>
              <a:t>13</a:t>
            </a:r>
          </a:p>
          <a:p>
            <a:pPr algn="r"/>
            <a:r>
              <a:rPr lang="en-US" sz="1600" b="1" dirty="0">
                <a:solidFill>
                  <a:schemeClr val="tx1">
                    <a:lumMod val="75000"/>
                    <a:lumOff val="25000"/>
                  </a:schemeClr>
                </a:solidFill>
                <a:latin typeface="Consolas" panose="020B0609020204030204" pitchFamily="49" charset="0"/>
              </a:rPr>
              <a:t>14</a:t>
            </a:r>
          </a:p>
          <a:p>
            <a:pPr algn="r"/>
            <a:r>
              <a:rPr lang="en-US" sz="1600" b="1" dirty="0">
                <a:solidFill>
                  <a:schemeClr val="tx1">
                    <a:lumMod val="75000"/>
                    <a:lumOff val="25000"/>
                  </a:schemeClr>
                </a:solidFill>
                <a:latin typeface="Consolas" panose="020B0609020204030204" pitchFamily="49" charset="0"/>
              </a:rPr>
              <a:t>15</a:t>
            </a:r>
          </a:p>
          <a:p>
            <a:pPr algn="r"/>
            <a:r>
              <a:rPr lang="en-US" sz="1600" b="1" dirty="0">
                <a:solidFill>
                  <a:schemeClr val="tx1">
                    <a:lumMod val="75000"/>
                    <a:lumOff val="25000"/>
                  </a:schemeClr>
                </a:solidFill>
                <a:latin typeface="Consolas" panose="020B0609020204030204" pitchFamily="49" charset="0"/>
              </a:rPr>
              <a:t>16</a:t>
            </a:r>
          </a:p>
          <a:p>
            <a:pPr algn="r"/>
            <a:r>
              <a:rPr lang="en-US" sz="1600" b="1" dirty="0">
                <a:solidFill>
                  <a:schemeClr val="tx1">
                    <a:lumMod val="75000"/>
                    <a:lumOff val="25000"/>
                  </a:schemeClr>
                </a:solidFill>
                <a:latin typeface="Consolas" panose="020B0609020204030204" pitchFamily="49" charset="0"/>
              </a:rPr>
              <a:t>17</a:t>
            </a:r>
          </a:p>
        </p:txBody>
      </p:sp>
      <p:sp>
        <p:nvSpPr>
          <p:cNvPr id="9" name="Rectangle: Top Corners Rounded 8">
            <a:extLst>
              <a:ext uri="{FF2B5EF4-FFF2-40B4-BE49-F238E27FC236}">
                <a16:creationId xmlns:a16="http://schemas.microsoft.com/office/drawing/2014/main" id="{13BED05A-DD87-6188-29D8-944FD40D2C1D}"/>
              </a:ext>
            </a:extLst>
          </p:cNvPr>
          <p:cNvSpPr/>
          <p:nvPr/>
        </p:nvSpPr>
        <p:spPr>
          <a:xfrm>
            <a:off x="247803" y="1044089"/>
            <a:ext cx="399860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something.component.html</a:t>
            </a:r>
          </a:p>
        </p:txBody>
      </p:sp>
    </p:spTree>
    <p:extLst>
      <p:ext uri="{BB962C8B-B14F-4D97-AF65-F5344CB8AC3E}">
        <p14:creationId xmlns:p14="http://schemas.microsoft.com/office/powerpoint/2010/main" val="391628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7F6B0-22DE-7684-CF6F-B9D7FE07FC33}"/>
              </a:ext>
            </a:extLst>
          </p:cNvPr>
          <p:cNvSpPr>
            <a:spLocks noGrp="1"/>
          </p:cNvSpPr>
          <p:nvPr>
            <p:ph type="title"/>
          </p:nvPr>
        </p:nvSpPr>
        <p:spPr/>
        <p:txBody>
          <a:bodyPr/>
          <a:lstStyle/>
          <a:p>
            <a:r>
              <a:rPr lang="en-GB" dirty="0"/>
              <a:t>Rendering Array of Object with </a:t>
            </a:r>
            <a:r>
              <a:rPr lang="en-GB" dirty="0" err="1"/>
              <a:t>ngFor</a:t>
            </a:r>
            <a:r>
              <a:rPr lang="en-GB" dirty="0"/>
              <a:t> directive</a:t>
            </a:r>
            <a:endParaRPr lang="en-IN" dirty="0"/>
          </a:p>
        </p:txBody>
      </p:sp>
      <p:sp>
        <p:nvSpPr>
          <p:cNvPr id="4" name="Rectangle 3">
            <a:extLst>
              <a:ext uri="{FF2B5EF4-FFF2-40B4-BE49-F238E27FC236}">
                <a16:creationId xmlns:a16="http://schemas.microsoft.com/office/drawing/2014/main" id="{EA798BEE-FE32-8A26-6734-AF5EF1622AEC}"/>
              </a:ext>
            </a:extLst>
          </p:cNvPr>
          <p:cNvSpPr/>
          <p:nvPr/>
        </p:nvSpPr>
        <p:spPr>
          <a:xfrm>
            <a:off x="7302161" y="1373273"/>
            <a:ext cx="4711788" cy="4770537"/>
          </a:xfrm>
          <a:prstGeom prst="rect">
            <a:avLst/>
          </a:prstGeom>
          <a:solidFill>
            <a:schemeClr val="bg1">
              <a:lumMod val="95000"/>
            </a:schemeClr>
          </a:solidFill>
          <a:ln>
            <a:noFill/>
          </a:ln>
        </p:spPr>
        <p:txBody>
          <a:bodyPr wrap="square">
            <a:spAutoFit/>
          </a:bodyPr>
          <a:lstStyle/>
          <a:p>
            <a:r>
              <a:rPr lang="en-IN" sz="1600" dirty="0">
                <a:solidFill>
                  <a:srgbClr val="AF00DB"/>
                </a:solidFill>
                <a:latin typeface="Consolas" panose="020B0609020204030204" pitchFamily="49" charset="0"/>
              </a:rPr>
              <a:t>export</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class</a:t>
            </a:r>
            <a:r>
              <a:rPr lang="en-IN" sz="1600" dirty="0">
                <a:solidFill>
                  <a:srgbClr val="000000"/>
                </a:solidFill>
                <a:latin typeface="Consolas" panose="020B0609020204030204" pitchFamily="49" charset="0"/>
              </a:rPr>
              <a:t> </a:t>
            </a:r>
            <a:r>
              <a:rPr lang="en-IN" sz="1600" dirty="0">
                <a:solidFill>
                  <a:srgbClr val="267F99"/>
                </a:solidFill>
                <a:latin typeface="Consolas" panose="020B0609020204030204" pitchFamily="49" charset="0"/>
              </a:rPr>
              <a:t>SomethingComponent</a:t>
            </a:r>
            <a:r>
              <a:rPr lang="en-IN" sz="1600" dirty="0">
                <a:solidFill>
                  <a:srgbClr val="000000"/>
                </a:solidFill>
                <a:latin typeface="Consolas" panose="020B0609020204030204" pitchFamily="49" charset="0"/>
              </a:rPr>
              <a:t> {</a:t>
            </a:r>
          </a:p>
          <a:p>
            <a:r>
              <a:rPr lang="en-IN" sz="1600" dirty="0">
                <a:solidFill>
                  <a:srgbClr val="001080"/>
                </a:solidFill>
                <a:latin typeface="Consolas" panose="020B0609020204030204" pitchFamily="49" charset="0"/>
              </a:rPr>
              <a:t> students</a:t>
            </a:r>
            <a:r>
              <a:rPr lang="en-IN" sz="1600" dirty="0">
                <a:solidFill>
                  <a:srgbClr val="000000"/>
                </a:solidFill>
                <a:latin typeface="Consolas" panose="020B0609020204030204" pitchFamily="49" charset="0"/>
              </a:rPr>
              <a:t> = [</a:t>
            </a: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r>
              <a:rPr lang="en-IN" sz="1600" dirty="0" err="1">
                <a:solidFill>
                  <a:srgbClr val="001080"/>
                </a:solidFill>
                <a:latin typeface="Consolas" panose="020B0609020204030204" pitchFamily="49" charset="0"/>
              </a:rPr>
              <a:t>name:</a:t>
            </a:r>
            <a:r>
              <a:rPr lang="en-IN" sz="1600" dirty="0" err="1">
                <a:solidFill>
                  <a:srgbClr val="A31515"/>
                </a:solidFill>
                <a:latin typeface="Consolas" panose="020B0609020204030204" pitchFamily="49" charset="0"/>
              </a:rPr>
              <a:t>"arjun</a:t>
            </a:r>
            <a:r>
              <a:rPr lang="en-IN" sz="1600" dirty="0">
                <a:solidFill>
                  <a:srgbClr val="A31515"/>
                </a:solidFill>
                <a:latin typeface="Consolas" panose="020B0609020204030204" pitchFamily="49" charset="0"/>
              </a:rPr>
              <a:t>"</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marks:</a:t>
            </a:r>
            <a:r>
              <a:rPr lang="en-IN" sz="1600" dirty="0">
                <a:solidFill>
                  <a:srgbClr val="098658"/>
                </a:solidFill>
                <a:latin typeface="Consolas" panose="020B0609020204030204" pitchFamily="49" charset="0"/>
              </a:rPr>
              <a:t>23</a:t>
            </a:r>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r>
              <a:rPr lang="en-IN" sz="1600" dirty="0" err="1">
                <a:solidFill>
                  <a:srgbClr val="001080"/>
                </a:solidFill>
                <a:latin typeface="Consolas" panose="020B0609020204030204" pitchFamily="49" charset="0"/>
              </a:rPr>
              <a:t>isFailed:</a:t>
            </a:r>
            <a:r>
              <a:rPr lang="en-IN" sz="1600" dirty="0" err="1">
                <a:solidFill>
                  <a:srgbClr val="0000FF"/>
                </a:solidFill>
                <a:latin typeface="Consolas" panose="020B0609020204030204" pitchFamily="49" charset="0"/>
              </a:rPr>
              <a:t>true</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r>
              <a:rPr lang="en-IN" sz="1600" dirty="0" err="1">
                <a:solidFill>
                  <a:srgbClr val="001080"/>
                </a:solidFill>
                <a:latin typeface="Consolas" panose="020B0609020204030204" pitchFamily="49" charset="0"/>
              </a:rPr>
              <a:t>name:</a:t>
            </a:r>
            <a:r>
              <a:rPr lang="en-IN" sz="1600" dirty="0" err="1">
                <a:solidFill>
                  <a:srgbClr val="A31515"/>
                </a:solidFill>
                <a:latin typeface="Consolas" panose="020B0609020204030204" pitchFamily="49" charset="0"/>
              </a:rPr>
              <a:t>"darshan</a:t>
            </a:r>
            <a:r>
              <a:rPr lang="en-IN" sz="1600" dirty="0">
                <a:solidFill>
                  <a:srgbClr val="A31515"/>
                </a:solidFill>
                <a:latin typeface="Consolas" panose="020B0609020204030204" pitchFamily="49" charset="0"/>
              </a:rPr>
              <a:t>"</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marks:</a:t>
            </a:r>
            <a:r>
              <a:rPr lang="en-IN" sz="1600" dirty="0">
                <a:solidFill>
                  <a:srgbClr val="098658"/>
                </a:solidFill>
                <a:latin typeface="Consolas" panose="020B0609020204030204" pitchFamily="49" charset="0"/>
              </a:rPr>
              <a:t>85</a:t>
            </a:r>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r>
              <a:rPr lang="en-IN" sz="1600" dirty="0" err="1">
                <a:solidFill>
                  <a:srgbClr val="001080"/>
                </a:solidFill>
                <a:latin typeface="Consolas" panose="020B0609020204030204" pitchFamily="49" charset="0"/>
              </a:rPr>
              <a:t>isFailed:</a:t>
            </a:r>
            <a:r>
              <a:rPr lang="en-IN" sz="1600" dirty="0" err="1">
                <a:solidFill>
                  <a:srgbClr val="0000FF"/>
                </a:solidFill>
                <a:latin typeface="Consolas" panose="020B0609020204030204" pitchFamily="49" charset="0"/>
              </a:rPr>
              <a:t>false</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name:</a:t>
            </a:r>
            <a:r>
              <a:rPr lang="en-IN" sz="1600" dirty="0">
                <a:solidFill>
                  <a:srgbClr val="A31515"/>
                </a:solidFill>
                <a:latin typeface="Consolas" panose="020B0609020204030204" pitchFamily="49" charset="0"/>
              </a:rPr>
              <a:t>"</a:t>
            </a:r>
            <a:r>
              <a:rPr lang="en-IN" sz="1600" dirty="0" err="1">
                <a:solidFill>
                  <a:srgbClr val="A31515"/>
                </a:solidFill>
                <a:latin typeface="Consolas" panose="020B0609020204030204" pitchFamily="49" charset="0"/>
              </a:rPr>
              <a:t>rajkot</a:t>
            </a:r>
            <a:r>
              <a:rPr lang="en-IN" sz="1600" dirty="0">
                <a:solidFill>
                  <a:srgbClr val="A31515"/>
                </a:solidFill>
                <a:latin typeface="Consolas" panose="020B0609020204030204" pitchFamily="49" charset="0"/>
              </a:rPr>
              <a:t>"</a:t>
            </a:r>
            <a:r>
              <a:rPr lang="en-IN" sz="1600" dirty="0">
                <a:solidFill>
                  <a:srgbClr val="000000"/>
                </a:solidFill>
                <a:latin typeface="Consolas" panose="020B0609020204030204" pitchFamily="49" charset="0"/>
              </a:rPr>
              <a:t>,</a:t>
            </a:r>
          </a:p>
          <a:p>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marks:</a:t>
            </a:r>
            <a:r>
              <a:rPr lang="en-IN" sz="1600" dirty="0">
                <a:solidFill>
                  <a:srgbClr val="098658"/>
                </a:solidFill>
                <a:latin typeface="Consolas" panose="020B0609020204030204" pitchFamily="49" charset="0"/>
              </a:rPr>
              <a:t>14</a:t>
            </a:r>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r>
              <a:rPr lang="en-IN" sz="1600" dirty="0" err="1">
                <a:solidFill>
                  <a:srgbClr val="001080"/>
                </a:solidFill>
                <a:latin typeface="Consolas" panose="020B0609020204030204" pitchFamily="49" charset="0"/>
              </a:rPr>
              <a:t>isFailed:</a:t>
            </a:r>
            <a:r>
              <a:rPr lang="en-IN" sz="1600" dirty="0" err="1">
                <a:solidFill>
                  <a:srgbClr val="0000FF"/>
                </a:solidFill>
                <a:latin typeface="Consolas" panose="020B0609020204030204" pitchFamily="49" charset="0"/>
              </a:rPr>
              <a:t>true</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   ]</a:t>
            </a:r>
          </a:p>
          <a:p>
            <a:r>
              <a:rPr lang="en-IN" sz="1600" dirty="0">
                <a:solidFill>
                  <a:srgbClr val="000000"/>
                </a:solidFill>
                <a:latin typeface="Consolas" panose="020B0609020204030204" pitchFamily="49" charset="0"/>
              </a:rPr>
              <a:t>}</a:t>
            </a:r>
          </a:p>
        </p:txBody>
      </p:sp>
      <p:sp>
        <p:nvSpPr>
          <p:cNvPr id="5" name="Rectangle 4">
            <a:extLst>
              <a:ext uri="{FF2B5EF4-FFF2-40B4-BE49-F238E27FC236}">
                <a16:creationId xmlns:a16="http://schemas.microsoft.com/office/drawing/2014/main" id="{9051586B-A3C3-FC53-9692-528CD9D85765}"/>
              </a:ext>
            </a:extLst>
          </p:cNvPr>
          <p:cNvSpPr/>
          <p:nvPr/>
        </p:nvSpPr>
        <p:spPr>
          <a:xfrm>
            <a:off x="6802168" y="1373273"/>
            <a:ext cx="499993" cy="477053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a:p>
            <a:pPr algn="r"/>
            <a:r>
              <a:rPr lang="en-US" sz="1600" b="1" dirty="0">
                <a:solidFill>
                  <a:schemeClr val="tx1">
                    <a:lumMod val="75000"/>
                    <a:lumOff val="25000"/>
                  </a:schemeClr>
                </a:solidFill>
                <a:latin typeface="Consolas" panose="020B0609020204030204" pitchFamily="49" charset="0"/>
              </a:rPr>
              <a:t>12</a:t>
            </a:r>
          </a:p>
          <a:p>
            <a:pPr algn="r"/>
            <a:r>
              <a:rPr lang="en-US" sz="1600" b="1" dirty="0">
                <a:solidFill>
                  <a:schemeClr val="tx1">
                    <a:lumMod val="75000"/>
                    <a:lumOff val="25000"/>
                  </a:schemeClr>
                </a:solidFill>
                <a:latin typeface="Consolas" panose="020B0609020204030204" pitchFamily="49" charset="0"/>
              </a:rPr>
              <a:t>13</a:t>
            </a:r>
          </a:p>
          <a:p>
            <a:pPr algn="r"/>
            <a:r>
              <a:rPr lang="en-US" sz="1600" b="1" dirty="0">
                <a:solidFill>
                  <a:schemeClr val="tx1">
                    <a:lumMod val="75000"/>
                    <a:lumOff val="25000"/>
                  </a:schemeClr>
                </a:solidFill>
                <a:latin typeface="Consolas" panose="020B0609020204030204" pitchFamily="49" charset="0"/>
              </a:rPr>
              <a:t>14</a:t>
            </a:r>
          </a:p>
          <a:p>
            <a:pPr algn="r"/>
            <a:r>
              <a:rPr lang="en-US" sz="1600" b="1" dirty="0">
                <a:solidFill>
                  <a:schemeClr val="tx1">
                    <a:lumMod val="75000"/>
                    <a:lumOff val="25000"/>
                  </a:schemeClr>
                </a:solidFill>
                <a:latin typeface="Consolas" panose="020B0609020204030204" pitchFamily="49" charset="0"/>
              </a:rPr>
              <a:t>15</a:t>
            </a:r>
          </a:p>
          <a:p>
            <a:pPr algn="r"/>
            <a:r>
              <a:rPr lang="en-US" sz="1600" b="1" dirty="0">
                <a:solidFill>
                  <a:schemeClr val="tx1">
                    <a:lumMod val="75000"/>
                    <a:lumOff val="25000"/>
                  </a:schemeClr>
                </a:solidFill>
                <a:latin typeface="Consolas" panose="020B0609020204030204" pitchFamily="49" charset="0"/>
              </a:rPr>
              <a:t>16</a:t>
            </a:r>
          </a:p>
          <a:p>
            <a:pPr algn="r"/>
            <a:r>
              <a:rPr lang="en-US" sz="1600" b="1" dirty="0">
                <a:solidFill>
                  <a:schemeClr val="tx1">
                    <a:lumMod val="75000"/>
                    <a:lumOff val="25000"/>
                  </a:schemeClr>
                </a:solidFill>
                <a:latin typeface="Consolas" panose="020B0609020204030204" pitchFamily="49" charset="0"/>
              </a:rPr>
              <a:t>17</a:t>
            </a:r>
          </a:p>
          <a:p>
            <a:pPr algn="r"/>
            <a:r>
              <a:rPr lang="en-US" sz="1600" b="1" dirty="0">
                <a:solidFill>
                  <a:schemeClr val="tx1">
                    <a:lumMod val="75000"/>
                    <a:lumOff val="25000"/>
                  </a:schemeClr>
                </a:solidFill>
                <a:latin typeface="Consolas" panose="020B0609020204030204" pitchFamily="49" charset="0"/>
              </a:rPr>
              <a:t>18</a:t>
            </a:r>
          </a:p>
          <a:p>
            <a:pPr algn="r"/>
            <a:r>
              <a:rPr lang="en-US" sz="1600" b="1" dirty="0">
                <a:solidFill>
                  <a:schemeClr val="tx1">
                    <a:lumMod val="75000"/>
                    <a:lumOff val="25000"/>
                  </a:schemeClr>
                </a:solidFill>
                <a:latin typeface="Consolas" panose="020B0609020204030204" pitchFamily="49" charset="0"/>
              </a:rPr>
              <a:t>19</a:t>
            </a:r>
          </a:p>
        </p:txBody>
      </p:sp>
      <p:sp>
        <p:nvSpPr>
          <p:cNvPr id="6" name="Rectangle: Top Corners Rounded 5">
            <a:extLst>
              <a:ext uri="{FF2B5EF4-FFF2-40B4-BE49-F238E27FC236}">
                <a16:creationId xmlns:a16="http://schemas.microsoft.com/office/drawing/2014/main" id="{2E4CF097-AF61-22FB-0112-98BD60C3FAB9}"/>
              </a:ext>
            </a:extLst>
          </p:cNvPr>
          <p:cNvSpPr/>
          <p:nvPr/>
        </p:nvSpPr>
        <p:spPr>
          <a:xfrm>
            <a:off x="6802167" y="1044089"/>
            <a:ext cx="399860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something.component.ts</a:t>
            </a:r>
            <a:endParaRPr lang="en-US" sz="1600" dirty="0">
              <a:solidFill>
                <a:schemeClr val="bg1"/>
              </a:solidFill>
            </a:endParaRPr>
          </a:p>
        </p:txBody>
      </p:sp>
      <p:sp>
        <p:nvSpPr>
          <p:cNvPr id="7" name="Rectangle 6">
            <a:extLst>
              <a:ext uri="{FF2B5EF4-FFF2-40B4-BE49-F238E27FC236}">
                <a16:creationId xmlns:a16="http://schemas.microsoft.com/office/drawing/2014/main" id="{AE1C783B-EDB8-C27B-86C5-9031E3A1D4EF}"/>
              </a:ext>
            </a:extLst>
          </p:cNvPr>
          <p:cNvSpPr/>
          <p:nvPr/>
        </p:nvSpPr>
        <p:spPr>
          <a:xfrm>
            <a:off x="829274" y="1373273"/>
            <a:ext cx="5610450" cy="2062103"/>
          </a:xfrm>
          <a:prstGeom prst="rect">
            <a:avLst/>
          </a:prstGeom>
          <a:solidFill>
            <a:schemeClr val="bg1">
              <a:lumMod val="95000"/>
            </a:schemeClr>
          </a:solidFill>
          <a:ln>
            <a:noFill/>
          </a:ln>
        </p:spPr>
        <p:txBody>
          <a:bodyPr wrap="square">
            <a:spAutoFit/>
          </a:bodyPr>
          <a:lstStyle/>
          <a:p>
            <a:r>
              <a:rPr lang="en-IN" sz="1600" dirty="0">
                <a:solidFill>
                  <a:srgbClr val="800000"/>
                </a:solidFill>
                <a:latin typeface="Consolas" panose="020B0609020204030204" pitchFamily="49" charset="0"/>
              </a:rPr>
              <a:t>&lt;table&gt;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&lt;tr</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ngFor</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0000FF"/>
                </a:solidFill>
                <a:latin typeface="Consolas" panose="020B0609020204030204" pitchFamily="49" charset="0"/>
              </a:rPr>
              <a:t>let</a:t>
            </a:r>
            <a:r>
              <a:rPr lang="en-IN" sz="1600" dirty="0">
                <a:solidFill>
                  <a:srgbClr val="000000"/>
                </a:solidFill>
                <a:latin typeface="Consolas" panose="020B0609020204030204" pitchFamily="49" charset="0"/>
              </a:rPr>
              <a:t> </a:t>
            </a:r>
            <a:r>
              <a:rPr lang="en-IN" sz="1600" dirty="0" err="1">
                <a:solidFill>
                  <a:srgbClr val="001080"/>
                </a:solidFill>
                <a:latin typeface="Consolas" panose="020B0609020204030204" pitchFamily="49" charset="0"/>
              </a:rPr>
              <a:t>stu</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of</a:t>
            </a:r>
            <a:r>
              <a:rPr lang="en-IN" sz="1600" dirty="0">
                <a:solidFill>
                  <a:srgbClr val="000000"/>
                </a:solidFill>
                <a:latin typeface="Consolas" panose="020B0609020204030204" pitchFamily="49" charset="0"/>
              </a:rPr>
              <a:t> </a:t>
            </a:r>
            <a:r>
              <a:rPr lang="en-IN" sz="1600" dirty="0">
                <a:solidFill>
                  <a:srgbClr val="001080"/>
                </a:solidFill>
                <a:latin typeface="Consolas" panose="020B0609020204030204" pitchFamily="49" charset="0"/>
              </a:rPr>
              <a:t>students</a:t>
            </a:r>
            <a:r>
              <a:rPr lang="en-IN" sz="1600" dirty="0">
                <a:solidFill>
                  <a:srgbClr val="000000"/>
                </a:solidFill>
                <a:latin typeface="Consolas" panose="020B0609020204030204" pitchFamily="49" charset="0"/>
              </a:rPr>
              <a:t>; </a:t>
            </a:r>
            <a:r>
              <a:rPr lang="en-IN" sz="1600" dirty="0">
                <a:solidFill>
                  <a:srgbClr val="0000FF"/>
                </a:solidFill>
                <a:latin typeface="Consolas" panose="020B0609020204030204" pitchFamily="49" charset="0"/>
              </a:rPr>
              <a:t>let</a:t>
            </a:r>
            <a:r>
              <a:rPr lang="en-IN" sz="1600" dirty="0">
                <a:solidFill>
                  <a:srgbClr val="000000"/>
                </a:solidFill>
                <a:latin typeface="Consolas" panose="020B0609020204030204" pitchFamily="49" charset="0"/>
              </a:rPr>
              <a:t> </a:t>
            </a:r>
            <a:r>
              <a:rPr lang="en-IN" sz="1600" dirty="0" err="1">
                <a:solidFill>
                  <a:srgbClr val="001080"/>
                </a:solidFill>
                <a:latin typeface="Consolas" panose="020B0609020204030204" pitchFamily="49" charset="0"/>
              </a:rPr>
              <a:t>i</a:t>
            </a:r>
            <a:r>
              <a:rPr lang="en-IN" sz="1600" dirty="0">
                <a:solidFill>
                  <a:srgbClr val="000000"/>
                </a:solidFill>
                <a:latin typeface="Consolas" panose="020B0609020204030204" pitchFamily="49" charset="0"/>
              </a:rPr>
              <a:t>=</a:t>
            </a:r>
            <a:r>
              <a:rPr lang="en-IN" sz="1600" dirty="0">
                <a:solidFill>
                  <a:srgbClr val="001080"/>
                </a:solidFill>
                <a:latin typeface="Consolas" panose="020B0609020204030204" pitchFamily="49" charset="0"/>
              </a:rPr>
              <a:t>index</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&lt;td&gt;</a:t>
            </a:r>
            <a:r>
              <a:rPr lang="en-IN" sz="1600" dirty="0">
                <a:solidFill>
                  <a:srgbClr val="000000"/>
                </a:solidFill>
                <a:latin typeface="Consolas" panose="020B0609020204030204" pitchFamily="49" charset="0"/>
              </a:rPr>
              <a:t>{{</a:t>
            </a:r>
            <a:r>
              <a:rPr lang="en-IN" sz="1600" dirty="0" err="1">
                <a:solidFill>
                  <a:srgbClr val="001080"/>
                </a:solidFill>
                <a:latin typeface="Consolas" panose="020B0609020204030204" pitchFamily="49" charset="0"/>
              </a:rPr>
              <a:t>i</a:t>
            </a:r>
            <a:r>
              <a:rPr lang="en-IN" sz="1600" dirty="0">
                <a:solidFill>
                  <a:srgbClr val="000000"/>
                </a:solidFill>
                <a:latin typeface="Consolas" panose="020B0609020204030204" pitchFamily="49" charset="0"/>
              </a:rPr>
              <a:t>}}</a:t>
            </a:r>
            <a:r>
              <a:rPr lang="en-IN" sz="1600" dirty="0">
                <a:solidFill>
                  <a:srgbClr val="800000"/>
                </a:solidFill>
                <a:latin typeface="Consolas" panose="020B0609020204030204" pitchFamily="49" charset="0"/>
              </a:rPr>
              <a:t>&lt;/td&gt;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&lt;td&gt;</a:t>
            </a:r>
            <a:r>
              <a:rPr lang="en-IN" sz="1600" dirty="0">
                <a:solidFill>
                  <a:srgbClr val="000000"/>
                </a:solidFill>
                <a:latin typeface="Consolas" panose="020B0609020204030204" pitchFamily="49" charset="0"/>
              </a:rPr>
              <a:t>{{</a:t>
            </a:r>
            <a:r>
              <a:rPr lang="en-IN" sz="1600" dirty="0">
                <a:solidFill>
                  <a:srgbClr val="001080"/>
                </a:solidFill>
                <a:latin typeface="Consolas" panose="020B0609020204030204" pitchFamily="49" charset="0"/>
              </a:rPr>
              <a:t>stu</a:t>
            </a:r>
            <a:r>
              <a:rPr lang="en-IN" sz="1600" dirty="0">
                <a:solidFill>
                  <a:srgbClr val="000000"/>
                </a:solidFill>
                <a:latin typeface="Consolas" panose="020B0609020204030204" pitchFamily="49" charset="0"/>
              </a:rPr>
              <a:t>.</a:t>
            </a:r>
            <a:r>
              <a:rPr lang="en-IN" sz="1600" dirty="0">
                <a:solidFill>
                  <a:srgbClr val="001080"/>
                </a:solidFill>
                <a:latin typeface="Consolas" panose="020B0609020204030204" pitchFamily="49" charset="0"/>
              </a:rPr>
              <a:t>name</a:t>
            </a:r>
            <a:r>
              <a:rPr lang="en-IN" sz="1600" dirty="0">
                <a:solidFill>
                  <a:srgbClr val="000000"/>
                </a:solidFill>
                <a:latin typeface="Consolas" panose="020B0609020204030204" pitchFamily="49" charset="0"/>
              </a:rPr>
              <a:t>}}</a:t>
            </a:r>
            <a:r>
              <a:rPr lang="en-IN" sz="1600" dirty="0">
                <a:solidFill>
                  <a:srgbClr val="800000"/>
                </a:solidFill>
                <a:latin typeface="Consolas" panose="020B0609020204030204" pitchFamily="49" charset="0"/>
              </a:rPr>
              <a:t>&lt;/td&gt;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&lt;td&gt;</a:t>
            </a:r>
            <a:r>
              <a:rPr lang="en-IN" sz="1600" dirty="0">
                <a:solidFill>
                  <a:srgbClr val="000000"/>
                </a:solidFill>
                <a:latin typeface="Consolas" panose="020B0609020204030204" pitchFamily="49" charset="0"/>
              </a:rPr>
              <a:t>{{</a:t>
            </a:r>
            <a:r>
              <a:rPr lang="en-IN" sz="1600" dirty="0" err="1">
                <a:solidFill>
                  <a:srgbClr val="001080"/>
                </a:solidFill>
                <a:latin typeface="Consolas" panose="020B0609020204030204" pitchFamily="49" charset="0"/>
              </a:rPr>
              <a:t>stu</a:t>
            </a:r>
            <a:r>
              <a:rPr lang="en-IN" sz="1600" dirty="0" err="1">
                <a:solidFill>
                  <a:srgbClr val="000000"/>
                </a:solidFill>
                <a:latin typeface="Consolas" panose="020B0609020204030204" pitchFamily="49" charset="0"/>
              </a:rPr>
              <a:t>.</a:t>
            </a:r>
            <a:r>
              <a:rPr lang="en-IN" sz="1600" dirty="0" err="1">
                <a:solidFill>
                  <a:srgbClr val="001080"/>
                </a:solidFill>
                <a:latin typeface="Consolas" panose="020B0609020204030204" pitchFamily="49" charset="0"/>
              </a:rPr>
              <a:t>marks</a:t>
            </a:r>
            <a:r>
              <a:rPr lang="en-IN" sz="1600" dirty="0">
                <a:solidFill>
                  <a:srgbClr val="000000"/>
                </a:solidFill>
                <a:latin typeface="Consolas" panose="020B0609020204030204" pitchFamily="49" charset="0"/>
              </a:rPr>
              <a:t>}}</a:t>
            </a:r>
            <a:r>
              <a:rPr lang="en-IN" sz="1600" dirty="0">
                <a:solidFill>
                  <a:srgbClr val="800000"/>
                </a:solidFill>
                <a:latin typeface="Consolas" panose="020B0609020204030204" pitchFamily="49" charset="0"/>
              </a:rPr>
              <a:t>&lt;/td&gt;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&lt;td&gt;</a:t>
            </a:r>
            <a:r>
              <a:rPr lang="en-IN" sz="1600" dirty="0">
                <a:solidFill>
                  <a:srgbClr val="000000"/>
                </a:solidFill>
                <a:latin typeface="Consolas" panose="020B0609020204030204" pitchFamily="49" charset="0"/>
              </a:rPr>
              <a:t>{{</a:t>
            </a:r>
            <a:r>
              <a:rPr lang="en-IN" sz="1600" dirty="0" err="1">
                <a:solidFill>
                  <a:srgbClr val="001080"/>
                </a:solidFill>
                <a:latin typeface="Consolas" panose="020B0609020204030204" pitchFamily="49" charset="0"/>
              </a:rPr>
              <a:t>stu</a:t>
            </a:r>
            <a:r>
              <a:rPr lang="en-IN" sz="1600" dirty="0" err="1">
                <a:solidFill>
                  <a:srgbClr val="000000"/>
                </a:solidFill>
                <a:latin typeface="Consolas" panose="020B0609020204030204" pitchFamily="49" charset="0"/>
              </a:rPr>
              <a:t>.</a:t>
            </a:r>
            <a:r>
              <a:rPr lang="en-IN" sz="1600" dirty="0" err="1">
                <a:solidFill>
                  <a:srgbClr val="001080"/>
                </a:solidFill>
                <a:latin typeface="Consolas" panose="020B0609020204030204" pitchFamily="49" charset="0"/>
              </a:rPr>
              <a:t>isFailed</a:t>
            </a:r>
            <a:r>
              <a:rPr lang="en-IN" sz="1600" dirty="0">
                <a:solidFill>
                  <a:srgbClr val="000000"/>
                </a:solidFill>
                <a:latin typeface="Consolas" panose="020B0609020204030204" pitchFamily="49" charset="0"/>
              </a:rPr>
              <a:t>}}</a:t>
            </a:r>
            <a:r>
              <a:rPr lang="en-IN" sz="1600" dirty="0">
                <a:solidFill>
                  <a:srgbClr val="800000"/>
                </a:solidFill>
                <a:latin typeface="Consolas" panose="020B0609020204030204" pitchFamily="49" charset="0"/>
              </a:rPr>
              <a:t>&lt;/td&gt;</a:t>
            </a:r>
            <a:endParaRPr lang="en-IN" sz="1600" dirty="0">
              <a:solidFill>
                <a:srgbClr val="000000"/>
              </a:solidFill>
              <a:latin typeface="Consolas" panose="020B0609020204030204" pitchFamily="49" charset="0"/>
            </a:endParaRPr>
          </a:p>
          <a:p>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&lt;/tr&gt;</a:t>
            </a:r>
            <a:endParaRPr lang="en-IN" sz="1600" dirty="0">
              <a:solidFill>
                <a:srgbClr val="000000"/>
              </a:solidFill>
              <a:latin typeface="Consolas" panose="020B0609020204030204" pitchFamily="49" charset="0"/>
            </a:endParaRPr>
          </a:p>
          <a:p>
            <a:r>
              <a:rPr lang="en-IN" sz="1600" dirty="0">
                <a:solidFill>
                  <a:srgbClr val="800000"/>
                </a:solidFill>
                <a:latin typeface="Consolas" panose="020B0609020204030204" pitchFamily="49" charset="0"/>
              </a:rPr>
              <a:t>&lt;/table&gt;</a:t>
            </a:r>
            <a:endParaRPr lang="en-IN" sz="1600" dirty="0">
              <a:solidFill>
                <a:srgbClr val="000000"/>
              </a:solidFill>
              <a:latin typeface="Consolas" panose="020B0609020204030204" pitchFamily="49" charset="0"/>
            </a:endParaRPr>
          </a:p>
        </p:txBody>
      </p:sp>
      <p:sp>
        <p:nvSpPr>
          <p:cNvPr id="8" name="Rectangle 7">
            <a:extLst>
              <a:ext uri="{FF2B5EF4-FFF2-40B4-BE49-F238E27FC236}">
                <a16:creationId xmlns:a16="http://schemas.microsoft.com/office/drawing/2014/main" id="{A962F2EA-AC1F-A617-9CFF-1196E3B83FBB}"/>
              </a:ext>
            </a:extLst>
          </p:cNvPr>
          <p:cNvSpPr/>
          <p:nvPr/>
        </p:nvSpPr>
        <p:spPr>
          <a:xfrm>
            <a:off x="247804" y="1373273"/>
            <a:ext cx="60347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p:txBody>
      </p:sp>
      <p:sp>
        <p:nvSpPr>
          <p:cNvPr id="9" name="Rectangle: Top Corners Rounded 8">
            <a:extLst>
              <a:ext uri="{FF2B5EF4-FFF2-40B4-BE49-F238E27FC236}">
                <a16:creationId xmlns:a16="http://schemas.microsoft.com/office/drawing/2014/main" id="{F42AEC22-B73C-A6B4-4036-C4FB40AA920B}"/>
              </a:ext>
            </a:extLst>
          </p:cNvPr>
          <p:cNvSpPr/>
          <p:nvPr/>
        </p:nvSpPr>
        <p:spPr>
          <a:xfrm>
            <a:off x="247803" y="1044089"/>
            <a:ext cx="399860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something.component.html</a:t>
            </a:r>
          </a:p>
        </p:txBody>
      </p:sp>
    </p:spTree>
    <p:extLst>
      <p:ext uri="{BB962C8B-B14F-4D97-AF65-F5344CB8AC3E}">
        <p14:creationId xmlns:p14="http://schemas.microsoft.com/office/powerpoint/2010/main" val="99642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B918D-C4E9-7406-2B64-76B708AA0928}"/>
              </a:ext>
            </a:extLst>
          </p:cNvPr>
          <p:cNvSpPr>
            <a:spLocks noGrp="1"/>
          </p:cNvSpPr>
          <p:nvPr>
            <p:ph type="title"/>
          </p:nvPr>
        </p:nvSpPr>
        <p:spPr/>
        <p:txBody>
          <a:bodyPr/>
          <a:lstStyle/>
          <a:p>
            <a:r>
              <a:rPr lang="en-GB" dirty="0"/>
              <a:t>Custom Directives</a:t>
            </a:r>
            <a:endParaRPr lang="en-IN" dirty="0"/>
          </a:p>
        </p:txBody>
      </p:sp>
      <p:sp>
        <p:nvSpPr>
          <p:cNvPr id="3" name="Content Placeholder 2">
            <a:extLst>
              <a:ext uri="{FF2B5EF4-FFF2-40B4-BE49-F238E27FC236}">
                <a16:creationId xmlns:a16="http://schemas.microsoft.com/office/drawing/2014/main" id="{1F35D775-75E8-D53F-DE57-2BD9E03FBBBE}"/>
              </a:ext>
            </a:extLst>
          </p:cNvPr>
          <p:cNvSpPr>
            <a:spLocks noGrp="1"/>
          </p:cNvSpPr>
          <p:nvPr>
            <p:ph idx="1"/>
          </p:nvPr>
        </p:nvSpPr>
        <p:spPr/>
        <p:txBody>
          <a:bodyPr/>
          <a:lstStyle/>
          <a:p>
            <a:r>
              <a:rPr lang="en-GB" dirty="0"/>
              <a:t>A custom directive is a user-defined directive that allows developers to extend the functionality of HTML elements. </a:t>
            </a:r>
          </a:p>
          <a:p>
            <a:r>
              <a:rPr lang="en-GB" dirty="0"/>
              <a:t>The attribute and structural built-in directives (covered in previous two chapters) offers very basic and pre-defined functionalities. </a:t>
            </a:r>
          </a:p>
          <a:p>
            <a:r>
              <a:rPr lang="en-GB" dirty="0"/>
              <a:t>However, with custom directives, you can add specific </a:t>
            </a:r>
            <a:r>
              <a:rPr lang="en-GB" dirty="0" err="1"/>
              <a:t>behaviors</a:t>
            </a:r>
            <a:r>
              <a:rPr lang="en-GB" dirty="0"/>
              <a:t> to HTML elements based on project requirements, user interactions, or changes in data.</a:t>
            </a:r>
          </a:p>
          <a:p>
            <a:r>
              <a:rPr lang="en-GB" dirty="0"/>
              <a:t>Features and Uses of Angular Custom Directives:</a:t>
            </a:r>
          </a:p>
          <a:p>
            <a:pPr lvl="1"/>
            <a:r>
              <a:rPr lang="en-GB" dirty="0"/>
              <a:t>The first and most basic feature of a custom directive is to modify the structure or appearance of DOM elements based on your specific logic.</a:t>
            </a:r>
          </a:p>
          <a:p>
            <a:pPr lvl="1"/>
            <a:r>
              <a:rPr lang="en-GB" dirty="0"/>
              <a:t>It allows you to embed event listeners to the HTML elements so that their </a:t>
            </a:r>
            <a:r>
              <a:rPr lang="en-GB" dirty="0" err="1"/>
              <a:t>behavior</a:t>
            </a:r>
            <a:r>
              <a:rPr lang="en-GB" dirty="0"/>
              <a:t> can be changed in response to user interaction.</a:t>
            </a:r>
          </a:p>
          <a:p>
            <a:pPr lvl="1"/>
            <a:r>
              <a:rPr lang="en-GB" dirty="0"/>
              <a:t>You can create a reusable and modular piece of code using custom directives.</a:t>
            </a:r>
          </a:p>
          <a:p>
            <a:pPr lvl="1"/>
            <a:r>
              <a:rPr lang="en-GB" dirty="0"/>
              <a:t>The custom directives can also help us add various features to the user interface, such as tooltip, drag and drop, form validation, dynamic styles and much more.</a:t>
            </a:r>
            <a:endParaRPr lang="en-IN" dirty="0"/>
          </a:p>
        </p:txBody>
      </p:sp>
    </p:spTree>
    <p:extLst>
      <p:ext uri="{BB962C8B-B14F-4D97-AF65-F5344CB8AC3E}">
        <p14:creationId xmlns:p14="http://schemas.microsoft.com/office/powerpoint/2010/main" val="343741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57388-838C-EB77-6CC9-C56313CCC1BC}"/>
              </a:ext>
            </a:extLst>
          </p:cNvPr>
          <p:cNvSpPr>
            <a:spLocks noGrp="1"/>
          </p:cNvSpPr>
          <p:nvPr>
            <p:ph type="title"/>
          </p:nvPr>
        </p:nvSpPr>
        <p:spPr/>
        <p:txBody>
          <a:bodyPr/>
          <a:lstStyle/>
          <a:p>
            <a:r>
              <a:rPr lang="en-GB" dirty="0"/>
              <a:t>Custom Directives (Example)</a:t>
            </a:r>
            <a:endParaRPr lang="en-IN" dirty="0"/>
          </a:p>
        </p:txBody>
      </p:sp>
      <p:sp>
        <p:nvSpPr>
          <p:cNvPr id="3" name="Content Placeholder 2">
            <a:extLst>
              <a:ext uri="{FF2B5EF4-FFF2-40B4-BE49-F238E27FC236}">
                <a16:creationId xmlns:a16="http://schemas.microsoft.com/office/drawing/2014/main" id="{CCA1BF07-2E79-4410-DAE3-35EC4AE69961}"/>
              </a:ext>
            </a:extLst>
          </p:cNvPr>
          <p:cNvSpPr>
            <a:spLocks noGrp="1"/>
          </p:cNvSpPr>
          <p:nvPr>
            <p:ph idx="1"/>
          </p:nvPr>
        </p:nvSpPr>
        <p:spPr/>
        <p:txBody>
          <a:bodyPr/>
          <a:lstStyle/>
          <a:p>
            <a:r>
              <a:rPr lang="en-GB" dirty="0"/>
              <a:t>To create a custom directive, run the following command in Angular CLI −</a:t>
            </a:r>
          </a:p>
          <a:p>
            <a:pPr lvl="1"/>
            <a:r>
              <a:rPr lang="en-GB" dirty="0"/>
              <a:t>ng generate directive &lt;directive-name&gt;</a:t>
            </a:r>
          </a:p>
          <a:p>
            <a:pPr lvl="1"/>
            <a:r>
              <a:rPr lang="en-GB" dirty="0"/>
              <a:t>The above command will create a new directive with the specified name and add the necessary files for it. Among these files, the most important one is TypeScript file. This file has .</a:t>
            </a:r>
            <a:r>
              <a:rPr lang="en-GB" dirty="0" err="1"/>
              <a:t>ts</a:t>
            </a:r>
            <a:r>
              <a:rPr lang="en-GB" dirty="0"/>
              <a:t> extension.</a:t>
            </a:r>
          </a:p>
          <a:p>
            <a:r>
              <a:rPr lang="en-GB" dirty="0"/>
              <a:t>Step 01: ng generate directive </a:t>
            </a:r>
            <a:r>
              <a:rPr lang="en-GB" dirty="0" err="1"/>
              <a:t>customstyle</a:t>
            </a:r>
            <a:endParaRPr lang="en-GB" dirty="0"/>
          </a:p>
          <a:p>
            <a:r>
              <a:rPr lang="en-GB" dirty="0"/>
              <a:t>Step 02: Add below line to constructor in </a:t>
            </a:r>
            <a:r>
              <a:rPr lang="en-GB" dirty="0" err="1"/>
              <a:t>customstyle.directive.ts</a:t>
            </a:r>
            <a:endParaRPr lang="en-GB" dirty="0"/>
          </a:p>
          <a:p>
            <a:pPr marL="457200" lvl="1" indent="0">
              <a:buNone/>
            </a:pPr>
            <a:r>
              <a:rPr lang="en-GB" dirty="0"/>
              <a:t>constructor(</a:t>
            </a:r>
            <a:r>
              <a:rPr lang="en-GB" dirty="0" err="1"/>
              <a:t>el</a:t>
            </a:r>
            <a:r>
              <a:rPr lang="en-GB" dirty="0"/>
              <a:t>: </a:t>
            </a:r>
            <a:r>
              <a:rPr lang="en-GB" dirty="0" err="1"/>
              <a:t>ElementRef</a:t>
            </a:r>
            <a:r>
              <a:rPr lang="en-GB" dirty="0"/>
              <a:t>) { </a:t>
            </a:r>
          </a:p>
          <a:p>
            <a:pPr marL="457200" lvl="1" indent="0">
              <a:buNone/>
            </a:pPr>
            <a:r>
              <a:rPr lang="en-GB" dirty="0"/>
              <a:t>    </a:t>
            </a:r>
            <a:r>
              <a:rPr lang="en-GB" dirty="0" err="1"/>
              <a:t>el.nativeElement.style.fontSize</a:t>
            </a:r>
            <a:r>
              <a:rPr lang="en-GB" dirty="0"/>
              <a:t> = '24px’;</a:t>
            </a:r>
          </a:p>
          <a:p>
            <a:pPr marL="457200" lvl="1" indent="0">
              <a:buNone/>
            </a:pPr>
            <a:r>
              <a:rPr lang="en-GB" dirty="0"/>
              <a:t>}</a:t>
            </a:r>
          </a:p>
          <a:p>
            <a:r>
              <a:rPr lang="en-GB" dirty="0"/>
              <a:t>Step 03: &lt;p </a:t>
            </a:r>
            <a:r>
              <a:rPr lang="en-GB" dirty="0" err="1"/>
              <a:t>appCustomstyle</a:t>
            </a:r>
            <a:r>
              <a:rPr lang="en-GB" dirty="0"/>
              <a:t>&gt;This text is styled using custom style directive&lt;/p&gt;</a:t>
            </a:r>
          </a:p>
          <a:p>
            <a:endParaRPr lang="en-GB" dirty="0"/>
          </a:p>
          <a:p>
            <a:endParaRPr lang="en-IN" dirty="0"/>
          </a:p>
        </p:txBody>
      </p:sp>
    </p:spTree>
    <p:extLst>
      <p:ext uri="{BB962C8B-B14F-4D97-AF65-F5344CB8AC3E}">
        <p14:creationId xmlns:p14="http://schemas.microsoft.com/office/powerpoint/2010/main" val="175702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0DF5-A557-F076-AE3C-E0752077EDF1}"/>
              </a:ext>
            </a:extLst>
          </p:cNvPr>
          <p:cNvSpPr>
            <a:spLocks noGrp="1"/>
          </p:cNvSpPr>
          <p:nvPr>
            <p:ph type="title"/>
          </p:nvPr>
        </p:nvSpPr>
        <p:spPr/>
        <p:txBody>
          <a:bodyPr/>
          <a:lstStyle/>
          <a:p>
            <a:r>
              <a:rPr lang="en-IN" sz="3200" dirty="0">
                <a:ea typeface="Times New Roman" panose="02020603050405020304" pitchFamily="18" charset="0"/>
                <a:cs typeface="Times New Roman" panose="02020603050405020304" pitchFamily="18" charset="0"/>
              </a:rPr>
              <a:t>Observable</a:t>
            </a:r>
            <a:endParaRPr lang="en-IN" dirty="0"/>
          </a:p>
        </p:txBody>
      </p:sp>
      <p:sp>
        <p:nvSpPr>
          <p:cNvPr id="3" name="Content Placeholder 2">
            <a:extLst>
              <a:ext uri="{FF2B5EF4-FFF2-40B4-BE49-F238E27FC236}">
                <a16:creationId xmlns:a16="http://schemas.microsoft.com/office/drawing/2014/main" id="{6E514261-42C0-BF70-614C-27C99B762CBC}"/>
              </a:ext>
            </a:extLst>
          </p:cNvPr>
          <p:cNvSpPr>
            <a:spLocks noGrp="1"/>
          </p:cNvSpPr>
          <p:nvPr>
            <p:ph idx="1"/>
          </p:nvPr>
        </p:nvSpPr>
        <p:spPr/>
        <p:txBody>
          <a:bodyPr/>
          <a:lstStyle/>
          <a:p>
            <a:r>
              <a:rPr lang="en-US" dirty="0"/>
              <a:t>Angular makes use of observables as an interface to handle a variety of common asynchronous operations.</a:t>
            </a:r>
          </a:p>
          <a:p>
            <a:r>
              <a:rPr lang="en-US" dirty="0"/>
              <a:t>For example:</a:t>
            </a:r>
          </a:p>
          <a:p>
            <a:pPr lvl="1"/>
            <a:r>
              <a:rPr lang="en-US" dirty="0"/>
              <a:t>You can define custom events that send observable output data from a child to a parent component</a:t>
            </a:r>
          </a:p>
          <a:p>
            <a:pPr lvl="1"/>
            <a:r>
              <a:rPr lang="en-US" dirty="0"/>
              <a:t>The HTTP module uses observables to handle AJAX requests and responses</a:t>
            </a:r>
          </a:p>
          <a:p>
            <a:pPr lvl="1"/>
            <a:r>
              <a:rPr lang="en-US" dirty="0"/>
              <a:t>The Router and Forms modules use observables to listen for and respond to user-input events</a:t>
            </a:r>
          </a:p>
          <a:p>
            <a:r>
              <a:rPr lang="en-US" dirty="0" err="1"/>
              <a:t>Angular's</a:t>
            </a:r>
            <a:r>
              <a:rPr lang="en-US" dirty="0"/>
              <a:t> </a:t>
            </a:r>
            <a:r>
              <a:rPr lang="en-US" dirty="0" err="1">
                <a:latin typeface="Consolas" panose="020B0609020204030204" pitchFamily="49" charset="0"/>
              </a:rPr>
              <a:t>HttpClient</a:t>
            </a:r>
            <a:r>
              <a:rPr lang="en-US" dirty="0"/>
              <a:t> returns observables from HTTP method calls. </a:t>
            </a:r>
          </a:p>
          <a:p>
            <a:r>
              <a:rPr lang="en-US" dirty="0"/>
              <a:t>For instance, </a:t>
            </a:r>
            <a:r>
              <a:rPr lang="en-US" dirty="0" err="1"/>
              <a:t>http.get</a:t>
            </a:r>
            <a:r>
              <a:rPr lang="en-US" dirty="0"/>
              <a:t>('/</a:t>
            </a:r>
            <a:r>
              <a:rPr lang="en-US" dirty="0" err="1"/>
              <a:t>api</a:t>
            </a:r>
            <a:r>
              <a:rPr lang="en-US" dirty="0"/>
              <a:t>') returns an observable. </a:t>
            </a:r>
          </a:p>
          <a:p>
            <a:r>
              <a:rPr lang="en-US" dirty="0"/>
              <a:t>This provides several advantages over promise-based HTTP APIs:</a:t>
            </a:r>
          </a:p>
          <a:p>
            <a:pPr lvl="1"/>
            <a:r>
              <a:rPr lang="en-US" dirty="0"/>
              <a:t>Observables do not mutate the server response (as can occur through chained .then() calls on promises). Instead, you can use a series of operators to transform values as needed.</a:t>
            </a:r>
          </a:p>
          <a:p>
            <a:pPr lvl="1"/>
            <a:r>
              <a:rPr lang="en-US" dirty="0"/>
              <a:t>HTTP requests are cancellable through the unsubscribe() method</a:t>
            </a:r>
          </a:p>
          <a:p>
            <a:pPr lvl="1"/>
            <a:r>
              <a:rPr lang="en-US" dirty="0"/>
              <a:t>Requests can be configured to get progress event updates</a:t>
            </a:r>
          </a:p>
          <a:p>
            <a:pPr lvl="1"/>
            <a:r>
              <a:rPr lang="en-US" dirty="0"/>
              <a:t>Failed requests can be retried easily</a:t>
            </a:r>
          </a:p>
          <a:p>
            <a:endParaRPr lang="en-IN" dirty="0"/>
          </a:p>
        </p:txBody>
      </p:sp>
    </p:spTree>
    <p:extLst>
      <p:ext uri="{BB962C8B-B14F-4D97-AF65-F5344CB8AC3E}">
        <p14:creationId xmlns:p14="http://schemas.microsoft.com/office/powerpoint/2010/main" val="1614780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F6C38-F13F-6831-239D-6D6A7E9B278F}"/>
              </a:ext>
            </a:extLst>
          </p:cNvPr>
          <p:cNvSpPr>
            <a:spLocks noGrp="1"/>
          </p:cNvSpPr>
          <p:nvPr>
            <p:ph type="title"/>
          </p:nvPr>
        </p:nvSpPr>
        <p:spPr/>
        <p:txBody>
          <a:bodyPr/>
          <a:lstStyle/>
          <a:p>
            <a:r>
              <a:rPr lang="en-IN" sz="3200" dirty="0">
                <a:ea typeface="Times New Roman" panose="02020603050405020304" pitchFamily="18" charset="0"/>
                <a:cs typeface="Times New Roman" panose="02020603050405020304" pitchFamily="18" charset="0"/>
              </a:rPr>
              <a:t>Dependency Injection (DI)</a:t>
            </a:r>
            <a:endParaRPr lang="en-IN" dirty="0"/>
          </a:p>
        </p:txBody>
      </p:sp>
      <p:sp>
        <p:nvSpPr>
          <p:cNvPr id="3" name="Content Placeholder 2">
            <a:extLst>
              <a:ext uri="{FF2B5EF4-FFF2-40B4-BE49-F238E27FC236}">
                <a16:creationId xmlns:a16="http://schemas.microsoft.com/office/drawing/2014/main" id="{D597B86A-1D71-73D0-1DE1-37A8267045F3}"/>
              </a:ext>
            </a:extLst>
          </p:cNvPr>
          <p:cNvSpPr>
            <a:spLocks noGrp="1"/>
          </p:cNvSpPr>
          <p:nvPr>
            <p:ph idx="1"/>
          </p:nvPr>
        </p:nvSpPr>
        <p:spPr/>
        <p:txBody>
          <a:bodyPr/>
          <a:lstStyle/>
          <a:p>
            <a:r>
              <a:rPr lang="en-US" dirty="0"/>
              <a:t>Dependencies are services or objects that a class needs to perform its function. Dependency injection, or DI, is a design pattern in which a class requests dependencies from external sources rather than creating them.</a:t>
            </a:r>
          </a:p>
          <a:p>
            <a:r>
              <a:rPr lang="en-US" dirty="0" err="1"/>
              <a:t>Angular's</a:t>
            </a:r>
            <a:r>
              <a:rPr lang="en-US" dirty="0"/>
              <a:t> DI framework provides dependencies to a class upon instantiation.</a:t>
            </a:r>
          </a:p>
          <a:p>
            <a:r>
              <a:rPr lang="en-US" dirty="0"/>
              <a:t>We can use Angular DI to increase flexibility and modularity in your applications.</a:t>
            </a:r>
          </a:p>
          <a:p>
            <a:r>
              <a:rPr lang="en-US" dirty="0"/>
              <a:t>Consider two classes, A and B. Let’s assume that class A uses the objects of class B. Normally, in OOPs, an instance of class B is created so that class A can access the objects. Using DI, we move the creation and binding of the dependent objects outside of the class that depend on them.</a:t>
            </a:r>
          </a:p>
          <a:p>
            <a:r>
              <a:rPr lang="en-US" dirty="0"/>
              <a:t>Advantages of Dependency Injection</a:t>
            </a:r>
          </a:p>
          <a:p>
            <a:pPr lvl="1"/>
            <a:r>
              <a:rPr lang="en-US" dirty="0"/>
              <a:t>Dependency Injection helps in Unit testing.</a:t>
            </a:r>
          </a:p>
          <a:p>
            <a:pPr lvl="1"/>
            <a:r>
              <a:rPr lang="en-US" dirty="0"/>
              <a:t>Boilerplate code is reduced, as initializing of dependencies is done by the injector component.</a:t>
            </a:r>
          </a:p>
          <a:p>
            <a:pPr lvl="1"/>
            <a:r>
              <a:rPr lang="en-US" dirty="0"/>
              <a:t>Extending the application becomes more manageable.</a:t>
            </a:r>
          </a:p>
          <a:p>
            <a:pPr lvl="1"/>
            <a:r>
              <a:rPr lang="en-US" dirty="0"/>
              <a:t>It helps to enable loose coupling, which is essential in application programming. </a:t>
            </a:r>
          </a:p>
          <a:p>
            <a:endParaRPr lang="en-IN" dirty="0"/>
          </a:p>
        </p:txBody>
      </p:sp>
    </p:spTree>
    <p:extLst>
      <p:ext uri="{BB962C8B-B14F-4D97-AF65-F5344CB8AC3E}">
        <p14:creationId xmlns:p14="http://schemas.microsoft.com/office/powerpoint/2010/main" val="392195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41A30-E1A1-37CC-19A8-CF84A7DF68C9}"/>
              </a:ext>
            </a:extLst>
          </p:cNvPr>
          <p:cNvSpPr>
            <a:spLocks noGrp="1"/>
          </p:cNvSpPr>
          <p:nvPr>
            <p:ph type="title"/>
          </p:nvPr>
        </p:nvSpPr>
        <p:spPr/>
        <p:txBody>
          <a:bodyPr/>
          <a:lstStyle/>
          <a:p>
            <a:r>
              <a:rPr lang="en-GB" dirty="0"/>
              <a:t>Forms</a:t>
            </a:r>
            <a:endParaRPr lang="en-IN" dirty="0"/>
          </a:p>
        </p:txBody>
      </p:sp>
      <p:sp>
        <p:nvSpPr>
          <p:cNvPr id="3" name="Content Placeholder 2">
            <a:extLst>
              <a:ext uri="{FF2B5EF4-FFF2-40B4-BE49-F238E27FC236}">
                <a16:creationId xmlns:a16="http://schemas.microsoft.com/office/drawing/2014/main" id="{552497D2-C5E2-EF17-A5CE-9960A2A44719}"/>
              </a:ext>
            </a:extLst>
          </p:cNvPr>
          <p:cNvSpPr>
            <a:spLocks noGrp="1"/>
          </p:cNvSpPr>
          <p:nvPr>
            <p:ph idx="1"/>
          </p:nvPr>
        </p:nvSpPr>
        <p:spPr/>
        <p:txBody>
          <a:bodyPr/>
          <a:lstStyle/>
          <a:p>
            <a:r>
              <a:rPr lang="en-GB" dirty="0"/>
              <a:t>Handling user input with forms is the cornerstone of many common applications.</a:t>
            </a:r>
          </a:p>
          <a:p>
            <a:r>
              <a:rPr lang="en-GB" dirty="0"/>
              <a:t>Applications use forms to enable users to log in, to update a profile, to enter sensitive information, and to perform many other data-entry tasks.</a:t>
            </a:r>
          </a:p>
          <a:p>
            <a:r>
              <a:rPr lang="en-GB" dirty="0"/>
              <a:t>Angular provides two different approaches to handling user input through forms: </a:t>
            </a:r>
          </a:p>
          <a:p>
            <a:pPr lvl="1"/>
            <a:r>
              <a:rPr lang="en-GB" dirty="0"/>
              <a:t>Reactive</a:t>
            </a:r>
          </a:p>
          <a:p>
            <a:pPr lvl="1"/>
            <a:r>
              <a:rPr lang="en-GB" dirty="0"/>
              <a:t>Template-Driven </a:t>
            </a:r>
          </a:p>
          <a:p>
            <a:r>
              <a:rPr lang="en-GB" dirty="0"/>
              <a:t>Both capture user input events from the view, validate the user input, create a form model and data model to update, and provide a way to track changes.</a:t>
            </a:r>
          </a:p>
          <a:p>
            <a:r>
              <a:rPr lang="en-GB" dirty="0"/>
              <a:t>In the following slides we have information to help you decide which type of form works best for your situation. </a:t>
            </a:r>
          </a:p>
          <a:p>
            <a:r>
              <a:rPr lang="en-GB" dirty="0"/>
              <a:t>It introduces the common building blocks used by both approaches. </a:t>
            </a:r>
          </a:p>
          <a:p>
            <a:r>
              <a:rPr lang="en-GB" dirty="0"/>
              <a:t>It also summarizes the key differences between the two approaches, and demonstrates those differences in the context of setup, data flow, and testing.</a:t>
            </a:r>
            <a:endParaRPr lang="en-IN" dirty="0"/>
          </a:p>
        </p:txBody>
      </p:sp>
    </p:spTree>
    <p:extLst>
      <p:ext uri="{BB962C8B-B14F-4D97-AF65-F5344CB8AC3E}">
        <p14:creationId xmlns:p14="http://schemas.microsoft.com/office/powerpoint/2010/main" val="30670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9D345-125C-B0BD-C3F0-8379FC286550}"/>
              </a:ext>
            </a:extLst>
          </p:cNvPr>
          <p:cNvSpPr>
            <a:spLocks noGrp="1"/>
          </p:cNvSpPr>
          <p:nvPr>
            <p:ph type="title"/>
          </p:nvPr>
        </p:nvSpPr>
        <p:spPr/>
        <p:txBody>
          <a:bodyPr/>
          <a:lstStyle/>
          <a:p>
            <a:r>
              <a:rPr lang="en-IN" dirty="0"/>
              <a:t>Template-driven forms</a:t>
            </a:r>
          </a:p>
        </p:txBody>
      </p:sp>
      <p:sp>
        <p:nvSpPr>
          <p:cNvPr id="3" name="Content Placeholder 2">
            <a:extLst>
              <a:ext uri="{FF2B5EF4-FFF2-40B4-BE49-F238E27FC236}">
                <a16:creationId xmlns:a16="http://schemas.microsoft.com/office/drawing/2014/main" id="{1A2D2993-9614-6DE5-69E6-DA25B73E78C6}"/>
              </a:ext>
            </a:extLst>
          </p:cNvPr>
          <p:cNvSpPr>
            <a:spLocks noGrp="1"/>
          </p:cNvSpPr>
          <p:nvPr>
            <p:ph idx="1"/>
          </p:nvPr>
        </p:nvSpPr>
        <p:spPr/>
        <p:txBody>
          <a:bodyPr/>
          <a:lstStyle/>
          <a:p>
            <a:r>
              <a:rPr lang="en-GB" dirty="0"/>
              <a:t>Template-driven forms rely on directives in the template to create and manipulate the underlying object model. </a:t>
            </a:r>
          </a:p>
          <a:p>
            <a:r>
              <a:rPr lang="en-GB" dirty="0"/>
              <a:t>They are useful for adding a simple form to an app, such as an email list signup form. </a:t>
            </a:r>
          </a:p>
          <a:p>
            <a:r>
              <a:rPr lang="en-GB" dirty="0"/>
              <a:t>They're straightforward to add to an app, but they don't scale as well as reactive forms. </a:t>
            </a:r>
          </a:p>
          <a:p>
            <a:r>
              <a:rPr lang="en-GB" dirty="0"/>
              <a:t>If you have very basic form requirements and logic that can be managed solely in the template, template-driven forms could be a good fit.</a:t>
            </a:r>
          </a:p>
          <a:p>
            <a:r>
              <a:rPr lang="en-GB" dirty="0"/>
              <a:t>Template-driven forms use two-way data binding to update the data model in the component as changes are made in the template and vice versa.</a:t>
            </a:r>
            <a:endParaRPr lang="en-IN" dirty="0"/>
          </a:p>
          <a:p>
            <a:r>
              <a:rPr lang="en-GB" dirty="0"/>
              <a:t>Template-driven forms rely on directives defined in the </a:t>
            </a:r>
            <a:r>
              <a:rPr lang="en-GB" b="1" dirty="0" err="1"/>
              <a:t>FormsModule</a:t>
            </a:r>
            <a:r>
              <a:rPr lang="en-GB" dirty="0"/>
              <a:t>.</a:t>
            </a:r>
          </a:p>
          <a:p>
            <a:endParaRPr lang="en-GB" dirty="0"/>
          </a:p>
        </p:txBody>
      </p:sp>
      <p:graphicFrame>
        <p:nvGraphicFramePr>
          <p:cNvPr id="7" name="Table 6">
            <a:extLst>
              <a:ext uri="{FF2B5EF4-FFF2-40B4-BE49-F238E27FC236}">
                <a16:creationId xmlns:a16="http://schemas.microsoft.com/office/drawing/2014/main" id="{ADE9556C-1F48-A3B6-4A03-BAF30EB1D98D}"/>
              </a:ext>
            </a:extLst>
          </p:cNvPr>
          <p:cNvGraphicFramePr>
            <a:graphicFrameLocks noGrp="1"/>
          </p:cNvGraphicFramePr>
          <p:nvPr>
            <p:extLst>
              <p:ext uri="{D42A27DB-BD31-4B8C-83A1-F6EECF244321}">
                <p14:modId xmlns:p14="http://schemas.microsoft.com/office/powerpoint/2010/main" val="1557337162"/>
              </p:ext>
            </p:extLst>
          </p:nvPr>
        </p:nvGraphicFramePr>
        <p:xfrm>
          <a:off x="520071" y="4630763"/>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25432214"/>
                    </a:ext>
                  </a:extLst>
                </a:gridCol>
                <a:gridCol w="4064000">
                  <a:extLst>
                    <a:ext uri="{9D8B030D-6E8A-4147-A177-3AD203B41FA5}">
                      <a16:colId xmlns:a16="http://schemas.microsoft.com/office/drawing/2014/main" val="3257914424"/>
                    </a:ext>
                  </a:extLst>
                </a:gridCol>
              </a:tblGrid>
              <a:tr h="370840">
                <a:tc>
                  <a:txBody>
                    <a:bodyPr/>
                    <a:lstStyle/>
                    <a:p>
                      <a:r>
                        <a:rPr lang="en-IN" dirty="0"/>
                        <a:t>Directive</a:t>
                      </a:r>
                    </a:p>
                  </a:txBody>
                  <a:tcPr/>
                </a:tc>
                <a:tc>
                  <a:txBody>
                    <a:bodyPr/>
                    <a:lstStyle/>
                    <a:p>
                      <a:r>
                        <a:rPr lang="en-IN" dirty="0"/>
                        <a:t>Details</a:t>
                      </a:r>
                    </a:p>
                  </a:txBody>
                  <a:tcPr/>
                </a:tc>
                <a:extLst>
                  <a:ext uri="{0D108BD9-81ED-4DB2-BD59-A6C34878D82A}">
                    <a16:rowId xmlns:a16="http://schemas.microsoft.com/office/drawing/2014/main" val="2817418226"/>
                  </a:ext>
                </a:extLst>
              </a:tr>
              <a:tr h="370840">
                <a:tc>
                  <a:txBody>
                    <a:bodyPr/>
                    <a:lstStyle/>
                    <a:p>
                      <a:r>
                        <a:rPr lang="en-IN" dirty="0" err="1"/>
                        <a:t>NgModel</a:t>
                      </a:r>
                      <a:endParaRPr lang="en-IN" dirty="0"/>
                    </a:p>
                  </a:txBody>
                  <a:tcPr/>
                </a:tc>
                <a:tc>
                  <a:txBody>
                    <a:bodyPr/>
                    <a:lstStyle/>
                    <a:p>
                      <a:r>
                        <a:rPr lang="en-IN" dirty="0"/>
                        <a:t>To provide two way binding</a:t>
                      </a:r>
                    </a:p>
                  </a:txBody>
                  <a:tcPr/>
                </a:tc>
                <a:extLst>
                  <a:ext uri="{0D108BD9-81ED-4DB2-BD59-A6C34878D82A}">
                    <a16:rowId xmlns:a16="http://schemas.microsoft.com/office/drawing/2014/main" val="2789737966"/>
                  </a:ext>
                </a:extLst>
              </a:tr>
              <a:tr h="370840">
                <a:tc>
                  <a:txBody>
                    <a:bodyPr/>
                    <a:lstStyle/>
                    <a:p>
                      <a:r>
                        <a:rPr lang="en-IN" dirty="0" err="1"/>
                        <a:t>NgForm</a:t>
                      </a:r>
                      <a:endParaRPr lang="en-IN" dirty="0"/>
                    </a:p>
                  </a:txBody>
                  <a:tcPr/>
                </a:tc>
                <a:tc>
                  <a:txBody>
                    <a:bodyPr/>
                    <a:lstStyle/>
                    <a:p>
                      <a:r>
                        <a:rPr lang="en-IN" dirty="0"/>
                        <a:t>To create top level form group instance</a:t>
                      </a:r>
                    </a:p>
                  </a:txBody>
                  <a:tcPr/>
                </a:tc>
                <a:extLst>
                  <a:ext uri="{0D108BD9-81ED-4DB2-BD59-A6C34878D82A}">
                    <a16:rowId xmlns:a16="http://schemas.microsoft.com/office/drawing/2014/main" val="2580267882"/>
                  </a:ext>
                </a:extLst>
              </a:tr>
              <a:tr h="370840">
                <a:tc>
                  <a:txBody>
                    <a:bodyPr/>
                    <a:lstStyle/>
                    <a:p>
                      <a:r>
                        <a:rPr lang="en-IN" dirty="0" err="1"/>
                        <a:t>NgModelGroup</a:t>
                      </a:r>
                      <a:endParaRPr lang="en-IN" dirty="0"/>
                    </a:p>
                  </a:txBody>
                  <a:tcPr/>
                </a:tc>
                <a:tc>
                  <a:txBody>
                    <a:bodyPr/>
                    <a:lstStyle/>
                    <a:p>
                      <a:r>
                        <a:rPr lang="en-IN" dirty="0"/>
                        <a:t>To group the </a:t>
                      </a:r>
                      <a:r>
                        <a:rPr lang="en-IN" dirty="0" err="1"/>
                        <a:t>NgModel</a:t>
                      </a:r>
                      <a:endParaRPr lang="en-IN" dirty="0"/>
                    </a:p>
                  </a:txBody>
                  <a:tcPr/>
                </a:tc>
                <a:extLst>
                  <a:ext uri="{0D108BD9-81ED-4DB2-BD59-A6C34878D82A}">
                    <a16:rowId xmlns:a16="http://schemas.microsoft.com/office/drawing/2014/main" val="2920809199"/>
                  </a:ext>
                </a:extLst>
              </a:tr>
            </a:tbl>
          </a:graphicData>
        </a:graphic>
      </p:graphicFrame>
    </p:spTree>
    <p:extLst>
      <p:ext uri="{BB962C8B-B14F-4D97-AF65-F5344CB8AC3E}">
        <p14:creationId xmlns:p14="http://schemas.microsoft.com/office/powerpoint/2010/main" val="2829082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3DE7C-51A1-7D18-9A62-431505AB7296}"/>
              </a:ext>
            </a:extLst>
          </p:cNvPr>
          <p:cNvSpPr>
            <a:spLocks noGrp="1"/>
          </p:cNvSpPr>
          <p:nvPr>
            <p:ph type="title"/>
          </p:nvPr>
        </p:nvSpPr>
        <p:spPr/>
        <p:txBody>
          <a:bodyPr/>
          <a:lstStyle/>
          <a:p>
            <a:r>
              <a:rPr lang="en-GB" dirty="0"/>
              <a:t>Steps to create Template Driven Form</a:t>
            </a:r>
            <a:endParaRPr lang="en-IN" dirty="0"/>
          </a:p>
        </p:txBody>
      </p:sp>
      <p:sp>
        <p:nvSpPr>
          <p:cNvPr id="3" name="Content Placeholder 2">
            <a:extLst>
              <a:ext uri="{FF2B5EF4-FFF2-40B4-BE49-F238E27FC236}">
                <a16:creationId xmlns:a16="http://schemas.microsoft.com/office/drawing/2014/main" id="{96815EEF-95F3-6F95-5B1B-A2D4B586550E}"/>
              </a:ext>
            </a:extLst>
          </p:cNvPr>
          <p:cNvSpPr>
            <a:spLocks noGrp="1"/>
          </p:cNvSpPr>
          <p:nvPr>
            <p:ph idx="1"/>
          </p:nvPr>
        </p:nvSpPr>
        <p:spPr/>
        <p:txBody>
          <a:bodyPr/>
          <a:lstStyle/>
          <a:p>
            <a:r>
              <a:rPr lang="en-GB" dirty="0"/>
              <a:t>Step 01: Build the basic form	</a:t>
            </a:r>
          </a:p>
          <a:p>
            <a:pPr lvl="1"/>
            <a:r>
              <a:rPr lang="it-IT" dirty="0"/>
              <a:t>Define a sample data model</a:t>
            </a:r>
            <a:endParaRPr lang="en-GB" dirty="0"/>
          </a:p>
          <a:p>
            <a:pPr lvl="1"/>
            <a:r>
              <a:rPr lang="en-GB" dirty="0"/>
              <a:t>Include required infrastructure such as the </a:t>
            </a:r>
            <a:r>
              <a:rPr lang="en-GB" dirty="0" err="1"/>
              <a:t>FormsModule</a:t>
            </a:r>
            <a:endParaRPr lang="en-GB" dirty="0"/>
          </a:p>
          <a:p>
            <a:r>
              <a:rPr lang="en-GB" dirty="0"/>
              <a:t>Step 02: Bind form tag using </a:t>
            </a:r>
            <a:r>
              <a:rPr lang="en-GB" dirty="0" err="1"/>
              <a:t>ngForm</a:t>
            </a:r>
            <a:endParaRPr lang="en-GB" dirty="0"/>
          </a:p>
          <a:p>
            <a:pPr marL="0" indent="0">
              <a:buNone/>
            </a:pPr>
            <a:endParaRPr lang="en-GB" dirty="0"/>
          </a:p>
          <a:p>
            <a:r>
              <a:rPr lang="en-GB" dirty="0"/>
              <a:t>Step 03: Bind form controls using </a:t>
            </a:r>
            <a:r>
              <a:rPr lang="en-GB" dirty="0" err="1"/>
              <a:t>ngModel</a:t>
            </a:r>
            <a:endParaRPr lang="en-GB" dirty="0"/>
          </a:p>
          <a:p>
            <a:endParaRPr lang="en-GB" dirty="0"/>
          </a:p>
          <a:p>
            <a:r>
              <a:rPr lang="en-GB" dirty="0"/>
              <a:t>Step 04: Track input validity and control status</a:t>
            </a:r>
          </a:p>
          <a:p>
            <a:r>
              <a:rPr lang="en-GB" dirty="0"/>
              <a:t>Step 05: Handle the form submit event using </a:t>
            </a:r>
            <a:r>
              <a:rPr lang="en-GB" dirty="0" err="1"/>
              <a:t>ngSubmit</a:t>
            </a:r>
            <a:endParaRPr lang="en-GB" dirty="0"/>
          </a:p>
          <a:p>
            <a:pPr lvl="1"/>
            <a:endParaRPr lang="en-IN" dirty="0"/>
          </a:p>
        </p:txBody>
      </p:sp>
      <p:sp>
        <p:nvSpPr>
          <p:cNvPr id="5" name="Rectangle 4">
            <a:extLst>
              <a:ext uri="{FF2B5EF4-FFF2-40B4-BE49-F238E27FC236}">
                <a16:creationId xmlns:a16="http://schemas.microsoft.com/office/drawing/2014/main" id="{4209CA81-7587-EB89-D945-7DBA93513A79}"/>
              </a:ext>
            </a:extLst>
          </p:cNvPr>
          <p:cNvSpPr/>
          <p:nvPr/>
        </p:nvSpPr>
        <p:spPr>
          <a:xfrm>
            <a:off x="497942" y="2407076"/>
            <a:ext cx="7357166" cy="338554"/>
          </a:xfrm>
          <a:prstGeom prst="rect">
            <a:avLst/>
          </a:prstGeom>
          <a:solidFill>
            <a:schemeClr val="bg1">
              <a:lumMod val="95000"/>
            </a:schemeClr>
          </a:solidFill>
          <a:ln>
            <a:noFill/>
          </a:ln>
        </p:spPr>
        <p:txBody>
          <a:bodyPr wrap="square">
            <a:spAutoFit/>
          </a:bodyPr>
          <a:lstStyle/>
          <a:p>
            <a:r>
              <a:rPr lang="en-IN" sz="1600" dirty="0">
                <a:solidFill>
                  <a:srgbClr val="800000"/>
                </a:solidFill>
                <a:latin typeface="Consolas" panose="020B0609020204030204" pitchFamily="49" charset="0"/>
              </a:rPr>
              <a:t>&lt;form</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#studentForm</a:t>
            </a:r>
            <a:r>
              <a:rPr lang="en-IN" sz="1600" dirty="0">
                <a:solidFill>
                  <a:srgbClr val="000000"/>
                </a:solidFill>
                <a:latin typeface="Consolas" panose="020B0609020204030204" pitchFamily="49" charset="0"/>
              </a:rPr>
              <a:t>=</a:t>
            </a:r>
            <a:r>
              <a:rPr lang="en-IN" sz="1600" dirty="0">
                <a:solidFill>
                  <a:srgbClr val="0000FF"/>
                </a:solidFill>
                <a:latin typeface="Consolas" panose="020B0609020204030204" pitchFamily="49" charset="0"/>
              </a:rPr>
              <a:t>"ngForm"</a:t>
            </a:r>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&gt;</a:t>
            </a:r>
            <a:endParaRPr lang="en-IN" sz="160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59941853-14E9-6FAD-1807-72FFA2528F84}"/>
              </a:ext>
            </a:extLst>
          </p:cNvPr>
          <p:cNvSpPr/>
          <p:nvPr/>
        </p:nvSpPr>
        <p:spPr>
          <a:xfrm>
            <a:off x="497941" y="3372366"/>
            <a:ext cx="11562879" cy="338554"/>
          </a:xfrm>
          <a:prstGeom prst="rect">
            <a:avLst/>
          </a:prstGeom>
          <a:solidFill>
            <a:schemeClr val="bg1">
              <a:lumMod val="95000"/>
            </a:schemeClr>
          </a:solidFill>
          <a:ln>
            <a:noFill/>
          </a:ln>
        </p:spPr>
        <p:txBody>
          <a:bodyPr wrap="square">
            <a:spAutoFit/>
          </a:bodyPr>
          <a:lstStyle/>
          <a:p>
            <a:r>
              <a:rPr lang="en-IN" sz="1600" dirty="0">
                <a:solidFill>
                  <a:srgbClr val="800000"/>
                </a:solidFill>
                <a:latin typeface="Consolas" panose="020B0609020204030204" pitchFamily="49" charset="0"/>
              </a:rPr>
              <a:t>&lt;input</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type</a:t>
            </a:r>
            <a:r>
              <a:rPr lang="en-IN" sz="1600" dirty="0">
                <a:solidFill>
                  <a:srgbClr val="000000"/>
                </a:solidFill>
                <a:latin typeface="Consolas" panose="020B0609020204030204" pitchFamily="49" charset="0"/>
              </a:rPr>
              <a:t>=</a:t>
            </a:r>
            <a:r>
              <a:rPr lang="en-IN" sz="1600" dirty="0">
                <a:solidFill>
                  <a:srgbClr val="0000FF"/>
                </a:solidFill>
                <a:latin typeface="Consolas" panose="020B0609020204030204" pitchFamily="49" charset="0"/>
              </a:rPr>
              <a:t>"text"</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name</a:t>
            </a:r>
            <a:r>
              <a:rPr lang="en-IN" sz="1600" dirty="0">
                <a:solidFill>
                  <a:srgbClr val="000000"/>
                </a:solidFill>
                <a:latin typeface="Consolas" panose="020B0609020204030204" pitchFamily="49" charset="0"/>
              </a:rPr>
              <a:t>=</a:t>
            </a:r>
            <a:r>
              <a:rPr lang="en-IN" sz="1600" dirty="0">
                <a:solidFill>
                  <a:srgbClr val="0000FF"/>
                </a:solidFill>
                <a:latin typeface="Consolas" panose="020B0609020204030204" pitchFamily="49" charset="0"/>
              </a:rPr>
              <a:t>"</a:t>
            </a:r>
            <a:r>
              <a:rPr lang="en-IN" sz="1600" dirty="0" err="1">
                <a:solidFill>
                  <a:srgbClr val="0000FF"/>
                </a:solidFill>
                <a:latin typeface="Consolas" panose="020B0609020204030204" pitchFamily="49" charset="0"/>
              </a:rPr>
              <a:t>middlename</a:t>
            </a:r>
            <a:r>
              <a:rPr lang="en-IN" sz="1600" dirty="0">
                <a:solidFill>
                  <a:srgbClr val="0000FF"/>
                </a:solidFill>
                <a:latin typeface="Consolas" panose="020B0609020204030204" pitchFamily="49" charset="0"/>
              </a:rPr>
              <a:t>"</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ngModel</a:t>
            </a:r>
            <a:r>
              <a:rPr lang="en-IN" sz="1600" dirty="0">
                <a:solidFill>
                  <a:srgbClr val="E50000"/>
                </a:solidFill>
                <a:latin typeface="Consolas" panose="020B0609020204030204" pitchFamily="49" charset="0"/>
              </a:rPr>
              <a:t>)]</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err="1">
                <a:solidFill>
                  <a:srgbClr val="001080"/>
                </a:solidFill>
                <a:latin typeface="Consolas" panose="020B0609020204030204" pitchFamily="49" charset="0"/>
              </a:rPr>
              <a:t>data</a:t>
            </a:r>
            <a:r>
              <a:rPr lang="en-IN" sz="1600" dirty="0" err="1">
                <a:solidFill>
                  <a:srgbClr val="000000"/>
                </a:solidFill>
                <a:latin typeface="Consolas" panose="020B0609020204030204" pitchFamily="49" charset="0"/>
              </a:rPr>
              <a:t>.</a:t>
            </a:r>
            <a:r>
              <a:rPr lang="en-IN" sz="1600" dirty="0" err="1">
                <a:solidFill>
                  <a:srgbClr val="001080"/>
                </a:solidFill>
                <a:latin typeface="Consolas" panose="020B0609020204030204" pitchFamily="49" charset="0"/>
              </a:rPr>
              <a:t>middlename</a:t>
            </a:r>
            <a:r>
              <a:rPr lang="en-IN" sz="1600" dirty="0">
                <a:solidFill>
                  <a:srgbClr val="A31515"/>
                </a:solidFill>
                <a:latin typeface="Consolas" panose="020B0609020204030204" pitchFamily="49" charset="0"/>
              </a:rPr>
              <a:t>"</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#middlename</a:t>
            </a:r>
            <a:r>
              <a:rPr lang="en-IN" sz="1600" dirty="0">
                <a:solidFill>
                  <a:srgbClr val="000000"/>
                </a:solidFill>
                <a:latin typeface="Consolas" panose="020B0609020204030204" pitchFamily="49" charset="0"/>
              </a:rPr>
              <a:t>=</a:t>
            </a:r>
            <a:r>
              <a:rPr lang="en-IN" sz="1600" dirty="0">
                <a:solidFill>
                  <a:srgbClr val="0000FF"/>
                </a:solidFill>
                <a:latin typeface="Consolas" panose="020B0609020204030204" pitchFamily="49" charset="0"/>
              </a:rPr>
              <a:t>"ngModel"</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required</a:t>
            </a:r>
            <a:r>
              <a:rPr lang="en-IN" sz="1600" dirty="0">
                <a:solidFill>
                  <a:srgbClr val="000000"/>
                </a:solidFill>
                <a:latin typeface="Consolas" panose="020B0609020204030204" pitchFamily="49" charset="0"/>
              </a:rPr>
              <a:t> </a:t>
            </a:r>
            <a:r>
              <a:rPr lang="en-IN" sz="1600" dirty="0">
                <a:solidFill>
                  <a:srgbClr val="800000"/>
                </a:solidFill>
                <a:latin typeface="Consolas" panose="020B0609020204030204" pitchFamily="49" charset="0"/>
              </a:rPr>
              <a:t>/&gt;</a:t>
            </a:r>
            <a:endParaRPr lang="en-IN" sz="1600" dirty="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80EBCAEC-2696-D718-50D6-FCCDC9EB8D03}"/>
              </a:ext>
            </a:extLst>
          </p:cNvPr>
          <p:cNvSpPr/>
          <p:nvPr/>
        </p:nvSpPr>
        <p:spPr>
          <a:xfrm>
            <a:off x="497941" y="4698040"/>
            <a:ext cx="7357166" cy="338554"/>
          </a:xfrm>
          <a:prstGeom prst="rect">
            <a:avLst/>
          </a:prstGeom>
          <a:solidFill>
            <a:schemeClr val="bg1">
              <a:lumMod val="95000"/>
            </a:schemeClr>
          </a:solidFill>
          <a:ln>
            <a:noFill/>
          </a:ln>
        </p:spPr>
        <p:txBody>
          <a:bodyPr wrap="square">
            <a:spAutoFit/>
          </a:bodyPr>
          <a:lstStyle/>
          <a:p>
            <a:r>
              <a:rPr lang="en-IN" sz="1600" dirty="0">
                <a:solidFill>
                  <a:srgbClr val="800000"/>
                </a:solidFill>
                <a:latin typeface="Consolas" panose="020B0609020204030204" pitchFamily="49" charset="0"/>
              </a:rPr>
              <a:t>&lt;form</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#studentForm</a:t>
            </a:r>
            <a:r>
              <a:rPr lang="en-IN" sz="1600" dirty="0">
                <a:solidFill>
                  <a:srgbClr val="000000"/>
                </a:solidFill>
                <a:latin typeface="Consolas" panose="020B0609020204030204" pitchFamily="49" charset="0"/>
              </a:rPr>
              <a:t>=</a:t>
            </a:r>
            <a:r>
              <a:rPr lang="en-IN" sz="1600" dirty="0">
                <a:solidFill>
                  <a:srgbClr val="0000FF"/>
                </a:solidFill>
                <a:latin typeface="Consolas" panose="020B0609020204030204" pitchFamily="49" charset="0"/>
              </a:rPr>
              <a:t>"ngForm"</a:t>
            </a:r>
            <a:r>
              <a:rPr lang="en-IN" sz="1600" dirty="0">
                <a:solidFill>
                  <a:srgbClr val="000000"/>
                </a:solidFill>
                <a:latin typeface="Consolas" panose="020B0609020204030204" pitchFamily="49" charset="0"/>
              </a:rPr>
              <a:t> </a:t>
            </a:r>
            <a:r>
              <a:rPr lang="en-IN" sz="1600" dirty="0">
                <a:solidFill>
                  <a:srgbClr val="E50000"/>
                </a:solidFill>
                <a:latin typeface="Consolas" panose="020B0609020204030204" pitchFamily="49" charset="0"/>
              </a:rPr>
              <a:t>(</a:t>
            </a:r>
            <a:r>
              <a:rPr lang="en-IN" sz="1600" dirty="0" err="1">
                <a:solidFill>
                  <a:srgbClr val="E50000"/>
                </a:solidFill>
                <a:latin typeface="Consolas" panose="020B0609020204030204" pitchFamily="49" charset="0"/>
              </a:rPr>
              <a:t>ngSubmit</a:t>
            </a:r>
            <a:r>
              <a:rPr lang="en-IN" sz="1600" dirty="0">
                <a:solidFill>
                  <a:srgbClr val="E50000"/>
                </a:solidFill>
                <a:latin typeface="Consolas" panose="020B0609020204030204" pitchFamily="49" charset="0"/>
              </a:rPr>
              <a:t>)</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err="1">
                <a:solidFill>
                  <a:srgbClr val="795E26"/>
                </a:solidFill>
                <a:latin typeface="Consolas" panose="020B0609020204030204" pitchFamily="49" charset="0"/>
              </a:rPr>
              <a:t>processData</a:t>
            </a:r>
            <a:r>
              <a:rPr lang="en-IN" sz="1600" dirty="0">
                <a:solidFill>
                  <a:srgbClr val="000000"/>
                </a:solidFill>
                <a:latin typeface="Consolas" panose="020B0609020204030204" pitchFamily="49" charset="0"/>
              </a:rPr>
              <a:t>()</a:t>
            </a:r>
            <a:r>
              <a:rPr lang="en-IN" sz="1600" dirty="0">
                <a:solidFill>
                  <a:srgbClr val="A31515"/>
                </a:solidFill>
                <a:latin typeface="Consolas" panose="020B0609020204030204" pitchFamily="49" charset="0"/>
              </a:rPr>
              <a:t>"</a:t>
            </a:r>
            <a:r>
              <a:rPr lang="en-IN" sz="1600" dirty="0">
                <a:solidFill>
                  <a:srgbClr val="800000"/>
                </a:solidFill>
                <a:latin typeface="Consolas" panose="020B0609020204030204" pitchFamily="49" charset="0"/>
              </a:rPr>
              <a:t>&gt;</a:t>
            </a:r>
            <a:endParaRPr lang="en-IN"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907095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5A154-5E60-99E6-FD7E-F289063C505F}"/>
              </a:ext>
            </a:extLst>
          </p:cNvPr>
          <p:cNvSpPr>
            <a:spLocks noGrp="1"/>
          </p:cNvSpPr>
          <p:nvPr>
            <p:ph type="title"/>
          </p:nvPr>
        </p:nvSpPr>
        <p:spPr/>
        <p:txBody>
          <a:bodyPr/>
          <a:lstStyle/>
          <a:p>
            <a:r>
              <a:rPr lang="en-IN" dirty="0"/>
              <a:t>Track Control State</a:t>
            </a:r>
          </a:p>
        </p:txBody>
      </p:sp>
      <p:sp>
        <p:nvSpPr>
          <p:cNvPr id="3" name="Content Placeholder 2">
            <a:extLst>
              <a:ext uri="{FF2B5EF4-FFF2-40B4-BE49-F238E27FC236}">
                <a16:creationId xmlns:a16="http://schemas.microsoft.com/office/drawing/2014/main" id="{CC5D8740-768E-4185-A12C-1666A7BB0357}"/>
              </a:ext>
            </a:extLst>
          </p:cNvPr>
          <p:cNvSpPr>
            <a:spLocks noGrp="1"/>
          </p:cNvSpPr>
          <p:nvPr>
            <p:ph idx="1"/>
          </p:nvPr>
        </p:nvSpPr>
        <p:spPr/>
        <p:txBody>
          <a:bodyPr/>
          <a:lstStyle/>
          <a:p>
            <a:r>
              <a:rPr lang="en-GB" dirty="0"/>
              <a:t>Adding the </a:t>
            </a:r>
            <a:r>
              <a:rPr lang="en-GB" dirty="0" err="1"/>
              <a:t>NgModel</a:t>
            </a:r>
            <a:r>
              <a:rPr lang="en-GB" dirty="0"/>
              <a:t> directive to a control adds class names to the control that describe its state. </a:t>
            </a:r>
          </a:p>
          <a:p>
            <a:r>
              <a:rPr lang="en-GB" dirty="0"/>
              <a:t>These classes can be used to change a control's style based on its state.</a:t>
            </a:r>
          </a:p>
          <a:p>
            <a:endParaRPr lang="en-IN" dirty="0"/>
          </a:p>
        </p:txBody>
      </p:sp>
      <p:graphicFrame>
        <p:nvGraphicFramePr>
          <p:cNvPr id="4" name="Table 3">
            <a:extLst>
              <a:ext uri="{FF2B5EF4-FFF2-40B4-BE49-F238E27FC236}">
                <a16:creationId xmlns:a16="http://schemas.microsoft.com/office/drawing/2014/main" id="{8FFCCEF1-E481-5972-FB6E-B6A1298E095B}"/>
              </a:ext>
            </a:extLst>
          </p:cNvPr>
          <p:cNvGraphicFramePr>
            <a:graphicFrameLocks noGrp="1"/>
          </p:cNvGraphicFramePr>
          <p:nvPr>
            <p:extLst>
              <p:ext uri="{D42A27DB-BD31-4B8C-83A1-F6EECF244321}">
                <p14:modId xmlns:p14="http://schemas.microsoft.com/office/powerpoint/2010/main" val="2421552661"/>
              </p:ext>
            </p:extLst>
          </p:nvPr>
        </p:nvGraphicFramePr>
        <p:xfrm>
          <a:off x="637766" y="2086739"/>
          <a:ext cx="10688118" cy="1483360"/>
        </p:xfrm>
        <a:graphic>
          <a:graphicData uri="http://schemas.openxmlformats.org/drawingml/2006/table">
            <a:tbl>
              <a:tblPr firstRow="1" bandRow="1">
                <a:tableStyleId>{5C22544A-7EE6-4342-B048-85BDC9FD1C3A}</a:tableStyleId>
              </a:tblPr>
              <a:tblGrid>
                <a:gridCol w="4414068">
                  <a:extLst>
                    <a:ext uri="{9D8B030D-6E8A-4147-A177-3AD203B41FA5}">
                      <a16:colId xmlns:a16="http://schemas.microsoft.com/office/drawing/2014/main" val="391690104"/>
                    </a:ext>
                  </a:extLst>
                </a:gridCol>
                <a:gridCol w="3195873">
                  <a:extLst>
                    <a:ext uri="{9D8B030D-6E8A-4147-A177-3AD203B41FA5}">
                      <a16:colId xmlns:a16="http://schemas.microsoft.com/office/drawing/2014/main" val="2580691164"/>
                    </a:ext>
                  </a:extLst>
                </a:gridCol>
                <a:gridCol w="3078177">
                  <a:extLst>
                    <a:ext uri="{9D8B030D-6E8A-4147-A177-3AD203B41FA5}">
                      <a16:colId xmlns:a16="http://schemas.microsoft.com/office/drawing/2014/main" val="4263933252"/>
                    </a:ext>
                  </a:extLst>
                </a:gridCol>
              </a:tblGrid>
              <a:tr h="370840">
                <a:tc>
                  <a:txBody>
                    <a:bodyPr/>
                    <a:lstStyle/>
                    <a:p>
                      <a:pPr algn="l"/>
                      <a:r>
                        <a:rPr lang="en-IN" b="1" dirty="0">
                          <a:effectLst/>
                        </a:rPr>
                        <a:t>States</a:t>
                      </a:r>
                    </a:p>
                  </a:txBody>
                  <a:tcPr anchor="ctr"/>
                </a:tc>
                <a:tc>
                  <a:txBody>
                    <a:bodyPr/>
                    <a:lstStyle/>
                    <a:p>
                      <a:pPr algn="l"/>
                      <a:r>
                        <a:rPr lang="en-IN" b="1" dirty="0">
                          <a:effectLst/>
                        </a:rPr>
                        <a:t>Class if true</a:t>
                      </a:r>
                    </a:p>
                  </a:txBody>
                  <a:tcPr anchor="ctr"/>
                </a:tc>
                <a:tc>
                  <a:txBody>
                    <a:bodyPr/>
                    <a:lstStyle/>
                    <a:p>
                      <a:pPr algn="l"/>
                      <a:r>
                        <a:rPr lang="en-IN" b="1">
                          <a:effectLst/>
                        </a:rPr>
                        <a:t>Class if false</a:t>
                      </a:r>
                    </a:p>
                  </a:txBody>
                  <a:tcPr anchor="ctr"/>
                </a:tc>
                <a:extLst>
                  <a:ext uri="{0D108BD9-81ED-4DB2-BD59-A6C34878D82A}">
                    <a16:rowId xmlns:a16="http://schemas.microsoft.com/office/drawing/2014/main" val="4151015297"/>
                  </a:ext>
                </a:extLst>
              </a:tr>
              <a:tr h="370840">
                <a:tc>
                  <a:txBody>
                    <a:bodyPr/>
                    <a:lstStyle/>
                    <a:p>
                      <a:pPr algn="l" fontAlgn="t"/>
                      <a:r>
                        <a:rPr lang="en-GB">
                          <a:effectLst/>
                        </a:rPr>
                        <a:t>The control has been visited.</a:t>
                      </a:r>
                    </a:p>
                  </a:txBody>
                  <a:tcPr/>
                </a:tc>
                <a:tc>
                  <a:txBody>
                    <a:bodyPr/>
                    <a:lstStyle/>
                    <a:p>
                      <a:pPr algn="l" fontAlgn="t"/>
                      <a:r>
                        <a:rPr lang="en-IN" dirty="0">
                          <a:effectLst/>
                        </a:rPr>
                        <a:t>ng-touched</a:t>
                      </a:r>
                    </a:p>
                  </a:txBody>
                  <a:tcPr/>
                </a:tc>
                <a:tc>
                  <a:txBody>
                    <a:bodyPr/>
                    <a:lstStyle/>
                    <a:p>
                      <a:pPr algn="l" fontAlgn="t"/>
                      <a:r>
                        <a:rPr lang="en-IN">
                          <a:effectLst/>
                        </a:rPr>
                        <a:t>ng-untouched</a:t>
                      </a:r>
                    </a:p>
                  </a:txBody>
                  <a:tcPr/>
                </a:tc>
                <a:extLst>
                  <a:ext uri="{0D108BD9-81ED-4DB2-BD59-A6C34878D82A}">
                    <a16:rowId xmlns:a16="http://schemas.microsoft.com/office/drawing/2014/main" val="2830746972"/>
                  </a:ext>
                </a:extLst>
              </a:tr>
              <a:tr h="370840">
                <a:tc>
                  <a:txBody>
                    <a:bodyPr/>
                    <a:lstStyle/>
                    <a:p>
                      <a:pPr algn="l" fontAlgn="t"/>
                      <a:r>
                        <a:rPr lang="en-GB">
                          <a:effectLst/>
                        </a:rPr>
                        <a:t>The control's value has changed.</a:t>
                      </a:r>
                    </a:p>
                  </a:txBody>
                  <a:tcPr/>
                </a:tc>
                <a:tc>
                  <a:txBody>
                    <a:bodyPr/>
                    <a:lstStyle/>
                    <a:p>
                      <a:pPr algn="l" fontAlgn="t"/>
                      <a:r>
                        <a:rPr lang="en-IN">
                          <a:effectLst/>
                        </a:rPr>
                        <a:t>ng-dirty</a:t>
                      </a:r>
                    </a:p>
                  </a:txBody>
                  <a:tcPr/>
                </a:tc>
                <a:tc>
                  <a:txBody>
                    <a:bodyPr/>
                    <a:lstStyle/>
                    <a:p>
                      <a:pPr algn="l" fontAlgn="t"/>
                      <a:r>
                        <a:rPr lang="en-IN">
                          <a:effectLst/>
                        </a:rPr>
                        <a:t>ng-pristine</a:t>
                      </a:r>
                    </a:p>
                  </a:txBody>
                  <a:tcPr/>
                </a:tc>
                <a:extLst>
                  <a:ext uri="{0D108BD9-81ED-4DB2-BD59-A6C34878D82A}">
                    <a16:rowId xmlns:a16="http://schemas.microsoft.com/office/drawing/2014/main" val="2302778816"/>
                  </a:ext>
                </a:extLst>
              </a:tr>
              <a:tr h="370840">
                <a:tc>
                  <a:txBody>
                    <a:bodyPr/>
                    <a:lstStyle/>
                    <a:p>
                      <a:pPr algn="l" fontAlgn="t"/>
                      <a:r>
                        <a:rPr lang="en-GB">
                          <a:effectLst/>
                        </a:rPr>
                        <a:t>The control's value is valid.</a:t>
                      </a:r>
                    </a:p>
                  </a:txBody>
                  <a:tcPr/>
                </a:tc>
                <a:tc>
                  <a:txBody>
                    <a:bodyPr/>
                    <a:lstStyle/>
                    <a:p>
                      <a:pPr algn="l" fontAlgn="t"/>
                      <a:r>
                        <a:rPr lang="en-IN">
                          <a:effectLst/>
                        </a:rPr>
                        <a:t>ng-valid</a:t>
                      </a:r>
                    </a:p>
                  </a:txBody>
                  <a:tcPr/>
                </a:tc>
                <a:tc>
                  <a:txBody>
                    <a:bodyPr/>
                    <a:lstStyle/>
                    <a:p>
                      <a:pPr algn="l" fontAlgn="t"/>
                      <a:r>
                        <a:rPr lang="en-IN" dirty="0">
                          <a:effectLst/>
                        </a:rPr>
                        <a:t>ng-invalid</a:t>
                      </a:r>
                    </a:p>
                  </a:txBody>
                  <a:tcPr/>
                </a:tc>
                <a:extLst>
                  <a:ext uri="{0D108BD9-81ED-4DB2-BD59-A6C34878D82A}">
                    <a16:rowId xmlns:a16="http://schemas.microsoft.com/office/drawing/2014/main" val="54069509"/>
                  </a:ext>
                </a:extLst>
              </a:tr>
            </a:tbl>
          </a:graphicData>
        </a:graphic>
      </p:graphicFrame>
    </p:spTree>
    <p:extLst>
      <p:ext uri="{BB962C8B-B14F-4D97-AF65-F5344CB8AC3E}">
        <p14:creationId xmlns:p14="http://schemas.microsoft.com/office/powerpoint/2010/main" val="1412916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F2FF5-6AFC-9EE2-697A-8E280015F2F5}"/>
              </a:ext>
            </a:extLst>
          </p:cNvPr>
          <p:cNvSpPr>
            <a:spLocks noGrp="1"/>
          </p:cNvSpPr>
          <p:nvPr>
            <p:ph type="title"/>
          </p:nvPr>
        </p:nvSpPr>
        <p:spPr/>
        <p:txBody>
          <a:bodyPr/>
          <a:lstStyle/>
          <a:p>
            <a:r>
              <a:rPr lang="en-GB" dirty="0"/>
              <a:t>Example (Template Driven Form)</a:t>
            </a:r>
            <a:endParaRPr lang="en-IN" dirty="0"/>
          </a:p>
        </p:txBody>
      </p:sp>
      <p:sp>
        <p:nvSpPr>
          <p:cNvPr id="7" name="Rectangle 6">
            <a:extLst>
              <a:ext uri="{FF2B5EF4-FFF2-40B4-BE49-F238E27FC236}">
                <a16:creationId xmlns:a16="http://schemas.microsoft.com/office/drawing/2014/main" id="{488239F2-5612-B8E5-C839-4442821527B6}"/>
              </a:ext>
            </a:extLst>
          </p:cNvPr>
          <p:cNvSpPr/>
          <p:nvPr/>
        </p:nvSpPr>
        <p:spPr>
          <a:xfrm>
            <a:off x="584498" y="1214164"/>
            <a:ext cx="4648405" cy="4401205"/>
          </a:xfrm>
          <a:prstGeom prst="rect">
            <a:avLst/>
          </a:prstGeom>
          <a:solidFill>
            <a:schemeClr val="bg1">
              <a:lumMod val="95000"/>
            </a:schemeClr>
          </a:solidFill>
          <a:ln>
            <a:noFill/>
          </a:ln>
        </p:spPr>
        <p:txBody>
          <a:bodyPr wrap="square">
            <a:spAutoFit/>
          </a:bodyPr>
          <a:lstStyle/>
          <a:p>
            <a:r>
              <a:rPr lang="en-IN" sz="1400" dirty="0">
                <a:solidFill>
                  <a:srgbClr val="AF00DB"/>
                </a:solidFill>
                <a:latin typeface="Consolas" panose="020B0609020204030204" pitchFamily="49" charset="0"/>
              </a:rPr>
              <a:t>import</a:t>
            </a:r>
            <a:r>
              <a:rPr lang="en-IN" sz="1400" dirty="0">
                <a:solidFill>
                  <a:srgbClr val="000000"/>
                </a:solidFill>
                <a:latin typeface="Consolas" panose="020B0609020204030204" pitchFamily="49" charset="0"/>
              </a:rPr>
              <a:t> { </a:t>
            </a:r>
            <a:r>
              <a:rPr lang="en-IN" sz="1400" dirty="0">
                <a:solidFill>
                  <a:srgbClr val="001080"/>
                </a:solidFill>
                <a:latin typeface="Consolas" panose="020B0609020204030204" pitchFamily="49" charset="0"/>
              </a:rPr>
              <a:t>Component</a:t>
            </a:r>
            <a:r>
              <a:rPr lang="en-IN" sz="1400" dirty="0">
                <a:solidFill>
                  <a:srgbClr val="000000"/>
                </a:solidFill>
                <a:latin typeface="Consolas" panose="020B0609020204030204" pitchFamily="49" charset="0"/>
              </a:rPr>
              <a:t> } </a:t>
            </a:r>
            <a:r>
              <a:rPr lang="en-IN" sz="1400" dirty="0">
                <a:solidFill>
                  <a:srgbClr val="AF00DB"/>
                </a:solidFill>
                <a:latin typeface="Consolas" panose="020B0609020204030204" pitchFamily="49" charset="0"/>
              </a:rPr>
              <a:t>from</a:t>
            </a:r>
            <a:r>
              <a:rPr lang="en-IN" sz="1400" dirty="0">
                <a:solidFill>
                  <a:srgbClr val="000000"/>
                </a:solidFill>
                <a:latin typeface="Consolas" panose="020B0609020204030204" pitchFamily="49" charset="0"/>
              </a:rPr>
              <a:t> </a:t>
            </a:r>
            <a:r>
              <a:rPr lang="en-IN" sz="1400" dirty="0">
                <a:solidFill>
                  <a:srgbClr val="A31515"/>
                </a:solidFill>
                <a:latin typeface="Consolas" panose="020B0609020204030204" pitchFamily="49" charset="0"/>
              </a:rPr>
              <a:t>'@angular/core'</a:t>
            </a:r>
            <a:r>
              <a:rPr lang="en-IN" sz="1400" dirty="0">
                <a:solidFill>
                  <a:srgbClr val="000000"/>
                </a:solidFill>
                <a:latin typeface="Consolas" panose="020B0609020204030204" pitchFamily="49" charset="0"/>
              </a:rPr>
              <a:t>;</a:t>
            </a:r>
          </a:p>
          <a:p>
            <a:r>
              <a:rPr lang="en-IN" sz="1400" dirty="0">
                <a:solidFill>
                  <a:srgbClr val="AF00DB"/>
                </a:solidFill>
                <a:latin typeface="Consolas" panose="020B0609020204030204" pitchFamily="49" charset="0"/>
              </a:rPr>
              <a:t>import</a:t>
            </a:r>
            <a:r>
              <a:rPr lang="en-IN" sz="1400" dirty="0">
                <a:solidFill>
                  <a:srgbClr val="000000"/>
                </a:solidFill>
                <a:latin typeface="Consolas" panose="020B0609020204030204" pitchFamily="49" charset="0"/>
              </a:rPr>
              <a:t> { </a:t>
            </a:r>
            <a:r>
              <a:rPr lang="en-IN" sz="1400" dirty="0" err="1">
                <a:solidFill>
                  <a:srgbClr val="001080"/>
                </a:solidFill>
                <a:latin typeface="Consolas" panose="020B0609020204030204" pitchFamily="49" charset="0"/>
              </a:rPr>
              <a:t>FormsModule</a:t>
            </a:r>
            <a:r>
              <a:rPr lang="en-IN" sz="1400" dirty="0">
                <a:solidFill>
                  <a:srgbClr val="000000"/>
                </a:solidFill>
                <a:latin typeface="Consolas" panose="020B0609020204030204" pitchFamily="49" charset="0"/>
              </a:rPr>
              <a:t> } </a:t>
            </a:r>
            <a:r>
              <a:rPr lang="en-IN" sz="1400" dirty="0">
                <a:solidFill>
                  <a:srgbClr val="AF00DB"/>
                </a:solidFill>
                <a:latin typeface="Consolas" panose="020B0609020204030204" pitchFamily="49" charset="0"/>
              </a:rPr>
              <a:t>from</a:t>
            </a:r>
            <a:r>
              <a:rPr lang="en-IN" sz="1400" dirty="0">
                <a:solidFill>
                  <a:srgbClr val="000000"/>
                </a:solidFill>
                <a:latin typeface="Consolas" panose="020B0609020204030204" pitchFamily="49" charset="0"/>
              </a:rPr>
              <a:t> </a:t>
            </a:r>
            <a:r>
              <a:rPr lang="en-IN" sz="1400" dirty="0">
                <a:solidFill>
                  <a:srgbClr val="A31515"/>
                </a:solidFill>
                <a:latin typeface="Consolas" panose="020B0609020204030204" pitchFamily="49" charset="0"/>
              </a:rPr>
              <a:t>'@angular/forms'</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r>
            <a:br>
              <a:rPr lang="en-IN" sz="1400" dirty="0">
                <a:solidFill>
                  <a:srgbClr val="000000"/>
                </a:solidFill>
                <a:latin typeface="Consolas" panose="020B0609020204030204" pitchFamily="49" charset="0"/>
              </a:rPr>
            </a:br>
            <a:r>
              <a:rPr lang="en-IN" sz="1400" dirty="0">
                <a:solidFill>
                  <a:srgbClr val="000000"/>
                </a:solidFill>
                <a:latin typeface="Consolas" panose="020B0609020204030204" pitchFamily="49" charset="0"/>
              </a:rPr>
              <a:t>@</a:t>
            </a:r>
            <a:r>
              <a:rPr lang="en-IN" sz="1400" dirty="0">
                <a:solidFill>
                  <a:srgbClr val="267F99"/>
                </a:solidFill>
                <a:latin typeface="Consolas" panose="020B0609020204030204" pitchFamily="49" charset="0"/>
              </a:rPr>
              <a:t>Component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selector:</a:t>
            </a:r>
            <a:r>
              <a:rPr lang="en-IN" sz="1400" dirty="0">
                <a:solidFill>
                  <a:srgbClr val="000000"/>
                </a:solidFill>
                <a:latin typeface="Consolas" panose="020B0609020204030204" pitchFamily="49" charset="0"/>
              </a:rPr>
              <a:t> </a:t>
            </a:r>
            <a:r>
              <a:rPr lang="en-IN" sz="1400" dirty="0">
                <a:solidFill>
                  <a:srgbClr val="A31515"/>
                </a:solidFill>
                <a:latin typeface="Consolas" panose="020B0609020204030204" pitchFamily="49" charset="0"/>
              </a:rPr>
              <a:t>'app-login-form'</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imports:</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FormsModule</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templateUrl</a:t>
            </a:r>
            <a:r>
              <a:rPr lang="en-IN" sz="1400" dirty="0">
                <a:solidFill>
                  <a:srgbClr val="001080"/>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A31515"/>
                </a:solidFill>
                <a:latin typeface="Consolas" panose="020B0609020204030204" pitchFamily="49" charset="0"/>
              </a:rPr>
              <a:t>'./login-form.component.html'</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styleUrl</a:t>
            </a:r>
            <a:r>
              <a:rPr lang="en-IN" sz="1400" dirty="0">
                <a:solidFill>
                  <a:srgbClr val="001080"/>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A31515"/>
                </a:solidFill>
                <a:latin typeface="Consolas" panose="020B0609020204030204" pitchFamily="49" charset="0"/>
              </a:rPr>
              <a:t>'./login-form.component.css'</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a:t>
            </a:r>
          </a:p>
          <a:p>
            <a:r>
              <a:rPr lang="en-IN" sz="1400" dirty="0">
                <a:solidFill>
                  <a:srgbClr val="AF00DB"/>
                </a:solidFill>
                <a:latin typeface="Consolas" panose="020B0609020204030204" pitchFamily="49" charset="0"/>
              </a:rPr>
              <a:t>export</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LoginFormComponent</a:t>
            </a:r>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data</a:t>
            </a:r>
            <a:r>
              <a:rPr lang="en-IN" sz="1400" dirty="0">
                <a:solidFill>
                  <a:srgbClr val="000000"/>
                </a:solidFill>
                <a:latin typeface="Consolas" panose="020B0609020204030204" pitchFamily="49" charset="0"/>
              </a:rPr>
              <a:t> = {</a:t>
            </a:r>
          </a:p>
          <a:p>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firstname</a:t>
            </a:r>
            <a:r>
              <a:rPr lang="en-IN" sz="1400" dirty="0">
                <a:solidFill>
                  <a:srgbClr val="00108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middlename</a:t>
            </a:r>
            <a:r>
              <a:rPr lang="en-IN" sz="1400" dirty="0">
                <a:solidFill>
                  <a:srgbClr val="00108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lastname</a:t>
            </a:r>
            <a:r>
              <a:rPr lang="en-IN" sz="1400" dirty="0">
                <a:solidFill>
                  <a:srgbClr val="001080"/>
                </a:solidFill>
                <a:latin typeface="Consolas" panose="020B0609020204030204" pitchFamily="49" charset="0"/>
              </a:rPr>
              <a:t>:</a:t>
            </a:r>
            <a:r>
              <a:rPr lang="en-IN" sz="1400" dirty="0">
                <a:solidFill>
                  <a:srgbClr val="A31515"/>
                </a:solidFill>
                <a:latin typeface="Consolas" panose="020B0609020204030204" pitchFamily="49" charset="0"/>
              </a:rPr>
              <a: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processData</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console</a:t>
            </a:r>
            <a:r>
              <a:rPr lang="en-IN" sz="1400" dirty="0">
                <a:solidFill>
                  <a:srgbClr val="000000"/>
                </a:solidFill>
                <a:latin typeface="Consolas" panose="020B0609020204030204" pitchFamily="49" charset="0"/>
              </a:rPr>
              <a:t>.</a:t>
            </a:r>
            <a:r>
              <a:rPr lang="en-IN" sz="1400" dirty="0">
                <a:solidFill>
                  <a:srgbClr val="795E26"/>
                </a:solidFill>
                <a:latin typeface="Consolas" panose="020B0609020204030204" pitchFamily="49" charset="0"/>
              </a:rPr>
              <a:t>log</a:t>
            </a:r>
            <a:r>
              <a:rPr lang="en-IN" sz="1400" dirty="0">
                <a:solidFill>
                  <a:srgbClr val="000000"/>
                </a:solidFill>
                <a:latin typeface="Consolas" panose="020B0609020204030204" pitchFamily="49" charset="0"/>
              </a:rPr>
              <a:t>(</a:t>
            </a:r>
            <a:r>
              <a:rPr lang="en-IN" sz="1400" dirty="0" err="1">
                <a:solidFill>
                  <a:srgbClr val="0000FF"/>
                </a:solidFill>
                <a:latin typeface="Consolas" panose="020B0609020204030204" pitchFamily="49" charset="0"/>
              </a:rPr>
              <a:t>this</a:t>
            </a:r>
            <a:r>
              <a:rPr lang="en-IN" sz="1400" dirty="0" err="1">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data</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a:t>
            </a:r>
          </a:p>
        </p:txBody>
      </p:sp>
      <p:sp>
        <p:nvSpPr>
          <p:cNvPr id="8" name="Rectangle 7">
            <a:extLst>
              <a:ext uri="{FF2B5EF4-FFF2-40B4-BE49-F238E27FC236}">
                <a16:creationId xmlns:a16="http://schemas.microsoft.com/office/drawing/2014/main" id="{89D89BF4-E363-C033-6742-DABE3B9AB278}"/>
              </a:ext>
            </a:extLst>
          </p:cNvPr>
          <p:cNvSpPr/>
          <p:nvPr/>
        </p:nvSpPr>
        <p:spPr>
          <a:xfrm>
            <a:off x="84505" y="1214164"/>
            <a:ext cx="499993" cy="4401205"/>
          </a:xfrm>
          <a:prstGeom prst="rect">
            <a:avLst/>
          </a:prstGeom>
          <a:solidFill>
            <a:schemeClr val="bg1">
              <a:lumMod val="85000"/>
            </a:schemeClr>
          </a:solidFill>
          <a:ln>
            <a:noFill/>
          </a:ln>
        </p:spPr>
        <p:txBody>
          <a:bodyPr wrap="square">
            <a:spAutoFit/>
          </a:bodyPr>
          <a:lstStyle/>
          <a:p>
            <a:pPr algn="r"/>
            <a:r>
              <a:rPr lang="en-US" sz="1400" b="1" dirty="0">
                <a:solidFill>
                  <a:schemeClr val="tx1">
                    <a:lumMod val="75000"/>
                    <a:lumOff val="25000"/>
                  </a:schemeClr>
                </a:solidFill>
                <a:latin typeface="Consolas" panose="020B0609020204030204" pitchFamily="49" charset="0"/>
              </a:rPr>
              <a:t>1</a:t>
            </a:r>
          </a:p>
          <a:p>
            <a:pPr algn="r"/>
            <a:r>
              <a:rPr lang="en-US" sz="1400" b="1" dirty="0">
                <a:solidFill>
                  <a:schemeClr val="tx1">
                    <a:lumMod val="75000"/>
                    <a:lumOff val="25000"/>
                  </a:schemeClr>
                </a:solidFill>
                <a:latin typeface="Consolas" panose="020B0609020204030204" pitchFamily="49" charset="0"/>
              </a:rPr>
              <a:t>2</a:t>
            </a:r>
          </a:p>
          <a:p>
            <a:pPr algn="r"/>
            <a:r>
              <a:rPr lang="en-US" sz="1400" b="1" dirty="0">
                <a:solidFill>
                  <a:schemeClr val="tx1">
                    <a:lumMod val="75000"/>
                    <a:lumOff val="25000"/>
                  </a:schemeClr>
                </a:solidFill>
                <a:latin typeface="Consolas" panose="020B0609020204030204" pitchFamily="49" charset="0"/>
              </a:rPr>
              <a:t>3</a:t>
            </a:r>
          </a:p>
          <a:p>
            <a:pPr algn="r"/>
            <a:r>
              <a:rPr lang="en-US" sz="1400" b="1" dirty="0">
                <a:solidFill>
                  <a:schemeClr val="tx1">
                    <a:lumMod val="75000"/>
                    <a:lumOff val="25000"/>
                  </a:schemeClr>
                </a:solidFill>
                <a:latin typeface="Consolas" panose="020B0609020204030204" pitchFamily="49" charset="0"/>
              </a:rPr>
              <a:t>4</a:t>
            </a:r>
          </a:p>
          <a:p>
            <a:pPr algn="r"/>
            <a:r>
              <a:rPr lang="en-US" sz="1400" b="1" dirty="0">
                <a:solidFill>
                  <a:schemeClr val="tx1">
                    <a:lumMod val="75000"/>
                    <a:lumOff val="25000"/>
                  </a:schemeClr>
                </a:solidFill>
                <a:latin typeface="Consolas" panose="020B0609020204030204" pitchFamily="49" charset="0"/>
              </a:rPr>
              <a:t>5</a:t>
            </a:r>
          </a:p>
          <a:p>
            <a:pPr algn="r"/>
            <a:r>
              <a:rPr lang="en-US" sz="1400" b="1" dirty="0">
                <a:solidFill>
                  <a:schemeClr val="tx1">
                    <a:lumMod val="75000"/>
                    <a:lumOff val="25000"/>
                  </a:schemeClr>
                </a:solidFill>
                <a:latin typeface="Consolas" panose="020B0609020204030204" pitchFamily="49" charset="0"/>
              </a:rPr>
              <a:t>6</a:t>
            </a:r>
          </a:p>
          <a:p>
            <a:pPr algn="r"/>
            <a:r>
              <a:rPr lang="en-US" sz="1400" b="1" dirty="0">
                <a:solidFill>
                  <a:schemeClr val="tx1">
                    <a:lumMod val="75000"/>
                    <a:lumOff val="25000"/>
                  </a:schemeClr>
                </a:solidFill>
                <a:latin typeface="Consolas" panose="020B0609020204030204" pitchFamily="49" charset="0"/>
              </a:rPr>
              <a:t>7</a:t>
            </a:r>
          </a:p>
          <a:p>
            <a:pPr algn="r"/>
            <a:r>
              <a:rPr lang="en-US" sz="1400" b="1" dirty="0">
                <a:solidFill>
                  <a:schemeClr val="tx1">
                    <a:lumMod val="75000"/>
                    <a:lumOff val="25000"/>
                  </a:schemeClr>
                </a:solidFill>
                <a:latin typeface="Consolas" panose="020B0609020204030204" pitchFamily="49" charset="0"/>
              </a:rPr>
              <a:t>8</a:t>
            </a:r>
          </a:p>
          <a:p>
            <a:pPr algn="r"/>
            <a:r>
              <a:rPr lang="en-US" sz="1400" b="1" dirty="0">
                <a:solidFill>
                  <a:schemeClr val="tx1">
                    <a:lumMod val="75000"/>
                    <a:lumOff val="25000"/>
                  </a:schemeClr>
                </a:solidFill>
                <a:latin typeface="Consolas" panose="020B0609020204030204" pitchFamily="49" charset="0"/>
              </a:rPr>
              <a:t>9</a:t>
            </a:r>
          </a:p>
          <a:p>
            <a:pPr algn="r"/>
            <a:r>
              <a:rPr lang="en-US" sz="1400" b="1" dirty="0">
                <a:solidFill>
                  <a:schemeClr val="tx1">
                    <a:lumMod val="75000"/>
                    <a:lumOff val="25000"/>
                  </a:schemeClr>
                </a:solidFill>
                <a:latin typeface="Consolas" panose="020B0609020204030204" pitchFamily="49" charset="0"/>
              </a:rPr>
              <a:t>10</a:t>
            </a:r>
          </a:p>
          <a:p>
            <a:pPr algn="r"/>
            <a:r>
              <a:rPr lang="en-US" sz="1400" b="1" dirty="0">
                <a:solidFill>
                  <a:schemeClr val="tx1">
                    <a:lumMod val="75000"/>
                    <a:lumOff val="25000"/>
                  </a:schemeClr>
                </a:solidFill>
                <a:latin typeface="Consolas" panose="020B0609020204030204" pitchFamily="49" charset="0"/>
              </a:rPr>
              <a:t>11</a:t>
            </a:r>
          </a:p>
          <a:p>
            <a:pPr algn="r"/>
            <a:r>
              <a:rPr lang="en-US" sz="1400" b="1" dirty="0">
                <a:solidFill>
                  <a:schemeClr val="tx1">
                    <a:lumMod val="75000"/>
                    <a:lumOff val="25000"/>
                  </a:schemeClr>
                </a:solidFill>
                <a:latin typeface="Consolas" panose="020B0609020204030204" pitchFamily="49" charset="0"/>
              </a:rPr>
              <a:t>12</a:t>
            </a:r>
          </a:p>
          <a:p>
            <a:pPr algn="r"/>
            <a:r>
              <a:rPr lang="en-US" sz="1400" b="1" dirty="0">
                <a:solidFill>
                  <a:schemeClr val="tx1">
                    <a:lumMod val="75000"/>
                    <a:lumOff val="25000"/>
                  </a:schemeClr>
                </a:solidFill>
                <a:latin typeface="Consolas" panose="020B0609020204030204" pitchFamily="49" charset="0"/>
              </a:rPr>
              <a:t>13</a:t>
            </a:r>
          </a:p>
          <a:p>
            <a:pPr algn="r"/>
            <a:r>
              <a:rPr lang="en-US" sz="1400" b="1" dirty="0">
                <a:solidFill>
                  <a:schemeClr val="tx1">
                    <a:lumMod val="75000"/>
                    <a:lumOff val="25000"/>
                  </a:schemeClr>
                </a:solidFill>
                <a:latin typeface="Consolas" panose="020B0609020204030204" pitchFamily="49" charset="0"/>
              </a:rPr>
              <a:t>14</a:t>
            </a:r>
          </a:p>
          <a:p>
            <a:pPr algn="r"/>
            <a:r>
              <a:rPr lang="en-US" sz="1400" b="1" dirty="0">
                <a:solidFill>
                  <a:schemeClr val="tx1">
                    <a:lumMod val="75000"/>
                    <a:lumOff val="25000"/>
                  </a:schemeClr>
                </a:solidFill>
                <a:latin typeface="Consolas" panose="020B0609020204030204" pitchFamily="49" charset="0"/>
              </a:rPr>
              <a:t>15</a:t>
            </a:r>
          </a:p>
          <a:p>
            <a:pPr algn="r"/>
            <a:r>
              <a:rPr lang="en-US" sz="1400" b="1" dirty="0">
                <a:solidFill>
                  <a:schemeClr val="tx1">
                    <a:lumMod val="75000"/>
                    <a:lumOff val="25000"/>
                  </a:schemeClr>
                </a:solidFill>
                <a:latin typeface="Consolas" panose="020B0609020204030204" pitchFamily="49" charset="0"/>
              </a:rPr>
              <a:t>16</a:t>
            </a:r>
          </a:p>
          <a:p>
            <a:pPr algn="r"/>
            <a:r>
              <a:rPr lang="en-US" sz="1400" b="1" dirty="0">
                <a:solidFill>
                  <a:schemeClr val="tx1">
                    <a:lumMod val="75000"/>
                    <a:lumOff val="25000"/>
                  </a:schemeClr>
                </a:solidFill>
                <a:latin typeface="Consolas" panose="020B0609020204030204" pitchFamily="49" charset="0"/>
              </a:rPr>
              <a:t>17</a:t>
            </a:r>
          </a:p>
          <a:p>
            <a:pPr algn="r"/>
            <a:r>
              <a:rPr lang="en-US" sz="1400" b="1" dirty="0">
                <a:solidFill>
                  <a:schemeClr val="tx1">
                    <a:lumMod val="75000"/>
                    <a:lumOff val="25000"/>
                  </a:schemeClr>
                </a:solidFill>
                <a:latin typeface="Consolas" panose="020B0609020204030204" pitchFamily="49" charset="0"/>
              </a:rPr>
              <a:t>18</a:t>
            </a:r>
          </a:p>
          <a:p>
            <a:pPr algn="r"/>
            <a:r>
              <a:rPr lang="en-US" sz="1400" b="1" dirty="0">
                <a:solidFill>
                  <a:schemeClr val="tx1">
                    <a:lumMod val="75000"/>
                    <a:lumOff val="25000"/>
                  </a:schemeClr>
                </a:solidFill>
                <a:latin typeface="Consolas" panose="020B0609020204030204" pitchFamily="49" charset="0"/>
              </a:rPr>
              <a:t>19</a:t>
            </a:r>
          </a:p>
          <a:p>
            <a:pPr algn="r"/>
            <a:r>
              <a:rPr lang="en-US" sz="1400" b="1" dirty="0">
                <a:solidFill>
                  <a:schemeClr val="tx1">
                    <a:lumMod val="75000"/>
                    <a:lumOff val="25000"/>
                  </a:schemeClr>
                </a:solidFill>
                <a:latin typeface="Consolas" panose="020B0609020204030204" pitchFamily="49" charset="0"/>
              </a:rPr>
              <a:t>20</a:t>
            </a:r>
          </a:p>
        </p:txBody>
      </p:sp>
      <p:sp>
        <p:nvSpPr>
          <p:cNvPr id="9" name="Rectangle: Top Corners Rounded 8">
            <a:extLst>
              <a:ext uri="{FF2B5EF4-FFF2-40B4-BE49-F238E27FC236}">
                <a16:creationId xmlns:a16="http://schemas.microsoft.com/office/drawing/2014/main" id="{DB678F41-68D7-B1F9-51B2-6016C6D6E247}"/>
              </a:ext>
            </a:extLst>
          </p:cNvPr>
          <p:cNvSpPr/>
          <p:nvPr/>
        </p:nvSpPr>
        <p:spPr>
          <a:xfrm>
            <a:off x="84504" y="884980"/>
            <a:ext cx="399860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signup-</a:t>
            </a:r>
            <a:r>
              <a:rPr lang="en-US" sz="1600" dirty="0" err="1">
                <a:solidFill>
                  <a:schemeClr val="bg1"/>
                </a:solidFill>
              </a:rPr>
              <a:t>form.component.ts</a:t>
            </a:r>
            <a:endParaRPr lang="en-US" sz="1600" dirty="0">
              <a:solidFill>
                <a:schemeClr val="bg1"/>
              </a:solidFill>
            </a:endParaRPr>
          </a:p>
        </p:txBody>
      </p:sp>
      <p:sp>
        <p:nvSpPr>
          <p:cNvPr id="10" name="Rectangle 9">
            <a:extLst>
              <a:ext uri="{FF2B5EF4-FFF2-40B4-BE49-F238E27FC236}">
                <a16:creationId xmlns:a16="http://schemas.microsoft.com/office/drawing/2014/main" id="{E30E114E-F9E1-1D02-5CA1-EA90988FA6FD}"/>
              </a:ext>
            </a:extLst>
          </p:cNvPr>
          <p:cNvSpPr/>
          <p:nvPr/>
        </p:nvSpPr>
        <p:spPr>
          <a:xfrm>
            <a:off x="5835510" y="1214164"/>
            <a:ext cx="5771992" cy="5262979"/>
          </a:xfrm>
          <a:prstGeom prst="rect">
            <a:avLst/>
          </a:prstGeom>
          <a:solidFill>
            <a:schemeClr val="bg1">
              <a:lumMod val="95000"/>
            </a:schemeClr>
          </a:solidFill>
          <a:ln>
            <a:noFill/>
          </a:ln>
        </p:spPr>
        <p:txBody>
          <a:bodyPr wrap="square">
            <a:spAutoFit/>
          </a:bodyPr>
          <a:lstStyle/>
          <a:p>
            <a:r>
              <a:rPr lang="en-IN" sz="1400" dirty="0">
                <a:solidFill>
                  <a:srgbClr val="800000"/>
                </a:solidFill>
                <a:latin typeface="Consolas" panose="020B0609020204030204" pitchFamily="49" charset="0"/>
              </a:rPr>
              <a:t>&lt;form</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#studentForm</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"ngForm"</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a:t>
            </a:r>
            <a:r>
              <a:rPr lang="en-IN" sz="1400" dirty="0" err="1">
                <a:solidFill>
                  <a:srgbClr val="E50000"/>
                </a:solidFill>
                <a:latin typeface="Consolas" panose="020B0609020204030204" pitchFamily="49" charset="0"/>
              </a:rPr>
              <a:t>ngSubmit</a:t>
            </a:r>
            <a:r>
              <a:rPr lang="en-IN" sz="1400" dirty="0">
                <a:solidFill>
                  <a:srgbClr val="E50000"/>
                </a:solidFill>
                <a:latin typeface="Consolas" panose="020B0609020204030204" pitchFamily="49" charset="0"/>
              </a:rPr>
              <a:t>)</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err="1">
                <a:solidFill>
                  <a:srgbClr val="795E26"/>
                </a:solidFill>
                <a:latin typeface="Consolas" panose="020B0609020204030204" pitchFamily="49" charset="0"/>
              </a:rPr>
              <a:t>processData</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&lt;table</a:t>
            </a:r>
            <a:r>
              <a:rPr lang="en-IN" sz="1400" dirty="0">
                <a:solidFill>
                  <a:srgbClr val="000000"/>
                </a:solidFill>
                <a:latin typeface="Consolas" panose="020B0609020204030204" pitchFamily="49" charset="0"/>
              </a:rPr>
              <a:t> </a:t>
            </a:r>
            <a:r>
              <a:rPr lang="en-IN" sz="1400" dirty="0">
                <a:solidFill>
                  <a:srgbClr val="CD3131"/>
                </a:solidFill>
                <a:latin typeface="Consolas" panose="020B0609020204030204" pitchFamily="49" charset="0"/>
              </a:rPr>
              <a:t>align</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err="1">
                <a:solidFill>
                  <a:srgbClr val="0000FF"/>
                </a:solidFill>
                <a:latin typeface="Consolas" panose="020B0609020204030204" pitchFamily="49" charset="0"/>
              </a:rPr>
              <a:t>center</a:t>
            </a:r>
            <a:r>
              <a:rPr lang="en-IN" sz="1400" dirty="0">
                <a:solidFill>
                  <a:srgbClr val="0000FF"/>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width</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"50%"</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&lt;tr&gt;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&lt;td&gt;</a:t>
            </a:r>
            <a:r>
              <a:rPr lang="en-IN" sz="1400" dirty="0">
                <a:solidFill>
                  <a:srgbClr val="000000"/>
                </a:solidFill>
                <a:latin typeface="Consolas" panose="020B0609020204030204" pitchFamily="49" charset="0"/>
              </a:rPr>
              <a:t>Enter First name</a:t>
            </a:r>
            <a:r>
              <a:rPr lang="en-IN" sz="1400" dirty="0">
                <a:solidFill>
                  <a:srgbClr val="800000"/>
                </a:solidFill>
                <a:latin typeface="Consolas" panose="020B0609020204030204" pitchFamily="49" charset="0"/>
              </a:rPr>
              <a:t>&lt;/td&gt;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&lt;td&gt;&lt;input</a:t>
            </a:r>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type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"text"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name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err="1">
                <a:solidFill>
                  <a:srgbClr val="0000FF"/>
                </a:solidFill>
                <a:latin typeface="Consolas" panose="020B0609020204030204" pitchFamily="49" charset="0"/>
              </a:rPr>
              <a:t>firstname</a:t>
            </a:r>
            <a:r>
              <a:rPr lang="en-IN" sz="1400" dirty="0">
                <a:solidFill>
                  <a:srgbClr val="0000FF"/>
                </a:solidFill>
                <a:latin typeface="Consolas" panose="020B0609020204030204" pitchFamily="49" charset="0"/>
              </a:rPr>
              <a: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a:t>
            </a:r>
            <a:r>
              <a:rPr lang="en-IN" sz="1400" dirty="0" err="1">
                <a:solidFill>
                  <a:srgbClr val="E50000"/>
                </a:solidFill>
                <a:latin typeface="Consolas" panose="020B0609020204030204" pitchFamily="49" charset="0"/>
              </a:rPr>
              <a:t>ngModel</a:t>
            </a:r>
            <a:r>
              <a:rPr lang="en-IN" sz="1400" dirty="0">
                <a:solidFill>
                  <a:srgbClr val="E50000"/>
                </a:solidFill>
                <a:latin typeface="Consolas" panose="020B0609020204030204" pitchFamily="49" charset="0"/>
              </a:rPr>
              <a:t>)]</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err="1">
                <a:solidFill>
                  <a:srgbClr val="001080"/>
                </a:solidFill>
                <a:latin typeface="Consolas" panose="020B0609020204030204" pitchFamily="49" charset="0"/>
              </a:rPr>
              <a:t>data</a:t>
            </a:r>
            <a:r>
              <a:rPr lang="en-IN" sz="1400" dirty="0" err="1">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firstname</a:t>
            </a:r>
            <a:r>
              <a:rPr lang="en-IN" sz="1400" dirty="0">
                <a:solidFill>
                  <a:srgbClr val="A31515"/>
                </a:solidFill>
                <a:latin typeface="Consolas" panose="020B0609020204030204" pitchFamily="49" charset="0"/>
              </a:rPr>
              <a: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#firstname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"ngModel"</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required</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/&gt;</a:t>
            </a:r>
          </a:p>
          <a:p>
            <a:r>
              <a:rPr lang="en-IN" sz="1400" dirty="0">
                <a:solidFill>
                  <a:srgbClr val="800000"/>
                </a:solidFill>
                <a:latin typeface="Consolas" panose="020B0609020204030204" pitchFamily="49" charset="0"/>
              </a:rPr>
              <a:t>      &lt;/td&gt;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&lt;/tr&gt;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&lt;tr&gt;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&lt;td</a:t>
            </a:r>
            <a:r>
              <a:rPr lang="en-IN" sz="1400" dirty="0">
                <a:solidFill>
                  <a:srgbClr val="000000"/>
                </a:solidFill>
                <a:latin typeface="Consolas" panose="020B0609020204030204" pitchFamily="49" charset="0"/>
              </a:rPr>
              <a:t> </a:t>
            </a:r>
            <a:r>
              <a:rPr lang="en-IN" sz="1400" dirty="0" err="1">
                <a:solidFill>
                  <a:srgbClr val="E50000"/>
                </a:solidFill>
                <a:latin typeface="Consolas" panose="020B0609020204030204" pitchFamily="49" charset="0"/>
              </a:rPr>
              <a:t>colspan</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"2"</a:t>
            </a:r>
            <a:r>
              <a:rPr lang="en-IN" sz="1400" dirty="0">
                <a:solidFill>
                  <a:srgbClr val="000000"/>
                </a:solidFill>
                <a:latin typeface="Consolas" panose="020B0609020204030204" pitchFamily="49" charset="0"/>
              </a:rPr>
              <a:t> </a:t>
            </a:r>
            <a:r>
              <a:rPr lang="en-IN" sz="1400" dirty="0">
                <a:solidFill>
                  <a:srgbClr val="CD3131"/>
                </a:solidFill>
                <a:latin typeface="Consolas" panose="020B0609020204030204" pitchFamily="49" charset="0"/>
              </a:rPr>
              <a:t>align</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err="1">
                <a:solidFill>
                  <a:srgbClr val="0000FF"/>
                </a:solidFill>
                <a:latin typeface="Consolas" panose="020B0609020204030204" pitchFamily="49" charset="0"/>
              </a:rPr>
              <a:t>center</a:t>
            </a:r>
            <a:r>
              <a:rPr lang="en-IN" sz="1400" dirty="0">
                <a:solidFill>
                  <a:srgbClr val="0000FF"/>
                </a:solidFill>
                <a:latin typeface="Consolas" panose="020B0609020204030204" pitchFamily="49" charset="0"/>
              </a:rPr>
              <a:t>"</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&lt;input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type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"submit"</a:t>
            </a:r>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[disabled]</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err="1">
                <a:solidFill>
                  <a:srgbClr val="001080"/>
                </a:solidFill>
                <a:latin typeface="Consolas" panose="020B0609020204030204" pitchFamily="49" charset="0"/>
              </a:rPr>
              <a:t>studentForm</a:t>
            </a:r>
            <a:r>
              <a:rPr lang="en-IN" sz="1400" dirty="0" err="1">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invalid</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&lt;/td&gt;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&lt;/tr&gt;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&lt;/table&gt;</a:t>
            </a:r>
            <a:endParaRPr lang="en-IN" sz="1400" dirty="0">
              <a:solidFill>
                <a:srgbClr val="000000"/>
              </a:solidFill>
              <a:latin typeface="Consolas" panose="020B0609020204030204" pitchFamily="49" charset="0"/>
            </a:endParaRPr>
          </a:p>
          <a:p>
            <a:r>
              <a:rPr lang="en-IN" sz="1400" dirty="0">
                <a:solidFill>
                  <a:srgbClr val="800000"/>
                </a:solidFill>
                <a:latin typeface="Consolas" panose="020B0609020204030204" pitchFamily="49" charset="0"/>
              </a:rPr>
              <a:t>&lt;/form&gt;</a:t>
            </a:r>
            <a:endParaRPr lang="en-IN" sz="1400" dirty="0">
              <a:solidFill>
                <a:srgbClr val="000000"/>
              </a:solidFill>
              <a:latin typeface="Consolas" panose="020B0609020204030204" pitchFamily="49" charset="0"/>
            </a:endParaRPr>
          </a:p>
        </p:txBody>
      </p:sp>
      <p:sp>
        <p:nvSpPr>
          <p:cNvPr id="11" name="Rectangle 10">
            <a:extLst>
              <a:ext uri="{FF2B5EF4-FFF2-40B4-BE49-F238E27FC236}">
                <a16:creationId xmlns:a16="http://schemas.microsoft.com/office/drawing/2014/main" id="{17B53D54-E221-3071-2433-828698C633FA}"/>
              </a:ext>
            </a:extLst>
          </p:cNvPr>
          <p:cNvSpPr/>
          <p:nvPr/>
        </p:nvSpPr>
        <p:spPr>
          <a:xfrm>
            <a:off x="5335517" y="1214164"/>
            <a:ext cx="499993" cy="5262979"/>
          </a:xfrm>
          <a:prstGeom prst="rect">
            <a:avLst/>
          </a:prstGeom>
          <a:solidFill>
            <a:schemeClr val="bg1">
              <a:lumMod val="85000"/>
            </a:schemeClr>
          </a:solidFill>
          <a:ln>
            <a:noFill/>
          </a:ln>
        </p:spPr>
        <p:txBody>
          <a:bodyPr wrap="square">
            <a:spAutoFit/>
          </a:bodyPr>
          <a:lstStyle/>
          <a:p>
            <a:pPr algn="r"/>
            <a:r>
              <a:rPr lang="en-US" sz="1400" b="1" dirty="0">
                <a:solidFill>
                  <a:schemeClr val="tx1">
                    <a:lumMod val="75000"/>
                    <a:lumOff val="25000"/>
                  </a:schemeClr>
                </a:solidFill>
                <a:latin typeface="Consolas" panose="020B0609020204030204" pitchFamily="49" charset="0"/>
              </a:rPr>
              <a:t>1</a:t>
            </a:r>
          </a:p>
          <a:p>
            <a:pPr algn="r"/>
            <a:r>
              <a:rPr lang="en-US" sz="1400" b="1" dirty="0">
                <a:solidFill>
                  <a:schemeClr val="tx1">
                    <a:lumMod val="75000"/>
                    <a:lumOff val="25000"/>
                  </a:schemeClr>
                </a:solidFill>
                <a:latin typeface="Consolas" panose="020B0609020204030204" pitchFamily="49" charset="0"/>
              </a:rPr>
              <a:t>2</a:t>
            </a:r>
          </a:p>
          <a:p>
            <a:pPr algn="r"/>
            <a:r>
              <a:rPr lang="en-US" sz="1400" b="1" dirty="0">
                <a:solidFill>
                  <a:schemeClr val="tx1">
                    <a:lumMod val="75000"/>
                    <a:lumOff val="25000"/>
                  </a:schemeClr>
                </a:solidFill>
                <a:latin typeface="Consolas" panose="020B0609020204030204" pitchFamily="49" charset="0"/>
              </a:rPr>
              <a:t>3</a:t>
            </a:r>
          </a:p>
          <a:p>
            <a:pPr algn="r"/>
            <a:r>
              <a:rPr lang="en-US" sz="1400" b="1" dirty="0">
                <a:solidFill>
                  <a:schemeClr val="tx1">
                    <a:lumMod val="75000"/>
                    <a:lumOff val="25000"/>
                  </a:schemeClr>
                </a:solidFill>
                <a:latin typeface="Consolas" panose="020B0609020204030204" pitchFamily="49" charset="0"/>
              </a:rPr>
              <a:t>4</a:t>
            </a:r>
          </a:p>
          <a:p>
            <a:pPr algn="r"/>
            <a:r>
              <a:rPr lang="en-US" sz="1400" b="1" dirty="0">
                <a:solidFill>
                  <a:schemeClr val="tx1">
                    <a:lumMod val="75000"/>
                    <a:lumOff val="25000"/>
                  </a:schemeClr>
                </a:solidFill>
                <a:latin typeface="Consolas" panose="020B0609020204030204" pitchFamily="49" charset="0"/>
              </a:rPr>
              <a:t>5</a:t>
            </a:r>
          </a:p>
          <a:p>
            <a:pPr algn="r"/>
            <a:r>
              <a:rPr lang="en-US" sz="1400" b="1" dirty="0">
                <a:solidFill>
                  <a:schemeClr val="tx1">
                    <a:lumMod val="75000"/>
                    <a:lumOff val="25000"/>
                  </a:schemeClr>
                </a:solidFill>
                <a:latin typeface="Consolas" panose="020B0609020204030204" pitchFamily="49" charset="0"/>
              </a:rPr>
              <a:t>6</a:t>
            </a:r>
          </a:p>
          <a:p>
            <a:pPr algn="r"/>
            <a:r>
              <a:rPr lang="en-US" sz="1400" b="1" dirty="0">
                <a:solidFill>
                  <a:schemeClr val="tx1">
                    <a:lumMod val="75000"/>
                    <a:lumOff val="25000"/>
                  </a:schemeClr>
                </a:solidFill>
                <a:latin typeface="Consolas" panose="020B0609020204030204" pitchFamily="49" charset="0"/>
              </a:rPr>
              <a:t>7</a:t>
            </a:r>
          </a:p>
          <a:p>
            <a:pPr algn="r"/>
            <a:r>
              <a:rPr lang="en-US" sz="1400" b="1" dirty="0">
                <a:solidFill>
                  <a:schemeClr val="tx1">
                    <a:lumMod val="75000"/>
                    <a:lumOff val="25000"/>
                  </a:schemeClr>
                </a:solidFill>
                <a:latin typeface="Consolas" panose="020B0609020204030204" pitchFamily="49" charset="0"/>
              </a:rPr>
              <a:t>8</a:t>
            </a:r>
          </a:p>
          <a:p>
            <a:pPr algn="r"/>
            <a:r>
              <a:rPr lang="en-US" sz="1400" b="1" dirty="0">
                <a:solidFill>
                  <a:schemeClr val="tx1">
                    <a:lumMod val="75000"/>
                    <a:lumOff val="25000"/>
                  </a:schemeClr>
                </a:solidFill>
                <a:latin typeface="Consolas" panose="020B0609020204030204" pitchFamily="49" charset="0"/>
              </a:rPr>
              <a:t>9</a:t>
            </a:r>
          </a:p>
          <a:p>
            <a:pPr algn="r"/>
            <a:r>
              <a:rPr lang="en-US" sz="1400" b="1" dirty="0">
                <a:solidFill>
                  <a:schemeClr val="tx1">
                    <a:lumMod val="75000"/>
                    <a:lumOff val="25000"/>
                  </a:schemeClr>
                </a:solidFill>
                <a:latin typeface="Consolas" panose="020B0609020204030204" pitchFamily="49" charset="0"/>
              </a:rPr>
              <a:t>10</a:t>
            </a:r>
          </a:p>
          <a:p>
            <a:pPr algn="r"/>
            <a:r>
              <a:rPr lang="en-US" sz="1400" b="1" dirty="0">
                <a:solidFill>
                  <a:schemeClr val="tx1">
                    <a:lumMod val="75000"/>
                    <a:lumOff val="25000"/>
                  </a:schemeClr>
                </a:solidFill>
                <a:latin typeface="Consolas" panose="020B0609020204030204" pitchFamily="49" charset="0"/>
              </a:rPr>
              <a:t>11</a:t>
            </a:r>
          </a:p>
          <a:p>
            <a:pPr algn="r"/>
            <a:r>
              <a:rPr lang="en-US" sz="1400" b="1" dirty="0">
                <a:solidFill>
                  <a:schemeClr val="tx1">
                    <a:lumMod val="75000"/>
                    <a:lumOff val="25000"/>
                  </a:schemeClr>
                </a:solidFill>
                <a:latin typeface="Consolas" panose="020B0609020204030204" pitchFamily="49" charset="0"/>
              </a:rPr>
              <a:t>12</a:t>
            </a:r>
          </a:p>
          <a:p>
            <a:pPr algn="r"/>
            <a:r>
              <a:rPr lang="en-US" sz="1400" b="1" dirty="0">
                <a:solidFill>
                  <a:schemeClr val="tx1">
                    <a:lumMod val="75000"/>
                    <a:lumOff val="25000"/>
                  </a:schemeClr>
                </a:solidFill>
                <a:latin typeface="Consolas" panose="020B0609020204030204" pitchFamily="49" charset="0"/>
              </a:rPr>
              <a:t>13</a:t>
            </a:r>
          </a:p>
          <a:p>
            <a:pPr algn="r"/>
            <a:r>
              <a:rPr lang="en-US" sz="1400" b="1" dirty="0">
                <a:solidFill>
                  <a:schemeClr val="tx1">
                    <a:lumMod val="75000"/>
                    <a:lumOff val="25000"/>
                  </a:schemeClr>
                </a:solidFill>
                <a:latin typeface="Consolas" panose="020B0609020204030204" pitchFamily="49" charset="0"/>
              </a:rPr>
              <a:t>14</a:t>
            </a:r>
          </a:p>
          <a:p>
            <a:pPr algn="r"/>
            <a:r>
              <a:rPr lang="en-US" sz="1400" b="1" dirty="0">
                <a:solidFill>
                  <a:schemeClr val="tx1">
                    <a:lumMod val="75000"/>
                    <a:lumOff val="25000"/>
                  </a:schemeClr>
                </a:solidFill>
                <a:latin typeface="Consolas" panose="020B0609020204030204" pitchFamily="49" charset="0"/>
              </a:rPr>
              <a:t>15</a:t>
            </a:r>
          </a:p>
          <a:p>
            <a:pPr algn="r"/>
            <a:r>
              <a:rPr lang="en-US" sz="1400" b="1" dirty="0">
                <a:solidFill>
                  <a:schemeClr val="tx1">
                    <a:lumMod val="75000"/>
                    <a:lumOff val="25000"/>
                  </a:schemeClr>
                </a:solidFill>
                <a:latin typeface="Consolas" panose="020B0609020204030204" pitchFamily="49" charset="0"/>
              </a:rPr>
              <a:t>16</a:t>
            </a:r>
          </a:p>
          <a:p>
            <a:pPr algn="r"/>
            <a:r>
              <a:rPr lang="en-US" sz="1400" b="1" dirty="0">
                <a:solidFill>
                  <a:schemeClr val="tx1">
                    <a:lumMod val="75000"/>
                    <a:lumOff val="25000"/>
                  </a:schemeClr>
                </a:solidFill>
                <a:latin typeface="Consolas" panose="020B0609020204030204" pitchFamily="49" charset="0"/>
              </a:rPr>
              <a:t>17</a:t>
            </a:r>
          </a:p>
          <a:p>
            <a:pPr algn="r"/>
            <a:r>
              <a:rPr lang="en-US" sz="1400" b="1" dirty="0">
                <a:solidFill>
                  <a:schemeClr val="tx1">
                    <a:lumMod val="75000"/>
                    <a:lumOff val="25000"/>
                  </a:schemeClr>
                </a:solidFill>
                <a:latin typeface="Consolas" panose="020B0609020204030204" pitchFamily="49" charset="0"/>
              </a:rPr>
              <a:t>18</a:t>
            </a:r>
          </a:p>
          <a:p>
            <a:pPr algn="r"/>
            <a:r>
              <a:rPr lang="en-US" sz="1400" b="1" dirty="0">
                <a:solidFill>
                  <a:schemeClr val="tx1">
                    <a:lumMod val="75000"/>
                    <a:lumOff val="25000"/>
                  </a:schemeClr>
                </a:solidFill>
                <a:latin typeface="Consolas" panose="020B0609020204030204" pitchFamily="49" charset="0"/>
              </a:rPr>
              <a:t>19</a:t>
            </a:r>
          </a:p>
          <a:p>
            <a:pPr algn="r"/>
            <a:r>
              <a:rPr lang="en-US" sz="1400" b="1" dirty="0">
                <a:solidFill>
                  <a:schemeClr val="tx1">
                    <a:lumMod val="75000"/>
                    <a:lumOff val="25000"/>
                  </a:schemeClr>
                </a:solidFill>
                <a:latin typeface="Consolas" panose="020B0609020204030204" pitchFamily="49" charset="0"/>
              </a:rPr>
              <a:t>20</a:t>
            </a:r>
          </a:p>
          <a:p>
            <a:pPr algn="r"/>
            <a:r>
              <a:rPr lang="en-US" sz="1400" b="1" dirty="0">
                <a:solidFill>
                  <a:schemeClr val="tx1">
                    <a:lumMod val="75000"/>
                    <a:lumOff val="25000"/>
                  </a:schemeClr>
                </a:solidFill>
                <a:latin typeface="Consolas" panose="020B0609020204030204" pitchFamily="49" charset="0"/>
              </a:rPr>
              <a:t>21</a:t>
            </a:r>
          </a:p>
          <a:p>
            <a:pPr algn="r"/>
            <a:r>
              <a:rPr lang="en-US" sz="1400" b="1" dirty="0">
                <a:solidFill>
                  <a:schemeClr val="tx1">
                    <a:lumMod val="75000"/>
                    <a:lumOff val="25000"/>
                  </a:schemeClr>
                </a:solidFill>
                <a:latin typeface="Consolas" panose="020B0609020204030204" pitchFamily="49" charset="0"/>
              </a:rPr>
              <a:t>22</a:t>
            </a:r>
          </a:p>
          <a:p>
            <a:pPr algn="r"/>
            <a:r>
              <a:rPr lang="en-US" sz="1400" b="1" dirty="0">
                <a:solidFill>
                  <a:schemeClr val="tx1">
                    <a:lumMod val="75000"/>
                    <a:lumOff val="25000"/>
                  </a:schemeClr>
                </a:solidFill>
                <a:latin typeface="Consolas" panose="020B0609020204030204" pitchFamily="49" charset="0"/>
              </a:rPr>
              <a:t>23</a:t>
            </a:r>
          </a:p>
          <a:p>
            <a:pPr algn="r"/>
            <a:r>
              <a:rPr lang="en-US" sz="1400" b="1" dirty="0">
                <a:solidFill>
                  <a:schemeClr val="tx1">
                    <a:lumMod val="75000"/>
                    <a:lumOff val="25000"/>
                  </a:schemeClr>
                </a:solidFill>
                <a:latin typeface="Consolas" panose="020B0609020204030204" pitchFamily="49" charset="0"/>
              </a:rPr>
              <a:t>24</a:t>
            </a:r>
          </a:p>
        </p:txBody>
      </p:sp>
      <p:sp>
        <p:nvSpPr>
          <p:cNvPr id="12" name="Rectangle: Top Corners Rounded 11">
            <a:extLst>
              <a:ext uri="{FF2B5EF4-FFF2-40B4-BE49-F238E27FC236}">
                <a16:creationId xmlns:a16="http://schemas.microsoft.com/office/drawing/2014/main" id="{D867A863-488F-B57E-CCE2-AB535175F5D1}"/>
              </a:ext>
            </a:extLst>
          </p:cNvPr>
          <p:cNvSpPr/>
          <p:nvPr/>
        </p:nvSpPr>
        <p:spPr>
          <a:xfrm>
            <a:off x="5335516" y="884980"/>
            <a:ext cx="399860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signup-form.component.html</a:t>
            </a:r>
          </a:p>
        </p:txBody>
      </p:sp>
    </p:spTree>
    <p:extLst>
      <p:ext uri="{BB962C8B-B14F-4D97-AF65-F5344CB8AC3E}">
        <p14:creationId xmlns:p14="http://schemas.microsoft.com/office/powerpoint/2010/main" val="3157825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741AE-6B36-9C1C-6B2E-84FCA6DA5EFC}"/>
              </a:ext>
            </a:extLst>
          </p:cNvPr>
          <p:cNvSpPr>
            <a:spLocks noGrp="1"/>
          </p:cNvSpPr>
          <p:nvPr>
            <p:ph type="title"/>
          </p:nvPr>
        </p:nvSpPr>
        <p:spPr/>
        <p:txBody>
          <a:bodyPr/>
          <a:lstStyle/>
          <a:p>
            <a:r>
              <a:rPr lang="en-IN" dirty="0"/>
              <a:t>Reactive Forms</a:t>
            </a:r>
          </a:p>
        </p:txBody>
      </p:sp>
      <p:sp>
        <p:nvSpPr>
          <p:cNvPr id="3" name="Content Placeholder 2">
            <a:extLst>
              <a:ext uri="{FF2B5EF4-FFF2-40B4-BE49-F238E27FC236}">
                <a16:creationId xmlns:a16="http://schemas.microsoft.com/office/drawing/2014/main" id="{86359CA4-A70D-377D-0754-A3DFC5449D90}"/>
              </a:ext>
            </a:extLst>
          </p:cNvPr>
          <p:cNvSpPr>
            <a:spLocks noGrp="1"/>
          </p:cNvSpPr>
          <p:nvPr>
            <p:ph idx="1"/>
          </p:nvPr>
        </p:nvSpPr>
        <p:spPr/>
        <p:txBody>
          <a:bodyPr/>
          <a:lstStyle/>
          <a:p>
            <a:r>
              <a:rPr lang="en-GB" dirty="0"/>
              <a:t>Reactive forms provide a model-driven approach to handling form inputs whose values change over time. </a:t>
            </a:r>
          </a:p>
          <a:p>
            <a:r>
              <a:rPr lang="en-GB" dirty="0"/>
              <a:t>We will learn how to create and update a basic form control, progress to using multiple controls in a group, validate form values, and create dynamic forms where we can add or remove controls at run time.</a:t>
            </a:r>
          </a:p>
          <a:p>
            <a:r>
              <a:rPr lang="en-GB" dirty="0"/>
              <a:t>Reactive forms use an explicit and immutable approach to managing the state of a form at a given point in time.</a:t>
            </a:r>
          </a:p>
          <a:p>
            <a:r>
              <a:rPr lang="en-GB" dirty="0"/>
              <a:t>Each change to the form state returns a new state, which maintains the integrity of the model between changes.</a:t>
            </a:r>
          </a:p>
          <a:p>
            <a:r>
              <a:rPr lang="en-GB" dirty="0"/>
              <a:t>Reactive forms are built around observable streams, where form inputs and values are provided as streams of input values, which can be accessed synchronously.</a:t>
            </a:r>
            <a:endParaRPr lang="en-IN" dirty="0"/>
          </a:p>
        </p:txBody>
      </p:sp>
    </p:spTree>
    <p:extLst>
      <p:ext uri="{BB962C8B-B14F-4D97-AF65-F5344CB8AC3E}">
        <p14:creationId xmlns:p14="http://schemas.microsoft.com/office/powerpoint/2010/main" val="301766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2EFB2-E8DD-08DC-6974-FDE6EEC37D44}"/>
              </a:ext>
            </a:extLst>
          </p:cNvPr>
          <p:cNvSpPr>
            <a:spLocks noGrp="1"/>
          </p:cNvSpPr>
          <p:nvPr>
            <p:ph type="title"/>
          </p:nvPr>
        </p:nvSpPr>
        <p:spPr/>
        <p:txBody>
          <a:bodyPr/>
          <a:lstStyle/>
          <a:p>
            <a:r>
              <a:rPr lang="en-IN" dirty="0"/>
              <a:t>Steps to setup reactive form</a:t>
            </a:r>
          </a:p>
        </p:txBody>
      </p:sp>
      <p:sp>
        <p:nvSpPr>
          <p:cNvPr id="3" name="Content Placeholder 2">
            <a:extLst>
              <a:ext uri="{FF2B5EF4-FFF2-40B4-BE49-F238E27FC236}">
                <a16:creationId xmlns:a16="http://schemas.microsoft.com/office/drawing/2014/main" id="{D6189D47-1423-A0CD-A90A-83A6CFE44A52}"/>
              </a:ext>
            </a:extLst>
          </p:cNvPr>
          <p:cNvSpPr>
            <a:spLocks noGrp="1"/>
          </p:cNvSpPr>
          <p:nvPr>
            <p:ph idx="1"/>
          </p:nvPr>
        </p:nvSpPr>
        <p:spPr/>
        <p:txBody>
          <a:bodyPr/>
          <a:lstStyle/>
          <a:p>
            <a:r>
              <a:rPr lang="en-IN" dirty="0"/>
              <a:t>Step 01: Import </a:t>
            </a:r>
            <a:r>
              <a:rPr lang="en-IN" dirty="0" err="1"/>
              <a:t>ReactiveFormsModule</a:t>
            </a:r>
            <a:endParaRPr lang="en-IN" dirty="0"/>
          </a:p>
          <a:p>
            <a:r>
              <a:rPr lang="en-IN" dirty="0"/>
              <a:t>Step 02: Create a form group</a:t>
            </a:r>
          </a:p>
          <a:p>
            <a:endParaRPr lang="en-IN" dirty="0"/>
          </a:p>
          <a:p>
            <a:endParaRPr lang="en-IN" dirty="0"/>
          </a:p>
          <a:p>
            <a:endParaRPr lang="en-IN" dirty="0"/>
          </a:p>
          <a:p>
            <a:r>
              <a:rPr lang="en-IN" dirty="0"/>
              <a:t>Step 03: Bind form group and control</a:t>
            </a:r>
          </a:p>
          <a:p>
            <a:endParaRPr lang="en-IN" dirty="0"/>
          </a:p>
          <a:p>
            <a:endParaRPr lang="en-IN" dirty="0"/>
          </a:p>
          <a:p>
            <a:endParaRPr lang="en-IN" dirty="0"/>
          </a:p>
          <a:p>
            <a:r>
              <a:rPr lang="en-IN" dirty="0"/>
              <a:t>Step 04: Apply Validations</a:t>
            </a:r>
          </a:p>
          <a:p>
            <a:r>
              <a:rPr lang="en-IN" dirty="0"/>
              <a:t>Step 05: Display Validation Errors</a:t>
            </a:r>
          </a:p>
          <a:p>
            <a:r>
              <a:rPr lang="en-IN" dirty="0"/>
              <a:t>Step 06: Handle Form Submission</a:t>
            </a:r>
          </a:p>
        </p:txBody>
      </p:sp>
      <p:sp>
        <p:nvSpPr>
          <p:cNvPr id="4" name="Rectangle 3">
            <a:extLst>
              <a:ext uri="{FF2B5EF4-FFF2-40B4-BE49-F238E27FC236}">
                <a16:creationId xmlns:a16="http://schemas.microsoft.com/office/drawing/2014/main" id="{D9DDA51D-BF03-2AF2-AC08-9BE8F32D5AC3}"/>
              </a:ext>
            </a:extLst>
          </p:cNvPr>
          <p:cNvSpPr/>
          <p:nvPr/>
        </p:nvSpPr>
        <p:spPr>
          <a:xfrm>
            <a:off x="5296279" y="877032"/>
            <a:ext cx="6764541" cy="307777"/>
          </a:xfrm>
          <a:prstGeom prst="rect">
            <a:avLst/>
          </a:prstGeom>
          <a:solidFill>
            <a:schemeClr val="bg1">
              <a:lumMod val="95000"/>
            </a:schemeClr>
          </a:solidFill>
          <a:ln>
            <a:noFill/>
          </a:ln>
        </p:spPr>
        <p:txBody>
          <a:bodyPr wrap="square">
            <a:spAutoFit/>
          </a:bodyPr>
          <a:lstStyle/>
          <a:p>
            <a:r>
              <a:rPr lang="en-IN" sz="1400" dirty="0">
                <a:solidFill>
                  <a:srgbClr val="AF00DB"/>
                </a:solidFill>
                <a:latin typeface="Consolas" panose="020B0609020204030204" pitchFamily="49" charset="0"/>
              </a:rPr>
              <a:t>import</a:t>
            </a:r>
            <a:r>
              <a:rPr lang="en-IN" sz="1400" dirty="0">
                <a:solidFill>
                  <a:srgbClr val="000000"/>
                </a:solidFill>
                <a:latin typeface="Consolas" panose="020B0609020204030204" pitchFamily="49" charset="0"/>
              </a:rPr>
              <a:t> { </a:t>
            </a:r>
            <a:r>
              <a:rPr lang="en-IN" sz="1400" dirty="0">
                <a:solidFill>
                  <a:srgbClr val="001080"/>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ReactiveFormsModule</a:t>
            </a:r>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AF00DB"/>
                </a:solidFill>
                <a:latin typeface="Consolas" panose="020B0609020204030204" pitchFamily="49" charset="0"/>
              </a:rPr>
              <a:t>from</a:t>
            </a:r>
            <a:r>
              <a:rPr lang="en-IN" sz="1400" dirty="0">
                <a:solidFill>
                  <a:srgbClr val="000000"/>
                </a:solidFill>
                <a:latin typeface="Consolas" panose="020B0609020204030204" pitchFamily="49" charset="0"/>
              </a:rPr>
              <a:t> </a:t>
            </a:r>
            <a:r>
              <a:rPr lang="en-IN" sz="1400" dirty="0">
                <a:solidFill>
                  <a:srgbClr val="A31515"/>
                </a:solidFill>
                <a:latin typeface="Consolas" panose="020B0609020204030204" pitchFamily="49" charset="0"/>
              </a:rPr>
              <a:t>'@angular/forms'</a:t>
            </a:r>
            <a:r>
              <a:rPr lang="en-IN" sz="1400" dirty="0">
                <a:solidFill>
                  <a:srgbClr val="000000"/>
                </a:solidFill>
                <a:latin typeface="Consolas" panose="020B0609020204030204" pitchFamily="49" charset="0"/>
              </a:rPr>
              <a:t>;</a:t>
            </a:r>
          </a:p>
        </p:txBody>
      </p:sp>
      <p:sp>
        <p:nvSpPr>
          <p:cNvPr id="5" name="Rectangle 4">
            <a:extLst>
              <a:ext uri="{FF2B5EF4-FFF2-40B4-BE49-F238E27FC236}">
                <a16:creationId xmlns:a16="http://schemas.microsoft.com/office/drawing/2014/main" id="{3BCBB9CB-453E-0DC3-0449-E570A427D1CD}"/>
              </a:ext>
            </a:extLst>
          </p:cNvPr>
          <p:cNvSpPr/>
          <p:nvPr/>
        </p:nvSpPr>
        <p:spPr>
          <a:xfrm>
            <a:off x="5296279" y="1357630"/>
            <a:ext cx="6764541" cy="1384995"/>
          </a:xfrm>
          <a:prstGeom prst="rect">
            <a:avLst/>
          </a:prstGeom>
          <a:solidFill>
            <a:schemeClr val="bg1">
              <a:lumMod val="95000"/>
            </a:schemeClr>
          </a:solidFill>
          <a:ln>
            <a:noFill/>
          </a:ln>
        </p:spPr>
        <p:txBody>
          <a:bodyPr wrap="square">
            <a:spAutoFit/>
          </a:bodyPr>
          <a:lstStyle/>
          <a:p>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studentForm</a:t>
            </a:r>
            <a:r>
              <a:rPr lang="en-IN" sz="1400" dirty="0">
                <a:solidFill>
                  <a:srgbClr val="000000"/>
                </a:solidFill>
                <a:latin typeface="Consolas" panose="020B0609020204030204" pitchFamily="49" charset="0"/>
              </a:rPr>
              <a:t> =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FormGroup</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name:</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FormControl</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rollNo</a:t>
            </a:r>
            <a:r>
              <a:rPr lang="en-IN" sz="1400" dirty="0">
                <a:solidFill>
                  <a:srgbClr val="001080"/>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FormControl</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semester:</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FormControl</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spi</a:t>
            </a:r>
            <a:r>
              <a:rPr lang="en-IN" sz="1400" dirty="0">
                <a:solidFill>
                  <a:srgbClr val="001080"/>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FormControl</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p:txBody>
      </p:sp>
      <p:sp>
        <p:nvSpPr>
          <p:cNvPr id="6" name="Rectangle 5">
            <a:extLst>
              <a:ext uri="{FF2B5EF4-FFF2-40B4-BE49-F238E27FC236}">
                <a16:creationId xmlns:a16="http://schemas.microsoft.com/office/drawing/2014/main" id="{EB7F3280-E8CD-3861-1031-CC170CEFEA60}"/>
              </a:ext>
            </a:extLst>
          </p:cNvPr>
          <p:cNvSpPr/>
          <p:nvPr/>
        </p:nvSpPr>
        <p:spPr>
          <a:xfrm>
            <a:off x="5296279" y="3184707"/>
            <a:ext cx="6764541" cy="1600438"/>
          </a:xfrm>
          <a:prstGeom prst="rect">
            <a:avLst/>
          </a:prstGeom>
          <a:solidFill>
            <a:schemeClr val="bg1">
              <a:lumMod val="95000"/>
            </a:schemeClr>
          </a:solidFill>
          <a:ln>
            <a:noFill/>
          </a:ln>
        </p:spPr>
        <p:txBody>
          <a:bodyPr wrap="square">
            <a:spAutoFit/>
          </a:bodyPr>
          <a:lstStyle/>
          <a:p>
            <a:r>
              <a:rPr lang="en-IN" sz="1400" dirty="0">
                <a:solidFill>
                  <a:srgbClr val="800000"/>
                </a:solidFill>
                <a:latin typeface="Consolas" panose="020B0609020204030204" pitchFamily="49" charset="0"/>
              </a:rPr>
              <a:t>&lt;form</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a:t>
            </a:r>
            <a:r>
              <a:rPr lang="en-IN" sz="1400" dirty="0" err="1">
                <a:solidFill>
                  <a:srgbClr val="E50000"/>
                </a:solidFill>
                <a:latin typeface="Consolas" panose="020B0609020204030204" pitchFamily="49" charset="0"/>
              </a:rPr>
              <a:t>formGroup</a:t>
            </a:r>
            <a:r>
              <a:rPr lang="en-IN" sz="1400" dirty="0">
                <a:solidFill>
                  <a:srgbClr val="E50000"/>
                </a:solidFill>
                <a:latin typeface="Consolas" panose="020B0609020204030204" pitchFamily="49" charset="0"/>
              </a:rPr>
              <a:t>]</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err="1">
                <a:solidFill>
                  <a:srgbClr val="001080"/>
                </a:solidFill>
                <a:latin typeface="Consolas" panose="020B0609020204030204" pitchFamily="49" charset="0"/>
              </a:rPr>
              <a:t>studentForm</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a:t>
            </a:r>
            <a:r>
              <a:rPr lang="en-IN" sz="1400" dirty="0" err="1">
                <a:solidFill>
                  <a:srgbClr val="E50000"/>
                </a:solidFill>
                <a:latin typeface="Consolas" panose="020B0609020204030204" pitchFamily="49" charset="0"/>
              </a:rPr>
              <a:t>ngSubmit</a:t>
            </a:r>
            <a:r>
              <a:rPr lang="en-IN" sz="1400" dirty="0">
                <a:solidFill>
                  <a:srgbClr val="E50000"/>
                </a:solidFill>
                <a:latin typeface="Consolas" panose="020B0609020204030204" pitchFamily="49" charset="0"/>
              </a:rPr>
              <a:t>)</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err="1">
                <a:solidFill>
                  <a:srgbClr val="795E26"/>
                </a:solidFill>
                <a:latin typeface="Consolas" panose="020B0609020204030204" pitchFamily="49" charset="0"/>
              </a:rPr>
              <a:t>addStudent</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Name : </a:t>
            </a:r>
            <a:r>
              <a:rPr lang="en-IN" sz="1400" dirty="0">
                <a:solidFill>
                  <a:srgbClr val="800000"/>
                </a:solidFill>
                <a:latin typeface="Consolas" panose="020B0609020204030204" pitchFamily="49" charset="0"/>
              </a:rPr>
              <a:t>&lt;input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type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"text"</a:t>
            </a:r>
            <a:r>
              <a:rPr lang="en-IN" sz="1400" dirty="0">
                <a:solidFill>
                  <a:srgbClr val="000000"/>
                </a:solidFill>
                <a:latin typeface="Consolas" panose="020B0609020204030204" pitchFamily="49" charset="0"/>
              </a:rPr>
              <a:t> </a:t>
            </a:r>
            <a:r>
              <a:rPr lang="en-IN" sz="1400" dirty="0" err="1">
                <a:solidFill>
                  <a:srgbClr val="E50000"/>
                </a:solidFill>
                <a:latin typeface="Consolas" panose="020B0609020204030204" pitchFamily="49" charset="0"/>
              </a:rPr>
              <a:t>formControlName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"name"</a:t>
            </a:r>
            <a:r>
              <a:rPr lang="en-IN" sz="1400" dirty="0">
                <a:solidFill>
                  <a:srgbClr val="800000"/>
                </a:solidFill>
                <a:latin typeface="Consolas" panose="020B0609020204030204" pitchFamily="49" charset="0"/>
              </a:rPr>
              <a:t>/&gt;</a:t>
            </a:r>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a:t>
            </a:r>
            <a:r>
              <a:rPr lang="en-IN" sz="1400" dirty="0" err="1">
                <a:solidFill>
                  <a:srgbClr val="800000"/>
                </a:solidFill>
                <a:latin typeface="Consolas" panose="020B0609020204030204" pitchFamily="49" charset="0"/>
              </a:rPr>
              <a:t>br</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RollNo</a:t>
            </a:r>
            <a:r>
              <a:rPr lang="en-IN" sz="1400" dirty="0">
                <a:solidFill>
                  <a:srgbClr val="000000"/>
                </a:solidFill>
                <a:latin typeface="Consolas" panose="020B0609020204030204" pitchFamily="49" charset="0"/>
              </a:rPr>
              <a:t> : </a:t>
            </a:r>
            <a:r>
              <a:rPr lang="en-IN" sz="1400" dirty="0">
                <a:solidFill>
                  <a:srgbClr val="800000"/>
                </a:solidFill>
                <a:latin typeface="Consolas" panose="020B0609020204030204" pitchFamily="49" charset="0"/>
              </a:rPr>
              <a:t>&lt;input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type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"text"</a:t>
            </a:r>
            <a:r>
              <a:rPr lang="en-IN" sz="1400" dirty="0">
                <a:solidFill>
                  <a:srgbClr val="000000"/>
                </a:solidFill>
                <a:latin typeface="Consolas" panose="020B0609020204030204" pitchFamily="49" charset="0"/>
              </a:rPr>
              <a:t> </a:t>
            </a:r>
            <a:r>
              <a:rPr lang="en-IN" sz="1400" dirty="0" err="1">
                <a:solidFill>
                  <a:srgbClr val="E50000"/>
                </a:solidFill>
                <a:latin typeface="Consolas" panose="020B0609020204030204" pitchFamily="49" charset="0"/>
              </a:rPr>
              <a:t>formControlName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err="1">
                <a:solidFill>
                  <a:srgbClr val="0000FF"/>
                </a:solidFill>
                <a:latin typeface="Consolas" panose="020B0609020204030204" pitchFamily="49" charset="0"/>
              </a:rPr>
              <a:t>rollNo</a:t>
            </a:r>
            <a:r>
              <a:rPr lang="en-IN" sz="1400" dirty="0">
                <a:solidFill>
                  <a:srgbClr val="0000FF"/>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/&gt;</a:t>
            </a:r>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a:t>
            </a:r>
            <a:r>
              <a:rPr lang="en-IN" sz="1400" dirty="0" err="1">
                <a:solidFill>
                  <a:srgbClr val="800000"/>
                </a:solidFill>
                <a:latin typeface="Consolas" panose="020B0609020204030204" pitchFamily="49" charset="0"/>
              </a:rPr>
              <a:t>br</a:t>
            </a:r>
            <a:r>
              <a:rPr lang="en-IN" sz="1400" dirty="0">
                <a:solidFill>
                  <a:srgbClr val="800000"/>
                </a:solidFill>
                <a:latin typeface="Consolas" panose="020B0609020204030204" pitchFamily="49" charset="0"/>
              </a:rPr>
              <a:t>/&gt;</a:t>
            </a:r>
          </a:p>
          <a:p>
            <a:r>
              <a:rPr lang="en-IN" sz="1400" dirty="0">
                <a:solidFill>
                  <a:srgbClr val="800000"/>
                </a:solidFill>
                <a:latin typeface="Consolas" panose="020B0609020204030204" pitchFamily="49" charset="0"/>
              </a:rPr>
              <a:t>    …</a:t>
            </a:r>
          </a:p>
          <a:p>
            <a:r>
              <a:rPr lang="en-IN" sz="1400" dirty="0">
                <a:solidFill>
                  <a:srgbClr val="800000"/>
                </a:solidFill>
                <a:latin typeface="Consolas" panose="020B0609020204030204" pitchFamily="49" charset="0"/>
              </a:rPr>
              <a:t>    …</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&lt;input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type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"submit"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[disabled]</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err="1">
                <a:solidFill>
                  <a:srgbClr val="001080"/>
                </a:solidFill>
                <a:latin typeface="Consolas" panose="020B0609020204030204" pitchFamily="49" charset="0"/>
              </a:rPr>
              <a:t>studentForm</a:t>
            </a:r>
            <a:r>
              <a:rPr lang="en-IN" sz="1400" dirty="0" err="1">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invalid</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800000"/>
                </a:solidFill>
                <a:latin typeface="Consolas" panose="020B0609020204030204" pitchFamily="49" charset="0"/>
              </a:rPr>
              <a:t>&lt;/form&gt;</a:t>
            </a:r>
            <a:endParaRPr lang="en-IN" sz="1400" dirty="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53DC5B2C-3457-498A-6F46-FADE3F0DA22E}"/>
              </a:ext>
            </a:extLst>
          </p:cNvPr>
          <p:cNvSpPr/>
          <p:nvPr/>
        </p:nvSpPr>
        <p:spPr>
          <a:xfrm>
            <a:off x="5296278" y="5625224"/>
            <a:ext cx="6764541" cy="738664"/>
          </a:xfrm>
          <a:prstGeom prst="rect">
            <a:avLst/>
          </a:prstGeom>
          <a:solidFill>
            <a:schemeClr val="bg1">
              <a:lumMod val="95000"/>
            </a:schemeClr>
          </a:solidFill>
          <a:ln>
            <a:noFill/>
          </a:ln>
        </p:spPr>
        <p:txBody>
          <a:bodyPr wrap="square">
            <a:spAutoFit/>
          </a:bodyPr>
          <a:lstStyle/>
          <a:p>
            <a:r>
              <a:rPr lang="en-IN" sz="1400" dirty="0" err="1">
                <a:solidFill>
                  <a:srgbClr val="795E26"/>
                </a:solidFill>
                <a:latin typeface="Consolas" panose="020B0609020204030204" pitchFamily="49" charset="0"/>
              </a:rPr>
              <a:t>addStudent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console</a:t>
            </a:r>
            <a:r>
              <a:rPr lang="en-IN" sz="1400" dirty="0">
                <a:solidFill>
                  <a:srgbClr val="000000"/>
                </a:solidFill>
                <a:latin typeface="Consolas" panose="020B0609020204030204" pitchFamily="49" charset="0"/>
              </a:rPr>
              <a:t>.</a:t>
            </a:r>
            <a:r>
              <a:rPr lang="en-IN" sz="1400" dirty="0">
                <a:solidFill>
                  <a:srgbClr val="795E26"/>
                </a:solidFill>
                <a:latin typeface="Consolas" panose="020B0609020204030204" pitchFamily="49" charset="0"/>
              </a:rPr>
              <a:t>log</a:t>
            </a:r>
            <a:r>
              <a:rPr lang="en-IN" sz="1400" dirty="0">
                <a:solidFill>
                  <a:srgbClr val="000000"/>
                </a:solidFill>
                <a:latin typeface="Consolas" panose="020B0609020204030204" pitchFamily="49" charset="0"/>
              </a:rPr>
              <a:t>(</a:t>
            </a:r>
            <a:r>
              <a:rPr lang="en-IN" sz="1400" dirty="0" err="1">
                <a:solidFill>
                  <a:srgbClr val="0000FF"/>
                </a:solidFill>
                <a:latin typeface="Consolas" panose="020B0609020204030204" pitchFamily="49" charset="0"/>
              </a:rPr>
              <a:t>this</a:t>
            </a:r>
            <a:r>
              <a:rPr lang="en-IN" sz="1400" dirty="0" err="1">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studentForm</a:t>
            </a:r>
            <a:r>
              <a:rPr lang="en-IN" sz="1400" dirty="0" err="1">
                <a:solidFill>
                  <a:srgbClr val="000000"/>
                </a:solidFill>
                <a:latin typeface="Consolas" panose="020B0609020204030204" pitchFamily="49" charset="0"/>
              </a:rPr>
              <a:t>.</a:t>
            </a:r>
            <a:r>
              <a:rPr lang="en-IN" sz="1400" dirty="0" err="1">
                <a:solidFill>
                  <a:srgbClr val="0070C1"/>
                </a:solidFill>
                <a:latin typeface="Consolas" panose="020B0609020204030204" pitchFamily="49" charset="0"/>
              </a:rPr>
              <a:t>value</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813586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308D4-C22A-8C0D-3F32-6D1737E29EDC}"/>
              </a:ext>
            </a:extLst>
          </p:cNvPr>
          <p:cNvSpPr>
            <a:spLocks noGrp="1"/>
          </p:cNvSpPr>
          <p:nvPr>
            <p:ph type="title"/>
          </p:nvPr>
        </p:nvSpPr>
        <p:spPr/>
        <p:txBody>
          <a:bodyPr/>
          <a:lstStyle/>
          <a:p>
            <a:r>
              <a:rPr lang="en-GB" dirty="0"/>
              <a:t>Example (Reactive Form)</a:t>
            </a:r>
            <a:endParaRPr lang="en-IN" dirty="0"/>
          </a:p>
        </p:txBody>
      </p:sp>
      <p:sp>
        <p:nvSpPr>
          <p:cNvPr id="4" name="Rectangle 3">
            <a:extLst>
              <a:ext uri="{FF2B5EF4-FFF2-40B4-BE49-F238E27FC236}">
                <a16:creationId xmlns:a16="http://schemas.microsoft.com/office/drawing/2014/main" id="{F7C322E4-5115-0CB6-4E0D-2D6A9DA49CD8}"/>
              </a:ext>
            </a:extLst>
          </p:cNvPr>
          <p:cNvSpPr/>
          <p:nvPr/>
        </p:nvSpPr>
        <p:spPr>
          <a:xfrm>
            <a:off x="584498" y="1214164"/>
            <a:ext cx="7138108" cy="3754874"/>
          </a:xfrm>
          <a:prstGeom prst="rect">
            <a:avLst/>
          </a:prstGeom>
          <a:solidFill>
            <a:schemeClr val="bg1">
              <a:lumMod val="95000"/>
            </a:schemeClr>
          </a:solidFill>
          <a:ln>
            <a:noFill/>
          </a:ln>
        </p:spPr>
        <p:txBody>
          <a:bodyPr wrap="square">
            <a:spAutoFit/>
          </a:bodyPr>
          <a:lstStyle/>
          <a:p>
            <a:r>
              <a:rPr lang="en-IN" sz="1400" dirty="0">
                <a:solidFill>
                  <a:srgbClr val="AF00DB"/>
                </a:solidFill>
                <a:latin typeface="Consolas" panose="020B0609020204030204" pitchFamily="49" charset="0"/>
              </a:rPr>
              <a:t>import</a:t>
            </a:r>
            <a:r>
              <a:rPr lang="en-IN" sz="1400" dirty="0">
                <a:solidFill>
                  <a:srgbClr val="000000"/>
                </a:solidFill>
                <a:latin typeface="Consolas" panose="020B0609020204030204" pitchFamily="49" charset="0"/>
              </a:rPr>
              <a:t> { </a:t>
            </a:r>
            <a:r>
              <a:rPr lang="en-IN" sz="1400" dirty="0">
                <a:solidFill>
                  <a:srgbClr val="001080"/>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ReactiveFormsModule</a:t>
            </a:r>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AF00DB"/>
                </a:solidFill>
                <a:latin typeface="Consolas" panose="020B0609020204030204" pitchFamily="49" charset="0"/>
              </a:rPr>
              <a:t>from</a:t>
            </a:r>
            <a:r>
              <a:rPr lang="en-IN" sz="1400" dirty="0">
                <a:solidFill>
                  <a:srgbClr val="000000"/>
                </a:solidFill>
                <a:latin typeface="Consolas" panose="020B0609020204030204" pitchFamily="49" charset="0"/>
              </a:rPr>
              <a:t> </a:t>
            </a:r>
            <a:r>
              <a:rPr lang="en-IN" sz="1400" dirty="0">
                <a:solidFill>
                  <a:srgbClr val="A31515"/>
                </a:solidFill>
                <a:latin typeface="Consolas" panose="020B0609020204030204" pitchFamily="49" charset="0"/>
              </a:rPr>
              <a:t>'@angular/forms'</a:t>
            </a:r>
            <a:r>
              <a:rPr lang="en-IN" sz="1400" dirty="0">
                <a:solidFill>
                  <a:srgbClr val="000000"/>
                </a:solidFill>
                <a:latin typeface="Consolas" panose="020B0609020204030204" pitchFamily="49" charset="0"/>
              </a:rPr>
              <a:t>;</a:t>
            </a:r>
            <a:br>
              <a:rPr lang="en-IN" sz="1400" dirty="0">
                <a:solidFill>
                  <a:srgbClr val="000000"/>
                </a:solidFill>
                <a:latin typeface="Consolas" panose="020B0609020204030204" pitchFamily="49" charset="0"/>
              </a:rPr>
            </a:br>
            <a:r>
              <a:rPr lang="en-IN" sz="1400" dirty="0">
                <a:solidFill>
                  <a:srgbClr val="000000"/>
                </a:solidFill>
                <a:latin typeface="Consolas" panose="020B0609020204030204" pitchFamily="49" charset="0"/>
              </a:rPr>
              <a:t>@</a:t>
            </a:r>
            <a:r>
              <a:rPr lang="en-IN" sz="1400" dirty="0">
                <a:solidFill>
                  <a:srgbClr val="267F99"/>
                </a:solidFill>
                <a:latin typeface="Consolas" panose="020B0609020204030204" pitchFamily="49" charset="0"/>
              </a:rPr>
              <a:t>Component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selector:</a:t>
            </a:r>
            <a:r>
              <a:rPr lang="en-IN" sz="1400" dirty="0">
                <a:solidFill>
                  <a:srgbClr val="000000"/>
                </a:solidFill>
                <a:latin typeface="Consolas" panose="020B0609020204030204" pitchFamily="49" charset="0"/>
              </a:rPr>
              <a:t> </a:t>
            </a:r>
            <a:r>
              <a:rPr lang="en-IN" sz="1400" dirty="0">
                <a:solidFill>
                  <a:srgbClr val="A31515"/>
                </a:solidFill>
                <a:latin typeface="Consolas" panose="020B0609020204030204" pitchFamily="49" charset="0"/>
              </a:rPr>
              <a:t>'app-student-form'</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imports:</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ReactiveFormsModule</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a:t>
            </a:r>
          </a:p>
          <a:p>
            <a:r>
              <a:rPr lang="en-IN" sz="1400" dirty="0">
                <a:solidFill>
                  <a:srgbClr val="AF00DB"/>
                </a:solidFill>
                <a:latin typeface="Consolas" panose="020B0609020204030204" pitchFamily="49" charset="0"/>
              </a:rPr>
              <a:t>export</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class</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StudentFormComponent</a:t>
            </a:r>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studentForm</a:t>
            </a:r>
            <a:r>
              <a:rPr lang="en-IN" sz="1400" dirty="0">
                <a:solidFill>
                  <a:srgbClr val="000000"/>
                </a:solidFill>
                <a:latin typeface="Consolas" panose="020B0609020204030204" pitchFamily="49" charset="0"/>
              </a:rPr>
              <a:t> =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FormGroup</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name:</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FormControl</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a:t>
            </a:r>
            <a:r>
              <a:rPr lang="en-IN" sz="1400" dirty="0" err="1">
                <a:solidFill>
                  <a:srgbClr val="267F99"/>
                </a:solidFill>
                <a:latin typeface="Consolas" panose="020B0609020204030204" pitchFamily="49" charset="0"/>
              </a:rPr>
              <a:t>Validators</a:t>
            </a:r>
            <a:r>
              <a:rPr lang="en-IN" sz="1400" dirty="0" err="1">
                <a:solidFill>
                  <a:srgbClr val="000000"/>
                </a:solidFill>
                <a:latin typeface="Consolas" panose="020B0609020204030204" pitchFamily="49" charset="0"/>
              </a:rPr>
              <a:t>.</a:t>
            </a:r>
            <a:r>
              <a:rPr lang="en-IN" sz="1400" dirty="0" err="1">
                <a:solidFill>
                  <a:srgbClr val="795E26"/>
                </a:solidFill>
                <a:latin typeface="Consolas" panose="020B0609020204030204" pitchFamily="49" charset="0"/>
              </a:rPr>
              <a:t>required</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rollNo</a:t>
            </a:r>
            <a:r>
              <a:rPr lang="en-IN" sz="1400" dirty="0">
                <a:solidFill>
                  <a:srgbClr val="001080"/>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FormControl</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a:solidFill>
                  <a:srgbClr val="001080"/>
                </a:solidFill>
                <a:latin typeface="Consolas" panose="020B0609020204030204" pitchFamily="49" charset="0"/>
              </a:rPr>
              <a:t>semester:</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FormControl</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Validators</a:t>
            </a:r>
            <a:r>
              <a:rPr lang="en-IN" sz="1400" dirty="0" err="1">
                <a:solidFill>
                  <a:srgbClr val="000000"/>
                </a:solidFill>
                <a:latin typeface="Consolas" panose="020B0609020204030204" pitchFamily="49" charset="0"/>
              </a:rPr>
              <a:t>.</a:t>
            </a:r>
            <a:r>
              <a:rPr lang="en-IN" sz="1400" dirty="0" err="1">
                <a:solidFill>
                  <a:srgbClr val="795E26"/>
                </a:solidFill>
                <a:latin typeface="Consolas" panose="020B0609020204030204" pitchFamily="49" charset="0"/>
              </a:rPr>
              <a:t>required</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1080"/>
                </a:solidFill>
                <a:latin typeface="Consolas" panose="020B0609020204030204" pitchFamily="49" charset="0"/>
              </a:rPr>
              <a:t>spi</a:t>
            </a:r>
            <a:r>
              <a:rPr lang="en-IN" sz="1400" dirty="0">
                <a:solidFill>
                  <a:srgbClr val="001080"/>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new</a:t>
            </a:r>
            <a:r>
              <a:rPr lang="en-IN" sz="1400" dirty="0">
                <a:solidFill>
                  <a:srgbClr val="000000"/>
                </a:solidFill>
                <a:latin typeface="Consolas" panose="020B0609020204030204" pitchFamily="49" charset="0"/>
              </a:rPr>
              <a:t> </a:t>
            </a:r>
            <a:r>
              <a:rPr lang="en-IN" sz="1400" dirty="0" err="1">
                <a:solidFill>
                  <a:srgbClr val="267F99"/>
                </a:solidFill>
                <a:latin typeface="Consolas" panose="020B0609020204030204" pitchFamily="49" charset="0"/>
              </a:rPr>
              <a:t>FormControl</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addStudent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//get data using </a:t>
            </a:r>
            <a:r>
              <a:rPr lang="en-IN" sz="1400" dirty="0" err="1">
                <a:solidFill>
                  <a:srgbClr val="000000"/>
                </a:solidFill>
                <a:latin typeface="Consolas" panose="020B0609020204030204" pitchFamily="49" charset="0"/>
              </a:rPr>
              <a:t>this.studentForm.value</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br>
              <a:rPr lang="en-IN" sz="1400" dirty="0">
                <a:solidFill>
                  <a:srgbClr val="000000"/>
                </a:solidFill>
                <a:latin typeface="Consolas" panose="020B0609020204030204" pitchFamily="49" charset="0"/>
              </a:rPr>
            </a:br>
            <a:r>
              <a:rPr lang="en-IN" sz="1400" dirty="0">
                <a:solidFill>
                  <a:srgbClr val="000000"/>
                </a:solidFill>
                <a:latin typeface="Consolas" panose="020B0609020204030204" pitchFamily="49" charset="0"/>
              </a:rPr>
              <a:t>}</a:t>
            </a:r>
          </a:p>
        </p:txBody>
      </p:sp>
      <p:sp>
        <p:nvSpPr>
          <p:cNvPr id="5" name="Rectangle 4">
            <a:extLst>
              <a:ext uri="{FF2B5EF4-FFF2-40B4-BE49-F238E27FC236}">
                <a16:creationId xmlns:a16="http://schemas.microsoft.com/office/drawing/2014/main" id="{0BE93DF1-41B5-B977-FE22-FE6A3EFC56E7}"/>
              </a:ext>
            </a:extLst>
          </p:cNvPr>
          <p:cNvSpPr/>
          <p:nvPr/>
        </p:nvSpPr>
        <p:spPr>
          <a:xfrm>
            <a:off x="84505" y="1214164"/>
            <a:ext cx="499993" cy="3754874"/>
          </a:xfrm>
          <a:prstGeom prst="rect">
            <a:avLst/>
          </a:prstGeom>
          <a:solidFill>
            <a:schemeClr val="bg1">
              <a:lumMod val="85000"/>
            </a:schemeClr>
          </a:solidFill>
          <a:ln>
            <a:noFill/>
          </a:ln>
        </p:spPr>
        <p:txBody>
          <a:bodyPr wrap="square">
            <a:spAutoFit/>
          </a:bodyPr>
          <a:lstStyle/>
          <a:p>
            <a:pPr algn="r"/>
            <a:r>
              <a:rPr lang="en-US" sz="1400" b="1" dirty="0">
                <a:solidFill>
                  <a:schemeClr val="tx1">
                    <a:lumMod val="75000"/>
                    <a:lumOff val="25000"/>
                  </a:schemeClr>
                </a:solidFill>
                <a:latin typeface="Consolas" panose="020B0609020204030204" pitchFamily="49" charset="0"/>
              </a:rPr>
              <a:t>1</a:t>
            </a:r>
          </a:p>
          <a:p>
            <a:pPr algn="r"/>
            <a:r>
              <a:rPr lang="en-US" sz="1400" b="1" dirty="0">
                <a:solidFill>
                  <a:schemeClr val="tx1">
                    <a:lumMod val="75000"/>
                    <a:lumOff val="25000"/>
                  </a:schemeClr>
                </a:solidFill>
                <a:latin typeface="Consolas" panose="020B0609020204030204" pitchFamily="49" charset="0"/>
              </a:rPr>
              <a:t>2</a:t>
            </a:r>
          </a:p>
          <a:p>
            <a:pPr algn="r"/>
            <a:r>
              <a:rPr lang="en-US" sz="1400" b="1" dirty="0">
                <a:solidFill>
                  <a:schemeClr val="tx1">
                    <a:lumMod val="75000"/>
                    <a:lumOff val="25000"/>
                  </a:schemeClr>
                </a:solidFill>
                <a:latin typeface="Consolas" panose="020B0609020204030204" pitchFamily="49" charset="0"/>
              </a:rPr>
              <a:t>3</a:t>
            </a:r>
          </a:p>
          <a:p>
            <a:pPr algn="r"/>
            <a:r>
              <a:rPr lang="en-US" sz="1400" b="1" dirty="0">
                <a:solidFill>
                  <a:schemeClr val="tx1">
                    <a:lumMod val="75000"/>
                    <a:lumOff val="25000"/>
                  </a:schemeClr>
                </a:solidFill>
                <a:latin typeface="Consolas" panose="020B0609020204030204" pitchFamily="49" charset="0"/>
              </a:rPr>
              <a:t>4</a:t>
            </a:r>
          </a:p>
          <a:p>
            <a:pPr algn="r"/>
            <a:r>
              <a:rPr lang="en-US" sz="1400" b="1" dirty="0">
                <a:solidFill>
                  <a:schemeClr val="tx1">
                    <a:lumMod val="75000"/>
                    <a:lumOff val="25000"/>
                  </a:schemeClr>
                </a:solidFill>
                <a:latin typeface="Consolas" panose="020B0609020204030204" pitchFamily="49" charset="0"/>
              </a:rPr>
              <a:t>5</a:t>
            </a:r>
          </a:p>
          <a:p>
            <a:pPr algn="r"/>
            <a:r>
              <a:rPr lang="en-US" sz="1400" b="1" dirty="0">
                <a:solidFill>
                  <a:schemeClr val="tx1">
                    <a:lumMod val="75000"/>
                    <a:lumOff val="25000"/>
                  </a:schemeClr>
                </a:solidFill>
                <a:latin typeface="Consolas" panose="020B0609020204030204" pitchFamily="49" charset="0"/>
              </a:rPr>
              <a:t>6</a:t>
            </a:r>
          </a:p>
          <a:p>
            <a:pPr algn="r"/>
            <a:r>
              <a:rPr lang="en-US" sz="1400" b="1" dirty="0">
                <a:solidFill>
                  <a:schemeClr val="tx1">
                    <a:lumMod val="75000"/>
                    <a:lumOff val="25000"/>
                  </a:schemeClr>
                </a:solidFill>
                <a:latin typeface="Consolas" panose="020B0609020204030204" pitchFamily="49" charset="0"/>
              </a:rPr>
              <a:t>7</a:t>
            </a:r>
          </a:p>
          <a:p>
            <a:pPr algn="r"/>
            <a:r>
              <a:rPr lang="en-US" sz="1400" b="1" dirty="0">
                <a:solidFill>
                  <a:schemeClr val="tx1">
                    <a:lumMod val="75000"/>
                    <a:lumOff val="25000"/>
                  </a:schemeClr>
                </a:solidFill>
                <a:latin typeface="Consolas" panose="020B0609020204030204" pitchFamily="49" charset="0"/>
              </a:rPr>
              <a:t>8</a:t>
            </a:r>
          </a:p>
          <a:p>
            <a:pPr algn="r"/>
            <a:r>
              <a:rPr lang="en-US" sz="1400" b="1" dirty="0">
                <a:solidFill>
                  <a:schemeClr val="tx1">
                    <a:lumMod val="75000"/>
                    <a:lumOff val="25000"/>
                  </a:schemeClr>
                </a:solidFill>
                <a:latin typeface="Consolas" panose="020B0609020204030204" pitchFamily="49" charset="0"/>
              </a:rPr>
              <a:t>9</a:t>
            </a:r>
          </a:p>
          <a:p>
            <a:pPr algn="r"/>
            <a:r>
              <a:rPr lang="en-US" sz="1400" b="1" dirty="0">
                <a:solidFill>
                  <a:schemeClr val="tx1">
                    <a:lumMod val="75000"/>
                    <a:lumOff val="25000"/>
                  </a:schemeClr>
                </a:solidFill>
                <a:latin typeface="Consolas" panose="020B0609020204030204" pitchFamily="49" charset="0"/>
              </a:rPr>
              <a:t>10</a:t>
            </a:r>
          </a:p>
          <a:p>
            <a:pPr algn="r"/>
            <a:r>
              <a:rPr lang="en-US" sz="1400" b="1" dirty="0">
                <a:solidFill>
                  <a:schemeClr val="tx1">
                    <a:lumMod val="75000"/>
                    <a:lumOff val="25000"/>
                  </a:schemeClr>
                </a:solidFill>
                <a:latin typeface="Consolas" panose="020B0609020204030204" pitchFamily="49" charset="0"/>
              </a:rPr>
              <a:t>11</a:t>
            </a:r>
          </a:p>
          <a:p>
            <a:pPr algn="r"/>
            <a:r>
              <a:rPr lang="en-US" sz="1400" b="1" dirty="0">
                <a:solidFill>
                  <a:schemeClr val="tx1">
                    <a:lumMod val="75000"/>
                    <a:lumOff val="25000"/>
                  </a:schemeClr>
                </a:solidFill>
                <a:latin typeface="Consolas" panose="020B0609020204030204" pitchFamily="49" charset="0"/>
              </a:rPr>
              <a:t>12</a:t>
            </a:r>
          </a:p>
          <a:p>
            <a:pPr algn="r"/>
            <a:r>
              <a:rPr lang="en-US" sz="1400" b="1" dirty="0">
                <a:solidFill>
                  <a:schemeClr val="tx1">
                    <a:lumMod val="75000"/>
                    <a:lumOff val="25000"/>
                  </a:schemeClr>
                </a:solidFill>
                <a:latin typeface="Consolas" panose="020B0609020204030204" pitchFamily="49" charset="0"/>
              </a:rPr>
              <a:t>13</a:t>
            </a:r>
          </a:p>
          <a:p>
            <a:pPr algn="r"/>
            <a:r>
              <a:rPr lang="en-US" sz="1400" b="1" dirty="0">
                <a:solidFill>
                  <a:schemeClr val="tx1">
                    <a:lumMod val="75000"/>
                    <a:lumOff val="25000"/>
                  </a:schemeClr>
                </a:solidFill>
                <a:latin typeface="Consolas" panose="020B0609020204030204" pitchFamily="49" charset="0"/>
              </a:rPr>
              <a:t>14</a:t>
            </a:r>
          </a:p>
          <a:p>
            <a:pPr algn="r"/>
            <a:r>
              <a:rPr lang="en-US" sz="1400" b="1" dirty="0">
                <a:solidFill>
                  <a:schemeClr val="tx1">
                    <a:lumMod val="75000"/>
                    <a:lumOff val="25000"/>
                  </a:schemeClr>
                </a:solidFill>
                <a:latin typeface="Consolas" panose="020B0609020204030204" pitchFamily="49" charset="0"/>
              </a:rPr>
              <a:t>15</a:t>
            </a:r>
          </a:p>
          <a:p>
            <a:pPr algn="r"/>
            <a:r>
              <a:rPr lang="en-US" sz="1400" b="1" dirty="0">
                <a:solidFill>
                  <a:schemeClr val="tx1">
                    <a:lumMod val="75000"/>
                    <a:lumOff val="25000"/>
                  </a:schemeClr>
                </a:solidFill>
                <a:latin typeface="Consolas" panose="020B0609020204030204" pitchFamily="49" charset="0"/>
              </a:rPr>
              <a:t>16</a:t>
            </a:r>
          </a:p>
          <a:p>
            <a:pPr algn="r"/>
            <a:r>
              <a:rPr lang="en-US" sz="1400" b="1" dirty="0">
                <a:solidFill>
                  <a:schemeClr val="tx1">
                    <a:lumMod val="75000"/>
                    <a:lumOff val="25000"/>
                  </a:schemeClr>
                </a:solidFill>
                <a:latin typeface="Consolas" panose="020B0609020204030204" pitchFamily="49" charset="0"/>
              </a:rPr>
              <a:t>17</a:t>
            </a:r>
          </a:p>
        </p:txBody>
      </p:sp>
      <p:sp>
        <p:nvSpPr>
          <p:cNvPr id="6" name="Rectangle: Top Corners Rounded 5">
            <a:extLst>
              <a:ext uri="{FF2B5EF4-FFF2-40B4-BE49-F238E27FC236}">
                <a16:creationId xmlns:a16="http://schemas.microsoft.com/office/drawing/2014/main" id="{1D23F65C-6CDC-8306-56E6-5036DEF08B03}"/>
              </a:ext>
            </a:extLst>
          </p:cNvPr>
          <p:cNvSpPr/>
          <p:nvPr/>
        </p:nvSpPr>
        <p:spPr>
          <a:xfrm>
            <a:off x="84504" y="884980"/>
            <a:ext cx="399860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student-</a:t>
            </a:r>
            <a:r>
              <a:rPr lang="en-US" sz="1600" dirty="0" err="1">
                <a:solidFill>
                  <a:schemeClr val="bg1"/>
                </a:solidFill>
              </a:rPr>
              <a:t>form.component.ts</a:t>
            </a:r>
            <a:endParaRPr lang="en-US" sz="1600" dirty="0">
              <a:solidFill>
                <a:schemeClr val="bg1"/>
              </a:solidFill>
            </a:endParaRPr>
          </a:p>
        </p:txBody>
      </p:sp>
      <p:sp>
        <p:nvSpPr>
          <p:cNvPr id="7" name="Rectangle 6">
            <a:extLst>
              <a:ext uri="{FF2B5EF4-FFF2-40B4-BE49-F238E27FC236}">
                <a16:creationId xmlns:a16="http://schemas.microsoft.com/office/drawing/2014/main" id="{A1B66D74-393E-9ED6-2EE7-5BD28EF6ED06}"/>
              </a:ext>
            </a:extLst>
          </p:cNvPr>
          <p:cNvSpPr/>
          <p:nvPr/>
        </p:nvSpPr>
        <p:spPr>
          <a:xfrm>
            <a:off x="584497" y="5387812"/>
            <a:ext cx="9492010" cy="1384995"/>
          </a:xfrm>
          <a:prstGeom prst="rect">
            <a:avLst/>
          </a:prstGeom>
          <a:solidFill>
            <a:schemeClr val="bg1">
              <a:lumMod val="95000"/>
            </a:schemeClr>
          </a:solidFill>
          <a:ln>
            <a:noFill/>
          </a:ln>
        </p:spPr>
        <p:txBody>
          <a:bodyPr wrap="square">
            <a:spAutoFit/>
          </a:bodyPr>
          <a:lstStyle/>
          <a:p>
            <a:r>
              <a:rPr lang="en-IN" sz="1400" dirty="0">
                <a:solidFill>
                  <a:srgbClr val="800000"/>
                </a:solidFill>
                <a:latin typeface="Consolas" panose="020B0609020204030204" pitchFamily="49" charset="0"/>
              </a:rPr>
              <a:t>&lt;form</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a:t>
            </a:r>
            <a:r>
              <a:rPr lang="en-IN" sz="1400" dirty="0" err="1">
                <a:solidFill>
                  <a:srgbClr val="E50000"/>
                </a:solidFill>
                <a:latin typeface="Consolas" panose="020B0609020204030204" pitchFamily="49" charset="0"/>
              </a:rPr>
              <a:t>formGroup</a:t>
            </a:r>
            <a:r>
              <a:rPr lang="en-IN" sz="1400" dirty="0">
                <a:solidFill>
                  <a:srgbClr val="E50000"/>
                </a:solidFill>
                <a:latin typeface="Consolas" panose="020B0609020204030204" pitchFamily="49" charset="0"/>
              </a:rPr>
              <a:t>]</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err="1">
                <a:solidFill>
                  <a:srgbClr val="001080"/>
                </a:solidFill>
                <a:latin typeface="Consolas" panose="020B0609020204030204" pitchFamily="49" charset="0"/>
              </a:rPr>
              <a:t>studentForm</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a:t>
            </a:r>
            <a:r>
              <a:rPr lang="en-IN" sz="1400" dirty="0" err="1">
                <a:solidFill>
                  <a:srgbClr val="E50000"/>
                </a:solidFill>
                <a:latin typeface="Consolas" panose="020B0609020204030204" pitchFamily="49" charset="0"/>
              </a:rPr>
              <a:t>ngSubmit</a:t>
            </a:r>
            <a:r>
              <a:rPr lang="en-IN" sz="1400" dirty="0">
                <a:solidFill>
                  <a:srgbClr val="E50000"/>
                </a:solidFill>
                <a:latin typeface="Consolas" panose="020B0609020204030204" pitchFamily="49" charset="0"/>
              </a:rPr>
              <a:t>)</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err="1">
                <a:solidFill>
                  <a:srgbClr val="795E26"/>
                </a:solidFill>
                <a:latin typeface="Consolas" panose="020B0609020204030204" pitchFamily="49" charset="0"/>
              </a:rPr>
              <a:t>addStudent</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Name : </a:t>
            </a:r>
            <a:r>
              <a:rPr lang="en-IN" sz="1400" dirty="0">
                <a:solidFill>
                  <a:srgbClr val="800000"/>
                </a:solidFill>
                <a:latin typeface="Consolas" panose="020B0609020204030204" pitchFamily="49" charset="0"/>
              </a:rPr>
              <a:t>&lt;input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type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"text"</a:t>
            </a:r>
            <a:r>
              <a:rPr lang="en-IN" sz="1400" dirty="0">
                <a:solidFill>
                  <a:srgbClr val="000000"/>
                </a:solidFill>
                <a:latin typeface="Consolas" panose="020B0609020204030204" pitchFamily="49" charset="0"/>
              </a:rPr>
              <a:t> </a:t>
            </a:r>
            <a:r>
              <a:rPr lang="en-IN" sz="1400" dirty="0" err="1">
                <a:solidFill>
                  <a:srgbClr val="E50000"/>
                </a:solidFill>
                <a:latin typeface="Consolas" panose="020B0609020204030204" pitchFamily="49" charset="0"/>
              </a:rPr>
              <a:t>formControlName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"name"</a:t>
            </a:r>
            <a:r>
              <a:rPr lang="en-IN" sz="1400" dirty="0">
                <a:solidFill>
                  <a:srgbClr val="800000"/>
                </a:solidFill>
                <a:latin typeface="Consolas" panose="020B0609020204030204" pitchFamily="49" charset="0"/>
              </a:rPr>
              <a:t>/&gt;</a:t>
            </a:r>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a:t>
            </a:r>
            <a:r>
              <a:rPr lang="en-IN" sz="1400" dirty="0" err="1">
                <a:solidFill>
                  <a:srgbClr val="800000"/>
                </a:solidFill>
                <a:latin typeface="Consolas" panose="020B0609020204030204" pitchFamily="49" charset="0"/>
              </a:rPr>
              <a:t>br</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RollNo</a:t>
            </a:r>
            <a:r>
              <a:rPr lang="en-IN" sz="1400" dirty="0">
                <a:solidFill>
                  <a:srgbClr val="000000"/>
                </a:solidFill>
                <a:latin typeface="Consolas" panose="020B0609020204030204" pitchFamily="49" charset="0"/>
              </a:rPr>
              <a:t> : </a:t>
            </a:r>
            <a:r>
              <a:rPr lang="en-IN" sz="1400" dirty="0">
                <a:solidFill>
                  <a:srgbClr val="800000"/>
                </a:solidFill>
                <a:latin typeface="Consolas" panose="020B0609020204030204" pitchFamily="49" charset="0"/>
              </a:rPr>
              <a:t>&lt;input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type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"text"</a:t>
            </a:r>
            <a:r>
              <a:rPr lang="en-IN" sz="1400" dirty="0">
                <a:solidFill>
                  <a:srgbClr val="000000"/>
                </a:solidFill>
                <a:latin typeface="Consolas" panose="020B0609020204030204" pitchFamily="49" charset="0"/>
              </a:rPr>
              <a:t> </a:t>
            </a:r>
            <a:r>
              <a:rPr lang="en-IN" sz="1400" dirty="0" err="1">
                <a:solidFill>
                  <a:srgbClr val="E50000"/>
                </a:solidFill>
                <a:latin typeface="Consolas" panose="020B0609020204030204" pitchFamily="49" charset="0"/>
              </a:rPr>
              <a:t>formControlName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err="1">
                <a:solidFill>
                  <a:srgbClr val="0000FF"/>
                </a:solidFill>
                <a:latin typeface="Consolas" panose="020B0609020204030204" pitchFamily="49" charset="0"/>
              </a:rPr>
              <a:t>rollNo</a:t>
            </a:r>
            <a:r>
              <a:rPr lang="en-IN" sz="1400" dirty="0">
                <a:solidFill>
                  <a:srgbClr val="0000FF"/>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/&gt;</a:t>
            </a:r>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a:t>
            </a:r>
            <a:r>
              <a:rPr lang="en-IN" sz="1400" dirty="0" err="1">
                <a:solidFill>
                  <a:srgbClr val="800000"/>
                </a:solidFill>
                <a:latin typeface="Consolas" panose="020B0609020204030204" pitchFamily="49" charset="0"/>
              </a:rPr>
              <a:t>br</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&lt;input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type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"submit"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[disabled]</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a:t>
            </a:r>
            <a:r>
              <a:rPr lang="en-IN" sz="1400" dirty="0" err="1">
                <a:solidFill>
                  <a:srgbClr val="001080"/>
                </a:solidFill>
                <a:latin typeface="Consolas" panose="020B0609020204030204" pitchFamily="49" charset="0"/>
              </a:rPr>
              <a:t>studentForm</a:t>
            </a:r>
            <a:r>
              <a:rPr lang="en-IN" sz="1400" dirty="0" err="1">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invalid</a:t>
            </a:r>
            <a:r>
              <a:rPr lang="en-IN" sz="1400" dirty="0">
                <a:solidFill>
                  <a:srgbClr val="A31515"/>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800000"/>
                </a:solidFill>
                <a:latin typeface="Consolas" panose="020B0609020204030204" pitchFamily="49" charset="0"/>
              </a:rPr>
              <a:t>&lt;/form&gt;</a:t>
            </a:r>
            <a:endParaRPr lang="en-IN" sz="1400" dirty="0">
              <a:solidFill>
                <a:srgbClr val="000000"/>
              </a:solidFill>
              <a:latin typeface="Consolas" panose="020B0609020204030204" pitchFamily="49" charset="0"/>
            </a:endParaRPr>
          </a:p>
        </p:txBody>
      </p:sp>
      <p:sp>
        <p:nvSpPr>
          <p:cNvPr id="8" name="Rectangle 7">
            <a:extLst>
              <a:ext uri="{FF2B5EF4-FFF2-40B4-BE49-F238E27FC236}">
                <a16:creationId xmlns:a16="http://schemas.microsoft.com/office/drawing/2014/main" id="{BB363F12-08D7-F918-86F3-78EBE2521C84}"/>
              </a:ext>
            </a:extLst>
          </p:cNvPr>
          <p:cNvSpPr/>
          <p:nvPr/>
        </p:nvSpPr>
        <p:spPr>
          <a:xfrm>
            <a:off x="84505" y="5387812"/>
            <a:ext cx="499993" cy="1384995"/>
          </a:xfrm>
          <a:prstGeom prst="rect">
            <a:avLst/>
          </a:prstGeom>
          <a:solidFill>
            <a:schemeClr val="bg1">
              <a:lumMod val="85000"/>
            </a:schemeClr>
          </a:solidFill>
          <a:ln>
            <a:noFill/>
          </a:ln>
        </p:spPr>
        <p:txBody>
          <a:bodyPr wrap="square">
            <a:spAutoFit/>
          </a:bodyPr>
          <a:lstStyle/>
          <a:p>
            <a:pPr algn="r"/>
            <a:r>
              <a:rPr lang="en-US" sz="1400" b="1" dirty="0">
                <a:solidFill>
                  <a:schemeClr val="tx1">
                    <a:lumMod val="75000"/>
                    <a:lumOff val="25000"/>
                  </a:schemeClr>
                </a:solidFill>
                <a:latin typeface="Consolas" panose="020B0609020204030204" pitchFamily="49" charset="0"/>
              </a:rPr>
              <a:t>1</a:t>
            </a:r>
          </a:p>
          <a:p>
            <a:pPr algn="r"/>
            <a:r>
              <a:rPr lang="en-US" sz="1400" b="1" dirty="0">
                <a:solidFill>
                  <a:schemeClr val="tx1">
                    <a:lumMod val="75000"/>
                    <a:lumOff val="25000"/>
                  </a:schemeClr>
                </a:solidFill>
                <a:latin typeface="Consolas" panose="020B0609020204030204" pitchFamily="49" charset="0"/>
              </a:rPr>
              <a:t>2</a:t>
            </a:r>
          </a:p>
          <a:p>
            <a:pPr algn="r"/>
            <a:r>
              <a:rPr lang="en-US" sz="1400" b="1" dirty="0">
                <a:solidFill>
                  <a:schemeClr val="tx1">
                    <a:lumMod val="75000"/>
                    <a:lumOff val="25000"/>
                  </a:schemeClr>
                </a:solidFill>
                <a:latin typeface="Consolas" panose="020B0609020204030204" pitchFamily="49" charset="0"/>
              </a:rPr>
              <a:t>3</a:t>
            </a:r>
          </a:p>
          <a:p>
            <a:pPr algn="r"/>
            <a:r>
              <a:rPr lang="en-US" sz="1400" b="1" dirty="0">
                <a:solidFill>
                  <a:schemeClr val="tx1">
                    <a:lumMod val="75000"/>
                    <a:lumOff val="25000"/>
                  </a:schemeClr>
                </a:solidFill>
                <a:latin typeface="Consolas" panose="020B0609020204030204" pitchFamily="49" charset="0"/>
              </a:rPr>
              <a:t>4</a:t>
            </a:r>
          </a:p>
          <a:p>
            <a:pPr algn="r"/>
            <a:r>
              <a:rPr lang="en-US" sz="1400" b="1" dirty="0">
                <a:solidFill>
                  <a:schemeClr val="tx1">
                    <a:lumMod val="75000"/>
                    <a:lumOff val="25000"/>
                  </a:schemeClr>
                </a:solidFill>
                <a:latin typeface="Consolas" panose="020B0609020204030204" pitchFamily="49" charset="0"/>
              </a:rPr>
              <a:t>5</a:t>
            </a:r>
          </a:p>
          <a:p>
            <a:pPr algn="r"/>
            <a:r>
              <a:rPr lang="en-US" sz="1400" b="1" dirty="0">
                <a:solidFill>
                  <a:schemeClr val="tx1">
                    <a:lumMod val="75000"/>
                    <a:lumOff val="25000"/>
                  </a:schemeClr>
                </a:solidFill>
                <a:latin typeface="Consolas" panose="020B0609020204030204" pitchFamily="49" charset="0"/>
              </a:rPr>
              <a:t>6</a:t>
            </a:r>
          </a:p>
        </p:txBody>
      </p:sp>
      <p:sp>
        <p:nvSpPr>
          <p:cNvPr id="9" name="Rectangle: Top Corners Rounded 8">
            <a:extLst>
              <a:ext uri="{FF2B5EF4-FFF2-40B4-BE49-F238E27FC236}">
                <a16:creationId xmlns:a16="http://schemas.microsoft.com/office/drawing/2014/main" id="{C9D2837C-D90B-3320-D1DD-96D3BED188DD}"/>
              </a:ext>
            </a:extLst>
          </p:cNvPr>
          <p:cNvSpPr/>
          <p:nvPr/>
        </p:nvSpPr>
        <p:spPr>
          <a:xfrm>
            <a:off x="84504" y="5058628"/>
            <a:ext cx="399860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student-form.component.html</a:t>
            </a:r>
          </a:p>
        </p:txBody>
      </p:sp>
    </p:spTree>
    <p:extLst>
      <p:ext uri="{BB962C8B-B14F-4D97-AF65-F5344CB8AC3E}">
        <p14:creationId xmlns:p14="http://schemas.microsoft.com/office/powerpoint/2010/main" val="409755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DE61F-A1B5-225B-C59B-1A4059BDCF31}"/>
              </a:ext>
            </a:extLst>
          </p:cNvPr>
          <p:cNvSpPr>
            <a:spLocks noGrp="1"/>
          </p:cNvSpPr>
          <p:nvPr>
            <p:ph type="title"/>
          </p:nvPr>
        </p:nvSpPr>
        <p:spPr/>
        <p:txBody>
          <a:bodyPr/>
          <a:lstStyle/>
          <a:p>
            <a:r>
              <a:rPr lang="en-IN" dirty="0"/>
              <a:t>Creating </a:t>
            </a:r>
            <a:r>
              <a:rPr lang="en-IN" dirty="0" err="1"/>
              <a:t>FormGroup</a:t>
            </a:r>
            <a:r>
              <a:rPr lang="en-IN" dirty="0"/>
              <a:t> and Adding Validation Rules</a:t>
            </a:r>
          </a:p>
        </p:txBody>
      </p:sp>
      <p:pic>
        <p:nvPicPr>
          <p:cNvPr id="4" name="Content Placeholder 3" descr="A screen shot of a computer code">
            <a:extLst>
              <a:ext uri="{FF2B5EF4-FFF2-40B4-BE49-F238E27FC236}">
                <a16:creationId xmlns:a16="http://schemas.microsoft.com/office/drawing/2014/main" id="{218ED875-FC9F-E6EF-FEAC-12D5993A04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6750" y="1030287"/>
            <a:ext cx="10858500" cy="5257800"/>
          </a:xfrm>
          <a:prstGeom prst="rect">
            <a:avLst/>
          </a:prstGeom>
        </p:spPr>
      </p:pic>
    </p:spTree>
    <p:extLst>
      <p:ext uri="{BB962C8B-B14F-4D97-AF65-F5344CB8AC3E}">
        <p14:creationId xmlns:p14="http://schemas.microsoft.com/office/powerpoint/2010/main" val="1862697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6FFE4-E314-06B6-E55F-FC21455598AD}"/>
              </a:ext>
            </a:extLst>
          </p:cNvPr>
          <p:cNvSpPr>
            <a:spLocks noGrp="1"/>
          </p:cNvSpPr>
          <p:nvPr>
            <p:ph type="title"/>
          </p:nvPr>
        </p:nvSpPr>
        <p:spPr/>
        <p:txBody>
          <a:bodyPr/>
          <a:lstStyle/>
          <a:p>
            <a:r>
              <a:rPr lang="en-IN" dirty="0"/>
              <a:t>Displaying Validation Errors</a:t>
            </a:r>
          </a:p>
        </p:txBody>
      </p:sp>
      <p:pic>
        <p:nvPicPr>
          <p:cNvPr id="4" name="Picture 3" descr="A screen shot of a computer program&#10;&#10;Description automatically generated">
            <a:extLst>
              <a:ext uri="{FF2B5EF4-FFF2-40B4-BE49-F238E27FC236}">
                <a16:creationId xmlns:a16="http://schemas.microsoft.com/office/drawing/2014/main" id="{A40EEDAB-7B9B-3183-EBA5-73F324010B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711" y="1039997"/>
            <a:ext cx="11234297" cy="4919752"/>
          </a:xfrm>
          <a:prstGeom prst="rect">
            <a:avLst/>
          </a:prstGeom>
        </p:spPr>
      </p:pic>
    </p:spTree>
    <p:extLst>
      <p:ext uri="{BB962C8B-B14F-4D97-AF65-F5344CB8AC3E}">
        <p14:creationId xmlns:p14="http://schemas.microsoft.com/office/powerpoint/2010/main" val="183570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661EE-038B-DFDD-FDD0-A122ECEEFD21}"/>
              </a:ext>
            </a:extLst>
          </p:cNvPr>
          <p:cNvSpPr>
            <a:spLocks noGrp="1"/>
          </p:cNvSpPr>
          <p:nvPr>
            <p:ph type="title"/>
          </p:nvPr>
        </p:nvSpPr>
        <p:spPr/>
        <p:txBody>
          <a:bodyPr/>
          <a:lstStyle/>
          <a:p>
            <a:r>
              <a:rPr lang="en-IN" dirty="0"/>
              <a:t>Introduction to </a:t>
            </a:r>
            <a:r>
              <a:rPr lang="en-IN" dirty="0" err="1"/>
              <a:t>FormBuilder</a:t>
            </a:r>
            <a:endParaRPr lang="en-IN" dirty="0"/>
          </a:p>
        </p:txBody>
      </p:sp>
      <p:sp>
        <p:nvSpPr>
          <p:cNvPr id="3" name="Content Placeholder 2">
            <a:extLst>
              <a:ext uri="{FF2B5EF4-FFF2-40B4-BE49-F238E27FC236}">
                <a16:creationId xmlns:a16="http://schemas.microsoft.com/office/drawing/2014/main" id="{874F1CE9-3961-B9B3-094B-D220A2D9E811}"/>
              </a:ext>
            </a:extLst>
          </p:cNvPr>
          <p:cNvSpPr>
            <a:spLocks noGrp="1"/>
          </p:cNvSpPr>
          <p:nvPr>
            <p:ph idx="1"/>
          </p:nvPr>
        </p:nvSpPr>
        <p:spPr/>
        <p:txBody>
          <a:bodyPr/>
          <a:lstStyle/>
          <a:p>
            <a:r>
              <a:rPr lang="en-GB" dirty="0"/>
              <a:t>What is </a:t>
            </a:r>
            <a:r>
              <a:rPr lang="en-GB" b="1" dirty="0" err="1">
                <a:solidFill>
                  <a:schemeClr val="accent6"/>
                </a:solidFill>
              </a:rPr>
              <a:t>FormBuilder</a:t>
            </a:r>
            <a:r>
              <a:rPr lang="en-GB" dirty="0"/>
              <a:t>? </a:t>
            </a:r>
          </a:p>
          <a:p>
            <a:r>
              <a:rPr lang="en-GB" dirty="0"/>
              <a:t>What is </a:t>
            </a:r>
            <a:r>
              <a:rPr lang="en-GB" b="1" dirty="0">
                <a:solidFill>
                  <a:schemeClr val="accent6"/>
                </a:solidFill>
              </a:rPr>
              <a:t>need of </a:t>
            </a:r>
            <a:r>
              <a:rPr lang="en-GB" b="1" dirty="0" err="1">
                <a:solidFill>
                  <a:schemeClr val="accent6"/>
                </a:solidFill>
              </a:rPr>
              <a:t>FormBuilder</a:t>
            </a:r>
            <a:r>
              <a:rPr lang="en-GB" dirty="0"/>
              <a:t>?</a:t>
            </a:r>
          </a:p>
          <a:p>
            <a:r>
              <a:rPr lang="en-GB" dirty="0"/>
              <a:t>A </a:t>
            </a:r>
            <a:r>
              <a:rPr lang="en-GB" b="1" dirty="0">
                <a:solidFill>
                  <a:schemeClr val="accent6"/>
                </a:solidFill>
              </a:rPr>
              <a:t>service</a:t>
            </a:r>
            <a:r>
              <a:rPr lang="en-GB" dirty="0"/>
              <a:t> in Angular to simplify creating and managing forms.</a:t>
            </a:r>
          </a:p>
          <a:p>
            <a:r>
              <a:rPr lang="en-GB" b="1" dirty="0">
                <a:solidFill>
                  <a:schemeClr val="accent6"/>
                </a:solidFill>
              </a:rPr>
              <a:t>Reduces boilerplate code</a:t>
            </a:r>
            <a:r>
              <a:rPr lang="en-GB" dirty="0"/>
              <a:t> when initializing </a:t>
            </a:r>
            <a:r>
              <a:rPr lang="en-GB" b="1" dirty="0" err="1">
                <a:solidFill>
                  <a:schemeClr val="accent6"/>
                </a:solidFill>
              </a:rPr>
              <a:t>FormGroup</a:t>
            </a:r>
            <a:r>
              <a:rPr lang="en-GB" dirty="0"/>
              <a:t> and </a:t>
            </a:r>
            <a:r>
              <a:rPr lang="en-GB" b="1" dirty="0" err="1">
                <a:solidFill>
                  <a:schemeClr val="accent6"/>
                </a:solidFill>
              </a:rPr>
              <a:t>FormControl</a:t>
            </a:r>
            <a:r>
              <a:rPr lang="en-GB" dirty="0"/>
              <a:t>.</a:t>
            </a:r>
          </a:p>
          <a:p>
            <a:r>
              <a:rPr lang="en-GB" b="1" dirty="0"/>
              <a:t>Key Features:</a:t>
            </a:r>
          </a:p>
          <a:p>
            <a:pPr lvl="1"/>
            <a:r>
              <a:rPr lang="en-GB" b="1" dirty="0">
                <a:solidFill>
                  <a:schemeClr val="accent6"/>
                </a:solidFill>
              </a:rPr>
              <a:t>Simplifies form</a:t>
            </a:r>
            <a:r>
              <a:rPr lang="en-GB" dirty="0"/>
              <a:t> creation.</a:t>
            </a:r>
          </a:p>
          <a:p>
            <a:pPr lvl="1"/>
            <a:r>
              <a:rPr lang="en-GB" dirty="0"/>
              <a:t>Allows </a:t>
            </a:r>
            <a:r>
              <a:rPr lang="en-GB" b="1" dirty="0">
                <a:solidFill>
                  <a:schemeClr val="accent6"/>
                </a:solidFill>
              </a:rPr>
              <a:t>dynamic form generation</a:t>
            </a:r>
            <a:r>
              <a:rPr lang="en-GB" dirty="0"/>
              <a:t>.</a:t>
            </a:r>
          </a:p>
          <a:p>
            <a:r>
              <a:rPr lang="en-GB" dirty="0"/>
              <a:t>Advantages:</a:t>
            </a:r>
          </a:p>
          <a:p>
            <a:pPr lvl="1"/>
            <a:r>
              <a:rPr lang="en-GB" b="1" dirty="0">
                <a:solidFill>
                  <a:schemeClr val="accent6"/>
                </a:solidFill>
              </a:rPr>
              <a:t>Reduces repetitive code</a:t>
            </a:r>
            <a:r>
              <a:rPr lang="en-GB" dirty="0"/>
              <a:t>.</a:t>
            </a:r>
          </a:p>
          <a:p>
            <a:pPr lvl="1"/>
            <a:r>
              <a:rPr lang="en-GB" dirty="0"/>
              <a:t>Supports </a:t>
            </a:r>
            <a:r>
              <a:rPr lang="en-GB" b="1" dirty="0">
                <a:solidFill>
                  <a:schemeClr val="accent6"/>
                </a:solidFill>
              </a:rPr>
              <a:t>dynamic forms</a:t>
            </a:r>
            <a:r>
              <a:rPr lang="en-GB" dirty="0"/>
              <a:t>.</a:t>
            </a:r>
          </a:p>
          <a:p>
            <a:pPr lvl="1"/>
            <a:r>
              <a:rPr lang="en-GB" dirty="0"/>
              <a:t>Simplifies </a:t>
            </a:r>
            <a:r>
              <a:rPr lang="en-GB" b="1" dirty="0">
                <a:solidFill>
                  <a:schemeClr val="accent6"/>
                </a:solidFill>
              </a:rPr>
              <a:t>managing nested </a:t>
            </a:r>
            <a:r>
              <a:rPr lang="en-GB" b="1" dirty="0" err="1">
                <a:solidFill>
                  <a:schemeClr val="accent6"/>
                </a:solidFill>
              </a:rPr>
              <a:t>FormGroups</a:t>
            </a:r>
            <a:r>
              <a:rPr lang="en-GB" dirty="0"/>
              <a:t>.</a:t>
            </a:r>
          </a:p>
          <a:p>
            <a:pPr lvl="1"/>
            <a:r>
              <a:rPr lang="en-GB" dirty="0"/>
              <a:t>Enhances </a:t>
            </a:r>
            <a:r>
              <a:rPr lang="en-GB" b="1" dirty="0">
                <a:solidFill>
                  <a:schemeClr val="accent6"/>
                </a:solidFill>
              </a:rPr>
              <a:t>scalability</a:t>
            </a:r>
            <a:r>
              <a:rPr lang="en-GB" dirty="0"/>
              <a:t> and </a:t>
            </a:r>
            <a:r>
              <a:rPr lang="en-GB" b="1" dirty="0">
                <a:solidFill>
                  <a:schemeClr val="accent6"/>
                </a:solidFill>
              </a:rPr>
              <a:t>readability</a:t>
            </a:r>
            <a:r>
              <a:rPr lang="en-GB" dirty="0"/>
              <a:t> of form-related code.</a:t>
            </a:r>
          </a:p>
          <a:p>
            <a:pPr lvl="1"/>
            <a:endParaRPr lang="en-GB" dirty="0"/>
          </a:p>
          <a:p>
            <a:endParaRPr lang="en-IN" dirty="0"/>
          </a:p>
        </p:txBody>
      </p:sp>
    </p:spTree>
    <p:extLst>
      <p:ext uri="{BB962C8B-B14F-4D97-AF65-F5344CB8AC3E}">
        <p14:creationId xmlns:p14="http://schemas.microsoft.com/office/powerpoint/2010/main" val="4118547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84289-E9D8-7041-4E7B-CE0CF0E63C97}"/>
              </a:ext>
            </a:extLst>
          </p:cNvPr>
          <p:cNvSpPr>
            <a:spLocks noGrp="1"/>
          </p:cNvSpPr>
          <p:nvPr>
            <p:ph type="title"/>
          </p:nvPr>
        </p:nvSpPr>
        <p:spPr/>
        <p:txBody>
          <a:bodyPr/>
          <a:lstStyle/>
          <a:p>
            <a:r>
              <a:rPr lang="en-IN" dirty="0"/>
              <a:t>Setting Up </a:t>
            </a:r>
            <a:r>
              <a:rPr lang="en-IN" dirty="0" err="1"/>
              <a:t>FormBuilder</a:t>
            </a:r>
            <a:endParaRPr lang="en-IN" dirty="0"/>
          </a:p>
        </p:txBody>
      </p:sp>
      <p:sp>
        <p:nvSpPr>
          <p:cNvPr id="3" name="Content Placeholder 2">
            <a:extLst>
              <a:ext uri="{FF2B5EF4-FFF2-40B4-BE49-F238E27FC236}">
                <a16:creationId xmlns:a16="http://schemas.microsoft.com/office/drawing/2014/main" id="{EAC64B8A-B1EF-C329-2D63-E94E6050681E}"/>
              </a:ext>
            </a:extLst>
          </p:cNvPr>
          <p:cNvSpPr>
            <a:spLocks noGrp="1"/>
          </p:cNvSpPr>
          <p:nvPr>
            <p:ph idx="1"/>
          </p:nvPr>
        </p:nvSpPr>
        <p:spPr/>
        <p:txBody>
          <a:bodyPr/>
          <a:lstStyle/>
          <a:p>
            <a:r>
              <a:rPr lang="en-GB" dirty="0"/>
              <a:t>Import </a:t>
            </a:r>
            <a:r>
              <a:rPr lang="en-GB" b="1" dirty="0" err="1">
                <a:solidFill>
                  <a:schemeClr val="accent6"/>
                </a:solidFill>
              </a:rPr>
              <a:t>FormBuilder</a:t>
            </a:r>
            <a:r>
              <a:rPr lang="en-GB" dirty="0"/>
              <a:t> in your Component and </a:t>
            </a:r>
            <a:r>
              <a:rPr lang="en-GB" b="1" dirty="0">
                <a:solidFill>
                  <a:schemeClr val="accent6"/>
                </a:solidFill>
              </a:rPr>
              <a:t>Inject </a:t>
            </a:r>
            <a:r>
              <a:rPr lang="en-GB" b="1" dirty="0" err="1">
                <a:solidFill>
                  <a:schemeClr val="accent6"/>
                </a:solidFill>
              </a:rPr>
              <a:t>FormBuilder</a:t>
            </a:r>
            <a:r>
              <a:rPr lang="en-GB" dirty="0"/>
              <a:t>.</a:t>
            </a:r>
          </a:p>
          <a:p>
            <a:r>
              <a:rPr lang="en-GB" b="1" dirty="0">
                <a:solidFill>
                  <a:schemeClr val="accent6"/>
                </a:solidFill>
              </a:rPr>
              <a:t>Example</a:t>
            </a:r>
            <a:r>
              <a:rPr lang="en-GB" dirty="0"/>
              <a:t> :</a:t>
            </a:r>
          </a:p>
          <a:p>
            <a:endParaRPr lang="en-GB" dirty="0"/>
          </a:p>
          <a:p>
            <a:endParaRPr lang="en-IN" dirty="0"/>
          </a:p>
        </p:txBody>
      </p:sp>
      <p:pic>
        <p:nvPicPr>
          <p:cNvPr id="4" name="Picture 3" descr="A screen shot of a computer program&#10;&#10;Description automatically generated">
            <a:extLst>
              <a:ext uri="{FF2B5EF4-FFF2-40B4-BE49-F238E27FC236}">
                <a16:creationId xmlns:a16="http://schemas.microsoft.com/office/drawing/2014/main" id="{E07580B8-756E-029F-609A-60BDD855E9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178" y="2710281"/>
            <a:ext cx="5529969" cy="3158675"/>
          </a:xfrm>
          <a:prstGeom prst="rect">
            <a:avLst/>
          </a:prstGeom>
        </p:spPr>
      </p:pic>
      <p:pic>
        <p:nvPicPr>
          <p:cNvPr id="5" name="Picture 4" descr="A screen shot of a computer screen&#10;&#10;Description automatically generated">
            <a:extLst>
              <a:ext uri="{FF2B5EF4-FFF2-40B4-BE49-F238E27FC236}">
                <a16:creationId xmlns:a16="http://schemas.microsoft.com/office/drawing/2014/main" id="{2F505C2E-70D9-D603-D148-BEE6CCDEE5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2255" y="2710281"/>
            <a:ext cx="5850567" cy="3158675"/>
          </a:xfrm>
          <a:prstGeom prst="rect">
            <a:avLst/>
          </a:prstGeom>
        </p:spPr>
      </p:pic>
      <p:sp>
        <p:nvSpPr>
          <p:cNvPr id="6" name="Speech Bubble: Oval 5">
            <a:extLst>
              <a:ext uri="{FF2B5EF4-FFF2-40B4-BE49-F238E27FC236}">
                <a16:creationId xmlns:a16="http://schemas.microsoft.com/office/drawing/2014/main" id="{F47DBBBE-E76A-AB32-D4E2-3F7F83BAF2C6}"/>
              </a:ext>
            </a:extLst>
          </p:cNvPr>
          <p:cNvSpPr/>
          <p:nvPr/>
        </p:nvSpPr>
        <p:spPr>
          <a:xfrm>
            <a:off x="2612570" y="1352939"/>
            <a:ext cx="2659225" cy="1156996"/>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accent6"/>
                </a:solidFill>
              </a:rPr>
              <a:t>Using</a:t>
            </a:r>
            <a:r>
              <a:rPr lang="en-US" dirty="0">
                <a:solidFill>
                  <a:schemeClr val="accent6"/>
                </a:solidFill>
              </a:rPr>
              <a:t> </a:t>
            </a:r>
            <a:r>
              <a:rPr lang="en-US" b="1" dirty="0">
                <a:solidFill>
                  <a:schemeClr val="accent6"/>
                </a:solidFill>
              </a:rPr>
              <a:t>Constructor</a:t>
            </a:r>
          </a:p>
          <a:p>
            <a:pPr algn="ctr"/>
            <a:r>
              <a:rPr lang="en-US" b="1" dirty="0">
                <a:solidFill>
                  <a:schemeClr val="accent6"/>
                </a:solidFill>
              </a:rPr>
              <a:t>(Ang. &lt;= V.17)</a:t>
            </a:r>
            <a:endParaRPr lang="en-IN" b="1" dirty="0">
              <a:solidFill>
                <a:schemeClr val="accent6"/>
              </a:solidFill>
            </a:endParaRPr>
          </a:p>
        </p:txBody>
      </p:sp>
      <p:sp>
        <p:nvSpPr>
          <p:cNvPr id="7" name="Speech Bubble: Oval 6">
            <a:extLst>
              <a:ext uri="{FF2B5EF4-FFF2-40B4-BE49-F238E27FC236}">
                <a16:creationId xmlns:a16="http://schemas.microsoft.com/office/drawing/2014/main" id="{9E025317-F475-DCBD-426F-F5662026B00B}"/>
              </a:ext>
            </a:extLst>
          </p:cNvPr>
          <p:cNvSpPr/>
          <p:nvPr/>
        </p:nvSpPr>
        <p:spPr>
          <a:xfrm>
            <a:off x="8736564" y="1352939"/>
            <a:ext cx="2659225" cy="1156996"/>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accent6"/>
                </a:solidFill>
              </a:rPr>
              <a:t>Using inject method</a:t>
            </a:r>
          </a:p>
          <a:p>
            <a:pPr algn="ctr"/>
            <a:r>
              <a:rPr lang="en-US" b="1" dirty="0">
                <a:solidFill>
                  <a:schemeClr val="accent6"/>
                </a:solidFill>
              </a:rPr>
              <a:t>(Ang. &gt;= V.18)</a:t>
            </a:r>
            <a:endParaRPr lang="en-IN" b="1" dirty="0">
              <a:solidFill>
                <a:schemeClr val="accent6"/>
              </a:solidFill>
            </a:endParaRPr>
          </a:p>
        </p:txBody>
      </p:sp>
    </p:spTree>
    <p:extLst>
      <p:ext uri="{BB962C8B-B14F-4D97-AF65-F5344CB8AC3E}">
        <p14:creationId xmlns:p14="http://schemas.microsoft.com/office/powerpoint/2010/main" val="34437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24311-2130-8146-B48A-A75B9D15CF15}"/>
              </a:ext>
            </a:extLst>
          </p:cNvPr>
          <p:cNvSpPr>
            <a:spLocks noGrp="1"/>
          </p:cNvSpPr>
          <p:nvPr>
            <p:ph type="title"/>
          </p:nvPr>
        </p:nvSpPr>
        <p:spPr/>
        <p:txBody>
          <a:bodyPr/>
          <a:lstStyle/>
          <a:p>
            <a:r>
              <a:rPr lang="en-GB" dirty="0"/>
              <a:t>Creating </a:t>
            </a:r>
            <a:r>
              <a:rPr lang="en-GB" dirty="0" err="1"/>
              <a:t>FormGroup</a:t>
            </a:r>
            <a:r>
              <a:rPr lang="en-GB" dirty="0"/>
              <a:t> Using </a:t>
            </a:r>
            <a:r>
              <a:rPr lang="en-GB" dirty="0" err="1"/>
              <a:t>FormBuilder</a:t>
            </a:r>
            <a:r>
              <a:rPr lang="en-GB" dirty="0"/>
              <a:t> &amp; Adding Validations</a:t>
            </a:r>
            <a:endParaRPr lang="en-IN" dirty="0"/>
          </a:p>
        </p:txBody>
      </p:sp>
      <p:sp>
        <p:nvSpPr>
          <p:cNvPr id="3" name="Content Placeholder 2">
            <a:extLst>
              <a:ext uri="{FF2B5EF4-FFF2-40B4-BE49-F238E27FC236}">
                <a16:creationId xmlns:a16="http://schemas.microsoft.com/office/drawing/2014/main" id="{C4E549AC-CD73-423F-CC7A-213DDC7CDEFE}"/>
              </a:ext>
            </a:extLst>
          </p:cNvPr>
          <p:cNvSpPr>
            <a:spLocks noGrp="1"/>
          </p:cNvSpPr>
          <p:nvPr>
            <p:ph idx="1"/>
          </p:nvPr>
        </p:nvSpPr>
        <p:spPr/>
        <p:txBody>
          <a:bodyPr/>
          <a:lstStyle/>
          <a:p>
            <a:r>
              <a:rPr lang="en-GB" dirty="0"/>
              <a:t>Use </a:t>
            </a:r>
            <a:r>
              <a:rPr lang="en-GB" b="1" dirty="0" err="1">
                <a:solidFill>
                  <a:schemeClr val="accent6"/>
                </a:solidFill>
              </a:rPr>
              <a:t>FormBuilder</a:t>
            </a:r>
            <a:r>
              <a:rPr lang="en-GB" dirty="0"/>
              <a:t> and </a:t>
            </a:r>
            <a:r>
              <a:rPr lang="en-GB" b="1" dirty="0">
                <a:solidFill>
                  <a:schemeClr val="accent6"/>
                </a:solidFill>
              </a:rPr>
              <a:t>Validators</a:t>
            </a:r>
            <a:r>
              <a:rPr lang="en-GB" dirty="0"/>
              <a:t> to </a:t>
            </a:r>
            <a:r>
              <a:rPr lang="en-GB" b="1" dirty="0">
                <a:solidFill>
                  <a:schemeClr val="accent6"/>
                </a:solidFill>
              </a:rPr>
              <a:t>initialize </a:t>
            </a:r>
            <a:r>
              <a:rPr lang="en-GB" b="1" dirty="0" err="1">
                <a:solidFill>
                  <a:schemeClr val="accent6"/>
                </a:solidFill>
              </a:rPr>
              <a:t>FormGroup</a:t>
            </a:r>
            <a:r>
              <a:rPr lang="en-GB" b="1" dirty="0">
                <a:solidFill>
                  <a:schemeClr val="accent6"/>
                </a:solidFill>
              </a:rPr>
              <a:t> with controls</a:t>
            </a:r>
            <a:r>
              <a:rPr lang="en-GB" dirty="0"/>
              <a:t> and </a:t>
            </a:r>
            <a:r>
              <a:rPr lang="en-GB" b="1" dirty="0">
                <a:solidFill>
                  <a:schemeClr val="accent6"/>
                </a:solidFill>
              </a:rPr>
              <a:t>apply Validations</a:t>
            </a:r>
            <a:r>
              <a:rPr lang="en-GB" dirty="0"/>
              <a:t> respectively:</a:t>
            </a:r>
          </a:p>
          <a:p>
            <a:r>
              <a:rPr lang="en-GB" b="1" dirty="0">
                <a:solidFill>
                  <a:schemeClr val="accent6"/>
                </a:solidFill>
              </a:rPr>
              <a:t>Example </a:t>
            </a:r>
            <a:r>
              <a:rPr lang="en-GB" dirty="0"/>
              <a:t>:</a:t>
            </a:r>
          </a:p>
          <a:p>
            <a:endParaRPr lang="en-IN" dirty="0"/>
          </a:p>
        </p:txBody>
      </p:sp>
      <p:pic>
        <p:nvPicPr>
          <p:cNvPr id="4" name="Picture 3" descr="A computer screen shot of a program code&#10;&#10;Description automatically generated">
            <a:extLst>
              <a:ext uri="{FF2B5EF4-FFF2-40B4-BE49-F238E27FC236}">
                <a16:creationId xmlns:a16="http://schemas.microsoft.com/office/drawing/2014/main" id="{E84729EF-0C26-E7EB-324F-95CDCCA4BE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0701" y="1650801"/>
            <a:ext cx="8340661" cy="4902381"/>
          </a:xfrm>
          <a:prstGeom prst="rect">
            <a:avLst/>
          </a:prstGeom>
        </p:spPr>
      </p:pic>
    </p:spTree>
    <p:extLst>
      <p:ext uri="{BB962C8B-B14F-4D97-AF65-F5344CB8AC3E}">
        <p14:creationId xmlns:p14="http://schemas.microsoft.com/office/powerpoint/2010/main" val="1316228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A2EFA-D08D-5F51-0D8B-15585AD9903F}"/>
              </a:ext>
            </a:extLst>
          </p:cNvPr>
          <p:cNvSpPr>
            <a:spLocks noGrp="1"/>
          </p:cNvSpPr>
          <p:nvPr>
            <p:ph type="title"/>
          </p:nvPr>
        </p:nvSpPr>
        <p:spPr/>
        <p:txBody>
          <a:bodyPr/>
          <a:lstStyle/>
          <a:p>
            <a:r>
              <a:rPr lang="en-IN" dirty="0"/>
              <a:t>Template Binding</a:t>
            </a:r>
          </a:p>
        </p:txBody>
      </p:sp>
      <p:sp>
        <p:nvSpPr>
          <p:cNvPr id="3" name="Content Placeholder 2">
            <a:extLst>
              <a:ext uri="{FF2B5EF4-FFF2-40B4-BE49-F238E27FC236}">
                <a16:creationId xmlns:a16="http://schemas.microsoft.com/office/drawing/2014/main" id="{194B47C9-D869-05D1-8C82-88CA37CB680B}"/>
              </a:ext>
            </a:extLst>
          </p:cNvPr>
          <p:cNvSpPr>
            <a:spLocks noGrp="1"/>
          </p:cNvSpPr>
          <p:nvPr>
            <p:ph idx="1"/>
          </p:nvPr>
        </p:nvSpPr>
        <p:spPr/>
        <p:txBody>
          <a:bodyPr/>
          <a:lstStyle/>
          <a:p>
            <a:endParaRPr lang="en-IN" dirty="0"/>
          </a:p>
        </p:txBody>
      </p:sp>
      <p:pic>
        <p:nvPicPr>
          <p:cNvPr id="4" name="Picture 3" descr="A computer code on a black background&#10;&#10;Description automatically generated">
            <a:extLst>
              <a:ext uri="{FF2B5EF4-FFF2-40B4-BE49-F238E27FC236}">
                <a16:creationId xmlns:a16="http://schemas.microsoft.com/office/drawing/2014/main" id="{2FCD9678-7163-DDA6-28B1-27F1B600F3AF}"/>
              </a:ext>
            </a:extLst>
          </p:cNvPr>
          <p:cNvPicPr>
            <a:picLocks noChangeAspect="1"/>
          </p:cNvPicPr>
          <p:nvPr/>
        </p:nvPicPr>
        <p:blipFill>
          <a:blip r:embed="rId2">
            <a:extLst>
              <a:ext uri="{28A0092B-C50C-407E-A947-70E740481C1C}">
                <a14:useLocalDpi xmlns:a14="http://schemas.microsoft.com/office/drawing/2010/main" val="0"/>
              </a:ext>
            </a:extLst>
          </a:blip>
          <a:srcRect l="7203"/>
          <a:stretch/>
        </p:blipFill>
        <p:spPr>
          <a:xfrm>
            <a:off x="126561" y="1244798"/>
            <a:ext cx="11929641" cy="4306143"/>
          </a:xfrm>
          <a:prstGeom prst="rect">
            <a:avLst/>
          </a:prstGeom>
        </p:spPr>
      </p:pic>
    </p:spTree>
    <p:extLst>
      <p:ext uri="{BB962C8B-B14F-4D97-AF65-F5344CB8AC3E}">
        <p14:creationId xmlns:p14="http://schemas.microsoft.com/office/powerpoint/2010/main" val="34669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86C06-2BEF-FB43-2106-97D9D1471217}"/>
              </a:ext>
            </a:extLst>
          </p:cNvPr>
          <p:cNvSpPr>
            <a:spLocks noGrp="1"/>
          </p:cNvSpPr>
          <p:nvPr>
            <p:ph type="title"/>
          </p:nvPr>
        </p:nvSpPr>
        <p:spPr/>
        <p:txBody>
          <a:bodyPr/>
          <a:lstStyle/>
          <a:p>
            <a:r>
              <a:rPr lang="en-IN" dirty="0"/>
              <a:t>Dynamic Forms with </a:t>
            </a:r>
            <a:r>
              <a:rPr lang="en-IN" dirty="0" err="1"/>
              <a:t>FormBuilder</a:t>
            </a:r>
            <a:endParaRPr lang="en-IN" dirty="0"/>
          </a:p>
        </p:txBody>
      </p:sp>
      <p:sp>
        <p:nvSpPr>
          <p:cNvPr id="3" name="Content Placeholder 2">
            <a:extLst>
              <a:ext uri="{FF2B5EF4-FFF2-40B4-BE49-F238E27FC236}">
                <a16:creationId xmlns:a16="http://schemas.microsoft.com/office/drawing/2014/main" id="{128B8FF9-4A7E-9058-3AE3-4CC983AACBB7}"/>
              </a:ext>
            </a:extLst>
          </p:cNvPr>
          <p:cNvSpPr>
            <a:spLocks noGrp="1"/>
          </p:cNvSpPr>
          <p:nvPr>
            <p:ph idx="1"/>
          </p:nvPr>
        </p:nvSpPr>
        <p:spPr/>
        <p:txBody>
          <a:bodyPr/>
          <a:lstStyle/>
          <a:p>
            <a:r>
              <a:rPr lang="en-GB" dirty="0"/>
              <a:t>Use</a:t>
            </a:r>
            <a:r>
              <a:rPr lang="en-GB" b="1" dirty="0">
                <a:solidFill>
                  <a:schemeClr val="accent6"/>
                </a:solidFill>
              </a:rPr>
              <a:t> </a:t>
            </a:r>
            <a:r>
              <a:rPr lang="en-GB" b="1" dirty="0" err="1">
                <a:solidFill>
                  <a:schemeClr val="accent6"/>
                </a:solidFill>
              </a:rPr>
              <a:t>FormBuilder</a:t>
            </a:r>
            <a:r>
              <a:rPr lang="en-GB" b="1" dirty="0">
                <a:solidFill>
                  <a:schemeClr val="accent6"/>
                </a:solidFill>
              </a:rPr>
              <a:t> to dynamically add or remove controls</a:t>
            </a:r>
            <a:r>
              <a:rPr lang="en-GB" dirty="0"/>
              <a:t>:</a:t>
            </a:r>
          </a:p>
          <a:p>
            <a:r>
              <a:rPr lang="en-GB" b="1" dirty="0">
                <a:solidFill>
                  <a:schemeClr val="accent6"/>
                </a:solidFill>
              </a:rPr>
              <a:t>Example </a:t>
            </a:r>
            <a:r>
              <a:rPr lang="en-GB" dirty="0"/>
              <a:t>:</a:t>
            </a:r>
          </a:p>
          <a:p>
            <a:endParaRPr lang="en-IN" dirty="0"/>
          </a:p>
        </p:txBody>
      </p:sp>
      <p:pic>
        <p:nvPicPr>
          <p:cNvPr id="5" name="Content Placeholder 6" descr="A computer screen shot of a program code&#10;&#10;Description automatically generated">
            <a:extLst>
              <a:ext uri="{FF2B5EF4-FFF2-40B4-BE49-F238E27FC236}">
                <a16:creationId xmlns:a16="http://schemas.microsoft.com/office/drawing/2014/main" id="{361EAFC8-BF18-62AF-64C2-314FB33B4B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0187" y="1292323"/>
            <a:ext cx="8430802" cy="5229955"/>
          </a:xfrm>
          <a:prstGeom prst="rect">
            <a:avLst/>
          </a:prstGeom>
        </p:spPr>
      </p:pic>
    </p:spTree>
    <p:extLst>
      <p:ext uri="{BB962C8B-B14F-4D97-AF65-F5344CB8AC3E}">
        <p14:creationId xmlns:p14="http://schemas.microsoft.com/office/powerpoint/2010/main" val="305404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C798-688A-8936-D2A3-D458583CA7E0}"/>
              </a:ext>
            </a:extLst>
          </p:cNvPr>
          <p:cNvSpPr>
            <a:spLocks noGrp="1"/>
          </p:cNvSpPr>
          <p:nvPr>
            <p:ph type="title"/>
          </p:nvPr>
        </p:nvSpPr>
        <p:spPr/>
        <p:txBody>
          <a:bodyPr/>
          <a:lstStyle/>
          <a:p>
            <a:r>
              <a:rPr lang="en-GB" dirty="0"/>
              <a:t>Template Binding with Dynamic form approach</a:t>
            </a:r>
            <a:endParaRPr lang="en-IN" dirty="0"/>
          </a:p>
        </p:txBody>
      </p:sp>
      <p:sp>
        <p:nvSpPr>
          <p:cNvPr id="3" name="Content Placeholder 2">
            <a:extLst>
              <a:ext uri="{FF2B5EF4-FFF2-40B4-BE49-F238E27FC236}">
                <a16:creationId xmlns:a16="http://schemas.microsoft.com/office/drawing/2014/main" id="{4C363FC6-6A62-B572-9338-E4DB18F1C968}"/>
              </a:ext>
            </a:extLst>
          </p:cNvPr>
          <p:cNvSpPr>
            <a:spLocks noGrp="1"/>
          </p:cNvSpPr>
          <p:nvPr>
            <p:ph idx="1"/>
          </p:nvPr>
        </p:nvSpPr>
        <p:spPr/>
        <p:txBody>
          <a:bodyPr/>
          <a:lstStyle/>
          <a:p>
            <a:endParaRPr lang="en-IN"/>
          </a:p>
        </p:txBody>
      </p:sp>
      <p:pic>
        <p:nvPicPr>
          <p:cNvPr id="4" name="Content Placeholder 4" descr="A screen shot of a computer program&#10;&#10;Description automatically generated">
            <a:extLst>
              <a:ext uri="{FF2B5EF4-FFF2-40B4-BE49-F238E27FC236}">
                <a16:creationId xmlns:a16="http://schemas.microsoft.com/office/drawing/2014/main" id="{C7ED0A21-5FB2-93BA-18A1-A6E57D181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851" y="711200"/>
            <a:ext cx="10001090" cy="5888775"/>
          </a:xfrm>
          <a:prstGeom prst="rect">
            <a:avLst/>
          </a:prstGeom>
        </p:spPr>
      </p:pic>
    </p:spTree>
    <p:extLst>
      <p:ext uri="{BB962C8B-B14F-4D97-AF65-F5344CB8AC3E}">
        <p14:creationId xmlns:p14="http://schemas.microsoft.com/office/powerpoint/2010/main" val="3058140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A9EA252-4498-5320-0ECA-849A4623AFDB}"/>
              </a:ext>
            </a:extLst>
          </p:cNvPr>
          <p:cNvSpPr>
            <a:spLocks noGrp="1"/>
          </p:cNvSpPr>
          <p:nvPr>
            <p:ph type="body" sz="quarter" idx="16"/>
          </p:nvPr>
        </p:nvSpPr>
        <p:spPr/>
        <p:txBody>
          <a:bodyPr/>
          <a:lstStyle/>
          <a:p>
            <a:r>
              <a:rPr lang="en-IN" dirty="0"/>
              <a:t>Angular (Ng)</a:t>
            </a:r>
          </a:p>
          <a:p>
            <a:r>
              <a:rPr lang="en-IN" dirty="0"/>
              <a:t>2301CS411</a:t>
            </a:r>
          </a:p>
        </p:txBody>
      </p:sp>
      <p:pic>
        <p:nvPicPr>
          <p:cNvPr id="8" name="Picture Placeholder 15" descr="09CEAVB_19042019_063947AM.jpg">
            <a:extLst>
              <a:ext uri="{FF2B5EF4-FFF2-40B4-BE49-F238E27FC236}">
                <a16:creationId xmlns:a16="http://schemas.microsoft.com/office/drawing/2014/main" id="{845638CB-0994-0526-3410-549E513BA52A}"/>
              </a:ext>
            </a:extLst>
          </p:cNvPr>
          <p:cNvPicPr>
            <a:picLocks noGrp="1" noChangeAspect="1"/>
          </p:cNvPicPr>
          <p:nvPr>
            <p:ph type="pic" sz="quarter" idx="10"/>
          </p:nvPr>
        </p:nvPicPr>
        <p:blipFill>
          <a:blip r:embed="rId2" cstate="print"/>
          <a:srcRect/>
          <a:stretch>
            <a:fillRect/>
          </a:stretch>
        </p:blipFill>
        <p:spPr>
          <a:xfrm>
            <a:off x="353569" y="5211251"/>
            <a:ext cx="1353599" cy="1353599"/>
          </a:xfrm>
        </p:spPr>
      </p:pic>
      <p:sp>
        <p:nvSpPr>
          <p:cNvPr id="9" name="Text Placeholder 9">
            <a:extLst>
              <a:ext uri="{FF2B5EF4-FFF2-40B4-BE49-F238E27FC236}">
                <a16:creationId xmlns:a16="http://schemas.microsoft.com/office/drawing/2014/main" id="{A6E483B7-D394-7455-B7D1-9F82662781B4}"/>
              </a:ext>
            </a:extLst>
          </p:cNvPr>
          <p:cNvSpPr>
            <a:spLocks noGrp="1"/>
          </p:cNvSpPr>
          <p:nvPr>
            <p:ph type="body" sz="quarter" idx="11"/>
          </p:nvPr>
        </p:nvSpPr>
        <p:spPr>
          <a:xfrm>
            <a:off x="2180943" y="6175935"/>
            <a:ext cx="3735998" cy="290081"/>
          </a:xfrm>
        </p:spPr>
        <p:txBody>
          <a:bodyPr/>
          <a:lstStyle/>
          <a:p>
            <a:r>
              <a:rPr lang="en-IN" dirty="0"/>
              <a:t>arjun.bala@darshan.ac.in</a:t>
            </a:r>
            <a:endParaRPr lang="en-US" dirty="0"/>
          </a:p>
        </p:txBody>
      </p:sp>
      <p:sp>
        <p:nvSpPr>
          <p:cNvPr id="10" name="Text Placeholder 10">
            <a:extLst>
              <a:ext uri="{FF2B5EF4-FFF2-40B4-BE49-F238E27FC236}">
                <a16:creationId xmlns:a16="http://schemas.microsoft.com/office/drawing/2014/main" id="{B7202C09-4A85-C4E7-2D29-F110B89C33EF}"/>
              </a:ext>
            </a:extLst>
          </p:cNvPr>
          <p:cNvSpPr>
            <a:spLocks noGrp="1"/>
          </p:cNvSpPr>
          <p:nvPr>
            <p:ph type="body" sz="quarter" idx="12"/>
          </p:nvPr>
        </p:nvSpPr>
        <p:spPr>
          <a:xfrm>
            <a:off x="2183874" y="6460218"/>
            <a:ext cx="3735998" cy="290081"/>
          </a:xfrm>
        </p:spPr>
        <p:txBody>
          <a:bodyPr/>
          <a:lstStyle/>
          <a:p>
            <a:r>
              <a:rPr lang="en-IN" dirty="0"/>
              <a:t>9624822202</a:t>
            </a:r>
            <a:endParaRPr lang="en-US" dirty="0"/>
          </a:p>
        </p:txBody>
      </p:sp>
      <p:sp>
        <p:nvSpPr>
          <p:cNvPr id="11" name="Text Placeholder 11">
            <a:extLst>
              <a:ext uri="{FF2B5EF4-FFF2-40B4-BE49-F238E27FC236}">
                <a16:creationId xmlns:a16="http://schemas.microsoft.com/office/drawing/2014/main" id="{20FA1C3F-CBCC-A375-85F0-74B024A4B8BA}"/>
              </a:ext>
            </a:extLst>
          </p:cNvPr>
          <p:cNvSpPr>
            <a:spLocks noGrp="1"/>
          </p:cNvSpPr>
          <p:nvPr>
            <p:ph type="body" sz="quarter" idx="13"/>
          </p:nvPr>
        </p:nvSpPr>
        <p:spPr>
          <a:xfrm>
            <a:off x="1837678" y="5537768"/>
            <a:ext cx="3735998" cy="290081"/>
          </a:xfrm>
        </p:spPr>
        <p:txBody>
          <a:bodyPr/>
          <a:lstStyle/>
          <a:p>
            <a:r>
              <a:rPr lang="en-IN" dirty="0"/>
              <a:t>Computer Engineering Department</a:t>
            </a:r>
            <a:endParaRPr lang="en-US" dirty="0"/>
          </a:p>
        </p:txBody>
      </p:sp>
      <p:sp>
        <p:nvSpPr>
          <p:cNvPr id="12" name="Text Placeholder 12">
            <a:extLst>
              <a:ext uri="{FF2B5EF4-FFF2-40B4-BE49-F238E27FC236}">
                <a16:creationId xmlns:a16="http://schemas.microsoft.com/office/drawing/2014/main" id="{B9FF6827-0805-575E-71E8-A64923FC6D23}"/>
              </a:ext>
            </a:extLst>
          </p:cNvPr>
          <p:cNvSpPr>
            <a:spLocks noGrp="1"/>
          </p:cNvSpPr>
          <p:nvPr>
            <p:ph type="body" sz="quarter" idx="14"/>
          </p:nvPr>
        </p:nvSpPr>
        <p:spPr>
          <a:xfrm>
            <a:off x="1837677" y="5273332"/>
            <a:ext cx="5581039" cy="290081"/>
          </a:xfrm>
        </p:spPr>
        <p:txBody>
          <a:bodyPr/>
          <a:lstStyle/>
          <a:p>
            <a:r>
              <a:rPr lang="en-IN" dirty="0"/>
              <a:t>Prof. Arjun V. Bala</a:t>
            </a:r>
            <a:endParaRPr lang="en-US" dirty="0"/>
          </a:p>
        </p:txBody>
      </p:sp>
    </p:spTree>
    <p:extLst>
      <p:ext uri="{BB962C8B-B14F-4D97-AF65-F5344CB8AC3E}">
        <p14:creationId xmlns:p14="http://schemas.microsoft.com/office/powerpoint/2010/main" val="1563795736"/>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8175</TotalTime>
  <Words>2081</Words>
  <Application>Microsoft Office PowerPoint</Application>
  <PresentationFormat>Widescreen</PresentationFormat>
  <Paragraphs>468</Paragraphs>
  <Slides>29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Wingdings</vt:lpstr>
      <vt:lpstr>Calibri</vt:lpstr>
      <vt:lpstr>Consolas</vt:lpstr>
      <vt:lpstr>Roboto Condensed</vt:lpstr>
      <vt:lpstr>Arial</vt:lpstr>
      <vt:lpstr>Times New Roman</vt:lpstr>
      <vt:lpstr>Wingdings 3</vt:lpstr>
      <vt:lpstr>Segoe UI Black</vt:lpstr>
      <vt:lpstr>Wingdings 2</vt:lpstr>
      <vt:lpstr>Roboto Condensed Light</vt:lpstr>
      <vt:lpstr>Office Theme</vt:lpstr>
      <vt:lpstr>Unit-03  Directives and Forms</vt:lpstr>
      <vt:lpstr>PowerPoint Presentation</vt:lpstr>
      <vt:lpstr>Directives</vt:lpstr>
      <vt:lpstr>Directives</vt:lpstr>
      <vt:lpstr>Attribute directives</vt:lpstr>
      <vt:lpstr>Structural Directives</vt:lpstr>
      <vt:lpstr>Example (Structural Directives)</vt:lpstr>
      <vt:lpstr>Rendering Array of Object with ngFor directive</vt:lpstr>
      <vt:lpstr>Custom Directives</vt:lpstr>
      <vt:lpstr>Custom Directives (Example)</vt:lpstr>
      <vt:lpstr>Observable</vt:lpstr>
      <vt:lpstr>Dependency Injection (DI)</vt:lpstr>
      <vt:lpstr>Forms</vt:lpstr>
      <vt:lpstr>Template-driven forms</vt:lpstr>
      <vt:lpstr>Steps to create Template Driven Form</vt:lpstr>
      <vt:lpstr>Track Control State</vt:lpstr>
      <vt:lpstr>Example (Template Driven Form)</vt:lpstr>
      <vt:lpstr>Reactive Forms</vt:lpstr>
      <vt:lpstr>Steps to setup reactive form</vt:lpstr>
      <vt:lpstr>Example (Reactive Form)</vt:lpstr>
      <vt:lpstr>Creating FormGroup and Adding Validation Rules</vt:lpstr>
      <vt:lpstr>Displaying Validation Errors</vt:lpstr>
      <vt:lpstr>Introduction to FormBuilder</vt:lpstr>
      <vt:lpstr>Setting Up FormBuilder</vt:lpstr>
      <vt:lpstr>Creating FormGroup Using FormBuilder &amp; Adding Validations</vt:lpstr>
      <vt:lpstr>Template Binding</vt:lpstr>
      <vt:lpstr>Dynamic Forms with FormBuilder</vt:lpstr>
      <vt:lpstr>Template Binding with Dynamic form approach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992</cp:revision>
  <dcterms:created xsi:type="dcterms:W3CDTF">2020-05-01T05:09:15Z</dcterms:created>
  <dcterms:modified xsi:type="dcterms:W3CDTF">2025-03-15T08:48:07Z</dcterms:modified>
</cp:coreProperties>
</file>