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3" r:id="rId13"/>
    <p:sldId id="464" r:id="rId14"/>
    <p:sldId id="465" r:id="rId15"/>
    <p:sldId id="472" r:id="rId16"/>
    <p:sldId id="468" r:id="rId17"/>
    <p:sldId id="469" r:id="rId18"/>
    <p:sldId id="471" r:id="rId19"/>
    <p:sldId id="305" r:id="rId20"/>
  </p:sldIdLst>
  <p:sldSz cx="12192000" cy="6858000"/>
  <p:notesSz cx="6858000" cy="9144000"/>
  <p:embeddedFontLst>
    <p:embeddedFont>
      <p:font typeface="Segoe UI Black" panose="020B0A02040204020203" pitchFamily="34" charset="0"/>
      <p:bold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Roboto Condensed" panose="02000000000000000000" pitchFamily="2" charset="0"/>
      <p:regular r:id="rId28"/>
      <p:bold r:id="rId29"/>
      <p:italic r:id="rId30"/>
      <p:boldItalic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Roboto Condensed Light" panose="02000000000000000000" pitchFamily="2" charset="0"/>
      <p:regular r:id="rId36"/>
      <p:italic r:id="rId37"/>
    </p:embeddedFont>
    <p:embeddedFont>
      <p:font typeface="Wingdings 3" panose="05040102010807070707" pitchFamily="18" charset="2"/>
      <p:regular r:id="rId38"/>
    </p:embeddedFont>
    <p:embeddedFont>
      <p:font typeface="Wingdings 2" panose="05020102010507070707" pitchFamily="18" charset="2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+vag1yOe+5NLe8dwRHm0RQ==" hashData="0zn6Lh7bIR/Rq5Qrg3cwq9B7317o96G/XsP/Mzk5RDailgvtuV3FbK61nQMs8ZlbDsbbkRos3h/FRylBNofXTA=="/>
  <p:extLst>
    <p:ext uri="{521415D9-36F7-43E2-AB2F-B90AF26B5E84}">
      <p14:sectionLst xmlns:p14="http://schemas.microsoft.com/office/powerpoint/2010/main">
        <p14:section name="Default Section" id="{00A24A71-64EE-476D-89F0-12470AEC4BD5}">
          <p14:sldIdLst>
            <p14:sldId id="256"/>
            <p14:sldId id="257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3"/>
            <p14:sldId id="464"/>
            <p14:sldId id="465"/>
            <p14:sldId id="472"/>
            <p14:sldId id="468"/>
            <p14:sldId id="469"/>
            <p14:sldId id="471"/>
          </p14:sldIdLst>
        </p14:section>
        <p14:section name="References" id="{8C6BA42B-E9D7-4C7A-AFDB-DAAB8DC0B8B1}">
          <p14:sldIdLst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24F"/>
    <a:srgbClr val="301B92"/>
    <a:srgbClr val="673BB7"/>
    <a:srgbClr val="607D8B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96404" autoAdjust="0"/>
  </p:normalViewPr>
  <p:slideViewPr>
    <p:cSldViewPr snapToGrid="0">
      <p:cViewPr varScale="1">
        <p:scale>
          <a:sx n="79" d="100"/>
          <a:sy n="79" d="100"/>
        </p:scale>
        <p:origin x="9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5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V. Bala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2301CS411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–Advance Angular Topics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V.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2301CS411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–Advance Angular Topics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V. Bala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2301CS411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–Advance Angular Topics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2301CS411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–Advance Angular Topics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V. Bala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2301CS411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–Advance Angular Topics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V. Bala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2301CS411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–Advance Angular Topics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969" y="556389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43663646-67F9-47C4-84E3-B4EEDA5FB900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0958F6-32DB-4A2F-BFC3-1FBEA359C54B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C323F2-F0D8-4EB7-83AE-DFAA81BC49DE}"/>
              </a:ext>
            </a:extLst>
          </p:cNvPr>
          <p:cNvSpPr/>
          <p:nvPr userDrawn="1"/>
        </p:nvSpPr>
        <p:spPr>
          <a:xfrm rot="10800000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2D27AE-1148-4B42-8B61-FEBB2397EFD9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17">
            <a:extLst>
              <a:ext uri="{FF2B5EF4-FFF2-40B4-BE49-F238E27FC236}">
                <a16:creationId xmlns:a16="http://schemas.microsoft.com/office/drawing/2014/main" id="{1FCFCBE3-069D-31AE-F5AF-89A3BE0E70CE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5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5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847E5-1295-42E9-C2BC-1ADBF93E33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95" y="5733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10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92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arjun.bala@darshan.ac.in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9624822202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Arjun V. Bala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Angular (Ng) </a:t>
            </a:r>
          </a:p>
          <a:p>
            <a:r>
              <a:rPr lang="en-IN" dirty="0"/>
              <a:t>(</a:t>
            </a:r>
            <a:r>
              <a:rPr lang="en-US" dirty="0"/>
              <a:t>2301CS411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6" name="Picture Placeholder 15" descr="09CEAVB_19042019_063947AM.jpg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/>
          <a:stretch>
            <a:fillRect/>
          </a:stretch>
        </p:blipFill>
        <p:spPr/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Unit-04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Advance Topics in Angular</a:t>
            </a:r>
          </a:p>
        </p:txBody>
      </p:sp>
      <p:pic>
        <p:nvPicPr>
          <p:cNvPr id="2056" name="Picture 8" descr="professional-web-design-social-ink-professional-web-design-png-1000_813 -  Norderberg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716" y="1888402"/>
            <a:ext cx="3763634" cy="305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23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12385"/>
            <a:ext cx="77393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Deferrable Views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Server-Side Rendering (SSR)</a:t>
            </a:r>
          </a:p>
          <a:p>
            <a:pPr indent="446088">
              <a:buFont typeface="Wingdings" pitchFamily="2" charset="2"/>
              <a:buChar char="ü"/>
            </a:pPr>
            <a:r>
              <a:rPr lang="en-GB" sz="2000" dirty="0"/>
              <a:t>Build time preprocessor (static site generation - SSG)</a:t>
            </a:r>
            <a:endParaRPr lang="en-US" sz="2000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Hydration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Signals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Animation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Best Practices in Angular</a:t>
            </a:r>
          </a:p>
        </p:txBody>
      </p:sp>
    </p:spTree>
    <p:extLst>
      <p:ext uri="{BB962C8B-B14F-4D97-AF65-F5344CB8AC3E}">
        <p14:creationId xmlns:p14="http://schemas.microsoft.com/office/powerpoint/2010/main" val="182151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Deferrable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fully rendered Angular page may contain many different components, directives, and pipes. </a:t>
            </a:r>
          </a:p>
          <a:p>
            <a:r>
              <a:rPr lang="en-US" altLang="en-US" dirty="0"/>
              <a:t>While certain parts of the page should be shown to the user immediately, there may be portions that can wait to display until later.</a:t>
            </a:r>
          </a:p>
          <a:p>
            <a:r>
              <a:rPr lang="en-US" altLang="en-US" dirty="0" err="1"/>
              <a:t>Angular's</a:t>
            </a:r>
            <a:r>
              <a:rPr lang="en-US" altLang="en-US" dirty="0"/>
              <a:t> deferrable views, using the</a:t>
            </a:r>
            <a:r>
              <a:rPr lang="en-US" altLang="en-US" i="1" dirty="0"/>
              <a:t> @defer</a:t>
            </a:r>
            <a:r>
              <a:rPr lang="en-US" altLang="en-US" dirty="0"/>
              <a:t> syntax, can help you speed up your application by telling Angular to wait to download the </a:t>
            </a:r>
            <a:r>
              <a:rPr lang="en-US" altLang="en-US" b="1" dirty="0"/>
              <a:t>JavaScript </a:t>
            </a:r>
            <a:r>
              <a:rPr lang="en-US" altLang="en-US" dirty="0"/>
              <a:t>for the parts of the page that don't need to be shown right away.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Server-Side Rendering (SSR)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Server-side rendering (SSR) </a:t>
            </a:r>
            <a:r>
              <a:rPr lang="en-US" altLang="en-US" dirty="0"/>
              <a:t>is a process that involves rendering pages on the server, resulting in initial HTML content which contains initial page state. Once the HTML content is delivered to a browser, Angular initializes the application and utilizes the data contained within the HTML.</a:t>
            </a:r>
          </a:p>
          <a:p>
            <a:r>
              <a:rPr lang="en-US" altLang="en-US" dirty="0"/>
              <a:t>The main advantages of </a:t>
            </a:r>
            <a:r>
              <a:rPr lang="en-US" altLang="en-US" b="1" dirty="0"/>
              <a:t>SSR </a:t>
            </a:r>
            <a:r>
              <a:rPr lang="en-US" altLang="en-US" dirty="0"/>
              <a:t>as compared to client-side rendering (CSR) are:</a:t>
            </a:r>
          </a:p>
          <a:p>
            <a:r>
              <a:rPr lang="en-US" altLang="en-US" dirty="0"/>
              <a:t>Improved performance: SSR can improve the performance of web applications by delivering fully rendered HTML to the client, which the browser can parse and display even before it downloads the application </a:t>
            </a:r>
            <a:r>
              <a:rPr lang="en-US" altLang="en-US" b="1" dirty="0"/>
              <a:t>JavaScript</a:t>
            </a:r>
            <a:r>
              <a:rPr lang="en-US" altLang="en-US" dirty="0"/>
              <a:t>. This can be especially beneficial for users on low-</a:t>
            </a:r>
            <a:r>
              <a:rPr lang="en-US" altLang="en-US" b="1" dirty="0"/>
              <a:t>bandwidth</a:t>
            </a:r>
            <a:r>
              <a:rPr lang="en-US" altLang="en-US" dirty="0"/>
              <a:t> connections or mobile devices.</a:t>
            </a:r>
          </a:p>
          <a:p>
            <a:r>
              <a:rPr lang="en-US" altLang="en-US" dirty="0"/>
              <a:t>Improved Core Web Vitals: SSR results in performance improvements that can be measured using Core Web Vitals (CWV) statistics, such as reduced First </a:t>
            </a:r>
            <a:r>
              <a:rPr lang="en-US" altLang="en-US" dirty="0" err="1"/>
              <a:t>Contentful</a:t>
            </a:r>
            <a:r>
              <a:rPr lang="en-US" altLang="en-US" dirty="0"/>
              <a:t> Paint (FCP) and Largest </a:t>
            </a:r>
            <a:r>
              <a:rPr lang="en-US" altLang="en-US" dirty="0" err="1"/>
              <a:t>Contentful</a:t>
            </a:r>
            <a:r>
              <a:rPr lang="en-US" altLang="en-US" dirty="0"/>
              <a:t> Paint (LCP), as well as Cumulative Layout Shift (CLS).</a:t>
            </a:r>
          </a:p>
          <a:p>
            <a:r>
              <a:rPr lang="en-US" altLang="en-US" dirty="0"/>
              <a:t>Better SEO: SSR can improve the search engine optimization (</a:t>
            </a:r>
            <a:r>
              <a:rPr lang="en-US" altLang="en-US" b="1" dirty="0"/>
              <a:t>SEO</a:t>
            </a:r>
            <a:r>
              <a:rPr lang="en-US" altLang="en-US" dirty="0"/>
              <a:t>) of web applications by making it easier for search engines to crawl and index the content of the application.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Server-side rendering (continue)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create a new project with SSR, run: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To add SSR to an existing project, use the Angular CLI ng add command.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8" name="Rectangle 3"/>
          <p:cNvSpPr/>
          <p:nvPr/>
        </p:nvSpPr>
        <p:spPr>
          <a:xfrm>
            <a:off x="457853" y="1363570"/>
            <a:ext cx="8420621" cy="3371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ng new --ssr</a:t>
            </a:r>
          </a:p>
        </p:txBody>
      </p:sp>
      <p:sp>
        <p:nvSpPr>
          <p:cNvPr id="10" name="Rectangle 3"/>
          <p:cNvSpPr/>
          <p:nvPr/>
        </p:nvSpPr>
        <p:spPr>
          <a:xfrm>
            <a:off x="457853" y="2352900"/>
            <a:ext cx="8420621" cy="3371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ng add @angular/ssr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 build="p" animBg="1"/>
      <p:bldP spid="10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Configure server-side rendering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Note: In </a:t>
            </a:r>
            <a:r>
              <a:rPr lang="en-US" altLang="en-US" b="1" dirty="0"/>
              <a:t>Angular v17 </a:t>
            </a:r>
            <a:r>
              <a:rPr lang="en-US" altLang="en-US" dirty="0"/>
              <a:t>and later, </a:t>
            </a:r>
            <a:r>
              <a:rPr lang="en-US" altLang="en-US" b="1" i="1" dirty="0" err="1"/>
              <a:t>server.ts</a:t>
            </a:r>
            <a:r>
              <a:rPr lang="en-US" altLang="en-US" b="1" i="1" dirty="0"/>
              <a:t> </a:t>
            </a:r>
            <a:r>
              <a:rPr lang="en-US" altLang="en-US" dirty="0"/>
              <a:t>is no longer used by </a:t>
            </a:r>
            <a:r>
              <a:rPr lang="en-US" altLang="en-US" b="1" i="1" dirty="0"/>
              <a:t>ng serve</a:t>
            </a:r>
            <a:r>
              <a:rPr lang="en-US" altLang="en-US" dirty="0"/>
              <a:t>. The dev server will use </a:t>
            </a:r>
            <a:r>
              <a:rPr lang="en-US" altLang="en-US" b="1" i="1" dirty="0" err="1"/>
              <a:t>main.server.ts</a:t>
            </a:r>
            <a:r>
              <a:rPr lang="en-US" altLang="en-US" dirty="0"/>
              <a:t> directly to perform server side rendering.</a:t>
            </a:r>
          </a:p>
          <a:p>
            <a:r>
              <a:rPr lang="en-US" altLang="en-US" dirty="0"/>
              <a:t>The </a:t>
            </a:r>
            <a:r>
              <a:rPr lang="en-US" altLang="en-US" b="1" i="1" dirty="0" err="1"/>
              <a:t>server.ts</a:t>
            </a:r>
            <a:r>
              <a:rPr lang="en-US" altLang="en-US" dirty="0"/>
              <a:t> file configures a Node.js Express server and Angular server-side rendering. </a:t>
            </a:r>
            <a:r>
              <a:rPr lang="en-US" altLang="en-US" b="1" dirty="0" err="1"/>
              <a:t>CommonEngine</a:t>
            </a:r>
            <a:r>
              <a:rPr lang="en-US" altLang="en-US" b="1" dirty="0"/>
              <a:t> </a:t>
            </a:r>
            <a:r>
              <a:rPr lang="en-US" altLang="en-US" dirty="0"/>
              <a:t>is used to render an Angular application.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490580" y="2417459"/>
            <a:ext cx="7146984" cy="3969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server.get('*', (req, res, next) =&gt;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const {protocol, originalUrl, baseUrl, headers} = req;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commonEngine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.render({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bootstrap,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documentFilePath: indexHtml,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url:`${protocol}://${headers.host}${originalUrl}`,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publicPath: browserDistFolder,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providers: [{provide: APP_BASE_HREF, useValue: req.baseUrl}],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})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.then((html) =&gt; res.send(html))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.catch((err) =&gt; next(err));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5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Build time preprocessor (static site generation - SSG)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Prerendering, commonly referred to as</a:t>
            </a:r>
            <a:r>
              <a:rPr lang="en-US" altLang="en-US" b="1" dirty="0"/>
              <a:t> Static Site Generation (SSG)</a:t>
            </a:r>
            <a:r>
              <a:rPr lang="en-US" altLang="en-US" dirty="0"/>
              <a:t>, represents the method by which pages are rendered to static HTML files during the build process.</a:t>
            </a:r>
          </a:p>
          <a:p>
            <a:r>
              <a:rPr lang="en-US" altLang="en-US" dirty="0"/>
              <a:t>Prerendering maintains the same performance benefits of </a:t>
            </a:r>
            <a:r>
              <a:rPr lang="en-US" altLang="en-US" b="1" dirty="0"/>
              <a:t>server-side rendering (SSR)</a:t>
            </a:r>
            <a:r>
              <a:rPr lang="en-US" altLang="en-US" dirty="0"/>
              <a:t> but achieves a reduced </a:t>
            </a:r>
            <a:r>
              <a:rPr lang="en-US" altLang="en-US" b="1" dirty="0"/>
              <a:t>Time to First Byte (TTFB)</a:t>
            </a:r>
            <a:r>
              <a:rPr lang="en-US" altLang="en-US" dirty="0"/>
              <a:t>, ultimately enhancing user experience.</a:t>
            </a:r>
          </a:p>
          <a:p>
            <a:r>
              <a:rPr lang="en-US" altLang="en-US" dirty="0"/>
              <a:t>The key distinction lies in its approach that pages are served as static content, and there is no request-based rendering.</a:t>
            </a:r>
          </a:p>
          <a:p>
            <a:r>
              <a:rPr lang="en-US" altLang="en-US" dirty="0"/>
              <a:t>When the data necessary for server-side rendering remains consistent across all users, the strategy of </a:t>
            </a:r>
            <a:r>
              <a:rPr lang="en-US" altLang="en-US" b="1" dirty="0"/>
              <a:t>prerendering </a:t>
            </a:r>
            <a:r>
              <a:rPr lang="en-US" altLang="en-US" dirty="0"/>
              <a:t>emerges as a valuable alternative. </a:t>
            </a:r>
          </a:p>
          <a:p>
            <a:r>
              <a:rPr lang="en-US" altLang="en-US" dirty="0"/>
              <a:t>Rather than dynamically rendering pages for each user request, prerendering takes a proactive approach by rendering them in advance.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How to prerender a page (SSG continue)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prerender a static page, add </a:t>
            </a:r>
            <a:r>
              <a:rPr lang="en-US" altLang="en-US" b="1" dirty="0"/>
              <a:t>SSR </a:t>
            </a:r>
            <a:r>
              <a:rPr lang="en-US" altLang="en-US" dirty="0"/>
              <a:t>capabilities to your application with the following </a:t>
            </a:r>
            <a:r>
              <a:rPr lang="en-US" altLang="en-US" b="1" dirty="0"/>
              <a:t>Angular CLI</a:t>
            </a:r>
            <a:r>
              <a:rPr lang="en-US" altLang="en-US" dirty="0"/>
              <a:t> command</a:t>
            </a:r>
          </a:p>
          <a:p>
            <a:endParaRPr lang="en-US" altLang="en-US" dirty="0"/>
          </a:p>
          <a:p>
            <a:r>
              <a:rPr lang="en-US" altLang="en-US" dirty="0"/>
              <a:t>Once </a:t>
            </a:r>
            <a:r>
              <a:rPr lang="en-US" altLang="en-US" b="1" dirty="0"/>
              <a:t>SSR </a:t>
            </a:r>
            <a:r>
              <a:rPr lang="en-US" altLang="en-US" dirty="0"/>
              <a:t>is added, you can generate the static pages by running the build command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Build options for prerender</a:t>
            </a:r>
          </a:p>
          <a:p>
            <a:r>
              <a:rPr lang="en-US" altLang="en-US" dirty="0"/>
              <a:t>The application builder prerender option can be either a </a:t>
            </a:r>
            <a:r>
              <a:rPr lang="en-US" altLang="en-US" b="1" dirty="0"/>
              <a:t>Boolean </a:t>
            </a:r>
            <a:r>
              <a:rPr lang="en-US" altLang="en-US" dirty="0"/>
              <a:t>or an </a:t>
            </a:r>
            <a:r>
              <a:rPr lang="en-US" altLang="en-US" b="1" dirty="0"/>
              <a:t>Object </a:t>
            </a:r>
            <a:r>
              <a:rPr lang="en-US" altLang="en-US" dirty="0"/>
              <a:t>for more fine-tuned configuration.</a:t>
            </a:r>
          </a:p>
          <a:p>
            <a:r>
              <a:rPr lang="en-US" altLang="en-US" dirty="0"/>
              <a:t>When the option is </a:t>
            </a:r>
            <a:r>
              <a:rPr lang="en-US" altLang="en-US" b="1" dirty="0"/>
              <a:t>false</a:t>
            </a:r>
            <a:r>
              <a:rPr lang="en-US" altLang="en-US" dirty="0"/>
              <a:t>, no prerendering is </a:t>
            </a:r>
            <a:r>
              <a:rPr lang="en-US" altLang="en-US" dirty="0" err="1"/>
              <a:t>done.When</a:t>
            </a:r>
            <a:r>
              <a:rPr lang="en-US" altLang="en-US" dirty="0"/>
              <a:t> it is true, all options use the default value. When it is an Object, each option can be individually configured.</a:t>
            </a:r>
          </a:p>
          <a:p>
            <a:endParaRPr lang="en-US" altLang="en-US" dirty="0"/>
          </a:p>
        </p:txBody>
      </p:sp>
      <p:sp>
        <p:nvSpPr>
          <p:cNvPr id="8" name="Rectangle 3"/>
          <p:cNvSpPr/>
          <p:nvPr/>
        </p:nvSpPr>
        <p:spPr>
          <a:xfrm>
            <a:off x="353713" y="1632810"/>
            <a:ext cx="8420621" cy="3371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ng add @angular/ssr</a:t>
            </a:r>
            <a:endParaRPr lang="en-US" alt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  <a:sym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3713" y="2653255"/>
            <a:ext cx="8420621" cy="3371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ng build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 build="p" animBg="1"/>
      <p:bldP spid="4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Prerendering parameterized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You can prerender </a:t>
            </a:r>
            <a:r>
              <a:rPr lang="en-US" altLang="en-US" b="1"/>
              <a:t>parameterized routes</a:t>
            </a:r>
            <a:r>
              <a:rPr lang="en-US" altLang="en-US"/>
              <a:t> using the routesFile option. An example of a parameterized route is </a:t>
            </a:r>
            <a:r>
              <a:rPr lang="en-US" altLang="en-US" b="1"/>
              <a:t>product/:id</a:t>
            </a:r>
            <a:r>
              <a:rPr lang="en-US" altLang="en-US"/>
              <a:t>, where id is dynamically provided. To specify these routes, they should be listed in a text file, with each route on a separate line.</a:t>
            </a:r>
          </a:p>
          <a:p>
            <a:r>
              <a:rPr lang="en-US" altLang="en-US"/>
              <a:t>For an app with a large number of parameterized routes, consider generating this file using a script before running </a:t>
            </a:r>
            <a:r>
              <a:rPr lang="en-US" altLang="en-US" b="1"/>
              <a:t>ng buil</a:t>
            </a:r>
            <a:r>
              <a:rPr lang="en-US" altLang="en-US"/>
              <a:t>d.</a:t>
            </a:r>
          </a:p>
          <a:p>
            <a:pPr algn="l"/>
            <a:endParaRPr lang="en-US" altLang="en-US"/>
          </a:p>
        </p:txBody>
      </p:sp>
      <p:sp>
        <p:nvSpPr>
          <p:cNvPr id="5" name="TextBox 3"/>
          <p:cNvSpPr txBox="1"/>
          <p:nvPr/>
        </p:nvSpPr>
        <p:spPr>
          <a:xfrm>
            <a:off x="490855" y="2699385"/>
            <a:ext cx="8051800" cy="36925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"projects":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"my-app":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"architect":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 "build":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   "builder":"@angular-devkit/build-angular:application",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   "options":{"prerender": {"routesFile": "routes.txt"}</a:t>
            </a:r>
          </a:p>
          <a:p>
            <a:pPr marL="914400" lvl="2" indent="457200"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}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  }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 }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}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}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5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Hydration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Hydration is the process that restores the </a:t>
            </a:r>
            <a:r>
              <a:rPr lang="en-US" altLang="en-US" b="1" dirty="0"/>
              <a:t>server-side rendered </a:t>
            </a:r>
            <a:r>
              <a:rPr lang="en-US" altLang="en-US" dirty="0"/>
              <a:t>application on the client.</a:t>
            </a:r>
          </a:p>
          <a:p>
            <a:r>
              <a:rPr lang="en-US" altLang="en-US" dirty="0"/>
              <a:t>This includes things like reusing the server rendered </a:t>
            </a:r>
            <a:r>
              <a:rPr lang="en-US" altLang="en-US" b="1" dirty="0"/>
              <a:t>DOM </a:t>
            </a:r>
            <a:r>
              <a:rPr lang="en-US" altLang="en-US" dirty="0"/>
              <a:t>structures, persisting the application state, transferring application data that was retrieved already by the server, and other processes.</a:t>
            </a:r>
          </a:p>
          <a:p>
            <a:r>
              <a:rPr lang="en-US" altLang="en-US" dirty="0"/>
              <a:t>Hydration improves application performance by avoiding extra work to re-create </a:t>
            </a:r>
            <a:r>
              <a:rPr lang="en-US" altLang="en-US" b="1" dirty="0"/>
              <a:t>DOM nodes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 Instead, Angular tries to match existing DOM elements to the applications structure at runtime and reuses DOM nodes when possible. </a:t>
            </a:r>
          </a:p>
          <a:p>
            <a:r>
              <a:rPr lang="en-US" altLang="en-US" dirty="0"/>
              <a:t>This results in a performance improvement that can be measured using Core Web Vitals (CWV) statistics, such as reducing the First Input Delay (FID) and Largest </a:t>
            </a:r>
            <a:r>
              <a:rPr lang="en-US" altLang="en-US" dirty="0" err="1"/>
              <a:t>Contentful</a:t>
            </a:r>
            <a:r>
              <a:rPr lang="en-US" altLang="en-US" dirty="0"/>
              <a:t> Paint (LCP), as well as Cumulative Layout Shift (CLS). Improving these numbers also affects things like SEO performance.</a:t>
            </a:r>
          </a:p>
          <a:p>
            <a:r>
              <a:rPr lang="en-US" altLang="en-US" dirty="0">
                <a:sym typeface="+mn-ea"/>
              </a:rPr>
              <a:t>Without hydration enabled, server-side rendered Angular applications will destroy and </a:t>
            </a:r>
            <a:r>
              <a:rPr lang="en-US" altLang="en-US" b="1" dirty="0">
                <a:sym typeface="+mn-ea"/>
              </a:rPr>
              <a:t>re-render the application's DOM</a:t>
            </a:r>
            <a:r>
              <a:rPr lang="en-US" altLang="en-US" dirty="0">
                <a:sym typeface="+mn-ea"/>
              </a:rPr>
              <a:t>, which may result in a visible UI flicker. This re-rendering can negatively impact Core Web Vitals like </a:t>
            </a:r>
            <a:r>
              <a:rPr lang="en-US" altLang="en-US" b="1" dirty="0">
                <a:sym typeface="+mn-ea"/>
              </a:rPr>
              <a:t>LCP </a:t>
            </a:r>
            <a:r>
              <a:rPr lang="en-US" altLang="en-US" dirty="0">
                <a:sym typeface="+mn-ea"/>
              </a:rPr>
              <a:t>and cause a layout shift. Enabling hydration allows the existing DOM to be re-used and prevents a flicker.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How do you enable hydration in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Using Angular CLI</a:t>
            </a:r>
            <a:endParaRPr lang="en-US" altLang="en-US" dirty="0"/>
          </a:p>
          <a:p>
            <a:pPr lvl="1"/>
            <a:r>
              <a:rPr lang="en-US" altLang="en-US" dirty="0"/>
              <a:t>If you've used Angular CLI to enable </a:t>
            </a:r>
            <a:r>
              <a:rPr lang="en-US" altLang="en-US" b="1" dirty="0"/>
              <a:t>SSR </a:t>
            </a:r>
            <a:r>
              <a:rPr lang="en-US" altLang="en-US" dirty="0"/>
              <a:t>(either by enabling it during application creation or later via </a:t>
            </a:r>
            <a:r>
              <a:rPr lang="en-US" altLang="en-US" b="1" i="1" dirty="0"/>
              <a:t>ng add @angular/ssr</a:t>
            </a:r>
            <a:r>
              <a:rPr lang="en-US" altLang="en-US" dirty="0"/>
              <a:t>), the code that enables hydration should already be included into your application.</a:t>
            </a:r>
          </a:p>
          <a:p>
            <a:r>
              <a:rPr lang="en-US" altLang="en-US" b="1" dirty="0"/>
              <a:t>Manual setup</a:t>
            </a:r>
          </a:p>
          <a:p>
            <a:pPr lvl="1"/>
            <a:r>
              <a:rPr lang="en-US" altLang="en-US" dirty="0"/>
              <a:t>If you have a custom setup and didn't use Angular CLI to enable SSR, you can enable hydration manually by visiting your main application component or module and importing </a:t>
            </a:r>
            <a:r>
              <a:rPr lang="en-US" altLang="en-US" b="1" dirty="0" err="1"/>
              <a:t>provideClientHydration</a:t>
            </a:r>
            <a:r>
              <a:rPr lang="en-US" altLang="en-US" dirty="0"/>
              <a:t> from </a:t>
            </a:r>
            <a:r>
              <a:rPr lang="en-US" altLang="en-US" b="1" dirty="0"/>
              <a:t>@angular/platform-browser</a:t>
            </a:r>
            <a:r>
              <a:rPr lang="en-US" altLang="en-US" dirty="0"/>
              <a:t>. </a:t>
            </a:r>
          </a:p>
          <a:p>
            <a:pPr lvl="1"/>
            <a:r>
              <a:rPr lang="en-US" altLang="en-US" dirty="0"/>
              <a:t>You'll then add that provider to your app's bootstrapping providers list.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signal is a wrapper around a value that notifies interested consumers when that value changes. </a:t>
            </a:r>
          </a:p>
          <a:p>
            <a:r>
              <a:rPr lang="en-US" altLang="en-US"/>
              <a:t>Signals can contain any value, from primitives to complex </a:t>
            </a:r>
            <a:r>
              <a:rPr lang="en-US" altLang="en-US" b="1"/>
              <a:t>data structures</a:t>
            </a:r>
            <a:r>
              <a:rPr lang="en-US" altLang="en-US"/>
              <a:t>.</a:t>
            </a:r>
          </a:p>
          <a:p>
            <a:r>
              <a:rPr lang="en-US" altLang="en-US"/>
              <a:t>You read a signal's value by calling its getter function, which allows </a:t>
            </a:r>
            <a:r>
              <a:rPr lang="en-US" altLang="en-US" b="1"/>
              <a:t>Angular </a:t>
            </a:r>
            <a:r>
              <a:rPr lang="en-US" altLang="en-US"/>
              <a:t>to track where the signal is used.</a:t>
            </a:r>
          </a:p>
          <a:p>
            <a:r>
              <a:rPr lang="en-US" altLang="en-US"/>
              <a:t>Signals may be either </a:t>
            </a:r>
            <a:r>
              <a:rPr lang="en-US" altLang="en-US" b="1"/>
              <a:t>writable or read-only</a:t>
            </a:r>
            <a:r>
              <a:rPr lang="en-US" altLang="en-US"/>
              <a:t>.</a:t>
            </a:r>
          </a:p>
          <a:p>
            <a:r>
              <a:rPr lang="en-US" altLang="en-US"/>
              <a:t>Writable signals provide an API for updating their values directly. You create writable signals by calling the signal function with the signal's initial value: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288925" y="4069080"/>
            <a:ext cx="10080625" cy="23850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const count = signal(0);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// Signals are getter functions - calling them reads their value.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console.log('The count is: ' + count());</a:t>
            </a:r>
          </a:p>
          <a:p>
            <a:pPr algn="l"/>
            <a:endParaRPr lang="en-US" altLang="en-US" dirty="0">
              <a:solidFill>
                <a:schemeClr val="tx1"/>
              </a:solidFill>
              <a:latin typeface="Consolas" panose="020B0609020204030204"/>
            </a:endParaRP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//To change the value of a writable signal, either 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/>
              </a:rPr>
              <a:t>.set()</a:t>
            </a:r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it directly: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count.set(3);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//or use the </a:t>
            </a:r>
            <a:r>
              <a:rPr lang="en-US" altLang="en-US" b="1" dirty="0">
                <a:solidFill>
                  <a:schemeClr val="tx1"/>
                </a:solidFill>
                <a:latin typeface="Consolas" panose="020B0609020204030204"/>
              </a:rPr>
              <a:t>.update()</a:t>
            </a:r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operation to compute a new value from the previous one: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count.update(value =&gt; value + 1);</a:t>
            </a:r>
          </a:p>
          <a:p>
            <a:pPr algn="l"/>
            <a:endParaRPr lang="en-US" altLang="en-US" dirty="0">
              <a:solidFill>
                <a:schemeClr val="tx1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5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Computed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Computed signal are read-only signals that derive their value from other signals. </a:t>
            </a:r>
          </a:p>
          <a:p>
            <a:r>
              <a:rPr lang="en-US" altLang="en-US" dirty="0"/>
              <a:t>You define computed signals using the computed function and specifying a derivation: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</a:t>
            </a:r>
            <a:r>
              <a:rPr lang="en-US" altLang="en-US" dirty="0" err="1"/>
              <a:t>doubleCount</a:t>
            </a:r>
            <a:r>
              <a:rPr lang="en-US" altLang="en-US" dirty="0"/>
              <a:t> signal depends on the count signal.</a:t>
            </a:r>
          </a:p>
          <a:p>
            <a:r>
              <a:rPr lang="en-US" altLang="en-US" dirty="0"/>
              <a:t> Whenever count updates, Angular knows that </a:t>
            </a:r>
            <a:r>
              <a:rPr lang="en-US" altLang="en-US" dirty="0" err="1"/>
              <a:t>doubleCount</a:t>
            </a:r>
            <a:r>
              <a:rPr lang="en-US" altLang="en-US" dirty="0"/>
              <a:t> needs to update as well.</a:t>
            </a:r>
          </a:p>
          <a:p>
            <a:r>
              <a:rPr lang="en-US" altLang="en-US" b="1" dirty="0"/>
              <a:t>Computed signals are both lazily evaluated and </a:t>
            </a:r>
            <a:r>
              <a:rPr lang="en-US" altLang="en-US" b="1" dirty="0" err="1"/>
              <a:t>memoized</a:t>
            </a:r>
            <a:endParaRPr lang="en-US" altLang="en-US" dirty="0"/>
          </a:p>
          <a:p>
            <a:r>
              <a:rPr lang="en-US" altLang="en-US" dirty="0" err="1"/>
              <a:t>doubleCount's</a:t>
            </a:r>
            <a:r>
              <a:rPr lang="en-US" altLang="en-US" dirty="0"/>
              <a:t> derivation function does not run to calculate its value until the first time you read </a:t>
            </a:r>
            <a:r>
              <a:rPr lang="en-US" altLang="en-US" dirty="0" err="1"/>
              <a:t>doubleCount</a:t>
            </a:r>
            <a:r>
              <a:rPr lang="en-US" altLang="en-US" dirty="0"/>
              <a:t>. The calculated value is then cached, and if you read </a:t>
            </a:r>
            <a:r>
              <a:rPr lang="en-US" altLang="en-US" dirty="0" err="1"/>
              <a:t>doubleCount</a:t>
            </a:r>
            <a:r>
              <a:rPr lang="en-US" altLang="en-US" dirty="0"/>
              <a:t> again, it will return the cached value without recalculating.</a:t>
            </a:r>
          </a:p>
          <a:p>
            <a:r>
              <a:rPr lang="en-US" altLang="en-US" dirty="0"/>
              <a:t>If you then change count, Angular knows that </a:t>
            </a:r>
            <a:r>
              <a:rPr lang="en-US" altLang="en-US" dirty="0" err="1"/>
              <a:t>doubleCount's</a:t>
            </a:r>
            <a:r>
              <a:rPr lang="en-US" altLang="en-US" dirty="0"/>
              <a:t> cached value is no longer valid, and the next time you read </a:t>
            </a:r>
            <a:r>
              <a:rPr lang="en-US" altLang="en-US" dirty="0" err="1"/>
              <a:t>doubleCount</a:t>
            </a:r>
            <a:r>
              <a:rPr lang="en-US" altLang="en-US" dirty="0"/>
              <a:t> its new value will be calculated.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288925" y="2029460"/>
            <a:ext cx="10080625" cy="794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const count: WritableSignal&lt;number&gt; = signal(0);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const doubleCount: Signal&lt;number&gt; = computed(() =&gt; count() * 2);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 bldLvl="5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altLang="en-US">
                <a:sym typeface="+mn-ea"/>
              </a:rPr>
              <a:t>Computed signals (Continue)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Computed signals are not writable signals</a:t>
            </a:r>
          </a:p>
          <a:p>
            <a:r>
              <a:rPr lang="en-US" altLang="en-US" dirty="0"/>
              <a:t>You cannot directly assign values to a computed signal. 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Computed signal dependencies are dynamic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288925" y="2029460"/>
            <a:ext cx="10080625" cy="469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lang="en-US" altLang="en-US" strike="sngStrike" dirty="0">
                <a:solidFill>
                  <a:schemeClr val="tx1"/>
                </a:solidFill>
                <a:latin typeface="Consolas" panose="020B0609020204030204"/>
              </a:rPr>
              <a:t>doubleCount.set(3);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925" y="3352165"/>
            <a:ext cx="10080625" cy="28251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const showCount = signal(false);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const count = signal(0);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const conditionalCount = computed(() =&gt;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if (showCount())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return `The count is ${count()}.`;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} else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return 'Nothing to see here!';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}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 bldLvl="5" animBg="1"/>
      <p:bldP spid="4" grpId="0" uiExpand="1" build="p" bldLvl="5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5849-DB37-DED8-D76F-22D282B4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44DF-FD13-D7C0-66FE-122FDB41C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Signals are useful because they notify interested consumers when they change. </a:t>
            </a:r>
          </a:p>
          <a:p>
            <a:r>
              <a:rPr lang="en-GB" dirty="0"/>
              <a:t>An effect is an operation that runs whenever one or more signal values change. </a:t>
            </a:r>
          </a:p>
          <a:p>
            <a:r>
              <a:rPr lang="en-GB" dirty="0"/>
              <a:t>You can create an effect with the effect function: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Effects always run at least once. </a:t>
            </a:r>
          </a:p>
          <a:p>
            <a:r>
              <a:rPr lang="en-GB" dirty="0"/>
              <a:t>When an effect runs, it tracks any signal value reads. </a:t>
            </a:r>
          </a:p>
          <a:p>
            <a:r>
              <a:rPr lang="en-GB" dirty="0"/>
              <a:t>Whenever any of these signal values change, the effect runs again. </a:t>
            </a:r>
          </a:p>
          <a:p>
            <a:r>
              <a:rPr lang="en-GB" dirty="0"/>
              <a:t>Similar to computed signals, effects keep track of their dependencies dynamically, and only track signals which were read in the most recent execution.</a:t>
            </a:r>
          </a:p>
          <a:p>
            <a:r>
              <a:rPr lang="en-GB" dirty="0"/>
              <a:t>Effects always execute asynchronously, during the change detection process.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3BFCE-DEE5-7B7A-FB67-2A929A27F2C7}"/>
              </a:ext>
            </a:extLst>
          </p:cNvPr>
          <p:cNvSpPr txBox="1"/>
          <p:nvPr/>
        </p:nvSpPr>
        <p:spPr>
          <a:xfrm>
            <a:off x="524316" y="2111844"/>
            <a:ext cx="10080625" cy="9753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GB" altLang="en-US" dirty="0">
                <a:solidFill>
                  <a:schemeClr val="tx1"/>
                </a:solidFill>
                <a:latin typeface="Consolas" panose="020B0609020204030204"/>
              </a:rPr>
              <a:t>effect(() =&gt; {</a:t>
            </a:r>
          </a:p>
          <a:p>
            <a:r>
              <a:rPr lang="en-GB" altLang="en-US" dirty="0">
                <a:solidFill>
                  <a:schemeClr val="tx1"/>
                </a:solidFill>
                <a:latin typeface="Consolas" panose="020B0609020204030204"/>
              </a:rPr>
              <a:t>  console.log(`The current count is: ${count()}`);</a:t>
            </a:r>
          </a:p>
          <a:p>
            <a:r>
              <a:rPr lang="en-GB" altLang="en-US" dirty="0">
                <a:solidFill>
                  <a:schemeClr val="tx1"/>
                </a:solidFill>
                <a:latin typeface="Consolas" panose="020B0609020204030204"/>
              </a:rPr>
              <a:t>});</a:t>
            </a:r>
            <a:endParaRPr lang="en-US" altLang="en-US" dirty="0">
              <a:solidFill>
                <a:schemeClr val="tx1"/>
              </a:solidFill>
              <a:latin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767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bldLvl="5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Best practices in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1. Performance Optimization </a:t>
            </a:r>
          </a:p>
          <a:p>
            <a:r>
              <a:rPr lang="en-US" altLang="en-US" dirty="0"/>
              <a:t>Angular applications can become sluggish if not optimized properly. Here are key strategies to ensure smooth performance:</a:t>
            </a:r>
          </a:p>
          <a:p>
            <a:r>
              <a:rPr lang="en-US" altLang="en-US" dirty="0"/>
              <a:t>Use </a:t>
            </a:r>
            <a:r>
              <a:rPr lang="en-US" altLang="en-US" b="1" dirty="0" err="1"/>
              <a:t>ChangeDetectionStrategy.OnPush</a:t>
            </a:r>
            <a:r>
              <a:rPr lang="en-US" altLang="en-US" dirty="0"/>
              <a:t> for Components</a:t>
            </a:r>
          </a:p>
          <a:p>
            <a:r>
              <a:rPr lang="en-US" altLang="en-US" dirty="0"/>
              <a:t>By default, Angular runs change detection on the entire component tree when any event occurs. This can be inefficient, especially for large applications.</a:t>
            </a:r>
          </a:p>
          <a:p>
            <a:r>
              <a:rPr lang="en-US" altLang="en-US" dirty="0"/>
              <a:t>Using </a:t>
            </a:r>
            <a:r>
              <a:rPr lang="en-US" altLang="en-US" dirty="0" err="1"/>
              <a:t>ChangeDetectionStrategy.OnPush</a:t>
            </a:r>
            <a:r>
              <a:rPr lang="en-US" altLang="en-US" dirty="0"/>
              <a:t> ensures that change detection only runs when input properties change.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2926715" y="3875405"/>
            <a:ext cx="7706995" cy="25787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import { ChangeDetectionStrategy, Component, Input } from '@angular/core';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@Component({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selector: 'app-profile',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template: `&lt;p&gt;{{ profile.name }}&lt;/p&gt;`,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changeDetection: ChangeDetectionStrategy.OnPush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})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export class ProfileComponent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@Input() profile!: { name: string };}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uiExpand="1" build="p" bldLvl="5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altLang="en-US">
                <a:sym typeface="+mn-ea"/>
              </a:rPr>
              <a:t>Best practices in Angular (Continue)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RxJS is widely used in Angular, but unmanaged subscriptions can lead to memory leaks.</a:t>
            </a:r>
          </a:p>
          <a:p>
            <a:r>
              <a:rPr lang="en-US" altLang="en-US"/>
              <a:t>Best Practices for Managing Subscriptions:</a:t>
            </a:r>
          </a:p>
          <a:p>
            <a:r>
              <a:rPr lang="en-US" altLang="en-US"/>
              <a:t>Unsubscribe Manually in </a:t>
            </a:r>
            <a:r>
              <a:rPr lang="en-US" altLang="en-US" b="1"/>
              <a:t>ngOnDestroy</a:t>
            </a:r>
            <a:endParaRPr lang="en-US" altLang="en-US"/>
          </a:p>
          <a:p>
            <a:r>
              <a:rPr lang="en-US" altLang="en-US"/>
              <a:t>Use takeUntil to automatically clean up observables</a:t>
            </a:r>
          </a:p>
          <a:p>
            <a:r>
              <a:rPr lang="en-US" altLang="en-US"/>
              <a:t>Use the async pipe to manage subscriptions automatically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880235" y="3118485"/>
            <a:ext cx="7706995" cy="33362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import { Subject } from 'rxjs';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import { takeUntil } from 'rxjs/operators';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export class ExampleComponent implements OnDestroy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private destroy$ = new Subject&lt;void&gt;();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constructor(private dataService: DataService)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this.dataService.getData().pipe(takeUntil(this.destroy$))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.subscribe(data =&gt; console.log(data));}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ngOnDestroy() {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this.destroy$.next();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  this.destroy$.complete();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 }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}</a:t>
            </a:r>
          </a:p>
          <a:p>
            <a:pPr algn="l"/>
            <a:endParaRPr lang="en-US" altLang="en-US" dirty="0">
              <a:solidFill>
                <a:schemeClr val="tx1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5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altLang="en-US">
                <a:sym typeface="+mn-ea"/>
              </a:rPr>
              <a:t>Best practices in Angular (Continue)	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Code Organization &amp; Maintainability</a:t>
            </a:r>
          </a:p>
          <a:p>
            <a:r>
              <a:rPr lang="en-US" altLang="en-US" dirty="0"/>
              <a:t>Follow </a:t>
            </a:r>
            <a:r>
              <a:rPr lang="en-US" altLang="en-US" dirty="0" err="1"/>
              <a:t>Angular’s</a:t>
            </a:r>
            <a:r>
              <a:rPr lang="en-US" altLang="en-US" dirty="0"/>
              <a:t> Official Style Guide</a:t>
            </a:r>
          </a:p>
          <a:p>
            <a:r>
              <a:rPr lang="en-US" altLang="en-US" dirty="0"/>
              <a:t>Use Feature Modules instead of a monolithic </a:t>
            </a:r>
            <a:r>
              <a:rPr lang="en-US" altLang="en-US" dirty="0" err="1"/>
              <a:t>AppModule</a:t>
            </a:r>
            <a:endParaRPr lang="en-US" altLang="en-US" dirty="0"/>
          </a:p>
          <a:p>
            <a:r>
              <a:rPr lang="en-US" altLang="en-US" dirty="0"/>
              <a:t>Keep component sizes small (single responsibility)</a:t>
            </a:r>
          </a:p>
          <a:p>
            <a:r>
              <a:rPr lang="en-US" altLang="en-US" dirty="0"/>
              <a:t>Use meaningful file names (e.g., </a:t>
            </a:r>
            <a:r>
              <a:rPr lang="en-US" altLang="en-US" b="1" i="1" dirty="0"/>
              <a:t>user-</a:t>
            </a:r>
            <a:r>
              <a:rPr lang="en-US" altLang="en-US" b="1" i="1" dirty="0" err="1"/>
              <a:t>profile.component.ts</a:t>
            </a:r>
            <a:r>
              <a:rPr lang="en-US" altLang="en-US" b="1" i="1" dirty="0"/>
              <a:t> </a:t>
            </a:r>
            <a:r>
              <a:rPr lang="en-US" altLang="en-US" dirty="0"/>
              <a:t>instead of </a:t>
            </a:r>
            <a:r>
              <a:rPr lang="en-US" altLang="en-US" b="1" i="1" dirty="0"/>
              <a:t>component1.ts</a:t>
            </a:r>
            <a:r>
              <a:rPr lang="en-US" altLang="en-US" dirty="0"/>
              <a:t>)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177290" y="3249930"/>
            <a:ext cx="7706995" cy="28613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src/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├── app/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│   ├── core/  (Services, Guards)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│   ├── shared/  (Reusable Components, Pipes, Directives)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│   ├── features/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│   │   ├── dashboard/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│   │   ├── user-profile/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│   ├── app.module.ts</a:t>
            </a: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Consolas" panose="020B0609020204030204"/>
              </a:rPr>
              <a:t> │   ├── app.component.ts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5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9EA252-4498-5320-0ECA-849A4623AF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Angular (Ng)</a:t>
            </a:r>
          </a:p>
          <a:p>
            <a:r>
              <a:rPr lang="en-IN" dirty="0"/>
              <a:t>2301CS411</a:t>
            </a:r>
          </a:p>
        </p:txBody>
      </p:sp>
      <p:pic>
        <p:nvPicPr>
          <p:cNvPr id="8" name="Picture Placeholder 15" descr="09CEAVB_19042019_063947AM.jpg">
            <a:extLst>
              <a:ext uri="{FF2B5EF4-FFF2-40B4-BE49-F238E27FC236}">
                <a16:creationId xmlns:a16="http://schemas.microsoft.com/office/drawing/2014/main" id="{845638CB-0994-0526-3410-549E513BA52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6E483B7-D394-7455-B7D1-9F82662781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IN" dirty="0"/>
              <a:t>arjun.bala@darshan.ac.in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7202C09-4A85-C4E7-2D29-F110B89C33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IN" dirty="0"/>
              <a:t>9624822202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0FA1C3F-CBCC-A375-85F0-74B024A4B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35998" cy="290081"/>
          </a:xfrm>
        </p:spPr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B9FF6827-0805-575E-71E8-A64923FC6D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IN" dirty="0"/>
              <a:t>Prof. Arjun V. Bala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95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8451</TotalTime>
  <Words>2013</Words>
  <Application>Microsoft Office PowerPoint</Application>
  <PresentationFormat>Widescreen</PresentationFormat>
  <Paragraphs>206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Segoe UI Black</vt:lpstr>
      <vt:lpstr>Calibri</vt:lpstr>
      <vt:lpstr>Wingdings</vt:lpstr>
      <vt:lpstr>Roboto Condensed</vt:lpstr>
      <vt:lpstr>Consolas</vt:lpstr>
      <vt:lpstr>Roboto Condensed Light</vt:lpstr>
      <vt:lpstr>Wingdings 3</vt:lpstr>
      <vt:lpstr>Arial</vt:lpstr>
      <vt:lpstr>Wingdings 2</vt:lpstr>
      <vt:lpstr>Office Theme</vt:lpstr>
      <vt:lpstr>Unit-04  Advance Topics in Angular</vt:lpstr>
      <vt:lpstr>PowerPoint Presentation</vt:lpstr>
      <vt:lpstr>Deferrable Views</vt:lpstr>
      <vt:lpstr>Server-Side Rendering (SSR)</vt:lpstr>
      <vt:lpstr>Server-side rendering (continue)</vt:lpstr>
      <vt:lpstr>Configure server-side rendering</vt:lpstr>
      <vt:lpstr>Build time preprocessor (static site generation - SSG)</vt:lpstr>
      <vt:lpstr>How to prerender a page (SSG continue)</vt:lpstr>
      <vt:lpstr>Prerendering parameterized routes</vt:lpstr>
      <vt:lpstr>Hydration</vt:lpstr>
      <vt:lpstr>How do you enable hydration in Angular</vt:lpstr>
      <vt:lpstr>Signals</vt:lpstr>
      <vt:lpstr>Computed signals</vt:lpstr>
      <vt:lpstr>Computed signals (Continue)</vt:lpstr>
      <vt:lpstr>effect</vt:lpstr>
      <vt:lpstr>Best practices in Angular</vt:lpstr>
      <vt:lpstr>Best practices in Angular (Continue)</vt:lpstr>
      <vt:lpstr>Best practices in Angular (Continue)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1024</cp:revision>
  <dcterms:created xsi:type="dcterms:W3CDTF">2020-05-01T05:09:15Z</dcterms:created>
  <dcterms:modified xsi:type="dcterms:W3CDTF">2025-03-15T08:48:36Z</dcterms:modified>
</cp:coreProperties>
</file>